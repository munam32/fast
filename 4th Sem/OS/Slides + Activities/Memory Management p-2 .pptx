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47" r:id="rId4"/>
    <p:sldId id="348" r:id="rId5"/>
    <p:sldId id="349" r:id="rId6"/>
    <p:sldId id="257" r:id="rId7"/>
    <p:sldId id="258" r:id="rId8"/>
    <p:sldId id="259" r:id="rId9"/>
    <p:sldId id="260" r:id="rId10"/>
    <p:sldId id="261" r:id="rId11"/>
    <p:sldId id="350" r:id="rId12"/>
    <p:sldId id="262" r:id="rId13"/>
    <p:sldId id="263" r:id="rId14"/>
    <p:sldId id="289" r:id="rId15"/>
    <p:sldId id="290" r:id="rId16"/>
    <p:sldId id="291" r:id="rId17"/>
    <p:sldId id="292" r:id="rId18"/>
    <p:sldId id="293" r:id="rId19"/>
    <p:sldId id="294" r:id="rId20"/>
    <p:sldId id="295" r:id="rId21"/>
    <p:sldId id="296" r:id="rId22"/>
    <p:sldId id="297" r:id="rId23"/>
    <p:sldId id="264" r:id="rId24"/>
    <p:sldId id="299" r:id="rId25"/>
    <p:sldId id="301" r:id="rId26"/>
    <p:sldId id="302" r:id="rId27"/>
    <p:sldId id="303" r:id="rId28"/>
    <p:sldId id="267" r:id="rId29"/>
    <p:sldId id="304" r:id="rId30"/>
    <p:sldId id="305" r:id="rId31"/>
    <p:sldId id="306" r:id="rId32"/>
    <p:sldId id="273" r:id="rId33"/>
    <p:sldId id="274" r:id="rId34"/>
    <p:sldId id="307" r:id="rId35"/>
    <p:sldId id="308" r:id="rId36"/>
    <p:sldId id="309" r:id="rId37"/>
    <p:sldId id="311" r:id="rId38"/>
    <p:sldId id="310" r:id="rId39"/>
    <p:sldId id="312" r:id="rId40"/>
    <p:sldId id="313" r:id="rId41"/>
    <p:sldId id="314" r:id="rId42"/>
    <p:sldId id="315" r:id="rId43"/>
    <p:sldId id="316" r:id="rId44"/>
    <p:sldId id="318" r:id="rId45"/>
    <p:sldId id="317" r:id="rId46"/>
    <p:sldId id="319" r:id="rId47"/>
    <p:sldId id="320" r:id="rId48"/>
    <p:sldId id="321" r:id="rId49"/>
    <p:sldId id="276" r:id="rId50"/>
    <p:sldId id="277" r:id="rId51"/>
    <p:sldId id="278" r:id="rId52"/>
    <p:sldId id="279" r:id="rId53"/>
    <p:sldId id="280" r:id="rId54"/>
    <p:sldId id="281" r:id="rId55"/>
    <p:sldId id="282" r:id="rId56"/>
    <p:sldId id="283" r:id="rId57"/>
    <p:sldId id="322" r:id="rId58"/>
    <p:sldId id="323" r:id="rId59"/>
    <p:sldId id="324" r:id="rId60"/>
    <p:sldId id="325" r:id="rId61"/>
    <p:sldId id="326" r:id="rId62"/>
    <p:sldId id="327" r:id="rId63"/>
    <p:sldId id="328" r:id="rId64"/>
    <p:sldId id="329" r:id="rId65"/>
    <p:sldId id="330" r:id="rId66"/>
    <p:sldId id="332" r:id="rId67"/>
    <p:sldId id="333" r:id="rId68"/>
    <p:sldId id="334" r:id="rId69"/>
    <p:sldId id="338" r:id="rId70"/>
    <p:sldId id="339" r:id="rId7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464"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701163" y="2018055"/>
            <a:ext cx="3741673" cy="1008380"/>
          </a:xfrm>
          <a:prstGeom prst="rect">
            <a:avLst/>
          </a:prstGeom>
        </p:spPr>
        <p:txBody>
          <a:bodyPr wrap="square" lIns="0" tIns="0" rIns="0" bIns="0">
            <a:spAutoFit/>
          </a:bodyPr>
          <a:lstStyle>
            <a:lvl1pPr>
              <a:defRPr sz="3200" b="1" i="0">
                <a:solidFill>
                  <a:schemeClr val="tx1"/>
                </a:solidFill>
                <a:latin typeface="Arial" panose="020B0604020202020204"/>
                <a:cs typeface="Arial" panose="020B0604020202020204"/>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0" i="0">
                <a:solidFill>
                  <a:schemeClr val="hlink"/>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0" i="0">
                <a:solidFill>
                  <a:schemeClr val="hlink"/>
                </a:solidFill>
                <a:latin typeface="Arial" panose="020B0604020202020204"/>
                <a:cs typeface="Arial" panose="020B0604020202020204"/>
              </a:defRPr>
            </a:lvl1pPr>
          </a:lstStyle>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0" i="0">
                <a:solidFill>
                  <a:schemeClr val="hlink"/>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52711" y="194157"/>
            <a:ext cx="3238576" cy="467359"/>
          </a:xfrm>
          <a:prstGeom prst="rect">
            <a:avLst/>
          </a:prstGeom>
        </p:spPr>
        <p:txBody>
          <a:bodyPr wrap="square" lIns="0" tIns="0" rIns="0" bIns="0">
            <a:spAutoFit/>
          </a:bodyPr>
          <a:lstStyle>
            <a:lvl1pPr>
              <a:defRPr sz="2900" b="0" i="0">
                <a:solidFill>
                  <a:schemeClr val="hlink"/>
                </a:solidFill>
                <a:latin typeface="Arial" panose="020B0604020202020204"/>
                <a:cs typeface="Arial" panose="020B0604020202020204"/>
              </a:defRPr>
            </a:lvl1pPr>
          </a:lstStyle>
          <a:p/>
        </p:txBody>
      </p:sp>
      <p:sp>
        <p:nvSpPr>
          <p:cNvPr id="3" name="Holder 3"/>
          <p:cNvSpPr>
            <a:spLocks noGrp="1"/>
          </p:cNvSpPr>
          <p:nvPr>
            <p:ph type="body" idx="1"/>
          </p:nvPr>
        </p:nvSpPr>
        <p:spPr>
          <a:xfrm>
            <a:off x="333673" y="1431315"/>
            <a:ext cx="8476653" cy="39878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1.jpeg"/><Relationship Id="rId1" Type="http://schemas.openxmlformats.org/officeDocument/2006/relationships/image" Target="../media/image20.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2.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5.png"/><Relationship Id="rId1"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9.png"/><Relationship Id="rId1" Type="http://schemas.openxmlformats.org/officeDocument/2006/relationships/image" Target="../media/image3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 y="1295400"/>
            <a:ext cx="8709570" cy="2980303"/>
          </a:xfrm>
          <a:prstGeom prst="rect">
            <a:avLst/>
          </a:prstGeom>
        </p:spPr>
        <p:txBody>
          <a:bodyPr vert="horz" wrap="square" lIns="0" tIns="12700" rIns="0" bIns="0" rtlCol="0">
            <a:spAutoFit/>
          </a:bodyPr>
          <a:lstStyle/>
          <a:p>
            <a:pPr algn="ctr">
              <a:lnSpc>
                <a:spcPct val="100000"/>
              </a:lnSpc>
              <a:spcBef>
                <a:spcPts val="100"/>
              </a:spcBef>
            </a:pPr>
            <a:r>
              <a:rPr spc="10" dirty="0"/>
              <a:t>Operating</a:t>
            </a:r>
            <a:r>
              <a:rPr spc="-200" dirty="0"/>
              <a:t> </a:t>
            </a:r>
            <a:r>
              <a:rPr dirty="0"/>
              <a:t>Systems</a:t>
            </a:r>
            <a:endParaRPr dirty="0"/>
          </a:p>
          <a:p>
            <a:pPr algn="ctr">
              <a:lnSpc>
                <a:spcPct val="100000"/>
              </a:lnSpc>
              <a:spcBef>
                <a:spcPts val="60"/>
              </a:spcBef>
            </a:pPr>
            <a:br>
              <a:rPr lang="en-US" b="0" dirty="0" smtClean="0">
                <a:latin typeface="Arial" panose="020B0604020202020204"/>
                <a:cs typeface="Arial" panose="020B0604020202020204"/>
              </a:rPr>
            </a:br>
            <a:r>
              <a:rPr lang="en-US" b="0" dirty="0" smtClean="0"/>
              <a:t>Memory </a:t>
            </a:r>
            <a:r>
              <a:rPr lang="en-US" b="0" smtClean="0"/>
              <a:t>management PART2</a:t>
            </a:r>
            <a:br>
              <a:rPr lang="en-US" b="0" dirty="0" smtClean="0"/>
            </a:br>
            <a:r>
              <a:rPr lang="en-US" b="0" dirty="0" smtClean="0"/>
              <a:t>Non-Contiguous Memory management scheme</a:t>
            </a:r>
            <a:br>
              <a:rPr lang="en-US" b="0" dirty="0"/>
            </a:br>
            <a:br>
              <a:rPr lang="en-US" b="0" dirty="0" smtClean="0"/>
            </a:br>
            <a:r>
              <a:rPr b="0" dirty="0" smtClean="0">
                <a:latin typeface="Arial" panose="020B0604020202020204"/>
                <a:cs typeface="Arial" panose="020B0604020202020204"/>
              </a:rPr>
              <a:t>Paging</a:t>
            </a:r>
            <a:r>
              <a:rPr lang="en-US" b="0" dirty="0" smtClean="0">
                <a:latin typeface="Arial" panose="020B0604020202020204"/>
                <a:cs typeface="Arial" panose="020B0604020202020204"/>
              </a:rPr>
              <a:t> and Segmentation</a:t>
            </a:r>
            <a:endParaRPr b="0" dirty="0">
              <a:latin typeface="Arial" panose="020B0604020202020204"/>
              <a:cs typeface="Arial" panose="020B0604020202020204"/>
            </a:endParaRPr>
          </a:p>
        </p:txBody>
      </p:sp>
      <p:sp>
        <p:nvSpPr>
          <p:cNvPr id="4" name="object 4"/>
          <p:cNvSpPr txBox="1"/>
          <p:nvPr/>
        </p:nvSpPr>
        <p:spPr>
          <a:xfrm>
            <a:off x="8751481" y="6502461"/>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Arial" panose="020B0604020202020204"/>
                <a:cs typeface="Arial" panose="020B0604020202020204"/>
              </a:rPr>
              <a:t>1</a:t>
            </a:r>
            <a:endParaRPr sz="1200">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4"/>
          </p:nvPr>
        </p:nvSpPr>
        <p:spPr/>
        <p:txBody>
          <a:bodyPr/>
          <a:p>
            <a:endParaRPr lang="en-US"/>
          </a:p>
        </p:txBody>
      </p:sp>
      <p:pic>
        <p:nvPicPr>
          <p:cNvPr id="4" name="Picture 3"/>
          <p:cNvPicPr>
            <a:picLocks noChangeAspect="1"/>
          </p:cNvPicPr>
          <p:nvPr/>
        </p:nvPicPr>
        <p:blipFill>
          <a:blip r:embed="rId1"/>
          <a:stretch>
            <a:fillRect/>
          </a:stretch>
        </p:blipFill>
        <p:spPr>
          <a:xfrm>
            <a:off x="923925" y="985520"/>
            <a:ext cx="7296150" cy="48863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609600" y="1447800"/>
            <a:ext cx="7750175" cy="45142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2343150" y="394970"/>
            <a:ext cx="4457700" cy="6067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9700" y="430364"/>
            <a:ext cx="1729105" cy="513080"/>
          </a:xfrm>
          <a:prstGeom prst="rect">
            <a:avLst/>
          </a:prstGeom>
        </p:spPr>
        <p:txBody>
          <a:bodyPr vert="horz" wrap="square" lIns="0" tIns="12700" rIns="0" bIns="0" rtlCol="0">
            <a:spAutoFit/>
          </a:bodyPr>
          <a:lstStyle/>
          <a:p>
            <a:pPr marL="12700">
              <a:lnSpc>
                <a:spcPct val="100000"/>
              </a:lnSpc>
              <a:spcBef>
                <a:spcPts val="100"/>
              </a:spcBef>
            </a:pPr>
            <a:r>
              <a:rPr sz="3200" spc="5" dirty="0"/>
              <a:t>Overview</a:t>
            </a:r>
            <a:endParaRPr sz="3200"/>
          </a:p>
        </p:txBody>
      </p:sp>
      <p:sp>
        <p:nvSpPr>
          <p:cNvPr id="3" name="object 3"/>
          <p:cNvSpPr txBox="1"/>
          <p:nvPr/>
        </p:nvSpPr>
        <p:spPr>
          <a:xfrm>
            <a:off x="333673" y="1431315"/>
            <a:ext cx="2921635" cy="3100849"/>
          </a:xfrm>
          <a:prstGeom prst="rect">
            <a:avLst/>
          </a:prstGeom>
        </p:spPr>
        <p:txBody>
          <a:bodyPr vert="horz" wrap="square" lIns="0" tIns="91440" rIns="0" bIns="0" rtlCol="0">
            <a:spAutoFit/>
          </a:bodyPr>
          <a:lstStyle/>
          <a:p>
            <a:pPr marL="355600" indent="-342900">
              <a:lnSpc>
                <a:spcPct val="100000"/>
              </a:lnSpc>
              <a:spcBef>
                <a:spcPts val="720"/>
              </a:spcBef>
              <a:buChar char="•"/>
              <a:tabLst>
                <a:tab pos="354965" algn="l"/>
                <a:tab pos="355600" algn="l"/>
              </a:tabLst>
            </a:pPr>
            <a:r>
              <a:rPr sz="2400" spc="-25" dirty="0">
                <a:latin typeface="Arial" panose="020B0604020202020204"/>
                <a:cs typeface="Arial" panose="020B0604020202020204"/>
              </a:rPr>
              <a:t>Paging</a:t>
            </a:r>
            <a:endParaRPr sz="2400" dirty="0">
              <a:latin typeface="Arial" panose="020B0604020202020204"/>
              <a:cs typeface="Arial" panose="020B0604020202020204"/>
            </a:endParaRPr>
          </a:p>
          <a:p>
            <a:pPr marL="355600" indent="-342900">
              <a:lnSpc>
                <a:spcPct val="100000"/>
              </a:lnSpc>
              <a:spcBef>
                <a:spcPts val="620"/>
              </a:spcBef>
              <a:buChar char="•"/>
              <a:tabLst>
                <a:tab pos="354965" algn="l"/>
                <a:tab pos="355600" algn="l"/>
              </a:tabLst>
            </a:pPr>
            <a:r>
              <a:rPr sz="2400" spc="-20" dirty="0">
                <a:latin typeface="Arial" panose="020B0604020202020204"/>
                <a:cs typeface="Arial" panose="020B0604020202020204"/>
              </a:rPr>
              <a:t>Page</a:t>
            </a:r>
            <a:r>
              <a:rPr sz="2400" spc="-15" dirty="0">
                <a:latin typeface="Arial" panose="020B0604020202020204"/>
                <a:cs typeface="Arial" panose="020B0604020202020204"/>
              </a:rPr>
              <a:t> </a:t>
            </a:r>
            <a:r>
              <a:rPr sz="2400" spc="-70" dirty="0">
                <a:latin typeface="Arial" panose="020B0604020202020204"/>
                <a:cs typeface="Arial" panose="020B0604020202020204"/>
              </a:rPr>
              <a:t>Tables</a:t>
            </a:r>
            <a:endParaRPr sz="2400" dirty="0">
              <a:latin typeface="Arial" panose="020B0604020202020204"/>
              <a:cs typeface="Arial" panose="020B0604020202020204"/>
            </a:endParaRPr>
          </a:p>
          <a:p>
            <a:pPr marL="355600" indent="-342900">
              <a:lnSpc>
                <a:spcPct val="100000"/>
              </a:lnSpc>
              <a:spcBef>
                <a:spcPts val="520"/>
              </a:spcBef>
              <a:buChar char="•"/>
              <a:tabLst>
                <a:tab pos="354965" algn="l"/>
                <a:tab pos="355600" algn="l"/>
              </a:tabLst>
            </a:pPr>
            <a:r>
              <a:rPr sz="2400" spc="-5" dirty="0">
                <a:latin typeface="Arial" panose="020B0604020202020204"/>
                <a:cs typeface="Arial" panose="020B0604020202020204"/>
              </a:rPr>
              <a:t>TLB</a:t>
            </a:r>
            <a:endParaRPr sz="2400" dirty="0">
              <a:latin typeface="Arial" panose="020B0604020202020204"/>
              <a:cs typeface="Arial" panose="020B0604020202020204"/>
            </a:endParaRPr>
          </a:p>
          <a:p>
            <a:pPr marL="355600" indent="-342900">
              <a:lnSpc>
                <a:spcPct val="100000"/>
              </a:lnSpc>
              <a:spcBef>
                <a:spcPts val="620"/>
              </a:spcBef>
              <a:buChar char="•"/>
              <a:tabLst>
                <a:tab pos="354965" algn="l"/>
                <a:tab pos="355600" algn="l"/>
              </a:tabLst>
            </a:pPr>
            <a:r>
              <a:rPr sz="2400" spc="-25" dirty="0" smtClean="0">
                <a:latin typeface="Arial" panose="020B0604020202020204"/>
                <a:cs typeface="Arial" panose="020B0604020202020204"/>
              </a:rPr>
              <a:t>Hierarchical</a:t>
            </a:r>
            <a:r>
              <a:rPr sz="2400" spc="270" dirty="0" smtClean="0">
                <a:latin typeface="Arial" panose="020B0604020202020204"/>
                <a:cs typeface="Arial" panose="020B0604020202020204"/>
              </a:rPr>
              <a:t> </a:t>
            </a:r>
            <a:r>
              <a:rPr sz="2400" spc="-25" dirty="0">
                <a:latin typeface="Arial" panose="020B0604020202020204"/>
                <a:cs typeface="Arial" panose="020B0604020202020204"/>
              </a:rPr>
              <a:t>Pages</a:t>
            </a:r>
            <a:endParaRPr sz="2400" dirty="0">
              <a:latin typeface="Arial" panose="020B0604020202020204"/>
              <a:cs typeface="Arial" panose="020B0604020202020204"/>
            </a:endParaRPr>
          </a:p>
          <a:p>
            <a:pPr marL="355600" indent="-342900">
              <a:lnSpc>
                <a:spcPct val="100000"/>
              </a:lnSpc>
              <a:spcBef>
                <a:spcPts val="520"/>
              </a:spcBef>
              <a:buChar char="•"/>
              <a:tabLst>
                <a:tab pos="354965" algn="l"/>
                <a:tab pos="355600" algn="l"/>
              </a:tabLst>
            </a:pPr>
            <a:r>
              <a:rPr sz="2400" spc="-25" dirty="0">
                <a:latin typeface="Arial" panose="020B0604020202020204"/>
                <a:cs typeface="Arial" panose="020B0604020202020204"/>
              </a:rPr>
              <a:t>Hashed</a:t>
            </a:r>
            <a:r>
              <a:rPr sz="2400" spc="180" dirty="0">
                <a:latin typeface="Arial" panose="020B0604020202020204"/>
                <a:cs typeface="Arial" panose="020B0604020202020204"/>
              </a:rPr>
              <a:t> </a:t>
            </a:r>
            <a:r>
              <a:rPr sz="2400" spc="-25" dirty="0">
                <a:latin typeface="Arial" panose="020B0604020202020204"/>
                <a:cs typeface="Arial" panose="020B0604020202020204"/>
              </a:rPr>
              <a:t>Pages</a:t>
            </a:r>
            <a:endParaRPr sz="2400" dirty="0">
              <a:latin typeface="Arial" panose="020B0604020202020204"/>
              <a:cs typeface="Arial" panose="020B0604020202020204"/>
            </a:endParaRPr>
          </a:p>
          <a:p>
            <a:pPr marL="355600" indent="-342900">
              <a:lnSpc>
                <a:spcPct val="100000"/>
              </a:lnSpc>
              <a:spcBef>
                <a:spcPts val="620"/>
              </a:spcBef>
              <a:buChar char="•"/>
              <a:tabLst>
                <a:tab pos="354965" algn="l"/>
                <a:tab pos="355600" algn="l"/>
              </a:tabLst>
            </a:pPr>
            <a:r>
              <a:rPr sz="2400" spc="-10" dirty="0">
                <a:latin typeface="Arial" panose="020B0604020202020204"/>
                <a:cs typeface="Arial" panose="020B0604020202020204"/>
              </a:rPr>
              <a:t>Inverted</a:t>
            </a:r>
            <a:r>
              <a:rPr sz="2400" spc="-15" dirty="0">
                <a:latin typeface="Arial" panose="020B0604020202020204"/>
                <a:cs typeface="Arial" panose="020B0604020202020204"/>
              </a:rPr>
              <a:t> </a:t>
            </a:r>
            <a:r>
              <a:rPr sz="2400" spc="-25" dirty="0">
                <a:latin typeface="Arial" panose="020B0604020202020204"/>
                <a:cs typeface="Arial" panose="020B0604020202020204"/>
              </a:rPr>
              <a:t>Pages</a:t>
            </a:r>
            <a:endParaRPr sz="2400" dirty="0">
              <a:latin typeface="Arial" panose="020B0604020202020204"/>
              <a:cs typeface="Arial" panose="020B0604020202020204"/>
            </a:endParaRPr>
          </a:p>
          <a:p>
            <a:pPr marL="355600" indent="-342900">
              <a:lnSpc>
                <a:spcPct val="100000"/>
              </a:lnSpc>
              <a:spcBef>
                <a:spcPts val="520"/>
              </a:spcBef>
              <a:buChar char="•"/>
              <a:tabLst>
                <a:tab pos="354965" algn="l"/>
                <a:tab pos="355600" algn="l"/>
              </a:tabLst>
            </a:pPr>
            <a:r>
              <a:rPr lang="en-US" sz="2400" spc="-20" dirty="0" smtClean="0">
                <a:latin typeface="Arial" panose="020B0604020202020204"/>
                <a:cs typeface="Arial" panose="020B0604020202020204"/>
              </a:rPr>
              <a:t>Segmentation</a:t>
            </a:r>
            <a:endParaRPr sz="2400" dirty="0">
              <a:latin typeface="Arial" panose="020B0604020202020204"/>
              <a:cs typeface="Arial" panose="020B0604020202020204"/>
            </a:endParaRPr>
          </a:p>
        </p:txBody>
      </p:sp>
      <p:sp>
        <p:nvSpPr>
          <p:cNvPr id="4" name="object 4"/>
          <p:cNvSpPr txBox="1"/>
          <p:nvPr/>
        </p:nvSpPr>
        <p:spPr>
          <a:xfrm>
            <a:off x="8699575" y="6502461"/>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Arial" panose="020B0604020202020204"/>
                <a:cs typeface="Arial" panose="020B0604020202020204"/>
              </a:rPr>
              <a:t>2</a:t>
            </a:r>
            <a:endParaRPr sz="1200">
              <a:latin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8712" y="194157"/>
            <a:ext cx="4728845" cy="467359"/>
          </a:xfrm>
          <a:prstGeom prst="rect">
            <a:avLst/>
          </a:prstGeom>
        </p:spPr>
        <p:txBody>
          <a:bodyPr vert="horz" wrap="square" lIns="0" tIns="12700" rIns="0" bIns="0" rtlCol="0">
            <a:spAutoFit/>
          </a:bodyPr>
          <a:lstStyle/>
          <a:p>
            <a:pPr marL="12700">
              <a:lnSpc>
                <a:spcPct val="100000"/>
              </a:lnSpc>
              <a:spcBef>
                <a:spcPts val="100"/>
              </a:spcBef>
            </a:pPr>
            <a:r>
              <a:rPr dirty="0"/>
              <a:t>Address </a:t>
            </a:r>
            <a:r>
              <a:rPr spc="-15" dirty="0"/>
              <a:t>Translation</a:t>
            </a:r>
            <a:r>
              <a:rPr spc="-140" dirty="0"/>
              <a:t> </a:t>
            </a:r>
            <a:r>
              <a:rPr spc="-10" dirty="0"/>
              <a:t>Scheme</a:t>
            </a:r>
            <a:endParaRPr spc="-10" dirty="0"/>
          </a:p>
        </p:txBody>
      </p:sp>
      <p:sp>
        <p:nvSpPr>
          <p:cNvPr id="3" name="object 3"/>
          <p:cNvSpPr txBox="1"/>
          <p:nvPr/>
        </p:nvSpPr>
        <p:spPr>
          <a:xfrm>
            <a:off x="78739" y="1145857"/>
            <a:ext cx="8725535" cy="2171700"/>
          </a:xfrm>
          <a:prstGeom prst="rect">
            <a:avLst/>
          </a:prstGeom>
        </p:spPr>
        <p:txBody>
          <a:bodyPr vert="horz" wrap="square" lIns="0" tIns="12700" rIns="0" bIns="0" rtlCol="0">
            <a:spAutoFit/>
          </a:bodyPr>
          <a:lstStyle/>
          <a:p>
            <a:pPr marL="355600" indent="-342900">
              <a:lnSpc>
                <a:spcPct val="100000"/>
              </a:lnSpc>
              <a:spcBef>
                <a:spcPts val="100"/>
              </a:spcBef>
              <a:buChar char="■"/>
              <a:tabLst>
                <a:tab pos="355600" algn="l"/>
              </a:tabLst>
            </a:pPr>
            <a:r>
              <a:rPr sz="2400" spc="-20" dirty="0">
                <a:latin typeface="Arial" panose="020B0604020202020204"/>
                <a:cs typeface="Arial" panose="020B0604020202020204"/>
              </a:rPr>
              <a:t>Address generated by </a:t>
            </a:r>
            <a:r>
              <a:rPr sz="2400" spc="-15" dirty="0">
                <a:latin typeface="Arial" panose="020B0604020202020204"/>
                <a:cs typeface="Arial" panose="020B0604020202020204"/>
              </a:rPr>
              <a:t>CPU </a:t>
            </a:r>
            <a:r>
              <a:rPr sz="2400" spc="-20" dirty="0">
                <a:latin typeface="Arial" panose="020B0604020202020204"/>
                <a:cs typeface="Arial" panose="020B0604020202020204"/>
              </a:rPr>
              <a:t>is </a:t>
            </a:r>
            <a:r>
              <a:rPr sz="2400" spc="-25" dirty="0">
                <a:latin typeface="Arial" panose="020B0604020202020204"/>
                <a:cs typeface="Arial" panose="020B0604020202020204"/>
              </a:rPr>
              <a:t>divided</a:t>
            </a:r>
            <a:r>
              <a:rPr sz="2400" spc="25" dirty="0">
                <a:latin typeface="Arial" panose="020B0604020202020204"/>
                <a:cs typeface="Arial" panose="020B0604020202020204"/>
              </a:rPr>
              <a:t> </a:t>
            </a:r>
            <a:r>
              <a:rPr sz="2400" spc="-20" dirty="0">
                <a:latin typeface="Arial" panose="020B0604020202020204"/>
                <a:cs typeface="Arial" panose="020B0604020202020204"/>
              </a:rPr>
              <a:t>into:</a:t>
            </a:r>
            <a:endParaRPr sz="2400">
              <a:latin typeface="Arial" panose="020B0604020202020204"/>
              <a:cs typeface="Arial" panose="020B0604020202020204"/>
            </a:endParaRPr>
          </a:p>
          <a:p>
            <a:pPr>
              <a:lnSpc>
                <a:spcPct val="100000"/>
              </a:lnSpc>
              <a:spcBef>
                <a:spcPts val="50"/>
              </a:spcBef>
              <a:buFont typeface="Arial" panose="020B0604020202020204"/>
              <a:buChar char="■"/>
            </a:pPr>
            <a:endParaRPr sz="3450">
              <a:latin typeface="Arial" panose="020B0604020202020204"/>
              <a:cs typeface="Arial" panose="020B0604020202020204"/>
            </a:endParaRPr>
          </a:p>
          <a:p>
            <a:pPr marL="762000" marR="5080" lvl="1" indent="-292100">
              <a:lnSpc>
                <a:spcPct val="100000"/>
              </a:lnSpc>
              <a:buFont typeface="Arial" panose="020B0604020202020204"/>
              <a:buChar char="●"/>
              <a:tabLst>
                <a:tab pos="762000" algn="l"/>
              </a:tabLst>
            </a:pPr>
            <a:r>
              <a:rPr sz="2000" b="1" spc="-20" dirty="0">
                <a:solidFill>
                  <a:srgbClr val="3366FF"/>
                </a:solidFill>
                <a:latin typeface="Arial" panose="020B0604020202020204"/>
                <a:cs typeface="Arial" panose="020B0604020202020204"/>
              </a:rPr>
              <a:t>Page </a:t>
            </a:r>
            <a:r>
              <a:rPr sz="2000" b="1" spc="-15" dirty="0">
                <a:solidFill>
                  <a:srgbClr val="3366FF"/>
                </a:solidFill>
                <a:latin typeface="Arial" panose="020B0604020202020204"/>
                <a:cs typeface="Arial" panose="020B0604020202020204"/>
              </a:rPr>
              <a:t>number </a:t>
            </a:r>
            <a:r>
              <a:rPr sz="2000" dirty="0">
                <a:latin typeface="Arial" panose="020B0604020202020204"/>
                <a:cs typeface="Arial" panose="020B0604020202020204"/>
              </a:rPr>
              <a:t>(</a:t>
            </a:r>
            <a:r>
              <a:rPr sz="2000" b="1" i="1" dirty="0">
                <a:solidFill>
                  <a:srgbClr val="3366FF"/>
                </a:solidFill>
                <a:latin typeface="Arial" panose="020B0604020202020204"/>
                <a:cs typeface="Arial" panose="020B0604020202020204"/>
              </a:rPr>
              <a:t>p</a:t>
            </a:r>
            <a:r>
              <a:rPr sz="2000" dirty="0">
                <a:latin typeface="Arial" panose="020B0604020202020204"/>
                <a:cs typeface="Arial" panose="020B0604020202020204"/>
              </a:rPr>
              <a:t>) – </a:t>
            </a:r>
            <a:r>
              <a:rPr sz="2000" spc="-10" dirty="0">
                <a:latin typeface="Arial" panose="020B0604020202020204"/>
                <a:cs typeface="Arial" panose="020B0604020202020204"/>
              </a:rPr>
              <a:t>used as an </a:t>
            </a:r>
            <a:r>
              <a:rPr sz="2000" spc="-20" dirty="0">
                <a:latin typeface="Arial" panose="020B0604020202020204"/>
                <a:cs typeface="Arial" panose="020B0604020202020204"/>
              </a:rPr>
              <a:t>index </a:t>
            </a:r>
            <a:r>
              <a:rPr sz="2000" spc="-5" dirty="0">
                <a:latin typeface="Arial" panose="020B0604020202020204"/>
                <a:cs typeface="Arial" panose="020B0604020202020204"/>
              </a:rPr>
              <a:t>into </a:t>
            </a:r>
            <a:r>
              <a:rPr sz="2000" dirty="0">
                <a:latin typeface="Arial" panose="020B0604020202020204"/>
                <a:cs typeface="Arial" panose="020B0604020202020204"/>
              </a:rPr>
              <a:t>a </a:t>
            </a:r>
            <a:r>
              <a:rPr sz="2000" b="1" spc="-20" dirty="0">
                <a:solidFill>
                  <a:srgbClr val="3366FF"/>
                </a:solidFill>
                <a:latin typeface="Arial" panose="020B0604020202020204"/>
                <a:cs typeface="Arial" panose="020B0604020202020204"/>
              </a:rPr>
              <a:t>page </a:t>
            </a:r>
            <a:r>
              <a:rPr sz="2000" b="1" spc="5" dirty="0">
                <a:solidFill>
                  <a:srgbClr val="3366FF"/>
                </a:solidFill>
                <a:latin typeface="Arial" panose="020B0604020202020204"/>
                <a:cs typeface="Arial" panose="020B0604020202020204"/>
              </a:rPr>
              <a:t>table </a:t>
            </a:r>
            <a:r>
              <a:rPr sz="2000" spc="-25" dirty="0">
                <a:latin typeface="Arial" panose="020B0604020202020204"/>
                <a:cs typeface="Arial" panose="020B0604020202020204"/>
              </a:rPr>
              <a:t>which </a:t>
            </a:r>
            <a:r>
              <a:rPr sz="2000" spc="-10" dirty="0">
                <a:latin typeface="Arial" panose="020B0604020202020204"/>
                <a:cs typeface="Arial" panose="020B0604020202020204"/>
              </a:rPr>
              <a:t>contains  base </a:t>
            </a:r>
            <a:r>
              <a:rPr sz="2000" spc="-5" dirty="0">
                <a:latin typeface="Arial" panose="020B0604020202020204"/>
                <a:cs typeface="Arial" panose="020B0604020202020204"/>
              </a:rPr>
              <a:t>address </a:t>
            </a:r>
            <a:r>
              <a:rPr sz="2000" spc="-10" dirty="0">
                <a:latin typeface="Arial" panose="020B0604020202020204"/>
                <a:cs typeface="Arial" panose="020B0604020202020204"/>
              </a:rPr>
              <a:t>of each </a:t>
            </a:r>
            <a:r>
              <a:rPr sz="2000" spc="-15" dirty="0">
                <a:latin typeface="Arial" panose="020B0604020202020204"/>
                <a:cs typeface="Arial" panose="020B0604020202020204"/>
              </a:rPr>
              <a:t>page </a:t>
            </a:r>
            <a:r>
              <a:rPr sz="2000" spc="-25" dirty="0">
                <a:latin typeface="Arial" panose="020B0604020202020204"/>
                <a:cs typeface="Arial" panose="020B0604020202020204"/>
              </a:rPr>
              <a:t>in </a:t>
            </a:r>
            <a:r>
              <a:rPr sz="2000" spc="-15" dirty="0">
                <a:latin typeface="Arial" panose="020B0604020202020204"/>
                <a:cs typeface="Arial" panose="020B0604020202020204"/>
              </a:rPr>
              <a:t>physical</a:t>
            </a:r>
            <a:r>
              <a:rPr sz="2000" spc="315" dirty="0">
                <a:latin typeface="Arial" panose="020B0604020202020204"/>
                <a:cs typeface="Arial" panose="020B0604020202020204"/>
              </a:rPr>
              <a:t> </a:t>
            </a:r>
            <a:r>
              <a:rPr sz="2000" spc="10" dirty="0">
                <a:latin typeface="Arial" panose="020B0604020202020204"/>
                <a:cs typeface="Arial" panose="020B0604020202020204"/>
              </a:rPr>
              <a:t>memory</a:t>
            </a:r>
            <a:endParaRPr sz="2000">
              <a:latin typeface="Arial" panose="020B0604020202020204"/>
              <a:cs typeface="Arial" panose="020B0604020202020204"/>
            </a:endParaRPr>
          </a:p>
          <a:p>
            <a:pPr marL="762000" marR="253365" lvl="1" indent="-292100">
              <a:lnSpc>
                <a:spcPct val="100000"/>
              </a:lnSpc>
              <a:spcBef>
                <a:spcPts val="400"/>
              </a:spcBef>
              <a:buFont typeface="Arial" panose="020B0604020202020204"/>
              <a:buChar char="●"/>
              <a:tabLst>
                <a:tab pos="762000" algn="l"/>
              </a:tabLst>
            </a:pPr>
            <a:r>
              <a:rPr sz="2000" b="1" spc="-20" dirty="0">
                <a:solidFill>
                  <a:srgbClr val="3366FF"/>
                </a:solidFill>
                <a:latin typeface="Arial" panose="020B0604020202020204"/>
                <a:cs typeface="Arial" panose="020B0604020202020204"/>
              </a:rPr>
              <a:t>Page </a:t>
            </a:r>
            <a:r>
              <a:rPr sz="2000" b="1" dirty="0">
                <a:solidFill>
                  <a:srgbClr val="3366FF"/>
                </a:solidFill>
                <a:latin typeface="Arial" panose="020B0604020202020204"/>
                <a:cs typeface="Arial" panose="020B0604020202020204"/>
              </a:rPr>
              <a:t>offset </a:t>
            </a:r>
            <a:r>
              <a:rPr sz="2000" dirty="0">
                <a:latin typeface="Arial" panose="020B0604020202020204"/>
                <a:cs typeface="Arial" panose="020B0604020202020204"/>
              </a:rPr>
              <a:t>(</a:t>
            </a:r>
            <a:r>
              <a:rPr sz="2000" b="1" i="1" dirty="0">
                <a:solidFill>
                  <a:srgbClr val="3366FF"/>
                </a:solidFill>
                <a:latin typeface="Arial" panose="020B0604020202020204"/>
                <a:cs typeface="Arial" panose="020B0604020202020204"/>
              </a:rPr>
              <a:t>d</a:t>
            </a:r>
            <a:r>
              <a:rPr sz="2000" dirty="0">
                <a:latin typeface="Arial" panose="020B0604020202020204"/>
                <a:cs typeface="Arial" panose="020B0604020202020204"/>
              </a:rPr>
              <a:t>) – </a:t>
            </a:r>
            <a:r>
              <a:rPr sz="2000" spc="-10" dirty="0">
                <a:latin typeface="Arial" panose="020B0604020202020204"/>
                <a:cs typeface="Arial" panose="020B0604020202020204"/>
              </a:rPr>
              <a:t>combined </a:t>
            </a:r>
            <a:r>
              <a:rPr sz="2000" spc="-15" dirty="0">
                <a:latin typeface="Arial" panose="020B0604020202020204"/>
                <a:cs typeface="Arial" panose="020B0604020202020204"/>
              </a:rPr>
              <a:t>with </a:t>
            </a:r>
            <a:r>
              <a:rPr sz="2000" spc="-10" dirty="0">
                <a:latin typeface="Arial" panose="020B0604020202020204"/>
                <a:cs typeface="Arial" panose="020B0604020202020204"/>
              </a:rPr>
              <a:t>base </a:t>
            </a:r>
            <a:r>
              <a:rPr sz="2000" spc="-5" dirty="0">
                <a:latin typeface="Arial" panose="020B0604020202020204"/>
                <a:cs typeface="Arial" panose="020B0604020202020204"/>
              </a:rPr>
              <a:t>address </a:t>
            </a:r>
            <a:r>
              <a:rPr sz="2000" spc="20" dirty="0">
                <a:latin typeface="Arial" panose="020B0604020202020204"/>
                <a:cs typeface="Arial" panose="020B0604020202020204"/>
              </a:rPr>
              <a:t>to </a:t>
            </a:r>
            <a:r>
              <a:rPr sz="2000" spc="-10" dirty="0">
                <a:latin typeface="Arial" panose="020B0604020202020204"/>
                <a:cs typeface="Arial" panose="020B0604020202020204"/>
              </a:rPr>
              <a:t>define </a:t>
            </a:r>
            <a:r>
              <a:rPr sz="2000" spc="5" dirty="0">
                <a:latin typeface="Arial" panose="020B0604020202020204"/>
                <a:cs typeface="Arial" panose="020B0604020202020204"/>
              </a:rPr>
              <a:t>the </a:t>
            </a:r>
            <a:r>
              <a:rPr sz="2000" spc="-15" dirty="0">
                <a:latin typeface="Arial" panose="020B0604020202020204"/>
                <a:cs typeface="Arial" panose="020B0604020202020204"/>
              </a:rPr>
              <a:t>physical  </a:t>
            </a:r>
            <a:r>
              <a:rPr sz="2000" spc="10" dirty="0">
                <a:latin typeface="Arial" panose="020B0604020202020204"/>
                <a:cs typeface="Arial" panose="020B0604020202020204"/>
              </a:rPr>
              <a:t>memory </a:t>
            </a:r>
            <a:r>
              <a:rPr sz="2000" spc="-5" dirty="0">
                <a:latin typeface="Arial" panose="020B0604020202020204"/>
                <a:cs typeface="Arial" panose="020B0604020202020204"/>
              </a:rPr>
              <a:t>address </a:t>
            </a:r>
            <a:r>
              <a:rPr sz="2000" dirty="0">
                <a:latin typeface="Arial" panose="020B0604020202020204"/>
                <a:cs typeface="Arial" panose="020B0604020202020204"/>
              </a:rPr>
              <a:t>that </a:t>
            </a:r>
            <a:r>
              <a:rPr sz="2000" spc="-25" dirty="0">
                <a:latin typeface="Arial" panose="020B0604020202020204"/>
                <a:cs typeface="Arial" panose="020B0604020202020204"/>
              </a:rPr>
              <a:t>is </a:t>
            </a:r>
            <a:r>
              <a:rPr sz="2000" spc="-10" dirty="0">
                <a:latin typeface="Arial" panose="020B0604020202020204"/>
                <a:cs typeface="Arial" panose="020B0604020202020204"/>
              </a:rPr>
              <a:t>sent </a:t>
            </a:r>
            <a:r>
              <a:rPr sz="2000" spc="20" dirty="0">
                <a:latin typeface="Arial" panose="020B0604020202020204"/>
                <a:cs typeface="Arial" panose="020B0604020202020204"/>
              </a:rPr>
              <a:t>to </a:t>
            </a:r>
            <a:r>
              <a:rPr sz="2000" spc="5" dirty="0">
                <a:latin typeface="Arial" panose="020B0604020202020204"/>
                <a:cs typeface="Arial" panose="020B0604020202020204"/>
              </a:rPr>
              <a:t>the </a:t>
            </a:r>
            <a:r>
              <a:rPr sz="2000" spc="10" dirty="0">
                <a:latin typeface="Arial" panose="020B0604020202020204"/>
                <a:cs typeface="Arial" panose="020B0604020202020204"/>
              </a:rPr>
              <a:t>memory</a:t>
            </a:r>
            <a:r>
              <a:rPr sz="2000" spc="-315" dirty="0">
                <a:latin typeface="Arial" panose="020B0604020202020204"/>
                <a:cs typeface="Arial" panose="020B0604020202020204"/>
              </a:rPr>
              <a:t> </a:t>
            </a:r>
            <a:r>
              <a:rPr sz="2000" spc="-20" dirty="0">
                <a:latin typeface="Arial" panose="020B0604020202020204"/>
                <a:cs typeface="Arial" panose="020B0604020202020204"/>
              </a:rPr>
              <a:t>unit</a:t>
            </a:r>
            <a:endParaRPr sz="2000">
              <a:latin typeface="Arial" panose="020B0604020202020204"/>
              <a:cs typeface="Arial" panose="020B0604020202020204"/>
            </a:endParaRPr>
          </a:p>
        </p:txBody>
      </p:sp>
      <p:sp>
        <p:nvSpPr>
          <p:cNvPr id="4" name="object 4"/>
          <p:cNvSpPr txBox="1"/>
          <p:nvPr/>
        </p:nvSpPr>
        <p:spPr>
          <a:xfrm>
            <a:off x="510540" y="5552757"/>
            <a:ext cx="6200775" cy="330200"/>
          </a:xfrm>
          <a:prstGeom prst="rect">
            <a:avLst/>
          </a:prstGeom>
        </p:spPr>
        <p:txBody>
          <a:bodyPr vert="horz" wrap="square" lIns="0" tIns="12700" rIns="0" bIns="0" rtlCol="0">
            <a:spAutoFit/>
          </a:bodyPr>
          <a:lstStyle/>
          <a:p>
            <a:pPr marL="330200" indent="-292100">
              <a:lnSpc>
                <a:spcPct val="100000"/>
              </a:lnSpc>
              <a:spcBef>
                <a:spcPts val="100"/>
              </a:spcBef>
              <a:buChar char="●"/>
              <a:tabLst>
                <a:tab pos="330200" algn="l"/>
              </a:tabLst>
            </a:pPr>
            <a:r>
              <a:rPr sz="2000" spc="-15" dirty="0">
                <a:latin typeface="Arial" panose="020B0604020202020204"/>
                <a:cs typeface="Arial" panose="020B0604020202020204"/>
              </a:rPr>
              <a:t>For given </a:t>
            </a:r>
            <a:r>
              <a:rPr sz="2000" spc="-20" dirty="0">
                <a:latin typeface="Arial" panose="020B0604020202020204"/>
                <a:cs typeface="Arial" panose="020B0604020202020204"/>
              </a:rPr>
              <a:t>logical </a:t>
            </a:r>
            <a:r>
              <a:rPr sz="2000" spc="-5" dirty="0">
                <a:latin typeface="Arial" panose="020B0604020202020204"/>
                <a:cs typeface="Arial" panose="020B0604020202020204"/>
              </a:rPr>
              <a:t>address </a:t>
            </a:r>
            <a:r>
              <a:rPr sz="2000" spc="-10" dirty="0">
                <a:latin typeface="Arial" panose="020B0604020202020204"/>
                <a:cs typeface="Arial" panose="020B0604020202020204"/>
              </a:rPr>
              <a:t>space 2</a:t>
            </a:r>
            <a:r>
              <a:rPr sz="1950" i="1" spc="-15" baseline="26000" dirty="0">
                <a:latin typeface="Arial" panose="020B0604020202020204"/>
                <a:cs typeface="Arial" panose="020B0604020202020204"/>
              </a:rPr>
              <a:t>m </a:t>
            </a:r>
            <a:r>
              <a:rPr sz="2000" spc="-10" dirty="0">
                <a:latin typeface="Arial" panose="020B0604020202020204"/>
                <a:cs typeface="Arial" panose="020B0604020202020204"/>
              </a:rPr>
              <a:t>and </a:t>
            </a:r>
            <a:r>
              <a:rPr sz="2000" spc="-15" dirty="0">
                <a:latin typeface="Arial" panose="020B0604020202020204"/>
                <a:cs typeface="Arial" panose="020B0604020202020204"/>
              </a:rPr>
              <a:t>page size</a:t>
            </a:r>
            <a:r>
              <a:rPr sz="2000" spc="295" dirty="0">
                <a:latin typeface="Arial" panose="020B0604020202020204"/>
                <a:cs typeface="Arial" panose="020B0604020202020204"/>
              </a:rPr>
              <a:t> </a:t>
            </a:r>
            <a:r>
              <a:rPr sz="2000" i="1" spc="-10" dirty="0">
                <a:latin typeface="Arial" panose="020B0604020202020204"/>
                <a:cs typeface="Arial" panose="020B0604020202020204"/>
              </a:rPr>
              <a:t>2</a:t>
            </a:r>
            <a:r>
              <a:rPr sz="1950" spc="-15" baseline="26000" dirty="0">
                <a:latin typeface="Arial" panose="020B0604020202020204"/>
                <a:cs typeface="Arial" panose="020B0604020202020204"/>
              </a:rPr>
              <a:t>n</a:t>
            </a:r>
            <a:endParaRPr sz="1950" baseline="26000">
              <a:latin typeface="Arial" panose="020B0604020202020204"/>
              <a:cs typeface="Arial" panose="020B0604020202020204"/>
            </a:endParaRPr>
          </a:p>
        </p:txBody>
      </p:sp>
      <p:graphicFrame>
        <p:nvGraphicFramePr>
          <p:cNvPr id="5" name="object 5"/>
          <p:cNvGraphicFramePr>
            <a:graphicFrameLocks noGrp="1"/>
          </p:cNvGraphicFramePr>
          <p:nvPr/>
        </p:nvGraphicFramePr>
        <p:xfrm>
          <a:off x="2034550" y="3637477"/>
          <a:ext cx="4395470" cy="1071002"/>
        </p:xfrm>
        <a:graphic>
          <a:graphicData uri="http://schemas.openxmlformats.org/drawingml/2006/table">
            <a:tbl>
              <a:tblPr firstRow="1" bandRow="1">
                <a:tableStyleId>{2D5ABB26-0587-4C30-8999-92F81FD0307C}</a:tableStyleId>
              </a:tblPr>
              <a:tblGrid>
                <a:gridCol w="2343150"/>
                <a:gridCol w="2052320"/>
              </a:tblGrid>
              <a:tr h="455976">
                <a:tc>
                  <a:txBody>
                    <a:bodyPr/>
                    <a:lstStyle/>
                    <a:p>
                      <a:pPr marL="284480">
                        <a:lnSpc>
                          <a:spcPct val="100000"/>
                        </a:lnSpc>
                        <a:spcBef>
                          <a:spcPts val="205"/>
                        </a:spcBef>
                      </a:pPr>
                      <a:r>
                        <a:rPr sz="2500" spc="25" dirty="0">
                          <a:latin typeface="Arial" panose="020B0604020202020204"/>
                          <a:cs typeface="Arial" panose="020B0604020202020204"/>
                        </a:rPr>
                        <a:t>page</a:t>
                      </a:r>
                      <a:r>
                        <a:rPr sz="2500" spc="-25" dirty="0">
                          <a:latin typeface="Arial" panose="020B0604020202020204"/>
                          <a:cs typeface="Arial" panose="020B0604020202020204"/>
                        </a:rPr>
                        <a:t> </a:t>
                      </a:r>
                      <a:r>
                        <a:rPr sz="2500" spc="25" dirty="0">
                          <a:latin typeface="Arial" panose="020B0604020202020204"/>
                          <a:cs typeface="Arial" panose="020B0604020202020204"/>
                        </a:rPr>
                        <a:t>number</a:t>
                      </a:r>
                      <a:endParaRPr sz="2500">
                        <a:latin typeface="Arial" panose="020B0604020202020204"/>
                        <a:cs typeface="Arial" panose="020B0604020202020204"/>
                      </a:endParaRPr>
                    </a:p>
                  </a:txBody>
                  <a:tcPr marL="0" marR="0" marT="26034" marB="0">
                    <a:lnR w="19050">
                      <a:solidFill>
                        <a:srgbClr val="000000"/>
                      </a:solidFill>
                      <a:prstDash val="solid"/>
                    </a:lnR>
                    <a:lnB w="19050">
                      <a:solidFill>
                        <a:srgbClr val="000000"/>
                      </a:solidFill>
                      <a:prstDash val="solid"/>
                    </a:lnB>
                  </a:tcPr>
                </a:tc>
                <a:tc>
                  <a:txBody>
                    <a:bodyPr/>
                    <a:lstStyle/>
                    <a:p>
                      <a:pPr marL="182880">
                        <a:lnSpc>
                          <a:spcPct val="100000"/>
                        </a:lnSpc>
                        <a:spcBef>
                          <a:spcPts val="140"/>
                        </a:spcBef>
                      </a:pPr>
                      <a:r>
                        <a:rPr sz="2500" spc="25" dirty="0">
                          <a:latin typeface="Arial" panose="020B0604020202020204"/>
                          <a:cs typeface="Arial" panose="020B0604020202020204"/>
                        </a:rPr>
                        <a:t>page</a:t>
                      </a:r>
                      <a:r>
                        <a:rPr sz="2500" spc="-15" dirty="0">
                          <a:latin typeface="Arial" panose="020B0604020202020204"/>
                          <a:cs typeface="Arial" panose="020B0604020202020204"/>
                        </a:rPr>
                        <a:t> </a:t>
                      </a:r>
                      <a:r>
                        <a:rPr sz="2500" spc="15" dirty="0">
                          <a:latin typeface="Arial" panose="020B0604020202020204"/>
                          <a:cs typeface="Arial" panose="020B0604020202020204"/>
                        </a:rPr>
                        <a:t>offset</a:t>
                      </a:r>
                      <a:endParaRPr sz="2500">
                        <a:latin typeface="Arial" panose="020B0604020202020204"/>
                        <a:cs typeface="Arial" panose="020B0604020202020204"/>
                      </a:endParaRPr>
                    </a:p>
                  </a:txBody>
                  <a:tcPr marL="0" marR="0" marT="17780" marB="0">
                    <a:lnL w="19050">
                      <a:solidFill>
                        <a:srgbClr val="000000"/>
                      </a:solidFill>
                      <a:prstDash val="solid"/>
                    </a:lnL>
                    <a:lnB w="19050">
                      <a:solidFill>
                        <a:srgbClr val="000000"/>
                      </a:solidFill>
                      <a:prstDash val="solid"/>
                    </a:lnB>
                  </a:tcPr>
                </a:tc>
              </a:tr>
              <a:tr h="615026">
                <a:tc>
                  <a:txBody>
                    <a:bodyPr/>
                    <a:lstStyle/>
                    <a:p>
                      <a:pPr marR="327660" algn="ctr">
                        <a:lnSpc>
                          <a:spcPct val="100000"/>
                        </a:lnSpc>
                        <a:spcBef>
                          <a:spcPts val="775"/>
                        </a:spcBef>
                      </a:pPr>
                      <a:r>
                        <a:rPr sz="2500" dirty="0">
                          <a:latin typeface="Arial" panose="020B0604020202020204"/>
                          <a:cs typeface="Arial" panose="020B0604020202020204"/>
                        </a:rPr>
                        <a:t>p</a:t>
                      </a:r>
                      <a:endParaRPr sz="2500">
                        <a:latin typeface="Arial" panose="020B0604020202020204"/>
                        <a:cs typeface="Arial" panose="020B0604020202020204"/>
                      </a:endParaRPr>
                    </a:p>
                  </a:txBody>
                  <a:tcPr marL="0" marR="0" marT="9842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CC"/>
                    </a:solidFill>
                  </a:tcPr>
                </a:tc>
                <a:tc>
                  <a:txBody>
                    <a:bodyPr/>
                    <a:lstStyle/>
                    <a:p>
                      <a:pPr marR="260350" algn="ctr">
                        <a:lnSpc>
                          <a:spcPct val="100000"/>
                        </a:lnSpc>
                        <a:spcBef>
                          <a:spcPts val="1100"/>
                        </a:spcBef>
                      </a:pPr>
                      <a:r>
                        <a:rPr sz="2500" dirty="0">
                          <a:latin typeface="Arial" panose="020B0604020202020204"/>
                          <a:cs typeface="Arial" panose="020B0604020202020204"/>
                        </a:rPr>
                        <a:t>d</a:t>
                      </a:r>
                      <a:endParaRPr sz="2500">
                        <a:latin typeface="Arial" panose="020B0604020202020204"/>
                        <a:cs typeface="Arial" panose="020B0604020202020204"/>
                      </a:endParaRPr>
                    </a:p>
                  </a:txBody>
                  <a:tcPr marL="0" marR="0" marT="13970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CC"/>
                    </a:solidFill>
                  </a:tcPr>
                </a:tc>
              </a:tr>
            </a:tbl>
          </a:graphicData>
        </a:graphic>
      </p:graphicFrame>
      <p:sp>
        <p:nvSpPr>
          <p:cNvPr id="6" name="object 6"/>
          <p:cNvSpPr txBox="1"/>
          <p:nvPr/>
        </p:nvSpPr>
        <p:spPr>
          <a:xfrm>
            <a:off x="2731451" y="4803718"/>
            <a:ext cx="672465" cy="410845"/>
          </a:xfrm>
          <a:prstGeom prst="rect">
            <a:avLst/>
          </a:prstGeom>
        </p:spPr>
        <p:txBody>
          <a:bodyPr vert="horz" wrap="square" lIns="0" tIns="15875" rIns="0" bIns="0" rtlCol="0">
            <a:spAutoFit/>
          </a:bodyPr>
          <a:lstStyle/>
          <a:p>
            <a:pPr marL="12700">
              <a:lnSpc>
                <a:spcPct val="100000"/>
              </a:lnSpc>
              <a:spcBef>
                <a:spcPts val="125"/>
              </a:spcBef>
            </a:pPr>
            <a:r>
              <a:rPr sz="2500" spc="40" dirty="0">
                <a:latin typeface="Arial" panose="020B0604020202020204"/>
                <a:cs typeface="Arial" panose="020B0604020202020204"/>
              </a:rPr>
              <a:t>m</a:t>
            </a:r>
            <a:r>
              <a:rPr sz="2500" spc="-70" dirty="0">
                <a:latin typeface="Arial" panose="020B0604020202020204"/>
                <a:cs typeface="Arial" panose="020B0604020202020204"/>
              </a:rPr>
              <a:t> </a:t>
            </a:r>
            <a:r>
              <a:rPr sz="2500" spc="15" dirty="0">
                <a:latin typeface="Arial" panose="020B0604020202020204"/>
                <a:cs typeface="Arial" panose="020B0604020202020204"/>
              </a:rPr>
              <a:t>-n</a:t>
            </a:r>
            <a:endParaRPr sz="2500">
              <a:latin typeface="Arial" panose="020B0604020202020204"/>
              <a:cs typeface="Arial" panose="020B0604020202020204"/>
            </a:endParaRPr>
          </a:p>
        </p:txBody>
      </p:sp>
      <p:sp>
        <p:nvSpPr>
          <p:cNvPr id="7" name="object 7"/>
          <p:cNvSpPr txBox="1"/>
          <p:nvPr/>
        </p:nvSpPr>
        <p:spPr>
          <a:xfrm>
            <a:off x="5198931" y="4817950"/>
            <a:ext cx="205740" cy="410845"/>
          </a:xfrm>
          <a:prstGeom prst="rect">
            <a:avLst/>
          </a:prstGeom>
        </p:spPr>
        <p:txBody>
          <a:bodyPr vert="horz" wrap="square" lIns="0" tIns="15875" rIns="0" bIns="0" rtlCol="0">
            <a:spAutoFit/>
          </a:bodyPr>
          <a:lstStyle/>
          <a:p>
            <a:pPr marL="12700">
              <a:lnSpc>
                <a:spcPct val="100000"/>
              </a:lnSpc>
              <a:spcBef>
                <a:spcPts val="125"/>
              </a:spcBef>
            </a:pPr>
            <a:r>
              <a:rPr sz="2500" spc="25" dirty="0">
                <a:latin typeface="Arial" panose="020B0604020202020204"/>
                <a:cs typeface="Arial" panose="020B0604020202020204"/>
              </a:rPr>
              <a:t>n</a:t>
            </a:r>
            <a:endParaRPr sz="2500">
              <a:latin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9812" y="162407"/>
            <a:ext cx="2874010" cy="467359"/>
          </a:xfrm>
          <a:prstGeom prst="rect">
            <a:avLst/>
          </a:prstGeom>
        </p:spPr>
        <p:txBody>
          <a:bodyPr vert="horz" wrap="square" lIns="0" tIns="12700" rIns="0" bIns="0" rtlCol="0">
            <a:spAutoFit/>
          </a:bodyPr>
          <a:lstStyle/>
          <a:p>
            <a:pPr marL="12700">
              <a:lnSpc>
                <a:spcPct val="100000"/>
              </a:lnSpc>
              <a:spcBef>
                <a:spcPts val="100"/>
              </a:spcBef>
            </a:pPr>
            <a:r>
              <a:rPr spc="-25" dirty="0"/>
              <a:t>Paging</a:t>
            </a:r>
            <a:r>
              <a:rPr spc="45" dirty="0"/>
              <a:t> </a:t>
            </a:r>
            <a:r>
              <a:rPr dirty="0"/>
              <a:t>Hardware</a:t>
            </a:r>
            <a:endParaRPr dirty="0"/>
          </a:p>
        </p:txBody>
      </p:sp>
      <p:sp>
        <p:nvSpPr>
          <p:cNvPr id="3" name="object 3"/>
          <p:cNvSpPr/>
          <p:nvPr/>
        </p:nvSpPr>
        <p:spPr>
          <a:xfrm>
            <a:off x="317500" y="1130300"/>
            <a:ext cx="8597900" cy="513080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0213" y="160020"/>
            <a:ext cx="6363335" cy="391160"/>
          </a:xfrm>
          <a:prstGeom prst="rect">
            <a:avLst/>
          </a:prstGeom>
        </p:spPr>
        <p:txBody>
          <a:bodyPr vert="horz" wrap="square" lIns="0" tIns="12700" rIns="0" bIns="0" rtlCol="0">
            <a:spAutoFit/>
          </a:bodyPr>
          <a:lstStyle/>
          <a:p>
            <a:pPr marL="12700">
              <a:lnSpc>
                <a:spcPct val="100000"/>
              </a:lnSpc>
              <a:spcBef>
                <a:spcPts val="100"/>
              </a:spcBef>
              <a:tabLst>
                <a:tab pos="4038600" algn="l"/>
              </a:tabLst>
            </a:pPr>
            <a:r>
              <a:rPr sz="2400" spc="-25" dirty="0"/>
              <a:t>Paging  Model </a:t>
            </a:r>
            <a:r>
              <a:rPr sz="2400" spc="-20" dirty="0"/>
              <a:t>of</a:t>
            </a:r>
            <a:r>
              <a:rPr sz="2400" spc="-320" dirty="0"/>
              <a:t> </a:t>
            </a:r>
            <a:r>
              <a:rPr sz="2400" spc="-25" dirty="0"/>
              <a:t>Logical</a:t>
            </a:r>
            <a:r>
              <a:rPr sz="2400" spc="200" dirty="0"/>
              <a:t> </a:t>
            </a:r>
            <a:r>
              <a:rPr sz="2400" spc="-25" dirty="0"/>
              <a:t>and	</a:t>
            </a:r>
            <a:r>
              <a:rPr sz="2400" spc="-15" dirty="0"/>
              <a:t>Physical</a:t>
            </a:r>
            <a:r>
              <a:rPr sz="2400" spc="35" dirty="0"/>
              <a:t> </a:t>
            </a:r>
            <a:r>
              <a:rPr sz="2400" spc="-15" dirty="0"/>
              <a:t>Memory</a:t>
            </a:r>
            <a:endParaRPr sz="2400"/>
          </a:p>
        </p:txBody>
      </p:sp>
      <p:sp>
        <p:nvSpPr>
          <p:cNvPr id="3" name="object 3"/>
          <p:cNvSpPr/>
          <p:nvPr/>
        </p:nvSpPr>
        <p:spPr>
          <a:xfrm>
            <a:off x="520700" y="800511"/>
            <a:ext cx="7429500" cy="5816188"/>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6575" y="122872"/>
            <a:ext cx="2981960" cy="513080"/>
          </a:xfrm>
          <a:prstGeom prst="rect">
            <a:avLst/>
          </a:prstGeom>
        </p:spPr>
        <p:txBody>
          <a:bodyPr vert="horz" wrap="square" lIns="0" tIns="12700" rIns="0" bIns="0" rtlCol="0">
            <a:spAutoFit/>
          </a:bodyPr>
          <a:lstStyle/>
          <a:p>
            <a:pPr marL="12700">
              <a:lnSpc>
                <a:spcPct val="100000"/>
              </a:lnSpc>
              <a:spcBef>
                <a:spcPts val="100"/>
              </a:spcBef>
            </a:pPr>
            <a:r>
              <a:rPr sz="3200" dirty="0"/>
              <a:t>Paging</a:t>
            </a:r>
            <a:r>
              <a:rPr sz="3200" spc="-135" dirty="0"/>
              <a:t> </a:t>
            </a:r>
            <a:r>
              <a:rPr sz="3200" dirty="0"/>
              <a:t>Example</a:t>
            </a:r>
            <a:endParaRPr sz="3200"/>
          </a:p>
        </p:txBody>
      </p:sp>
      <p:sp>
        <p:nvSpPr>
          <p:cNvPr id="3" name="object 3"/>
          <p:cNvSpPr txBox="1"/>
          <p:nvPr/>
        </p:nvSpPr>
        <p:spPr>
          <a:xfrm>
            <a:off x="1724977" y="6180168"/>
            <a:ext cx="1529715" cy="330200"/>
          </a:xfrm>
          <a:prstGeom prst="rect">
            <a:avLst/>
          </a:prstGeom>
        </p:spPr>
        <p:txBody>
          <a:bodyPr vert="horz" wrap="square" lIns="0" tIns="12700" rIns="0" bIns="0" rtlCol="0">
            <a:spAutoFit/>
          </a:bodyPr>
          <a:lstStyle/>
          <a:p>
            <a:pPr marL="12700">
              <a:lnSpc>
                <a:spcPct val="100000"/>
              </a:lnSpc>
              <a:spcBef>
                <a:spcPts val="100"/>
              </a:spcBef>
            </a:pPr>
            <a:r>
              <a:rPr sz="2000" i="1" spc="5" dirty="0">
                <a:latin typeface="Arial" panose="020B0604020202020204"/>
                <a:cs typeface="Arial" panose="020B0604020202020204"/>
              </a:rPr>
              <a:t>n</a:t>
            </a:r>
            <a:r>
              <a:rPr sz="2000" spc="5" dirty="0">
                <a:latin typeface="Arial" panose="020B0604020202020204"/>
                <a:cs typeface="Arial" panose="020B0604020202020204"/>
              </a:rPr>
              <a:t>=2 </a:t>
            </a:r>
            <a:r>
              <a:rPr sz="2000" spc="-10" dirty="0">
                <a:latin typeface="Arial" panose="020B0604020202020204"/>
                <a:cs typeface="Arial" panose="020B0604020202020204"/>
              </a:rPr>
              <a:t>and</a:t>
            </a:r>
            <a:r>
              <a:rPr sz="2000" spc="-135" dirty="0">
                <a:latin typeface="Arial" panose="020B0604020202020204"/>
                <a:cs typeface="Arial" panose="020B0604020202020204"/>
              </a:rPr>
              <a:t> </a:t>
            </a:r>
            <a:r>
              <a:rPr sz="2000" i="1" spc="30" dirty="0">
                <a:latin typeface="Arial" panose="020B0604020202020204"/>
                <a:cs typeface="Arial" panose="020B0604020202020204"/>
              </a:rPr>
              <a:t>m</a:t>
            </a:r>
            <a:r>
              <a:rPr sz="2000" spc="30" dirty="0">
                <a:latin typeface="Arial" panose="020B0604020202020204"/>
                <a:cs typeface="Arial" panose="020B0604020202020204"/>
              </a:rPr>
              <a:t>=4</a:t>
            </a:r>
            <a:endParaRPr sz="2000">
              <a:latin typeface="Arial" panose="020B0604020202020204"/>
              <a:cs typeface="Arial" panose="020B0604020202020204"/>
            </a:endParaRPr>
          </a:p>
        </p:txBody>
      </p:sp>
      <p:sp>
        <p:nvSpPr>
          <p:cNvPr id="4" name="object 4"/>
          <p:cNvSpPr txBox="1"/>
          <p:nvPr/>
        </p:nvSpPr>
        <p:spPr>
          <a:xfrm>
            <a:off x="3426820" y="6180168"/>
            <a:ext cx="38862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32-byte </a:t>
            </a:r>
            <a:r>
              <a:rPr sz="2000" spc="10" dirty="0">
                <a:latin typeface="Arial" panose="020B0604020202020204"/>
                <a:cs typeface="Arial" panose="020B0604020202020204"/>
              </a:rPr>
              <a:t>memory </a:t>
            </a:r>
            <a:r>
              <a:rPr sz="2000" spc="-10" dirty="0">
                <a:latin typeface="Arial" panose="020B0604020202020204"/>
                <a:cs typeface="Arial" panose="020B0604020202020204"/>
              </a:rPr>
              <a:t>and </a:t>
            </a:r>
            <a:r>
              <a:rPr sz="2000" spc="5" dirty="0">
                <a:latin typeface="Arial" panose="020B0604020202020204"/>
                <a:cs typeface="Arial" panose="020B0604020202020204"/>
              </a:rPr>
              <a:t>4-byte</a:t>
            </a:r>
            <a:r>
              <a:rPr sz="2000" spc="-220" dirty="0">
                <a:latin typeface="Arial" panose="020B0604020202020204"/>
                <a:cs typeface="Arial" panose="020B0604020202020204"/>
              </a:rPr>
              <a:t> </a:t>
            </a:r>
            <a:r>
              <a:rPr sz="2000" spc="-15" dirty="0">
                <a:latin typeface="Arial" panose="020B0604020202020204"/>
                <a:cs typeface="Arial" panose="020B0604020202020204"/>
              </a:rPr>
              <a:t>pages</a:t>
            </a:r>
            <a:endParaRPr sz="2000">
              <a:latin typeface="Arial" panose="020B0604020202020204"/>
              <a:cs typeface="Arial" panose="020B0604020202020204"/>
            </a:endParaRPr>
          </a:p>
        </p:txBody>
      </p:sp>
      <p:sp>
        <p:nvSpPr>
          <p:cNvPr id="5" name="object 5"/>
          <p:cNvSpPr/>
          <p:nvPr/>
        </p:nvSpPr>
        <p:spPr>
          <a:xfrm>
            <a:off x="1711651" y="787400"/>
            <a:ext cx="5923639" cy="5440927"/>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615950" y="518160"/>
            <a:ext cx="7642860" cy="45491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0450" y="162407"/>
            <a:ext cx="2397760" cy="467359"/>
          </a:xfrm>
          <a:prstGeom prst="rect">
            <a:avLst/>
          </a:prstGeom>
        </p:spPr>
        <p:txBody>
          <a:bodyPr vert="horz" wrap="square" lIns="0" tIns="12700" rIns="0" bIns="0" rtlCol="0">
            <a:spAutoFit/>
          </a:bodyPr>
          <a:lstStyle/>
          <a:p>
            <a:pPr marL="12700">
              <a:lnSpc>
                <a:spcPct val="100000"/>
              </a:lnSpc>
              <a:spcBef>
                <a:spcPts val="100"/>
              </a:spcBef>
            </a:pPr>
            <a:r>
              <a:rPr spc="-25" dirty="0"/>
              <a:t>Paging</a:t>
            </a:r>
            <a:r>
              <a:rPr spc="10" dirty="0"/>
              <a:t> </a:t>
            </a:r>
            <a:r>
              <a:rPr dirty="0"/>
              <a:t>(Cont.)</a:t>
            </a:r>
            <a:endParaRPr dirty="0"/>
          </a:p>
        </p:txBody>
      </p:sp>
      <p:sp>
        <p:nvSpPr>
          <p:cNvPr id="3" name="object 3"/>
          <p:cNvSpPr txBox="1"/>
          <p:nvPr/>
        </p:nvSpPr>
        <p:spPr>
          <a:xfrm>
            <a:off x="295715" y="1071689"/>
            <a:ext cx="8496935" cy="4605655"/>
          </a:xfrm>
          <a:prstGeom prst="rect">
            <a:avLst/>
          </a:prstGeom>
        </p:spPr>
        <p:txBody>
          <a:bodyPr vert="horz" wrap="square" lIns="0" tIns="60960" rIns="0" bIns="0" rtlCol="0">
            <a:spAutoFit/>
          </a:bodyPr>
          <a:lstStyle/>
          <a:p>
            <a:pPr marL="355600" indent="-342900">
              <a:lnSpc>
                <a:spcPct val="100000"/>
              </a:lnSpc>
              <a:spcBef>
                <a:spcPts val="480"/>
              </a:spcBef>
              <a:buChar char="•"/>
              <a:tabLst>
                <a:tab pos="354965" algn="l"/>
                <a:tab pos="355600" algn="l"/>
              </a:tabLst>
            </a:pPr>
            <a:r>
              <a:rPr sz="2400" spc="-25" dirty="0">
                <a:latin typeface="Arial" panose="020B0604020202020204"/>
                <a:cs typeface="Arial" panose="020B0604020202020204"/>
              </a:rPr>
              <a:t>Calculating </a:t>
            </a:r>
            <a:r>
              <a:rPr sz="2400" spc="-20" dirty="0">
                <a:latin typeface="Arial" panose="020B0604020202020204"/>
                <a:cs typeface="Arial" panose="020B0604020202020204"/>
              </a:rPr>
              <a:t>internal</a:t>
            </a:r>
            <a:r>
              <a:rPr sz="2400" spc="-229" dirty="0">
                <a:latin typeface="Arial" panose="020B0604020202020204"/>
                <a:cs typeface="Arial" panose="020B0604020202020204"/>
              </a:rPr>
              <a:t> </a:t>
            </a:r>
            <a:r>
              <a:rPr sz="2400" spc="-15" dirty="0">
                <a:latin typeface="Arial" panose="020B0604020202020204"/>
                <a:cs typeface="Arial" panose="020B0604020202020204"/>
              </a:rPr>
              <a:t>fragmentation</a:t>
            </a:r>
            <a:endParaRPr sz="2400">
              <a:latin typeface="Arial" panose="020B0604020202020204"/>
              <a:cs typeface="Arial" panose="020B0604020202020204"/>
            </a:endParaRPr>
          </a:p>
          <a:p>
            <a:pPr marL="762000" lvl="1" indent="-292100">
              <a:lnSpc>
                <a:spcPct val="100000"/>
              </a:lnSpc>
              <a:spcBef>
                <a:spcPts val="320"/>
              </a:spcBef>
              <a:buChar char="–"/>
              <a:tabLst>
                <a:tab pos="761365" algn="l"/>
                <a:tab pos="762000" algn="l"/>
              </a:tabLst>
            </a:pPr>
            <a:r>
              <a:rPr sz="2000" spc="-20" dirty="0">
                <a:latin typeface="Arial" panose="020B0604020202020204"/>
                <a:cs typeface="Arial" panose="020B0604020202020204"/>
              </a:rPr>
              <a:t>Page </a:t>
            </a:r>
            <a:r>
              <a:rPr sz="2000" spc="-15" dirty="0">
                <a:latin typeface="Arial" panose="020B0604020202020204"/>
                <a:cs typeface="Arial" panose="020B0604020202020204"/>
              </a:rPr>
              <a:t>size </a:t>
            </a:r>
            <a:r>
              <a:rPr sz="2000" dirty="0">
                <a:latin typeface="Arial" panose="020B0604020202020204"/>
                <a:cs typeface="Arial" panose="020B0604020202020204"/>
              </a:rPr>
              <a:t>= </a:t>
            </a:r>
            <a:r>
              <a:rPr sz="2000" spc="-5" dirty="0">
                <a:latin typeface="Arial" panose="020B0604020202020204"/>
                <a:cs typeface="Arial" panose="020B0604020202020204"/>
              </a:rPr>
              <a:t>2,048</a:t>
            </a:r>
            <a:r>
              <a:rPr sz="2000" spc="95" dirty="0">
                <a:latin typeface="Arial" panose="020B0604020202020204"/>
                <a:cs typeface="Arial" panose="020B0604020202020204"/>
              </a:rPr>
              <a:t> </a:t>
            </a:r>
            <a:r>
              <a:rPr sz="2000" dirty="0">
                <a:latin typeface="Arial" panose="020B0604020202020204"/>
                <a:cs typeface="Arial" panose="020B0604020202020204"/>
              </a:rPr>
              <a:t>bytes</a:t>
            </a:r>
            <a:endParaRPr sz="2000">
              <a:latin typeface="Arial" panose="020B0604020202020204"/>
              <a:cs typeface="Arial" panose="020B0604020202020204"/>
            </a:endParaRPr>
          </a:p>
          <a:p>
            <a:pPr marL="762000" lvl="1" indent="-292100">
              <a:lnSpc>
                <a:spcPct val="100000"/>
              </a:lnSpc>
              <a:spcBef>
                <a:spcPts val="200"/>
              </a:spcBef>
              <a:buChar char="–"/>
              <a:tabLst>
                <a:tab pos="761365" algn="l"/>
                <a:tab pos="762000" algn="l"/>
              </a:tabLst>
            </a:pPr>
            <a:r>
              <a:rPr sz="2000" spc="-5" dirty="0">
                <a:latin typeface="Arial" panose="020B0604020202020204"/>
                <a:cs typeface="Arial" panose="020B0604020202020204"/>
              </a:rPr>
              <a:t>Process </a:t>
            </a:r>
            <a:r>
              <a:rPr sz="2000" spc="-15" dirty="0">
                <a:latin typeface="Arial" panose="020B0604020202020204"/>
                <a:cs typeface="Arial" panose="020B0604020202020204"/>
              </a:rPr>
              <a:t>size </a:t>
            </a:r>
            <a:r>
              <a:rPr sz="2000" dirty="0">
                <a:latin typeface="Arial" panose="020B0604020202020204"/>
                <a:cs typeface="Arial" panose="020B0604020202020204"/>
              </a:rPr>
              <a:t>= </a:t>
            </a:r>
            <a:r>
              <a:rPr sz="2000" spc="-5" dirty="0">
                <a:latin typeface="Arial" panose="020B0604020202020204"/>
                <a:cs typeface="Arial" panose="020B0604020202020204"/>
              </a:rPr>
              <a:t>72,766</a:t>
            </a:r>
            <a:r>
              <a:rPr sz="2000" spc="90" dirty="0">
                <a:latin typeface="Arial" panose="020B0604020202020204"/>
                <a:cs typeface="Arial" panose="020B0604020202020204"/>
              </a:rPr>
              <a:t> </a:t>
            </a:r>
            <a:r>
              <a:rPr sz="2000" dirty="0">
                <a:latin typeface="Arial" panose="020B0604020202020204"/>
                <a:cs typeface="Arial" panose="020B0604020202020204"/>
              </a:rPr>
              <a:t>bytes</a:t>
            </a:r>
            <a:endParaRPr sz="2000">
              <a:latin typeface="Arial" panose="020B0604020202020204"/>
              <a:cs typeface="Arial" panose="020B0604020202020204"/>
            </a:endParaRPr>
          </a:p>
          <a:p>
            <a:pPr marL="762000" lvl="1" indent="-292100">
              <a:lnSpc>
                <a:spcPct val="100000"/>
              </a:lnSpc>
              <a:spcBef>
                <a:spcPts val="300"/>
              </a:spcBef>
              <a:buChar char="–"/>
              <a:tabLst>
                <a:tab pos="761365" algn="l"/>
                <a:tab pos="762000" algn="l"/>
              </a:tabLst>
            </a:pPr>
            <a:r>
              <a:rPr sz="2000" spc="-10" dirty="0">
                <a:latin typeface="Arial" panose="020B0604020202020204"/>
                <a:cs typeface="Arial" panose="020B0604020202020204"/>
              </a:rPr>
              <a:t>35 </a:t>
            </a:r>
            <a:r>
              <a:rPr sz="2000" spc="-15" dirty="0">
                <a:latin typeface="Arial" panose="020B0604020202020204"/>
                <a:cs typeface="Arial" panose="020B0604020202020204"/>
              </a:rPr>
              <a:t>pages </a:t>
            </a:r>
            <a:r>
              <a:rPr sz="2000" dirty="0">
                <a:latin typeface="Arial" panose="020B0604020202020204"/>
                <a:cs typeface="Arial" panose="020B0604020202020204"/>
              </a:rPr>
              <a:t>+ </a:t>
            </a:r>
            <a:r>
              <a:rPr sz="2000" spc="-5" dirty="0">
                <a:latin typeface="Arial" panose="020B0604020202020204"/>
                <a:cs typeface="Arial" panose="020B0604020202020204"/>
              </a:rPr>
              <a:t>1,086 </a:t>
            </a:r>
            <a:r>
              <a:rPr sz="2000" dirty="0">
                <a:latin typeface="Arial" panose="020B0604020202020204"/>
                <a:cs typeface="Arial" panose="020B0604020202020204"/>
              </a:rPr>
              <a:t>bytes</a:t>
            </a:r>
            <a:endParaRPr sz="2000">
              <a:latin typeface="Arial" panose="020B0604020202020204"/>
              <a:cs typeface="Arial" panose="020B0604020202020204"/>
            </a:endParaRPr>
          </a:p>
          <a:p>
            <a:pPr marL="762000" lvl="1" indent="-292100">
              <a:lnSpc>
                <a:spcPct val="100000"/>
              </a:lnSpc>
              <a:spcBef>
                <a:spcPts val="200"/>
              </a:spcBef>
              <a:buChar char="–"/>
              <a:tabLst>
                <a:tab pos="761365" algn="l"/>
                <a:tab pos="762000" algn="l"/>
              </a:tabLst>
            </a:pPr>
            <a:r>
              <a:rPr sz="2000" spc="5" dirty="0">
                <a:latin typeface="Arial" panose="020B0604020202020204"/>
                <a:cs typeface="Arial" panose="020B0604020202020204"/>
              </a:rPr>
              <a:t>Internal </a:t>
            </a:r>
            <a:r>
              <a:rPr sz="2000" dirty="0">
                <a:latin typeface="Arial" panose="020B0604020202020204"/>
                <a:cs typeface="Arial" panose="020B0604020202020204"/>
              </a:rPr>
              <a:t>fragmentation </a:t>
            </a:r>
            <a:r>
              <a:rPr sz="2000" spc="-10" dirty="0">
                <a:latin typeface="Arial" panose="020B0604020202020204"/>
                <a:cs typeface="Arial" panose="020B0604020202020204"/>
              </a:rPr>
              <a:t>of </a:t>
            </a:r>
            <a:r>
              <a:rPr sz="2000" spc="-5" dirty="0">
                <a:latin typeface="Arial" panose="020B0604020202020204"/>
                <a:cs typeface="Arial" panose="020B0604020202020204"/>
              </a:rPr>
              <a:t>2,048 </a:t>
            </a:r>
            <a:r>
              <a:rPr sz="2000" dirty="0">
                <a:latin typeface="Arial" panose="020B0604020202020204"/>
                <a:cs typeface="Arial" panose="020B0604020202020204"/>
              </a:rPr>
              <a:t>- </a:t>
            </a:r>
            <a:r>
              <a:rPr sz="2000" spc="-5" dirty="0">
                <a:latin typeface="Arial" panose="020B0604020202020204"/>
                <a:cs typeface="Arial" panose="020B0604020202020204"/>
              </a:rPr>
              <a:t>1,086 </a:t>
            </a:r>
            <a:r>
              <a:rPr sz="2000" dirty="0">
                <a:latin typeface="Arial" panose="020B0604020202020204"/>
                <a:cs typeface="Arial" panose="020B0604020202020204"/>
              </a:rPr>
              <a:t>= </a:t>
            </a:r>
            <a:r>
              <a:rPr sz="2000" spc="-10" dirty="0">
                <a:latin typeface="Arial" panose="020B0604020202020204"/>
                <a:cs typeface="Arial" panose="020B0604020202020204"/>
              </a:rPr>
              <a:t>962</a:t>
            </a:r>
            <a:r>
              <a:rPr sz="2000" spc="-235" dirty="0">
                <a:latin typeface="Arial" panose="020B0604020202020204"/>
                <a:cs typeface="Arial" panose="020B0604020202020204"/>
              </a:rPr>
              <a:t> </a:t>
            </a:r>
            <a:r>
              <a:rPr sz="2000" dirty="0">
                <a:latin typeface="Arial" panose="020B0604020202020204"/>
                <a:cs typeface="Arial" panose="020B0604020202020204"/>
              </a:rPr>
              <a:t>bytes</a:t>
            </a:r>
            <a:endParaRPr sz="2000">
              <a:latin typeface="Arial" panose="020B0604020202020204"/>
              <a:cs typeface="Arial" panose="020B0604020202020204"/>
            </a:endParaRPr>
          </a:p>
          <a:p>
            <a:pPr marL="762000" lvl="1" indent="-292100">
              <a:lnSpc>
                <a:spcPct val="100000"/>
              </a:lnSpc>
              <a:spcBef>
                <a:spcPts val="200"/>
              </a:spcBef>
              <a:buChar char="–"/>
              <a:tabLst>
                <a:tab pos="761365" algn="l"/>
                <a:tab pos="762000" algn="l"/>
              </a:tabLst>
            </a:pPr>
            <a:r>
              <a:rPr sz="2000" spc="5" dirty="0">
                <a:latin typeface="Arial" panose="020B0604020202020204"/>
                <a:cs typeface="Arial" panose="020B0604020202020204"/>
              </a:rPr>
              <a:t>Worst </a:t>
            </a:r>
            <a:r>
              <a:rPr sz="2000" spc="-5" dirty="0">
                <a:latin typeface="Arial" panose="020B0604020202020204"/>
                <a:cs typeface="Arial" panose="020B0604020202020204"/>
              </a:rPr>
              <a:t>case </a:t>
            </a:r>
            <a:r>
              <a:rPr sz="2000" dirty="0">
                <a:latin typeface="Arial" panose="020B0604020202020204"/>
                <a:cs typeface="Arial" panose="020B0604020202020204"/>
              </a:rPr>
              <a:t>fragmentation = 1 </a:t>
            </a:r>
            <a:r>
              <a:rPr sz="2000" spc="15" dirty="0">
                <a:latin typeface="Arial" panose="020B0604020202020204"/>
                <a:cs typeface="Arial" panose="020B0604020202020204"/>
              </a:rPr>
              <a:t>frame </a:t>
            </a:r>
            <a:r>
              <a:rPr sz="2000" dirty="0">
                <a:latin typeface="Arial" panose="020B0604020202020204"/>
                <a:cs typeface="Arial" panose="020B0604020202020204"/>
              </a:rPr>
              <a:t>– 1</a:t>
            </a:r>
            <a:r>
              <a:rPr sz="2000" spc="-385" dirty="0">
                <a:latin typeface="Arial" panose="020B0604020202020204"/>
                <a:cs typeface="Arial" panose="020B0604020202020204"/>
              </a:rPr>
              <a:t> </a:t>
            </a:r>
            <a:r>
              <a:rPr sz="2000" spc="5" dirty="0">
                <a:latin typeface="Arial" panose="020B0604020202020204"/>
                <a:cs typeface="Arial" panose="020B0604020202020204"/>
              </a:rPr>
              <a:t>byte</a:t>
            </a:r>
            <a:endParaRPr sz="2000">
              <a:latin typeface="Arial" panose="020B0604020202020204"/>
              <a:cs typeface="Arial" panose="020B0604020202020204"/>
            </a:endParaRPr>
          </a:p>
          <a:p>
            <a:pPr marL="762000" lvl="1" indent="-292100">
              <a:lnSpc>
                <a:spcPct val="100000"/>
              </a:lnSpc>
              <a:spcBef>
                <a:spcPts val="300"/>
              </a:spcBef>
              <a:buChar char="–"/>
              <a:tabLst>
                <a:tab pos="761365" algn="l"/>
                <a:tab pos="762000" algn="l"/>
              </a:tabLst>
            </a:pPr>
            <a:r>
              <a:rPr sz="2000" spc="20" dirty="0">
                <a:latin typeface="Arial" panose="020B0604020202020204"/>
                <a:cs typeface="Arial" panose="020B0604020202020204"/>
              </a:rPr>
              <a:t>On </a:t>
            </a:r>
            <a:r>
              <a:rPr sz="2000" spc="-5" dirty="0">
                <a:latin typeface="Arial" panose="020B0604020202020204"/>
                <a:cs typeface="Arial" panose="020B0604020202020204"/>
              </a:rPr>
              <a:t>average </a:t>
            </a:r>
            <a:r>
              <a:rPr sz="2000" dirty="0">
                <a:latin typeface="Arial" panose="020B0604020202020204"/>
                <a:cs typeface="Arial" panose="020B0604020202020204"/>
              </a:rPr>
              <a:t>fragmentation = 1 / 2 </a:t>
            </a:r>
            <a:r>
              <a:rPr sz="2000" spc="15" dirty="0">
                <a:latin typeface="Arial" panose="020B0604020202020204"/>
                <a:cs typeface="Arial" panose="020B0604020202020204"/>
              </a:rPr>
              <a:t>frame</a:t>
            </a:r>
            <a:r>
              <a:rPr sz="2000" spc="-380" dirty="0">
                <a:latin typeface="Arial" panose="020B0604020202020204"/>
                <a:cs typeface="Arial" panose="020B0604020202020204"/>
              </a:rPr>
              <a:t> </a:t>
            </a:r>
            <a:r>
              <a:rPr sz="2000" spc="-15" dirty="0">
                <a:latin typeface="Arial" panose="020B0604020202020204"/>
                <a:cs typeface="Arial" panose="020B0604020202020204"/>
              </a:rPr>
              <a:t>size</a:t>
            </a:r>
            <a:endParaRPr sz="2000">
              <a:latin typeface="Arial" panose="020B0604020202020204"/>
              <a:cs typeface="Arial" panose="020B0604020202020204"/>
            </a:endParaRPr>
          </a:p>
          <a:p>
            <a:pPr marL="762000" lvl="1" indent="-292100">
              <a:lnSpc>
                <a:spcPct val="100000"/>
              </a:lnSpc>
              <a:spcBef>
                <a:spcPts val="200"/>
              </a:spcBef>
              <a:buChar char="–"/>
              <a:tabLst>
                <a:tab pos="761365" algn="l"/>
                <a:tab pos="762000" algn="l"/>
              </a:tabLst>
            </a:pPr>
            <a:r>
              <a:rPr sz="2000" spc="-20" dirty="0">
                <a:latin typeface="Arial" panose="020B0604020202020204"/>
                <a:cs typeface="Arial" panose="020B0604020202020204"/>
              </a:rPr>
              <a:t>So </a:t>
            </a:r>
            <a:r>
              <a:rPr sz="2000" spc="-10" dirty="0">
                <a:latin typeface="Arial" panose="020B0604020202020204"/>
                <a:cs typeface="Arial" panose="020B0604020202020204"/>
              </a:rPr>
              <a:t>small </a:t>
            </a:r>
            <a:r>
              <a:rPr sz="2000" spc="15" dirty="0">
                <a:latin typeface="Arial" panose="020B0604020202020204"/>
                <a:cs typeface="Arial" panose="020B0604020202020204"/>
              </a:rPr>
              <a:t>frame </a:t>
            </a:r>
            <a:r>
              <a:rPr sz="2000" spc="-15" dirty="0">
                <a:latin typeface="Arial" panose="020B0604020202020204"/>
                <a:cs typeface="Arial" panose="020B0604020202020204"/>
              </a:rPr>
              <a:t>sizes</a:t>
            </a:r>
            <a:r>
              <a:rPr sz="2000" spc="10" dirty="0">
                <a:latin typeface="Arial" panose="020B0604020202020204"/>
                <a:cs typeface="Arial" panose="020B0604020202020204"/>
              </a:rPr>
              <a:t> </a:t>
            </a:r>
            <a:r>
              <a:rPr sz="2000" spc="-15" dirty="0">
                <a:latin typeface="Arial" panose="020B0604020202020204"/>
                <a:cs typeface="Arial" panose="020B0604020202020204"/>
              </a:rPr>
              <a:t>desirable?</a:t>
            </a:r>
            <a:endParaRPr sz="2000">
              <a:latin typeface="Arial" panose="020B0604020202020204"/>
              <a:cs typeface="Arial" panose="020B0604020202020204"/>
            </a:endParaRPr>
          </a:p>
          <a:p>
            <a:pPr marL="762000" lvl="1" indent="-292100">
              <a:lnSpc>
                <a:spcPct val="100000"/>
              </a:lnSpc>
              <a:spcBef>
                <a:spcPts val="300"/>
              </a:spcBef>
              <a:buChar char="–"/>
              <a:tabLst>
                <a:tab pos="761365" algn="l"/>
                <a:tab pos="762000" algn="l"/>
              </a:tabLst>
            </a:pPr>
            <a:r>
              <a:rPr sz="2000" spc="-20" dirty="0">
                <a:latin typeface="Arial" panose="020B0604020202020204"/>
                <a:cs typeface="Arial" panose="020B0604020202020204"/>
              </a:rPr>
              <a:t>But </a:t>
            </a:r>
            <a:r>
              <a:rPr sz="2000" spc="-10" dirty="0">
                <a:latin typeface="Arial" panose="020B0604020202020204"/>
                <a:cs typeface="Arial" panose="020B0604020202020204"/>
              </a:rPr>
              <a:t>each </a:t>
            </a:r>
            <a:r>
              <a:rPr sz="2000" spc="-15" dirty="0">
                <a:latin typeface="Arial" panose="020B0604020202020204"/>
                <a:cs typeface="Arial" panose="020B0604020202020204"/>
              </a:rPr>
              <a:t>page </a:t>
            </a:r>
            <a:r>
              <a:rPr sz="2000" spc="-10" dirty="0">
                <a:latin typeface="Arial" panose="020B0604020202020204"/>
                <a:cs typeface="Arial" panose="020B0604020202020204"/>
              </a:rPr>
              <a:t>table </a:t>
            </a:r>
            <a:r>
              <a:rPr sz="2000" spc="5" dirty="0">
                <a:latin typeface="Arial" panose="020B0604020202020204"/>
                <a:cs typeface="Arial" panose="020B0604020202020204"/>
              </a:rPr>
              <a:t>entry </a:t>
            </a:r>
            <a:r>
              <a:rPr sz="2000" dirty="0">
                <a:latin typeface="Arial" panose="020B0604020202020204"/>
                <a:cs typeface="Arial" panose="020B0604020202020204"/>
              </a:rPr>
              <a:t>takes </a:t>
            </a:r>
            <a:r>
              <a:rPr sz="2000" spc="10" dirty="0">
                <a:latin typeface="Arial" panose="020B0604020202020204"/>
                <a:cs typeface="Arial" panose="020B0604020202020204"/>
              </a:rPr>
              <a:t>memory </a:t>
            </a:r>
            <a:r>
              <a:rPr sz="2000" spc="20" dirty="0">
                <a:latin typeface="Arial" panose="020B0604020202020204"/>
                <a:cs typeface="Arial" panose="020B0604020202020204"/>
              </a:rPr>
              <a:t>to</a:t>
            </a:r>
            <a:r>
              <a:rPr sz="2000" spc="-140" dirty="0">
                <a:latin typeface="Arial" panose="020B0604020202020204"/>
                <a:cs typeface="Arial" panose="020B0604020202020204"/>
              </a:rPr>
              <a:t> </a:t>
            </a:r>
            <a:r>
              <a:rPr sz="2000" spc="10" dirty="0">
                <a:latin typeface="Arial" panose="020B0604020202020204"/>
                <a:cs typeface="Arial" panose="020B0604020202020204"/>
              </a:rPr>
              <a:t>track</a:t>
            </a:r>
            <a:endParaRPr sz="2000">
              <a:latin typeface="Arial" panose="020B0604020202020204"/>
              <a:cs typeface="Arial" panose="020B0604020202020204"/>
            </a:endParaRPr>
          </a:p>
          <a:p>
            <a:pPr marL="762000" lvl="1" indent="-292100">
              <a:lnSpc>
                <a:spcPct val="100000"/>
              </a:lnSpc>
              <a:spcBef>
                <a:spcPts val="200"/>
              </a:spcBef>
              <a:buChar char="–"/>
              <a:tabLst>
                <a:tab pos="761365" algn="l"/>
                <a:tab pos="762000" algn="l"/>
              </a:tabLst>
            </a:pPr>
            <a:r>
              <a:rPr sz="2000" spc="-20" dirty="0">
                <a:latin typeface="Arial" panose="020B0604020202020204"/>
                <a:cs typeface="Arial" panose="020B0604020202020204"/>
              </a:rPr>
              <a:t>Page </a:t>
            </a:r>
            <a:r>
              <a:rPr sz="2000" spc="-15" dirty="0">
                <a:latin typeface="Arial" panose="020B0604020202020204"/>
                <a:cs typeface="Arial" panose="020B0604020202020204"/>
              </a:rPr>
              <a:t>sizes growing </a:t>
            </a:r>
            <a:r>
              <a:rPr sz="2000" spc="-10" dirty="0">
                <a:latin typeface="Arial" panose="020B0604020202020204"/>
                <a:cs typeface="Arial" panose="020B0604020202020204"/>
              </a:rPr>
              <a:t>over</a:t>
            </a:r>
            <a:r>
              <a:rPr sz="2000" spc="220" dirty="0">
                <a:latin typeface="Arial" panose="020B0604020202020204"/>
                <a:cs typeface="Arial" panose="020B0604020202020204"/>
              </a:rPr>
              <a:t> </a:t>
            </a:r>
            <a:r>
              <a:rPr sz="2000" spc="5" dirty="0">
                <a:latin typeface="Arial" panose="020B0604020202020204"/>
                <a:cs typeface="Arial" panose="020B0604020202020204"/>
              </a:rPr>
              <a:t>time</a:t>
            </a:r>
            <a:endParaRPr sz="2000">
              <a:latin typeface="Arial" panose="020B0604020202020204"/>
              <a:cs typeface="Arial" panose="020B0604020202020204"/>
            </a:endParaRPr>
          </a:p>
          <a:p>
            <a:pPr marL="1155700" lvl="2" indent="-228600">
              <a:lnSpc>
                <a:spcPct val="100000"/>
              </a:lnSpc>
              <a:spcBef>
                <a:spcPts val="200"/>
              </a:spcBef>
              <a:buChar char="•"/>
              <a:tabLst>
                <a:tab pos="1155065" algn="l"/>
                <a:tab pos="1155700" algn="l"/>
              </a:tabLst>
            </a:pPr>
            <a:r>
              <a:rPr sz="2000" spc="-20" dirty="0">
                <a:latin typeface="Arial" panose="020B0604020202020204"/>
                <a:cs typeface="Arial" panose="020B0604020202020204"/>
              </a:rPr>
              <a:t>Solaris </a:t>
            </a:r>
            <a:r>
              <a:rPr sz="2000" dirty="0">
                <a:latin typeface="Arial" panose="020B0604020202020204"/>
                <a:cs typeface="Arial" panose="020B0604020202020204"/>
              </a:rPr>
              <a:t>supports </a:t>
            </a:r>
            <a:r>
              <a:rPr sz="2000" spc="-5" dirty="0">
                <a:latin typeface="Arial" panose="020B0604020202020204"/>
                <a:cs typeface="Arial" panose="020B0604020202020204"/>
              </a:rPr>
              <a:t>two </a:t>
            </a:r>
            <a:r>
              <a:rPr sz="2000" spc="-15" dirty="0">
                <a:latin typeface="Arial" panose="020B0604020202020204"/>
                <a:cs typeface="Arial" panose="020B0604020202020204"/>
              </a:rPr>
              <a:t>page sizes </a:t>
            </a:r>
            <a:r>
              <a:rPr sz="2000" dirty="0">
                <a:latin typeface="Arial" panose="020B0604020202020204"/>
                <a:cs typeface="Arial" panose="020B0604020202020204"/>
              </a:rPr>
              <a:t>– 8 </a:t>
            </a:r>
            <a:r>
              <a:rPr sz="2000" spc="-20" dirty="0">
                <a:latin typeface="Arial" panose="020B0604020202020204"/>
                <a:cs typeface="Arial" panose="020B0604020202020204"/>
              </a:rPr>
              <a:t>KB </a:t>
            </a:r>
            <a:r>
              <a:rPr sz="2000" spc="-10" dirty="0">
                <a:latin typeface="Arial" panose="020B0604020202020204"/>
                <a:cs typeface="Arial" panose="020B0604020202020204"/>
              </a:rPr>
              <a:t>and </a:t>
            </a:r>
            <a:r>
              <a:rPr sz="2000" dirty="0">
                <a:latin typeface="Arial" panose="020B0604020202020204"/>
                <a:cs typeface="Arial" panose="020B0604020202020204"/>
              </a:rPr>
              <a:t>4</a:t>
            </a:r>
            <a:r>
              <a:rPr sz="2000" spc="285" dirty="0">
                <a:latin typeface="Arial" panose="020B0604020202020204"/>
                <a:cs typeface="Arial" panose="020B0604020202020204"/>
              </a:rPr>
              <a:t> </a:t>
            </a:r>
            <a:r>
              <a:rPr sz="2000" spc="15" dirty="0">
                <a:latin typeface="Arial" panose="020B0604020202020204"/>
                <a:cs typeface="Arial" panose="020B0604020202020204"/>
              </a:rPr>
              <a:t>MB</a:t>
            </a:r>
            <a:endParaRPr sz="2000">
              <a:latin typeface="Arial" panose="020B0604020202020204"/>
              <a:cs typeface="Arial" panose="020B0604020202020204"/>
            </a:endParaRPr>
          </a:p>
          <a:p>
            <a:pPr marL="355600" indent="-342900">
              <a:lnSpc>
                <a:spcPct val="100000"/>
              </a:lnSpc>
              <a:spcBef>
                <a:spcPts val="300"/>
              </a:spcBef>
              <a:buChar char="•"/>
              <a:tabLst>
                <a:tab pos="354965" algn="l"/>
                <a:tab pos="355600" algn="l"/>
              </a:tabLst>
            </a:pPr>
            <a:r>
              <a:rPr sz="2400" spc="-15" dirty="0">
                <a:latin typeface="Arial" panose="020B0604020202020204"/>
                <a:cs typeface="Arial" panose="020B0604020202020204"/>
              </a:rPr>
              <a:t>Process </a:t>
            </a:r>
            <a:r>
              <a:rPr sz="2400" spc="-20" dirty="0">
                <a:latin typeface="Arial" panose="020B0604020202020204"/>
                <a:cs typeface="Arial" panose="020B0604020202020204"/>
              </a:rPr>
              <a:t>view </a:t>
            </a:r>
            <a:r>
              <a:rPr sz="2400" spc="-25" dirty="0">
                <a:latin typeface="Arial" panose="020B0604020202020204"/>
                <a:cs typeface="Arial" panose="020B0604020202020204"/>
              </a:rPr>
              <a:t>and </a:t>
            </a:r>
            <a:r>
              <a:rPr sz="2400" spc="-20" dirty="0">
                <a:latin typeface="Arial" panose="020B0604020202020204"/>
                <a:cs typeface="Arial" panose="020B0604020202020204"/>
              </a:rPr>
              <a:t>physical </a:t>
            </a:r>
            <a:r>
              <a:rPr sz="2400" spc="-15" dirty="0">
                <a:latin typeface="Arial" panose="020B0604020202020204"/>
                <a:cs typeface="Arial" panose="020B0604020202020204"/>
              </a:rPr>
              <a:t>memory </a:t>
            </a:r>
            <a:r>
              <a:rPr sz="2400" spc="-25" dirty="0">
                <a:latin typeface="Arial" panose="020B0604020202020204"/>
                <a:cs typeface="Arial" panose="020B0604020202020204"/>
              </a:rPr>
              <a:t>now </a:t>
            </a:r>
            <a:r>
              <a:rPr sz="2400" spc="-10" dirty="0">
                <a:latin typeface="Arial" panose="020B0604020202020204"/>
                <a:cs typeface="Arial" panose="020B0604020202020204"/>
              </a:rPr>
              <a:t>very</a:t>
            </a:r>
            <a:r>
              <a:rPr sz="2400" spc="35" dirty="0">
                <a:latin typeface="Arial" panose="020B0604020202020204"/>
                <a:cs typeface="Arial" panose="020B0604020202020204"/>
              </a:rPr>
              <a:t> </a:t>
            </a:r>
            <a:r>
              <a:rPr sz="2400" spc="-15" dirty="0">
                <a:latin typeface="Arial" panose="020B0604020202020204"/>
                <a:cs typeface="Arial" panose="020B0604020202020204"/>
              </a:rPr>
              <a:t>different</a:t>
            </a:r>
            <a:endParaRPr sz="2400">
              <a:latin typeface="Arial" panose="020B0604020202020204"/>
              <a:cs typeface="Arial" panose="020B0604020202020204"/>
            </a:endParaRPr>
          </a:p>
          <a:p>
            <a:pPr marL="355600" indent="-342900">
              <a:lnSpc>
                <a:spcPct val="100000"/>
              </a:lnSpc>
              <a:spcBef>
                <a:spcPts val="320"/>
              </a:spcBef>
              <a:buChar char="•"/>
              <a:tabLst>
                <a:tab pos="354965" algn="l"/>
                <a:tab pos="355600" algn="l"/>
              </a:tabLst>
            </a:pPr>
            <a:r>
              <a:rPr sz="2400" spc="-5" dirty="0">
                <a:latin typeface="Arial" panose="020B0604020202020204"/>
                <a:cs typeface="Arial" panose="020B0604020202020204"/>
              </a:rPr>
              <a:t>By </a:t>
            </a:r>
            <a:r>
              <a:rPr sz="2400" spc="-20" dirty="0">
                <a:latin typeface="Arial" panose="020B0604020202020204"/>
                <a:cs typeface="Arial" panose="020B0604020202020204"/>
              </a:rPr>
              <a:t>implementation </a:t>
            </a:r>
            <a:r>
              <a:rPr sz="2400" spc="-15" dirty="0">
                <a:latin typeface="Arial" panose="020B0604020202020204"/>
                <a:cs typeface="Arial" panose="020B0604020202020204"/>
              </a:rPr>
              <a:t>process can </a:t>
            </a:r>
            <a:r>
              <a:rPr sz="2400" spc="-30" dirty="0">
                <a:latin typeface="Arial" panose="020B0604020202020204"/>
                <a:cs typeface="Arial" panose="020B0604020202020204"/>
              </a:rPr>
              <a:t>only </a:t>
            </a:r>
            <a:r>
              <a:rPr sz="2400" spc="-15" dirty="0">
                <a:latin typeface="Arial" panose="020B0604020202020204"/>
                <a:cs typeface="Arial" panose="020B0604020202020204"/>
              </a:rPr>
              <a:t>access </a:t>
            </a:r>
            <a:r>
              <a:rPr sz="2400" spc="-5" dirty="0">
                <a:latin typeface="Arial" panose="020B0604020202020204"/>
                <a:cs typeface="Arial" panose="020B0604020202020204"/>
              </a:rPr>
              <a:t>its </a:t>
            </a:r>
            <a:r>
              <a:rPr sz="2400" spc="-25" dirty="0">
                <a:latin typeface="Arial" panose="020B0604020202020204"/>
                <a:cs typeface="Arial" panose="020B0604020202020204"/>
              </a:rPr>
              <a:t>own</a:t>
            </a:r>
            <a:r>
              <a:rPr sz="2400" spc="105" dirty="0">
                <a:latin typeface="Arial" panose="020B0604020202020204"/>
                <a:cs typeface="Arial" panose="020B0604020202020204"/>
              </a:rPr>
              <a:t> </a:t>
            </a:r>
            <a:r>
              <a:rPr sz="2400" spc="-15" dirty="0">
                <a:latin typeface="Arial" panose="020B0604020202020204"/>
                <a:cs typeface="Arial" panose="020B0604020202020204"/>
              </a:rPr>
              <a:t>memory</a:t>
            </a:r>
            <a:endParaRPr sz="2400">
              <a:latin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5700" y="194157"/>
            <a:ext cx="2139950" cy="467359"/>
          </a:xfrm>
          <a:prstGeom prst="rect">
            <a:avLst/>
          </a:prstGeom>
        </p:spPr>
        <p:txBody>
          <a:bodyPr vert="horz" wrap="square" lIns="0" tIns="12700" rIns="0" bIns="0" rtlCol="0">
            <a:spAutoFit/>
          </a:bodyPr>
          <a:lstStyle/>
          <a:p>
            <a:pPr marL="12700">
              <a:lnSpc>
                <a:spcPct val="100000"/>
              </a:lnSpc>
              <a:spcBef>
                <a:spcPts val="100"/>
              </a:spcBef>
            </a:pPr>
            <a:r>
              <a:rPr spc="10" dirty="0"/>
              <a:t>Free</a:t>
            </a:r>
            <a:r>
              <a:rPr spc="-105" dirty="0"/>
              <a:t> </a:t>
            </a:r>
            <a:r>
              <a:rPr dirty="0"/>
              <a:t>Frames</a:t>
            </a:r>
            <a:endParaRPr dirty="0"/>
          </a:p>
        </p:txBody>
      </p:sp>
      <p:sp>
        <p:nvSpPr>
          <p:cNvPr id="3" name="object 3"/>
          <p:cNvSpPr txBox="1"/>
          <p:nvPr/>
        </p:nvSpPr>
        <p:spPr>
          <a:xfrm>
            <a:off x="2008187" y="6177686"/>
            <a:ext cx="17278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Before</a:t>
            </a:r>
            <a:r>
              <a:rPr sz="1800" spc="-60" dirty="0">
                <a:latin typeface="Arial" panose="020B0604020202020204"/>
                <a:cs typeface="Arial" panose="020B0604020202020204"/>
              </a:rPr>
              <a:t> </a:t>
            </a:r>
            <a:r>
              <a:rPr sz="1800" spc="-5" dirty="0">
                <a:latin typeface="Arial" panose="020B0604020202020204"/>
                <a:cs typeface="Arial" panose="020B0604020202020204"/>
              </a:rPr>
              <a:t>allocation</a:t>
            </a:r>
            <a:endParaRPr sz="1800">
              <a:latin typeface="Arial" panose="020B0604020202020204"/>
              <a:cs typeface="Arial" panose="020B0604020202020204"/>
            </a:endParaRPr>
          </a:p>
        </p:txBody>
      </p:sp>
      <p:sp>
        <p:nvSpPr>
          <p:cNvPr id="4" name="object 4"/>
          <p:cNvSpPr txBox="1"/>
          <p:nvPr/>
        </p:nvSpPr>
        <p:spPr>
          <a:xfrm>
            <a:off x="5422900" y="6081896"/>
            <a:ext cx="15373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After</a:t>
            </a:r>
            <a:r>
              <a:rPr sz="1800" spc="-55" dirty="0">
                <a:latin typeface="Arial" panose="020B0604020202020204"/>
                <a:cs typeface="Arial" panose="020B0604020202020204"/>
              </a:rPr>
              <a:t> </a:t>
            </a:r>
            <a:r>
              <a:rPr sz="1800" spc="-5" dirty="0">
                <a:latin typeface="Arial" panose="020B0604020202020204"/>
                <a:cs typeface="Arial" panose="020B0604020202020204"/>
              </a:rPr>
              <a:t>allocation</a:t>
            </a:r>
            <a:endParaRPr sz="1800">
              <a:latin typeface="Arial" panose="020B0604020202020204"/>
              <a:cs typeface="Arial" panose="020B0604020202020204"/>
            </a:endParaRPr>
          </a:p>
        </p:txBody>
      </p:sp>
      <p:sp>
        <p:nvSpPr>
          <p:cNvPr id="5" name="object 5"/>
          <p:cNvSpPr/>
          <p:nvPr/>
        </p:nvSpPr>
        <p:spPr>
          <a:xfrm>
            <a:off x="850900" y="1003300"/>
            <a:ext cx="6883400" cy="492760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7813" y="565672"/>
            <a:ext cx="3705562" cy="457591"/>
          </a:xfrm>
          <a:prstGeom prst="rect">
            <a:avLst/>
          </a:prstGeom>
        </p:spPr>
        <p:txBody>
          <a:bodyPr vert="horz" wrap="square" lIns="0" tIns="11206" rIns="0" bIns="0" rtlCol="0">
            <a:spAutoFit/>
          </a:bodyPr>
          <a:lstStyle/>
          <a:p>
            <a:pPr marL="11430">
              <a:spcBef>
                <a:spcPts val="90"/>
              </a:spcBef>
            </a:pPr>
            <a:r>
              <a:rPr u="none" dirty="0"/>
              <a:t>Paging</a:t>
            </a:r>
            <a:r>
              <a:rPr spc="-79" dirty="0"/>
              <a:t> </a:t>
            </a:r>
            <a:r>
              <a:rPr u="none" dirty="0"/>
              <a:t>Example</a:t>
            </a:r>
            <a:endParaRPr u="none" dirty="0"/>
          </a:p>
        </p:txBody>
      </p:sp>
      <p:grpSp>
        <p:nvGrpSpPr>
          <p:cNvPr id="3" name="object 3"/>
          <p:cNvGrpSpPr/>
          <p:nvPr/>
        </p:nvGrpSpPr>
        <p:grpSpPr>
          <a:xfrm>
            <a:off x="4656044" y="1630456"/>
            <a:ext cx="3814482" cy="4605618"/>
            <a:chOff x="5124450" y="1847850"/>
            <a:chExt cx="4323080" cy="5219700"/>
          </a:xfrm>
        </p:grpSpPr>
        <p:sp>
          <p:nvSpPr>
            <p:cNvPr id="4" name="object 4"/>
            <p:cNvSpPr/>
            <p:nvPr/>
          </p:nvSpPr>
          <p:spPr>
            <a:xfrm>
              <a:off x="5246247" y="1905000"/>
              <a:ext cx="4143878" cy="5105400"/>
            </a:xfrm>
            <a:prstGeom prst="rect">
              <a:avLst/>
            </a:prstGeom>
            <a:blipFill>
              <a:blip r:embed="rId1" cstate="print"/>
              <a:stretch>
                <a:fillRect/>
              </a:stretch>
            </a:blipFill>
          </p:spPr>
          <p:txBody>
            <a:bodyPr wrap="square" lIns="0" tIns="0" rIns="0" bIns="0" rtlCol="0"/>
            <a:lstStyle/>
            <a:p>
              <a:endParaRPr sz="1590"/>
            </a:p>
          </p:txBody>
        </p:sp>
        <p:sp>
          <p:nvSpPr>
            <p:cNvPr id="5" name="object 5"/>
            <p:cNvSpPr/>
            <p:nvPr/>
          </p:nvSpPr>
          <p:spPr>
            <a:xfrm>
              <a:off x="5124450" y="1847849"/>
              <a:ext cx="4323080" cy="5219700"/>
            </a:xfrm>
            <a:custGeom>
              <a:avLst/>
              <a:gdLst/>
              <a:ahLst/>
              <a:cxnLst/>
              <a:rect l="l" t="t" r="r" b="b"/>
              <a:pathLst>
                <a:path w="4323080" h="5219700">
                  <a:moveTo>
                    <a:pt x="4277360" y="45720"/>
                  </a:moveTo>
                  <a:lnTo>
                    <a:pt x="4265930" y="45720"/>
                  </a:lnTo>
                  <a:lnTo>
                    <a:pt x="57150" y="45720"/>
                  </a:lnTo>
                  <a:lnTo>
                    <a:pt x="45720" y="45720"/>
                  </a:lnTo>
                  <a:lnTo>
                    <a:pt x="45720" y="5173980"/>
                  </a:lnTo>
                  <a:lnTo>
                    <a:pt x="57150" y="5173980"/>
                  </a:lnTo>
                  <a:lnTo>
                    <a:pt x="4265676" y="5173980"/>
                  </a:lnTo>
                  <a:lnTo>
                    <a:pt x="4265676" y="5162550"/>
                  </a:lnTo>
                  <a:lnTo>
                    <a:pt x="57150" y="5162550"/>
                  </a:lnTo>
                  <a:lnTo>
                    <a:pt x="57150" y="57150"/>
                  </a:lnTo>
                  <a:lnTo>
                    <a:pt x="4265930" y="57150"/>
                  </a:lnTo>
                  <a:lnTo>
                    <a:pt x="4265930" y="5173980"/>
                  </a:lnTo>
                  <a:lnTo>
                    <a:pt x="4277360" y="5173980"/>
                  </a:lnTo>
                  <a:lnTo>
                    <a:pt x="4277360" y="45720"/>
                  </a:lnTo>
                  <a:close/>
                </a:path>
                <a:path w="4323080" h="5219700">
                  <a:moveTo>
                    <a:pt x="4323080" y="0"/>
                  </a:moveTo>
                  <a:lnTo>
                    <a:pt x="4288790" y="0"/>
                  </a:lnTo>
                  <a:lnTo>
                    <a:pt x="34290" y="0"/>
                  </a:lnTo>
                  <a:lnTo>
                    <a:pt x="0" y="0"/>
                  </a:lnTo>
                  <a:lnTo>
                    <a:pt x="0" y="5219700"/>
                  </a:lnTo>
                  <a:lnTo>
                    <a:pt x="34290" y="5219700"/>
                  </a:lnTo>
                  <a:lnTo>
                    <a:pt x="4288536" y="5219700"/>
                  </a:lnTo>
                  <a:lnTo>
                    <a:pt x="4288536" y="5185410"/>
                  </a:lnTo>
                  <a:lnTo>
                    <a:pt x="34290" y="5185410"/>
                  </a:lnTo>
                  <a:lnTo>
                    <a:pt x="34290" y="34290"/>
                  </a:lnTo>
                  <a:lnTo>
                    <a:pt x="4288790" y="34290"/>
                  </a:lnTo>
                  <a:lnTo>
                    <a:pt x="4288790" y="5219700"/>
                  </a:lnTo>
                  <a:lnTo>
                    <a:pt x="4323080" y="5219700"/>
                  </a:lnTo>
                  <a:lnTo>
                    <a:pt x="4323080" y="0"/>
                  </a:lnTo>
                  <a:close/>
                </a:path>
              </a:pathLst>
            </a:custGeom>
            <a:solidFill>
              <a:srgbClr val="000000"/>
            </a:solidFill>
          </p:spPr>
          <p:txBody>
            <a:bodyPr wrap="square" lIns="0" tIns="0" rIns="0" bIns="0" rtlCol="0"/>
            <a:lstStyle/>
            <a:p>
              <a:endParaRPr sz="1590"/>
            </a:p>
          </p:txBody>
        </p:sp>
        <p:sp>
          <p:nvSpPr>
            <p:cNvPr id="6" name="object 6"/>
            <p:cNvSpPr/>
            <p:nvPr/>
          </p:nvSpPr>
          <p:spPr>
            <a:xfrm>
              <a:off x="5943600" y="3052572"/>
              <a:ext cx="304800" cy="143510"/>
            </a:xfrm>
            <a:custGeom>
              <a:avLst/>
              <a:gdLst/>
              <a:ahLst/>
              <a:cxnLst/>
              <a:rect l="l" t="t" r="r" b="b"/>
              <a:pathLst>
                <a:path w="304800" h="143510">
                  <a:moveTo>
                    <a:pt x="142494" y="57149"/>
                  </a:moveTo>
                  <a:lnTo>
                    <a:pt x="142494" y="0"/>
                  </a:lnTo>
                  <a:lnTo>
                    <a:pt x="0" y="71627"/>
                  </a:lnTo>
                  <a:lnTo>
                    <a:pt x="128777" y="136361"/>
                  </a:lnTo>
                  <a:lnTo>
                    <a:pt x="128777" y="57149"/>
                  </a:lnTo>
                  <a:lnTo>
                    <a:pt x="142494" y="57149"/>
                  </a:lnTo>
                  <a:close/>
                </a:path>
                <a:path w="304800" h="143510">
                  <a:moveTo>
                    <a:pt x="304800" y="86105"/>
                  </a:moveTo>
                  <a:lnTo>
                    <a:pt x="304800" y="57149"/>
                  </a:lnTo>
                  <a:lnTo>
                    <a:pt x="128777" y="57149"/>
                  </a:lnTo>
                  <a:lnTo>
                    <a:pt x="128777" y="86105"/>
                  </a:lnTo>
                  <a:lnTo>
                    <a:pt x="304800" y="86105"/>
                  </a:lnTo>
                  <a:close/>
                </a:path>
                <a:path w="304800" h="143510">
                  <a:moveTo>
                    <a:pt x="142494" y="143255"/>
                  </a:moveTo>
                  <a:lnTo>
                    <a:pt x="142494" y="86105"/>
                  </a:lnTo>
                  <a:lnTo>
                    <a:pt x="128777" y="86105"/>
                  </a:lnTo>
                  <a:lnTo>
                    <a:pt x="128777" y="136361"/>
                  </a:lnTo>
                  <a:lnTo>
                    <a:pt x="142494" y="143255"/>
                  </a:lnTo>
                  <a:close/>
                </a:path>
              </a:pathLst>
            </a:custGeom>
            <a:solidFill>
              <a:srgbClr val="FF0000"/>
            </a:solidFill>
          </p:spPr>
          <p:txBody>
            <a:bodyPr wrap="square" lIns="0" tIns="0" rIns="0" bIns="0" rtlCol="0"/>
            <a:lstStyle/>
            <a:p>
              <a:endParaRPr sz="1590"/>
            </a:p>
          </p:txBody>
        </p:sp>
        <p:sp>
          <p:nvSpPr>
            <p:cNvPr id="7" name="object 7"/>
            <p:cNvSpPr/>
            <p:nvPr/>
          </p:nvSpPr>
          <p:spPr>
            <a:xfrm>
              <a:off x="7315200" y="2580894"/>
              <a:ext cx="543560" cy="543560"/>
            </a:xfrm>
            <a:custGeom>
              <a:avLst/>
              <a:gdLst/>
              <a:ahLst/>
              <a:cxnLst/>
              <a:rect l="l" t="t" r="r" b="b"/>
              <a:pathLst>
                <a:path w="543559" h="543560">
                  <a:moveTo>
                    <a:pt x="90686" y="432062"/>
                  </a:moveTo>
                  <a:lnTo>
                    <a:pt x="50292" y="391668"/>
                  </a:lnTo>
                  <a:lnTo>
                    <a:pt x="0" y="543306"/>
                  </a:lnTo>
                  <a:lnTo>
                    <a:pt x="80772" y="516517"/>
                  </a:lnTo>
                  <a:lnTo>
                    <a:pt x="80772" y="441960"/>
                  </a:lnTo>
                  <a:lnTo>
                    <a:pt x="90686" y="432062"/>
                  </a:lnTo>
                  <a:close/>
                </a:path>
                <a:path w="543559" h="543560">
                  <a:moveTo>
                    <a:pt x="111243" y="452619"/>
                  </a:moveTo>
                  <a:lnTo>
                    <a:pt x="90686" y="432062"/>
                  </a:lnTo>
                  <a:lnTo>
                    <a:pt x="80772" y="441960"/>
                  </a:lnTo>
                  <a:lnTo>
                    <a:pt x="101346" y="462533"/>
                  </a:lnTo>
                  <a:lnTo>
                    <a:pt x="111243" y="452619"/>
                  </a:lnTo>
                  <a:close/>
                </a:path>
                <a:path w="543559" h="543560">
                  <a:moveTo>
                    <a:pt x="151638" y="493013"/>
                  </a:moveTo>
                  <a:lnTo>
                    <a:pt x="111243" y="452619"/>
                  </a:lnTo>
                  <a:lnTo>
                    <a:pt x="101346" y="462533"/>
                  </a:lnTo>
                  <a:lnTo>
                    <a:pt x="80772" y="441960"/>
                  </a:lnTo>
                  <a:lnTo>
                    <a:pt x="80772" y="516517"/>
                  </a:lnTo>
                  <a:lnTo>
                    <a:pt x="151638" y="493013"/>
                  </a:lnTo>
                  <a:close/>
                </a:path>
                <a:path w="543559" h="543560">
                  <a:moveTo>
                    <a:pt x="543305" y="19812"/>
                  </a:moveTo>
                  <a:lnTo>
                    <a:pt x="523494" y="0"/>
                  </a:lnTo>
                  <a:lnTo>
                    <a:pt x="90686" y="432062"/>
                  </a:lnTo>
                  <a:lnTo>
                    <a:pt x="111243" y="452619"/>
                  </a:lnTo>
                  <a:lnTo>
                    <a:pt x="543305" y="19812"/>
                  </a:lnTo>
                  <a:close/>
                </a:path>
              </a:pathLst>
            </a:custGeom>
            <a:solidFill>
              <a:srgbClr val="2B40DB"/>
            </a:solidFill>
          </p:spPr>
          <p:txBody>
            <a:bodyPr wrap="square" lIns="0" tIns="0" rIns="0" bIns="0" rtlCol="0"/>
            <a:lstStyle/>
            <a:p>
              <a:endParaRPr sz="1590"/>
            </a:p>
          </p:txBody>
        </p:sp>
      </p:grpSp>
      <p:sp>
        <p:nvSpPr>
          <p:cNvPr id="8" name="object 8"/>
          <p:cNvSpPr txBox="1"/>
          <p:nvPr/>
        </p:nvSpPr>
        <p:spPr>
          <a:xfrm>
            <a:off x="876973" y="1536550"/>
            <a:ext cx="3272678" cy="4095492"/>
          </a:xfrm>
          <a:prstGeom prst="rect">
            <a:avLst/>
          </a:prstGeom>
        </p:spPr>
        <p:txBody>
          <a:bodyPr vert="horz" wrap="square" lIns="0" tIns="170890" rIns="0" bIns="0" rtlCol="0">
            <a:spAutoFit/>
          </a:bodyPr>
          <a:lstStyle/>
          <a:p>
            <a:pPr marL="250190" indent="-240030">
              <a:spcBef>
                <a:spcPts val="1345"/>
              </a:spcBef>
              <a:buFont typeface="Wingdings" panose="05000000000000000000"/>
              <a:buChar char=""/>
              <a:tabLst>
                <a:tab pos="250190" algn="l"/>
                <a:tab pos="250825" algn="l"/>
              </a:tabLst>
            </a:pPr>
            <a:r>
              <a:rPr sz="2120" b="1" spc="-4" dirty="0">
                <a:latin typeface="Comic Sans MS" panose="030F0702030302020204"/>
                <a:cs typeface="Comic Sans MS" panose="030F0702030302020204"/>
              </a:rPr>
              <a:t>Page size </a:t>
            </a:r>
            <a:r>
              <a:rPr sz="2120" b="1" dirty="0">
                <a:latin typeface="Comic Sans MS" panose="030F0702030302020204"/>
                <a:cs typeface="Comic Sans MS" panose="030F0702030302020204"/>
              </a:rPr>
              <a:t>= 4</a:t>
            </a:r>
            <a:r>
              <a:rPr sz="2120" b="1" spc="-547" dirty="0">
                <a:latin typeface="Comic Sans MS" panose="030F0702030302020204"/>
                <a:cs typeface="Comic Sans MS" panose="030F0702030302020204"/>
              </a:rPr>
              <a:t> </a:t>
            </a:r>
            <a:r>
              <a:rPr sz="2120" b="1" spc="-4" dirty="0">
                <a:latin typeface="Comic Sans MS" panose="030F0702030302020204"/>
                <a:cs typeface="Comic Sans MS" panose="030F0702030302020204"/>
              </a:rPr>
              <a:t>bytes</a:t>
            </a:r>
            <a:endParaRPr sz="2120">
              <a:latin typeface="Comic Sans MS" panose="030F0702030302020204"/>
              <a:cs typeface="Comic Sans MS" panose="030F0702030302020204"/>
            </a:endParaRPr>
          </a:p>
          <a:p>
            <a:pPr marL="250190" indent="-240030">
              <a:spcBef>
                <a:spcPts val="1260"/>
              </a:spcBef>
              <a:buFont typeface="Wingdings" panose="05000000000000000000"/>
              <a:buChar char=""/>
              <a:tabLst>
                <a:tab pos="250190" algn="l"/>
                <a:tab pos="250825" algn="l"/>
              </a:tabLst>
            </a:pPr>
            <a:r>
              <a:rPr sz="2120" b="1" dirty="0">
                <a:latin typeface="Comic Sans MS" panose="030F0702030302020204"/>
                <a:cs typeface="Comic Sans MS" panose="030F0702030302020204"/>
              </a:rPr>
              <a:t>Process address</a:t>
            </a:r>
            <a:r>
              <a:rPr sz="2120" b="1" spc="-71" dirty="0">
                <a:latin typeface="Comic Sans MS" panose="030F0702030302020204"/>
                <a:cs typeface="Comic Sans MS" panose="030F0702030302020204"/>
              </a:rPr>
              <a:t> </a:t>
            </a:r>
            <a:r>
              <a:rPr sz="2120" b="1" spc="-4" dirty="0">
                <a:latin typeface="Comic Sans MS" panose="030F0702030302020204"/>
                <a:cs typeface="Comic Sans MS" panose="030F0702030302020204"/>
              </a:rPr>
              <a:t>space</a:t>
            </a:r>
            <a:endParaRPr sz="2120">
              <a:latin typeface="Comic Sans MS" panose="030F0702030302020204"/>
              <a:cs typeface="Comic Sans MS" panose="030F0702030302020204"/>
            </a:endParaRPr>
          </a:p>
          <a:p>
            <a:pPr marL="1624965"/>
            <a:r>
              <a:rPr sz="2120" b="1" dirty="0">
                <a:latin typeface="Comic Sans MS" panose="030F0702030302020204"/>
                <a:cs typeface="Comic Sans MS" panose="030F0702030302020204"/>
              </a:rPr>
              <a:t>= 4</a:t>
            </a:r>
            <a:r>
              <a:rPr sz="2120" b="1" spc="-53" dirty="0">
                <a:latin typeface="Comic Sans MS" panose="030F0702030302020204"/>
                <a:cs typeface="Comic Sans MS" panose="030F0702030302020204"/>
              </a:rPr>
              <a:t> </a:t>
            </a:r>
            <a:r>
              <a:rPr sz="2120" b="1" dirty="0">
                <a:latin typeface="Comic Sans MS" panose="030F0702030302020204"/>
                <a:cs typeface="Comic Sans MS" panose="030F0702030302020204"/>
              </a:rPr>
              <a:t>pages</a:t>
            </a:r>
            <a:endParaRPr sz="2120">
              <a:latin typeface="Comic Sans MS" panose="030F0702030302020204"/>
              <a:cs typeface="Comic Sans MS" panose="030F0702030302020204"/>
            </a:endParaRPr>
          </a:p>
          <a:p>
            <a:pPr marL="250190" indent="-240030">
              <a:lnSpc>
                <a:spcPts val="2535"/>
              </a:lnSpc>
              <a:spcBef>
                <a:spcPts val="1260"/>
              </a:spcBef>
              <a:buFont typeface="Wingdings" panose="05000000000000000000"/>
              <a:buChar char=""/>
              <a:tabLst>
                <a:tab pos="250190" algn="l"/>
                <a:tab pos="250825" algn="l"/>
                <a:tab pos="2506980" algn="l"/>
              </a:tabLst>
            </a:pPr>
            <a:r>
              <a:rPr sz="2120" b="1" dirty="0">
                <a:latin typeface="Comic Sans MS" panose="030F0702030302020204"/>
                <a:cs typeface="Comic Sans MS" panose="030F0702030302020204"/>
              </a:rPr>
              <a:t>Physical</a:t>
            </a:r>
            <a:r>
              <a:rPr sz="2120" b="1" spc="-4" dirty="0">
                <a:latin typeface="Comic Sans MS" panose="030F0702030302020204"/>
                <a:cs typeface="Comic Sans MS" panose="030F0702030302020204"/>
              </a:rPr>
              <a:t> </a:t>
            </a:r>
            <a:r>
              <a:rPr sz="2120" b="1" dirty="0">
                <a:latin typeface="Comic Sans MS" panose="030F0702030302020204"/>
                <a:cs typeface="Comic Sans MS" panose="030F0702030302020204"/>
              </a:rPr>
              <a:t>address	space</a:t>
            </a:r>
            <a:endParaRPr sz="2120">
              <a:latin typeface="Comic Sans MS" panose="030F0702030302020204"/>
              <a:cs typeface="Comic Sans MS" panose="030F0702030302020204"/>
            </a:endParaRPr>
          </a:p>
          <a:p>
            <a:pPr marR="175895" algn="r">
              <a:lnSpc>
                <a:spcPts val="2535"/>
              </a:lnSpc>
            </a:pPr>
            <a:r>
              <a:rPr sz="2120" b="1" dirty="0">
                <a:latin typeface="Comic Sans MS" panose="030F0702030302020204"/>
                <a:cs typeface="Comic Sans MS" panose="030F0702030302020204"/>
              </a:rPr>
              <a:t>= 8</a:t>
            </a:r>
            <a:r>
              <a:rPr sz="2120" b="1" spc="-106" dirty="0">
                <a:latin typeface="Comic Sans MS" panose="030F0702030302020204"/>
                <a:cs typeface="Comic Sans MS" panose="030F0702030302020204"/>
              </a:rPr>
              <a:t> </a:t>
            </a:r>
            <a:r>
              <a:rPr sz="2120" b="1" spc="-4" dirty="0">
                <a:latin typeface="Comic Sans MS" panose="030F0702030302020204"/>
                <a:cs typeface="Comic Sans MS" panose="030F0702030302020204"/>
              </a:rPr>
              <a:t>frames</a:t>
            </a:r>
            <a:endParaRPr sz="2120">
              <a:latin typeface="Comic Sans MS" panose="030F0702030302020204"/>
              <a:cs typeface="Comic Sans MS" panose="030F0702030302020204"/>
            </a:endParaRPr>
          </a:p>
          <a:p>
            <a:pPr marL="239395" marR="149860" indent="-239395" algn="r">
              <a:spcBef>
                <a:spcPts val="1260"/>
              </a:spcBef>
              <a:buFont typeface="Wingdings" panose="05000000000000000000"/>
              <a:buChar char=""/>
              <a:tabLst>
                <a:tab pos="238760" algn="l"/>
                <a:tab pos="250825" algn="l"/>
              </a:tabLst>
            </a:pPr>
            <a:r>
              <a:rPr sz="2120" b="1" dirty="0">
                <a:latin typeface="Comic Sans MS" panose="030F0702030302020204"/>
                <a:cs typeface="Comic Sans MS" panose="030F0702030302020204"/>
              </a:rPr>
              <a:t>Logical address:</a:t>
            </a:r>
            <a:r>
              <a:rPr sz="2120" b="1" spc="-115" dirty="0">
                <a:latin typeface="Comic Sans MS" panose="030F0702030302020204"/>
                <a:cs typeface="Comic Sans MS" panose="030F0702030302020204"/>
              </a:rPr>
              <a:t> </a:t>
            </a:r>
            <a:r>
              <a:rPr sz="2120" b="1" spc="-4" dirty="0">
                <a:solidFill>
                  <a:srgbClr val="FF0000"/>
                </a:solidFill>
                <a:latin typeface="Comic Sans MS" panose="030F0702030302020204"/>
                <a:cs typeface="Comic Sans MS" panose="030F0702030302020204"/>
              </a:rPr>
              <a:t>(1,3)</a:t>
            </a:r>
            <a:endParaRPr sz="2120">
              <a:latin typeface="Comic Sans MS" panose="030F0702030302020204"/>
              <a:cs typeface="Comic Sans MS" panose="030F0702030302020204"/>
            </a:endParaRPr>
          </a:p>
          <a:p>
            <a:pPr marL="243840">
              <a:spcBef>
                <a:spcPts val="1265"/>
              </a:spcBef>
            </a:pPr>
            <a:r>
              <a:rPr sz="2120" b="1" dirty="0">
                <a:latin typeface="Comic Sans MS" panose="030F0702030302020204"/>
                <a:cs typeface="Comic Sans MS" panose="030F0702030302020204"/>
              </a:rPr>
              <a:t>=</a:t>
            </a:r>
            <a:r>
              <a:rPr sz="2120" b="1" spc="-13" dirty="0">
                <a:latin typeface="Comic Sans MS" panose="030F0702030302020204"/>
                <a:cs typeface="Comic Sans MS" panose="030F0702030302020204"/>
              </a:rPr>
              <a:t> </a:t>
            </a:r>
            <a:r>
              <a:rPr sz="2120" b="1" spc="-4" dirty="0">
                <a:solidFill>
                  <a:srgbClr val="FF0000"/>
                </a:solidFill>
                <a:latin typeface="Comic Sans MS" panose="030F0702030302020204"/>
                <a:cs typeface="Comic Sans MS" panose="030F0702030302020204"/>
              </a:rPr>
              <a:t>0111</a:t>
            </a:r>
            <a:endParaRPr sz="2120">
              <a:latin typeface="Comic Sans MS" panose="030F0702030302020204"/>
              <a:cs typeface="Comic Sans MS" panose="030F0702030302020204"/>
            </a:endParaRPr>
          </a:p>
          <a:p>
            <a:pPr marL="250190" indent="-240030">
              <a:spcBef>
                <a:spcPts val="1265"/>
              </a:spcBef>
              <a:buFont typeface="Wingdings" panose="05000000000000000000"/>
              <a:buChar char=""/>
              <a:tabLst>
                <a:tab pos="250190" algn="l"/>
                <a:tab pos="250825" algn="l"/>
              </a:tabLst>
            </a:pPr>
            <a:r>
              <a:rPr sz="2120" b="1" dirty="0">
                <a:latin typeface="Comic Sans MS" panose="030F0702030302020204"/>
                <a:cs typeface="Comic Sans MS" panose="030F0702030302020204"/>
              </a:rPr>
              <a:t>Physical address:</a:t>
            </a:r>
            <a:r>
              <a:rPr sz="2120" b="1" spc="-115" dirty="0">
                <a:latin typeface="Comic Sans MS" panose="030F0702030302020204"/>
                <a:cs typeface="Comic Sans MS" panose="030F0702030302020204"/>
              </a:rPr>
              <a:t> </a:t>
            </a:r>
            <a:r>
              <a:rPr sz="2120" b="1" spc="-4" dirty="0">
                <a:solidFill>
                  <a:srgbClr val="2B40DB"/>
                </a:solidFill>
                <a:latin typeface="Comic Sans MS" panose="030F0702030302020204"/>
                <a:cs typeface="Comic Sans MS" panose="030F0702030302020204"/>
              </a:rPr>
              <a:t>(6,3)</a:t>
            </a:r>
            <a:endParaRPr sz="2120">
              <a:latin typeface="Comic Sans MS" panose="030F0702030302020204"/>
              <a:cs typeface="Comic Sans MS" panose="030F0702030302020204"/>
            </a:endParaRPr>
          </a:p>
          <a:p>
            <a:pPr marL="243840">
              <a:spcBef>
                <a:spcPts val="1260"/>
              </a:spcBef>
            </a:pPr>
            <a:r>
              <a:rPr sz="2120" b="1" dirty="0">
                <a:latin typeface="Comic Sans MS" panose="030F0702030302020204"/>
                <a:cs typeface="Comic Sans MS" panose="030F0702030302020204"/>
              </a:rPr>
              <a:t>=</a:t>
            </a:r>
            <a:r>
              <a:rPr sz="2120" b="1" spc="-13" dirty="0">
                <a:latin typeface="Comic Sans MS" panose="030F0702030302020204"/>
                <a:cs typeface="Comic Sans MS" panose="030F0702030302020204"/>
              </a:rPr>
              <a:t> </a:t>
            </a:r>
            <a:r>
              <a:rPr sz="2120" b="1" spc="-4" dirty="0">
                <a:solidFill>
                  <a:srgbClr val="2B40DB"/>
                </a:solidFill>
                <a:latin typeface="Comic Sans MS" panose="030F0702030302020204"/>
                <a:cs typeface="Comic Sans MS" panose="030F0702030302020204"/>
              </a:rPr>
              <a:t>11011</a:t>
            </a:r>
            <a:endParaRPr sz="2120">
              <a:latin typeface="Comic Sans MS" panose="030F0702030302020204"/>
              <a:cs typeface="Comic Sans MS" panose="030F0702030302020204"/>
            </a:endParaRPr>
          </a:p>
        </p:txBody>
      </p:sp>
      <p:sp>
        <p:nvSpPr>
          <p:cNvPr id="9" name="object 9"/>
          <p:cNvSpPr txBox="1"/>
          <p:nvPr/>
        </p:nvSpPr>
        <p:spPr>
          <a:xfrm>
            <a:off x="5527413" y="1658246"/>
            <a:ext cx="100292" cy="187839"/>
          </a:xfrm>
          <a:prstGeom prst="rect">
            <a:avLst/>
          </a:prstGeom>
        </p:spPr>
        <p:txBody>
          <a:bodyPr vert="horz" wrap="square" lIns="0" tIns="11206" rIns="0" bIns="0" rtlCol="0">
            <a:spAutoFit/>
          </a:bodyPr>
          <a:lstStyle/>
          <a:p>
            <a:pPr>
              <a:spcBef>
                <a:spcPts val="90"/>
              </a:spcBef>
            </a:pPr>
            <a:r>
              <a:rPr sz="1145" b="1" dirty="0">
                <a:latin typeface="Comic Sans MS" panose="030F0702030302020204"/>
                <a:cs typeface="Comic Sans MS" panose="030F0702030302020204"/>
              </a:rPr>
              <a:t>0</a:t>
            </a:r>
            <a:endParaRPr sz="1145">
              <a:latin typeface="Comic Sans MS" panose="030F0702030302020204"/>
              <a:cs typeface="Comic Sans MS" panose="030F0702030302020204"/>
            </a:endParaRPr>
          </a:p>
        </p:txBody>
      </p:sp>
      <p:sp>
        <p:nvSpPr>
          <p:cNvPr id="10" name="object 10"/>
          <p:cNvSpPr txBox="1"/>
          <p:nvPr/>
        </p:nvSpPr>
        <p:spPr>
          <a:xfrm>
            <a:off x="5527413" y="2196124"/>
            <a:ext cx="100292" cy="187839"/>
          </a:xfrm>
          <a:prstGeom prst="rect">
            <a:avLst/>
          </a:prstGeom>
        </p:spPr>
        <p:txBody>
          <a:bodyPr vert="horz" wrap="square" lIns="0" tIns="11206" rIns="0" bIns="0" rtlCol="0">
            <a:spAutoFit/>
          </a:bodyPr>
          <a:lstStyle/>
          <a:p>
            <a:pPr>
              <a:spcBef>
                <a:spcPts val="90"/>
              </a:spcBef>
            </a:pPr>
            <a:r>
              <a:rPr sz="1145" b="1" dirty="0">
                <a:latin typeface="Comic Sans MS" panose="030F0702030302020204"/>
                <a:cs typeface="Comic Sans MS" panose="030F0702030302020204"/>
              </a:rPr>
              <a:t>1</a:t>
            </a:r>
            <a:endParaRPr sz="1145">
              <a:latin typeface="Comic Sans MS" panose="030F0702030302020204"/>
              <a:cs typeface="Comic Sans MS" panose="030F0702030302020204"/>
            </a:endParaRPr>
          </a:p>
        </p:txBody>
      </p:sp>
      <p:sp>
        <p:nvSpPr>
          <p:cNvPr id="11" name="object 11"/>
          <p:cNvSpPr txBox="1"/>
          <p:nvPr/>
        </p:nvSpPr>
        <p:spPr>
          <a:xfrm>
            <a:off x="5527413" y="2734000"/>
            <a:ext cx="100292" cy="187839"/>
          </a:xfrm>
          <a:prstGeom prst="rect">
            <a:avLst/>
          </a:prstGeom>
        </p:spPr>
        <p:txBody>
          <a:bodyPr vert="horz" wrap="square" lIns="0" tIns="11206" rIns="0" bIns="0" rtlCol="0">
            <a:spAutoFit/>
          </a:bodyPr>
          <a:lstStyle/>
          <a:p>
            <a:pPr>
              <a:spcBef>
                <a:spcPts val="90"/>
              </a:spcBef>
            </a:pPr>
            <a:r>
              <a:rPr sz="1145" b="1" dirty="0">
                <a:latin typeface="Comic Sans MS" panose="030F0702030302020204"/>
                <a:cs typeface="Comic Sans MS" panose="030F0702030302020204"/>
              </a:rPr>
              <a:t>2</a:t>
            </a:r>
            <a:endParaRPr sz="1145">
              <a:latin typeface="Comic Sans MS" panose="030F0702030302020204"/>
              <a:cs typeface="Comic Sans MS" panose="030F0702030302020204"/>
            </a:endParaRPr>
          </a:p>
        </p:txBody>
      </p:sp>
      <p:sp>
        <p:nvSpPr>
          <p:cNvPr id="12" name="object 12"/>
          <p:cNvSpPr txBox="1"/>
          <p:nvPr/>
        </p:nvSpPr>
        <p:spPr>
          <a:xfrm>
            <a:off x="5527413" y="3271878"/>
            <a:ext cx="100292" cy="187839"/>
          </a:xfrm>
          <a:prstGeom prst="rect">
            <a:avLst/>
          </a:prstGeom>
        </p:spPr>
        <p:txBody>
          <a:bodyPr vert="horz" wrap="square" lIns="0" tIns="11206" rIns="0" bIns="0" rtlCol="0">
            <a:spAutoFit/>
          </a:bodyPr>
          <a:lstStyle/>
          <a:p>
            <a:pPr>
              <a:spcBef>
                <a:spcPts val="90"/>
              </a:spcBef>
            </a:pPr>
            <a:r>
              <a:rPr sz="1145" b="1" dirty="0">
                <a:latin typeface="Comic Sans MS" panose="030F0702030302020204"/>
                <a:cs typeface="Comic Sans MS" panose="030F0702030302020204"/>
              </a:rPr>
              <a:t>3</a:t>
            </a:r>
            <a:endParaRPr sz="1145">
              <a:latin typeface="Comic Sans MS" panose="030F0702030302020204"/>
              <a:cs typeface="Comic Sans MS" panose="030F0702030302020204"/>
            </a:endParaRPr>
          </a:p>
        </p:txBody>
      </p:sp>
      <p:grpSp>
        <p:nvGrpSpPr>
          <p:cNvPr id="13" name="object 13"/>
          <p:cNvGrpSpPr/>
          <p:nvPr/>
        </p:nvGrpSpPr>
        <p:grpSpPr>
          <a:xfrm>
            <a:off x="6040418" y="2212714"/>
            <a:ext cx="1893794" cy="3229535"/>
            <a:chOff x="6693407" y="2507742"/>
            <a:chExt cx="2146300" cy="3660140"/>
          </a:xfrm>
        </p:grpSpPr>
        <p:sp>
          <p:nvSpPr>
            <p:cNvPr id="14" name="object 14"/>
            <p:cNvSpPr/>
            <p:nvPr/>
          </p:nvSpPr>
          <p:spPr>
            <a:xfrm>
              <a:off x="8000999" y="6024372"/>
              <a:ext cx="838200" cy="143510"/>
            </a:xfrm>
            <a:custGeom>
              <a:avLst/>
              <a:gdLst/>
              <a:ahLst/>
              <a:cxnLst/>
              <a:rect l="l" t="t" r="r" b="b"/>
              <a:pathLst>
                <a:path w="838200" h="143510">
                  <a:moveTo>
                    <a:pt x="709422" y="86105"/>
                  </a:moveTo>
                  <a:lnTo>
                    <a:pt x="709422" y="57150"/>
                  </a:lnTo>
                  <a:lnTo>
                    <a:pt x="0" y="57150"/>
                  </a:lnTo>
                  <a:lnTo>
                    <a:pt x="0" y="86105"/>
                  </a:lnTo>
                  <a:lnTo>
                    <a:pt x="709422" y="86105"/>
                  </a:lnTo>
                  <a:close/>
                </a:path>
                <a:path w="838200" h="143510">
                  <a:moveTo>
                    <a:pt x="838200" y="71627"/>
                  </a:moveTo>
                  <a:lnTo>
                    <a:pt x="694944" y="0"/>
                  </a:lnTo>
                  <a:lnTo>
                    <a:pt x="694944" y="57150"/>
                  </a:lnTo>
                  <a:lnTo>
                    <a:pt x="709422" y="57150"/>
                  </a:lnTo>
                  <a:lnTo>
                    <a:pt x="709422" y="136016"/>
                  </a:lnTo>
                  <a:lnTo>
                    <a:pt x="838200" y="71627"/>
                  </a:lnTo>
                  <a:close/>
                </a:path>
                <a:path w="838200" h="143510">
                  <a:moveTo>
                    <a:pt x="709422" y="136016"/>
                  </a:moveTo>
                  <a:lnTo>
                    <a:pt x="709422" y="86105"/>
                  </a:lnTo>
                  <a:lnTo>
                    <a:pt x="694944" y="86105"/>
                  </a:lnTo>
                  <a:lnTo>
                    <a:pt x="694944" y="143255"/>
                  </a:lnTo>
                  <a:lnTo>
                    <a:pt x="709422" y="136016"/>
                  </a:lnTo>
                  <a:close/>
                </a:path>
              </a:pathLst>
            </a:custGeom>
            <a:solidFill>
              <a:srgbClr val="2B40DB"/>
            </a:solidFill>
          </p:spPr>
          <p:txBody>
            <a:bodyPr wrap="square" lIns="0" tIns="0" rIns="0" bIns="0" rtlCol="0"/>
            <a:lstStyle/>
            <a:p>
              <a:endParaRPr sz="1590"/>
            </a:p>
          </p:txBody>
        </p:sp>
        <p:sp>
          <p:nvSpPr>
            <p:cNvPr id="15" name="object 15"/>
            <p:cNvSpPr/>
            <p:nvPr/>
          </p:nvSpPr>
          <p:spPr>
            <a:xfrm>
              <a:off x="6693407" y="2507742"/>
              <a:ext cx="317500" cy="540385"/>
            </a:xfrm>
            <a:custGeom>
              <a:avLst/>
              <a:gdLst/>
              <a:ahLst/>
              <a:cxnLst/>
              <a:rect l="l" t="t" r="r" b="b"/>
              <a:pathLst>
                <a:path w="317500" h="540385">
                  <a:moveTo>
                    <a:pt x="258896" y="409101"/>
                  </a:moveTo>
                  <a:lnTo>
                    <a:pt x="24384" y="0"/>
                  </a:lnTo>
                  <a:lnTo>
                    <a:pt x="0" y="13715"/>
                  </a:lnTo>
                  <a:lnTo>
                    <a:pt x="233758" y="423532"/>
                  </a:lnTo>
                  <a:lnTo>
                    <a:pt x="258896" y="409101"/>
                  </a:lnTo>
                  <a:close/>
                </a:path>
                <a:path w="317500" h="540385">
                  <a:moveTo>
                    <a:pt x="265938" y="506222"/>
                  </a:moveTo>
                  <a:lnTo>
                    <a:pt x="265938" y="421385"/>
                  </a:lnTo>
                  <a:lnTo>
                    <a:pt x="240792" y="435863"/>
                  </a:lnTo>
                  <a:lnTo>
                    <a:pt x="233758" y="423532"/>
                  </a:lnTo>
                  <a:lnTo>
                    <a:pt x="184403" y="451865"/>
                  </a:lnTo>
                  <a:lnTo>
                    <a:pt x="265938" y="506222"/>
                  </a:lnTo>
                  <a:close/>
                </a:path>
                <a:path w="317500" h="540385">
                  <a:moveTo>
                    <a:pt x="265938" y="421385"/>
                  </a:moveTo>
                  <a:lnTo>
                    <a:pt x="258896" y="409101"/>
                  </a:lnTo>
                  <a:lnTo>
                    <a:pt x="233758" y="423532"/>
                  </a:lnTo>
                  <a:lnTo>
                    <a:pt x="240792" y="435863"/>
                  </a:lnTo>
                  <a:lnTo>
                    <a:pt x="265938" y="421385"/>
                  </a:lnTo>
                  <a:close/>
                </a:path>
                <a:path w="317500" h="540385">
                  <a:moveTo>
                    <a:pt x="316992" y="540257"/>
                  </a:moveTo>
                  <a:lnTo>
                    <a:pt x="307848" y="381000"/>
                  </a:lnTo>
                  <a:lnTo>
                    <a:pt x="258896" y="409101"/>
                  </a:lnTo>
                  <a:lnTo>
                    <a:pt x="265938" y="421385"/>
                  </a:lnTo>
                  <a:lnTo>
                    <a:pt x="265938" y="506222"/>
                  </a:lnTo>
                  <a:lnTo>
                    <a:pt x="316992" y="540257"/>
                  </a:lnTo>
                  <a:close/>
                </a:path>
              </a:pathLst>
            </a:custGeom>
            <a:solidFill>
              <a:srgbClr val="FF0000"/>
            </a:solidFill>
          </p:spPr>
          <p:txBody>
            <a:bodyPr wrap="square" lIns="0" tIns="0" rIns="0" bIns="0" rtlCol="0"/>
            <a:lstStyle/>
            <a:p>
              <a:endParaRPr sz="1590"/>
            </a:p>
          </p:txBody>
        </p:sp>
      </p:grpSp>
      <p:sp>
        <p:nvSpPr>
          <p:cNvPr id="16" name="object 16"/>
          <p:cNvSpPr txBox="1"/>
          <p:nvPr/>
        </p:nvSpPr>
        <p:spPr>
          <a:xfrm>
            <a:off x="5930825" y="1994423"/>
            <a:ext cx="304800" cy="174309"/>
          </a:xfrm>
          <a:prstGeom prst="rect">
            <a:avLst/>
          </a:prstGeom>
        </p:spPr>
        <p:txBody>
          <a:bodyPr vert="horz" wrap="square" lIns="0" tIns="11206" rIns="0" bIns="0" rtlCol="0">
            <a:spAutoFit/>
          </a:bodyPr>
          <a:lstStyle/>
          <a:p>
            <a:pPr>
              <a:spcBef>
                <a:spcPts val="90"/>
              </a:spcBef>
            </a:pPr>
            <a:r>
              <a:rPr sz="1060" b="1" dirty="0">
                <a:latin typeface="Comic Sans MS" panose="030F0702030302020204"/>
                <a:cs typeface="Comic Sans MS" panose="030F0702030302020204"/>
              </a:rPr>
              <a:t>Page</a:t>
            </a:r>
            <a:endParaRPr sz="1060">
              <a:latin typeface="Comic Sans MS" panose="030F0702030302020204"/>
              <a:cs typeface="Comic Sans MS" panose="030F0702030302020204"/>
            </a:endParaRPr>
          </a:p>
        </p:txBody>
      </p:sp>
      <p:sp>
        <p:nvSpPr>
          <p:cNvPr id="17" name="object 17"/>
          <p:cNvSpPr txBox="1"/>
          <p:nvPr/>
        </p:nvSpPr>
        <p:spPr>
          <a:xfrm>
            <a:off x="6872119" y="2061659"/>
            <a:ext cx="411256" cy="174309"/>
          </a:xfrm>
          <a:prstGeom prst="rect">
            <a:avLst/>
          </a:prstGeom>
        </p:spPr>
        <p:txBody>
          <a:bodyPr vert="horz" wrap="square" lIns="0" tIns="11206" rIns="0" bIns="0" rtlCol="0">
            <a:spAutoFit/>
          </a:bodyPr>
          <a:lstStyle/>
          <a:p>
            <a:pPr>
              <a:spcBef>
                <a:spcPts val="90"/>
              </a:spcBef>
            </a:pPr>
            <a:r>
              <a:rPr sz="1060" b="1" spc="-4" dirty="0">
                <a:latin typeface="Comic Sans MS" panose="030F0702030302020204"/>
                <a:cs typeface="Comic Sans MS" panose="030F0702030302020204"/>
              </a:rPr>
              <a:t>Frame</a:t>
            </a:r>
            <a:endParaRPr sz="1060">
              <a:latin typeface="Comic Sans MS" panose="030F0702030302020204"/>
              <a:cs typeface="Comic Sans MS" panose="030F0702030302020204"/>
            </a:endParaRPr>
          </a:p>
        </p:txBody>
      </p:sp>
      <p:sp>
        <p:nvSpPr>
          <p:cNvPr id="18" name="object 18"/>
          <p:cNvSpPr txBox="1"/>
          <p:nvPr/>
        </p:nvSpPr>
        <p:spPr>
          <a:xfrm>
            <a:off x="6595782" y="5270798"/>
            <a:ext cx="558613" cy="228619"/>
          </a:xfrm>
          <a:prstGeom prst="rect">
            <a:avLst/>
          </a:prstGeom>
        </p:spPr>
        <p:txBody>
          <a:bodyPr vert="horz" wrap="square" lIns="0" tIns="11206" rIns="0" bIns="0" rtlCol="0">
            <a:spAutoFit/>
          </a:bodyPr>
          <a:lstStyle/>
          <a:p>
            <a:pPr>
              <a:spcBef>
                <a:spcPts val="90"/>
              </a:spcBef>
            </a:pPr>
            <a:r>
              <a:rPr sz="1410" b="1" spc="-4" dirty="0">
                <a:solidFill>
                  <a:srgbClr val="2B40DB"/>
                </a:solidFill>
                <a:latin typeface="Comic Sans MS" panose="030F0702030302020204"/>
                <a:cs typeface="Comic Sans MS" panose="030F0702030302020204"/>
              </a:rPr>
              <a:t>11011</a:t>
            </a:r>
            <a:endParaRPr sz="1410">
              <a:latin typeface="Comic Sans MS" panose="030F0702030302020204"/>
              <a:cs typeface="Comic Sans MS" panose="030F0702030302020204"/>
            </a:endParaRPr>
          </a:p>
        </p:txBody>
      </p:sp>
      <p:sp>
        <p:nvSpPr>
          <p:cNvPr id="19" name="object 19"/>
          <p:cNvSpPr txBox="1"/>
          <p:nvPr/>
        </p:nvSpPr>
        <p:spPr>
          <a:xfrm>
            <a:off x="5667262" y="2541717"/>
            <a:ext cx="448795" cy="228619"/>
          </a:xfrm>
          <a:prstGeom prst="rect">
            <a:avLst/>
          </a:prstGeom>
        </p:spPr>
        <p:txBody>
          <a:bodyPr vert="horz" wrap="square" lIns="0" tIns="11206" rIns="0" bIns="0" rtlCol="0">
            <a:spAutoFit/>
          </a:bodyPr>
          <a:lstStyle/>
          <a:p>
            <a:pPr>
              <a:spcBef>
                <a:spcPts val="90"/>
              </a:spcBef>
            </a:pPr>
            <a:r>
              <a:rPr sz="1410" b="1" spc="-4" dirty="0">
                <a:solidFill>
                  <a:srgbClr val="FF0000"/>
                </a:solidFill>
                <a:latin typeface="Comic Sans MS" panose="030F0702030302020204"/>
                <a:cs typeface="Comic Sans MS" panose="030F0702030302020204"/>
              </a:rPr>
              <a:t>0111</a:t>
            </a:r>
            <a:endParaRPr sz="1410">
              <a:latin typeface="Comic Sans MS" panose="030F0702030302020204"/>
              <a:cs typeface="Comic Sans MS" panose="030F07020303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2224" y="565672"/>
            <a:ext cx="4006776" cy="457591"/>
          </a:xfrm>
          <a:prstGeom prst="rect">
            <a:avLst/>
          </a:prstGeom>
        </p:spPr>
        <p:txBody>
          <a:bodyPr vert="horz" wrap="square" lIns="0" tIns="11206" rIns="0" bIns="0" rtlCol="0">
            <a:spAutoFit/>
          </a:bodyPr>
          <a:lstStyle/>
          <a:p>
            <a:pPr marL="11430">
              <a:spcBef>
                <a:spcPts val="90"/>
              </a:spcBef>
            </a:pPr>
            <a:r>
              <a:rPr spc="-4" dirty="0"/>
              <a:t>Addressing in</a:t>
            </a:r>
            <a:r>
              <a:rPr spc="-75" dirty="0"/>
              <a:t> </a:t>
            </a:r>
            <a:r>
              <a:rPr u="none" dirty="0"/>
              <a:t>Paging</a:t>
            </a:r>
            <a:endParaRPr u="none" dirty="0"/>
          </a:p>
        </p:txBody>
      </p:sp>
      <p:sp>
        <p:nvSpPr>
          <p:cNvPr id="3" name="object 3"/>
          <p:cNvSpPr txBox="1"/>
          <p:nvPr/>
        </p:nvSpPr>
        <p:spPr>
          <a:xfrm>
            <a:off x="809736" y="1536550"/>
            <a:ext cx="7260291" cy="1962012"/>
          </a:xfrm>
          <a:prstGeom prst="rect">
            <a:avLst/>
          </a:prstGeom>
        </p:spPr>
        <p:txBody>
          <a:bodyPr vert="horz" wrap="square" lIns="0" tIns="47625" rIns="0" bIns="0" rtlCol="0">
            <a:spAutoFit/>
          </a:bodyPr>
          <a:lstStyle/>
          <a:p>
            <a:pPr marL="313690" marR="4445" indent="-302260">
              <a:lnSpc>
                <a:spcPts val="2285"/>
              </a:lnSpc>
              <a:spcBef>
                <a:spcPts val="375"/>
              </a:spcBef>
              <a:buFont typeface="Wingdings" panose="05000000000000000000"/>
              <a:buChar char=""/>
              <a:tabLst>
                <a:tab pos="313055" algn="l"/>
                <a:tab pos="313690" algn="l"/>
              </a:tabLst>
            </a:pPr>
            <a:r>
              <a:rPr sz="2120" b="1" u="heavy" dirty="0">
                <a:uFill>
                  <a:solidFill>
                    <a:srgbClr val="000000"/>
                  </a:solidFill>
                </a:uFill>
                <a:latin typeface="Comic Sans MS" panose="030F0702030302020204"/>
                <a:cs typeface="Comic Sans MS" panose="030F0702030302020204"/>
              </a:rPr>
              <a:t>Logical address space</a:t>
            </a:r>
            <a:r>
              <a:rPr sz="2120" b="1" dirty="0">
                <a:latin typeface="Comic Sans MS" panose="030F0702030302020204"/>
                <a:cs typeface="Comic Sans MS" panose="030F0702030302020204"/>
              </a:rPr>
              <a:t> </a:t>
            </a:r>
            <a:r>
              <a:rPr sz="2120" spc="-4" dirty="0">
                <a:latin typeface="Comic Sans MS" panose="030F0702030302020204"/>
                <a:cs typeface="Comic Sans MS" panose="030F0702030302020204"/>
              </a:rPr>
              <a:t>of 16 pages of 1024 words</a:t>
            </a:r>
            <a:r>
              <a:rPr sz="2120" spc="-371" dirty="0">
                <a:latin typeface="Comic Sans MS" panose="030F0702030302020204"/>
                <a:cs typeface="Comic Sans MS" panose="030F0702030302020204"/>
              </a:rPr>
              <a:t> </a:t>
            </a:r>
            <a:r>
              <a:rPr sz="2120" spc="-4" dirty="0">
                <a:latin typeface="Comic Sans MS" panose="030F0702030302020204"/>
                <a:cs typeface="Comic Sans MS" panose="030F0702030302020204"/>
              </a:rPr>
              <a:t>each,  mapped into </a:t>
            </a:r>
            <a:r>
              <a:rPr sz="2120" dirty="0">
                <a:latin typeface="Comic Sans MS" panose="030F0702030302020204"/>
                <a:cs typeface="Comic Sans MS" panose="030F0702030302020204"/>
              </a:rPr>
              <a:t>a physical </a:t>
            </a:r>
            <a:r>
              <a:rPr sz="2120" spc="-4" dirty="0">
                <a:latin typeface="Comic Sans MS" panose="030F0702030302020204"/>
                <a:cs typeface="Comic Sans MS" panose="030F0702030302020204"/>
              </a:rPr>
              <a:t>memory of 32</a:t>
            </a:r>
            <a:r>
              <a:rPr sz="2120" spc="-13" dirty="0">
                <a:latin typeface="Comic Sans MS" panose="030F0702030302020204"/>
                <a:cs typeface="Comic Sans MS" panose="030F0702030302020204"/>
              </a:rPr>
              <a:t> </a:t>
            </a:r>
            <a:r>
              <a:rPr sz="2120" spc="-4" dirty="0">
                <a:latin typeface="Comic Sans MS" panose="030F0702030302020204"/>
                <a:cs typeface="Comic Sans MS" panose="030F0702030302020204"/>
              </a:rPr>
              <a:t>frames.</a:t>
            </a:r>
            <a:endParaRPr sz="2120">
              <a:latin typeface="Comic Sans MS" panose="030F0702030302020204"/>
              <a:cs typeface="Comic Sans MS" panose="030F0702030302020204"/>
            </a:endParaRPr>
          </a:p>
          <a:p>
            <a:pPr marL="313690" indent="-302260">
              <a:spcBef>
                <a:spcPts val="850"/>
              </a:spcBef>
              <a:buFont typeface="Wingdings" panose="05000000000000000000"/>
              <a:buChar char=""/>
              <a:tabLst>
                <a:tab pos="313055" algn="l"/>
                <a:tab pos="313690" algn="l"/>
              </a:tabLst>
            </a:pPr>
            <a:r>
              <a:rPr sz="2120" b="1" u="heavy" dirty="0">
                <a:uFill>
                  <a:solidFill>
                    <a:srgbClr val="000000"/>
                  </a:solidFill>
                </a:uFill>
                <a:latin typeface="Comic Sans MS" panose="030F0702030302020204"/>
                <a:cs typeface="Comic Sans MS" panose="030F0702030302020204"/>
              </a:rPr>
              <a:t>Logical address</a:t>
            </a:r>
            <a:r>
              <a:rPr sz="2120" b="1" spc="-309" dirty="0">
                <a:latin typeface="Comic Sans MS" panose="030F0702030302020204"/>
                <a:cs typeface="Comic Sans MS" panose="030F0702030302020204"/>
              </a:rPr>
              <a:t> </a:t>
            </a:r>
            <a:r>
              <a:rPr sz="2120" spc="-4" dirty="0">
                <a:latin typeface="Comic Sans MS" panose="030F0702030302020204"/>
                <a:cs typeface="Comic Sans MS" panose="030F0702030302020204"/>
              </a:rPr>
              <a:t>size?</a:t>
            </a:r>
            <a:endParaRPr sz="2120">
              <a:latin typeface="Comic Sans MS" panose="030F0702030302020204"/>
              <a:cs typeface="Comic Sans MS" panose="030F0702030302020204"/>
            </a:endParaRPr>
          </a:p>
          <a:p>
            <a:pPr marL="313690" indent="-302260">
              <a:spcBef>
                <a:spcPts val="890"/>
              </a:spcBef>
              <a:buFont typeface="Wingdings" panose="05000000000000000000"/>
              <a:buChar char=""/>
              <a:tabLst>
                <a:tab pos="313055" algn="l"/>
                <a:tab pos="313690" algn="l"/>
              </a:tabLst>
            </a:pPr>
            <a:r>
              <a:rPr sz="2120" b="1" u="heavy" dirty="0">
                <a:uFill>
                  <a:solidFill>
                    <a:srgbClr val="000000"/>
                  </a:solidFill>
                </a:uFill>
                <a:latin typeface="Comic Sans MS" panose="030F0702030302020204"/>
                <a:cs typeface="Comic Sans MS" panose="030F0702030302020204"/>
              </a:rPr>
              <a:t>Physical address</a:t>
            </a:r>
            <a:r>
              <a:rPr sz="2120" b="1" spc="-318" dirty="0">
                <a:latin typeface="Comic Sans MS" panose="030F0702030302020204"/>
                <a:cs typeface="Comic Sans MS" panose="030F0702030302020204"/>
              </a:rPr>
              <a:t> </a:t>
            </a:r>
            <a:r>
              <a:rPr sz="2120" spc="-4" dirty="0">
                <a:latin typeface="Comic Sans MS" panose="030F0702030302020204"/>
                <a:cs typeface="Comic Sans MS" panose="030F0702030302020204"/>
              </a:rPr>
              <a:t>size?</a:t>
            </a:r>
            <a:endParaRPr sz="2120">
              <a:latin typeface="Comic Sans MS" panose="030F0702030302020204"/>
              <a:cs typeface="Comic Sans MS" panose="030F0702030302020204"/>
            </a:endParaRPr>
          </a:p>
          <a:p>
            <a:pPr marL="313690" indent="-302260">
              <a:spcBef>
                <a:spcPts val="89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Number of bits for </a:t>
            </a:r>
            <a:r>
              <a:rPr sz="2120" dirty="0">
                <a:latin typeface="Comic Sans MS" panose="030F0702030302020204"/>
                <a:cs typeface="Comic Sans MS" panose="030F0702030302020204"/>
              </a:rPr>
              <a:t>p, </a:t>
            </a:r>
            <a:r>
              <a:rPr sz="2120" spc="-4" dirty="0">
                <a:latin typeface="Comic Sans MS" panose="030F0702030302020204"/>
                <a:cs typeface="Comic Sans MS" panose="030F0702030302020204"/>
              </a:rPr>
              <a:t>f, </a:t>
            </a:r>
            <a:r>
              <a:rPr sz="2120" dirty="0">
                <a:latin typeface="Comic Sans MS" panose="030F0702030302020204"/>
                <a:cs typeface="Comic Sans MS" panose="030F0702030302020204"/>
              </a:rPr>
              <a:t>and</a:t>
            </a:r>
            <a:r>
              <a:rPr sz="2120" spc="9" dirty="0">
                <a:latin typeface="Comic Sans MS" panose="030F0702030302020204"/>
                <a:cs typeface="Comic Sans MS" panose="030F0702030302020204"/>
              </a:rPr>
              <a:t> </a:t>
            </a:r>
            <a:r>
              <a:rPr sz="2120" spc="-4" dirty="0">
                <a:latin typeface="Comic Sans MS" panose="030F0702030302020204"/>
                <a:cs typeface="Comic Sans MS" panose="030F0702030302020204"/>
              </a:rPr>
              <a:t>d?</a:t>
            </a:r>
            <a:endParaRPr sz="2120">
              <a:latin typeface="Comic Sans MS" panose="030F0702030302020204"/>
              <a:cs typeface="Comic Sans MS" panose="030F07020303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2224" y="606687"/>
            <a:ext cx="4692575" cy="457591"/>
          </a:xfrm>
          <a:prstGeom prst="rect">
            <a:avLst/>
          </a:prstGeom>
        </p:spPr>
        <p:txBody>
          <a:bodyPr vert="horz" wrap="square" lIns="0" tIns="11206" rIns="0" bIns="0" rtlCol="0">
            <a:spAutoFit/>
          </a:bodyPr>
          <a:lstStyle/>
          <a:p>
            <a:pPr marL="11430">
              <a:spcBef>
                <a:spcPts val="90"/>
              </a:spcBef>
            </a:pPr>
            <a:r>
              <a:rPr spc="-4" dirty="0"/>
              <a:t>Addressing in</a:t>
            </a:r>
            <a:r>
              <a:rPr spc="-75" dirty="0"/>
              <a:t> </a:t>
            </a:r>
            <a:r>
              <a:rPr u="none" dirty="0"/>
              <a:t>Paging</a:t>
            </a:r>
            <a:endParaRPr u="none" dirty="0"/>
          </a:p>
        </p:txBody>
      </p:sp>
      <p:sp>
        <p:nvSpPr>
          <p:cNvPr id="3" name="object 3"/>
          <p:cNvSpPr txBox="1"/>
          <p:nvPr/>
        </p:nvSpPr>
        <p:spPr>
          <a:xfrm>
            <a:off x="809737" y="1625301"/>
            <a:ext cx="3511363" cy="1333635"/>
          </a:xfrm>
          <a:prstGeom prst="rect">
            <a:avLst/>
          </a:prstGeom>
        </p:spPr>
        <p:txBody>
          <a:bodyPr vert="horz" wrap="square" lIns="0" tIns="123825" rIns="0" bIns="0" rtlCol="0">
            <a:spAutoFit/>
          </a:bodyPr>
          <a:lstStyle/>
          <a:p>
            <a:pPr marL="313690" indent="-302260">
              <a:spcBef>
                <a:spcPts val="975"/>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No. of bits for </a:t>
            </a:r>
            <a:r>
              <a:rPr sz="2120" b="1" dirty="0">
                <a:latin typeface="Comic Sans MS" panose="030F0702030302020204"/>
                <a:cs typeface="Comic Sans MS" panose="030F0702030302020204"/>
              </a:rPr>
              <a:t>p </a:t>
            </a:r>
            <a:r>
              <a:rPr sz="2120" dirty="0">
                <a:latin typeface="Comic Sans MS" panose="030F0702030302020204"/>
                <a:cs typeface="Comic Sans MS" panose="030F0702030302020204"/>
              </a:rPr>
              <a:t>= 4</a:t>
            </a:r>
            <a:r>
              <a:rPr sz="2120" spc="-361" dirty="0">
                <a:latin typeface="Comic Sans MS" panose="030F0702030302020204"/>
                <a:cs typeface="Comic Sans MS" panose="030F0702030302020204"/>
              </a:rPr>
              <a:t> </a:t>
            </a:r>
            <a:r>
              <a:rPr sz="2120" spc="-9" dirty="0">
                <a:latin typeface="Comic Sans MS" panose="030F0702030302020204"/>
                <a:cs typeface="Comic Sans MS" panose="030F0702030302020204"/>
              </a:rPr>
              <a:t>bits</a:t>
            </a:r>
            <a:endParaRPr sz="2120">
              <a:latin typeface="Comic Sans MS" panose="030F0702030302020204"/>
              <a:cs typeface="Comic Sans MS" panose="030F0702030302020204"/>
            </a:endParaRPr>
          </a:p>
          <a:p>
            <a:pPr marL="313690" indent="-302260">
              <a:spcBef>
                <a:spcPts val="89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No. of bits for </a:t>
            </a:r>
            <a:r>
              <a:rPr sz="2120" b="1" dirty="0">
                <a:latin typeface="Comic Sans MS" panose="030F0702030302020204"/>
                <a:cs typeface="Comic Sans MS" panose="030F0702030302020204"/>
              </a:rPr>
              <a:t>f</a:t>
            </a:r>
            <a:r>
              <a:rPr sz="2120" b="1" spc="-516" dirty="0">
                <a:latin typeface="Comic Sans MS" panose="030F0702030302020204"/>
                <a:cs typeface="Comic Sans MS" panose="030F0702030302020204"/>
              </a:rPr>
              <a:t> </a:t>
            </a:r>
            <a:r>
              <a:rPr sz="2120" dirty="0">
                <a:latin typeface="Comic Sans MS" panose="030F0702030302020204"/>
                <a:cs typeface="Comic Sans MS" panose="030F0702030302020204"/>
              </a:rPr>
              <a:t>= 5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a:p>
            <a:pPr marL="313690" indent="-302260">
              <a:spcBef>
                <a:spcPts val="89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No. of bits for </a:t>
            </a:r>
            <a:r>
              <a:rPr sz="2120" b="1" dirty="0">
                <a:latin typeface="Comic Sans MS" panose="030F0702030302020204"/>
                <a:cs typeface="Comic Sans MS" panose="030F0702030302020204"/>
              </a:rPr>
              <a:t>d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11</a:t>
            </a:r>
            <a:r>
              <a:rPr sz="2120" spc="-371" dirty="0">
                <a:latin typeface="Comic Sans MS" panose="030F0702030302020204"/>
                <a:cs typeface="Comic Sans MS" panose="030F0702030302020204"/>
              </a:rPr>
              <a:t> </a:t>
            </a:r>
            <a:r>
              <a:rPr sz="2120" spc="-9" dirty="0">
                <a:latin typeface="Comic Sans MS" panose="030F0702030302020204"/>
                <a:cs typeface="Comic Sans MS" panose="030F0702030302020204"/>
              </a:rPr>
              <a:t>bits</a:t>
            </a:r>
            <a:endParaRPr sz="2120">
              <a:latin typeface="Comic Sans MS" panose="030F0702030302020204"/>
              <a:cs typeface="Comic Sans MS" panose="030F07020303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57200"/>
            <a:ext cx="6629400" cy="457591"/>
          </a:xfrm>
          <a:prstGeom prst="rect">
            <a:avLst/>
          </a:prstGeom>
        </p:spPr>
        <p:txBody>
          <a:bodyPr vert="horz" wrap="square" lIns="0" tIns="11206" rIns="0" bIns="0" rtlCol="0">
            <a:spAutoFit/>
          </a:bodyPr>
          <a:lstStyle/>
          <a:p>
            <a:pPr marL="11430">
              <a:spcBef>
                <a:spcPts val="90"/>
              </a:spcBef>
              <a:tabLst>
                <a:tab pos="1842135" algn="l"/>
                <a:tab pos="6330950" algn="l"/>
              </a:tabLst>
            </a:pPr>
            <a:r>
              <a:rPr spc="-4" dirty="0" smtClean="0"/>
              <a:t>Addressing in</a:t>
            </a:r>
            <a:r>
              <a:rPr lang="en-US" spc="-79" dirty="0"/>
              <a:t> </a:t>
            </a:r>
            <a:r>
              <a:rPr dirty="0" smtClean="0"/>
              <a:t>Pagin</a:t>
            </a:r>
            <a:r>
              <a:rPr u="none" dirty="0" smtClean="0"/>
              <a:t>g</a:t>
            </a:r>
            <a:r>
              <a:rPr u="none" dirty="0"/>
              <a:t>	</a:t>
            </a:r>
            <a:endParaRPr u="none" dirty="0"/>
          </a:p>
        </p:txBody>
      </p:sp>
      <p:sp>
        <p:nvSpPr>
          <p:cNvPr id="3" name="object 3"/>
          <p:cNvSpPr txBox="1"/>
          <p:nvPr/>
        </p:nvSpPr>
        <p:spPr>
          <a:xfrm>
            <a:off x="809736" y="1646144"/>
            <a:ext cx="2530288" cy="337238"/>
          </a:xfrm>
          <a:prstGeom prst="rect">
            <a:avLst/>
          </a:prstGeom>
        </p:spPr>
        <p:txBody>
          <a:bodyPr vert="horz" wrap="square" lIns="0" tIns="11206" rIns="0" bIns="0" rtlCol="0">
            <a:spAutoFit/>
          </a:bodyPr>
          <a:lstStyle/>
          <a:p>
            <a:pPr marL="11430">
              <a:spcBef>
                <a:spcPts val="90"/>
              </a:spcBef>
            </a:pPr>
            <a:r>
              <a:rPr sz="2120" spc="-4" dirty="0">
                <a:latin typeface="Comic Sans MS" panose="030F0702030302020204"/>
                <a:cs typeface="Comic Sans MS" panose="030F0702030302020204"/>
              </a:rPr>
              <a:t>Logical address</a:t>
            </a:r>
            <a:r>
              <a:rPr sz="2120" spc="-71" dirty="0">
                <a:latin typeface="Comic Sans MS" panose="030F0702030302020204"/>
                <a:cs typeface="Comic Sans MS" panose="030F0702030302020204"/>
              </a:rPr>
              <a:t> </a:t>
            </a:r>
            <a:r>
              <a:rPr sz="2120" spc="-4" dirty="0">
                <a:latin typeface="Comic Sans MS" panose="030F0702030302020204"/>
                <a:cs typeface="Comic Sans MS" panose="030F0702030302020204"/>
              </a:rPr>
              <a:t>size</a:t>
            </a:r>
            <a:endParaRPr sz="2120">
              <a:latin typeface="Comic Sans MS" panose="030F0702030302020204"/>
              <a:cs typeface="Comic Sans MS" panose="030F0702030302020204"/>
            </a:endParaRPr>
          </a:p>
        </p:txBody>
      </p:sp>
      <p:sp>
        <p:nvSpPr>
          <p:cNvPr id="4" name="object 4"/>
          <p:cNvSpPr txBox="1"/>
          <p:nvPr/>
        </p:nvSpPr>
        <p:spPr>
          <a:xfrm>
            <a:off x="4037031" y="1549997"/>
            <a:ext cx="1284194" cy="1291014"/>
          </a:xfrm>
          <a:prstGeom prst="rect">
            <a:avLst/>
          </a:prstGeom>
        </p:spPr>
        <p:txBody>
          <a:bodyPr vert="horz" wrap="square" lIns="0" tIns="107016" rIns="0" bIns="0" rtlCol="0">
            <a:spAutoFit/>
          </a:bodyPr>
          <a:lstStyle/>
          <a:p>
            <a:pPr marL="12065">
              <a:spcBef>
                <a:spcPts val="845"/>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|p| </a:t>
            </a:r>
            <a:r>
              <a:rPr sz="2120" dirty="0">
                <a:latin typeface="Comic Sans MS" panose="030F0702030302020204"/>
                <a:cs typeface="Comic Sans MS" panose="030F0702030302020204"/>
              </a:rPr>
              <a:t>+</a:t>
            </a:r>
            <a:r>
              <a:rPr sz="2120" spc="-88" dirty="0">
                <a:latin typeface="Comic Sans MS" panose="030F0702030302020204"/>
                <a:cs typeface="Comic Sans MS" panose="030F0702030302020204"/>
              </a:rPr>
              <a:t> </a:t>
            </a:r>
            <a:r>
              <a:rPr sz="2120" spc="-4" dirty="0">
                <a:latin typeface="Comic Sans MS" panose="030F0702030302020204"/>
                <a:cs typeface="Comic Sans MS" panose="030F0702030302020204"/>
              </a:rPr>
              <a:t>|d|</a:t>
            </a:r>
            <a:endParaRPr sz="2120">
              <a:latin typeface="Comic Sans MS" panose="030F0702030302020204"/>
              <a:cs typeface="Comic Sans MS" panose="030F0702030302020204"/>
            </a:endParaRPr>
          </a:p>
          <a:p>
            <a:pPr marL="11430">
              <a:spcBef>
                <a:spcPts val="760"/>
              </a:spcBef>
            </a:pPr>
            <a:r>
              <a:rPr sz="2120" dirty="0">
                <a:latin typeface="Comic Sans MS" panose="030F0702030302020204"/>
                <a:cs typeface="Comic Sans MS" panose="030F0702030302020204"/>
              </a:rPr>
              <a:t>=</a:t>
            </a:r>
            <a:r>
              <a:rPr sz="2120" spc="-18" dirty="0">
                <a:latin typeface="Comic Sans MS" panose="030F0702030302020204"/>
                <a:cs typeface="Comic Sans MS" panose="030F0702030302020204"/>
              </a:rPr>
              <a:t> </a:t>
            </a:r>
            <a:r>
              <a:rPr sz="2120" spc="-4" dirty="0">
                <a:latin typeface="Comic Sans MS" panose="030F0702030302020204"/>
                <a:cs typeface="Comic Sans MS" panose="030F0702030302020204"/>
              </a:rPr>
              <a:t>4+11</a:t>
            </a:r>
            <a:endParaRPr sz="2120">
              <a:latin typeface="Comic Sans MS" panose="030F0702030302020204"/>
              <a:cs typeface="Comic Sans MS" panose="030F0702030302020204"/>
            </a:endParaRPr>
          </a:p>
          <a:p>
            <a:pPr marL="11430">
              <a:spcBef>
                <a:spcPts val="760"/>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15</a:t>
            </a:r>
            <a:r>
              <a:rPr sz="2120" spc="-57" dirty="0">
                <a:latin typeface="Comic Sans MS" panose="030F0702030302020204"/>
                <a:cs typeface="Comic Sans MS" panose="030F0702030302020204"/>
              </a:rPr>
              <a:t>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p:txBody>
      </p:sp>
      <p:sp>
        <p:nvSpPr>
          <p:cNvPr id="5" name="object 5"/>
          <p:cNvSpPr txBox="1"/>
          <p:nvPr/>
        </p:nvSpPr>
        <p:spPr>
          <a:xfrm>
            <a:off x="809737" y="3739851"/>
            <a:ext cx="2665319" cy="337238"/>
          </a:xfrm>
          <a:prstGeom prst="rect">
            <a:avLst/>
          </a:prstGeom>
        </p:spPr>
        <p:txBody>
          <a:bodyPr vert="horz" wrap="square" lIns="0" tIns="11206" rIns="0" bIns="0" rtlCol="0">
            <a:spAutoFit/>
          </a:bodyPr>
          <a:lstStyle/>
          <a:p>
            <a:pPr marL="11430">
              <a:spcBef>
                <a:spcPts val="90"/>
              </a:spcBef>
            </a:pPr>
            <a:r>
              <a:rPr sz="2120" dirty="0">
                <a:latin typeface="Comic Sans MS" panose="030F0702030302020204"/>
                <a:cs typeface="Comic Sans MS" panose="030F0702030302020204"/>
              </a:rPr>
              <a:t>Physical </a:t>
            </a:r>
            <a:r>
              <a:rPr sz="2120" spc="-4" dirty="0">
                <a:latin typeface="Comic Sans MS" panose="030F0702030302020204"/>
                <a:cs typeface="Comic Sans MS" panose="030F0702030302020204"/>
              </a:rPr>
              <a:t>address</a:t>
            </a:r>
            <a:r>
              <a:rPr sz="2120" spc="-79" dirty="0">
                <a:latin typeface="Comic Sans MS" panose="030F0702030302020204"/>
                <a:cs typeface="Comic Sans MS" panose="030F0702030302020204"/>
              </a:rPr>
              <a:t> </a:t>
            </a:r>
            <a:r>
              <a:rPr sz="2120" spc="-4" dirty="0">
                <a:latin typeface="Comic Sans MS" panose="030F0702030302020204"/>
                <a:cs typeface="Comic Sans MS" panose="030F0702030302020204"/>
              </a:rPr>
              <a:t>size</a:t>
            </a:r>
            <a:endParaRPr sz="2120">
              <a:latin typeface="Comic Sans MS" panose="030F0702030302020204"/>
              <a:cs typeface="Comic Sans MS" panose="030F0702030302020204"/>
            </a:endParaRPr>
          </a:p>
        </p:txBody>
      </p:sp>
      <p:sp>
        <p:nvSpPr>
          <p:cNvPr id="6" name="object 6"/>
          <p:cNvSpPr txBox="1"/>
          <p:nvPr/>
        </p:nvSpPr>
        <p:spPr>
          <a:xfrm>
            <a:off x="4037032" y="3643705"/>
            <a:ext cx="1279151" cy="1291014"/>
          </a:xfrm>
          <a:prstGeom prst="rect">
            <a:avLst/>
          </a:prstGeom>
        </p:spPr>
        <p:txBody>
          <a:bodyPr vert="horz" wrap="square" lIns="0" tIns="107016" rIns="0" bIns="0" rtlCol="0">
            <a:spAutoFit/>
          </a:bodyPr>
          <a:lstStyle/>
          <a:p>
            <a:pPr marL="13970">
              <a:spcBef>
                <a:spcPts val="845"/>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|f| </a:t>
            </a:r>
            <a:r>
              <a:rPr sz="2120" dirty="0">
                <a:latin typeface="Comic Sans MS" panose="030F0702030302020204"/>
                <a:cs typeface="Comic Sans MS" panose="030F0702030302020204"/>
              </a:rPr>
              <a:t>+</a:t>
            </a:r>
            <a:r>
              <a:rPr sz="2120" spc="-88" dirty="0">
                <a:latin typeface="Comic Sans MS" panose="030F0702030302020204"/>
                <a:cs typeface="Comic Sans MS" panose="030F0702030302020204"/>
              </a:rPr>
              <a:t> </a:t>
            </a:r>
            <a:r>
              <a:rPr sz="2120" spc="-4" dirty="0">
                <a:latin typeface="Comic Sans MS" panose="030F0702030302020204"/>
                <a:cs typeface="Comic Sans MS" panose="030F0702030302020204"/>
              </a:rPr>
              <a:t>|d|</a:t>
            </a:r>
            <a:endParaRPr sz="2120">
              <a:latin typeface="Comic Sans MS" panose="030F0702030302020204"/>
              <a:cs typeface="Comic Sans MS" panose="030F0702030302020204"/>
            </a:endParaRPr>
          </a:p>
          <a:p>
            <a:pPr marL="11430">
              <a:spcBef>
                <a:spcPts val="760"/>
              </a:spcBef>
            </a:pPr>
            <a:r>
              <a:rPr sz="2120" dirty="0">
                <a:latin typeface="Comic Sans MS" panose="030F0702030302020204"/>
                <a:cs typeface="Comic Sans MS" panose="030F0702030302020204"/>
              </a:rPr>
              <a:t>=</a:t>
            </a:r>
            <a:r>
              <a:rPr sz="2120" spc="-18" dirty="0">
                <a:latin typeface="Comic Sans MS" panose="030F0702030302020204"/>
                <a:cs typeface="Comic Sans MS" panose="030F0702030302020204"/>
              </a:rPr>
              <a:t> </a:t>
            </a:r>
            <a:r>
              <a:rPr sz="2120" spc="-4" dirty="0">
                <a:latin typeface="Comic Sans MS" panose="030F0702030302020204"/>
                <a:cs typeface="Comic Sans MS" panose="030F0702030302020204"/>
              </a:rPr>
              <a:t>5+11</a:t>
            </a:r>
            <a:endParaRPr sz="2120">
              <a:latin typeface="Comic Sans MS" panose="030F0702030302020204"/>
              <a:cs typeface="Comic Sans MS" panose="030F0702030302020204"/>
            </a:endParaRPr>
          </a:p>
          <a:p>
            <a:pPr marL="11430">
              <a:spcBef>
                <a:spcPts val="755"/>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16</a:t>
            </a:r>
            <a:r>
              <a:rPr sz="2120" spc="-57" dirty="0">
                <a:latin typeface="Comic Sans MS" panose="030F0702030302020204"/>
                <a:cs typeface="Comic Sans MS" panose="030F0702030302020204"/>
              </a:rPr>
              <a:t>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2594" y="599290"/>
            <a:ext cx="4031205" cy="457591"/>
          </a:xfrm>
          <a:prstGeom prst="rect">
            <a:avLst/>
          </a:prstGeom>
        </p:spPr>
        <p:txBody>
          <a:bodyPr vert="horz" wrap="square" lIns="0" tIns="11206" rIns="0" bIns="0" rtlCol="0">
            <a:spAutoFit/>
          </a:bodyPr>
          <a:lstStyle/>
          <a:p>
            <a:pPr marL="11430">
              <a:spcBef>
                <a:spcPts val="90"/>
              </a:spcBef>
            </a:pPr>
            <a:r>
              <a:rPr u="none" dirty="0"/>
              <a:t>Page Table</a:t>
            </a:r>
            <a:r>
              <a:rPr spc="-93" dirty="0"/>
              <a:t> </a:t>
            </a:r>
            <a:r>
              <a:rPr spc="-4" dirty="0"/>
              <a:t>Size</a:t>
            </a:r>
            <a:endParaRPr spc="-4" dirty="0"/>
          </a:p>
        </p:txBody>
      </p:sp>
      <p:sp>
        <p:nvSpPr>
          <p:cNvPr id="3" name="object 3"/>
          <p:cNvSpPr txBox="1"/>
          <p:nvPr/>
        </p:nvSpPr>
        <p:spPr>
          <a:xfrm>
            <a:off x="1112296" y="1549997"/>
            <a:ext cx="7117976" cy="1391426"/>
          </a:xfrm>
          <a:prstGeom prst="rect">
            <a:avLst/>
          </a:prstGeom>
        </p:spPr>
        <p:txBody>
          <a:bodyPr vert="horz" wrap="square" lIns="0" tIns="107016" rIns="0" bIns="0" rtlCol="0">
            <a:spAutoFit/>
          </a:bodyPr>
          <a:lstStyle/>
          <a:p>
            <a:pPr marL="11430">
              <a:spcBef>
                <a:spcPts val="845"/>
              </a:spcBef>
              <a:tabLst>
                <a:tab pos="2129790" algn="l"/>
              </a:tabLst>
            </a:pPr>
            <a:r>
              <a:rPr sz="2120" dirty="0">
                <a:latin typeface="Comic Sans MS" panose="030F0702030302020204"/>
                <a:cs typeface="Comic Sans MS" panose="030F0702030302020204"/>
              </a:rPr>
              <a:t>Page </a:t>
            </a:r>
            <a:r>
              <a:rPr sz="2120" spc="-4" dirty="0">
                <a:latin typeface="Comic Sans MS" panose="030F0702030302020204"/>
                <a:cs typeface="Comic Sans MS" panose="030F0702030302020204"/>
              </a:rPr>
              <a:t>table size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NP </a:t>
            </a:r>
            <a:r>
              <a:rPr sz="2120" dirty="0">
                <a:latin typeface="Comic Sans MS" panose="030F0702030302020204"/>
                <a:cs typeface="Comic Sans MS" panose="030F0702030302020204"/>
              </a:rPr>
              <a:t>*</a:t>
            </a:r>
            <a:r>
              <a:rPr sz="2120" spc="-13" dirty="0">
                <a:latin typeface="Comic Sans MS" panose="030F0702030302020204"/>
                <a:cs typeface="Comic Sans MS" panose="030F0702030302020204"/>
              </a:rPr>
              <a:t> </a:t>
            </a:r>
            <a:r>
              <a:rPr sz="2120" dirty="0">
                <a:latin typeface="Comic Sans MS" panose="030F0702030302020204"/>
                <a:cs typeface="Comic Sans MS" panose="030F0702030302020204"/>
              </a:rPr>
              <a:t>PTES</a:t>
            </a:r>
            <a:endParaRPr sz="2120">
              <a:latin typeface="Comic Sans MS" panose="030F0702030302020204"/>
              <a:cs typeface="Comic Sans MS" panose="030F0702030302020204"/>
            </a:endParaRPr>
          </a:p>
          <a:p>
            <a:pPr marL="11430">
              <a:lnSpc>
                <a:spcPts val="2285"/>
              </a:lnSpc>
              <a:spcBef>
                <a:spcPts val="760"/>
              </a:spcBef>
            </a:pPr>
            <a:r>
              <a:rPr sz="2120" spc="-4" dirty="0">
                <a:latin typeface="Comic Sans MS" panose="030F0702030302020204"/>
                <a:cs typeface="Comic Sans MS" panose="030F0702030302020204"/>
              </a:rPr>
              <a:t>where NP is the number of </a:t>
            </a:r>
            <a:r>
              <a:rPr sz="2120" dirty="0">
                <a:latin typeface="Comic Sans MS" panose="030F0702030302020204"/>
                <a:cs typeface="Comic Sans MS" panose="030F0702030302020204"/>
              </a:rPr>
              <a:t>pages </a:t>
            </a:r>
            <a:r>
              <a:rPr sz="2120" spc="-4" dirty="0">
                <a:latin typeface="Comic Sans MS" panose="030F0702030302020204"/>
                <a:cs typeface="Comic Sans MS" panose="030F0702030302020204"/>
              </a:rPr>
              <a:t>in the </a:t>
            </a:r>
            <a:r>
              <a:rPr sz="2120" dirty="0">
                <a:latin typeface="Comic Sans MS" panose="030F0702030302020204"/>
                <a:cs typeface="Comic Sans MS" panose="030F0702030302020204"/>
              </a:rPr>
              <a:t>process</a:t>
            </a:r>
            <a:r>
              <a:rPr sz="2120" spc="-53" dirty="0">
                <a:latin typeface="Comic Sans MS" panose="030F0702030302020204"/>
                <a:cs typeface="Comic Sans MS" panose="030F0702030302020204"/>
              </a:rPr>
              <a:t> </a:t>
            </a:r>
            <a:r>
              <a:rPr sz="2120" spc="-4" dirty="0">
                <a:latin typeface="Comic Sans MS" panose="030F0702030302020204"/>
                <a:cs typeface="Comic Sans MS" panose="030F0702030302020204"/>
              </a:rPr>
              <a:t>address</a:t>
            </a:r>
            <a:endParaRPr sz="2120">
              <a:latin typeface="Comic Sans MS" panose="030F0702030302020204"/>
              <a:cs typeface="Comic Sans MS" panose="030F0702030302020204"/>
            </a:endParaRPr>
          </a:p>
          <a:p>
            <a:pPr marL="11430" marR="4445">
              <a:lnSpc>
                <a:spcPct val="80000"/>
              </a:lnSpc>
              <a:spcBef>
                <a:spcPts val="255"/>
              </a:spcBef>
            </a:pPr>
            <a:r>
              <a:rPr sz="2120" spc="-4" dirty="0">
                <a:latin typeface="Comic Sans MS" panose="030F0702030302020204"/>
                <a:cs typeface="Comic Sans MS" panose="030F0702030302020204"/>
              </a:rPr>
              <a:t>space </a:t>
            </a:r>
            <a:r>
              <a:rPr sz="2120" dirty="0">
                <a:latin typeface="Comic Sans MS" panose="030F0702030302020204"/>
                <a:cs typeface="Comic Sans MS" panose="030F0702030302020204"/>
              </a:rPr>
              <a:t>and PTES </a:t>
            </a:r>
            <a:r>
              <a:rPr sz="2120" spc="-4" dirty="0">
                <a:latin typeface="Comic Sans MS" panose="030F0702030302020204"/>
                <a:cs typeface="Comic Sans MS" panose="030F0702030302020204"/>
              </a:rPr>
              <a:t>is the </a:t>
            </a:r>
            <a:r>
              <a:rPr sz="2120" dirty="0">
                <a:latin typeface="Comic Sans MS" panose="030F0702030302020204"/>
                <a:cs typeface="Comic Sans MS" panose="030F0702030302020204"/>
              </a:rPr>
              <a:t>page </a:t>
            </a:r>
            <a:r>
              <a:rPr sz="2120" spc="-4" dirty="0">
                <a:latin typeface="Comic Sans MS" panose="030F0702030302020204"/>
                <a:cs typeface="Comic Sans MS" panose="030F0702030302020204"/>
              </a:rPr>
              <a:t>table entry size (equal to |f|  based on our discussion so</a:t>
            </a:r>
            <a:r>
              <a:rPr sz="2120" spc="4" dirty="0">
                <a:latin typeface="Comic Sans MS" panose="030F0702030302020204"/>
                <a:cs typeface="Comic Sans MS" panose="030F0702030302020204"/>
              </a:rPr>
              <a:t> </a:t>
            </a:r>
            <a:r>
              <a:rPr sz="2120" spc="-4" dirty="0">
                <a:latin typeface="Comic Sans MS" panose="030F0702030302020204"/>
                <a:cs typeface="Comic Sans MS" panose="030F0702030302020204"/>
              </a:rPr>
              <a:t>far).</a:t>
            </a:r>
            <a:endParaRPr sz="2120">
              <a:latin typeface="Comic Sans MS" panose="030F0702030302020204"/>
              <a:cs typeface="Comic Sans MS" panose="030F0702030302020204"/>
            </a:endParaRPr>
          </a:p>
        </p:txBody>
      </p:sp>
      <p:sp>
        <p:nvSpPr>
          <p:cNvPr id="4" name="object 4"/>
          <p:cNvSpPr txBox="1"/>
          <p:nvPr/>
        </p:nvSpPr>
        <p:spPr>
          <a:xfrm>
            <a:off x="1112296" y="2998918"/>
            <a:ext cx="1890993" cy="337238"/>
          </a:xfrm>
          <a:prstGeom prst="rect">
            <a:avLst/>
          </a:prstGeom>
        </p:spPr>
        <p:txBody>
          <a:bodyPr vert="horz" wrap="square" lIns="0" tIns="11206" rIns="0" bIns="0" rtlCol="0">
            <a:spAutoFit/>
          </a:bodyPr>
          <a:lstStyle/>
          <a:p>
            <a:pPr marL="11430">
              <a:spcBef>
                <a:spcPts val="90"/>
              </a:spcBef>
            </a:pPr>
            <a:r>
              <a:rPr sz="2120" spc="-4" dirty="0">
                <a:latin typeface="Comic Sans MS" panose="030F0702030302020204"/>
                <a:cs typeface="Comic Sans MS" panose="030F0702030302020204"/>
              </a:rPr>
              <a:t>Page table</a:t>
            </a:r>
            <a:r>
              <a:rPr sz="2120" spc="-79" dirty="0">
                <a:latin typeface="Comic Sans MS" panose="030F0702030302020204"/>
                <a:cs typeface="Comic Sans MS" panose="030F0702030302020204"/>
              </a:rPr>
              <a:t> </a:t>
            </a:r>
            <a:r>
              <a:rPr sz="2120" spc="-4" dirty="0">
                <a:latin typeface="Comic Sans MS" panose="030F0702030302020204"/>
                <a:cs typeface="Comic Sans MS" panose="030F0702030302020204"/>
              </a:rPr>
              <a:t>size</a:t>
            </a:r>
            <a:endParaRPr sz="2120">
              <a:latin typeface="Comic Sans MS" panose="030F0702030302020204"/>
              <a:cs typeface="Comic Sans MS" panose="030F0702030302020204"/>
            </a:endParaRPr>
          </a:p>
        </p:txBody>
      </p:sp>
      <p:sp>
        <p:nvSpPr>
          <p:cNvPr id="5" name="object 5"/>
          <p:cNvSpPr txBox="1"/>
          <p:nvPr/>
        </p:nvSpPr>
        <p:spPr>
          <a:xfrm>
            <a:off x="3229716" y="2902772"/>
            <a:ext cx="1562100" cy="862498"/>
          </a:xfrm>
          <a:prstGeom prst="rect">
            <a:avLst/>
          </a:prstGeom>
        </p:spPr>
        <p:txBody>
          <a:bodyPr vert="horz" wrap="square" lIns="0" tIns="107016" rIns="0" bIns="0" rtlCol="0">
            <a:spAutoFit/>
          </a:bodyPr>
          <a:lstStyle/>
          <a:p>
            <a:pPr marL="11430">
              <a:spcBef>
                <a:spcPts val="845"/>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16 </a:t>
            </a:r>
            <a:r>
              <a:rPr sz="2120" dirty="0">
                <a:latin typeface="Comic Sans MS" panose="030F0702030302020204"/>
                <a:cs typeface="Comic Sans MS" panose="030F0702030302020204"/>
              </a:rPr>
              <a:t>* 5</a:t>
            </a:r>
            <a:r>
              <a:rPr sz="2120" spc="-97" dirty="0">
                <a:latin typeface="Comic Sans MS" panose="030F0702030302020204"/>
                <a:cs typeface="Comic Sans MS" panose="030F0702030302020204"/>
              </a:rPr>
              <a:t>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a:p>
            <a:pPr marL="11430">
              <a:spcBef>
                <a:spcPts val="760"/>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16</a:t>
            </a:r>
            <a:r>
              <a:rPr sz="2120" spc="-53" dirty="0">
                <a:latin typeface="Comic Sans MS" panose="030F0702030302020204"/>
                <a:cs typeface="Comic Sans MS" panose="030F0702030302020204"/>
              </a:rPr>
              <a:t> </a:t>
            </a:r>
            <a:r>
              <a:rPr sz="2120" spc="-4" dirty="0">
                <a:latin typeface="Comic Sans MS" panose="030F0702030302020204"/>
                <a:cs typeface="Comic Sans MS" panose="030F0702030302020204"/>
              </a:rPr>
              <a:t>bytes</a:t>
            </a:r>
            <a:endParaRPr sz="2120">
              <a:latin typeface="Comic Sans MS" panose="030F0702030302020204"/>
              <a:cs typeface="Comic Sans MS" panose="030F07020303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9804" y="171315"/>
            <a:ext cx="6404196" cy="457591"/>
          </a:xfrm>
          <a:prstGeom prst="rect">
            <a:avLst/>
          </a:prstGeom>
        </p:spPr>
        <p:txBody>
          <a:bodyPr vert="horz" wrap="square" lIns="0" tIns="11206" rIns="0" bIns="0" rtlCol="0">
            <a:spAutoFit/>
          </a:bodyPr>
          <a:lstStyle/>
          <a:p>
            <a:pPr marL="11430">
              <a:spcBef>
                <a:spcPts val="90"/>
              </a:spcBef>
              <a:tabLst>
                <a:tab pos="2066290" algn="l"/>
                <a:tab pos="6330950" algn="l"/>
              </a:tabLst>
            </a:pPr>
            <a:r>
              <a:rPr spc="-4" dirty="0" smtClean="0"/>
              <a:t>Another</a:t>
            </a:r>
            <a:r>
              <a:rPr spc="-93" dirty="0" smtClean="0"/>
              <a:t> </a:t>
            </a:r>
            <a:r>
              <a:rPr dirty="0"/>
              <a:t>Exampl</a:t>
            </a:r>
            <a:r>
              <a:rPr u="none" dirty="0"/>
              <a:t>e	</a:t>
            </a:r>
            <a:endParaRPr u="none" dirty="0"/>
          </a:p>
        </p:txBody>
      </p:sp>
      <p:sp>
        <p:nvSpPr>
          <p:cNvPr id="3" name="object 3"/>
          <p:cNvSpPr txBox="1"/>
          <p:nvPr/>
        </p:nvSpPr>
        <p:spPr>
          <a:xfrm>
            <a:off x="854561" y="1459230"/>
            <a:ext cx="7023846" cy="2743123"/>
          </a:xfrm>
          <a:prstGeom prst="rect">
            <a:avLst/>
          </a:prstGeom>
        </p:spPr>
        <p:txBody>
          <a:bodyPr vert="horz" wrap="square" lIns="0" tIns="76200" rIns="0" bIns="0" rtlCol="0">
            <a:spAutoFit/>
          </a:bodyPr>
          <a:lstStyle/>
          <a:p>
            <a:pPr marL="335915" indent="-302260">
              <a:spcBef>
                <a:spcPts val="600"/>
              </a:spcBef>
              <a:buFont typeface="Wingdings" panose="05000000000000000000"/>
              <a:buChar char=""/>
              <a:tabLst>
                <a:tab pos="335280" algn="l"/>
                <a:tab pos="335915" algn="l"/>
              </a:tabLst>
            </a:pPr>
            <a:r>
              <a:rPr sz="2120" spc="-4" dirty="0">
                <a:latin typeface="Comic Sans MS" panose="030F0702030302020204"/>
                <a:cs typeface="Comic Sans MS" panose="030F0702030302020204"/>
              </a:rPr>
              <a:t>Logical </a:t>
            </a:r>
            <a:r>
              <a:rPr sz="2120" dirty="0">
                <a:latin typeface="Comic Sans MS" panose="030F0702030302020204"/>
                <a:cs typeface="Comic Sans MS" panose="030F0702030302020204"/>
              </a:rPr>
              <a:t>address =</a:t>
            </a:r>
            <a:r>
              <a:rPr sz="2120" spc="-9" dirty="0">
                <a:latin typeface="Comic Sans MS" panose="030F0702030302020204"/>
                <a:cs typeface="Comic Sans MS" panose="030F0702030302020204"/>
              </a:rPr>
              <a:t> </a:t>
            </a:r>
            <a:r>
              <a:rPr sz="2120" spc="-4" dirty="0">
                <a:latin typeface="Comic Sans MS" panose="030F0702030302020204"/>
                <a:cs typeface="Comic Sans MS" panose="030F0702030302020204"/>
              </a:rPr>
              <a:t>32-bit</a:t>
            </a:r>
            <a:endParaRPr sz="2120">
              <a:latin typeface="Comic Sans MS" panose="030F0702030302020204"/>
              <a:cs typeface="Comic Sans MS" panose="030F0702030302020204"/>
            </a:endParaRPr>
          </a:p>
          <a:p>
            <a:pPr marL="335915" indent="-302260">
              <a:spcBef>
                <a:spcPts val="510"/>
              </a:spcBef>
              <a:buFont typeface="Wingdings" panose="05000000000000000000"/>
              <a:buChar char=""/>
              <a:tabLst>
                <a:tab pos="335280" algn="l"/>
                <a:tab pos="335915" algn="l"/>
              </a:tabLst>
            </a:pPr>
            <a:r>
              <a:rPr sz="2120" dirty="0">
                <a:latin typeface="Comic Sans MS" panose="030F0702030302020204"/>
                <a:cs typeface="Comic Sans MS" panose="030F0702030302020204"/>
              </a:rPr>
              <a:t>Process </a:t>
            </a:r>
            <a:r>
              <a:rPr sz="2120" spc="-4" dirty="0">
                <a:latin typeface="Comic Sans MS" panose="030F0702030302020204"/>
                <a:cs typeface="Comic Sans MS" panose="030F0702030302020204"/>
              </a:rPr>
              <a:t>address space </a:t>
            </a:r>
            <a:r>
              <a:rPr sz="2120" dirty="0">
                <a:latin typeface="Comic Sans MS" panose="030F0702030302020204"/>
                <a:cs typeface="Comic Sans MS" panose="030F0702030302020204"/>
              </a:rPr>
              <a:t>= </a:t>
            </a:r>
            <a:r>
              <a:rPr sz="2120" spc="-13" dirty="0">
                <a:latin typeface="Comic Sans MS" panose="030F0702030302020204"/>
                <a:cs typeface="Comic Sans MS" panose="030F0702030302020204"/>
              </a:rPr>
              <a:t>2</a:t>
            </a:r>
            <a:r>
              <a:rPr sz="2120" spc="-19" baseline="24000" dirty="0">
                <a:latin typeface="Comic Sans MS" panose="030F0702030302020204"/>
                <a:cs typeface="Comic Sans MS" panose="030F0702030302020204"/>
              </a:rPr>
              <a:t>32</a:t>
            </a:r>
            <a:r>
              <a:rPr sz="2120" spc="-199" baseline="24000" dirty="0">
                <a:latin typeface="Comic Sans MS" panose="030F0702030302020204"/>
                <a:cs typeface="Comic Sans MS" panose="030F0702030302020204"/>
              </a:rPr>
              <a:t> </a:t>
            </a:r>
            <a:r>
              <a:rPr sz="2120" dirty="0">
                <a:latin typeface="Comic Sans MS" panose="030F0702030302020204"/>
                <a:cs typeface="Comic Sans MS" panose="030F0702030302020204"/>
              </a:rPr>
              <a:t>B</a:t>
            </a:r>
            <a:endParaRPr sz="2120">
              <a:latin typeface="Comic Sans MS" panose="030F0702030302020204"/>
              <a:cs typeface="Comic Sans MS" panose="030F0702030302020204"/>
            </a:endParaRPr>
          </a:p>
          <a:p>
            <a:pPr marL="311150" algn="ctr">
              <a:spcBef>
                <a:spcPts val="515"/>
              </a:spcBef>
            </a:pPr>
            <a:r>
              <a:rPr sz="2120" dirty="0">
                <a:latin typeface="Comic Sans MS" panose="030F0702030302020204"/>
                <a:cs typeface="Comic Sans MS" panose="030F0702030302020204"/>
              </a:rPr>
              <a:t>= 4</a:t>
            </a:r>
            <a:r>
              <a:rPr sz="2120" spc="-18" dirty="0">
                <a:latin typeface="Comic Sans MS" panose="030F0702030302020204"/>
                <a:cs typeface="Comic Sans MS" panose="030F0702030302020204"/>
              </a:rPr>
              <a:t> </a:t>
            </a:r>
            <a:r>
              <a:rPr sz="2120" spc="-4" dirty="0">
                <a:latin typeface="Comic Sans MS" panose="030F0702030302020204"/>
                <a:cs typeface="Comic Sans MS" panose="030F0702030302020204"/>
              </a:rPr>
              <a:t>GB</a:t>
            </a:r>
            <a:endParaRPr sz="2120">
              <a:latin typeface="Comic Sans MS" panose="030F0702030302020204"/>
              <a:cs typeface="Comic Sans MS" panose="030F0702030302020204"/>
            </a:endParaRPr>
          </a:p>
          <a:p>
            <a:pPr marL="335915" indent="-302260">
              <a:spcBef>
                <a:spcPts val="510"/>
              </a:spcBef>
              <a:buFont typeface="Wingdings" panose="05000000000000000000"/>
              <a:buChar char=""/>
              <a:tabLst>
                <a:tab pos="335280" algn="l"/>
                <a:tab pos="335915" algn="l"/>
              </a:tabLst>
            </a:pPr>
            <a:r>
              <a:rPr sz="2120" spc="-4" dirty="0">
                <a:latin typeface="Comic Sans MS" panose="030F0702030302020204"/>
                <a:cs typeface="Comic Sans MS" panose="030F0702030302020204"/>
              </a:rPr>
              <a:t>Main memory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RAM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512</a:t>
            </a:r>
            <a:r>
              <a:rPr sz="2120" spc="-18" dirty="0">
                <a:latin typeface="Comic Sans MS" panose="030F0702030302020204"/>
                <a:cs typeface="Comic Sans MS" panose="030F0702030302020204"/>
              </a:rPr>
              <a:t> </a:t>
            </a:r>
            <a:r>
              <a:rPr sz="2120" spc="-4" dirty="0">
                <a:latin typeface="Comic Sans MS" panose="030F0702030302020204"/>
                <a:cs typeface="Comic Sans MS" panose="030F0702030302020204"/>
              </a:rPr>
              <a:t>MB</a:t>
            </a:r>
            <a:endParaRPr sz="2120">
              <a:latin typeface="Comic Sans MS" panose="030F0702030302020204"/>
              <a:cs typeface="Comic Sans MS" panose="030F0702030302020204"/>
            </a:endParaRPr>
          </a:p>
          <a:p>
            <a:pPr marL="335915" indent="-302260">
              <a:spcBef>
                <a:spcPts val="515"/>
              </a:spcBef>
              <a:buFont typeface="Wingdings" panose="05000000000000000000"/>
              <a:buChar char=""/>
              <a:tabLst>
                <a:tab pos="335280" algn="l"/>
                <a:tab pos="335915" algn="l"/>
              </a:tabLst>
            </a:pPr>
            <a:r>
              <a:rPr sz="2120" spc="-4" dirty="0">
                <a:latin typeface="Comic Sans MS" panose="030F0702030302020204"/>
                <a:cs typeface="Comic Sans MS" panose="030F0702030302020204"/>
              </a:rPr>
              <a:t>Page size </a:t>
            </a:r>
            <a:r>
              <a:rPr sz="2120" dirty="0">
                <a:latin typeface="Comic Sans MS" panose="030F0702030302020204"/>
                <a:cs typeface="Comic Sans MS" panose="030F0702030302020204"/>
              </a:rPr>
              <a:t>=</a:t>
            </a:r>
            <a:r>
              <a:rPr sz="2120" spc="-13" dirty="0">
                <a:latin typeface="Comic Sans MS" panose="030F0702030302020204"/>
                <a:cs typeface="Comic Sans MS" panose="030F0702030302020204"/>
              </a:rPr>
              <a:t> </a:t>
            </a:r>
            <a:r>
              <a:rPr sz="2120" spc="-4" dirty="0">
                <a:latin typeface="Comic Sans MS" panose="030F0702030302020204"/>
                <a:cs typeface="Comic Sans MS" panose="030F0702030302020204"/>
              </a:rPr>
              <a:t>4K</a:t>
            </a:r>
            <a:endParaRPr sz="2120">
              <a:latin typeface="Comic Sans MS" panose="030F0702030302020204"/>
              <a:cs typeface="Comic Sans MS" panose="030F0702030302020204"/>
            </a:endParaRPr>
          </a:p>
          <a:p>
            <a:pPr marL="335915" indent="-302260">
              <a:spcBef>
                <a:spcPts val="510"/>
              </a:spcBef>
              <a:buFont typeface="Wingdings" panose="05000000000000000000"/>
              <a:buChar char=""/>
              <a:tabLst>
                <a:tab pos="335280" algn="l"/>
                <a:tab pos="335915" algn="l"/>
              </a:tabLst>
            </a:pPr>
            <a:r>
              <a:rPr sz="2120" spc="-4" dirty="0">
                <a:latin typeface="Comic Sans MS" panose="030F0702030302020204"/>
                <a:cs typeface="Comic Sans MS" panose="030F0702030302020204"/>
              </a:rPr>
              <a:t>Maximum pages in </a:t>
            </a: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process address space </a:t>
            </a:r>
            <a:r>
              <a:rPr sz="2120" dirty="0">
                <a:latin typeface="Comic Sans MS" panose="030F0702030302020204"/>
                <a:cs typeface="Comic Sans MS" panose="030F0702030302020204"/>
              </a:rPr>
              <a:t>= </a:t>
            </a:r>
            <a:r>
              <a:rPr sz="2120" spc="-13" dirty="0">
                <a:latin typeface="Comic Sans MS" panose="030F0702030302020204"/>
                <a:cs typeface="Comic Sans MS" panose="030F0702030302020204"/>
              </a:rPr>
              <a:t>2</a:t>
            </a:r>
            <a:r>
              <a:rPr sz="2120" spc="-19" baseline="24000" dirty="0">
                <a:latin typeface="Comic Sans MS" panose="030F0702030302020204"/>
                <a:cs typeface="Comic Sans MS" panose="030F0702030302020204"/>
              </a:rPr>
              <a:t>32 </a:t>
            </a:r>
            <a:r>
              <a:rPr sz="2120" dirty="0">
                <a:latin typeface="Comic Sans MS" panose="030F0702030302020204"/>
                <a:cs typeface="Comic Sans MS" panose="030F0702030302020204"/>
              </a:rPr>
              <a:t>/</a:t>
            </a:r>
            <a:r>
              <a:rPr sz="2120" spc="-256" dirty="0">
                <a:latin typeface="Comic Sans MS" panose="030F0702030302020204"/>
                <a:cs typeface="Comic Sans MS" panose="030F0702030302020204"/>
              </a:rPr>
              <a:t> </a:t>
            </a:r>
            <a:r>
              <a:rPr sz="2120" spc="-13" dirty="0">
                <a:latin typeface="Comic Sans MS" panose="030F0702030302020204"/>
                <a:cs typeface="Comic Sans MS" panose="030F0702030302020204"/>
              </a:rPr>
              <a:t>4K</a:t>
            </a:r>
            <a:endParaRPr sz="2120">
              <a:latin typeface="Comic Sans MS" panose="030F0702030302020204"/>
              <a:cs typeface="Comic Sans MS" panose="030F0702030302020204"/>
            </a:endParaRPr>
          </a:p>
          <a:p>
            <a:pPr marR="680085" algn="r">
              <a:spcBef>
                <a:spcPts val="510"/>
              </a:spcBef>
            </a:pPr>
            <a:r>
              <a:rPr sz="2120" dirty="0">
                <a:latin typeface="Comic Sans MS" panose="030F0702030302020204"/>
                <a:cs typeface="Comic Sans MS" panose="030F0702030302020204"/>
              </a:rPr>
              <a:t>=</a:t>
            </a:r>
            <a:r>
              <a:rPr sz="2120" spc="-97" dirty="0">
                <a:latin typeface="Comic Sans MS" panose="030F0702030302020204"/>
                <a:cs typeface="Comic Sans MS" panose="030F0702030302020204"/>
              </a:rPr>
              <a:t> </a:t>
            </a:r>
            <a:r>
              <a:rPr sz="2120" spc="-4" dirty="0">
                <a:latin typeface="Comic Sans MS" panose="030F0702030302020204"/>
                <a:cs typeface="Comic Sans MS" panose="030F0702030302020204"/>
              </a:rPr>
              <a:t>1M</a:t>
            </a:r>
            <a:endParaRPr sz="2120">
              <a:latin typeface="Comic Sans MS" panose="030F0702030302020204"/>
              <a:cs typeface="Comic Sans MS" panose="030F07020303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9804" y="171315"/>
            <a:ext cx="6556596" cy="457591"/>
          </a:xfrm>
          <a:prstGeom prst="rect">
            <a:avLst/>
          </a:prstGeom>
        </p:spPr>
        <p:txBody>
          <a:bodyPr vert="horz" wrap="square" lIns="0" tIns="11206" rIns="0" bIns="0" rtlCol="0">
            <a:spAutoFit/>
          </a:bodyPr>
          <a:lstStyle/>
          <a:p>
            <a:pPr marL="11430">
              <a:spcBef>
                <a:spcPts val="90"/>
              </a:spcBef>
              <a:tabLst>
                <a:tab pos="2066290" algn="l"/>
                <a:tab pos="6330950" algn="l"/>
              </a:tabLst>
            </a:pPr>
            <a:r>
              <a:rPr spc="-4" dirty="0" smtClean="0"/>
              <a:t>Another</a:t>
            </a:r>
            <a:r>
              <a:rPr spc="-93" dirty="0" smtClean="0"/>
              <a:t> </a:t>
            </a:r>
            <a:r>
              <a:rPr dirty="0"/>
              <a:t>Exampl</a:t>
            </a:r>
            <a:r>
              <a:rPr u="none" dirty="0"/>
              <a:t>e	</a:t>
            </a:r>
            <a:endParaRPr u="none" dirty="0"/>
          </a:p>
        </p:txBody>
      </p:sp>
      <p:sp>
        <p:nvSpPr>
          <p:cNvPr id="3" name="object 3"/>
          <p:cNvSpPr txBox="1"/>
          <p:nvPr/>
        </p:nvSpPr>
        <p:spPr>
          <a:xfrm>
            <a:off x="876973" y="1476039"/>
            <a:ext cx="3078816" cy="763112"/>
          </a:xfrm>
          <a:prstGeom prst="rect">
            <a:avLst/>
          </a:prstGeom>
        </p:spPr>
        <p:txBody>
          <a:bodyPr vert="horz" wrap="square" lIns="0" tIns="59391" rIns="0" bIns="0" rtlCol="0">
            <a:spAutoFit/>
          </a:bodyPr>
          <a:lstStyle/>
          <a:p>
            <a:pPr marL="313690" indent="-302260">
              <a:spcBef>
                <a:spcPts val="47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|d|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12</a:t>
            </a:r>
            <a:r>
              <a:rPr sz="2120" spc="-22" dirty="0">
                <a:latin typeface="Comic Sans MS" panose="030F0702030302020204"/>
                <a:cs typeface="Comic Sans MS" panose="030F0702030302020204"/>
              </a:rPr>
              <a:t>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a:p>
            <a:pPr marL="313690" indent="-302260">
              <a:spcBef>
                <a:spcPts val="38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|p|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32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12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20</a:t>
            </a:r>
            <a:r>
              <a:rPr sz="2120" spc="-93" dirty="0">
                <a:latin typeface="Comic Sans MS" panose="030F0702030302020204"/>
                <a:cs typeface="Comic Sans MS" panose="030F0702030302020204"/>
              </a:rPr>
              <a:t>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p:txBody>
      </p:sp>
      <p:sp>
        <p:nvSpPr>
          <p:cNvPr id="4" name="object 4"/>
          <p:cNvSpPr txBox="1"/>
          <p:nvPr/>
        </p:nvSpPr>
        <p:spPr>
          <a:xfrm>
            <a:off x="876973" y="2266726"/>
            <a:ext cx="2074769" cy="337238"/>
          </a:xfrm>
          <a:prstGeom prst="rect">
            <a:avLst/>
          </a:prstGeom>
        </p:spPr>
        <p:txBody>
          <a:bodyPr vert="horz" wrap="square" lIns="0" tIns="11206" rIns="0" bIns="0" rtlCol="0">
            <a:spAutoFit/>
          </a:bodyPr>
          <a:lstStyle/>
          <a:p>
            <a:pPr marL="313690" indent="-302260">
              <a:spcBef>
                <a:spcPts val="9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No. of</a:t>
            </a:r>
            <a:r>
              <a:rPr sz="2120" spc="-79" dirty="0">
                <a:latin typeface="Comic Sans MS" panose="030F0702030302020204"/>
                <a:cs typeface="Comic Sans MS" panose="030F0702030302020204"/>
              </a:rPr>
              <a:t> </a:t>
            </a:r>
            <a:r>
              <a:rPr sz="2120" spc="-4" dirty="0">
                <a:latin typeface="Comic Sans MS" panose="030F0702030302020204"/>
                <a:cs typeface="Comic Sans MS" panose="030F0702030302020204"/>
              </a:rPr>
              <a:t>frames</a:t>
            </a:r>
            <a:endParaRPr sz="2120">
              <a:latin typeface="Comic Sans MS" panose="030F0702030302020204"/>
              <a:cs typeface="Comic Sans MS" panose="030F0702030302020204"/>
            </a:endParaRPr>
          </a:p>
        </p:txBody>
      </p:sp>
      <p:sp>
        <p:nvSpPr>
          <p:cNvPr id="5" name="object 5"/>
          <p:cNvSpPr txBox="1"/>
          <p:nvPr/>
        </p:nvSpPr>
        <p:spPr>
          <a:xfrm>
            <a:off x="3296044" y="2218317"/>
            <a:ext cx="2547657" cy="763112"/>
          </a:xfrm>
          <a:prstGeom prst="rect">
            <a:avLst/>
          </a:prstGeom>
        </p:spPr>
        <p:txBody>
          <a:bodyPr vert="horz" wrap="square" lIns="0" tIns="59391" rIns="0" bIns="0" rtlCol="0">
            <a:spAutoFit/>
          </a:bodyPr>
          <a:lstStyle/>
          <a:p>
            <a:pPr marL="11430">
              <a:spcBef>
                <a:spcPts val="470"/>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512 </a:t>
            </a:r>
            <a:r>
              <a:rPr sz="2120" dirty="0">
                <a:latin typeface="Comic Sans MS" panose="030F0702030302020204"/>
                <a:cs typeface="Comic Sans MS" panose="030F0702030302020204"/>
              </a:rPr>
              <a:t>M / 4</a:t>
            </a:r>
            <a:r>
              <a:rPr sz="2120" spc="-49" dirty="0">
                <a:latin typeface="Comic Sans MS" panose="030F0702030302020204"/>
                <a:cs typeface="Comic Sans MS" panose="030F0702030302020204"/>
              </a:rPr>
              <a:t> </a:t>
            </a:r>
            <a:r>
              <a:rPr sz="2120" dirty="0">
                <a:latin typeface="Comic Sans MS" panose="030F0702030302020204"/>
                <a:cs typeface="Comic Sans MS" panose="030F0702030302020204"/>
              </a:rPr>
              <a:t>K</a:t>
            </a:r>
            <a:endParaRPr sz="2120">
              <a:latin typeface="Comic Sans MS" panose="030F0702030302020204"/>
              <a:cs typeface="Comic Sans MS" panose="030F0702030302020204"/>
            </a:endParaRPr>
          </a:p>
          <a:p>
            <a:pPr marL="1626235">
              <a:spcBef>
                <a:spcPts val="380"/>
              </a:spcBef>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128</a:t>
            </a:r>
            <a:r>
              <a:rPr sz="2120" spc="-88" dirty="0">
                <a:latin typeface="Comic Sans MS" panose="030F0702030302020204"/>
                <a:cs typeface="Comic Sans MS" panose="030F0702030302020204"/>
              </a:rPr>
              <a:t> </a:t>
            </a:r>
            <a:r>
              <a:rPr sz="2120" dirty="0">
                <a:latin typeface="Comic Sans MS" panose="030F0702030302020204"/>
                <a:cs typeface="Comic Sans MS" panose="030F0702030302020204"/>
              </a:rPr>
              <a:t>K</a:t>
            </a:r>
            <a:endParaRPr sz="2120">
              <a:latin typeface="Comic Sans MS" panose="030F0702030302020204"/>
              <a:cs typeface="Comic Sans MS" panose="030F0702030302020204"/>
            </a:endParaRPr>
          </a:p>
        </p:txBody>
      </p:sp>
      <p:sp>
        <p:nvSpPr>
          <p:cNvPr id="6" name="object 6"/>
          <p:cNvSpPr txBox="1"/>
          <p:nvPr/>
        </p:nvSpPr>
        <p:spPr>
          <a:xfrm>
            <a:off x="876972" y="3009003"/>
            <a:ext cx="3954556" cy="1022939"/>
          </a:xfrm>
          <a:prstGeom prst="rect">
            <a:avLst/>
          </a:prstGeom>
        </p:spPr>
        <p:txBody>
          <a:bodyPr vert="horz" wrap="square" lIns="0" tIns="11206" rIns="0" bIns="0" rtlCol="0">
            <a:spAutoFit/>
          </a:bodyPr>
          <a:lstStyle/>
          <a:p>
            <a:pPr marL="313690" indent="-302260">
              <a:spcBef>
                <a:spcPts val="90"/>
              </a:spcBef>
              <a:buFont typeface="Wingdings" panose="05000000000000000000"/>
              <a:buChar char=""/>
              <a:tabLst>
                <a:tab pos="313055" algn="l"/>
                <a:tab pos="313690" algn="l"/>
                <a:tab pos="816610" algn="l"/>
              </a:tabLst>
            </a:pPr>
            <a:r>
              <a:rPr sz="2120" spc="-4" dirty="0">
                <a:latin typeface="Comic Sans MS" panose="030F0702030302020204"/>
                <a:cs typeface="Comic Sans MS" panose="030F0702030302020204"/>
              </a:rPr>
              <a:t>|f|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17</a:t>
            </a:r>
            <a:r>
              <a:rPr sz="2120" spc="-22" dirty="0">
                <a:latin typeface="Comic Sans MS" panose="030F0702030302020204"/>
                <a:cs typeface="Comic Sans MS" panose="030F0702030302020204"/>
              </a:rPr>
              <a:t>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a:p>
            <a:pPr>
              <a:spcBef>
                <a:spcPts val="45"/>
              </a:spcBef>
              <a:buFont typeface="Wingdings" panose="05000000000000000000"/>
              <a:buChar char=""/>
            </a:pPr>
            <a:endParaRPr sz="2340">
              <a:latin typeface="Comic Sans MS" panose="030F0702030302020204"/>
              <a:cs typeface="Comic Sans MS" panose="030F0702030302020204"/>
            </a:endParaRPr>
          </a:p>
          <a:p>
            <a:pPr marL="313690" indent="-302260">
              <a:buFont typeface="Wingdings" panose="05000000000000000000"/>
              <a:buChar char=""/>
              <a:tabLst>
                <a:tab pos="313055" algn="l"/>
                <a:tab pos="313690" algn="l"/>
              </a:tabLst>
            </a:pPr>
            <a:r>
              <a:rPr sz="2120" dirty="0">
                <a:latin typeface="Comic Sans MS" panose="030F0702030302020204"/>
                <a:cs typeface="Comic Sans MS" panose="030F0702030302020204"/>
              </a:rPr>
              <a:t>Physical </a:t>
            </a:r>
            <a:r>
              <a:rPr sz="2120" spc="-4" dirty="0">
                <a:latin typeface="Comic Sans MS" panose="030F0702030302020204"/>
                <a:cs typeface="Comic Sans MS" panose="030F0702030302020204"/>
              </a:rPr>
              <a:t>address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17+12</a:t>
            </a:r>
            <a:r>
              <a:rPr sz="2120" spc="-93" dirty="0">
                <a:latin typeface="Comic Sans MS" panose="030F0702030302020204"/>
                <a:cs typeface="Comic Sans MS" panose="030F0702030302020204"/>
              </a:rPr>
              <a:t> </a:t>
            </a:r>
            <a:r>
              <a:rPr sz="2120" spc="-4" dirty="0">
                <a:latin typeface="Comic Sans MS" panose="030F0702030302020204"/>
                <a:cs typeface="Comic Sans MS" panose="030F0702030302020204"/>
              </a:rPr>
              <a:t>bits</a:t>
            </a:r>
            <a:endParaRPr sz="2120">
              <a:latin typeface="Comic Sans MS" panose="030F0702030302020204"/>
              <a:cs typeface="Comic Sans MS" panose="030F07020303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5857614" cy="467359"/>
          </a:xfrm>
        </p:spPr>
        <p:txBody>
          <a:bodyPr/>
          <a:lstStyle/>
          <a:p>
            <a:r>
              <a:rPr lang="en-US" b="1" dirty="0"/>
              <a:t>Page Table Entries in Page Table</a:t>
            </a:r>
            <a:br>
              <a:rPr lang="en-US" b="1" dirty="0"/>
            </a:br>
            <a:endParaRPr lang="en-US" dirty="0"/>
          </a:p>
        </p:txBody>
      </p:sp>
      <p:sp>
        <p:nvSpPr>
          <p:cNvPr id="6" name="Text Placeholder 5"/>
          <p:cNvSpPr>
            <a:spLocks noGrp="1"/>
          </p:cNvSpPr>
          <p:nvPr>
            <p:ph type="body" idx="1"/>
          </p:nvPr>
        </p:nvSpPr>
        <p:spPr>
          <a:xfrm>
            <a:off x="304800" y="1447800"/>
            <a:ext cx="8476653" cy="4832092"/>
          </a:xfrm>
        </p:spPr>
        <p:txBody>
          <a:bodyPr/>
          <a:lstStyle/>
          <a:p>
            <a:pPr lvl="0" algn="l" rtl="0" eaLnBrk="0" fontAlgn="base" hangingPunct="0">
              <a:spcBef>
                <a:spcPct val="0"/>
              </a:spcBef>
              <a:spcAft>
                <a:spcPct val="0"/>
              </a:spcAft>
            </a:pPr>
            <a:endParaRPr lang="en-US" altLang="en-US" sz="2800" dirty="0">
              <a:latin typeface="Arial" panose="020B0604020202020204" pitchFamily="34" charset="0"/>
            </a:endParaRPr>
          </a:p>
          <a:p>
            <a:pPr lvl="0" algn="l" rtl="0" eaLnBrk="0" fontAlgn="base" hangingPunct="0">
              <a:spcBef>
                <a:spcPct val="0"/>
              </a:spcBef>
              <a:spcAft>
                <a:spcPct val="0"/>
              </a:spcAft>
            </a:pPr>
            <a:r>
              <a:rPr lang="en-US" altLang="en-US" b="1" dirty="0">
                <a:solidFill>
                  <a:srgbClr val="273239"/>
                </a:solidFill>
                <a:latin typeface="Nunito"/>
              </a:rPr>
              <a:t>Frame Number –</a:t>
            </a:r>
            <a:r>
              <a:rPr lang="en-US" altLang="en-US" dirty="0">
                <a:solidFill>
                  <a:srgbClr val="273239"/>
                </a:solidFill>
                <a:latin typeface="Nunito"/>
              </a:rPr>
              <a:t> It gives the frame number in which the current page you are looking for is present. </a:t>
            </a:r>
            <a:endParaRPr lang="en-US" altLang="en-US" dirty="0">
              <a:solidFill>
                <a:srgbClr val="273239"/>
              </a:solidFill>
              <a:latin typeface="Nunito"/>
            </a:endParaRPr>
          </a:p>
          <a:p>
            <a:pPr lvl="0" algn="l" rtl="0" eaLnBrk="0" fontAlgn="base" hangingPunct="0">
              <a:spcBef>
                <a:spcPct val="0"/>
              </a:spcBef>
              <a:spcAft>
                <a:spcPct val="0"/>
              </a:spcAft>
            </a:pPr>
            <a:r>
              <a:rPr lang="en-US" altLang="en-US" dirty="0">
                <a:solidFill>
                  <a:srgbClr val="273239"/>
                </a:solidFill>
                <a:latin typeface="Nunito"/>
              </a:rPr>
              <a:t>The number of bits required depends on the number of frames. Frame bit is also known as address translation bit.</a:t>
            </a:r>
            <a:endParaRPr lang="en-US" altLang="en-US" dirty="0">
              <a:solidFill>
                <a:srgbClr val="273239"/>
              </a:solidFill>
              <a:latin typeface="Nunito"/>
            </a:endParaRPr>
          </a:p>
          <a:p>
            <a:pPr lvl="0" algn="l" rtl="0" eaLnBrk="0" fontAlgn="base" hangingPunct="0">
              <a:spcBef>
                <a:spcPct val="0"/>
              </a:spcBef>
              <a:spcAft>
                <a:spcPct val="0"/>
              </a:spcAft>
            </a:pPr>
            <a:r>
              <a:rPr lang="en-US" altLang="en-US" dirty="0">
                <a:solidFill>
                  <a:srgbClr val="273239"/>
                </a:solidFill>
                <a:latin typeface="Consolas" panose="020B0609020204030204" pitchFamily="49" charset="0"/>
              </a:rPr>
              <a:t>Number of bits for frame = Size of physical memory/frame </a:t>
            </a:r>
            <a:r>
              <a:rPr lang="en-US" altLang="en-US" dirty="0" smtClean="0">
                <a:solidFill>
                  <a:srgbClr val="273239"/>
                </a:solidFill>
                <a:latin typeface="Consolas" panose="020B0609020204030204" pitchFamily="49" charset="0"/>
              </a:rPr>
              <a:t>size</a:t>
            </a:r>
            <a:endParaRPr lang="en-US" altLang="en-US" dirty="0" smtClean="0">
              <a:solidFill>
                <a:srgbClr val="273239"/>
              </a:solidFill>
              <a:latin typeface="Consolas" panose="020B0609020204030204" pitchFamily="49" charset="0"/>
            </a:endParaRPr>
          </a:p>
          <a:p>
            <a:pPr lvl="0" algn="l" rtl="0" eaLnBrk="0" fontAlgn="base" hangingPunct="0">
              <a:spcBef>
                <a:spcPct val="0"/>
              </a:spcBef>
              <a:spcAft>
                <a:spcPct val="0"/>
              </a:spcAft>
            </a:pPr>
            <a:endParaRPr lang="en-US" altLang="en-US" sz="800" dirty="0">
              <a:solidFill>
                <a:srgbClr val="273239"/>
              </a:solidFill>
              <a:latin typeface="Consolas" panose="020B0609020204030204" pitchFamily="49" charset="0"/>
            </a:endParaRPr>
          </a:p>
          <a:p>
            <a:pPr lvl="0" algn="l" rtl="0" eaLnBrk="0" fontAlgn="base" hangingPunct="0">
              <a:spcBef>
                <a:spcPct val="0"/>
              </a:spcBef>
              <a:spcAft>
                <a:spcPct val="0"/>
              </a:spcAft>
            </a:pPr>
            <a:r>
              <a:rPr lang="en-US" altLang="en-US" b="1" dirty="0" smtClean="0">
                <a:solidFill>
                  <a:srgbClr val="273239"/>
                </a:solidFill>
                <a:latin typeface="Nunito"/>
              </a:rPr>
              <a:t>Other Optional bits </a:t>
            </a:r>
            <a:endParaRPr lang="en-US" altLang="en-US" b="1" dirty="0" smtClean="0">
              <a:solidFill>
                <a:srgbClr val="273239"/>
              </a:solidFill>
              <a:latin typeface="Nunito"/>
            </a:endParaRPr>
          </a:p>
          <a:p>
            <a:pPr lvl="0" algn="l" rtl="0" eaLnBrk="0" fontAlgn="base" hangingPunct="0">
              <a:spcBef>
                <a:spcPct val="0"/>
              </a:spcBef>
              <a:spcAft>
                <a:spcPct val="0"/>
              </a:spcAft>
            </a:pPr>
            <a:r>
              <a:rPr lang="en-US" altLang="en-US" b="1" dirty="0" smtClean="0">
                <a:solidFill>
                  <a:srgbClr val="273239"/>
                </a:solidFill>
                <a:latin typeface="Nunito"/>
              </a:rPr>
              <a:t>1.Present/Absent </a:t>
            </a:r>
            <a:r>
              <a:rPr lang="en-US" altLang="en-US" b="1" dirty="0">
                <a:solidFill>
                  <a:srgbClr val="273239"/>
                </a:solidFill>
                <a:latin typeface="Nunito"/>
              </a:rPr>
              <a:t>bit –</a:t>
            </a:r>
            <a:r>
              <a:rPr lang="en-US" altLang="en-US" dirty="0">
                <a:solidFill>
                  <a:srgbClr val="273239"/>
                </a:solidFill>
                <a:latin typeface="Nunito"/>
              </a:rPr>
              <a:t> Present or absent bit says whether a particular page you are looking for is present or absent. </a:t>
            </a:r>
            <a:r>
              <a:rPr lang="en-US" altLang="en-US" dirty="0" smtClean="0">
                <a:solidFill>
                  <a:srgbClr val="273239"/>
                </a:solidFill>
                <a:latin typeface="Nunito"/>
              </a:rPr>
              <a:t>In </a:t>
            </a:r>
            <a:r>
              <a:rPr lang="en-US" altLang="en-US" dirty="0">
                <a:solidFill>
                  <a:srgbClr val="273239"/>
                </a:solidFill>
                <a:latin typeface="Nunito"/>
              </a:rPr>
              <a:t>case if it is not present, that is called Page Fault. It is set to 0 if the corresponding page is not in memory. </a:t>
            </a:r>
            <a:r>
              <a:rPr lang="en-US" altLang="en-US" dirty="0" smtClean="0">
                <a:solidFill>
                  <a:srgbClr val="273239"/>
                </a:solidFill>
                <a:latin typeface="Nunito"/>
              </a:rPr>
              <a:t> Used </a:t>
            </a:r>
            <a:r>
              <a:rPr lang="en-US" altLang="en-US" dirty="0">
                <a:solidFill>
                  <a:srgbClr val="273239"/>
                </a:solidFill>
                <a:latin typeface="Nunito"/>
              </a:rPr>
              <a:t>to control page fault by the operating system to support virtual memory. Sometimes this bit is also known as </a:t>
            </a:r>
            <a:r>
              <a:rPr lang="en-US" altLang="en-US" b="1" dirty="0">
                <a:solidFill>
                  <a:srgbClr val="273239"/>
                </a:solidFill>
                <a:latin typeface="Nunito"/>
              </a:rPr>
              <a:t>valid/invalid</a:t>
            </a:r>
            <a:r>
              <a:rPr lang="en-US" altLang="en-US" dirty="0">
                <a:solidFill>
                  <a:srgbClr val="273239"/>
                </a:solidFill>
                <a:latin typeface="Nunito"/>
              </a:rPr>
              <a:t> bits.</a:t>
            </a:r>
            <a:endParaRPr lang="en-US" altLang="en-US" dirty="0">
              <a:solidFill>
                <a:srgbClr val="273239"/>
              </a:solidFill>
              <a:latin typeface="Nunito"/>
            </a:endParaRPr>
          </a:p>
          <a:p>
            <a:pPr lvl="0" algn="l" rtl="0" eaLnBrk="0" fontAlgn="base" hangingPunct="0">
              <a:spcBef>
                <a:spcPct val="0"/>
              </a:spcBef>
              <a:spcAft>
                <a:spcPct val="0"/>
              </a:spcAft>
              <a:buFontTx/>
              <a:buAutoNum type="arabicPeriod" startAt="2"/>
            </a:pPr>
            <a:r>
              <a:rPr lang="en-US" altLang="en-US" b="1" dirty="0">
                <a:solidFill>
                  <a:srgbClr val="273239"/>
                </a:solidFill>
                <a:latin typeface="Nunito"/>
              </a:rPr>
              <a:t>Protection bit –</a:t>
            </a:r>
            <a:r>
              <a:rPr lang="en-US" altLang="en-US" dirty="0">
                <a:solidFill>
                  <a:srgbClr val="273239"/>
                </a:solidFill>
                <a:latin typeface="Nunito"/>
              </a:rPr>
              <a:t> Protection bit says that what kind of protection you want on that page. So, these bit for the protection of the page frame (read, write </a:t>
            </a:r>
            <a:r>
              <a:rPr lang="en-US" altLang="en-US" dirty="0" err="1">
                <a:solidFill>
                  <a:srgbClr val="273239"/>
                </a:solidFill>
                <a:latin typeface="Nunito"/>
              </a:rPr>
              <a:t>etc</a:t>
            </a:r>
            <a:r>
              <a:rPr lang="en-US" altLang="en-US" dirty="0">
                <a:solidFill>
                  <a:srgbClr val="273239"/>
                </a:solidFill>
                <a:latin typeface="Nunito"/>
              </a:rPr>
              <a:t>).</a:t>
            </a:r>
            <a:endParaRPr lang="en-US" altLang="en-US" dirty="0">
              <a:solidFill>
                <a:srgbClr val="273239"/>
              </a:solidFill>
              <a:latin typeface="Nunito"/>
            </a:endParaRPr>
          </a:p>
          <a:p>
            <a:pPr lvl="0" algn="l" rtl="0" eaLnBrk="0" fontAlgn="base" hangingPunct="0">
              <a:spcBef>
                <a:spcPct val="0"/>
              </a:spcBef>
              <a:spcAft>
                <a:spcPct val="0"/>
              </a:spcAft>
              <a:buFontTx/>
              <a:buAutoNum type="arabicPeriod" startAt="3"/>
            </a:pPr>
            <a:r>
              <a:rPr lang="en-US" altLang="en-US" b="1" dirty="0">
                <a:solidFill>
                  <a:srgbClr val="273239"/>
                </a:solidFill>
                <a:latin typeface="Nunito"/>
              </a:rPr>
              <a:t>Referenced bit –</a:t>
            </a:r>
            <a:r>
              <a:rPr lang="en-US" altLang="en-US" dirty="0">
                <a:solidFill>
                  <a:srgbClr val="273239"/>
                </a:solidFill>
                <a:latin typeface="Nunito"/>
              </a:rPr>
              <a:t> Referenced bit will say whether this page has been referred in the last clock cycle or not. It is set to 1 by hardware when the page is accessed</a:t>
            </a:r>
            <a:r>
              <a:rPr lang="en-US" altLang="en-US" dirty="0" smtClean="0">
                <a:solidFill>
                  <a:srgbClr val="273239"/>
                </a:solidFill>
                <a:latin typeface="Nunito"/>
              </a:rPr>
              <a: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6477000" cy="1785104"/>
          </a:xfrm>
        </p:spPr>
        <p:txBody>
          <a:bodyPr/>
          <a:lstStyle/>
          <a:p>
            <a:r>
              <a:rPr lang="en-US" b="1" dirty="0"/>
              <a:t>Page Table Entries in Page Table</a:t>
            </a:r>
            <a:br>
              <a:rPr lang="en-US" b="1" dirty="0"/>
            </a:br>
            <a:endParaRPr lang="en-US" dirty="0"/>
          </a:p>
        </p:txBody>
      </p:sp>
      <p:sp>
        <p:nvSpPr>
          <p:cNvPr id="3" name="Text Placeholder 2"/>
          <p:cNvSpPr>
            <a:spLocks noGrp="1"/>
          </p:cNvSpPr>
          <p:nvPr>
            <p:ph type="body" idx="1"/>
          </p:nvPr>
        </p:nvSpPr>
        <p:spPr>
          <a:xfrm>
            <a:off x="304800" y="1052961"/>
            <a:ext cx="8476653" cy="2683485"/>
          </a:xfrm>
        </p:spPr>
        <p:txBody>
          <a:bodyPr/>
          <a:lstStyle/>
          <a:p>
            <a:pPr lvl="0" algn="l" rtl="0" eaLnBrk="0" fontAlgn="base" hangingPunct="0">
              <a:spcBef>
                <a:spcPct val="0"/>
              </a:spcBef>
              <a:spcAft>
                <a:spcPct val="0"/>
              </a:spcAft>
              <a:buFontTx/>
              <a:buAutoNum type="arabicPeriod" startAt="3"/>
            </a:pPr>
            <a:endParaRPr lang="en-US" altLang="en-US" dirty="0">
              <a:solidFill>
                <a:srgbClr val="273239"/>
              </a:solidFill>
              <a:latin typeface="Nunito"/>
            </a:endParaRPr>
          </a:p>
          <a:p>
            <a:pPr lvl="0" algn="l" rtl="0" eaLnBrk="0" fontAlgn="base" hangingPunct="0">
              <a:spcBef>
                <a:spcPct val="0"/>
              </a:spcBef>
              <a:spcAft>
                <a:spcPct val="0"/>
              </a:spcAft>
              <a:buFontTx/>
              <a:buAutoNum type="arabicPeriod" startAt="4"/>
            </a:pPr>
            <a:r>
              <a:rPr lang="en-US" altLang="en-US" b="1" dirty="0">
                <a:solidFill>
                  <a:srgbClr val="273239"/>
                </a:solidFill>
                <a:latin typeface="Nunito"/>
              </a:rPr>
              <a:t>Caching enabled/disabled –</a:t>
            </a:r>
            <a:r>
              <a:rPr lang="en-US" altLang="en-US" dirty="0">
                <a:solidFill>
                  <a:srgbClr val="273239"/>
                </a:solidFill>
                <a:latin typeface="Nunito"/>
              </a:rPr>
              <a:t> Some times we need the fresh data. </a:t>
            </a:r>
            <a:endParaRPr lang="en-US" altLang="en-US" dirty="0">
              <a:solidFill>
                <a:srgbClr val="273239"/>
              </a:solidFill>
              <a:latin typeface="Nunito"/>
            </a:endParaRPr>
          </a:p>
          <a:p>
            <a:pPr lvl="0" algn="l" rtl="0" eaLnBrk="0" fontAlgn="base" hangingPunct="0">
              <a:spcBef>
                <a:spcPct val="0"/>
              </a:spcBef>
              <a:spcAft>
                <a:spcPct val="0"/>
              </a:spcAft>
            </a:pPr>
            <a:r>
              <a:rPr lang="en-US" altLang="en-US" dirty="0" smtClean="0">
                <a:solidFill>
                  <a:srgbClr val="273239"/>
                </a:solidFill>
                <a:latin typeface="Nunito"/>
              </a:rPr>
              <a:t>this </a:t>
            </a:r>
            <a:r>
              <a:rPr lang="en-US" altLang="en-US" dirty="0">
                <a:solidFill>
                  <a:srgbClr val="273239"/>
                </a:solidFill>
                <a:latin typeface="Nunito"/>
              </a:rPr>
              <a:t>bit </a:t>
            </a:r>
            <a:r>
              <a:rPr lang="en-US" altLang="en-US" b="1" dirty="0">
                <a:solidFill>
                  <a:srgbClr val="273239"/>
                </a:solidFill>
                <a:latin typeface="Nunito"/>
              </a:rPr>
              <a:t>enables or disable</a:t>
            </a:r>
            <a:r>
              <a:rPr lang="en-US" altLang="en-US" dirty="0">
                <a:solidFill>
                  <a:srgbClr val="273239"/>
                </a:solidFill>
                <a:latin typeface="Nunito"/>
              </a:rPr>
              <a:t> caching of the page.</a:t>
            </a:r>
            <a:endParaRPr lang="en-US" altLang="en-US" dirty="0">
              <a:solidFill>
                <a:srgbClr val="273239"/>
              </a:solidFill>
              <a:latin typeface="Nunito"/>
            </a:endParaRPr>
          </a:p>
          <a:p>
            <a:pPr lvl="0" algn="l" rtl="0" eaLnBrk="0" fontAlgn="base" hangingPunct="0">
              <a:spcBef>
                <a:spcPct val="0"/>
              </a:spcBef>
              <a:spcAft>
                <a:spcPct val="0"/>
              </a:spcAft>
              <a:buFontTx/>
              <a:buAutoNum type="arabicPeriod" startAt="5"/>
            </a:pPr>
            <a:r>
              <a:rPr lang="en-US" altLang="en-US" b="1" dirty="0">
                <a:solidFill>
                  <a:srgbClr val="273239"/>
                </a:solidFill>
                <a:latin typeface="Nunito"/>
              </a:rPr>
              <a:t>Modified bit –</a:t>
            </a:r>
            <a:r>
              <a:rPr lang="en-US" altLang="en-US" dirty="0">
                <a:solidFill>
                  <a:srgbClr val="273239"/>
                </a:solidFill>
                <a:latin typeface="Nunito"/>
              </a:rPr>
              <a:t> Modified bit says whether the page has been modified or not. Modified means sometimes you might try to write something on to the page. If a page is modified, then whenever you should replace that page with some other page, then the modified information should be kept on the hard disk or it has to be written back or it has to be saved back. It is set to 1 by hardware on write-access to page which is used to avoid writing when swapped out. Sometimes this modified bit is also called as the </a:t>
            </a:r>
            <a:r>
              <a:rPr lang="en-US" altLang="en-US" b="1" dirty="0">
                <a:solidFill>
                  <a:srgbClr val="273239"/>
                </a:solidFill>
                <a:latin typeface="Nunito"/>
              </a:rPr>
              <a:t>Dirty bit</a:t>
            </a:r>
            <a:r>
              <a:rPr lang="en-US" altLang="en-US" dirty="0">
                <a:solidFill>
                  <a:srgbClr val="273239"/>
                </a:solidFill>
                <a:latin typeface="Nunito"/>
              </a:rPr>
              <a:t>.</a:t>
            </a:r>
            <a:endParaRPr lang="en-US" altLang="en-US" dirty="0">
              <a:solidFill>
                <a:srgbClr val="273239"/>
              </a:solidFill>
              <a:latin typeface="Nunito"/>
            </a:endParaRPr>
          </a:p>
          <a:p>
            <a:pPr lvl="0" algn="l" rtl="0" eaLnBrk="0" fontAlgn="base" hangingPunct="0">
              <a:spcBef>
                <a:spcPct val="0"/>
              </a:spcBef>
              <a:spcAft>
                <a:spcPct val="0"/>
              </a:spcAft>
            </a:pPr>
            <a:endParaRPr lang="en-US" altLang="en-US" sz="2800" dirty="0">
              <a:latin typeface="Arial" panose="020B0604020202020204" pitchFamily="34" charset="0"/>
            </a:endParaRPr>
          </a:p>
          <a:p>
            <a:endParaRPr lang="en-US" dirty="0"/>
          </a:p>
          <a:p>
            <a:endParaRPr lang="en-US" dirty="0"/>
          </a:p>
        </p:txBody>
      </p:sp>
      <p:pic>
        <p:nvPicPr>
          <p:cNvPr id="2050" name="Picture 2" descr="https://media.geeksforgeeks.org/wp-content/uploads/Capture-24.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7457" y="4179807"/>
            <a:ext cx="8460087" cy="25752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5725" y="240195"/>
            <a:ext cx="4879975" cy="467359"/>
          </a:xfrm>
          <a:prstGeom prst="rect">
            <a:avLst/>
          </a:prstGeom>
        </p:spPr>
        <p:txBody>
          <a:bodyPr vert="horz" wrap="square" lIns="0" tIns="12700" rIns="0" bIns="0" rtlCol="0">
            <a:spAutoFit/>
          </a:bodyPr>
          <a:lstStyle/>
          <a:p>
            <a:pPr marL="12700">
              <a:lnSpc>
                <a:spcPct val="100000"/>
              </a:lnSpc>
              <a:spcBef>
                <a:spcPts val="100"/>
              </a:spcBef>
            </a:pPr>
            <a:r>
              <a:rPr spc="-20" dirty="0"/>
              <a:t>Implementation </a:t>
            </a:r>
            <a:r>
              <a:rPr spc="-10" dirty="0"/>
              <a:t>of </a:t>
            </a:r>
            <a:r>
              <a:rPr spc="-20" dirty="0"/>
              <a:t>Page</a:t>
            </a:r>
            <a:r>
              <a:rPr spc="130" dirty="0"/>
              <a:t> </a:t>
            </a:r>
            <a:r>
              <a:rPr spc="-70" dirty="0"/>
              <a:t>Table</a:t>
            </a:r>
            <a:endParaRPr spc="-70" dirty="0"/>
          </a:p>
        </p:txBody>
      </p:sp>
      <p:sp>
        <p:nvSpPr>
          <p:cNvPr id="3" name="object 3"/>
          <p:cNvSpPr txBox="1"/>
          <p:nvPr/>
        </p:nvSpPr>
        <p:spPr>
          <a:xfrm>
            <a:off x="264721" y="1087755"/>
            <a:ext cx="8260080" cy="4358640"/>
          </a:xfrm>
          <a:prstGeom prst="rect">
            <a:avLst/>
          </a:prstGeom>
        </p:spPr>
        <p:txBody>
          <a:bodyPr vert="horz" wrap="square" lIns="0" tIns="91440" rIns="0" bIns="0" rtlCol="0">
            <a:spAutoFit/>
          </a:bodyPr>
          <a:lstStyle/>
          <a:p>
            <a:pPr marL="355600" indent="-342900">
              <a:lnSpc>
                <a:spcPct val="100000"/>
              </a:lnSpc>
              <a:spcBef>
                <a:spcPts val="720"/>
              </a:spcBef>
              <a:buChar char="•"/>
              <a:tabLst>
                <a:tab pos="354965" algn="l"/>
                <a:tab pos="355600" algn="l"/>
              </a:tabLst>
            </a:pPr>
            <a:r>
              <a:rPr sz="2400" spc="-20" dirty="0">
                <a:latin typeface="Arial" panose="020B0604020202020204"/>
                <a:cs typeface="Arial" panose="020B0604020202020204"/>
              </a:rPr>
              <a:t>Page </a:t>
            </a:r>
            <a:r>
              <a:rPr sz="2400" spc="-15" dirty="0">
                <a:latin typeface="Arial" panose="020B0604020202020204"/>
                <a:cs typeface="Arial" panose="020B0604020202020204"/>
              </a:rPr>
              <a:t>table </a:t>
            </a:r>
            <a:r>
              <a:rPr sz="2400" spc="-20" dirty="0">
                <a:latin typeface="Arial" panose="020B0604020202020204"/>
                <a:cs typeface="Arial" panose="020B0604020202020204"/>
              </a:rPr>
              <a:t>is kept in main</a:t>
            </a:r>
            <a:r>
              <a:rPr sz="2400" spc="459" dirty="0">
                <a:latin typeface="Arial" panose="020B0604020202020204"/>
                <a:cs typeface="Arial" panose="020B0604020202020204"/>
              </a:rPr>
              <a:t> </a:t>
            </a:r>
            <a:r>
              <a:rPr sz="2400" spc="-15" dirty="0">
                <a:latin typeface="Arial" panose="020B0604020202020204"/>
                <a:cs typeface="Arial" panose="020B0604020202020204"/>
              </a:rPr>
              <a:t>memory</a:t>
            </a:r>
            <a:endParaRPr sz="2400">
              <a:latin typeface="Arial" panose="020B0604020202020204"/>
              <a:cs typeface="Arial" panose="020B0604020202020204"/>
            </a:endParaRPr>
          </a:p>
          <a:p>
            <a:pPr marL="355600" indent="-342900">
              <a:lnSpc>
                <a:spcPct val="100000"/>
              </a:lnSpc>
              <a:spcBef>
                <a:spcPts val="620"/>
              </a:spcBef>
              <a:buFont typeface="Arial" panose="020B0604020202020204"/>
              <a:buChar char="•"/>
              <a:tabLst>
                <a:tab pos="354965" algn="l"/>
                <a:tab pos="355600" algn="l"/>
              </a:tabLst>
            </a:pPr>
            <a:r>
              <a:rPr sz="2400" b="1" spc="-5" dirty="0">
                <a:solidFill>
                  <a:srgbClr val="3366FF"/>
                </a:solidFill>
                <a:latin typeface="Arial" panose="020B0604020202020204"/>
                <a:cs typeface="Arial" panose="020B0604020202020204"/>
              </a:rPr>
              <a:t>Page-table </a:t>
            </a:r>
            <a:r>
              <a:rPr sz="2400" b="1" spc="-15" dirty="0">
                <a:solidFill>
                  <a:srgbClr val="3366FF"/>
                </a:solidFill>
                <a:latin typeface="Arial" panose="020B0604020202020204"/>
                <a:cs typeface="Arial" panose="020B0604020202020204"/>
              </a:rPr>
              <a:t>base register </a:t>
            </a:r>
            <a:r>
              <a:rPr sz="2400" spc="-10" dirty="0">
                <a:latin typeface="Arial" panose="020B0604020202020204"/>
                <a:cs typeface="Arial" panose="020B0604020202020204"/>
              </a:rPr>
              <a:t>(</a:t>
            </a:r>
            <a:r>
              <a:rPr sz="2400" b="1" spc="-10" dirty="0">
                <a:solidFill>
                  <a:srgbClr val="3366FF"/>
                </a:solidFill>
                <a:latin typeface="Arial" panose="020B0604020202020204"/>
                <a:cs typeface="Arial" panose="020B0604020202020204"/>
              </a:rPr>
              <a:t>PTBR</a:t>
            </a:r>
            <a:r>
              <a:rPr sz="2400" spc="-10" dirty="0">
                <a:latin typeface="Arial" panose="020B0604020202020204"/>
                <a:cs typeface="Arial" panose="020B0604020202020204"/>
              </a:rPr>
              <a:t>) </a:t>
            </a:r>
            <a:r>
              <a:rPr sz="2400" spc="-20" dirty="0">
                <a:latin typeface="Arial" panose="020B0604020202020204"/>
                <a:cs typeface="Arial" panose="020B0604020202020204"/>
              </a:rPr>
              <a:t>points </a:t>
            </a:r>
            <a:r>
              <a:rPr sz="2400" spc="15" dirty="0">
                <a:latin typeface="Arial" panose="020B0604020202020204"/>
                <a:cs typeface="Arial" panose="020B0604020202020204"/>
              </a:rPr>
              <a:t>to </a:t>
            </a:r>
            <a:r>
              <a:rPr sz="2400" spc="-5" dirty="0">
                <a:latin typeface="Arial" panose="020B0604020202020204"/>
                <a:cs typeface="Arial" panose="020B0604020202020204"/>
              </a:rPr>
              <a:t>the </a:t>
            </a:r>
            <a:r>
              <a:rPr sz="2400" spc="-30" dirty="0">
                <a:latin typeface="Arial" panose="020B0604020202020204"/>
                <a:cs typeface="Arial" panose="020B0604020202020204"/>
              </a:rPr>
              <a:t>page</a:t>
            </a:r>
            <a:r>
              <a:rPr sz="2400" spc="400" dirty="0">
                <a:latin typeface="Arial" panose="020B0604020202020204"/>
                <a:cs typeface="Arial" panose="020B0604020202020204"/>
              </a:rPr>
              <a:t> </a:t>
            </a:r>
            <a:r>
              <a:rPr sz="2400" spc="-15" dirty="0">
                <a:latin typeface="Arial" panose="020B0604020202020204"/>
                <a:cs typeface="Arial" panose="020B0604020202020204"/>
              </a:rPr>
              <a:t>table</a:t>
            </a:r>
            <a:endParaRPr sz="2400">
              <a:latin typeface="Arial" panose="020B0604020202020204"/>
              <a:cs typeface="Arial" panose="020B0604020202020204"/>
            </a:endParaRPr>
          </a:p>
          <a:p>
            <a:pPr marL="355600" marR="309245" indent="-342900">
              <a:lnSpc>
                <a:spcPct val="101000"/>
              </a:lnSpc>
              <a:spcBef>
                <a:spcPts val="500"/>
              </a:spcBef>
              <a:buFont typeface="Arial" panose="020B0604020202020204"/>
              <a:buChar char="•"/>
              <a:tabLst>
                <a:tab pos="354965" algn="l"/>
                <a:tab pos="355600" algn="l"/>
              </a:tabLst>
            </a:pPr>
            <a:r>
              <a:rPr sz="2400" b="1" spc="-5" dirty="0">
                <a:solidFill>
                  <a:srgbClr val="3366FF"/>
                </a:solidFill>
                <a:latin typeface="Arial" panose="020B0604020202020204"/>
                <a:cs typeface="Arial" panose="020B0604020202020204"/>
              </a:rPr>
              <a:t>Page-table </a:t>
            </a:r>
            <a:r>
              <a:rPr sz="2400" b="1" spc="5" dirty="0">
                <a:solidFill>
                  <a:srgbClr val="3366FF"/>
                </a:solidFill>
                <a:latin typeface="Arial" panose="020B0604020202020204"/>
                <a:cs typeface="Arial" panose="020B0604020202020204"/>
              </a:rPr>
              <a:t>length </a:t>
            </a:r>
            <a:r>
              <a:rPr sz="2400" b="1" spc="-15" dirty="0">
                <a:solidFill>
                  <a:srgbClr val="3366FF"/>
                </a:solidFill>
                <a:latin typeface="Arial" panose="020B0604020202020204"/>
                <a:cs typeface="Arial" panose="020B0604020202020204"/>
              </a:rPr>
              <a:t>register </a:t>
            </a:r>
            <a:r>
              <a:rPr sz="2400" dirty="0">
                <a:latin typeface="Arial" panose="020B0604020202020204"/>
                <a:cs typeface="Arial" panose="020B0604020202020204"/>
              </a:rPr>
              <a:t>(</a:t>
            </a:r>
            <a:r>
              <a:rPr sz="2400" b="1" dirty="0">
                <a:solidFill>
                  <a:srgbClr val="3366FF"/>
                </a:solidFill>
                <a:latin typeface="Arial" panose="020B0604020202020204"/>
                <a:cs typeface="Arial" panose="020B0604020202020204"/>
              </a:rPr>
              <a:t>PTLR</a:t>
            </a:r>
            <a:r>
              <a:rPr sz="2400" dirty="0">
                <a:latin typeface="Arial" panose="020B0604020202020204"/>
                <a:cs typeface="Arial" panose="020B0604020202020204"/>
              </a:rPr>
              <a:t>) </a:t>
            </a:r>
            <a:r>
              <a:rPr sz="2400" spc="-20" dirty="0">
                <a:latin typeface="Arial" panose="020B0604020202020204"/>
                <a:cs typeface="Arial" panose="020B0604020202020204"/>
              </a:rPr>
              <a:t>indicates </a:t>
            </a:r>
            <a:r>
              <a:rPr sz="2400" spc="-10" dirty="0">
                <a:latin typeface="Arial" panose="020B0604020202020204"/>
                <a:cs typeface="Arial" panose="020B0604020202020204"/>
              </a:rPr>
              <a:t>size </a:t>
            </a:r>
            <a:r>
              <a:rPr sz="2400" spc="-20" dirty="0">
                <a:latin typeface="Arial" panose="020B0604020202020204"/>
                <a:cs typeface="Arial" panose="020B0604020202020204"/>
              </a:rPr>
              <a:t>of </a:t>
            </a:r>
            <a:r>
              <a:rPr sz="2400" spc="-5" dirty="0">
                <a:latin typeface="Arial" panose="020B0604020202020204"/>
                <a:cs typeface="Arial" panose="020B0604020202020204"/>
              </a:rPr>
              <a:t>the  </a:t>
            </a:r>
            <a:r>
              <a:rPr sz="2400" spc="-30" dirty="0">
                <a:latin typeface="Arial" panose="020B0604020202020204"/>
                <a:cs typeface="Arial" panose="020B0604020202020204"/>
              </a:rPr>
              <a:t>page</a:t>
            </a:r>
            <a:r>
              <a:rPr sz="2400" spc="90" dirty="0">
                <a:latin typeface="Arial" panose="020B0604020202020204"/>
                <a:cs typeface="Arial" panose="020B0604020202020204"/>
              </a:rPr>
              <a:t> </a:t>
            </a:r>
            <a:r>
              <a:rPr sz="2400" spc="-15" dirty="0">
                <a:latin typeface="Arial" panose="020B0604020202020204"/>
                <a:cs typeface="Arial" panose="020B0604020202020204"/>
              </a:rPr>
              <a:t>table</a:t>
            </a:r>
            <a:endParaRPr sz="2400">
              <a:latin typeface="Arial" panose="020B0604020202020204"/>
              <a:cs typeface="Arial" panose="020B0604020202020204"/>
            </a:endParaRPr>
          </a:p>
          <a:p>
            <a:pPr marL="355600" marR="169545" indent="-342900">
              <a:lnSpc>
                <a:spcPct val="101000"/>
              </a:lnSpc>
              <a:spcBef>
                <a:spcPts val="600"/>
              </a:spcBef>
              <a:buChar char="•"/>
              <a:tabLst>
                <a:tab pos="354965" algn="l"/>
                <a:tab pos="355600" algn="l"/>
              </a:tabLst>
            </a:pPr>
            <a:r>
              <a:rPr sz="2400" spc="15" dirty="0">
                <a:latin typeface="Arial" panose="020B0604020202020204"/>
                <a:cs typeface="Arial" panose="020B0604020202020204"/>
              </a:rPr>
              <a:t>In </a:t>
            </a:r>
            <a:r>
              <a:rPr sz="2400" spc="-10" dirty="0">
                <a:latin typeface="Arial" panose="020B0604020202020204"/>
                <a:cs typeface="Arial" panose="020B0604020202020204"/>
              </a:rPr>
              <a:t>this </a:t>
            </a:r>
            <a:r>
              <a:rPr sz="2400" spc="-15" dirty="0">
                <a:latin typeface="Arial" panose="020B0604020202020204"/>
                <a:cs typeface="Arial" panose="020B0604020202020204"/>
              </a:rPr>
              <a:t>scheme every </a:t>
            </a:r>
            <a:r>
              <a:rPr sz="2400" spc="-10" dirty="0">
                <a:latin typeface="Arial" panose="020B0604020202020204"/>
                <a:cs typeface="Arial" panose="020B0604020202020204"/>
              </a:rPr>
              <a:t>data/instruction </a:t>
            </a:r>
            <a:r>
              <a:rPr sz="2400" spc="-15" dirty="0">
                <a:latin typeface="Arial" panose="020B0604020202020204"/>
                <a:cs typeface="Arial" panose="020B0604020202020204"/>
              </a:rPr>
              <a:t>access </a:t>
            </a:r>
            <a:r>
              <a:rPr sz="2400" spc="-25" dirty="0">
                <a:latin typeface="Arial" panose="020B0604020202020204"/>
                <a:cs typeface="Arial" panose="020B0604020202020204"/>
              </a:rPr>
              <a:t>requires </a:t>
            </a:r>
            <a:r>
              <a:rPr sz="2400" spc="-5" dirty="0">
                <a:latin typeface="Arial" panose="020B0604020202020204"/>
                <a:cs typeface="Arial" panose="020B0604020202020204"/>
              </a:rPr>
              <a:t>two  </a:t>
            </a:r>
            <a:r>
              <a:rPr sz="2400" spc="-15" dirty="0">
                <a:latin typeface="Arial" panose="020B0604020202020204"/>
                <a:cs typeface="Arial" panose="020B0604020202020204"/>
              </a:rPr>
              <a:t>memory</a:t>
            </a:r>
            <a:r>
              <a:rPr sz="2400" spc="25" dirty="0">
                <a:latin typeface="Arial" panose="020B0604020202020204"/>
                <a:cs typeface="Arial" panose="020B0604020202020204"/>
              </a:rPr>
              <a:t> </a:t>
            </a:r>
            <a:r>
              <a:rPr sz="2400" spc="-15" dirty="0">
                <a:latin typeface="Arial" panose="020B0604020202020204"/>
                <a:cs typeface="Arial" panose="020B0604020202020204"/>
              </a:rPr>
              <a:t>accesses</a:t>
            </a:r>
            <a:endParaRPr sz="2400">
              <a:latin typeface="Arial" panose="020B0604020202020204"/>
              <a:cs typeface="Arial" panose="020B0604020202020204"/>
            </a:endParaRPr>
          </a:p>
          <a:p>
            <a:pPr marL="762000" lvl="1" indent="-292100">
              <a:lnSpc>
                <a:spcPct val="100000"/>
              </a:lnSpc>
              <a:spcBef>
                <a:spcPts val="420"/>
              </a:spcBef>
              <a:buChar char="–"/>
              <a:tabLst>
                <a:tab pos="761365" algn="l"/>
                <a:tab pos="762000" algn="l"/>
              </a:tabLst>
            </a:pPr>
            <a:r>
              <a:rPr sz="2000" spc="5" dirty="0">
                <a:latin typeface="Arial" panose="020B0604020202020204"/>
                <a:cs typeface="Arial" panose="020B0604020202020204"/>
              </a:rPr>
              <a:t>One for the </a:t>
            </a:r>
            <a:r>
              <a:rPr sz="2000" spc="-15" dirty="0">
                <a:latin typeface="Arial" panose="020B0604020202020204"/>
                <a:cs typeface="Arial" panose="020B0604020202020204"/>
              </a:rPr>
              <a:t>page </a:t>
            </a:r>
            <a:r>
              <a:rPr sz="2000" spc="-10" dirty="0">
                <a:latin typeface="Arial" panose="020B0604020202020204"/>
                <a:cs typeface="Arial" panose="020B0604020202020204"/>
              </a:rPr>
              <a:t>table and one </a:t>
            </a:r>
            <a:r>
              <a:rPr sz="2000" spc="5" dirty="0">
                <a:latin typeface="Arial" panose="020B0604020202020204"/>
                <a:cs typeface="Arial" panose="020B0604020202020204"/>
              </a:rPr>
              <a:t>for the </a:t>
            </a:r>
            <a:r>
              <a:rPr sz="2000" dirty="0">
                <a:latin typeface="Arial" panose="020B0604020202020204"/>
                <a:cs typeface="Arial" panose="020B0604020202020204"/>
              </a:rPr>
              <a:t>data /</a:t>
            </a:r>
            <a:r>
              <a:rPr sz="2000" spc="-200" dirty="0">
                <a:latin typeface="Arial" panose="020B0604020202020204"/>
                <a:cs typeface="Arial" panose="020B0604020202020204"/>
              </a:rPr>
              <a:t> </a:t>
            </a:r>
            <a:r>
              <a:rPr sz="2000" spc="-5" dirty="0">
                <a:latin typeface="Arial" panose="020B0604020202020204"/>
                <a:cs typeface="Arial" panose="020B0604020202020204"/>
              </a:rPr>
              <a:t>instruction</a:t>
            </a:r>
            <a:endParaRPr sz="2000">
              <a:latin typeface="Arial" panose="020B0604020202020204"/>
              <a:cs typeface="Arial" panose="020B0604020202020204"/>
            </a:endParaRPr>
          </a:p>
          <a:p>
            <a:pPr marL="355600" indent="-342900">
              <a:lnSpc>
                <a:spcPct val="100000"/>
              </a:lnSpc>
              <a:spcBef>
                <a:spcPts val="600"/>
              </a:spcBef>
              <a:buChar char="•"/>
              <a:tabLst>
                <a:tab pos="354965" algn="l"/>
                <a:tab pos="355600" algn="l"/>
              </a:tabLst>
            </a:pPr>
            <a:r>
              <a:rPr sz="2400" spc="-5" dirty="0">
                <a:latin typeface="Arial" panose="020B0604020202020204"/>
                <a:cs typeface="Arial" panose="020B0604020202020204"/>
              </a:rPr>
              <a:t>The two </a:t>
            </a:r>
            <a:r>
              <a:rPr sz="2400" spc="-15" dirty="0">
                <a:latin typeface="Arial" panose="020B0604020202020204"/>
                <a:cs typeface="Arial" panose="020B0604020202020204"/>
              </a:rPr>
              <a:t>memory access </a:t>
            </a:r>
            <a:r>
              <a:rPr sz="2400" spc="-25" dirty="0">
                <a:latin typeface="Arial" panose="020B0604020202020204"/>
                <a:cs typeface="Arial" panose="020B0604020202020204"/>
              </a:rPr>
              <a:t>problem </a:t>
            </a:r>
            <a:r>
              <a:rPr sz="2400" spc="-15" dirty="0">
                <a:latin typeface="Arial" panose="020B0604020202020204"/>
                <a:cs typeface="Arial" panose="020B0604020202020204"/>
              </a:rPr>
              <a:t>can </a:t>
            </a:r>
            <a:r>
              <a:rPr sz="2400" spc="-20" dirty="0">
                <a:latin typeface="Arial" panose="020B0604020202020204"/>
                <a:cs typeface="Arial" panose="020B0604020202020204"/>
              </a:rPr>
              <a:t>be</a:t>
            </a:r>
            <a:r>
              <a:rPr sz="2400" spc="445" dirty="0">
                <a:latin typeface="Arial" panose="020B0604020202020204"/>
                <a:cs typeface="Arial" panose="020B0604020202020204"/>
              </a:rPr>
              <a:t> </a:t>
            </a:r>
            <a:r>
              <a:rPr sz="2400" spc="-20" dirty="0">
                <a:latin typeface="Arial" panose="020B0604020202020204"/>
                <a:cs typeface="Arial" panose="020B0604020202020204"/>
              </a:rPr>
              <a:t>solved</a:t>
            </a:r>
            <a:endParaRPr sz="2400">
              <a:latin typeface="Arial" panose="020B0604020202020204"/>
              <a:cs typeface="Arial" panose="020B0604020202020204"/>
            </a:endParaRPr>
          </a:p>
          <a:p>
            <a:pPr marL="838200" lvl="1" indent="-368300">
              <a:lnSpc>
                <a:spcPct val="100000"/>
              </a:lnSpc>
              <a:spcBef>
                <a:spcPts val="520"/>
              </a:spcBef>
              <a:buChar char="–"/>
              <a:tabLst>
                <a:tab pos="837565" algn="l"/>
                <a:tab pos="838200" algn="l"/>
              </a:tabLst>
            </a:pPr>
            <a:r>
              <a:rPr sz="2000" spc="-10" dirty="0">
                <a:latin typeface="Arial" panose="020B0604020202020204"/>
                <a:cs typeface="Arial" panose="020B0604020202020204"/>
              </a:rPr>
              <a:t>by </a:t>
            </a:r>
            <a:r>
              <a:rPr sz="2000" spc="5" dirty="0">
                <a:latin typeface="Arial" panose="020B0604020202020204"/>
                <a:cs typeface="Arial" panose="020B0604020202020204"/>
              </a:rPr>
              <a:t>the </a:t>
            </a:r>
            <a:r>
              <a:rPr sz="2000" spc="-5" dirty="0">
                <a:latin typeface="Arial" panose="020B0604020202020204"/>
                <a:cs typeface="Arial" panose="020B0604020202020204"/>
              </a:rPr>
              <a:t>use </a:t>
            </a:r>
            <a:r>
              <a:rPr sz="2000" spc="-10" dirty="0">
                <a:latin typeface="Arial" panose="020B0604020202020204"/>
                <a:cs typeface="Arial" panose="020B0604020202020204"/>
              </a:rPr>
              <a:t>of </a:t>
            </a:r>
            <a:r>
              <a:rPr sz="2000" dirty="0">
                <a:latin typeface="Arial" panose="020B0604020202020204"/>
                <a:cs typeface="Arial" panose="020B0604020202020204"/>
              </a:rPr>
              <a:t>a </a:t>
            </a:r>
            <a:r>
              <a:rPr sz="2000" spc="-15" dirty="0">
                <a:latin typeface="Arial" panose="020B0604020202020204"/>
                <a:cs typeface="Arial" panose="020B0604020202020204"/>
              </a:rPr>
              <a:t>special </a:t>
            </a:r>
            <a:r>
              <a:rPr sz="2000" dirty="0">
                <a:latin typeface="Arial" panose="020B0604020202020204"/>
                <a:cs typeface="Arial" panose="020B0604020202020204"/>
              </a:rPr>
              <a:t>fast-lookup </a:t>
            </a:r>
            <a:r>
              <a:rPr sz="2000" spc="-10" dirty="0">
                <a:latin typeface="Arial" panose="020B0604020202020204"/>
                <a:cs typeface="Arial" panose="020B0604020202020204"/>
              </a:rPr>
              <a:t>hardware</a:t>
            </a:r>
            <a:r>
              <a:rPr sz="2000" spc="5" dirty="0">
                <a:latin typeface="Arial" panose="020B0604020202020204"/>
                <a:cs typeface="Arial" panose="020B0604020202020204"/>
              </a:rPr>
              <a:t> </a:t>
            </a:r>
            <a:r>
              <a:rPr sz="2000" spc="-10" dirty="0">
                <a:latin typeface="Arial" panose="020B0604020202020204"/>
                <a:cs typeface="Arial" panose="020B0604020202020204"/>
              </a:rPr>
              <a:t>cache</a:t>
            </a:r>
            <a:endParaRPr sz="2000">
              <a:latin typeface="Arial" panose="020B0604020202020204"/>
              <a:cs typeface="Arial" panose="020B0604020202020204"/>
            </a:endParaRPr>
          </a:p>
          <a:p>
            <a:pPr marL="762000" lvl="1" indent="-292100">
              <a:lnSpc>
                <a:spcPct val="100000"/>
              </a:lnSpc>
              <a:spcBef>
                <a:spcPts val="400"/>
              </a:spcBef>
              <a:buChar char="–"/>
              <a:tabLst>
                <a:tab pos="761365" algn="l"/>
                <a:tab pos="762000" algn="l"/>
              </a:tabLst>
            </a:pPr>
            <a:r>
              <a:rPr sz="2000" spc="-20" dirty="0">
                <a:latin typeface="Arial" panose="020B0604020202020204"/>
                <a:cs typeface="Arial" panose="020B0604020202020204"/>
              </a:rPr>
              <a:t>called </a:t>
            </a:r>
            <a:r>
              <a:rPr sz="2000" b="1" spc="-5" dirty="0">
                <a:solidFill>
                  <a:srgbClr val="3366FF"/>
                </a:solidFill>
                <a:latin typeface="Arial" panose="020B0604020202020204"/>
                <a:cs typeface="Arial" panose="020B0604020202020204"/>
              </a:rPr>
              <a:t>associative </a:t>
            </a:r>
            <a:r>
              <a:rPr sz="2000" b="1" dirty="0">
                <a:solidFill>
                  <a:srgbClr val="3366FF"/>
                </a:solidFill>
                <a:latin typeface="Arial" panose="020B0604020202020204"/>
                <a:cs typeface="Arial" panose="020B0604020202020204"/>
              </a:rPr>
              <a:t>memory </a:t>
            </a:r>
            <a:r>
              <a:rPr sz="2000" spc="-10" dirty="0">
                <a:latin typeface="Arial" panose="020B0604020202020204"/>
                <a:cs typeface="Arial" panose="020B0604020202020204"/>
              </a:rPr>
              <a:t>or </a:t>
            </a:r>
            <a:r>
              <a:rPr sz="2000" b="1" spc="5" dirty="0">
                <a:solidFill>
                  <a:srgbClr val="3366FF"/>
                </a:solidFill>
                <a:latin typeface="Arial" panose="020B0604020202020204"/>
                <a:cs typeface="Arial" panose="020B0604020202020204"/>
              </a:rPr>
              <a:t>translation </a:t>
            </a:r>
            <a:r>
              <a:rPr sz="2000" b="1" spc="-5" dirty="0">
                <a:solidFill>
                  <a:srgbClr val="3366FF"/>
                </a:solidFill>
                <a:latin typeface="Arial" panose="020B0604020202020204"/>
                <a:cs typeface="Arial" panose="020B0604020202020204"/>
              </a:rPr>
              <a:t>look-aside</a:t>
            </a:r>
            <a:r>
              <a:rPr sz="2000" b="1" spc="-40" dirty="0">
                <a:solidFill>
                  <a:srgbClr val="3366FF"/>
                </a:solidFill>
                <a:latin typeface="Arial" panose="020B0604020202020204"/>
                <a:cs typeface="Arial" panose="020B0604020202020204"/>
              </a:rPr>
              <a:t> </a:t>
            </a:r>
            <a:r>
              <a:rPr sz="2000" b="1" dirty="0">
                <a:solidFill>
                  <a:srgbClr val="3366FF"/>
                </a:solidFill>
                <a:latin typeface="Arial" panose="020B0604020202020204"/>
                <a:cs typeface="Arial" panose="020B0604020202020204"/>
              </a:rPr>
              <a:t>buffers</a:t>
            </a:r>
            <a:endParaRPr sz="2000">
              <a:latin typeface="Arial" panose="020B0604020202020204"/>
              <a:cs typeface="Arial" panose="020B0604020202020204"/>
            </a:endParaRPr>
          </a:p>
          <a:p>
            <a:pPr marL="762000">
              <a:lnSpc>
                <a:spcPct val="100000"/>
              </a:lnSpc>
            </a:pPr>
            <a:r>
              <a:rPr sz="2000" spc="-15" dirty="0">
                <a:latin typeface="Arial" panose="020B0604020202020204"/>
                <a:cs typeface="Arial" panose="020B0604020202020204"/>
              </a:rPr>
              <a:t>(</a:t>
            </a:r>
            <a:r>
              <a:rPr sz="2000" b="1" spc="-15" dirty="0">
                <a:solidFill>
                  <a:srgbClr val="3366FF"/>
                </a:solidFill>
                <a:latin typeface="Arial" panose="020B0604020202020204"/>
                <a:cs typeface="Arial" panose="020B0604020202020204"/>
              </a:rPr>
              <a:t>TLBs</a:t>
            </a:r>
            <a:r>
              <a:rPr sz="2000" spc="-15" dirty="0">
                <a:latin typeface="Arial" panose="020B0604020202020204"/>
                <a:cs typeface="Arial" panose="020B0604020202020204"/>
              </a:rPr>
              <a:t>)</a:t>
            </a:r>
            <a:endParaRPr sz="2000">
              <a:latin typeface="Arial" panose="020B0604020202020204"/>
              <a:cs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1" y="565672"/>
            <a:ext cx="5475082" cy="457591"/>
          </a:xfrm>
          <a:prstGeom prst="rect">
            <a:avLst/>
          </a:prstGeom>
        </p:spPr>
        <p:txBody>
          <a:bodyPr vert="horz" wrap="square" lIns="0" tIns="11206" rIns="0" bIns="0" rtlCol="0">
            <a:spAutoFit/>
          </a:bodyPr>
          <a:lstStyle/>
          <a:p>
            <a:pPr marL="11430">
              <a:spcBef>
                <a:spcPts val="90"/>
              </a:spcBef>
            </a:pPr>
            <a:r>
              <a:rPr spc="-4" dirty="0"/>
              <a:t>Implementation </a:t>
            </a:r>
            <a:r>
              <a:rPr u="none" dirty="0"/>
              <a:t>of Page</a:t>
            </a:r>
            <a:r>
              <a:rPr spc="-75" dirty="0"/>
              <a:t> </a:t>
            </a:r>
            <a:r>
              <a:rPr u="none" dirty="0"/>
              <a:t>Table</a:t>
            </a:r>
            <a:endParaRPr u="none" dirty="0"/>
          </a:p>
        </p:txBody>
      </p:sp>
      <p:sp>
        <p:nvSpPr>
          <p:cNvPr id="3" name="object 3"/>
          <p:cNvSpPr txBox="1"/>
          <p:nvPr/>
        </p:nvSpPr>
        <p:spPr>
          <a:xfrm>
            <a:off x="764912" y="1267609"/>
            <a:ext cx="8074287" cy="4216230"/>
          </a:xfrm>
          <a:prstGeom prst="rect">
            <a:avLst/>
          </a:prstGeom>
        </p:spPr>
        <p:txBody>
          <a:bodyPr vert="horz" wrap="square" lIns="0" tIns="170890" rIns="0" bIns="0" rtlCol="0">
            <a:spAutoFit/>
          </a:bodyPr>
          <a:lstStyle/>
          <a:p>
            <a:pPr marL="358775" indent="-302895">
              <a:spcBef>
                <a:spcPts val="1345"/>
              </a:spcBef>
              <a:buFont typeface="Wingdings" panose="05000000000000000000"/>
              <a:buChar char=""/>
              <a:tabLst>
                <a:tab pos="357505" algn="l"/>
                <a:tab pos="358140" algn="l"/>
              </a:tabLst>
            </a:pPr>
            <a:r>
              <a:rPr sz="2120" spc="-4" dirty="0">
                <a:latin typeface="Comic Sans MS" panose="030F0702030302020204"/>
                <a:cs typeface="Comic Sans MS" panose="030F0702030302020204"/>
              </a:rPr>
              <a:t>Keep </a:t>
            </a:r>
            <a:r>
              <a:rPr sz="2120" dirty="0">
                <a:latin typeface="Comic Sans MS" panose="030F0702030302020204"/>
                <a:cs typeface="Comic Sans MS" panose="030F0702030302020204"/>
              </a:rPr>
              <a:t>page </a:t>
            </a:r>
            <a:r>
              <a:rPr sz="2120" spc="-4" dirty="0">
                <a:latin typeface="Comic Sans MS" panose="030F0702030302020204"/>
                <a:cs typeface="Comic Sans MS" panose="030F0702030302020204"/>
              </a:rPr>
              <a:t>table in the </a:t>
            </a:r>
            <a:r>
              <a:rPr sz="2120" u="heavy" spc="-4" dirty="0">
                <a:uFill>
                  <a:solidFill>
                    <a:srgbClr val="000000"/>
                  </a:solidFill>
                </a:uFill>
                <a:latin typeface="Comic Sans MS" panose="030F0702030302020204"/>
                <a:cs typeface="Comic Sans MS" panose="030F0702030302020204"/>
              </a:rPr>
              <a:t>main</a:t>
            </a:r>
            <a:r>
              <a:rPr sz="2120" u="heavy" spc="-66" dirty="0">
                <a:uFill>
                  <a:solidFill>
                    <a:srgbClr val="000000"/>
                  </a:solidFill>
                </a:uFill>
                <a:latin typeface="Comic Sans MS" panose="030F0702030302020204"/>
                <a:cs typeface="Comic Sans MS" panose="030F0702030302020204"/>
              </a:rPr>
              <a:t> </a:t>
            </a:r>
            <a:r>
              <a:rPr sz="2120" u="heavy" spc="-4" dirty="0">
                <a:uFill>
                  <a:solidFill>
                    <a:srgbClr val="000000"/>
                  </a:solidFill>
                </a:uFill>
                <a:latin typeface="Comic Sans MS" panose="030F0702030302020204"/>
                <a:cs typeface="Comic Sans MS" panose="030F0702030302020204"/>
              </a:rPr>
              <a:t>memory</a:t>
            </a:r>
            <a:endParaRPr sz="2120" dirty="0">
              <a:latin typeface="Comic Sans MS" panose="030F0702030302020204"/>
              <a:cs typeface="Comic Sans MS" panose="030F0702030302020204"/>
            </a:endParaRPr>
          </a:p>
          <a:p>
            <a:pPr marL="358775" indent="-302260">
              <a:spcBef>
                <a:spcPts val="1260"/>
              </a:spcBef>
              <a:buFont typeface="Wingdings" panose="05000000000000000000"/>
              <a:buChar char=""/>
              <a:tabLst>
                <a:tab pos="357505" algn="l"/>
                <a:tab pos="358140" algn="l"/>
              </a:tabLst>
            </a:pPr>
            <a:r>
              <a:rPr sz="2120" u="heavy" dirty="0">
                <a:uFill>
                  <a:solidFill>
                    <a:srgbClr val="000000"/>
                  </a:solidFill>
                </a:uFill>
                <a:latin typeface="Comic Sans MS" panose="030F0702030302020204"/>
                <a:cs typeface="Comic Sans MS" panose="030F0702030302020204"/>
              </a:rPr>
              <a:t>Page </a:t>
            </a:r>
            <a:r>
              <a:rPr sz="2120" u="heavy" spc="-4" dirty="0">
                <a:uFill>
                  <a:solidFill>
                    <a:srgbClr val="000000"/>
                  </a:solidFill>
                </a:uFill>
                <a:latin typeface="Comic Sans MS" panose="030F0702030302020204"/>
                <a:cs typeface="Comic Sans MS" panose="030F0702030302020204"/>
              </a:rPr>
              <a:t>table base register</a:t>
            </a:r>
            <a:r>
              <a:rPr sz="2120" spc="-40" dirty="0">
                <a:latin typeface="Comic Sans MS" panose="030F0702030302020204"/>
                <a:cs typeface="Comic Sans MS" panose="030F0702030302020204"/>
              </a:rPr>
              <a:t> </a:t>
            </a:r>
            <a:r>
              <a:rPr sz="2120" spc="-4" dirty="0">
                <a:latin typeface="Comic Sans MS" panose="030F0702030302020204"/>
                <a:cs typeface="Comic Sans MS" panose="030F0702030302020204"/>
              </a:rPr>
              <a:t>(PTBR)</a:t>
            </a:r>
            <a:endParaRPr sz="2120" dirty="0">
              <a:latin typeface="Comic Sans MS" panose="030F0702030302020204"/>
              <a:cs typeface="Comic Sans MS" panose="030F0702030302020204"/>
            </a:endParaRPr>
          </a:p>
          <a:p>
            <a:pPr marL="358775" indent="-302260">
              <a:spcBef>
                <a:spcPts val="1530"/>
              </a:spcBef>
              <a:buFont typeface="Wingdings" panose="05000000000000000000"/>
              <a:buChar char=""/>
              <a:tabLst>
                <a:tab pos="357505" algn="l"/>
                <a:tab pos="358140" algn="l"/>
              </a:tabLst>
            </a:pP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effective</a:t>
            </a:r>
            <a:r>
              <a:rPr sz="1410" spc="-4" dirty="0">
                <a:latin typeface="Comic Sans MS" panose="030F0702030302020204"/>
                <a:cs typeface="Comic Sans MS" panose="030F0702030302020204"/>
              </a:rPr>
              <a:t> </a:t>
            </a:r>
            <a:r>
              <a:rPr sz="3175" baseline="7000" dirty="0">
                <a:latin typeface="Comic Sans MS" panose="030F0702030302020204"/>
                <a:cs typeface="Comic Sans MS" panose="030F0702030302020204"/>
              </a:rPr>
              <a:t>=</a:t>
            </a:r>
            <a:r>
              <a:rPr sz="3175" spc="-337" baseline="7000" dirty="0">
                <a:latin typeface="Comic Sans MS" panose="030F0702030302020204"/>
                <a:cs typeface="Comic Sans MS" panose="030F0702030302020204"/>
              </a:rPr>
              <a:t> </a:t>
            </a:r>
            <a:r>
              <a:rPr sz="3175" spc="-6" baseline="7000" dirty="0">
                <a:latin typeface="Comic Sans MS" panose="030F0702030302020204"/>
                <a:cs typeface="Comic Sans MS" panose="030F0702030302020204"/>
              </a:rPr>
              <a:t>2T</a:t>
            </a:r>
            <a:r>
              <a:rPr sz="1410" spc="-4" dirty="0">
                <a:latin typeface="Comic Sans MS" panose="030F0702030302020204"/>
                <a:cs typeface="Comic Sans MS" panose="030F0702030302020204"/>
              </a:rPr>
              <a:t>mem</a:t>
            </a:r>
            <a:endParaRPr sz="1410" dirty="0">
              <a:latin typeface="Comic Sans MS" panose="030F0702030302020204"/>
              <a:cs typeface="Comic Sans MS" panose="030F0702030302020204"/>
            </a:endParaRPr>
          </a:p>
          <a:p>
            <a:pPr marL="358775" indent="-302260">
              <a:spcBef>
                <a:spcPts val="1000"/>
              </a:spcBef>
              <a:buFont typeface="Wingdings" panose="05000000000000000000"/>
              <a:buChar char=""/>
              <a:tabLst>
                <a:tab pos="357505" algn="l"/>
                <a:tab pos="358140" algn="l"/>
              </a:tabLst>
            </a:pPr>
            <a:r>
              <a:rPr sz="2120" spc="-4" dirty="0">
                <a:latin typeface="Comic Sans MS" panose="030F0702030302020204"/>
                <a:cs typeface="Comic Sans MS" panose="030F0702030302020204"/>
              </a:rPr>
              <a:t>T</a:t>
            </a:r>
            <a:r>
              <a:rPr sz="2120" spc="-6" baseline="-10000" dirty="0">
                <a:latin typeface="Comic Sans MS" panose="030F0702030302020204"/>
                <a:cs typeface="Comic Sans MS" panose="030F0702030302020204"/>
              </a:rPr>
              <a:t>effective</a:t>
            </a:r>
            <a:r>
              <a:rPr sz="2120" spc="-6" baseline="-10000" dirty="0">
                <a:latin typeface="Comic Sans MS" panose="030F0702030302020204"/>
                <a:cs typeface="Comic Sans MS" panose="030F0702030302020204"/>
              </a:rPr>
              <a:t> </a:t>
            </a:r>
            <a:r>
              <a:rPr sz="2120" spc="-4" dirty="0">
                <a:latin typeface="Comic Sans MS" panose="030F0702030302020204"/>
                <a:cs typeface="Comic Sans MS" panose="030F0702030302020204"/>
              </a:rPr>
              <a:t>is </a:t>
            </a:r>
            <a:r>
              <a:rPr sz="2120" u="heavy" spc="-4" dirty="0">
                <a:uFill>
                  <a:solidFill>
                    <a:srgbClr val="000000"/>
                  </a:solidFill>
                </a:uFill>
                <a:latin typeface="Comic Sans MS" panose="030F0702030302020204"/>
                <a:cs typeface="Comic Sans MS" panose="030F0702030302020204"/>
              </a:rPr>
              <a:t>not</a:t>
            </a:r>
            <a:r>
              <a:rPr sz="2120" spc="-224" dirty="0">
                <a:latin typeface="Comic Sans MS" panose="030F0702030302020204"/>
                <a:cs typeface="Comic Sans MS" panose="030F0702030302020204"/>
              </a:rPr>
              <a:t> </a:t>
            </a:r>
            <a:r>
              <a:rPr sz="2120" dirty="0" smtClean="0">
                <a:latin typeface="Comic Sans MS" panose="030F0702030302020204"/>
                <a:cs typeface="Comic Sans MS" panose="030F0702030302020204"/>
              </a:rPr>
              <a:t>acceptable</a:t>
            </a:r>
            <a:endParaRPr lang="en-US" sz="2120" dirty="0" smtClean="0">
              <a:latin typeface="Comic Sans MS" panose="030F0702030302020204"/>
              <a:cs typeface="Comic Sans MS" panose="030F0702030302020204"/>
            </a:endParaRPr>
          </a:p>
          <a:p>
            <a:pPr marL="313690" marR="104775" indent="-302260">
              <a:lnSpc>
                <a:spcPts val="2160"/>
              </a:lnSpc>
              <a:spcBef>
                <a:spcPts val="475"/>
              </a:spcBef>
              <a:buFont typeface="Wingdings" panose="05000000000000000000"/>
              <a:buChar char=""/>
              <a:tabLst>
                <a:tab pos="313055" algn="l"/>
                <a:tab pos="313690" algn="l"/>
              </a:tabLst>
            </a:pPr>
            <a:r>
              <a:rPr lang="en-US" sz="2120" spc="-4" dirty="0" smtClean="0">
                <a:latin typeface="Comic Sans MS" panose="030F0702030302020204"/>
                <a:cs typeface="Comic Sans MS" panose="030F0702030302020204"/>
              </a:rPr>
              <a:t>Use </a:t>
            </a:r>
            <a:r>
              <a:rPr lang="en-US" sz="2120" dirty="0" smtClean="0">
                <a:latin typeface="Comic Sans MS" panose="030F0702030302020204"/>
                <a:cs typeface="Comic Sans MS" panose="030F0702030302020204"/>
              </a:rPr>
              <a:t>a </a:t>
            </a:r>
            <a:r>
              <a:rPr lang="en-US" sz="2120" spc="-4" dirty="0" smtClean="0">
                <a:latin typeface="Comic Sans MS" panose="030F0702030302020204"/>
                <a:cs typeface="Comic Sans MS" panose="030F0702030302020204"/>
              </a:rPr>
              <a:t>special, small, fast lookup </a:t>
            </a:r>
            <a:r>
              <a:rPr lang="en-US" sz="2120" dirty="0" smtClean="0">
                <a:latin typeface="Comic Sans MS" panose="030F0702030302020204"/>
                <a:cs typeface="Comic Sans MS" panose="030F0702030302020204"/>
              </a:rPr>
              <a:t>hardware, called </a:t>
            </a:r>
            <a:r>
              <a:rPr lang="en-US" sz="2120" u="heavy" dirty="0" smtClean="0">
                <a:uFill>
                  <a:solidFill>
                    <a:srgbClr val="000000"/>
                  </a:solidFill>
                </a:uFill>
                <a:latin typeface="Comic Sans MS" panose="030F0702030302020204"/>
                <a:cs typeface="Comic Sans MS" panose="030F0702030302020204"/>
              </a:rPr>
              <a:t> </a:t>
            </a:r>
            <a:r>
              <a:rPr lang="en-US" sz="2120" u="heavy" spc="-4" dirty="0" smtClean="0">
                <a:uFill>
                  <a:solidFill>
                    <a:srgbClr val="000000"/>
                  </a:solidFill>
                </a:uFill>
                <a:latin typeface="Comic Sans MS" panose="030F0702030302020204"/>
                <a:cs typeface="Comic Sans MS" panose="030F0702030302020204"/>
              </a:rPr>
              <a:t>translation </a:t>
            </a:r>
            <a:r>
              <a:rPr lang="en-US" sz="2120" u="heavy" dirty="0" smtClean="0">
                <a:uFill>
                  <a:solidFill>
                    <a:srgbClr val="000000"/>
                  </a:solidFill>
                </a:uFill>
                <a:latin typeface="Comic Sans MS" panose="030F0702030302020204"/>
                <a:cs typeface="Comic Sans MS" panose="030F0702030302020204"/>
              </a:rPr>
              <a:t>look-aside </a:t>
            </a:r>
            <a:r>
              <a:rPr lang="en-US" sz="2120" u="heavy" spc="-4" dirty="0" smtClean="0">
                <a:uFill>
                  <a:solidFill>
                    <a:srgbClr val="000000"/>
                  </a:solidFill>
                </a:uFill>
                <a:latin typeface="Comic Sans MS" panose="030F0702030302020204"/>
                <a:cs typeface="Comic Sans MS" panose="030F0702030302020204"/>
              </a:rPr>
              <a:t>buffer</a:t>
            </a:r>
            <a:r>
              <a:rPr lang="en-US" sz="2120" spc="-4" dirty="0" smtClean="0">
                <a:latin typeface="Comic Sans MS" panose="030F0702030302020204"/>
                <a:cs typeface="Comic Sans MS" panose="030F0702030302020204"/>
              </a:rPr>
              <a:t> (TLB)</a:t>
            </a:r>
            <a:endParaRPr lang="en-US" sz="2120" dirty="0" smtClean="0">
              <a:latin typeface="Comic Sans MS" panose="030F0702030302020204"/>
              <a:cs typeface="Comic Sans MS" panose="030F0702030302020204"/>
            </a:endParaRPr>
          </a:p>
          <a:p>
            <a:pPr marL="313690" indent="-302260">
              <a:spcBef>
                <a:spcPts val="505"/>
              </a:spcBef>
              <a:buFont typeface="Wingdings" panose="05000000000000000000"/>
              <a:buChar char=""/>
              <a:tabLst>
                <a:tab pos="313055" algn="l"/>
                <a:tab pos="313690" algn="l"/>
              </a:tabLst>
            </a:pPr>
            <a:r>
              <a:rPr lang="en-US" sz="2120" spc="-4" dirty="0" smtClean="0">
                <a:latin typeface="Comic Sans MS" panose="030F0702030302020204"/>
                <a:cs typeface="Comic Sans MS" panose="030F0702030302020204"/>
              </a:rPr>
              <a:t>Typically 64–1024</a:t>
            </a:r>
            <a:r>
              <a:rPr lang="en-US" sz="2120" dirty="0" smtClean="0">
                <a:latin typeface="Comic Sans MS" panose="030F0702030302020204"/>
                <a:cs typeface="Comic Sans MS" panose="030F0702030302020204"/>
              </a:rPr>
              <a:t> </a:t>
            </a:r>
            <a:r>
              <a:rPr lang="en-US" sz="2120" spc="-4" dirty="0" smtClean="0">
                <a:latin typeface="Comic Sans MS" panose="030F0702030302020204"/>
                <a:cs typeface="Comic Sans MS" panose="030F0702030302020204"/>
              </a:rPr>
              <a:t>entries</a:t>
            </a:r>
            <a:endParaRPr lang="en-US" sz="2120" dirty="0" smtClean="0">
              <a:latin typeface="Comic Sans MS" panose="030F0702030302020204"/>
              <a:cs typeface="Comic Sans MS" panose="030F0702030302020204"/>
            </a:endParaRPr>
          </a:p>
          <a:p>
            <a:pPr marL="313690" indent="-302260">
              <a:spcBef>
                <a:spcPts val="510"/>
              </a:spcBef>
              <a:buFont typeface="Wingdings" panose="05000000000000000000"/>
              <a:buChar char=""/>
              <a:tabLst>
                <a:tab pos="313055" algn="l"/>
                <a:tab pos="313690" algn="l"/>
              </a:tabLst>
            </a:pPr>
            <a:r>
              <a:rPr lang="en-US" sz="2120" spc="-4" dirty="0" smtClean="0">
                <a:latin typeface="Comic Sans MS" panose="030F0702030302020204"/>
                <a:cs typeface="Comic Sans MS" panose="030F0702030302020204"/>
              </a:rPr>
              <a:t>An entry is (key,</a:t>
            </a:r>
            <a:r>
              <a:rPr lang="en-US" sz="2120" spc="-9" dirty="0" smtClean="0">
                <a:latin typeface="Comic Sans MS" panose="030F0702030302020204"/>
                <a:cs typeface="Comic Sans MS" panose="030F0702030302020204"/>
              </a:rPr>
              <a:t> </a:t>
            </a:r>
            <a:r>
              <a:rPr lang="en-US" sz="2120" spc="-4" dirty="0" smtClean="0">
                <a:latin typeface="Comic Sans MS" panose="030F0702030302020204"/>
                <a:cs typeface="Comic Sans MS" panose="030F0702030302020204"/>
              </a:rPr>
              <a:t>value)</a:t>
            </a:r>
            <a:endParaRPr lang="en-US" sz="2120" dirty="0" smtClean="0">
              <a:latin typeface="Comic Sans MS" panose="030F0702030302020204"/>
              <a:cs typeface="Comic Sans MS" panose="030F0702030302020204"/>
            </a:endParaRPr>
          </a:p>
          <a:p>
            <a:pPr marL="313690" indent="-302260">
              <a:spcBef>
                <a:spcPts val="510"/>
              </a:spcBef>
              <a:buFont typeface="Wingdings" panose="05000000000000000000"/>
              <a:buChar char=""/>
              <a:tabLst>
                <a:tab pos="313055" algn="l"/>
                <a:tab pos="313690" algn="l"/>
              </a:tabLst>
            </a:pPr>
            <a:r>
              <a:rPr lang="en-US" sz="2120" dirty="0" smtClean="0">
                <a:latin typeface="Comic Sans MS" panose="030F0702030302020204"/>
                <a:cs typeface="Comic Sans MS" panose="030F0702030302020204"/>
              </a:rPr>
              <a:t>Parallel </a:t>
            </a:r>
            <a:r>
              <a:rPr lang="en-US" sz="2120" spc="-4" dirty="0" smtClean="0">
                <a:latin typeface="Comic Sans MS" panose="030F0702030302020204"/>
                <a:cs typeface="Comic Sans MS" panose="030F0702030302020204"/>
              </a:rPr>
              <a:t>search for key; on </a:t>
            </a:r>
            <a:r>
              <a:rPr lang="en-US" sz="2120" dirty="0" smtClean="0">
                <a:latin typeface="Comic Sans MS" panose="030F0702030302020204"/>
                <a:cs typeface="Comic Sans MS" panose="030F0702030302020204"/>
              </a:rPr>
              <a:t>a hit, </a:t>
            </a:r>
            <a:r>
              <a:rPr lang="en-US" sz="2120" spc="-4" dirty="0" smtClean="0">
                <a:latin typeface="Comic Sans MS" panose="030F0702030302020204"/>
                <a:cs typeface="Comic Sans MS" panose="030F0702030302020204"/>
              </a:rPr>
              <a:t>value is</a:t>
            </a:r>
            <a:r>
              <a:rPr lang="en-US" sz="2120" spc="-62" dirty="0" smtClean="0">
                <a:latin typeface="Comic Sans MS" panose="030F0702030302020204"/>
                <a:cs typeface="Comic Sans MS" panose="030F0702030302020204"/>
              </a:rPr>
              <a:t> </a:t>
            </a:r>
            <a:r>
              <a:rPr lang="en-US" sz="2120" spc="-4" dirty="0" smtClean="0">
                <a:latin typeface="Comic Sans MS" panose="030F0702030302020204"/>
                <a:cs typeface="Comic Sans MS" panose="030F0702030302020204"/>
              </a:rPr>
              <a:t>returned</a:t>
            </a:r>
            <a:endParaRPr lang="en-US" sz="2120" dirty="0" smtClean="0">
              <a:latin typeface="Comic Sans MS" panose="030F0702030302020204"/>
              <a:cs typeface="Comic Sans MS" panose="030F0702030302020204"/>
            </a:endParaRPr>
          </a:p>
          <a:p>
            <a:pPr marL="358775" indent="-302260">
              <a:spcBef>
                <a:spcPts val="1000"/>
              </a:spcBef>
              <a:buFont typeface="Wingdings" panose="05000000000000000000"/>
              <a:buChar char=""/>
              <a:tabLst>
                <a:tab pos="357505" algn="l"/>
                <a:tab pos="358140" algn="l"/>
              </a:tabLst>
            </a:pPr>
            <a:endParaRPr sz="2120" dirty="0">
              <a:latin typeface="Comic Sans MS" panose="030F0702030302020204"/>
              <a:cs typeface="Comic Sans MS" panose="030F07020303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1" y="565672"/>
            <a:ext cx="5170282" cy="457591"/>
          </a:xfrm>
          <a:prstGeom prst="rect">
            <a:avLst/>
          </a:prstGeom>
        </p:spPr>
        <p:txBody>
          <a:bodyPr vert="horz" wrap="square" lIns="0" tIns="11206" rIns="0" bIns="0" rtlCol="0">
            <a:spAutoFit/>
          </a:bodyPr>
          <a:lstStyle/>
          <a:p>
            <a:pPr marL="11430">
              <a:spcBef>
                <a:spcPts val="90"/>
              </a:spcBef>
            </a:pPr>
            <a:r>
              <a:rPr spc="-4" dirty="0"/>
              <a:t>Implementation </a:t>
            </a:r>
            <a:r>
              <a:rPr u="none" dirty="0"/>
              <a:t>of Page</a:t>
            </a:r>
            <a:r>
              <a:rPr spc="-75" dirty="0"/>
              <a:t> </a:t>
            </a:r>
            <a:r>
              <a:rPr u="none" dirty="0"/>
              <a:t>Table</a:t>
            </a:r>
            <a:endParaRPr u="none" dirty="0"/>
          </a:p>
        </p:txBody>
      </p:sp>
      <p:sp>
        <p:nvSpPr>
          <p:cNvPr id="3" name="object 3"/>
          <p:cNvSpPr txBox="1"/>
          <p:nvPr/>
        </p:nvSpPr>
        <p:spPr>
          <a:xfrm>
            <a:off x="809737" y="1440404"/>
            <a:ext cx="7479366" cy="1754859"/>
          </a:xfrm>
          <a:prstGeom prst="rect">
            <a:avLst/>
          </a:prstGeom>
        </p:spPr>
        <p:txBody>
          <a:bodyPr vert="horz" wrap="square" lIns="0" tIns="107016" rIns="0" bIns="0" rtlCol="0">
            <a:spAutoFit/>
          </a:bodyPr>
          <a:lstStyle/>
          <a:p>
            <a:pPr marL="313690" indent="-302260">
              <a:spcBef>
                <a:spcPts val="845"/>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(key,value) is (p,f) for</a:t>
            </a:r>
            <a:r>
              <a:rPr sz="2120" spc="-13" dirty="0">
                <a:latin typeface="Comic Sans MS" panose="030F0702030302020204"/>
                <a:cs typeface="Comic Sans MS" panose="030F0702030302020204"/>
              </a:rPr>
              <a:t> </a:t>
            </a:r>
            <a:r>
              <a:rPr sz="2120" spc="-4" dirty="0">
                <a:latin typeface="Comic Sans MS" panose="030F0702030302020204"/>
                <a:cs typeface="Comic Sans MS" panose="030F0702030302020204"/>
              </a:rPr>
              <a:t>paging</a:t>
            </a:r>
            <a:endParaRPr sz="2120">
              <a:latin typeface="Comic Sans MS" panose="030F0702030302020204"/>
              <a:cs typeface="Comic Sans MS" panose="030F0702030302020204"/>
            </a:endParaRPr>
          </a:p>
          <a:p>
            <a:pPr marL="313690" marR="4445" indent="-302260">
              <a:lnSpc>
                <a:spcPts val="2285"/>
              </a:lnSpc>
              <a:spcBef>
                <a:spcPts val="105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For </a:t>
            </a: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logical </a:t>
            </a:r>
            <a:r>
              <a:rPr sz="2120" dirty="0">
                <a:latin typeface="Comic Sans MS" panose="030F0702030302020204"/>
                <a:cs typeface="Comic Sans MS" panose="030F0702030302020204"/>
              </a:rPr>
              <a:t>address, </a:t>
            </a:r>
            <a:r>
              <a:rPr sz="2120" spc="-4" dirty="0">
                <a:latin typeface="Comic Sans MS" panose="030F0702030302020204"/>
                <a:cs typeface="Comic Sans MS" panose="030F0702030302020204"/>
              </a:rPr>
              <a:t>(p,d), </a:t>
            </a:r>
            <a:r>
              <a:rPr sz="2120" dirty="0">
                <a:latin typeface="Comic Sans MS" panose="030F0702030302020204"/>
                <a:cs typeface="Comic Sans MS" panose="030F0702030302020204"/>
              </a:rPr>
              <a:t>TLB </a:t>
            </a:r>
            <a:r>
              <a:rPr sz="2120" spc="-4" dirty="0">
                <a:latin typeface="Comic Sans MS" panose="030F0702030302020204"/>
                <a:cs typeface="Comic Sans MS" panose="030F0702030302020204"/>
              </a:rPr>
              <a:t>is searched for </a:t>
            </a:r>
            <a:r>
              <a:rPr sz="2120" b="1" dirty="0">
                <a:latin typeface="Comic Sans MS" panose="030F0702030302020204"/>
                <a:cs typeface="Comic Sans MS" panose="030F0702030302020204"/>
              </a:rPr>
              <a:t>p</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If </a:t>
            </a:r>
            <a:r>
              <a:rPr sz="2120" dirty="0">
                <a:latin typeface="Comic Sans MS" panose="030F0702030302020204"/>
                <a:cs typeface="Comic Sans MS" panose="030F0702030302020204"/>
              </a:rPr>
              <a:t>an  </a:t>
            </a:r>
            <a:r>
              <a:rPr sz="2120" spc="-4" dirty="0">
                <a:latin typeface="Comic Sans MS" panose="030F0702030302020204"/>
                <a:cs typeface="Comic Sans MS" panose="030F0702030302020204"/>
              </a:rPr>
              <a:t>entry with </a:t>
            </a: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key </a:t>
            </a:r>
            <a:r>
              <a:rPr sz="2120" b="1" dirty="0">
                <a:latin typeface="Comic Sans MS" panose="030F0702030302020204"/>
                <a:cs typeface="Comic Sans MS" panose="030F0702030302020204"/>
              </a:rPr>
              <a:t>p </a:t>
            </a:r>
            <a:r>
              <a:rPr sz="2120" spc="-4" dirty="0">
                <a:latin typeface="Comic Sans MS" panose="030F0702030302020204"/>
                <a:cs typeface="Comic Sans MS" panose="030F0702030302020204"/>
              </a:rPr>
              <a:t>is found, we </a:t>
            </a:r>
            <a:r>
              <a:rPr sz="2120" dirty="0">
                <a:latin typeface="Comic Sans MS" panose="030F0702030302020204"/>
                <a:cs typeface="Comic Sans MS" panose="030F0702030302020204"/>
              </a:rPr>
              <a:t>have a </a:t>
            </a:r>
            <a:r>
              <a:rPr sz="2120" u="heavy" spc="-4" dirty="0">
                <a:uFill>
                  <a:solidFill>
                    <a:srgbClr val="000000"/>
                  </a:solidFill>
                </a:uFill>
                <a:latin typeface="Comic Sans MS" panose="030F0702030302020204"/>
                <a:cs typeface="Comic Sans MS" panose="030F0702030302020204"/>
              </a:rPr>
              <a:t>hit</a:t>
            </a:r>
            <a:r>
              <a:rPr sz="2120" spc="-4" dirty="0">
                <a:latin typeface="Comic Sans MS" panose="030F0702030302020204"/>
                <a:cs typeface="Comic Sans MS" panose="030F0702030302020204"/>
              </a:rPr>
              <a:t> </a:t>
            </a:r>
            <a:r>
              <a:rPr sz="2120" dirty="0">
                <a:latin typeface="Comic Sans MS" panose="030F0702030302020204"/>
                <a:cs typeface="Comic Sans MS" panose="030F0702030302020204"/>
              </a:rPr>
              <a:t>and </a:t>
            </a:r>
            <a:r>
              <a:rPr sz="2120" b="1" dirty="0">
                <a:latin typeface="Comic Sans MS" panose="030F0702030302020204"/>
                <a:cs typeface="Comic Sans MS" panose="030F0702030302020204"/>
              </a:rPr>
              <a:t>f</a:t>
            </a:r>
            <a:r>
              <a:rPr sz="2120" b="1" spc="-649" dirty="0">
                <a:latin typeface="Comic Sans MS" panose="030F0702030302020204"/>
                <a:cs typeface="Comic Sans MS" panose="030F0702030302020204"/>
              </a:rPr>
              <a:t> </a:t>
            </a:r>
            <a:r>
              <a:rPr sz="2120" spc="-4" dirty="0">
                <a:latin typeface="Comic Sans MS" panose="030F0702030302020204"/>
                <a:cs typeface="Comic Sans MS" panose="030F0702030302020204"/>
              </a:rPr>
              <a:t>is used to  form the </a:t>
            </a:r>
            <a:r>
              <a:rPr sz="2120" dirty="0">
                <a:latin typeface="Comic Sans MS" panose="030F0702030302020204"/>
                <a:cs typeface="Comic Sans MS" panose="030F0702030302020204"/>
              </a:rPr>
              <a:t>physical address. </a:t>
            </a:r>
            <a:r>
              <a:rPr sz="2120" spc="-4" dirty="0">
                <a:latin typeface="Comic Sans MS" panose="030F0702030302020204"/>
                <a:cs typeface="Comic Sans MS" panose="030F0702030302020204"/>
              </a:rPr>
              <a:t>Else, page table in the main  memory is</a:t>
            </a:r>
            <a:r>
              <a:rPr sz="2120" spc="-9" dirty="0">
                <a:latin typeface="Comic Sans MS" panose="030F0702030302020204"/>
                <a:cs typeface="Comic Sans MS" panose="030F0702030302020204"/>
              </a:rPr>
              <a:t> </a:t>
            </a:r>
            <a:r>
              <a:rPr sz="2120" spc="-4" dirty="0">
                <a:latin typeface="Comic Sans MS" panose="030F0702030302020204"/>
                <a:cs typeface="Comic Sans MS" panose="030F0702030302020204"/>
              </a:rPr>
              <a:t>searched.</a:t>
            </a:r>
            <a:endParaRPr sz="2120">
              <a:latin typeface="Comic Sans MS" panose="030F0702030302020204"/>
              <a:cs typeface="Comic Sans MS" panose="030F07020303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07989" y="599290"/>
            <a:ext cx="527797" cy="337238"/>
          </a:xfrm>
          <a:prstGeom prst="rect">
            <a:avLst/>
          </a:prstGeom>
        </p:spPr>
        <p:txBody>
          <a:bodyPr vert="horz" wrap="square" lIns="0" tIns="11206" rIns="0" bIns="0" rtlCol="0">
            <a:spAutoFit/>
          </a:bodyPr>
          <a:lstStyle/>
          <a:p>
            <a:pPr marL="11430">
              <a:spcBef>
                <a:spcPts val="90"/>
              </a:spcBef>
            </a:pPr>
            <a:r>
              <a:rPr sz="2120" b="1" dirty="0">
                <a:latin typeface="Comic Sans MS" panose="030F0702030302020204"/>
                <a:cs typeface="Comic Sans MS" panose="030F0702030302020204"/>
              </a:rPr>
              <a:t>TLB</a:t>
            </a:r>
            <a:endParaRPr sz="2120">
              <a:latin typeface="Comic Sans MS" panose="030F0702030302020204"/>
              <a:cs typeface="Comic Sans MS" panose="030F0702030302020204"/>
            </a:endParaRPr>
          </a:p>
        </p:txBody>
      </p:sp>
      <p:sp>
        <p:nvSpPr>
          <p:cNvPr id="3" name="object 3"/>
          <p:cNvSpPr txBox="1">
            <a:spLocks noGrp="1"/>
          </p:cNvSpPr>
          <p:nvPr>
            <p:ph type="title"/>
          </p:nvPr>
        </p:nvSpPr>
        <p:spPr>
          <a:xfrm>
            <a:off x="809736" y="1898276"/>
            <a:ext cx="2765612" cy="903867"/>
          </a:xfrm>
          <a:prstGeom prst="rect">
            <a:avLst/>
          </a:prstGeom>
        </p:spPr>
        <p:txBody>
          <a:bodyPr vert="horz" wrap="square" lIns="0" tIns="11206" rIns="0" bIns="0" rtlCol="0">
            <a:spAutoFit/>
          </a:bodyPr>
          <a:lstStyle/>
          <a:p>
            <a:pPr marL="11430">
              <a:spcBef>
                <a:spcPts val="90"/>
              </a:spcBef>
            </a:pPr>
            <a:r>
              <a:rPr b="0" u="none" dirty="0">
                <a:latin typeface="Comic Sans MS" panose="030F0702030302020204"/>
                <a:cs typeface="Comic Sans MS" panose="030F0702030302020204"/>
              </a:rPr>
              <a:t>Logical address: </a:t>
            </a:r>
            <a:r>
              <a:rPr spc="-4" dirty="0">
                <a:latin typeface="Comic Sans MS" panose="030F0702030302020204"/>
                <a:cs typeface="Comic Sans MS" panose="030F0702030302020204"/>
              </a:rPr>
              <a:t>(p,</a:t>
            </a:r>
            <a:r>
              <a:rPr spc="-93" dirty="0">
                <a:latin typeface="Comic Sans MS" panose="030F0702030302020204"/>
                <a:cs typeface="Comic Sans MS" panose="030F0702030302020204"/>
              </a:rPr>
              <a:t> </a:t>
            </a:r>
            <a:r>
              <a:rPr spc="-4" dirty="0">
                <a:latin typeface="Comic Sans MS" panose="030F0702030302020204"/>
                <a:cs typeface="Comic Sans MS" panose="030F0702030302020204"/>
              </a:rPr>
              <a:t>d)</a:t>
            </a:r>
            <a:endParaRPr spc="-4" dirty="0">
              <a:latin typeface="Comic Sans MS" panose="030F0702030302020204"/>
              <a:cs typeface="Comic Sans MS" panose="030F0702030302020204"/>
            </a:endParaRPr>
          </a:p>
        </p:txBody>
      </p:sp>
      <p:sp>
        <p:nvSpPr>
          <p:cNvPr id="4" name="object 4"/>
          <p:cNvSpPr/>
          <p:nvPr/>
        </p:nvSpPr>
        <p:spPr>
          <a:xfrm>
            <a:off x="874059" y="2958353"/>
            <a:ext cx="7395882" cy="3168127"/>
          </a:xfrm>
          <a:prstGeom prst="rect">
            <a:avLst/>
          </a:prstGeom>
          <a:blipFill>
            <a:blip r:embed="rId1" cstate="print"/>
            <a:stretch>
              <a:fillRect/>
            </a:stretch>
          </a:blipFill>
        </p:spPr>
        <p:txBody>
          <a:bodyPr wrap="square" lIns="0" tIns="0" rIns="0" bIns="0" rtlCol="0"/>
          <a:lstStyle/>
          <a:p>
            <a:endParaRPr sz="1590"/>
          </a:p>
        </p:txBody>
      </p:sp>
      <p:sp>
        <p:nvSpPr>
          <p:cNvPr id="5" name="object 5"/>
          <p:cNvSpPr txBox="1"/>
          <p:nvPr/>
        </p:nvSpPr>
        <p:spPr>
          <a:xfrm>
            <a:off x="1213149" y="4383965"/>
            <a:ext cx="118782" cy="228619"/>
          </a:xfrm>
          <a:prstGeom prst="rect">
            <a:avLst/>
          </a:prstGeom>
        </p:spPr>
        <p:txBody>
          <a:bodyPr vert="horz" wrap="square" lIns="0" tIns="11206" rIns="0" bIns="0" rtlCol="0">
            <a:spAutoFit/>
          </a:bodyPr>
          <a:lstStyle/>
          <a:p>
            <a:pPr marL="11430">
              <a:spcBef>
                <a:spcPts val="90"/>
              </a:spcBef>
            </a:pPr>
            <a:r>
              <a:rPr sz="1410" b="1" dirty="0">
                <a:latin typeface="Comic Sans MS" panose="030F0702030302020204"/>
                <a:cs typeface="Comic Sans MS" panose="030F0702030302020204"/>
              </a:rPr>
              <a:t>p</a:t>
            </a:r>
            <a:endParaRPr sz="1410">
              <a:latin typeface="Comic Sans MS" panose="030F0702030302020204"/>
              <a:cs typeface="Comic Sans MS" panose="030F0702030302020204"/>
            </a:endParaRPr>
          </a:p>
        </p:txBody>
      </p:sp>
      <p:sp>
        <p:nvSpPr>
          <p:cNvPr id="6" name="object 6"/>
          <p:cNvSpPr txBox="1"/>
          <p:nvPr/>
        </p:nvSpPr>
        <p:spPr>
          <a:xfrm>
            <a:off x="7936681" y="3684724"/>
            <a:ext cx="113740" cy="228619"/>
          </a:xfrm>
          <a:prstGeom prst="rect">
            <a:avLst/>
          </a:prstGeom>
        </p:spPr>
        <p:txBody>
          <a:bodyPr vert="horz" wrap="square" lIns="0" tIns="11206" rIns="0" bIns="0" rtlCol="0">
            <a:spAutoFit/>
          </a:bodyPr>
          <a:lstStyle/>
          <a:p>
            <a:pPr marL="11430">
              <a:spcBef>
                <a:spcPts val="90"/>
              </a:spcBef>
            </a:pPr>
            <a:r>
              <a:rPr sz="1410" b="1" dirty="0">
                <a:latin typeface="Comic Sans MS" panose="030F0702030302020204"/>
                <a:cs typeface="Comic Sans MS" panose="030F0702030302020204"/>
              </a:rPr>
              <a:t>f</a:t>
            </a:r>
            <a:endParaRPr sz="1410">
              <a:latin typeface="Comic Sans MS" panose="030F0702030302020204"/>
              <a:cs typeface="Comic Sans MS" panose="030F07020303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381000"/>
            <a:ext cx="7547196" cy="457591"/>
          </a:xfrm>
          <a:prstGeom prst="rect">
            <a:avLst/>
          </a:prstGeom>
        </p:spPr>
        <p:txBody>
          <a:bodyPr vert="horz" wrap="square" lIns="0" tIns="11206" rIns="0" bIns="0" rtlCol="0">
            <a:spAutoFit/>
          </a:bodyPr>
          <a:lstStyle/>
          <a:p>
            <a:pPr marL="11430">
              <a:spcBef>
                <a:spcPts val="90"/>
              </a:spcBef>
              <a:tabLst>
                <a:tab pos="1209675" algn="l"/>
                <a:tab pos="6330950" algn="l"/>
              </a:tabLst>
            </a:pPr>
            <a:r>
              <a:rPr spc="-4" dirty="0" smtClean="0"/>
              <a:t>Implementation </a:t>
            </a:r>
            <a:r>
              <a:rPr dirty="0"/>
              <a:t>o</a:t>
            </a:r>
            <a:r>
              <a:rPr u="none" dirty="0"/>
              <a:t>f </a:t>
            </a:r>
            <a:r>
              <a:rPr dirty="0"/>
              <a:t>Pag</a:t>
            </a:r>
            <a:r>
              <a:rPr u="none" dirty="0"/>
              <a:t>e</a:t>
            </a:r>
            <a:r>
              <a:rPr spc="-79" dirty="0"/>
              <a:t> </a:t>
            </a:r>
            <a:r>
              <a:rPr dirty="0"/>
              <a:t>Tabl</a:t>
            </a:r>
            <a:r>
              <a:rPr u="none" dirty="0"/>
              <a:t>e	</a:t>
            </a:r>
            <a:endParaRPr u="none" dirty="0"/>
          </a:p>
        </p:txBody>
      </p:sp>
      <p:sp>
        <p:nvSpPr>
          <p:cNvPr id="3" name="object 3"/>
          <p:cNvSpPr txBox="1"/>
          <p:nvPr/>
        </p:nvSpPr>
        <p:spPr>
          <a:xfrm>
            <a:off x="809737" y="1469315"/>
            <a:ext cx="7018243" cy="1651093"/>
          </a:xfrm>
          <a:prstGeom prst="rect">
            <a:avLst/>
          </a:prstGeom>
        </p:spPr>
        <p:txBody>
          <a:bodyPr vert="horz" wrap="square" lIns="0" tIns="47625" rIns="0" bIns="0" rtlCol="0">
            <a:spAutoFit/>
          </a:bodyPr>
          <a:lstStyle/>
          <a:p>
            <a:pPr marL="313690" marR="245110" indent="-302260">
              <a:lnSpc>
                <a:spcPts val="2285"/>
              </a:lnSpc>
              <a:spcBef>
                <a:spcPts val="375"/>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The TLB is loaded with the (p,f) pair so that future  references to </a:t>
            </a:r>
            <a:r>
              <a:rPr sz="2120" dirty="0">
                <a:latin typeface="Comic Sans MS" panose="030F0702030302020204"/>
                <a:cs typeface="Comic Sans MS" panose="030F0702030302020204"/>
              </a:rPr>
              <a:t>p are </a:t>
            </a:r>
            <a:r>
              <a:rPr sz="2120" spc="-4" dirty="0">
                <a:latin typeface="Comic Sans MS" panose="030F0702030302020204"/>
                <a:cs typeface="Comic Sans MS" panose="030F0702030302020204"/>
              </a:rPr>
              <a:t>found in the </a:t>
            </a:r>
            <a:r>
              <a:rPr sz="2120" dirty="0">
                <a:latin typeface="Comic Sans MS" panose="030F0702030302020204"/>
                <a:cs typeface="Comic Sans MS" panose="030F0702030302020204"/>
              </a:rPr>
              <a:t>TLB, </a:t>
            </a:r>
            <a:r>
              <a:rPr sz="2120" spc="-4" dirty="0">
                <a:latin typeface="Comic Sans MS" panose="030F0702030302020204"/>
                <a:cs typeface="Comic Sans MS" panose="030F0702030302020204"/>
              </a:rPr>
              <a:t>resulting in  improved </a:t>
            </a:r>
            <a:r>
              <a:rPr sz="2120" u="heavy" dirty="0">
                <a:uFill>
                  <a:solidFill>
                    <a:srgbClr val="000000"/>
                  </a:solidFill>
                </a:uFill>
                <a:latin typeface="Comic Sans MS" panose="030F0702030302020204"/>
                <a:cs typeface="Comic Sans MS" panose="030F0702030302020204"/>
              </a:rPr>
              <a:t>hit</a:t>
            </a:r>
            <a:r>
              <a:rPr sz="2120" u="heavy" spc="-4" dirty="0">
                <a:uFill>
                  <a:solidFill>
                    <a:srgbClr val="000000"/>
                  </a:solidFill>
                </a:uFill>
                <a:latin typeface="Comic Sans MS" panose="030F0702030302020204"/>
                <a:cs typeface="Comic Sans MS" panose="030F0702030302020204"/>
              </a:rPr>
              <a:t> ratio</a:t>
            </a:r>
            <a:r>
              <a:rPr sz="2120" spc="-4" dirty="0">
                <a:latin typeface="Comic Sans MS" panose="030F0702030302020204"/>
                <a:cs typeface="Comic Sans MS" panose="030F0702030302020204"/>
              </a:rPr>
              <a:t>.</a:t>
            </a:r>
            <a:endParaRPr sz="2120">
              <a:latin typeface="Comic Sans MS" panose="030F0702030302020204"/>
              <a:cs typeface="Comic Sans MS" panose="030F0702030302020204"/>
            </a:endParaRPr>
          </a:p>
          <a:p>
            <a:pPr marL="313690" marR="4445" indent="-302260">
              <a:lnSpc>
                <a:spcPts val="2285"/>
              </a:lnSpc>
              <a:spcBef>
                <a:spcPts val="1005"/>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On </a:t>
            </a:r>
            <a:r>
              <a:rPr sz="2120" dirty="0">
                <a:latin typeface="Comic Sans MS" panose="030F0702030302020204"/>
                <a:cs typeface="Comic Sans MS" panose="030F0702030302020204"/>
              </a:rPr>
              <a:t>a context </a:t>
            </a:r>
            <a:r>
              <a:rPr sz="2120" spc="-4" dirty="0">
                <a:latin typeface="Comic Sans MS" panose="030F0702030302020204"/>
                <a:cs typeface="Comic Sans MS" panose="030F0702030302020204"/>
              </a:rPr>
              <a:t>switch, the </a:t>
            </a:r>
            <a:r>
              <a:rPr sz="2120" dirty="0">
                <a:latin typeface="Comic Sans MS" panose="030F0702030302020204"/>
                <a:cs typeface="Comic Sans MS" panose="030F0702030302020204"/>
              </a:rPr>
              <a:t>TLB </a:t>
            </a:r>
            <a:r>
              <a:rPr sz="2120" spc="-4" dirty="0">
                <a:latin typeface="Comic Sans MS" panose="030F0702030302020204"/>
                <a:cs typeface="Comic Sans MS" panose="030F0702030302020204"/>
              </a:rPr>
              <a:t>is flushed and is loaded  with values for the scheduled</a:t>
            </a:r>
            <a:r>
              <a:rPr sz="2120" spc="-18" dirty="0">
                <a:latin typeface="Comic Sans MS" panose="030F0702030302020204"/>
                <a:cs typeface="Comic Sans MS" panose="030F0702030302020204"/>
              </a:rPr>
              <a:t> </a:t>
            </a:r>
            <a:r>
              <a:rPr sz="2120" spc="-4" dirty="0">
                <a:latin typeface="Comic Sans MS" panose="030F0702030302020204"/>
                <a:cs typeface="Comic Sans MS" panose="030F0702030302020204"/>
              </a:rPr>
              <a:t>process.</a:t>
            </a:r>
            <a:endParaRPr sz="2120">
              <a:latin typeface="Comic Sans MS" panose="030F0702030302020204"/>
              <a:cs typeface="Comic Sans MS" panose="030F07020303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9063" y="224320"/>
            <a:ext cx="4490720" cy="467359"/>
          </a:xfrm>
          <a:prstGeom prst="rect">
            <a:avLst/>
          </a:prstGeom>
        </p:spPr>
        <p:txBody>
          <a:bodyPr vert="horz" wrap="square" lIns="0" tIns="12700" rIns="0" bIns="0" rtlCol="0">
            <a:spAutoFit/>
          </a:bodyPr>
          <a:lstStyle/>
          <a:p>
            <a:pPr marL="12700">
              <a:lnSpc>
                <a:spcPct val="100000"/>
              </a:lnSpc>
              <a:spcBef>
                <a:spcPts val="100"/>
              </a:spcBef>
            </a:pPr>
            <a:r>
              <a:rPr spc="-25" dirty="0"/>
              <a:t>Paging </a:t>
            </a:r>
            <a:r>
              <a:rPr dirty="0"/>
              <a:t>Hardware </a:t>
            </a:r>
            <a:r>
              <a:rPr spc="-25" dirty="0"/>
              <a:t>With</a:t>
            </a:r>
            <a:r>
              <a:rPr spc="135" dirty="0"/>
              <a:t> </a:t>
            </a:r>
            <a:r>
              <a:rPr spc="5" dirty="0"/>
              <a:t>TLB</a:t>
            </a:r>
            <a:endParaRPr spc="5" dirty="0"/>
          </a:p>
        </p:txBody>
      </p:sp>
      <p:sp>
        <p:nvSpPr>
          <p:cNvPr id="3" name="object 3"/>
          <p:cNvSpPr/>
          <p:nvPr/>
        </p:nvSpPr>
        <p:spPr>
          <a:xfrm>
            <a:off x="426878" y="1016000"/>
            <a:ext cx="7350443" cy="554990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1" y="565672"/>
            <a:ext cx="4448176" cy="457591"/>
          </a:xfrm>
          <a:prstGeom prst="rect">
            <a:avLst/>
          </a:prstGeom>
        </p:spPr>
        <p:txBody>
          <a:bodyPr vert="horz" wrap="square" lIns="0" tIns="11206" rIns="0" bIns="0" rtlCol="0">
            <a:spAutoFit/>
          </a:bodyPr>
          <a:lstStyle/>
          <a:p>
            <a:pPr marL="11430">
              <a:spcBef>
                <a:spcPts val="90"/>
              </a:spcBef>
            </a:pPr>
            <a:r>
              <a:rPr u="none" dirty="0"/>
              <a:t>Performance of</a:t>
            </a:r>
            <a:r>
              <a:rPr spc="-88" dirty="0"/>
              <a:t> </a:t>
            </a:r>
            <a:r>
              <a:rPr u="none" dirty="0"/>
              <a:t>Paging</a:t>
            </a:r>
            <a:endParaRPr u="none" dirty="0"/>
          </a:p>
        </p:txBody>
      </p:sp>
      <p:sp>
        <p:nvSpPr>
          <p:cNvPr id="3" name="object 3"/>
          <p:cNvSpPr txBox="1"/>
          <p:nvPr/>
        </p:nvSpPr>
        <p:spPr>
          <a:xfrm>
            <a:off x="944208" y="1391995"/>
            <a:ext cx="145676" cy="792909"/>
          </a:xfrm>
          <a:prstGeom prst="rect">
            <a:avLst/>
          </a:prstGeom>
        </p:spPr>
        <p:txBody>
          <a:bodyPr vert="horz" wrap="square" lIns="0" tIns="76200" rIns="0" bIns="0" rtlCol="0">
            <a:spAutoFit/>
          </a:bodyPr>
          <a:lstStyle/>
          <a:p>
            <a:pPr marL="11430">
              <a:spcBef>
                <a:spcPts val="600"/>
              </a:spcBef>
            </a:pPr>
            <a:r>
              <a:rPr sz="2120" dirty="0">
                <a:latin typeface="Wingdings" panose="05000000000000000000"/>
                <a:cs typeface="Wingdings" panose="05000000000000000000"/>
              </a:rPr>
              <a:t></a:t>
            </a:r>
            <a:endParaRPr sz="2120">
              <a:latin typeface="Wingdings" panose="05000000000000000000"/>
              <a:cs typeface="Wingdings" panose="05000000000000000000"/>
            </a:endParaRPr>
          </a:p>
          <a:p>
            <a:pPr marL="11430">
              <a:spcBef>
                <a:spcPts val="510"/>
              </a:spcBef>
            </a:pPr>
            <a:r>
              <a:rPr sz="2120" dirty="0">
                <a:latin typeface="Wingdings" panose="05000000000000000000"/>
                <a:cs typeface="Wingdings" panose="05000000000000000000"/>
              </a:rPr>
              <a:t></a:t>
            </a:r>
            <a:endParaRPr sz="2120">
              <a:latin typeface="Wingdings" panose="05000000000000000000"/>
              <a:cs typeface="Wingdings" panose="05000000000000000000"/>
            </a:endParaRPr>
          </a:p>
        </p:txBody>
      </p:sp>
      <p:sp>
        <p:nvSpPr>
          <p:cNvPr id="4" name="object 4"/>
          <p:cNvSpPr txBox="1"/>
          <p:nvPr/>
        </p:nvSpPr>
        <p:spPr>
          <a:xfrm>
            <a:off x="1224355" y="1425613"/>
            <a:ext cx="4072218" cy="793581"/>
          </a:xfrm>
          <a:prstGeom prst="rect">
            <a:avLst/>
          </a:prstGeom>
        </p:spPr>
        <p:txBody>
          <a:bodyPr vert="horz" wrap="square" lIns="0" tIns="11206" rIns="0" bIns="0" rtlCol="0">
            <a:spAutoFit/>
          </a:bodyPr>
          <a:lstStyle/>
          <a:p>
            <a:pPr marL="33655" marR="26670">
              <a:lnSpc>
                <a:spcPct val="120000"/>
              </a:lnSpc>
              <a:spcBef>
                <a:spcPts val="90"/>
              </a:spcBef>
            </a:pP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effective </a:t>
            </a:r>
            <a:r>
              <a:rPr sz="3175" spc="-6" baseline="7000" dirty="0">
                <a:latin typeface="Comic Sans MS" panose="030F0702030302020204"/>
                <a:cs typeface="Comic Sans MS" panose="030F0702030302020204"/>
              </a:rPr>
              <a:t>on </a:t>
            </a:r>
            <a:r>
              <a:rPr sz="3175" baseline="7000" dirty="0">
                <a:latin typeface="Comic Sans MS" panose="030F0702030302020204"/>
                <a:cs typeface="Comic Sans MS" panose="030F0702030302020204"/>
              </a:rPr>
              <a:t>a </a:t>
            </a:r>
            <a:r>
              <a:rPr sz="3175" u="heavy" spc="-6" baseline="7000" dirty="0">
                <a:uFill>
                  <a:solidFill>
                    <a:srgbClr val="000000"/>
                  </a:solidFill>
                </a:uFill>
                <a:latin typeface="Comic Sans MS" panose="030F0702030302020204"/>
                <a:cs typeface="Comic Sans MS" panose="030F0702030302020204"/>
              </a:rPr>
              <a:t>hit</a:t>
            </a:r>
            <a:r>
              <a:rPr sz="3175" spc="-6" baseline="7000" dirty="0">
                <a:latin typeface="Comic Sans MS" panose="030F0702030302020204"/>
                <a:cs typeface="Comic Sans MS" panose="030F0702030302020204"/>
              </a:rPr>
              <a:t> </a:t>
            </a:r>
            <a:r>
              <a:rPr sz="3175" baseline="7000" dirty="0">
                <a:latin typeface="Comic Sans MS" panose="030F0702030302020204"/>
                <a:cs typeface="Comic Sans MS" panose="030F0702030302020204"/>
              </a:rPr>
              <a:t>= </a:t>
            </a: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mem </a:t>
            </a:r>
            <a:r>
              <a:rPr sz="3175" baseline="7000" dirty="0">
                <a:latin typeface="Comic Sans MS" panose="030F0702030302020204"/>
                <a:cs typeface="Comic Sans MS" panose="030F0702030302020204"/>
              </a:rPr>
              <a:t>+ T</a:t>
            </a:r>
            <a:r>
              <a:rPr sz="1410" dirty="0">
                <a:latin typeface="Comic Sans MS" panose="030F0702030302020204"/>
                <a:cs typeface="Comic Sans MS" panose="030F0702030302020204"/>
              </a:rPr>
              <a:t>TLB  </a:t>
            </a: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effective </a:t>
            </a:r>
            <a:r>
              <a:rPr sz="3175" spc="-6" baseline="7000" dirty="0">
                <a:latin typeface="Comic Sans MS" panose="030F0702030302020204"/>
                <a:cs typeface="Comic Sans MS" panose="030F0702030302020204"/>
              </a:rPr>
              <a:t>on </a:t>
            </a:r>
            <a:r>
              <a:rPr sz="3175" baseline="7000" dirty="0">
                <a:latin typeface="Comic Sans MS" panose="030F0702030302020204"/>
                <a:cs typeface="Comic Sans MS" panose="030F0702030302020204"/>
              </a:rPr>
              <a:t>a </a:t>
            </a:r>
            <a:r>
              <a:rPr sz="3175" u="heavy" spc="-6" baseline="7000" dirty="0">
                <a:uFill>
                  <a:solidFill>
                    <a:srgbClr val="000000"/>
                  </a:solidFill>
                </a:uFill>
                <a:latin typeface="Comic Sans MS" panose="030F0702030302020204"/>
                <a:cs typeface="Comic Sans MS" panose="030F0702030302020204"/>
              </a:rPr>
              <a:t>miss</a:t>
            </a:r>
            <a:r>
              <a:rPr sz="3175" spc="-6" baseline="7000" dirty="0">
                <a:latin typeface="Comic Sans MS" panose="030F0702030302020204"/>
                <a:cs typeface="Comic Sans MS" panose="030F0702030302020204"/>
              </a:rPr>
              <a:t> </a:t>
            </a:r>
            <a:r>
              <a:rPr sz="3175" baseline="7000" dirty="0">
                <a:latin typeface="Comic Sans MS" panose="030F0702030302020204"/>
                <a:cs typeface="Comic Sans MS" panose="030F0702030302020204"/>
              </a:rPr>
              <a:t>= </a:t>
            </a:r>
            <a:r>
              <a:rPr sz="3175" spc="-6" baseline="7000" dirty="0">
                <a:latin typeface="Comic Sans MS" panose="030F0702030302020204"/>
                <a:cs typeface="Comic Sans MS" panose="030F0702030302020204"/>
              </a:rPr>
              <a:t>2T</a:t>
            </a:r>
            <a:r>
              <a:rPr sz="1410" spc="-4" dirty="0">
                <a:latin typeface="Comic Sans MS" panose="030F0702030302020204"/>
                <a:cs typeface="Comic Sans MS" panose="030F0702030302020204"/>
              </a:rPr>
              <a:t>mem </a:t>
            </a:r>
            <a:r>
              <a:rPr sz="3175" baseline="7000" dirty="0">
                <a:latin typeface="Comic Sans MS" panose="030F0702030302020204"/>
                <a:cs typeface="Comic Sans MS" panose="030F0702030302020204"/>
              </a:rPr>
              <a:t>+</a:t>
            </a:r>
            <a:r>
              <a:rPr sz="3175" spc="536" baseline="7000" dirty="0">
                <a:latin typeface="Comic Sans MS" panose="030F0702030302020204"/>
                <a:cs typeface="Comic Sans MS" panose="030F0702030302020204"/>
              </a:rPr>
              <a:t> </a:t>
            </a: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TLB</a:t>
            </a:r>
            <a:endParaRPr sz="1410">
              <a:latin typeface="Comic Sans MS" panose="030F0702030302020204"/>
              <a:cs typeface="Comic Sans MS" panose="030F0702030302020204"/>
            </a:endParaRPr>
          </a:p>
        </p:txBody>
      </p:sp>
      <p:sp>
        <p:nvSpPr>
          <p:cNvPr id="5" name="object 5"/>
          <p:cNvSpPr txBox="1"/>
          <p:nvPr/>
        </p:nvSpPr>
        <p:spPr>
          <a:xfrm>
            <a:off x="944208" y="2233108"/>
            <a:ext cx="5804647" cy="337238"/>
          </a:xfrm>
          <a:prstGeom prst="rect">
            <a:avLst/>
          </a:prstGeom>
        </p:spPr>
        <p:txBody>
          <a:bodyPr vert="horz" wrap="square" lIns="0" tIns="11206" rIns="0" bIns="0" rtlCol="0">
            <a:spAutoFit/>
          </a:bodyPr>
          <a:lstStyle/>
          <a:p>
            <a:pPr marL="313690" indent="-302260">
              <a:spcBef>
                <a:spcPts val="90"/>
              </a:spcBef>
              <a:buFont typeface="Wingdings" panose="05000000000000000000"/>
              <a:buChar char=""/>
              <a:tabLst>
                <a:tab pos="313055" algn="l"/>
                <a:tab pos="313690" algn="l"/>
              </a:tabLst>
            </a:pPr>
            <a:r>
              <a:rPr sz="2120" spc="-4" dirty="0">
                <a:latin typeface="Comic Sans MS" panose="030F0702030302020204"/>
                <a:cs typeface="Comic Sans MS" panose="030F0702030302020204"/>
              </a:rPr>
              <a:t>If HR is </a:t>
            </a:r>
            <a:r>
              <a:rPr sz="2120" u="heavy" dirty="0">
                <a:uFill>
                  <a:solidFill>
                    <a:srgbClr val="000000"/>
                  </a:solidFill>
                </a:uFill>
                <a:latin typeface="Comic Sans MS" panose="030F0702030302020204"/>
                <a:cs typeface="Comic Sans MS" panose="030F0702030302020204"/>
              </a:rPr>
              <a:t>hit </a:t>
            </a:r>
            <a:r>
              <a:rPr sz="2120" u="heavy" spc="-4" dirty="0">
                <a:uFill>
                  <a:solidFill>
                    <a:srgbClr val="000000"/>
                  </a:solidFill>
                </a:uFill>
                <a:latin typeface="Comic Sans MS" panose="030F0702030302020204"/>
                <a:cs typeface="Comic Sans MS" panose="030F0702030302020204"/>
              </a:rPr>
              <a:t>ratio</a:t>
            </a:r>
            <a:r>
              <a:rPr sz="2120" spc="-4" dirty="0">
                <a:latin typeface="Comic Sans MS" panose="030F0702030302020204"/>
                <a:cs typeface="Comic Sans MS" panose="030F0702030302020204"/>
              </a:rPr>
              <a:t> and MR is </a:t>
            </a:r>
            <a:r>
              <a:rPr sz="2120" u="heavy" spc="-4" dirty="0">
                <a:uFill>
                  <a:solidFill>
                    <a:srgbClr val="000000"/>
                  </a:solidFill>
                </a:uFill>
                <a:latin typeface="Comic Sans MS" panose="030F0702030302020204"/>
                <a:cs typeface="Comic Sans MS" panose="030F0702030302020204"/>
              </a:rPr>
              <a:t>miss ratio</a:t>
            </a:r>
            <a:r>
              <a:rPr sz="2120" spc="-4" dirty="0">
                <a:latin typeface="Comic Sans MS" panose="030F0702030302020204"/>
                <a:cs typeface="Comic Sans MS" panose="030F0702030302020204"/>
              </a:rPr>
              <a:t>,</a:t>
            </a:r>
            <a:r>
              <a:rPr sz="2120" spc="-62" dirty="0">
                <a:latin typeface="Comic Sans MS" panose="030F0702030302020204"/>
                <a:cs typeface="Comic Sans MS" panose="030F0702030302020204"/>
              </a:rPr>
              <a:t> </a:t>
            </a:r>
            <a:r>
              <a:rPr sz="2120" spc="-4" dirty="0">
                <a:latin typeface="Comic Sans MS" panose="030F0702030302020204"/>
                <a:cs typeface="Comic Sans MS" panose="030F0702030302020204"/>
              </a:rPr>
              <a:t>then</a:t>
            </a:r>
            <a:endParaRPr sz="2120">
              <a:latin typeface="Comic Sans MS" panose="030F0702030302020204"/>
              <a:cs typeface="Comic Sans MS" panose="030F0702030302020204"/>
            </a:endParaRPr>
          </a:p>
        </p:txBody>
      </p:sp>
      <p:sp>
        <p:nvSpPr>
          <p:cNvPr id="6" name="object 6"/>
          <p:cNvSpPr txBox="1"/>
          <p:nvPr/>
        </p:nvSpPr>
        <p:spPr>
          <a:xfrm>
            <a:off x="806824" y="3160059"/>
            <a:ext cx="7530353" cy="403999"/>
          </a:xfrm>
          <a:prstGeom prst="rect">
            <a:avLst/>
          </a:prstGeom>
          <a:solidFill>
            <a:srgbClr val="618FFD"/>
          </a:solidFill>
          <a:ln w="38100">
            <a:solidFill>
              <a:srgbClr val="000000"/>
            </a:solidFill>
          </a:ln>
        </p:spPr>
        <p:txBody>
          <a:bodyPr vert="horz" wrap="square" lIns="0" tIns="77321" rIns="0" bIns="0" rtlCol="0">
            <a:spAutoFit/>
          </a:bodyPr>
          <a:lstStyle/>
          <a:p>
            <a:pPr marL="97790">
              <a:spcBef>
                <a:spcPts val="610"/>
              </a:spcBef>
            </a:pP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effective </a:t>
            </a:r>
            <a:r>
              <a:rPr sz="3175" baseline="7000" dirty="0">
                <a:latin typeface="Comic Sans MS" panose="030F0702030302020204"/>
                <a:cs typeface="Comic Sans MS" panose="030F0702030302020204"/>
              </a:rPr>
              <a:t>= </a:t>
            </a:r>
            <a:r>
              <a:rPr sz="3175" spc="-6" baseline="7000" dirty="0">
                <a:latin typeface="Comic Sans MS" panose="030F0702030302020204"/>
                <a:cs typeface="Comic Sans MS" panose="030F0702030302020204"/>
              </a:rPr>
              <a:t>HR </a:t>
            </a:r>
            <a:r>
              <a:rPr sz="3175" baseline="7000" dirty="0">
                <a:latin typeface="Comic Sans MS" panose="030F0702030302020204"/>
                <a:cs typeface="Comic Sans MS" panose="030F0702030302020204"/>
              </a:rPr>
              <a:t>(T</a:t>
            </a:r>
            <a:r>
              <a:rPr sz="1410" dirty="0">
                <a:latin typeface="Comic Sans MS" panose="030F0702030302020204"/>
                <a:cs typeface="Comic Sans MS" panose="030F0702030302020204"/>
              </a:rPr>
              <a:t>TLB </a:t>
            </a:r>
            <a:r>
              <a:rPr sz="3175" baseline="7000" dirty="0">
                <a:latin typeface="Comic Sans MS" panose="030F0702030302020204"/>
                <a:cs typeface="Comic Sans MS" panose="030F0702030302020204"/>
              </a:rPr>
              <a:t>+ </a:t>
            </a: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mem</a:t>
            </a:r>
            <a:r>
              <a:rPr sz="3175" spc="-6" baseline="7000" dirty="0">
                <a:latin typeface="Comic Sans MS" panose="030F0702030302020204"/>
                <a:cs typeface="Comic Sans MS" panose="030F0702030302020204"/>
              </a:rPr>
              <a:t>) </a:t>
            </a:r>
            <a:r>
              <a:rPr sz="3175" baseline="7000" dirty="0">
                <a:latin typeface="Comic Sans MS" panose="030F0702030302020204"/>
                <a:cs typeface="Comic Sans MS" panose="030F0702030302020204"/>
              </a:rPr>
              <a:t>+ MR </a:t>
            </a: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TLB </a:t>
            </a:r>
            <a:r>
              <a:rPr sz="3175" baseline="7000" dirty="0">
                <a:latin typeface="Comic Sans MS" panose="030F0702030302020204"/>
                <a:cs typeface="Comic Sans MS" panose="030F0702030302020204"/>
              </a:rPr>
              <a:t>+</a:t>
            </a:r>
            <a:r>
              <a:rPr sz="3175" spc="873" baseline="7000" dirty="0">
                <a:latin typeface="Comic Sans MS" panose="030F0702030302020204"/>
                <a:cs typeface="Comic Sans MS" panose="030F0702030302020204"/>
              </a:rPr>
              <a:t> </a:t>
            </a:r>
            <a:r>
              <a:rPr sz="3175" spc="-6" baseline="7000" dirty="0">
                <a:latin typeface="Comic Sans MS" panose="030F0702030302020204"/>
                <a:cs typeface="Comic Sans MS" panose="030F0702030302020204"/>
              </a:rPr>
              <a:t>2T</a:t>
            </a:r>
            <a:r>
              <a:rPr sz="1410" spc="-4" dirty="0">
                <a:latin typeface="Comic Sans MS" panose="030F0702030302020204"/>
                <a:cs typeface="Comic Sans MS" panose="030F0702030302020204"/>
              </a:rPr>
              <a:t>mem</a:t>
            </a:r>
            <a:r>
              <a:rPr sz="3175" spc="-6" baseline="7000" dirty="0">
                <a:latin typeface="Comic Sans MS" panose="030F0702030302020204"/>
                <a:cs typeface="Comic Sans MS" panose="030F0702030302020204"/>
              </a:rPr>
              <a:t>)</a:t>
            </a:r>
            <a:endParaRPr sz="3175" baseline="7000">
              <a:latin typeface="Comic Sans MS" panose="030F0702030302020204"/>
              <a:cs typeface="Comic Sans MS" panose="030F07020303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560074"/>
            <a:ext cx="2857567" cy="457591"/>
          </a:xfrm>
          <a:prstGeom prst="rect">
            <a:avLst/>
          </a:prstGeom>
        </p:spPr>
        <p:txBody>
          <a:bodyPr vert="horz" wrap="square" lIns="0" tIns="11206" rIns="0" bIns="0" rtlCol="0">
            <a:spAutoFit/>
          </a:bodyPr>
          <a:lstStyle/>
          <a:p>
            <a:pPr marL="11430">
              <a:spcBef>
                <a:spcPts val="90"/>
              </a:spcBef>
              <a:tabLst>
                <a:tab pos="2643505" algn="l"/>
                <a:tab pos="6330950" algn="l"/>
              </a:tabLst>
            </a:pPr>
            <a:r>
              <a:rPr dirty="0" smtClean="0"/>
              <a:t>Exampl</a:t>
            </a:r>
            <a:r>
              <a:rPr u="none" dirty="0" smtClean="0"/>
              <a:t>e</a:t>
            </a:r>
            <a:r>
              <a:rPr u="none" dirty="0"/>
              <a:t>	</a:t>
            </a:r>
            <a:endParaRPr u="none" dirty="0"/>
          </a:p>
        </p:txBody>
      </p:sp>
      <p:sp>
        <p:nvSpPr>
          <p:cNvPr id="3" name="object 3"/>
          <p:cNvSpPr txBox="1"/>
          <p:nvPr/>
        </p:nvSpPr>
        <p:spPr>
          <a:xfrm>
            <a:off x="776119" y="1459230"/>
            <a:ext cx="2400300" cy="1611467"/>
          </a:xfrm>
          <a:prstGeom prst="rect">
            <a:avLst/>
          </a:prstGeom>
        </p:spPr>
        <p:txBody>
          <a:bodyPr vert="horz" wrap="square" lIns="0" tIns="76200" rIns="0" bIns="0" rtlCol="0">
            <a:spAutoFit/>
          </a:bodyPr>
          <a:lstStyle/>
          <a:p>
            <a:pPr marL="347345" indent="-302260">
              <a:spcBef>
                <a:spcPts val="600"/>
              </a:spcBef>
              <a:buFont typeface="Wingdings" panose="05000000000000000000"/>
              <a:buChar char=""/>
              <a:tabLst>
                <a:tab pos="346710" algn="l"/>
                <a:tab pos="347345" algn="l"/>
              </a:tabLst>
            </a:pPr>
            <a:r>
              <a:rPr sz="2120" spc="-4" dirty="0">
                <a:latin typeface="Comic Sans MS" panose="030F0702030302020204"/>
                <a:cs typeface="Comic Sans MS" panose="030F0702030302020204"/>
              </a:rPr>
              <a:t>T</a:t>
            </a:r>
            <a:r>
              <a:rPr sz="2120" spc="-6" baseline="-10000" dirty="0">
                <a:latin typeface="Comic Sans MS" panose="030F0702030302020204"/>
                <a:cs typeface="Comic Sans MS" panose="030F0702030302020204"/>
              </a:rPr>
              <a:t>mem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100</a:t>
            </a:r>
            <a:r>
              <a:rPr sz="2120" spc="-296" dirty="0">
                <a:latin typeface="Comic Sans MS" panose="030F0702030302020204"/>
                <a:cs typeface="Comic Sans MS" panose="030F0702030302020204"/>
              </a:rPr>
              <a:t> </a:t>
            </a:r>
            <a:r>
              <a:rPr sz="2120" spc="-4" dirty="0">
                <a:latin typeface="Comic Sans MS" panose="030F0702030302020204"/>
                <a:cs typeface="Comic Sans MS" panose="030F0702030302020204"/>
              </a:rPr>
              <a:t>nsec</a:t>
            </a:r>
            <a:endParaRPr sz="2120">
              <a:latin typeface="Comic Sans MS" panose="030F0702030302020204"/>
              <a:cs typeface="Comic Sans MS" panose="030F0702030302020204"/>
            </a:endParaRPr>
          </a:p>
          <a:p>
            <a:pPr marL="347345" indent="-302260">
              <a:spcBef>
                <a:spcPts val="510"/>
              </a:spcBef>
              <a:buFont typeface="Wingdings" panose="05000000000000000000"/>
              <a:buChar char=""/>
              <a:tabLst>
                <a:tab pos="346710" algn="l"/>
                <a:tab pos="347345" algn="l"/>
              </a:tabLst>
            </a:pPr>
            <a:r>
              <a:rPr sz="2120" dirty="0">
                <a:latin typeface="Comic Sans MS" panose="030F0702030302020204"/>
                <a:cs typeface="Comic Sans MS" panose="030F0702030302020204"/>
              </a:rPr>
              <a:t>T</a:t>
            </a:r>
            <a:r>
              <a:rPr sz="2120" baseline="-10000" dirty="0">
                <a:latin typeface="Comic Sans MS" panose="030F0702030302020204"/>
                <a:cs typeface="Comic Sans MS" panose="030F0702030302020204"/>
              </a:rPr>
              <a:t>TLB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20</a:t>
            </a:r>
            <a:r>
              <a:rPr sz="2120" spc="-296" dirty="0">
                <a:latin typeface="Comic Sans MS" panose="030F0702030302020204"/>
                <a:cs typeface="Comic Sans MS" panose="030F0702030302020204"/>
              </a:rPr>
              <a:t> </a:t>
            </a:r>
            <a:r>
              <a:rPr sz="2120" spc="-4" dirty="0">
                <a:latin typeface="Comic Sans MS" panose="030F0702030302020204"/>
                <a:cs typeface="Comic Sans MS" panose="030F0702030302020204"/>
              </a:rPr>
              <a:t>nsec</a:t>
            </a:r>
            <a:endParaRPr sz="2120">
              <a:latin typeface="Comic Sans MS" panose="030F0702030302020204"/>
              <a:cs typeface="Comic Sans MS" panose="030F0702030302020204"/>
            </a:endParaRPr>
          </a:p>
          <a:p>
            <a:pPr marL="347345" indent="-302260">
              <a:spcBef>
                <a:spcPts val="515"/>
              </a:spcBef>
              <a:buFont typeface="Wingdings" panose="05000000000000000000"/>
              <a:buChar char=""/>
              <a:tabLst>
                <a:tab pos="346710" algn="l"/>
                <a:tab pos="347345" algn="l"/>
              </a:tabLst>
            </a:pPr>
            <a:r>
              <a:rPr sz="2120" spc="-4" dirty="0">
                <a:latin typeface="Comic Sans MS" panose="030F0702030302020204"/>
                <a:cs typeface="Comic Sans MS" panose="030F0702030302020204"/>
              </a:rPr>
              <a:t>Hit </a:t>
            </a:r>
            <a:r>
              <a:rPr sz="2120" spc="-9" dirty="0">
                <a:latin typeface="Comic Sans MS" panose="030F0702030302020204"/>
                <a:cs typeface="Comic Sans MS" panose="030F0702030302020204"/>
              </a:rPr>
              <a:t>ratio </a:t>
            </a:r>
            <a:r>
              <a:rPr sz="2120" spc="-4" dirty="0">
                <a:latin typeface="Comic Sans MS" panose="030F0702030302020204"/>
                <a:cs typeface="Comic Sans MS" panose="030F0702030302020204"/>
              </a:rPr>
              <a:t>is</a:t>
            </a:r>
            <a:r>
              <a:rPr sz="2120" spc="-79" dirty="0">
                <a:latin typeface="Comic Sans MS" panose="030F0702030302020204"/>
                <a:cs typeface="Comic Sans MS" panose="030F0702030302020204"/>
              </a:rPr>
              <a:t> </a:t>
            </a:r>
            <a:r>
              <a:rPr sz="2120" spc="-4" dirty="0">
                <a:latin typeface="Comic Sans MS" panose="030F0702030302020204"/>
                <a:cs typeface="Comic Sans MS" panose="030F0702030302020204"/>
              </a:rPr>
              <a:t>80%</a:t>
            </a:r>
            <a:endParaRPr sz="2120">
              <a:latin typeface="Comic Sans MS" panose="030F0702030302020204"/>
              <a:cs typeface="Comic Sans MS" panose="030F0702030302020204"/>
            </a:endParaRPr>
          </a:p>
          <a:p>
            <a:pPr marL="347345" indent="-302260">
              <a:spcBef>
                <a:spcPts val="775"/>
              </a:spcBef>
              <a:buFont typeface="Wingdings" panose="05000000000000000000"/>
              <a:buChar char=""/>
              <a:tabLst>
                <a:tab pos="346710" algn="l"/>
                <a:tab pos="347345" algn="l"/>
              </a:tabLst>
            </a:pP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effective </a:t>
            </a:r>
            <a:r>
              <a:rPr sz="3175" baseline="7000" dirty="0">
                <a:latin typeface="Comic Sans MS" panose="030F0702030302020204"/>
                <a:cs typeface="Comic Sans MS" panose="030F0702030302020204"/>
              </a:rPr>
              <a:t>=</a:t>
            </a:r>
            <a:r>
              <a:rPr sz="3175" spc="-357" baseline="7000" dirty="0">
                <a:latin typeface="Comic Sans MS" panose="030F0702030302020204"/>
                <a:cs typeface="Comic Sans MS" panose="030F0702030302020204"/>
              </a:rPr>
              <a:t> </a:t>
            </a:r>
            <a:r>
              <a:rPr sz="3175" baseline="7000" dirty="0">
                <a:latin typeface="Comic Sans MS" panose="030F0702030302020204"/>
                <a:cs typeface="Comic Sans MS" panose="030F0702030302020204"/>
              </a:rPr>
              <a:t>?</a:t>
            </a:r>
            <a:endParaRPr sz="3175" baseline="7000">
              <a:latin typeface="Comic Sans MS" panose="030F0702030302020204"/>
              <a:cs typeface="Comic Sans MS" panose="030F0702030302020204"/>
            </a:endParaRPr>
          </a:p>
        </p:txBody>
      </p:sp>
      <p:sp>
        <p:nvSpPr>
          <p:cNvPr id="4" name="object 4"/>
          <p:cNvSpPr txBox="1"/>
          <p:nvPr/>
        </p:nvSpPr>
        <p:spPr>
          <a:xfrm>
            <a:off x="806824" y="3496236"/>
            <a:ext cx="7530353" cy="685331"/>
          </a:xfrm>
          <a:prstGeom prst="rect">
            <a:avLst/>
          </a:prstGeom>
          <a:solidFill>
            <a:srgbClr val="618FFD"/>
          </a:solidFill>
          <a:ln w="38100">
            <a:solidFill>
              <a:srgbClr val="000000"/>
            </a:solidFill>
          </a:ln>
        </p:spPr>
        <p:txBody>
          <a:bodyPr vert="horz" wrap="square" lIns="0" tIns="43703" rIns="0" bIns="0" rtlCol="0">
            <a:spAutoFit/>
          </a:bodyPr>
          <a:lstStyle/>
          <a:p>
            <a:pPr marL="97790">
              <a:lnSpc>
                <a:spcPts val="2535"/>
              </a:lnSpc>
              <a:spcBef>
                <a:spcPts val="345"/>
              </a:spcBef>
            </a:pPr>
            <a:r>
              <a:rPr sz="2120" spc="-4" dirty="0">
                <a:latin typeface="Comic Sans MS" panose="030F0702030302020204"/>
                <a:cs typeface="Comic Sans MS" panose="030F0702030302020204"/>
              </a:rPr>
              <a:t>T</a:t>
            </a:r>
            <a:r>
              <a:rPr sz="2120" spc="-6" baseline="-10000" dirty="0">
                <a:latin typeface="Comic Sans MS" panose="030F0702030302020204"/>
                <a:cs typeface="Comic Sans MS" panose="030F0702030302020204"/>
              </a:rPr>
              <a:t>effective </a:t>
            </a:r>
            <a:r>
              <a:rPr sz="2120" dirty="0">
                <a:latin typeface="Comic Sans MS" panose="030F0702030302020204"/>
                <a:cs typeface="Comic Sans MS" panose="030F0702030302020204"/>
              </a:rPr>
              <a:t>= </a:t>
            </a:r>
            <a:r>
              <a:rPr sz="2120" spc="-9" dirty="0">
                <a:latin typeface="Comic Sans MS" panose="030F0702030302020204"/>
                <a:cs typeface="Comic Sans MS" panose="030F0702030302020204"/>
              </a:rPr>
              <a:t>0.8 (20 </a:t>
            </a:r>
            <a:r>
              <a:rPr sz="2120" dirty="0">
                <a:latin typeface="Comic Sans MS" panose="030F0702030302020204"/>
                <a:cs typeface="Comic Sans MS" panose="030F0702030302020204"/>
              </a:rPr>
              <a:t>+ </a:t>
            </a:r>
            <a:r>
              <a:rPr sz="2120" spc="-9" dirty="0">
                <a:latin typeface="Comic Sans MS" panose="030F0702030302020204"/>
                <a:cs typeface="Comic Sans MS" panose="030F0702030302020204"/>
              </a:rPr>
              <a:t>100) </a:t>
            </a:r>
            <a:r>
              <a:rPr sz="2120" dirty="0">
                <a:latin typeface="Comic Sans MS" panose="030F0702030302020204"/>
                <a:cs typeface="Comic Sans MS" panose="030F0702030302020204"/>
              </a:rPr>
              <a:t>+ </a:t>
            </a:r>
            <a:r>
              <a:rPr sz="2120" spc="-9" dirty="0">
                <a:latin typeface="Comic Sans MS" panose="030F0702030302020204"/>
                <a:cs typeface="Comic Sans MS" panose="030F0702030302020204"/>
              </a:rPr>
              <a:t>0.2 (20 </a:t>
            </a:r>
            <a:r>
              <a:rPr sz="2120" dirty="0">
                <a:latin typeface="Comic Sans MS" panose="030F0702030302020204"/>
                <a:cs typeface="Comic Sans MS" panose="030F0702030302020204"/>
              </a:rPr>
              <a:t>+</a:t>
            </a:r>
            <a:r>
              <a:rPr sz="2120" spc="-256" dirty="0">
                <a:latin typeface="Comic Sans MS" panose="030F0702030302020204"/>
                <a:cs typeface="Comic Sans MS" panose="030F0702030302020204"/>
              </a:rPr>
              <a:t> </a:t>
            </a:r>
            <a:r>
              <a:rPr sz="2120" spc="-9" dirty="0">
                <a:latin typeface="Comic Sans MS" panose="030F0702030302020204"/>
                <a:cs typeface="Comic Sans MS" panose="030F0702030302020204"/>
              </a:rPr>
              <a:t>2x100)</a:t>
            </a:r>
            <a:endParaRPr sz="2120">
              <a:latin typeface="Comic Sans MS" panose="030F0702030302020204"/>
              <a:cs typeface="Comic Sans MS" panose="030F0702030302020204"/>
            </a:endParaRPr>
          </a:p>
          <a:p>
            <a:pPr marL="1144905">
              <a:lnSpc>
                <a:spcPts val="2535"/>
              </a:lnSpc>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140</a:t>
            </a:r>
            <a:r>
              <a:rPr sz="2120" spc="-13" dirty="0">
                <a:latin typeface="Comic Sans MS" panose="030F0702030302020204"/>
                <a:cs typeface="Comic Sans MS" panose="030F0702030302020204"/>
              </a:rPr>
              <a:t> </a:t>
            </a:r>
            <a:r>
              <a:rPr sz="2120" spc="-4" dirty="0">
                <a:latin typeface="Comic Sans MS" panose="030F0702030302020204"/>
                <a:cs typeface="Comic Sans MS" panose="030F0702030302020204"/>
              </a:rPr>
              <a:t>nanoseconds</a:t>
            </a:r>
            <a:endParaRPr sz="2120">
              <a:latin typeface="Comic Sans MS" panose="030F0702030302020204"/>
              <a:cs typeface="Comic Sans MS" panose="030F07020303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603190"/>
            <a:ext cx="2062331" cy="457591"/>
          </a:xfrm>
          <a:prstGeom prst="rect">
            <a:avLst/>
          </a:prstGeom>
        </p:spPr>
        <p:txBody>
          <a:bodyPr vert="horz" wrap="square" lIns="0" tIns="11206" rIns="0" bIns="0" rtlCol="0">
            <a:spAutoFit/>
          </a:bodyPr>
          <a:lstStyle/>
          <a:p>
            <a:pPr marL="11430">
              <a:spcBef>
                <a:spcPts val="90"/>
              </a:spcBef>
            </a:pPr>
            <a:r>
              <a:rPr u="none" dirty="0"/>
              <a:t>Example</a:t>
            </a:r>
            <a:endParaRPr u="none" dirty="0"/>
          </a:p>
        </p:txBody>
      </p:sp>
      <p:sp>
        <p:nvSpPr>
          <p:cNvPr id="3" name="object 3"/>
          <p:cNvSpPr txBox="1"/>
          <p:nvPr/>
        </p:nvSpPr>
        <p:spPr>
          <a:xfrm>
            <a:off x="776119" y="1459230"/>
            <a:ext cx="2400300" cy="1611467"/>
          </a:xfrm>
          <a:prstGeom prst="rect">
            <a:avLst/>
          </a:prstGeom>
        </p:spPr>
        <p:txBody>
          <a:bodyPr vert="horz" wrap="square" lIns="0" tIns="76200" rIns="0" bIns="0" rtlCol="0">
            <a:spAutoFit/>
          </a:bodyPr>
          <a:lstStyle/>
          <a:p>
            <a:pPr marL="347345" indent="-302260">
              <a:spcBef>
                <a:spcPts val="600"/>
              </a:spcBef>
              <a:buFont typeface="Wingdings" panose="05000000000000000000"/>
              <a:buChar char=""/>
              <a:tabLst>
                <a:tab pos="346710" algn="l"/>
                <a:tab pos="347345" algn="l"/>
              </a:tabLst>
            </a:pPr>
            <a:r>
              <a:rPr sz="2120" spc="-4" dirty="0">
                <a:latin typeface="Comic Sans MS" panose="030F0702030302020204"/>
                <a:cs typeface="Comic Sans MS" panose="030F0702030302020204"/>
              </a:rPr>
              <a:t>T</a:t>
            </a:r>
            <a:r>
              <a:rPr sz="2120" spc="-6" baseline="-10000" dirty="0">
                <a:latin typeface="Comic Sans MS" panose="030F0702030302020204"/>
                <a:cs typeface="Comic Sans MS" panose="030F0702030302020204"/>
              </a:rPr>
              <a:t>mem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100</a:t>
            </a:r>
            <a:r>
              <a:rPr sz="2120" spc="-296" dirty="0">
                <a:latin typeface="Comic Sans MS" panose="030F0702030302020204"/>
                <a:cs typeface="Comic Sans MS" panose="030F0702030302020204"/>
              </a:rPr>
              <a:t> </a:t>
            </a:r>
            <a:r>
              <a:rPr sz="2120" spc="-4" dirty="0">
                <a:latin typeface="Comic Sans MS" panose="030F0702030302020204"/>
                <a:cs typeface="Comic Sans MS" panose="030F0702030302020204"/>
              </a:rPr>
              <a:t>nsec</a:t>
            </a:r>
            <a:endParaRPr sz="2120">
              <a:latin typeface="Comic Sans MS" panose="030F0702030302020204"/>
              <a:cs typeface="Comic Sans MS" panose="030F0702030302020204"/>
            </a:endParaRPr>
          </a:p>
          <a:p>
            <a:pPr marL="347345" indent="-302260">
              <a:spcBef>
                <a:spcPts val="510"/>
              </a:spcBef>
              <a:buFont typeface="Wingdings" panose="05000000000000000000"/>
              <a:buChar char=""/>
              <a:tabLst>
                <a:tab pos="346710" algn="l"/>
                <a:tab pos="347345" algn="l"/>
              </a:tabLst>
            </a:pPr>
            <a:r>
              <a:rPr sz="2120" dirty="0">
                <a:latin typeface="Comic Sans MS" panose="030F0702030302020204"/>
                <a:cs typeface="Comic Sans MS" panose="030F0702030302020204"/>
              </a:rPr>
              <a:t>T</a:t>
            </a:r>
            <a:r>
              <a:rPr sz="2120" baseline="-10000" dirty="0">
                <a:latin typeface="Comic Sans MS" panose="030F0702030302020204"/>
                <a:cs typeface="Comic Sans MS" panose="030F0702030302020204"/>
              </a:rPr>
              <a:t>TLB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20</a:t>
            </a:r>
            <a:r>
              <a:rPr sz="2120" spc="-296" dirty="0">
                <a:latin typeface="Comic Sans MS" panose="030F0702030302020204"/>
                <a:cs typeface="Comic Sans MS" panose="030F0702030302020204"/>
              </a:rPr>
              <a:t> </a:t>
            </a:r>
            <a:r>
              <a:rPr sz="2120" spc="-4" dirty="0">
                <a:latin typeface="Comic Sans MS" panose="030F0702030302020204"/>
                <a:cs typeface="Comic Sans MS" panose="030F0702030302020204"/>
              </a:rPr>
              <a:t>nsec</a:t>
            </a:r>
            <a:endParaRPr sz="2120">
              <a:latin typeface="Comic Sans MS" panose="030F0702030302020204"/>
              <a:cs typeface="Comic Sans MS" panose="030F0702030302020204"/>
            </a:endParaRPr>
          </a:p>
          <a:p>
            <a:pPr marL="347345" indent="-302260">
              <a:spcBef>
                <a:spcPts val="515"/>
              </a:spcBef>
              <a:buFont typeface="Wingdings" panose="05000000000000000000"/>
              <a:buChar char=""/>
              <a:tabLst>
                <a:tab pos="346710" algn="l"/>
                <a:tab pos="347345" algn="l"/>
              </a:tabLst>
            </a:pPr>
            <a:r>
              <a:rPr sz="2120" spc="-4" dirty="0">
                <a:latin typeface="Comic Sans MS" panose="030F0702030302020204"/>
                <a:cs typeface="Comic Sans MS" panose="030F0702030302020204"/>
              </a:rPr>
              <a:t>Hit </a:t>
            </a:r>
            <a:r>
              <a:rPr sz="2120" spc="-9" dirty="0">
                <a:latin typeface="Comic Sans MS" panose="030F0702030302020204"/>
                <a:cs typeface="Comic Sans MS" panose="030F0702030302020204"/>
              </a:rPr>
              <a:t>ratio </a:t>
            </a:r>
            <a:r>
              <a:rPr sz="2120" spc="-4" dirty="0">
                <a:latin typeface="Comic Sans MS" panose="030F0702030302020204"/>
                <a:cs typeface="Comic Sans MS" panose="030F0702030302020204"/>
              </a:rPr>
              <a:t>is</a:t>
            </a:r>
            <a:r>
              <a:rPr sz="2120" spc="-79" dirty="0">
                <a:latin typeface="Comic Sans MS" panose="030F0702030302020204"/>
                <a:cs typeface="Comic Sans MS" panose="030F0702030302020204"/>
              </a:rPr>
              <a:t> </a:t>
            </a:r>
            <a:r>
              <a:rPr sz="2120" spc="-4" dirty="0">
                <a:latin typeface="Comic Sans MS" panose="030F0702030302020204"/>
                <a:cs typeface="Comic Sans MS" panose="030F0702030302020204"/>
              </a:rPr>
              <a:t>98%</a:t>
            </a:r>
            <a:endParaRPr sz="2120">
              <a:latin typeface="Comic Sans MS" panose="030F0702030302020204"/>
              <a:cs typeface="Comic Sans MS" panose="030F0702030302020204"/>
            </a:endParaRPr>
          </a:p>
          <a:p>
            <a:pPr marL="347345" indent="-302260">
              <a:spcBef>
                <a:spcPts val="775"/>
              </a:spcBef>
              <a:buFont typeface="Wingdings" panose="05000000000000000000"/>
              <a:buChar char=""/>
              <a:tabLst>
                <a:tab pos="346710" algn="l"/>
                <a:tab pos="347345" algn="l"/>
              </a:tabLst>
            </a:pPr>
            <a:r>
              <a:rPr sz="3175" spc="-6" baseline="7000" dirty="0">
                <a:latin typeface="Comic Sans MS" panose="030F0702030302020204"/>
                <a:cs typeface="Comic Sans MS" panose="030F0702030302020204"/>
              </a:rPr>
              <a:t>T</a:t>
            </a:r>
            <a:r>
              <a:rPr sz="1410" spc="-4" dirty="0">
                <a:latin typeface="Comic Sans MS" panose="030F0702030302020204"/>
                <a:cs typeface="Comic Sans MS" panose="030F0702030302020204"/>
              </a:rPr>
              <a:t>effective </a:t>
            </a:r>
            <a:r>
              <a:rPr sz="3175" baseline="7000" dirty="0">
                <a:latin typeface="Comic Sans MS" panose="030F0702030302020204"/>
                <a:cs typeface="Comic Sans MS" panose="030F0702030302020204"/>
              </a:rPr>
              <a:t>=</a:t>
            </a:r>
            <a:r>
              <a:rPr sz="3175" spc="-357" baseline="7000" dirty="0">
                <a:latin typeface="Comic Sans MS" panose="030F0702030302020204"/>
                <a:cs typeface="Comic Sans MS" panose="030F0702030302020204"/>
              </a:rPr>
              <a:t> </a:t>
            </a:r>
            <a:r>
              <a:rPr sz="3175" baseline="7000" dirty="0">
                <a:latin typeface="Comic Sans MS" panose="030F0702030302020204"/>
                <a:cs typeface="Comic Sans MS" panose="030F0702030302020204"/>
              </a:rPr>
              <a:t>?</a:t>
            </a:r>
            <a:endParaRPr sz="3175" baseline="7000">
              <a:latin typeface="Comic Sans MS" panose="030F0702030302020204"/>
              <a:cs typeface="Comic Sans MS" panose="030F0702030302020204"/>
            </a:endParaRPr>
          </a:p>
        </p:txBody>
      </p:sp>
      <p:sp>
        <p:nvSpPr>
          <p:cNvPr id="4" name="object 4"/>
          <p:cNvSpPr txBox="1"/>
          <p:nvPr/>
        </p:nvSpPr>
        <p:spPr>
          <a:xfrm>
            <a:off x="806824" y="3697941"/>
            <a:ext cx="7530353" cy="685331"/>
          </a:xfrm>
          <a:prstGeom prst="rect">
            <a:avLst/>
          </a:prstGeom>
          <a:solidFill>
            <a:srgbClr val="618FFD"/>
          </a:solidFill>
          <a:ln w="38100">
            <a:solidFill>
              <a:srgbClr val="000000"/>
            </a:solidFill>
          </a:ln>
        </p:spPr>
        <p:txBody>
          <a:bodyPr vert="horz" wrap="square" lIns="0" tIns="43703" rIns="0" bIns="0" rtlCol="0">
            <a:spAutoFit/>
          </a:bodyPr>
          <a:lstStyle/>
          <a:p>
            <a:pPr marL="97790">
              <a:lnSpc>
                <a:spcPts val="2535"/>
              </a:lnSpc>
              <a:spcBef>
                <a:spcPts val="345"/>
              </a:spcBef>
            </a:pPr>
            <a:r>
              <a:rPr sz="2120" spc="-4" dirty="0">
                <a:latin typeface="Comic Sans MS" panose="030F0702030302020204"/>
                <a:cs typeface="Comic Sans MS" panose="030F0702030302020204"/>
              </a:rPr>
              <a:t>T</a:t>
            </a:r>
            <a:r>
              <a:rPr sz="2120" spc="-6" baseline="-10000" dirty="0">
                <a:latin typeface="Comic Sans MS" panose="030F0702030302020204"/>
                <a:cs typeface="Comic Sans MS" panose="030F0702030302020204"/>
              </a:rPr>
              <a:t>effective </a:t>
            </a:r>
            <a:r>
              <a:rPr sz="2120" dirty="0">
                <a:latin typeface="Comic Sans MS" panose="030F0702030302020204"/>
                <a:cs typeface="Comic Sans MS" panose="030F0702030302020204"/>
              </a:rPr>
              <a:t>= </a:t>
            </a:r>
            <a:r>
              <a:rPr sz="2120" spc="-9" dirty="0">
                <a:latin typeface="Comic Sans MS" panose="030F0702030302020204"/>
                <a:cs typeface="Comic Sans MS" panose="030F0702030302020204"/>
              </a:rPr>
              <a:t>0.98 (20 </a:t>
            </a: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100) </a:t>
            </a:r>
            <a:r>
              <a:rPr sz="2120" dirty="0">
                <a:latin typeface="Comic Sans MS" panose="030F0702030302020204"/>
                <a:cs typeface="Comic Sans MS" panose="030F0702030302020204"/>
              </a:rPr>
              <a:t>+ </a:t>
            </a:r>
            <a:r>
              <a:rPr sz="2120" spc="-9" dirty="0">
                <a:latin typeface="Comic Sans MS" panose="030F0702030302020204"/>
                <a:cs typeface="Comic Sans MS" panose="030F0702030302020204"/>
              </a:rPr>
              <a:t>0.02 (20 </a:t>
            </a:r>
            <a:r>
              <a:rPr sz="2120" dirty="0">
                <a:latin typeface="Comic Sans MS" panose="030F0702030302020204"/>
                <a:cs typeface="Comic Sans MS" panose="030F0702030302020204"/>
              </a:rPr>
              <a:t>+</a:t>
            </a:r>
            <a:r>
              <a:rPr sz="2120" spc="-260" dirty="0">
                <a:latin typeface="Comic Sans MS" panose="030F0702030302020204"/>
                <a:cs typeface="Comic Sans MS" panose="030F0702030302020204"/>
              </a:rPr>
              <a:t> </a:t>
            </a:r>
            <a:r>
              <a:rPr sz="2120" spc="-4" dirty="0">
                <a:latin typeface="Comic Sans MS" panose="030F0702030302020204"/>
                <a:cs typeface="Comic Sans MS" panose="030F0702030302020204"/>
              </a:rPr>
              <a:t>2x100)</a:t>
            </a:r>
            <a:endParaRPr sz="2120">
              <a:latin typeface="Comic Sans MS" panose="030F0702030302020204"/>
              <a:cs typeface="Comic Sans MS" panose="030F0702030302020204"/>
            </a:endParaRPr>
          </a:p>
          <a:p>
            <a:pPr marL="1144905">
              <a:lnSpc>
                <a:spcPts val="2535"/>
              </a:lnSpc>
            </a:pPr>
            <a:r>
              <a:rPr sz="2120" dirty="0">
                <a:latin typeface="Comic Sans MS" panose="030F0702030302020204"/>
                <a:cs typeface="Comic Sans MS" panose="030F0702030302020204"/>
              </a:rPr>
              <a:t>= </a:t>
            </a:r>
            <a:r>
              <a:rPr sz="2120" spc="-4" dirty="0">
                <a:latin typeface="Comic Sans MS" panose="030F0702030302020204"/>
                <a:cs typeface="Comic Sans MS" panose="030F0702030302020204"/>
              </a:rPr>
              <a:t>122</a:t>
            </a:r>
            <a:r>
              <a:rPr sz="2120" spc="-13" dirty="0">
                <a:latin typeface="Comic Sans MS" panose="030F0702030302020204"/>
                <a:cs typeface="Comic Sans MS" panose="030F0702030302020204"/>
              </a:rPr>
              <a:t> </a:t>
            </a:r>
            <a:r>
              <a:rPr sz="2120" spc="-4" dirty="0">
                <a:latin typeface="Comic Sans MS" panose="030F0702030302020204"/>
                <a:cs typeface="Comic Sans MS" panose="030F0702030302020204"/>
              </a:rPr>
              <a:t>nanoseconds</a:t>
            </a:r>
            <a:endParaRPr sz="2120">
              <a:latin typeface="Comic Sans MS" panose="030F0702030302020204"/>
              <a:cs typeface="Comic Sans MS" panose="030F07020303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3475" y="224320"/>
            <a:ext cx="4475480" cy="467359"/>
          </a:xfrm>
          <a:prstGeom prst="rect">
            <a:avLst/>
          </a:prstGeom>
        </p:spPr>
        <p:txBody>
          <a:bodyPr vert="horz" wrap="square" lIns="0" tIns="12700" rIns="0" bIns="0" rtlCol="0">
            <a:spAutoFit/>
          </a:bodyPr>
          <a:lstStyle/>
          <a:p>
            <a:pPr marL="12700">
              <a:lnSpc>
                <a:spcPct val="100000"/>
              </a:lnSpc>
              <a:spcBef>
                <a:spcPts val="100"/>
              </a:spcBef>
            </a:pPr>
            <a:r>
              <a:rPr dirty="0"/>
              <a:t>Structure </a:t>
            </a:r>
            <a:r>
              <a:rPr spc="-10" dirty="0"/>
              <a:t>of the </a:t>
            </a:r>
            <a:r>
              <a:rPr spc="-20" dirty="0"/>
              <a:t>Page</a:t>
            </a:r>
            <a:r>
              <a:rPr spc="-85" dirty="0"/>
              <a:t> </a:t>
            </a:r>
            <a:r>
              <a:rPr spc="-70" dirty="0"/>
              <a:t>Table</a:t>
            </a:r>
            <a:endParaRPr spc="-70" dirty="0"/>
          </a:p>
        </p:txBody>
      </p:sp>
      <p:sp>
        <p:nvSpPr>
          <p:cNvPr id="3" name="object 3"/>
          <p:cNvSpPr txBox="1"/>
          <p:nvPr/>
        </p:nvSpPr>
        <p:spPr>
          <a:xfrm>
            <a:off x="412598" y="1161732"/>
            <a:ext cx="8267700" cy="4582160"/>
          </a:xfrm>
          <a:prstGeom prst="rect">
            <a:avLst/>
          </a:prstGeom>
        </p:spPr>
        <p:txBody>
          <a:bodyPr vert="horz" wrap="square" lIns="0" tIns="10160" rIns="0" bIns="0" rtlCol="0">
            <a:spAutoFit/>
          </a:bodyPr>
          <a:lstStyle/>
          <a:p>
            <a:pPr marL="393700" marR="55880" indent="-342900">
              <a:lnSpc>
                <a:spcPct val="101000"/>
              </a:lnSpc>
              <a:spcBef>
                <a:spcPts val="80"/>
              </a:spcBef>
              <a:buChar char="•"/>
              <a:tabLst>
                <a:tab pos="393065" algn="l"/>
                <a:tab pos="393700" algn="l"/>
              </a:tabLst>
            </a:pPr>
            <a:r>
              <a:rPr sz="2400" spc="-15" dirty="0">
                <a:latin typeface="Arial" panose="020B0604020202020204"/>
                <a:cs typeface="Arial" panose="020B0604020202020204"/>
              </a:rPr>
              <a:t>Memory </a:t>
            </a:r>
            <a:r>
              <a:rPr sz="2400" spc="-5" dirty="0">
                <a:latin typeface="Arial" panose="020B0604020202020204"/>
                <a:cs typeface="Arial" panose="020B0604020202020204"/>
              </a:rPr>
              <a:t>structures for </a:t>
            </a:r>
            <a:r>
              <a:rPr sz="2400" spc="-30" dirty="0">
                <a:latin typeface="Arial" panose="020B0604020202020204"/>
                <a:cs typeface="Arial" panose="020B0604020202020204"/>
              </a:rPr>
              <a:t>paging </a:t>
            </a:r>
            <a:r>
              <a:rPr sz="2400" spc="-15" dirty="0">
                <a:latin typeface="Arial" panose="020B0604020202020204"/>
                <a:cs typeface="Arial" panose="020B0604020202020204"/>
              </a:rPr>
              <a:t>can </a:t>
            </a:r>
            <a:r>
              <a:rPr sz="2400" spc="-25" dirty="0">
                <a:latin typeface="Arial" panose="020B0604020202020204"/>
                <a:cs typeface="Arial" panose="020B0604020202020204"/>
              </a:rPr>
              <a:t>get </a:t>
            </a:r>
            <a:r>
              <a:rPr sz="2400" spc="-30" dirty="0">
                <a:latin typeface="Arial" panose="020B0604020202020204"/>
                <a:cs typeface="Arial" panose="020B0604020202020204"/>
              </a:rPr>
              <a:t>huge </a:t>
            </a:r>
            <a:r>
              <a:rPr sz="2400" spc="-25" dirty="0">
                <a:latin typeface="Arial" panose="020B0604020202020204"/>
                <a:cs typeface="Arial" panose="020B0604020202020204"/>
              </a:rPr>
              <a:t>using </a:t>
            </a:r>
            <a:r>
              <a:rPr sz="2400" spc="-10" dirty="0">
                <a:latin typeface="Arial" panose="020B0604020202020204"/>
                <a:cs typeface="Arial" panose="020B0604020202020204"/>
              </a:rPr>
              <a:t>straight-  </a:t>
            </a:r>
            <a:r>
              <a:rPr sz="2400" spc="-15" dirty="0">
                <a:latin typeface="Arial" panose="020B0604020202020204"/>
                <a:cs typeface="Arial" panose="020B0604020202020204"/>
              </a:rPr>
              <a:t>forward</a:t>
            </a:r>
            <a:r>
              <a:rPr sz="2400" spc="90" dirty="0">
                <a:latin typeface="Arial" panose="020B0604020202020204"/>
                <a:cs typeface="Arial" panose="020B0604020202020204"/>
              </a:rPr>
              <a:t> </a:t>
            </a:r>
            <a:r>
              <a:rPr sz="2400" spc="-20" dirty="0">
                <a:latin typeface="Arial" panose="020B0604020202020204"/>
                <a:cs typeface="Arial" panose="020B0604020202020204"/>
              </a:rPr>
              <a:t>methods</a:t>
            </a:r>
            <a:endParaRPr sz="2400">
              <a:latin typeface="Arial" panose="020B0604020202020204"/>
              <a:cs typeface="Arial" panose="020B0604020202020204"/>
            </a:endParaRPr>
          </a:p>
          <a:p>
            <a:pPr marL="800100" lvl="1" indent="-292100">
              <a:lnSpc>
                <a:spcPct val="100000"/>
              </a:lnSpc>
              <a:spcBef>
                <a:spcPts val="520"/>
              </a:spcBef>
              <a:buChar char="–"/>
              <a:tabLst>
                <a:tab pos="799465" algn="l"/>
                <a:tab pos="800100" algn="l"/>
              </a:tabLst>
            </a:pPr>
            <a:r>
              <a:rPr sz="2000" spc="-20" dirty="0">
                <a:latin typeface="Arial" panose="020B0604020202020204"/>
                <a:cs typeface="Arial" panose="020B0604020202020204"/>
              </a:rPr>
              <a:t>Consider </a:t>
            </a:r>
            <a:r>
              <a:rPr sz="2000" dirty="0">
                <a:latin typeface="Arial" panose="020B0604020202020204"/>
                <a:cs typeface="Arial" panose="020B0604020202020204"/>
              </a:rPr>
              <a:t>a </a:t>
            </a:r>
            <a:r>
              <a:rPr sz="2000" spc="-10" dirty="0">
                <a:latin typeface="Arial" panose="020B0604020202020204"/>
                <a:cs typeface="Arial" panose="020B0604020202020204"/>
              </a:rPr>
              <a:t>32-bit </a:t>
            </a:r>
            <a:r>
              <a:rPr sz="2000" spc="-20" dirty="0">
                <a:latin typeface="Arial" panose="020B0604020202020204"/>
                <a:cs typeface="Arial" panose="020B0604020202020204"/>
              </a:rPr>
              <a:t>logical </a:t>
            </a:r>
            <a:r>
              <a:rPr sz="2000" spc="-5" dirty="0">
                <a:latin typeface="Arial" panose="020B0604020202020204"/>
                <a:cs typeface="Arial" panose="020B0604020202020204"/>
              </a:rPr>
              <a:t>address </a:t>
            </a:r>
            <a:r>
              <a:rPr sz="2000" spc="-10" dirty="0">
                <a:latin typeface="Arial" panose="020B0604020202020204"/>
                <a:cs typeface="Arial" panose="020B0604020202020204"/>
              </a:rPr>
              <a:t>space as on </a:t>
            </a:r>
            <a:r>
              <a:rPr sz="2000" dirty="0">
                <a:latin typeface="Arial" panose="020B0604020202020204"/>
                <a:cs typeface="Arial" panose="020B0604020202020204"/>
              </a:rPr>
              <a:t>modern</a:t>
            </a:r>
            <a:r>
              <a:rPr sz="2000" spc="-190" dirty="0">
                <a:latin typeface="Arial" panose="020B0604020202020204"/>
                <a:cs typeface="Arial" panose="020B0604020202020204"/>
              </a:rPr>
              <a:t> </a:t>
            </a:r>
            <a:r>
              <a:rPr sz="2000" dirty="0">
                <a:latin typeface="Arial" panose="020B0604020202020204"/>
                <a:cs typeface="Arial" panose="020B0604020202020204"/>
              </a:rPr>
              <a:t>computers</a:t>
            </a:r>
            <a:endParaRPr sz="2000">
              <a:latin typeface="Arial" panose="020B0604020202020204"/>
              <a:cs typeface="Arial" panose="020B0604020202020204"/>
            </a:endParaRPr>
          </a:p>
          <a:p>
            <a:pPr marL="800100" lvl="1" indent="-292100">
              <a:lnSpc>
                <a:spcPct val="100000"/>
              </a:lnSpc>
              <a:spcBef>
                <a:spcPts val="500"/>
              </a:spcBef>
              <a:buChar char="–"/>
              <a:tabLst>
                <a:tab pos="799465" algn="l"/>
                <a:tab pos="800100" algn="l"/>
              </a:tabLst>
            </a:pPr>
            <a:r>
              <a:rPr sz="2000" spc="-20" dirty="0">
                <a:latin typeface="Arial" panose="020B0604020202020204"/>
                <a:cs typeface="Arial" panose="020B0604020202020204"/>
              </a:rPr>
              <a:t>Page </a:t>
            </a:r>
            <a:r>
              <a:rPr sz="2000" spc="-15" dirty="0">
                <a:latin typeface="Arial" panose="020B0604020202020204"/>
                <a:cs typeface="Arial" panose="020B0604020202020204"/>
              </a:rPr>
              <a:t>size </a:t>
            </a:r>
            <a:r>
              <a:rPr sz="2000" spc="-10" dirty="0">
                <a:latin typeface="Arial" panose="020B0604020202020204"/>
                <a:cs typeface="Arial" panose="020B0604020202020204"/>
              </a:rPr>
              <a:t>of </a:t>
            </a:r>
            <a:r>
              <a:rPr sz="2000" dirty="0">
                <a:latin typeface="Arial" panose="020B0604020202020204"/>
                <a:cs typeface="Arial" panose="020B0604020202020204"/>
              </a:rPr>
              <a:t>4 </a:t>
            </a:r>
            <a:r>
              <a:rPr sz="2000" spc="-20" dirty="0">
                <a:latin typeface="Arial" panose="020B0604020202020204"/>
                <a:cs typeface="Arial" panose="020B0604020202020204"/>
              </a:rPr>
              <a:t>KB</a:t>
            </a:r>
            <a:r>
              <a:rPr sz="2000" spc="125" dirty="0">
                <a:latin typeface="Arial" panose="020B0604020202020204"/>
                <a:cs typeface="Arial" panose="020B0604020202020204"/>
              </a:rPr>
              <a:t> </a:t>
            </a:r>
            <a:r>
              <a:rPr sz="2000" spc="-10" dirty="0">
                <a:latin typeface="Arial" panose="020B0604020202020204"/>
                <a:cs typeface="Arial" panose="020B0604020202020204"/>
              </a:rPr>
              <a:t>(2</a:t>
            </a:r>
            <a:r>
              <a:rPr sz="1950" spc="-15" baseline="26000" dirty="0">
                <a:latin typeface="Arial" panose="020B0604020202020204"/>
                <a:cs typeface="Arial" panose="020B0604020202020204"/>
              </a:rPr>
              <a:t>12</a:t>
            </a:r>
            <a:r>
              <a:rPr sz="2000" spc="-10" dirty="0">
                <a:latin typeface="Arial" panose="020B0604020202020204"/>
                <a:cs typeface="Arial" panose="020B0604020202020204"/>
              </a:rPr>
              <a:t>)</a:t>
            </a:r>
            <a:endParaRPr sz="2000">
              <a:latin typeface="Arial" panose="020B0604020202020204"/>
              <a:cs typeface="Arial" panose="020B0604020202020204"/>
            </a:endParaRPr>
          </a:p>
          <a:p>
            <a:pPr marL="800100" lvl="1" indent="-292100">
              <a:lnSpc>
                <a:spcPct val="100000"/>
              </a:lnSpc>
              <a:spcBef>
                <a:spcPts val="400"/>
              </a:spcBef>
              <a:buChar char="–"/>
              <a:tabLst>
                <a:tab pos="799465" algn="l"/>
                <a:tab pos="800100" algn="l"/>
              </a:tabLst>
            </a:pPr>
            <a:r>
              <a:rPr sz="2000" spc="-20" dirty="0">
                <a:latin typeface="Arial" panose="020B0604020202020204"/>
                <a:cs typeface="Arial" panose="020B0604020202020204"/>
              </a:rPr>
              <a:t>Page </a:t>
            </a:r>
            <a:r>
              <a:rPr sz="2000" spc="-10" dirty="0">
                <a:latin typeface="Arial" panose="020B0604020202020204"/>
                <a:cs typeface="Arial" panose="020B0604020202020204"/>
              </a:rPr>
              <a:t>table </a:t>
            </a:r>
            <a:r>
              <a:rPr sz="2000" spc="-25" dirty="0">
                <a:latin typeface="Arial" panose="020B0604020202020204"/>
                <a:cs typeface="Arial" panose="020B0604020202020204"/>
              </a:rPr>
              <a:t>would </a:t>
            </a:r>
            <a:r>
              <a:rPr sz="2000" spc="-10" dirty="0">
                <a:latin typeface="Arial" panose="020B0604020202020204"/>
                <a:cs typeface="Arial" panose="020B0604020202020204"/>
              </a:rPr>
              <a:t>have </a:t>
            </a:r>
            <a:r>
              <a:rPr sz="2000" dirty="0">
                <a:latin typeface="Arial" panose="020B0604020202020204"/>
                <a:cs typeface="Arial" panose="020B0604020202020204"/>
              </a:rPr>
              <a:t>1 </a:t>
            </a:r>
            <a:r>
              <a:rPr sz="2000" spc="-25" dirty="0">
                <a:latin typeface="Arial" panose="020B0604020202020204"/>
                <a:cs typeface="Arial" panose="020B0604020202020204"/>
              </a:rPr>
              <a:t>million </a:t>
            </a:r>
            <a:r>
              <a:rPr sz="2000" spc="-5" dirty="0">
                <a:latin typeface="Arial" panose="020B0604020202020204"/>
                <a:cs typeface="Arial" panose="020B0604020202020204"/>
              </a:rPr>
              <a:t>entries (2</a:t>
            </a:r>
            <a:r>
              <a:rPr sz="1950" spc="-7" baseline="26000" dirty="0">
                <a:latin typeface="Arial" panose="020B0604020202020204"/>
                <a:cs typeface="Arial" panose="020B0604020202020204"/>
              </a:rPr>
              <a:t>32 </a:t>
            </a:r>
            <a:r>
              <a:rPr sz="2000" dirty="0">
                <a:latin typeface="Arial" panose="020B0604020202020204"/>
                <a:cs typeface="Arial" panose="020B0604020202020204"/>
              </a:rPr>
              <a:t>/</a:t>
            </a:r>
            <a:r>
              <a:rPr sz="2000" spc="254" dirty="0">
                <a:latin typeface="Arial" panose="020B0604020202020204"/>
                <a:cs typeface="Arial" panose="020B0604020202020204"/>
              </a:rPr>
              <a:t> </a:t>
            </a:r>
            <a:r>
              <a:rPr sz="2000" spc="-20" dirty="0">
                <a:latin typeface="Arial" panose="020B0604020202020204"/>
                <a:cs typeface="Arial" panose="020B0604020202020204"/>
              </a:rPr>
              <a:t>2</a:t>
            </a:r>
            <a:r>
              <a:rPr sz="1950" spc="-30" baseline="26000" dirty="0">
                <a:latin typeface="Arial" panose="020B0604020202020204"/>
                <a:cs typeface="Arial" panose="020B0604020202020204"/>
              </a:rPr>
              <a:t>12</a:t>
            </a:r>
            <a:r>
              <a:rPr sz="2000" spc="-20" dirty="0">
                <a:latin typeface="Arial" panose="020B0604020202020204"/>
                <a:cs typeface="Arial" panose="020B0604020202020204"/>
              </a:rPr>
              <a:t>)</a:t>
            </a:r>
            <a:endParaRPr sz="2000">
              <a:latin typeface="Arial" panose="020B0604020202020204"/>
              <a:cs typeface="Arial" panose="020B0604020202020204"/>
            </a:endParaRPr>
          </a:p>
          <a:p>
            <a:pPr marL="800100" marR="822960" lvl="1" indent="-292100">
              <a:lnSpc>
                <a:spcPct val="100000"/>
              </a:lnSpc>
              <a:spcBef>
                <a:spcPts val="500"/>
              </a:spcBef>
              <a:buChar char="–"/>
              <a:tabLst>
                <a:tab pos="799465" algn="l"/>
                <a:tab pos="800100" algn="l"/>
              </a:tabLst>
            </a:pPr>
            <a:r>
              <a:rPr sz="2000" spc="20" dirty="0">
                <a:latin typeface="Arial" panose="020B0604020202020204"/>
                <a:cs typeface="Arial" panose="020B0604020202020204"/>
              </a:rPr>
              <a:t>If </a:t>
            </a:r>
            <a:r>
              <a:rPr sz="2000" spc="-10" dirty="0">
                <a:latin typeface="Arial" panose="020B0604020202020204"/>
                <a:cs typeface="Arial" panose="020B0604020202020204"/>
              </a:rPr>
              <a:t>each </a:t>
            </a:r>
            <a:r>
              <a:rPr sz="2000" spc="5" dirty="0">
                <a:latin typeface="Arial" panose="020B0604020202020204"/>
                <a:cs typeface="Arial" panose="020B0604020202020204"/>
              </a:rPr>
              <a:t>entry </a:t>
            </a:r>
            <a:r>
              <a:rPr sz="2000" spc="-25" dirty="0">
                <a:latin typeface="Arial" panose="020B0604020202020204"/>
                <a:cs typeface="Arial" panose="020B0604020202020204"/>
              </a:rPr>
              <a:t>is </a:t>
            </a:r>
            <a:r>
              <a:rPr sz="2000" dirty="0">
                <a:latin typeface="Arial" panose="020B0604020202020204"/>
                <a:cs typeface="Arial" panose="020B0604020202020204"/>
              </a:rPr>
              <a:t>4 bytes </a:t>
            </a:r>
            <a:r>
              <a:rPr sz="2000" spc="15" dirty="0">
                <a:latin typeface="Arial" panose="020B0604020202020204"/>
                <a:cs typeface="Arial" panose="020B0604020202020204"/>
              </a:rPr>
              <a:t>-&gt; </a:t>
            </a:r>
            <a:r>
              <a:rPr sz="2000" dirty="0">
                <a:latin typeface="Arial" panose="020B0604020202020204"/>
                <a:cs typeface="Arial" panose="020B0604020202020204"/>
              </a:rPr>
              <a:t>4 </a:t>
            </a:r>
            <a:r>
              <a:rPr sz="2000" spc="15" dirty="0">
                <a:latin typeface="Arial" panose="020B0604020202020204"/>
                <a:cs typeface="Arial" panose="020B0604020202020204"/>
              </a:rPr>
              <a:t>MB </a:t>
            </a:r>
            <a:r>
              <a:rPr sz="2000" spc="-10" dirty="0">
                <a:latin typeface="Arial" panose="020B0604020202020204"/>
                <a:cs typeface="Arial" panose="020B0604020202020204"/>
              </a:rPr>
              <a:t>of </a:t>
            </a:r>
            <a:r>
              <a:rPr sz="2000" spc="-15" dirty="0">
                <a:latin typeface="Arial" panose="020B0604020202020204"/>
                <a:cs typeface="Arial" panose="020B0604020202020204"/>
              </a:rPr>
              <a:t>physical </a:t>
            </a:r>
            <a:r>
              <a:rPr sz="2000" spc="-5" dirty="0">
                <a:latin typeface="Arial" panose="020B0604020202020204"/>
                <a:cs typeface="Arial" panose="020B0604020202020204"/>
              </a:rPr>
              <a:t>address </a:t>
            </a:r>
            <a:r>
              <a:rPr sz="2000" spc="-10" dirty="0">
                <a:latin typeface="Arial" panose="020B0604020202020204"/>
                <a:cs typeface="Arial" panose="020B0604020202020204"/>
              </a:rPr>
              <a:t>space </a:t>
            </a:r>
            <a:r>
              <a:rPr sz="2000" dirty="0">
                <a:latin typeface="Arial" panose="020B0604020202020204"/>
                <a:cs typeface="Arial" panose="020B0604020202020204"/>
              </a:rPr>
              <a:t>/  </a:t>
            </a:r>
            <a:r>
              <a:rPr sz="2000" spc="10" dirty="0">
                <a:latin typeface="Arial" panose="020B0604020202020204"/>
                <a:cs typeface="Arial" panose="020B0604020202020204"/>
              </a:rPr>
              <a:t>memory </a:t>
            </a:r>
            <a:r>
              <a:rPr sz="2000" spc="5" dirty="0">
                <a:latin typeface="Arial" panose="020B0604020202020204"/>
                <a:cs typeface="Arial" panose="020B0604020202020204"/>
              </a:rPr>
              <a:t>for </a:t>
            </a:r>
            <a:r>
              <a:rPr sz="2000" spc="-15" dirty="0">
                <a:latin typeface="Arial" panose="020B0604020202020204"/>
                <a:cs typeface="Arial" panose="020B0604020202020204"/>
              </a:rPr>
              <a:t>page </a:t>
            </a:r>
            <a:r>
              <a:rPr sz="2000" spc="-10" dirty="0">
                <a:latin typeface="Arial" panose="020B0604020202020204"/>
                <a:cs typeface="Arial" panose="020B0604020202020204"/>
              </a:rPr>
              <a:t>table</a:t>
            </a:r>
            <a:r>
              <a:rPr sz="2000" spc="-130" dirty="0">
                <a:latin typeface="Arial" panose="020B0604020202020204"/>
                <a:cs typeface="Arial" panose="020B0604020202020204"/>
              </a:rPr>
              <a:t> </a:t>
            </a:r>
            <a:r>
              <a:rPr sz="2000" spc="-20" dirty="0">
                <a:latin typeface="Arial" panose="020B0604020202020204"/>
                <a:cs typeface="Arial" panose="020B0604020202020204"/>
              </a:rPr>
              <a:t>alone</a:t>
            </a:r>
            <a:endParaRPr sz="2000">
              <a:latin typeface="Arial" panose="020B0604020202020204"/>
              <a:cs typeface="Arial" panose="020B0604020202020204"/>
            </a:endParaRPr>
          </a:p>
          <a:p>
            <a:pPr marL="1193800" lvl="2" indent="-229235">
              <a:lnSpc>
                <a:spcPct val="100000"/>
              </a:lnSpc>
              <a:spcBef>
                <a:spcPts val="500"/>
              </a:spcBef>
              <a:buChar char="•"/>
              <a:tabLst>
                <a:tab pos="1193165" algn="l"/>
                <a:tab pos="1193800" algn="l"/>
              </a:tabLst>
            </a:pPr>
            <a:r>
              <a:rPr sz="2000" spc="-15" dirty="0">
                <a:latin typeface="Arial" panose="020B0604020202020204"/>
                <a:cs typeface="Arial" panose="020B0604020202020204"/>
              </a:rPr>
              <a:t>That </a:t>
            </a:r>
            <a:r>
              <a:rPr sz="2000" spc="-5" dirty="0">
                <a:latin typeface="Arial" panose="020B0604020202020204"/>
                <a:cs typeface="Arial" panose="020B0604020202020204"/>
              </a:rPr>
              <a:t>amount </a:t>
            </a:r>
            <a:r>
              <a:rPr sz="2000" spc="-10" dirty="0">
                <a:latin typeface="Arial" panose="020B0604020202020204"/>
                <a:cs typeface="Arial" panose="020B0604020202020204"/>
              </a:rPr>
              <a:t>of </a:t>
            </a:r>
            <a:r>
              <a:rPr sz="2000" spc="10" dirty="0">
                <a:latin typeface="Arial" panose="020B0604020202020204"/>
                <a:cs typeface="Arial" panose="020B0604020202020204"/>
              </a:rPr>
              <a:t>memory </a:t>
            </a:r>
            <a:r>
              <a:rPr sz="2000" spc="-10" dirty="0">
                <a:latin typeface="Arial" panose="020B0604020202020204"/>
                <a:cs typeface="Arial" panose="020B0604020202020204"/>
              </a:rPr>
              <a:t>used </a:t>
            </a:r>
            <a:r>
              <a:rPr sz="2000" spc="20" dirty="0">
                <a:latin typeface="Arial" panose="020B0604020202020204"/>
                <a:cs typeface="Arial" panose="020B0604020202020204"/>
              </a:rPr>
              <a:t>to </a:t>
            </a:r>
            <a:r>
              <a:rPr sz="2000" spc="-5" dirty="0">
                <a:latin typeface="Arial" panose="020B0604020202020204"/>
                <a:cs typeface="Arial" panose="020B0604020202020204"/>
              </a:rPr>
              <a:t>cost </a:t>
            </a:r>
            <a:r>
              <a:rPr sz="2000" dirty="0">
                <a:latin typeface="Arial" panose="020B0604020202020204"/>
                <a:cs typeface="Arial" panose="020B0604020202020204"/>
              </a:rPr>
              <a:t>a</a:t>
            </a:r>
            <a:r>
              <a:rPr sz="2000" spc="-130" dirty="0">
                <a:latin typeface="Arial" panose="020B0604020202020204"/>
                <a:cs typeface="Arial" panose="020B0604020202020204"/>
              </a:rPr>
              <a:t> </a:t>
            </a:r>
            <a:r>
              <a:rPr sz="2000" spc="-20" dirty="0">
                <a:latin typeface="Arial" panose="020B0604020202020204"/>
                <a:cs typeface="Arial" panose="020B0604020202020204"/>
              </a:rPr>
              <a:t>lot</a:t>
            </a:r>
            <a:endParaRPr sz="2000">
              <a:latin typeface="Arial" panose="020B0604020202020204"/>
              <a:cs typeface="Arial" panose="020B0604020202020204"/>
            </a:endParaRPr>
          </a:p>
          <a:p>
            <a:pPr marL="1193800" lvl="2" indent="-229235">
              <a:lnSpc>
                <a:spcPct val="100000"/>
              </a:lnSpc>
              <a:spcBef>
                <a:spcPts val="500"/>
              </a:spcBef>
              <a:buChar char="•"/>
              <a:tabLst>
                <a:tab pos="1193165" algn="l"/>
                <a:tab pos="1193800" algn="l"/>
              </a:tabLst>
            </a:pPr>
            <a:r>
              <a:rPr sz="2000" spc="-225" dirty="0">
                <a:latin typeface="Arial" panose="020B0604020202020204"/>
                <a:cs typeface="Arial" panose="020B0604020202020204"/>
              </a:rPr>
              <a:t>Don</a:t>
            </a:r>
            <a:r>
              <a:rPr sz="2000" spc="-225" dirty="0">
                <a:latin typeface="AoyagiKouzanFontT"/>
                <a:cs typeface="AoyagiKouzanFontT"/>
              </a:rPr>
              <a:t>’</a:t>
            </a:r>
            <a:r>
              <a:rPr sz="2000" spc="-225" dirty="0">
                <a:latin typeface="Arial" panose="020B0604020202020204"/>
                <a:cs typeface="Arial" panose="020B0604020202020204"/>
              </a:rPr>
              <a:t>t </a:t>
            </a:r>
            <a:r>
              <a:rPr sz="2000" spc="-20" dirty="0">
                <a:latin typeface="Arial" panose="020B0604020202020204"/>
                <a:cs typeface="Arial" panose="020B0604020202020204"/>
              </a:rPr>
              <a:t>want </a:t>
            </a:r>
            <a:r>
              <a:rPr sz="2000" spc="20" dirty="0">
                <a:latin typeface="Arial" panose="020B0604020202020204"/>
                <a:cs typeface="Arial" panose="020B0604020202020204"/>
              </a:rPr>
              <a:t>to </a:t>
            </a:r>
            <a:r>
              <a:rPr sz="2000" spc="-15" dirty="0">
                <a:latin typeface="Arial" panose="020B0604020202020204"/>
                <a:cs typeface="Arial" panose="020B0604020202020204"/>
              </a:rPr>
              <a:t>allocate </a:t>
            </a:r>
            <a:r>
              <a:rPr sz="2000" dirty="0">
                <a:latin typeface="Arial" panose="020B0604020202020204"/>
                <a:cs typeface="Arial" panose="020B0604020202020204"/>
              </a:rPr>
              <a:t>that </a:t>
            </a:r>
            <a:r>
              <a:rPr sz="2000" spc="-15" dirty="0">
                <a:latin typeface="Arial" panose="020B0604020202020204"/>
                <a:cs typeface="Arial" panose="020B0604020202020204"/>
              </a:rPr>
              <a:t>contiguously </a:t>
            </a:r>
            <a:r>
              <a:rPr sz="2000" spc="-25" dirty="0">
                <a:latin typeface="Arial" panose="020B0604020202020204"/>
                <a:cs typeface="Arial" panose="020B0604020202020204"/>
              </a:rPr>
              <a:t>in </a:t>
            </a:r>
            <a:r>
              <a:rPr sz="2000" spc="-10" dirty="0">
                <a:latin typeface="Arial" panose="020B0604020202020204"/>
                <a:cs typeface="Arial" panose="020B0604020202020204"/>
              </a:rPr>
              <a:t>main</a:t>
            </a:r>
            <a:r>
              <a:rPr sz="2000" spc="270" dirty="0">
                <a:latin typeface="Arial" panose="020B0604020202020204"/>
                <a:cs typeface="Arial" panose="020B0604020202020204"/>
              </a:rPr>
              <a:t> </a:t>
            </a:r>
            <a:r>
              <a:rPr sz="2000" spc="10" dirty="0">
                <a:latin typeface="Arial" panose="020B0604020202020204"/>
                <a:cs typeface="Arial" panose="020B0604020202020204"/>
              </a:rPr>
              <a:t>memory</a:t>
            </a:r>
            <a:endParaRPr sz="2000">
              <a:latin typeface="Arial" panose="020B0604020202020204"/>
              <a:cs typeface="Arial" panose="020B0604020202020204"/>
            </a:endParaRPr>
          </a:p>
          <a:p>
            <a:pPr marL="393700" indent="-342900">
              <a:lnSpc>
                <a:spcPct val="100000"/>
              </a:lnSpc>
              <a:spcBef>
                <a:spcPts val="600"/>
              </a:spcBef>
              <a:buChar char="•"/>
              <a:tabLst>
                <a:tab pos="393065" algn="l"/>
                <a:tab pos="393700" algn="l"/>
              </a:tabLst>
            </a:pPr>
            <a:r>
              <a:rPr sz="2400" spc="-25" dirty="0">
                <a:latin typeface="Arial" panose="020B0604020202020204"/>
                <a:cs typeface="Arial" panose="020B0604020202020204"/>
              </a:rPr>
              <a:t>Hierarchical</a:t>
            </a:r>
            <a:r>
              <a:rPr sz="2400" spc="295" dirty="0">
                <a:latin typeface="Arial" panose="020B0604020202020204"/>
                <a:cs typeface="Arial" panose="020B0604020202020204"/>
              </a:rPr>
              <a:t> </a:t>
            </a:r>
            <a:r>
              <a:rPr sz="2400" spc="-25" dirty="0">
                <a:latin typeface="Arial" panose="020B0604020202020204"/>
                <a:cs typeface="Arial" panose="020B0604020202020204"/>
              </a:rPr>
              <a:t>Paging</a:t>
            </a:r>
            <a:endParaRPr sz="2400">
              <a:latin typeface="Arial" panose="020B0604020202020204"/>
              <a:cs typeface="Arial" panose="020B0604020202020204"/>
            </a:endParaRPr>
          </a:p>
          <a:p>
            <a:pPr marL="393700" indent="-342900">
              <a:lnSpc>
                <a:spcPct val="100000"/>
              </a:lnSpc>
              <a:spcBef>
                <a:spcPts val="520"/>
              </a:spcBef>
              <a:buChar char="•"/>
              <a:tabLst>
                <a:tab pos="393065" algn="l"/>
                <a:tab pos="393700" algn="l"/>
              </a:tabLst>
            </a:pPr>
            <a:r>
              <a:rPr sz="2400" spc="-25" dirty="0">
                <a:latin typeface="Arial" panose="020B0604020202020204"/>
                <a:cs typeface="Arial" panose="020B0604020202020204"/>
              </a:rPr>
              <a:t>Hashed </a:t>
            </a:r>
            <a:r>
              <a:rPr sz="2400" spc="-20" dirty="0">
                <a:latin typeface="Arial" panose="020B0604020202020204"/>
                <a:cs typeface="Arial" panose="020B0604020202020204"/>
              </a:rPr>
              <a:t>Page</a:t>
            </a:r>
            <a:r>
              <a:rPr sz="2400" spc="210" dirty="0">
                <a:latin typeface="Arial" panose="020B0604020202020204"/>
                <a:cs typeface="Arial" panose="020B0604020202020204"/>
              </a:rPr>
              <a:t> </a:t>
            </a:r>
            <a:r>
              <a:rPr sz="2400" spc="-70" dirty="0">
                <a:latin typeface="Arial" panose="020B0604020202020204"/>
                <a:cs typeface="Arial" panose="020B0604020202020204"/>
              </a:rPr>
              <a:t>Tables</a:t>
            </a:r>
            <a:endParaRPr sz="2400">
              <a:latin typeface="Arial" panose="020B0604020202020204"/>
              <a:cs typeface="Arial" panose="020B0604020202020204"/>
            </a:endParaRPr>
          </a:p>
          <a:p>
            <a:pPr marL="393700" indent="-342900">
              <a:lnSpc>
                <a:spcPct val="100000"/>
              </a:lnSpc>
              <a:spcBef>
                <a:spcPts val="620"/>
              </a:spcBef>
              <a:buChar char="•"/>
              <a:tabLst>
                <a:tab pos="393065" algn="l"/>
                <a:tab pos="393700" algn="l"/>
              </a:tabLst>
            </a:pPr>
            <a:r>
              <a:rPr sz="2400" spc="-10" dirty="0">
                <a:latin typeface="Arial" panose="020B0604020202020204"/>
                <a:cs typeface="Arial" panose="020B0604020202020204"/>
              </a:rPr>
              <a:t>Inverted </a:t>
            </a:r>
            <a:r>
              <a:rPr sz="2400" spc="-20" dirty="0">
                <a:latin typeface="Arial" panose="020B0604020202020204"/>
                <a:cs typeface="Arial" panose="020B0604020202020204"/>
              </a:rPr>
              <a:t>Page</a:t>
            </a:r>
            <a:r>
              <a:rPr sz="2400" spc="95" dirty="0">
                <a:latin typeface="Arial" panose="020B0604020202020204"/>
                <a:cs typeface="Arial" panose="020B0604020202020204"/>
              </a:rPr>
              <a:t> </a:t>
            </a:r>
            <a:r>
              <a:rPr sz="2400" spc="-70" dirty="0">
                <a:latin typeface="Arial" panose="020B0604020202020204"/>
                <a:cs typeface="Arial" panose="020B0604020202020204"/>
              </a:rPr>
              <a:t>Tables</a:t>
            </a:r>
            <a:endParaRPr sz="2400">
              <a:latin typeface="Arial" panose="020B0604020202020204"/>
              <a:cs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457200"/>
            <a:ext cx="5988025" cy="459100"/>
          </a:xfrm>
          <a:prstGeom prst="rect">
            <a:avLst/>
          </a:prstGeom>
        </p:spPr>
        <p:txBody>
          <a:bodyPr vert="horz" wrap="square" lIns="0" tIns="12700" rIns="0" bIns="0" rtlCol="0">
            <a:spAutoFit/>
          </a:bodyPr>
          <a:lstStyle/>
          <a:p>
            <a:pPr marL="12700">
              <a:lnSpc>
                <a:spcPct val="100000"/>
              </a:lnSpc>
              <a:spcBef>
                <a:spcPts val="100"/>
              </a:spcBef>
            </a:pPr>
            <a:r>
              <a:rPr dirty="0" smtClean="0"/>
              <a:t>Hierarchical</a:t>
            </a:r>
            <a:r>
              <a:rPr lang="en-US" dirty="0" smtClean="0"/>
              <a:t>/ Multi-level</a:t>
            </a:r>
            <a:r>
              <a:rPr dirty="0" smtClean="0"/>
              <a:t> </a:t>
            </a:r>
            <a:r>
              <a:rPr spc="-20" dirty="0"/>
              <a:t>Page</a:t>
            </a:r>
            <a:r>
              <a:rPr spc="-114" dirty="0"/>
              <a:t> </a:t>
            </a:r>
            <a:r>
              <a:rPr spc="-65" dirty="0"/>
              <a:t>Tables</a:t>
            </a:r>
            <a:endParaRPr spc="-65" dirty="0"/>
          </a:p>
        </p:txBody>
      </p:sp>
      <p:sp>
        <p:nvSpPr>
          <p:cNvPr id="3" name="object 3"/>
          <p:cNvSpPr txBox="1"/>
          <p:nvPr/>
        </p:nvSpPr>
        <p:spPr>
          <a:xfrm>
            <a:off x="419703" y="1209357"/>
            <a:ext cx="7574280" cy="4349652"/>
          </a:xfrm>
          <a:prstGeom prst="rect">
            <a:avLst/>
          </a:prstGeom>
        </p:spPr>
        <p:txBody>
          <a:bodyPr vert="horz" wrap="square" lIns="0" tIns="10160" rIns="0" bIns="0" rtlCol="0">
            <a:spAutoFit/>
          </a:bodyPr>
          <a:lstStyle/>
          <a:p>
            <a:pPr marL="355600" marR="5080" indent="-342900">
              <a:lnSpc>
                <a:spcPct val="101000"/>
              </a:lnSpc>
              <a:spcBef>
                <a:spcPts val="80"/>
              </a:spcBef>
              <a:buChar char="•"/>
              <a:tabLst>
                <a:tab pos="354965" algn="l"/>
                <a:tab pos="355600" algn="l"/>
              </a:tabLst>
            </a:pPr>
            <a:r>
              <a:rPr sz="2400" spc="-15" dirty="0">
                <a:latin typeface="+mj-lt"/>
                <a:cs typeface="Arial" panose="020B0604020202020204"/>
              </a:rPr>
              <a:t>Break </a:t>
            </a:r>
            <a:r>
              <a:rPr sz="2400" spc="-20" dirty="0">
                <a:latin typeface="+mj-lt"/>
                <a:cs typeface="Arial" panose="020B0604020202020204"/>
              </a:rPr>
              <a:t>up </a:t>
            </a:r>
            <a:r>
              <a:rPr sz="2400" spc="-5" dirty="0">
                <a:latin typeface="+mj-lt"/>
                <a:cs typeface="Arial" panose="020B0604020202020204"/>
              </a:rPr>
              <a:t>the </a:t>
            </a:r>
            <a:r>
              <a:rPr sz="2400" spc="-25" dirty="0">
                <a:latin typeface="+mj-lt"/>
                <a:cs typeface="Arial" panose="020B0604020202020204"/>
              </a:rPr>
              <a:t>logical </a:t>
            </a:r>
            <a:r>
              <a:rPr sz="2400" spc="-20" dirty="0">
                <a:latin typeface="+mj-lt"/>
                <a:cs typeface="Arial" panose="020B0604020202020204"/>
              </a:rPr>
              <a:t>address </a:t>
            </a:r>
            <a:r>
              <a:rPr sz="2400" spc="-15" dirty="0">
                <a:latin typeface="+mj-lt"/>
                <a:cs typeface="Arial" panose="020B0604020202020204"/>
              </a:rPr>
              <a:t>space </a:t>
            </a:r>
            <a:r>
              <a:rPr sz="2400" spc="-10" dirty="0">
                <a:latin typeface="+mj-lt"/>
                <a:cs typeface="Arial" panose="020B0604020202020204"/>
              </a:rPr>
              <a:t>into </a:t>
            </a:r>
            <a:r>
              <a:rPr sz="2400" spc="-20" dirty="0">
                <a:latin typeface="+mj-lt"/>
                <a:cs typeface="Arial" panose="020B0604020202020204"/>
              </a:rPr>
              <a:t>multiple </a:t>
            </a:r>
            <a:r>
              <a:rPr sz="2400" spc="-30" dirty="0">
                <a:latin typeface="+mj-lt"/>
                <a:cs typeface="Arial" panose="020B0604020202020204"/>
              </a:rPr>
              <a:t>page  </a:t>
            </a:r>
            <a:r>
              <a:rPr sz="2400" spc="-20" dirty="0">
                <a:latin typeface="+mj-lt"/>
                <a:cs typeface="Arial" panose="020B0604020202020204"/>
              </a:rPr>
              <a:t>tables</a:t>
            </a:r>
            <a:endParaRPr sz="2400" dirty="0">
              <a:latin typeface="+mj-lt"/>
              <a:cs typeface="Arial" panose="020B0604020202020204"/>
            </a:endParaRPr>
          </a:p>
          <a:p>
            <a:pPr marL="355600" indent="-342900">
              <a:lnSpc>
                <a:spcPct val="100000"/>
              </a:lnSpc>
              <a:spcBef>
                <a:spcPts val="620"/>
              </a:spcBef>
              <a:buChar char="•"/>
              <a:tabLst>
                <a:tab pos="354965" algn="l"/>
                <a:tab pos="355600" algn="l"/>
              </a:tabLst>
            </a:pPr>
            <a:r>
              <a:rPr sz="2400" dirty="0">
                <a:latin typeface="+mj-lt"/>
                <a:cs typeface="Arial" panose="020B0604020202020204"/>
              </a:rPr>
              <a:t>A </a:t>
            </a:r>
            <a:r>
              <a:rPr sz="2400" spc="-20" dirty="0">
                <a:latin typeface="+mj-lt"/>
                <a:cs typeface="Arial" panose="020B0604020202020204"/>
              </a:rPr>
              <a:t>simple technique is </a:t>
            </a:r>
            <a:r>
              <a:rPr sz="2400" dirty="0">
                <a:latin typeface="+mj-lt"/>
                <a:cs typeface="Arial" panose="020B0604020202020204"/>
              </a:rPr>
              <a:t>a </a:t>
            </a:r>
            <a:r>
              <a:rPr sz="2400" spc="-20" dirty="0">
                <a:latin typeface="+mj-lt"/>
                <a:cs typeface="Arial" panose="020B0604020202020204"/>
              </a:rPr>
              <a:t>two-level </a:t>
            </a:r>
            <a:r>
              <a:rPr sz="2400" spc="-30" dirty="0">
                <a:latin typeface="+mj-lt"/>
                <a:cs typeface="Arial" panose="020B0604020202020204"/>
              </a:rPr>
              <a:t>page</a:t>
            </a:r>
            <a:r>
              <a:rPr sz="2400" spc="500" dirty="0">
                <a:latin typeface="+mj-lt"/>
                <a:cs typeface="Arial" panose="020B0604020202020204"/>
              </a:rPr>
              <a:t> </a:t>
            </a:r>
            <a:r>
              <a:rPr sz="2400" spc="-15" dirty="0">
                <a:latin typeface="+mj-lt"/>
                <a:cs typeface="Arial" panose="020B0604020202020204"/>
              </a:rPr>
              <a:t>table</a:t>
            </a:r>
            <a:endParaRPr sz="2400" dirty="0">
              <a:latin typeface="+mj-lt"/>
              <a:cs typeface="Arial" panose="020B0604020202020204"/>
            </a:endParaRPr>
          </a:p>
          <a:p>
            <a:pPr marL="12700">
              <a:lnSpc>
                <a:spcPct val="100000"/>
              </a:lnSpc>
              <a:spcBef>
                <a:spcPts val="520"/>
              </a:spcBef>
              <a:tabLst>
                <a:tab pos="354965" algn="l"/>
                <a:tab pos="355600" algn="l"/>
              </a:tabLst>
            </a:pPr>
            <a:r>
              <a:rPr lang="en-US" sz="2400" spc="-20" dirty="0" smtClean="0">
                <a:latin typeface="+mj-lt"/>
                <a:cs typeface="Arial" panose="020B0604020202020204"/>
              </a:rPr>
              <a:t>WHY WE NEED Multilevel paging:</a:t>
            </a:r>
            <a:endParaRPr lang="en-US" sz="2400" spc="-20" dirty="0" smtClean="0">
              <a:latin typeface="+mj-lt"/>
              <a:cs typeface="Arial" panose="020B0604020202020204"/>
            </a:endParaRPr>
          </a:p>
          <a:p>
            <a:pPr fontAlgn="base"/>
            <a:r>
              <a:rPr lang="en-US" sz="2400" dirty="0" smtClean="0">
                <a:latin typeface="+mj-lt"/>
              </a:rPr>
              <a:t>The </a:t>
            </a:r>
            <a:r>
              <a:rPr lang="en-US" sz="2400" dirty="0">
                <a:latin typeface="+mj-lt"/>
              </a:rPr>
              <a:t>need for multilevel paging arises when-</a:t>
            </a:r>
            <a:endParaRPr lang="en-US" sz="2400" dirty="0">
              <a:latin typeface="+mj-lt"/>
            </a:endParaRPr>
          </a:p>
          <a:p>
            <a:pPr marL="342900" lvl="0" indent="-342900" fontAlgn="base">
              <a:buFont typeface="Arial" panose="020B0604020202020204" pitchFamily="34" charset="0"/>
              <a:buChar char="•"/>
            </a:pPr>
            <a:r>
              <a:rPr lang="en-US" sz="2400" dirty="0">
                <a:latin typeface="+mj-lt"/>
              </a:rPr>
              <a:t>The size of page table is greater than the frame size.</a:t>
            </a:r>
            <a:endParaRPr lang="en-US" sz="2400" dirty="0">
              <a:latin typeface="+mj-lt"/>
            </a:endParaRPr>
          </a:p>
          <a:p>
            <a:pPr marL="342900" lvl="0" indent="-342900" fontAlgn="base">
              <a:buFont typeface="Arial" panose="020B0604020202020204" pitchFamily="34" charset="0"/>
              <a:buChar char="•"/>
            </a:pPr>
            <a:r>
              <a:rPr lang="en-US" sz="2400" dirty="0">
                <a:latin typeface="+mj-lt"/>
              </a:rPr>
              <a:t>As a result, the page table cannot be stored in a single frame in main memory</a:t>
            </a:r>
            <a:r>
              <a:rPr lang="en-US" sz="2400" dirty="0" smtClean="0">
                <a:latin typeface="+mj-lt"/>
              </a:rPr>
              <a:t>.</a:t>
            </a:r>
            <a:endParaRPr lang="en-US" sz="2400" dirty="0" smtClean="0">
              <a:latin typeface="+mj-lt"/>
            </a:endParaRPr>
          </a:p>
          <a:p>
            <a:pPr marL="342900" indent="-342900" fontAlgn="base">
              <a:buFont typeface="Arial" panose="020B0604020202020204" pitchFamily="34" charset="0"/>
              <a:buChar char="•"/>
            </a:pPr>
            <a:r>
              <a:rPr lang="en-US" sz="2400" spc="15" dirty="0" smtClean="0">
                <a:latin typeface="+mj-lt"/>
                <a:cs typeface="Arial" panose="020B0604020202020204"/>
              </a:rPr>
              <a:t>We </a:t>
            </a:r>
            <a:r>
              <a:rPr lang="en-US" sz="2400" spc="-15" dirty="0" smtClean="0">
                <a:latin typeface="+mj-lt"/>
                <a:cs typeface="Arial" panose="020B0604020202020204"/>
              </a:rPr>
              <a:t>then </a:t>
            </a:r>
            <a:r>
              <a:rPr lang="en-US" sz="2400" spc="-30" dirty="0" smtClean="0">
                <a:latin typeface="+mj-lt"/>
                <a:cs typeface="Arial" panose="020B0604020202020204"/>
              </a:rPr>
              <a:t>page </a:t>
            </a:r>
            <a:r>
              <a:rPr lang="en-US" sz="2400" spc="-5" dirty="0" smtClean="0">
                <a:latin typeface="+mj-lt"/>
                <a:cs typeface="Arial" panose="020B0604020202020204"/>
              </a:rPr>
              <a:t>the </a:t>
            </a:r>
            <a:r>
              <a:rPr lang="en-US" sz="2400" spc="-30" dirty="0" smtClean="0">
                <a:latin typeface="+mj-lt"/>
                <a:cs typeface="Arial" panose="020B0604020202020204"/>
              </a:rPr>
              <a:t>page</a:t>
            </a:r>
            <a:r>
              <a:rPr lang="en-US" sz="2400" spc="200" dirty="0" smtClean="0">
                <a:latin typeface="+mj-lt"/>
                <a:cs typeface="Arial" panose="020B0604020202020204"/>
              </a:rPr>
              <a:t> </a:t>
            </a:r>
            <a:r>
              <a:rPr lang="en-US" sz="2400" spc="-20" dirty="0" smtClean="0">
                <a:latin typeface="+mj-lt"/>
                <a:cs typeface="Arial" panose="020B0604020202020204"/>
              </a:rPr>
              <a:t>table</a:t>
            </a:r>
            <a:endParaRPr lang="en-US" sz="2400" spc="-20" dirty="0" smtClean="0">
              <a:latin typeface="+mj-lt"/>
              <a:cs typeface="Arial" panose="020B0604020202020204"/>
            </a:endParaRPr>
          </a:p>
          <a:p>
            <a:pPr marL="342900" lvl="0" indent="-342900" fontAlgn="base">
              <a:buFont typeface="Arial" panose="020B0604020202020204" pitchFamily="34" charset="0"/>
              <a:buChar char="•"/>
            </a:pPr>
            <a:endParaRPr lang="en-US" sz="2400" dirty="0"/>
          </a:p>
          <a:p>
            <a:pPr marL="355600" indent="-342900">
              <a:lnSpc>
                <a:spcPct val="100000"/>
              </a:lnSpc>
              <a:spcBef>
                <a:spcPts val="520"/>
              </a:spcBef>
              <a:buChar char="•"/>
              <a:tabLst>
                <a:tab pos="354965" algn="l"/>
                <a:tab pos="355600" algn="l"/>
              </a:tabLst>
            </a:pPr>
            <a:endParaRPr sz="2400" dirty="0">
              <a:latin typeface="Arial" panose="020B0604020202020204"/>
              <a:cs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ultilevel paging in operating system"/>
          <p:cNvPicPr/>
          <p:nvPr/>
        </p:nvPicPr>
        <p:blipFill>
          <a:blip r:embed="rId1">
            <a:extLst>
              <a:ext uri="{28A0092B-C50C-407E-A947-70E740481C1C}">
                <a14:useLocalDpi xmlns:a14="http://schemas.microsoft.com/office/drawing/2010/main" val="0"/>
              </a:ext>
            </a:extLst>
          </a:blip>
          <a:srcRect/>
          <a:stretch>
            <a:fillRect/>
          </a:stretch>
        </p:blipFill>
        <p:spPr bwMode="auto">
          <a:xfrm>
            <a:off x="21771" y="914400"/>
            <a:ext cx="8969829" cy="5943600"/>
          </a:xfrm>
          <a:prstGeom prst="rect">
            <a:avLst/>
          </a:prstGeom>
          <a:noFill/>
          <a:ln>
            <a:noFill/>
          </a:ln>
        </p:spPr>
      </p:pic>
      <p:sp>
        <p:nvSpPr>
          <p:cNvPr id="5" name="Title 4"/>
          <p:cNvSpPr>
            <a:spLocks noGrp="1"/>
          </p:cNvSpPr>
          <p:nvPr>
            <p:ph type="title"/>
          </p:nvPr>
        </p:nvSpPr>
        <p:spPr>
          <a:xfrm>
            <a:off x="2952711" y="194157"/>
            <a:ext cx="3238576" cy="446276"/>
          </a:xfrm>
        </p:spPr>
        <p:txBody>
          <a:bodyPr/>
          <a:lstStyle/>
          <a:p>
            <a:r>
              <a:rPr lang="en-US" dirty="0"/>
              <a:t>Multilevel Paging</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52711" y="194157"/>
            <a:ext cx="3238576" cy="446276"/>
          </a:xfrm>
        </p:spPr>
        <p:txBody>
          <a:bodyPr/>
          <a:lstStyle/>
          <a:p>
            <a:r>
              <a:rPr lang="en-US" dirty="0" smtClean="0"/>
              <a:t>EXAMPLE: 1</a:t>
            </a:r>
            <a:endParaRPr lang="en-US" dirty="0"/>
          </a:p>
        </p:txBody>
      </p:sp>
      <p:sp>
        <p:nvSpPr>
          <p:cNvPr id="4" name="Text Placeholder 3"/>
          <p:cNvSpPr>
            <a:spLocks noGrp="1"/>
          </p:cNvSpPr>
          <p:nvPr>
            <p:ph type="body" idx="1"/>
          </p:nvPr>
        </p:nvSpPr>
        <p:spPr>
          <a:xfrm>
            <a:off x="333673" y="1431315"/>
            <a:ext cx="8476653" cy="5539978"/>
          </a:xfrm>
        </p:spPr>
        <p:txBody>
          <a:bodyPr/>
          <a:lstStyle/>
          <a:p>
            <a:pPr fontAlgn="base"/>
            <a:r>
              <a:rPr lang="en-US" b="1" u="sng" dirty="0"/>
              <a:t>Illustration of Multilevel Paging-</a:t>
            </a:r>
            <a:endParaRPr lang="en-US" dirty="0"/>
          </a:p>
          <a:p>
            <a:pPr fontAlgn="base"/>
            <a:r>
              <a:rPr lang="en-US" dirty="0"/>
              <a:t> </a:t>
            </a:r>
            <a:endParaRPr lang="en-US" dirty="0"/>
          </a:p>
          <a:p>
            <a:pPr fontAlgn="base"/>
            <a:r>
              <a:rPr lang="en-US" dirty="0"/>
              <a:t>Consider a system using paging scheme where-</a:t>
            </a:r>
            <a:endParaRPr lang="en-US" dirty="0"/>
          </a:p>
          <a:p>
            <a:pPr lvl="0" fontAlgn="base"/>
            <a:r>
              <a:rPr lang="en-US" dirty="0"/>
              <a:t>Logical Address Space = 4 GB</a:t>
            </a:r>
            <a:endParaRPr lang="en-US" dirty="0"/>
          </a:p>
          <a:p>
            <a:pPr lvl="0" fontAlgn="base"/>
            <a:r>
              <a:rPr lang="en-US" dirty="0"/>
              <a:t>Physical Address Space = 16 TB</a:t>
            </a:r>
            <a:endParaRPr lang="en-US" dirty="0"/>
          </a:p>
          <a:p>
            <a:pPr lvl="0" fontAlgn="base"/>
            <a:r>
              <a:rPr lang="en-US" dirty="0"/>
              <a:t>Page size = 4 KB</a:t>
            </a:r>
            <a:endParaRPr lang="en-US" dirty="0"/>
          </a:p>
          <a:p>
            <a:pPr fontAlgn="base"/>
            <a:r>
              <a:rPr lang="en-US" dirty="0"/>
              <a:t> </a:t>
            </a:r>
            <a:endParaRPr lang="en-US" dirty="0"/>
          </a:p>
          <a:p>
            <a:pPr fontAlgn="base"/>
            <a:r>
              <a:rPr lang="en-US" dirty="0"/>
              <a:t>Now, let us find how many levels of page table will be required</a:t>
            </a:r>
            <a:r>
              <a:rPr lang="en-US" dirty="0" smtClean="0"/>
              <a:t>.</a:t>
            </a:r>
            <a:endParaRPr lang="en-US" dirty="0" smtClean="0"/>
          </a:p>
          <a:p>
            <a:pPr fontAlgn="base"/>
            <a:endParaRPr lang="en-US" dirty="0"/>
          </a:p>
          <a:p>
            <a:pPr fontAlgn="base"/>
            <a:r>
              <a:rPr lang="en-US" b="1" u="sng" dirty="0"/>
              <a:t>Number of Bits in Physical Address-</a:t>
            </a:r>
            <a:endParaRPr lang="en-US" dirty="0"/>
          </a:p>
          <a:p>
            <a:pPr fontAlgn="base"/>
            <a:r>
              <a:rPr lang="en-US" dirty="0"/>
              <a:t> </a:t>
            </a:r>
            <a:endParaRPr lang="en-US" dirty="0"/>
          </a:p>
          <a:p>
            <a:pPr fontAlgn="base"/>
            <a:r>
              <a:rPr lang="en-US" dirty="0"/>
              <a:t>Size of main memory</a:t>
            </a:r>
            <a:endParaRPr lang="en-US" dirty="0"/>
          </a:p>
          <a:p>
            <a:pPr fontAlgn="base"/>
            <a:r>
              <a:rPr lang="en-US" dirty="0"/>
              <a:t>= Physical Address Space</a:t>
            </a:r>
            <a:endParaRPr lang="en-US" dirty="0"/>
          </a:p>
          <a:p>
            <a:pPr fontAlgn="base"/>
            <a:r>
              <a:rPr lang="en-US" dirty="0"/>
              <a:t>= 16 TB</a:t>
            </a:r>
            <a:endParaRPr lang="en-US" dirty="0"/>
          </a:p>
          <a:p>
            <a:pPr fontAlgn="base"/>
            <a:r>
              <a:rPr lang="en-US" dirty="0"/>
              <a:t>= 2</a:t>
            </a:r>
            <a:r>
              <a:rPr lang="en-US" baseline="30000" dirty="0"/>
              <a:t>44</a:t>
            </a:r>
            <a:r>
              <a:rPr lang="en-US" dirty="0"/>
              <a:t> B</a:t>
            </a:r>
            <a:endParaRPr lang="en-US" dirty="0"/>
          </a:p>
          <a:p>
            <a:pPr fontAlgn="base"/>
            <a:r>
              <a:rPr lang="en-US" dirty="0"/>
              <a:t>Thus, Number of bits in physical address = 44 bits</a:t>
            </a:r>
            <a:endParaRPr lang="en-US" dirty="0"/>
          </a:p>
          <a:p>
            <a:pPr fontAlgn="base"/>
            <a:r>
              <a:rPr lang="en-US" dirty="0"/>
              <a:t> </a:t>
            </a:r>
            <a:endParaRPr lang="en-US" dirty="0"/>
          </a:p>
          <a:p>
            <a:pPr fontAlgn="base"/>
            <a:r>
              <a:rPr lang="en-US" dirty="0"/>
              <a:t> </a:t>
            </a:r>
            <a:endParaRPr lang="en-US" dirty="0"/>
          </a:p>
          <a:p>
            <a:pPr fontAlgn="base"/>
            <a:endParaRPr lang="en-US" dirty="0"/>
          </a:p>
          <a:p>
            <a:endParaRPr lang="en-US" dirty="0"/>
          </a:p>
        </p:txBody>
      </p:sp>
      <p:sp>
        <p:nvSpPr>
          <p:cNvPr id="5" name="Rectangle 4"/>
          <p:cNvSpPr/>
          <p:nvPr/>
        </p:nvSpPr>
        <p:spPr>
          <a:xfrm>
            <a:off x="4953000" y="4201304"/>
            <a:ext cx="4572000" cy="2308324"/>
          </a:xfrm>
          <a:prstGeom prst="rect">
            <a:avLst/>
          </a:prstGeom>
        </p:spPr>
        <p:txBody>
          <a:bodyPr>
            <a:spAutoFit/>
          </a:bodyPr>
          <a:lstStyle/>
          <a:p>
            <a:pPr fontAlgn="base"/>
            <a:r>
              <a:rPr lang="en-US" b="1" u="sng" dirty="0" smtClean="0"/>
              <a:t>Number of Frames in Main Memory-</a:t>
            </a:r>
            <a:endParaRPr lang="en-US" dirty="0" smtClean="0"/>
          </a:p>
          <a:p>
            <a:pPr fontAlgn="base"/>
            <a:r>
              <a:rPr lang="en-US" dirty="0" smtClean="0"/>
              <a:t> </a:t>
            </a:r>
            <a:endParaRPr lang="en-US" dirty="0" smtClean="0"/>
          </a:p>
          <a:p>
            <a:pPr fontAlgn="base"/>
            <a:r>
              <a:rPr lang="en-US" dirty="0" smtClean="0"/>
              <a:t>Number of frames in main memory</a:t>
            </a:r>
            <a:endParaRPr lang="en-US" dirty="0" smtClean="0"/>
          </a:p>
          <a:p>
            <a:pPr fontAlgn="base"/>
            <a:r>
              <a:rPr lang="en-US" dirty="0" smtClean="0"/>
              <a:t>= Size of main memory / Frame size</a:t>
            </a:r>
            <a:endParaRPr lang="en-US" dirty="0" smtClean="0"/>
          </a:p>
          <a:p>
            <a:pPr fontAlgn="base"/>
            <a:r>
              <a:rPr lang="en-US" dirty="0" smtClean="0"/>
              <a:t>= 16 TB / 4 KB</a:t>
            </a:r>
            <a:endParaRPr lang="en-US" dirty="0" smtClean="0"/>
          </a:p>
          <a:p>
            <a:pPr fontAlgn="base"/>
            <a:r>
              <a:rPr lang="en-US" dirty="0" smtClean="0"/>
              <a:t>= 2</a:t>
            </a:r>
            <a:r>
              <a:rPr lang="en-US" baseline="30000" dirty="0" smtClean="0"/>
              <a:t>32</a:t>
            </a:r>
            <a:r>
              <a:rPr lang="en-US" dirty="0" smtClean="0"/>
              <a:t> frames</a:t>
            </a:r>
            <a:endParaRPr lang="en-US" dirty="0" smtClean="0"/>
          </a:p>
          <a:p>
            <a:pPr fontAlgn="base"/>
            <a:r>
              <a:rPr lang="en-US" dirty="0" smtClean="0"/>
              <a:t>Thus, Number of bits in frame number = 32 bits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4724400" cy="3908249"/>
          </a:xfrm>
          <a:prstGeom prst="rect">
            <a:avLst/>
          </a:prstGeom>
        </p:spPr>
        <p:txBody>
          <a:bodyPr wrap="square">
            <a:spAutoFit/>
          </a:bodyPr>
          <a:lstStyle/>
          <a:p>
            <a:pPr fontAlgn="base">
              <a:lnSpc>
                <a:spcPct val="107000"/>
              </a:lnSpc>
            </a:pPr>
            <a:r>
              <a:rPr lang="en-US" sz="2000" b="1" u="sng"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Bits in Page Offset-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We have,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Page size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4 KB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12</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Thus, Number of bits in page offset = 12 bits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So, Physical address is-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4800600" y="533400"/>
            <a:ext cx="4572000" cy="2486065"/>
          </a:xfrm>
          <a:prstGeom prst="rect">
            <a:avLst/>
          </a:prstGeom>
        </p:spPr>
        <p:txBody>
          <a:bodyPr>
            <a:spAutoFit/>
          </a:bodyPr>
          <a:lstStyle/>
          <a:p>
            <a:pPr fontAlgn="base">
              <a:lnSpc>
                <a:spcPct val="107000"/>
              </a:lnSpc>
              <a:spcBef>
                <a:spcPts val="300"/>
              </a:spcBef>
              <a:spcAft>
                <a:spcPts val="900"/>
              </a:spcAft>
            </a:pPr>
            <a:r>
              <a:rPr lang="en-US" b="1"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Alternatively</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bits in page offset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Number of bits in physical address – Number of bits in frame number</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44 bits – 32 bits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12 bits</a:t>
            </a:r>
            <a:endParaRPr lang="en-US" dirty="0"/>
          </a:p>
        </p:txBody>
      </p:sp>
      <p:pic>
        <p:nvPicPr>
          <p:cNvPr id="7" name="Picture 6"/>
          <p:cNvPicPr>
            <a:picLocks noChangeAspect="1"/>
          </p:cNvPicPr>
          <p:nvPr/>
        </p:nvPicPr>
        <p:blipFill>
          <a:blip r:embed="rId1"/>
          <a:stretch>
            <a:fillRect/>
          </a:stretch>
        </p:blipFill>
        <p:spPr>
          <a:xfrm>
            <a:off x="1676400" y="4229801"/>
            <a:ext cx="5354051" cy="148519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086" y="381000"/>
            <a:ext cx="4572000" cy="6817764"/>
          </a:xfrm>
          <a:prstGeom prst="rect">
            <a:avLst/>
          </a:prstGeom>
        </p:spPr>
        <p:txBody>
          <a:bodyPr>
            <a:spAutoFit/>
          </a:bodyPr>
          <a:lstStyle/>
          <a:p>
            <a:pPr fontAlgn="base">
              <a:lnSpc>
                <a:spcPct val="107000"/>
              </a:lnSpc>
            </a:pPr>
            <a:r>
              <a:rPr lang="en-US" sz="2000" b="1" u="sng"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Pages of Process-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pages the process is divided</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Process size / Page size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4 GB / 4 KB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20</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pages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endPar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endParaRPr>
          </a:p>
          <a:p>
            <a:pPr fontAlgn="base">
              <a:lnSpc>
                <a:spcPct val="107000"/>
              </a:lnSpc>
              <a:spcBef>
                <a:spcPts val="300"/>
              </a:spcBef>
              <a:spcAft>
                <a:spcPts val="900"/>
              </a:spcAft>
            </a:pPr>
            <a:endPar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endParaRPr>
          </a:p>
          <a:p>
            <a:pPr fontAlgn="base">
              <a:lnSpc>
                <a:spcPct val="107000"/>
              </a:lnSpc>
              <a:spcBef>
                <a:spcPts val="300"/>
              </a:spcBef>
              <a:spcAft>
                <a:spcPts val="900"/>
              </a:spcAft>
            </a:pPr>
            <a:r>
              <a:rPr lang="en-US" u="sng"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Now, we can observe-</a:t>
            </a:r>
            <a:endParaRPr lang="en-US" sz="1600" u="sng"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SzPts val="1000"/>
              <a:buFont typeface="Symbol" panose="05050102010706020507" pitchFamily="18" charset="2"/>
              <a:buChar char=""/>
              <a:tabLst>
                <a:tab pos="457200" algn="l"/>
              </a:tabLs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The size of inner page table is greater than the frame size (4 KB).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SzPts val="1000"/>
              <a:buFont typeface="Symbol" panose="05050102010706020507" pitchFamily="18" charset="2"/>
              <a:buChar char=""/>
              <a:tabLst>
                <a:tab pos="457200" algn="l"/>
              </a:tabLs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Thus, inner page table can not be stored in a single frame.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SzPts val="1000"/>
              <a:buFont typeface="Symbol" panose="05050102010706020507" pitchFamily="18" charset="2"/>
              <a:buChar char=""/>
              <a:tabLst>
                <a:tab pos="457200" algn="l"/>
              </a:tabLs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So, inner page table has to be divided into pages.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419600" y="152400"/>
            <a:ext cx="4572000" cy="5247590"/>
          </a:xfrm>
          <a:prstGeom prst="rect">
            <a:avLst/>
          </a:prstGeom>
        </p:spPr>
        <p:txBody>
          <a:bodyPr>
            <a:spAutoFit/>
          </a:bodyPr>
          <a:lstStyle/>
          <a:p>
            <a:pPr fontAlgn="base">
              <a:lnSpc>
                <a:spcPct val="107000"/>
              </a:lnSpc>
            </a:pPr>
            <a:r>
              <a:rPr lang="en-US" sz="2000" b="1" u="sng"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Inner Page Table Size-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Inner page table keeps track of the frames storing the pages of process.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Inner Page table size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Number of entries in inner page table x Page table entry size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Number of pages the process is divided x Number of bits in frame number</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20</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x 32 bits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20</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x 4 bytes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4 MB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4572000" cy="4676408"/>
          </a:xfrm>
          <a:prstGeom prst="rect">
            <a:avLst/>
          </a:prstGeom>
        </p:spPr>
        <p:txBody>
          <a:bodyPr>
            <a:spAutoFit/>
          </a:bodyPr>
          <a:lstStyle/>
          <a:p>
            <a:pPr fontAlgn="base">
              <a:lnSpc>
                <a:spcPct val="107000"/>
              </a:lnSpc>
            </a:pPr>
            <a:r>
              <a:rPr lang="en-US" sz="2000" b="1" u="sng"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Pages of Inner Page Table-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pages the inner page table is divided</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Inner page table size / Page size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4 MB / 4 KB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10</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pages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Now, these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10</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pages of inner page table are stored in different frames of the main memory.</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04657" y="152400"/>
            <a:ext cx="4572000" cy="4380045"/>
          </a:xfrm>
          <a:prstGeom prst="rect">
            <a:avLst/>
          </a:prstGeom>
        </p:spPr>
        <p:txBody>
          <a:bodyPr>
            <a:spAutoFit/>
          </a:bodyPr>
          <a:lstStyle/>
          <a:p>
            <a:pPr fontAlgn="base">
              <a:lnSpc>
                <a:spcPct val="107000"/>
              </a:lnSpc>
            </a:pPr>
            <a:r>
              <a:rPr lang="en-US" sz="2000" b="1" u="sng"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Page Table Entries in One Page of Inner Page Table-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page table entries in one page of inner page table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Page size / Page table entry size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Page size / Number of bits in frame number</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4 KB / 32 bits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4 KB / 4 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10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1099457" y="4419600"/>
            <a:ext cx="7010400" cy="2282676"/>
          </a:xfrm>
          <a:prstGeom prst="rect">
            <a:avLst/>
          </a:prstGeom>
        </p:spPr>
        <p:txBody>
          <a:bodyPr wrap="square">
            <a:spAutoFit/>
          </a:bodyPr>
          <a:lstStyle/>
          <a:p>
            <a:pPr fontAlgn="base">
              <a:lnSpc>
                <a:spcPct val="107000"/>
              </a:lnSpc>
            </a:pPr>
            <a:r>
              <a:rPr lang="en-US" sz="2000" b="1" u="sng"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Bits Required to Search an Entry in One Page of Inner Page Table-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One page of inner page table contains 2</a:t>
            </a:r>
            <a:r>
              <a:rPr lang="en-US" baseline="30000"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10</a:t>
            </a: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 entries.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Thus,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smtClean="0">
                <a:solidFill>
                  <a:srgbClr val="303030"/>
                </a:solidFill>
                <a:effectLst/>
                <a:latin typeface="Arial" panose="020B0604020202020204" pitchFamily="34" charset="0"/>
                <a:ea typeface="Times New Roman" panose="02020603050405020304" pitchFamily="18" charset="0"/>
                <a:cs typeface="Times New Roman" panose="02020603050405020304" pitchFamily="18" charset="0"/>
              </a:rPr>
              <a:t>Number of bits required to search a particular entry in one page of inner page table = 10 bits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304800"/>
            <a:ext cx="8993872" cy="614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1" i="0" u="sng" strike="noStrike" cap="none" normalizeH="0" baseline="0" dirty="0" smtClean="0">
                <a:ln>
                  <a:noFill/>
                </a:ln>
                <a:solidFill>
                  <a:srgbClr val="303030"/>
                </a:solidFill>
                <a:effectLst/>
                <a:latin typeface="Arial" panose="020B0604020202020204" pitchFamily="34" charset="0"/>
                <a:ea typeface="Times New Roman" panose="02020603050405020304" pitchFamily="18" charset="0"/>
                <a:cs typeface="Arial" panose="020B0604020202020204" pitchFamily="34" charset="0"/>
              </a:rPr>
              <a:t>Outer Page Table Size-</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latin typeface="Arial" panose="020B0604020202020204" pitchFamily="34" charset="0"/>
                <a:ea typeface="Times New Roman" panose="02020603050405020304" pitchFamily="18" charset="0"/>
                <a:cs typeface="Arial" panose="020B0604020202020204" pitchFamily="34" charset="0"/>
              </a:rPr>
              <a:t>Outer page table is required to keep track of the frames storing the pages of inner page table.</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latin typeface="Arial" panose="020B0604020202020204" pitchFamily="34" charset="0"/>
                <a:ea typeface="Times New Roman" panose="02020603050405020304" pitchFamily="18" charset="0"/>
                <a:cs typeface="Arial" panose="020B0604020202020204" pitchFamily="34" charset="0"/>
              </a:rPr>
              <a:t>Outer Page table size</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latin typeface="Arial" panose="020B0604020202020204" pitchFamily="34" charset="0"/>
                <a:ea typeface="Times New Roman" panose="02020603050405020304" pitchFamily="18" charset="0"/>
                <a:cs typeface="Arial" panose="020B0604020202020204" pitchFamily="34" charset="0"/>
              </a:rPr>
              <a:t>= Number of entries in outer page table x Page table entry size</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latin typeface="Arial" panose="020B0604020202020204" pitchFamily="34" charset="0"/>
                <a:ea typeface="Times New Roman" panose="02020603050405020304" pitchFamily="18" charset="0"/>
                <a:cs typeface="Arial" panose="020B0604020202020204" pitchFamily="34" charset="0"/>
              </a:rPr>
              <a:t>= Number of pages the inner page table is divided x Number of bits in frame number</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ea typeface="Times New Roman" panose="02020603050405020304" pitchFamily="18" charset="0"/>
                <a:cs typeface="Arial" panose="020B0604020202020204" pitchFamily="34" charset="0"/>
              </a:rPr>
              <a:t>= 2</a:t>
            </a:r>
            <a:r>
              <a:rPr kumimoji="0" lang="en-US" altLang="en-US" sz="1600" b="0" i="0" u="none" strike="noStrike" cap="none" normalizeH="0" baseline="30000" dirty="0" smtClean="0">
                <a:ln>
                  <a:noFill/>
                </a:ln>
                <a:solidFill>
                  <a:srgbClr val="303030"/>
                </a:solidFill>
                <a:effectLst/>
                <a:ea typeface="Times New Roman" panose="02020603050405020304" pitchFamily="18" charset="0"/>
                <a:cs typeface="Arial" panose="020B0604020202020204" pitchFamily="34" charset="0"/>
              </a:rPr>
              <a:t>10</a:t>
            </a:r>
            <a:r>
              <a:rPr kumimoji="0" lang="en-US" altLang="en-US" sz="1600" b="0" i="0" u="none" strike="noStrike" cap="none" normalizeH="0" baseline="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r>
              <a:rPr kumimoji="0" lang="en-US" altLang="en-US" sz="1600" b="0" i="0" u="none" strike="noStrike" cap="none" normalizeH="0" baseline="0" dirty="0" smtClean="0">
                <a:ln>
                  <a:noFill/>
                </a:ln>
                <a:solidFill>
                  <a:srgbClr val="303030"/>
                </a:solidFill>
                <a:effectLst/>
                <a:ea typeface="Times New Roman" panose="02020603050405020304" pitchFamily="18" charset="0"/>
                <a:cs typeface="Arial" panose="020B0604020202020204" pitchFamily="34" charset="0"/>
              </a:rPr>
              <a:t>x 32 bits</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ea typeface="Times New Roman" panose="02020603050405020304" pitchFamily="18" charset="0"/>
                <a:cs typeface="Arial" panose="020B0604020202020204" pitchFamily="34" charset="0"/>
              </a:rPr>
              <a:t>= 2</a:t>
            </a:r>
            <a:r>
              <a:rPr kumimoji="0" lang="en-US" altLang="en-US" sz="1600" b="0" i="0" u="none" strike="noStrike" cap="none" normalizeH="0" baseline="30000" dirty="0" smtClean="0">
                <a:ln>
                  <a:noFill/>
                </a:ln>
                <a:solidFill>
                  <a:srgbClr val="303030"/>
                </a:solidFill>
                <a:effectLst/>
                <a:ea typeface="Times New Roman" panose="02020603050405020304" pitchFamily="18" charset="0"/>
                <a:cs typeface="Arial" panose="020B0604020202020204" pitchFamily="34" charset="0"/>
              </a:rPr>
              <a:t>10</a:t>
            </a:r>
            <a:r>
              <a:rPr kumimoji="0" lang="en-US" altLang="en-US" sz="1600" b="0" i="0" u="none" strike="noStrike" cap="none" normalizeH="0" baseline="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r>
              <a:rPr kumimoji="0" lang="en-US" altLang="en-US" sz="1600" b="0" i="0" u="none" strike="noStrike" cap="none" normalizeH="0" baseline="0" dirty="0" smtClean="0">
                <a:ln>
                  <a:noFill/>
                </a:ln>
                <a:solidFill>
                  <a:srgbClr val="303030"/>
                </a:solidFill>
                <a:effectLst/>
                <a:ea typeface="Times New Roman" panose="02020603050405020304" pitchFamily="18" charset="0"/>
                <a:cs typeface="Arial" panose="020B0604020202020204" pitchFamily="34" charset="0"/>
              </a:rPr>
              <a:t>x 4 bytes</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600" b="0" i="0" u="none" strike="noStrike" cap="none" normalizeH="0" baseline="0" dirty="0" smtClean="0">
                <a:ln>
                  <a:noFill/>
                </a:ln>
                <a:solidFill>
                  <a:srgbClr val="303030"/>
                </a:solidFill>
                <a:effectLst/>
                <a:latin typeface="Arial" panose="020B0604020202020204" pitchFamily="34" charset="0"/>
                <a:ea typeface="Times New Roman" panose="02020603050405020304" pitchFamily="18" charset="0"/>
                <a:cs typeface="Arial" panose="020B0604020202020204" pitchFamily="34" charset="0"/>
              </a:rPr>
              <a:t>= 4 KB</a:t>
            </a:r>
            <a:endParaRPr kumimoji="0" lang="en-US" altLang="en-US" sz="1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100" b="0" i="0" u="none" strike="noStrike" cap="none" normalizeH="0" baseline="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7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Now, we can observe-</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The size of outer page table is same as frame size (4 KB).</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Thus, outer page table can be stored in a single frame.</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So, for given system, we will have two levels of page table.</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Page Table Base Register (PTBR) will store the base address of the outer page table.</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2000" b="1" i="0" u="sng" strike="noStrike" cap="none" normalizeH="0" dirty="0" smtClean="0">
                <a:ln>
                  <a:noFill/>
                </a:ln>
                <a:solidFill>
                  <a:srgbClr val="303030"/>
                </a:solidFill>
                <a:effectLst/>
                <a:ea typeface="Times New Roman" panose="02020603050405020304" pitchFamily="18" charset="0"/>
                <a:cs typeface="Arial" panose="020B0604020202020204" pitchFamily="34" charset="0"/>
              </a:rPr>
              <a:t>Number of Bits Required to Search an Entry in Outer Page Table-</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Outer page table contains 2</a:t>
            </a:r>
            <a:r>
              <a:rPr kumimoji="0" lang="en-US" altLang="en-US" sz="2000" b="0" i="0" u="none" strike="noStrike" cap="none" normalizeH="0" baseline="30000" dirty="0" smtClean="0">
                <a:ln>
                  <a:noFill/>
                </a:ln>
                <a:solidFill>
                  <a:srgbClr val="303030"/>
                </a:solidFill>
                <a:effectLst/>
                <a:ea typeface="Times New Roman" panose="02020603050405020304" pitchFamily="18" charset="0"/>
                <a:cs typeface="Arial" panose="020B0604020202020204" pitchFamily="34" charset="0"/>
              </a:rPr>
              <a:t>10</a:t>
            </a:r>
            <a:r>
              <a:rPr kumimoji="0" lang="en-US" altLang="en-US" b="0" i="0" u="none" strike="noStrike" cap="none" normalizeH="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entries.</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Thus,</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Number of bits required to search a particular entry in outer page table = 10 bits</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050" b="0" i="0" u="none" strike="noStrike" cap="none" normalizeH="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dirty="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3200" b="0" i="0" u="none" strike="noStrike" cap="none" normalizeH="0" dirty="0" smtClean="0">
              <a:ln>
                <a:noFill/>
              </a:ln>
              <a:solidFill>
                <a:schemeClr val="tx1"/>
              </a:solidFill>
              <a:effectLst/>
            </a:endParaRPr>
          </a:p>
        </p:txBody>
      </p:sp>
      <p:sp>
        <p:nvSpPr>
          <p:cNvPr id="10" name="Rectangle 9" descr="https://www.gatevidyalay.com/wp-content/uploads/2018/11/Multilevel-Paging-Illustration-Diagram-1.png"/>
          <p:cNvSpPr>
            <a:spLocks noChangeAspect="1" noChangeArrowheads="1"/>
          </p:cNvSpPr>
          <p:nvPr/>
        </p:nvSpPr>
        <p:spPr bwMode="auto">
          <a:xfrm>
            <a:off x="0" y="2819400"/>
            <a:ext cx="30734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11" name="Rectangle 9"/>
          <p:cNvSpPr>
            <a:spLocks noChangeArrowheads="1"/>
          </p:cNvSpPr>
          <p:nvPr/>
        </p:nvSpPr>
        <p:spPr bwMode="auto">
          <a:xfrm>
            <a:off x="0" y="3622675"/>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smtClean="0">
                <a:ln>
                  <a:noFill/>
                </a:ln>
                <a:solidFill>
                  <a:srgbClr val="303030"/>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685800" y="2133600"/>
            <a:ext cx="7829550" cy="3800475"/>
          </a:xfrm>
          <a:prstGeom prst="rect">
            <a:avLst/>
          </a:prstGeom>
        </p:spPr>
      </p:pic>
      <p:sp>
        <p:nvSpPr>
          <p:cNvPr id="4" name="Rectangle 3"/>
          <p:cNvSpPr/>
          <p:nvPr/>
        </p:nvSpPr>
        <p:spPr>
          <a:xfrm>
            <a:off x="1371600" y="990600"/>
            <a:ext cx="5562600" cy="369332"/>
          </a:xfrm>
          <a:prstGeom prst="rect">
            <a:avLst/>
          </a:prstGeom>
        </p:spPr>
        <p:txBody>
          <a:bodyPr wrap="square">
            <a:spAutoFit/>
          </a:bodyPr>
          <a:lstStyle/>
          <a:p>
            <a:pPr lvl="0" eaLnBrk="0" fontAlgn="base" hangingPunct="0">
              <a:spcBef>
                <a:spcPct val="0"/>
              </a:spcBef>
              <a:spcAft>
                <a:spcPct val="0"/>
              </a:spcAft>
              <a:tabLst>
                <a:tab pos="457200" algn="l"/>
              </a:tabLst>
            </a:pPr>
            <a:r>
              <a:rPr kumimoji="0" lang="en-US" altLang="en-US" b="0" i="0" u="none" strike="noStrike" cap="none" normalizeH="0" dirty="0" smtClean="0">
                <a:ln>
                  <a:noFill/>
                </a:ln>
                <a:solidFill>
                  <a:srgbClr val="303030"/>
                </a:solidFill>
                <a:effectLst/>
                <a:ea typeface="Times New Roman" panose="02020603050405020304" pitchFamily="18" charset="0"/>
                <a:cs typeface="Arial" panose="020B0604020202020204" pitchFamily="34" charset="0"/>
              </a:rPr>
              <a:t>The paging system will look like as shown below:-</a:t>
            </a:r>
            <a:endParaRPr kumimoji="0" lang="en-US" altLang="en-US" sz="1050" b="0" i="0" u="none" strike="noStrike" cap="none" normalizeH="0" dirty="0" smtClean="0">
              <a:ln>
                <a:noFill/>
              </a:ln>
              <a:solidFill>
                <a:schemeClr val="tx1"/>
              </a:solidFill>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2711" y="194157"/>
            <a:ext cx="3238576" cy="446276"/>
          </a:xfrm>
        </p:spPr>
        <p:txBody>
          <a:bodyPr/>
          <a:lstStyle/>
          <a:p>
            <a:r>
              <a:rPr lang="en-US" dirty="0" smtClean="0"/>
              <a:t>EXAMPLE: 2</a:t>
            </a:r>
            <a:endParaRPr lang="en-US" dirty="0"/>
          </a:p>
        </p:txBody>
      </p:sp>
      <p:sp>
        <p:nvSpPr>
          <p:cNvPr id="3" name="Rectangle 2"/>
          <p:cNvSpPr/>
          <p:nvPr/>
        </p:nvSpPr>
        <p:spPr>
          <a:xfrm>
            <a:off x="152400" y="640434"/>
            <a:ext cx="8610600" cy="1754326"/>
          </a:xfrm>
          <a:prstGeom prst="rect">
            <a:avLst/>
          </a:prstGeom>
        </p:spPr>
        <p:txBody>
          <a:bodyPr wrap="square">
            <a:spAutoFit/>
          </a:bodyPr>
          <a:lstStyle/>
          <a:p>
            <a:pPr fontAlgn="base"/>
            <a:r>
              <a:rPr lang="en-US" b="0" i="0" dirty="0" smtClean="0">
                <a:solidFill>
                  <a:srgbClr val="303030"/>
                </a:solidFill>
                <a:effectLst/>
                <a:latin typeface="Arimo"/>
              </a:rPr>
              <a:t>Consider a system using multilevel paging scheme. The page size is 16 KB. The memory is byte addressable and virtual address is 48 bits long. The page table entry size is 4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Find-</a:t>
            </a:r>
            <a:endParaRPr lang="en-US" b="0" i="0" dirty="0" smtClean="0">
              <a:solidFill>
                <a:srgbClr val="303030"/>
              </a:solidFill>
              <a:effectLst/>
              <a:latin typeface="Arimo"/>
            </a:endParaRPr>
          </a:p>
          <a:p>
            <a:pPr fontAlgn="base">
              <a:buFont typeface="+mj-lt"/>
              <a:buAutoNum type="arabicPeriod"/>
            </a:pPr>
            <a:r>
              <a:rPr lang="en-US" b="0" i="0" dirty="0" smtClean="0">
                <a:solidFill>
                  <a:srgbClr val="303030"/>
                </a:solidFill>
                <a:effectLst/>
                <a:latin typeface="Arimo"/>
              </a:rPr>
              <a:t>How many levels of page table will be required?</a:t>
            </a:r>
            <a:endParaRPr lang="en-US" b="0" i="0" dirty="0" smtClean="0">
              <a:solidFill>
                <a:srgbClr val="303030"/>
              </a:solidFill>
              <a:effectLst/>
              <a:latin typeface="Arimo"/>
            </a:endParaRPr>
          </a:p>
          <a:p>
            <a:pPr fontAlgn="base">
              <a:buFont typeface="+mj-lt"/>
              <a:buAutoNum type="arabicPeriod"/>
            </a:pPr>
            <a:r>
              <a:rPr lang="en-US" b="0" i="0" dirty="0" smtClean="0">
                <a:solidFill>
                  <a:srgbClr val="303030"/>
                </a:solidFill>
                <a:effectLst/>
                <a:latin typeface="Arimo"/>
              </a:rPr>
              <a:t>Give the divided physical address and virtual address.</a:t>
            </a:r>
            <a:endParaRPr lang="en-US" b="0" i="0" dirty="0">
              <a:solidFill>
                <a:srgbClr val="303030"/>
              </a:solidFill>
              <a:effectLst/>
              <a:latin typeface="Arim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 y="228600"/>
            <a:ext cx="4572000" cy="6463308"/>
          </a:xfrm>
          <a:prstGeom prst="rect">
            <a:avLst/>
          </a:prstGeom>
        </p:spPr>
        <p:txBody>
          <a:bodyPr>
            <a:spAutoFit/>
          </a:bodyPr>
          <a:lstStyle/>
          <a:p>
            <a:pPr fontAlgn="base"/>
            <a:r>
              <a:rPr lang="en-US" b="1" i="0" u="sng" dirty="0" smtClean="0">
                <a:solidFill>
                  <a:srgbClr val="303030"/>
                </a:solidFill>
                <a:effectLst/>
                <a:latin typeface="Roboto Condensed"/>
              </a:rPr>
              <a:t>Solution-</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Given-</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Virtual Address = 48 bits</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Page size = 16 KB</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Page table entry size = 4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Roboto Condensed"/>
              </a:rPr>
              <a:t>Number of Bits in Frame Number-</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We have,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4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32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 Number of bits in frame number = 32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Roboto Condensed"/>
              </a:rPr>
              <a:t>Number of Frames in Main Memory-</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We have, Number of bits in frame number = 32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frames in main memory</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32</a:t>
            </a:r>
            <a:r>
              <a:rPr lang="en-US" b="0" i="0" dirty="0" smtClean="0">
                <a:solidFill>
                  <a:srgbClr val="303030"/>
                </a:solidFill>
                <a:effectLst/>
                <a:latin typeface="Arimo"/>
              </a:rPr>
              <a:t> frames</a:t>
            </a:r>
            <a:endParaRPr lang="en-US" b="0" i="0" dirty="0">
              <a:solidFill>
                <a:srgbClr val="303030"/>
              </a:solidFill>
              <a:effectLst/>
              <a:latin typeface="Arimo"/>
            </a:endParaRPr>
          </a:p>
        </p:txBody>
      </p:sp>
      <p:sp>
        <p:nvSpPr>
          <p:cNvPr id="4" name="Rectangle 3"/>
          <p:cNvSpPr/>
          <p:nvPr/>
        </p:nvSpPr>
        <p:spPr>
          <a:xfrm>
            <a:off x="4572000" y="0"/>
            <a:ext cx="4572000" cy="7294305"/>
          </a:xfrm>
          <a:prstGeom prst="rect">
            <a:avLst/>
          </a:prstGeom>
        </p:spPr>
        <p:txBody>
          <a:bodyPr>
            <a:spAutoFit/>
          </a:bodyPr>
          <a:lstStyle/>
          <a:p>
            <a:pPr fontAlgn="base"/>
            <a:r>
              <a:rPr lang="en-US" b="1" i="0" u="sng" dirty="0" smtClean="0">
                <a:solidFill>
                  <a:srgbClr val="303030"/>
                </a:solidFill>
                <a:effectLst/>
                <a:latin typeface="Roboto Condensed"/>
              </a:rPr>
              <a:t>Size of Main Memory-</a:t>
            </a:r>
            <a:endParaRPr lang="en-US" b="0" i="0" dirty="0" smtClean="0">
              <a:solidFill>
                <a:srgbClr val="303030"/>
              </a:solidFill>
              <a:effectLst/>
              <a:latin typeface="Arimo"/>
            </a:endParaRPr>
          </a:p>
          <a:p>
            <a:pPr fontAlgn="base"/>
            <a:r>
              <a:rPr lang="en-US" b="0" i="0" dirty="0" smtClean="0">
                <a:solidFill>
                  <a:srgbClr val="303030"/>
                </a:solidFill>
                <a:effectLst/>
                <a:latin typeface="Arimo"/>
              </a:rPr>
              <a:t>Size of main memory</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Total number of frames x Frame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32</a:t>
            </a:r>
            <a:r>
              <a:rPr lang="en-US" b="0" i="0" dirty="0" smtClean="0">
                <a:solidFill>
                  <a:srgbClr val="303030"/>
                </a:solidFill>
                <a:effectLst/>
                <a:latin typeface="Arimo"/>
              </a:rPr>
              <a:t> x 16 KB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46</a:t>
            </a:r>
            <a:r>
              <a:rPr lang="en-US" b="0" i="0" dirty="0" smtClean="0">
                <a:solidFill>
                  <a:srgbClr val="303030"/>
                </a:solidFill>
                <a:effectLst/>
                <a:latin typeface="Arimo"/>
              </a:rPr>
              <a:t> 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64 TB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 Number of bits in physical address = 46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Roboto Condensed"/>
              </a:rPr>
              <a:t>Number of Bits in Page Offset-</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We have,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Page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16 KB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14</a:t>
            </a:r>
            <a:r>
              <a:rPr lang="en-US" b="0" i="0" dirty="0" smtClean="0">
                <a:solidFill>
                  <a:srgbClr val="303030"/>
                </a:solidFill>
                <a:effectLst/>
                <a:latin typeface="Arimo"/>
              </a:rPr>
              <a:t> 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 Number of bits in page offset = 14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dirty="0" smtClean="0">
                <a:solidFill>
                  <a:srgbClr val="303030"/>
                </a:solidFill>
                <a:effectLst/>
                <a:latin typeface="Arimo"/>
              </a:rPr>
              <a:t>Alternatively</a:t>
            </a:r>
            <a:r>
              <a:rPr lang="en-US" b="0" i="0" dirty="0" smtClean="0">
                <a:solidFill>
                  <a:srgbClr val="303030"/>
                </a:solidFill>
                <a:effectLst/>
                <a:latin typeface="Arimo"/>
              </a:rPr>
              <a:t>,</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bits in page offset</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Number of bits in physical address – Number of bits in frame number</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46 bits – 32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14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a:solidFill>
                <a:srgbClr val="303030"/>
              </a:solidFill>
              <a:effectLst/>
              <a:latin typeface="Arim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57200"/>
            <a:ext cx="4572000" cy="4524315"/>
          </a:xfrm>
          <a:prstGeom prst="rect">
            <a:avLst/>
          </a:prstGeom>
        </p:spPr>
        <p:txBody>
          <a:bodyPr>
            <a:spAutoFit/>
          </a:bodyPr>
          <a:lstStyle/>
          <a:p>
            <a:pPr fontAlgn="base"/>
            <a:r>
              <a:rPr lang="en-US" b="1" i="0" u="sng" dirty="0" smtClean="0">
                <a:solidFill>
                  <a:srgbClr val="303030"/>
                </a:solidFill>
                <a:effectLst/>
                <a:latin typeface="Roboto Condensed"/>
              </a:rPr>
              <a:t>Process Size-</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bits in virtual address = 48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Process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48</a:t>
            </a:r>
            <a:r>
              <a:rPr lang="en-US" b="0" i="0" dirty="0" smtClean="0">
                <a:solidFill>
                  <a:srgbClr val="303030"/>
                </a:solidFill>
                <a:effectLst/>
                <a:latin typeface="Arimo"/>
              </a:rPr>
              <a:t>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256 TB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Roboto Condensed"/>
              </a:rPr>
              <a:t>Number of Pages of Process-</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pages the process is divided</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Process size / Page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256 TB / 16 KB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48</a:t>
            </a:r>
            <a:r>
              <a:rPr lang="en-US" b="0" i="0" dirty="0" smtClean="0">
                <a:solidFill>
                  <a:srgbClr val="303030"/>
                </a:solidFill>
                <a:effectLst/>
                <a:latin typeface="Arimo"/>
              </a:rPr>
              <a:t> B / 2</a:t>
            </a:r>
            <a:r>
              <a:rPr lang="en-US" b="0" i="0" baseline="30000" dirty="0" smtClean="0">
                <a:solidFill>
                  <a:srgbClr val="303030"/>
                </a:solidFill>
                <a:effectLst/>
                <a:latin typeface="Arimo"/>
              </a:rPr>
              <a:t>14</a:t>
            </a:r>
            <a:r>
              <a:rPr lang="en-US" b="0" i="0" dirty="0" smtClean="0">
                <a:solidFill>
                  <a:srgbClr val="303030"/>
                </a:solidFill>
                <a:effectLst/>
                <a:latin typeface="Arimo"/>
              </a:rPr>
              <a:t> 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34</a:t>
            </a:r>
            <a:r>
              <a:rPr lang="en-US" b="0" i="0" dirty="0" smtClean="0">
                <a:solidFill>
                  <a:srgbClr val="303030"/>
                </a:solidFill>
                <a:effectLst/>
                <a:latin typeface="Arimo"/>
              </a:rPr>
              <a:t> pages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p:txBody>
      </p:sp>
      <p:sp>
        <p:nvSpPr>
          <p:cNvPr id="3" name="Rectangle 2"/>
          <p:cNvSpPr/>
          <p:nvPr/>
        </p:nvSpPr>
        <p:spPr>
          <a:xfrm>
            <a:off x="4724400" y="872697"/>
            <a:ext cx="4572000" cy="3693319"/>
          </a:xfrm>
          <a:prstGeom prst="rect">
            <a:avLst/>
          </a:prstGeom>
        </p:spPr>
        <p:txBody>
          <a:bodyPr>
            <a:spAutoFit/>
          </a:bodyPr>
          <a:lstStyle/>
          <a:p>
            <a:pPr fontAlgn="base"/>
            <a:r>
              <a:rPr lang="en-US" b="1" i="0" u="sng" dirty="0" smtClean="0">
                <a:solidFill>
                  <a:srgbClr val="303030"/>
                </a:solidFill>
                <a:effectLst/>
                <a:latin typeface="Roboto Condensed"/>
              </a:rPr>
              <a:t>Inner Page Table Size-</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Inner page table keeps track of the frames storing the pages of process.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Inner Page table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Number of entries in inner page table x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Number of pages the process is divided x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34</a:t>
            </a:r>
            <a:r>
              <a:rPr lang="en-US" b="0" i="0" dirty="0" smtClean="0">
                <a:solidFill>
                  <a:srgbClr val="303030"/>
                </a:solidFill>
                <a:effectLst/>
                <a:latin typeface="Arimo"/>
              </a:rPr>
              <a:t> x 4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36</a:t>
            </a:r>
            <a:r>
              <a:rPr lang="en-US" b="0" i="0" dirty="0" smtClean="0">
                <a:solidFill>
                  <a:srgbClr val="303030"/>
                </a:solidFill>
                <a:effectLst/>
                <a:latin typeface="Arimo"/>
              </a:rPr>
              <a:t>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64 GB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a:solidFill>
                <a:srgbClr val="303030"/>
              </a:solidFill>
              <a:effectLst/>
              <a:latin typeface="Arimo"/>
            </a:endParaRPr>
          </a:p>
        </p:txBody>
      </p:sp>
      <p:sp>
        <p:nvSpPr>
          <p:cNvPr id="4" name="Rectangle 3"/>
          <p:cNvSpPr/>
          <p:nvPr/>
        </p:nvSpPr>
        <p:spPr>
          <a:xfrm>
            <a:off x="1219200" y="4981513"/>
            <a:ext cx="7391400" cy="1477328"/>
          </a:xfrm>
          <a:prstGeom prst="rect">
            <a:avLst/>
          </a:prstGeom>
        </p:spPr>
        <p:txBody>
          <a:bodyPr wrap="square">
            <a:spAutoFit/>
          </a:bodyPr>
          <a:lstStyle/>
          <a:p>
            <a:pPr fontAlgn="base"/>
            <a:r>
              <a:rPr lang="en-US" b="1" i="0" u="sng" dirty="0" smtClean="0">
                <a:solidFill>
                  <a:srgbClr val="303030"/>
                </a:solidFill>
                <a:effectLst/>
                <a:latin typeface="Arimo"/>
              </a:rPr>
              <a:t>Now, we can observe-</a:t>
            </a:r>
            <a:endParaRPr lang="en-US" b="1" i="0" u="sng"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The size of inner page table is greater than the frame size (4 KB).</a:t>
            </a:r>
            <a:endParaRPr lang="en-US" b="0" i="0" dirty="0" smtClean="0">
              <a:solidFill>
                <a:srgbClr val="303030"/>
              </a:solidFill>
              <a:effectLst/>
              <a:latin typeface="Arimo"/>
            </a:endParaRPr>
          </a:p>
          <a:p>
            <a:pPr fontAlgn="base"/>
            <a:r>
              <a:rPr lang="en-US" dirty="0" smtClean="0">
                <a:solidFill>
                  <a:srgbClr val="303030"/>
                </a:solidFill>
                <a:latin typeface="Arimo"/>
              </a:rPr>
              <a:t>	64GB&gt; 4KB</a:t>
            </a:r>
            <a:r>
              <a:rPr lang="en-US" dirty="0">
                <a:solidFill>
                  <a:srgbClr val="303030"/>
                </a:solidFill>
                <a:latin typeface="Arimo"/>
              </a:rPr>
              <a:t> </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Thus, inner page table can not be stored in a single frame.</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So, inner page table has to be divided into pages.</a:t>
            </a:r>
            <a:endParaRPr lang="en-US" b="0" i="0" dirty="0">
              <a:solidFill>
                <a:srgbClr val="303030"/>
              </a:solidFill>
              <a:effectLst/>
              <a:latin typeface="Arim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321944"/>
            <a:ext cx="4572000" cy="4247317"/>
          </a:xfrm>
          <a:prstGeom prst="rect">
            <a:avLst/>
          </a:prstGeom>
        </p:spPr>
        <p:txBody>
          <a:bodyPr>
            <a:spAutoFit/>
          </a:bodyPr>
          <a:lstStyle/>
          <a:p>
            <a:pPr fontAlgn="base"/>
            <a:r>
              <a:rPr lang="en-US" b="1" i="0" u="sng" dirty="0" smtClean="0">
                <a:solidFill>
                  <a:srgbClr val="303030"/>
                </a:solidFill>
                <a:effectLst/>
                <a:latin typeface="Roboto Condensed"/>
              </a:rPr>
              <a:t>Number of Pages of Inner Page Table-</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pages the inner page table is divided</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Inner page table size / Page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64 GB / 16 KB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36</a:t>
            </a:r>
            <a:r>
              <a:rPr lang="en-US" b="0" i="0" dirty="0" smtClean="0">
                <a:solidFill>
                  <a:srgbClr val="303030"/>
                </a:solidFill>
                <a:effectLst/>
                <a:latin typeface="Arimo"/>
              </a:rPr>
              <a:t> B / 2</a:t>
            </a:r>
            <a:r>
              <a:rPr lang="en-US" b="0" i="0" baseline="30000" dirty="0" smtClean="0">
                <a:solidFill>
                  <a:srgbClr val="303030"/>
                </a:solidFill>
                <a:effectLst/>
                <a:latin typeface="Arimo"/>
              </a:rPr>
              <a:t>14</a:t>
            </a:r>
            <a:r>
              <a:rPr lang="en-US" b="0" i="0" dirty="0" smtClean="0">
                <a:solidFill>
                  <a:srgbClr val="303030"/>
                </a:solidFill>
                <a:effectLst/>
                <a:latin typeface="Arimo"/>
              </a:rPr>
              <a:t> 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22</a:t>
            </a:r>
            <a:r>
              <a:rPr lang="en-US" b="0" i="0" dirty="0" smtClean="0">
                <a:solidFill>
                  <a:srgbClr val="303030"/>
                </a:solidFill>
                <a:effectLst/>
                <a:latin typeface="Arimo"/>
              </a:rPr>
              <a:t> pages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Now, these 2</a:t>
            </a:r>
            <a:r>
              <a:rPr lang="en-US" b="0" i="0" baseline="30000" dirty="0" smtClean="0">
                <a:solidFill>
                  <a:srgbClr val="303030"/>
                </a:solidFill>
                <a:effectLst/>
                <a:latin typeface="Arimo"/>
              </a:rPr>
              <a:t>22</a:t>
            </a:r>
            <a:r>
              <a:rPr lang="en-US" b="0" i="0" dirty="0" smtClean="0">
                <a:solidFill>
                  <a:srgbClr val="303030"/>
                </a:solidFill>
                <a:effectLst/>
                <a:latin typeface="Arimo"/>
              </a:rPr>
              <a:t> pages of inner page table are stored in different frames of the main memory.</a:t>
            </a:r>
            <a:endParaRPr lang="en-US" b="0" i="0" dirty="0" smtClean="0">
              <a:solidFill>
                <a:srgbClr val="303030"/>
              </a:solidFill>
              <a:effectLst/>
              <a:latin typeface="Arimo"/>
            </a:endParaRPr>
          </a:p>
          <a:p>
            <a:pPr fontAlgn="base"/>
            <a:endParaRPr lang="en-US" b="0" i="0" dirty="0" smtClean="0">
              <a:solidFill>
                <a:srgbClr val="303030"/>
              </a:solidFill>
              <a:effectLst/>
              <a:latin typeface="Arimo"/>
            </a:endParaRPr>
          </a:p>
          <a:p>
            <a:pPr fontAlgn="base"/>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p:txBody>
      </p:sp>
      <p:sp>
        <p:nvSpPr>
          <p:cNvPr id="3" name="Rectangle 2"/>
          <p:cNvSpPr/>
          <p:nvPr/>
        </p:nvSpPr>
        <p:spPr>
          <a:xfrm>
            <a:off x="76200" y="3733800"/>
            <a:ext cx="8763000" cy="2308324"/>
          </a:xfrm>
          <a:prstGeom prst="rect">
            <a:avLst/>
          </a:prstGeom>
        </p:spPr>
        <p:txBody>
          <a:bodyPr wrap="square">
            <a:spAutoFit/>
          </a:bodyPr>
          <a:lstStyle/>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Roboto Condensed"/>
              </a:rPr>
              <a:t>Number of Bits Required to Search an Entry in One Page of Inner Page Table-</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One page of inner page table contains 2</a:t>
            </a:r>
            <a:r>
              <a:rPr lang="en-US" b="0" i="0" baseline="30000" dirty="0" smtClean="0">
                <a:solidFill>
                  <a:srgbClr val="303030"/>
                </a:solidFill>
                <a:effectLst/>
                <a:latin typeface="Arimo"/>
              </a:rPr>
              <a:t>12</a:t>
            </a:r>
            <a:r>
              <a:rPr lang="en-US" b="0" i="0" dirty="0" smtClean="0">
                <a:solidFill>
                  <a:srgbClr val="303030"/>
                </a:solidFill>
                <a:effectLst/>
                <a:latin typeface="Arimo"/>
              </a:rPr>
              <a:t> entries.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bits required to search a particular entry in one page of inner page table = 12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a:solidFill>
                <a:srgbClr val="303030"/>
              </a:solidFill>
              <a:effectLst/>
              <a:latin typeface="Arimo"/>
            </a:endParaRPr>
          </a:p>
        </p:txBody>
      </p:sp>
      <p:sp>
        <p:nvSpPr>
          <p:cNvPr id="4" name="Rectangle 3"/>
          <p:cNvSpPr/>
          <p:nvPr/>
        </p:nvSpPr>
        <p:spPr>
          <a:xfrm>
            <a:off x="4572000" y="645110"/>
            <a:ext cx="4572000" cy="2308324"/>
          </a:xfrm>
          <a:prstGeom prst="rect">
            <a:avLst/>
          </a:prstGeom>
        </p:spPr>
        <p:txBody>
          <a:bodyPr>
            <a:spAutoFit/>
          </a:bodyPr>
          <a:lstStyle/>
          <a:p>
            <a:pPr fontAlgn="base"/>
            <a:r>
              <a:rPr lang="en-US" b="1" i="0" u="sng" dirty="0" smtClean="0">
                <a:solidFill>
                  <a:srgbClr val="303030"/>
                </a:solidFill>
                <a:effectLst/>
                <a:latin typeface="Roboto Condensed"/>
              </a:rPr>
              <a:t>Number of Page Table Entries in One Page of Inner Page Table-</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page table entries in one page of inner page table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Page size /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16 KB / 4 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12</a:t>
            </a:r>
            <a:r>
              <a:rPr lang="en-US" b="0" i="0" dirty="0" smtClean="0">
                <a:solidFill>
                  <a:srgbClr val="303030"/>
                </a:solidFill>
                <a:effectLst/>
                <a:latin typeface="Arimo"/>
              </a:rPr>
              <a:t> entries</a:t>
            </a:r>
            <a:endParaRPr lang="en-US" b="0" i="0" dirty="0" smtClean="0">
              <a:solidFill>
                <a:srgbClr val="303030"/>
              </a:solidFill>
              <a:effectLst/>
              <a:latin typeface="Arim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304800"/>
            <a:ext cx="8153400" cy="4247317"/>
          </a:xfrm>
          <a:prstGeom prst="rect">
            <a:avLst/>
          </a:prstGeom>
        </p:spPr>
        <p:txBody>
          <a:bodyPr wrap="square">
            <a:spAutoFit/>
          </a:bodyPr>
          <a:lstStyle/>
          <a:p>
            <a:pPr fontAlgn="base"/>
            <a:r>
              <a:rPr lang="en-US" b="1" i="0" u="sng" dirty="0" smtClean="0">
                <a:solidFill>
                  <a:srgbClr val="303030"/>
                </a:solidFill>
                <a:effectLst/>
                <a:latin typeface="Roboto Condensed"/>
              </a:rPr>
              <a:t>Outer Page Table-1 Size-</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Outer page table-1 is required to keep track of the frames storing the pages of inner page table.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Outer Page table-1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Number of entries in outer page table-1 x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Number of pages the inner page table is divided x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22</a:t>
            </a:r>
            <a:r>
              <a:rPr lang="en-US" b="0" i="0" dirty="0" smtClean="0">
                <a:solidFill>
                  <a:srgbClr val="303030"/>
                </a:solidFill>
                <a:effectLst/>
                <a:latin typeface="Arimo"/>
              </a:rPr>
              <a:t> x 4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16 MB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Arimo"/>
              </a:rPr>
              <a:t>Now, we can observe-</a:t>
            </a:r>
            <a:endParaRPr lang="en-US" b="1" i="0" u="sng"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The size of outer page table-1 is greater than the frame size (4 KB). </a:t>
            </a:r>
            <a:endParaRPr lang="en-US" b="0" i="0" dirty="0" smtClean="0">
              <a:solidFill>
                <a:srgbClr val="303030"/>
              </a:solidFill>
              <a:effectLst/>
              <a:latin typeface="Arimo"/>
            </a:endParaRPr>
          </a:p>
          <a:p>
            <a:pPr fontAlgn="base"/>
            <a:r>
              <a:rPr lang="en-US" dirty="0">
                <a:solidFill>
                  <a:srgbClr val="303030"/>
                </a:solidFill>
                <a:latin typeface="Arimo"/>
              </a:rPr>
              <a:t>	</a:t>
            </a:r>
            <a:r>
              <a:rPr lang="en-US" b="0" i="0" dirty="0" smtClean="0">
                <a:solidFill>
                  <a:srgbClr val="303030"/>
                </a:solidFill>
                <a:effectLst/>
                <a:latin typeface="Arimo"/>
              </a:rPr>
              <a:t>16MB &gt;4KB</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Thus, outer page table-1 can not be stored in a single frame.</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So, outer page table-1 has to be divided into pages.</a:t>
            </a:r>
            <a:endParaRPr lang="en-US" b="0" i="0" dirty="0">
              <a:solidFill>
                <a:srgbClr val="303030"/>
              </a:solidFill>
              <a:effectLst/>
              <a:latin typeface="Arim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305800" cy="6186309"/>
          </a:xfrm>
          <a:prstGeom prst="rect">
            <a:avLst/>
          </a:prstGeom>
        </p:spPr>
        <p:txBody>
          <a:bodyPr wrap="square">
            <a:spAutoFit/>
          </a:bodyPr>
          <a:lstStyle/>
          <a:p>
            <a:pPr fontAlgn="base"/>
            <a:r>
              <a:rPr lang="en-US" b="1" i="0" u="sng" dirty="0" smtClean="0">
                <a:solidFill>
                  <a:srgbClr val="303030"/>
                </a:solidFill>
                <a:effectLst/>
                <a:latin typeface="Roboto Condensed"/>
              </a:rPr>
              <a:t>Number of Pages of Outer Page Table-1</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pages the outer page table-1 is divided</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Outer page table-1 size / Page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16 MB / 16 KB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10</a:t>
            </a:r>
            <a:r>
              <a:rPr lang="en-US" b="0" i="0" dirty="0" smtClean="0">
                <a:solidFill>
                  <a:srgbClr val="303030"/>
                </a:solidFill>
                <a:effectLst/>
                <a:latin typeface="Arimo"/>
              </a:rPr>
              <a:t> pages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Now, these 2</a:t>
            </a:r>
            <a:r>
              <a:rPr lang="en-US" b="0" i="0" baseline="30000" dirty="0" smtClean="0">
                <a:solidFill>
                  <a:srgbClr val="303030"/>
                </a:solidFill>
                <a:effectLst/>
                <a:latin typeface="Arimo"/>
              </a:rPr>
              <a:t>10</a:t>
            </a:r>
            <a:r>
              <a:rPr lang="en-US" b="0" i="0" dirty="0" smtClean="0">
                <a:solidFill>
                  <a:srgbClr val="303030"/>
                </a:solidFill>
                <a:effectLst/>
                <a:latin typeface="Arimo"/>
              </a:rPr>
              <a:t> pages of outer page table-1 are stored in different frames of the main memory.</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Roboto Condensed"/>
              </a:rPr>
              <a:t>Number of Page Table Entries in One Page of Outer Page Table-1</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page table entries in one page of outer page table-1</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Page size /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16 KB / 4 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12</a:t>
            </a:r>
            <a:r>
              <a:rPr lang="en-US" b="0" i="0" dirty="0" smtClean="0">
                <a:solidFill>
                  <a:srgbClr val="303030"/>
                </a:solidFill>
                <a:effectLst/>
                <a:latin typeface="Arimo"/>
              </a:rPr>
              <a:t> entries</a:t>
            </a:r>
            <a:endParaRPr lang="en-US" b="0" i="0" dirty="0" smtClean="0">
              <a:solidFill>
                <a:srgbClr val="303030"/>
              </a:solidFill>
              <a:effectLst/>
              <a:latin typeface="Arimo"/>
            </a:endParaRPr>
          </a:p>
          <a:p>
            <a:pPr fontAlgn="base"/>
            <a:r>
              <a:rPr lang="en-US" b="1" i="0" u="sng" dirty="0" smtClean="0">
                <a:solidFill>
                  <a:srgbClr val="303030"/>
                </a:solidFill>
                <a:effectLst/>
                <a:latin typeface="Roboto Condensed"/>
              </a:rPr>
              <a:t>Number of Bits Required to Search an Entry in One Page of Outer Page Table-1</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One page of outer page table-1 contains 2</a:t>
            </a:r>
            <a:r>
              <a:rPr lang="en-US" b="0" i="0" baseline="30000" dirty="0" smtClean="0">
                <a:solidFill>
                  <a:srgbClr val="303030"/>
                </a:solidFill>
                <a:effectLst/>
                <a:latin typeface="Arimo"/>
              </a:rPr>
              <a:t>12</a:t>
            </a:r>
            <a:r>
              <a:rPr lang="en-US" b="0" i="0" dirty="0" smtClean="0">
                <a:solidFill>
                  <a:srgbClr val="303030"/>
                </a:solidFill>
                <a:effectLst/>
                <a:latin typeface="Arimo"/>
              </a:rPr>
              <a:t> entries.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bits required to search a particular entry in one page of outer page table-1 = 12 bits</a:t>
            </a:r>
            <a:endParaRPr lang="en-US" b="0" i="0" dirty="0" smtClean="0">
              <a:solidFill>
                <a:srgbClr val="303030"/>
              </a:solidFill>
              <a:effectLst/>
              <a:latin typeface="Arim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533400"/>
            <a:ext cx="7315200" cy="5909310"/>
          </a:xfrm>
          <a:prstGeom prst="rect">
            <a:avLst/>
          </a:prstGeom>
        </p:spPr>
        <p:txBody>
          <a:bodyPr wrap="square">
            <a:spAutoFit/>
          </a:bodyPr>
          <a:lstStyle/>
          <a:p>
            <a:pPr fontAlgn="base"/>
            <a:r>
              <a:rPr lang="en-US" b="1" i="0" u="sng" dirty="0" smtClean="0">
                <a:solidFill>
                  <a:srgbClr val="303030"/>
                </a:solidFill>
                <a:effectLst/>
                <a:latin typeface="Roboto Condensed"/>
              </a:rPr>
              <a:t>Outer Page Table-2 Size-</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Outer page table-2 is required to keep track of the frames storing the pages of outer page table-1.</a:t>
            </a:r>
            <a:endParaRPr lang="en-US" b="0" i="0" dirty="0" smtClean="0">
              <a:solidFill>
                <a:srgbClr val="303030"/>
              </a:solidFill>
              <a:effectLst/>
              <a:latin typeface="Arimo"/>
            </a:endParaRPr>
          </a:p>
          <a:p>
            <a:pPr fontAlgn="base"/>
            <a:r>
              <a:rPr lang="en-US" b="0" i="0" dirty="0" smtClean="0">
                <a:solidFill>
                  <a:srgbClr val="303030"/>
                </a:solidFill>
                <a:effectLst/>
                <a:latin typeface="Arimo"/>
              </a:rPr>
              <a:t>Outer Page table-2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Number of entries in outer page table-2 x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Number of pages the outer page table-1 is divided x Page table entry size</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2</a:t>
            </a:r>
            <a:r>
              <a:rPr lang="en-US" b="0" i="0" baseline="30000" dirty="0" smtClean="0">
                <a:solidFill>
                  <a:srgbClr val="303030"/>
                </a:solidFill>
                <a:effectLst/>
                <a:latin typeface="Arimo"/>
              </a:rPr>
              <a:t>10</a:t>
            </a:r>
            <a:r>
              <a:rPr lang="en-US" b="0" i="0" dirty="0" smtClean="0">
                <a:solidFill>
                  <a:srgbClr val="303030"/>
                </a:solidFill>
                <a:effectLst/>
                <a:latin typeface="Arimo"/>
              </a:rPr>
              <a:t> x 4 bytes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4 KB</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1" i="0" u="sng" dirty="0" smtClean="0">
                <a:solidFill>
                  <a:srgbClr val="303030"/>
                </a:solidFill>
                <a:effectLst/>
                <a:latin typeface="Arimo"/>
              </a:rPr>
              <a:t>Now, we can observe-</a:t>
            </a:r>
            <a:endParaRPr lang="en-US" b="1" i="0" u="sng"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The size of outer page table-2 is less than the frame size (16 KB).</a:t>
            </a:r>
            <a:br>
              <a:rPr lang="en-US" b="0" i="0" dirty="0" smtClean="0">
                <a:solidFill>
                  <a:srgbClr val="303030"/>
                </a:solidFill>
                <a:effectLst/>
                <a:latin typeface="Arimo"/>
              </a:rPr>
            </a:br>
            <a:r>
              <a:rPr lang="en-US" b="0" i="0" dirty="0" smtClean="0">
                <a:solidFill>
                  <a:srgbClr val="303030"/>
                </a:solidFill>
                <a:effectLst/>
                <a:latin typeface="Arimo"/>
              </a:rPr>
              <a:t>4KB&lt; 16KB</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Thus, outer page table-2 can be stored in a single frame.</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In fact, outer page table-2 will not completely occupy one frame and some space will remain vacant.</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So, for given system, we will have three levels of page table.</a:t>
            </a:r>
            <a:endParaRPr lang="en-US" b="0" i="0" dirty="0" smtClean="0">
              <a:solidFill>
                <a:srgbClr val="303030"/>
              </a:solidFill>
              <a:effectLst/>
              <a:latin typeface="Arimo"/>
            </a:endParaRPr>
          </a:p>
          <a:p>
            <a:pPr fontAlgn="base">
              <a:buFont typeface="Arial" panose="020B0604020202020204" pitchFamily="34" charset="0"/>
              <a:buChar char="•"/>
            </a:pPr>
            <a:r>
              <a:rPr lang="en-US" b="0" i="0" dirty="0" smtClean="0">
                <a:solidFill>
                  <a:srgbClr val="303030"/>
                </a:solidFill>
                <a:effectLst/>
                <a:latin typeface="Arimo"/>
              </a:rPr>
              <a:t>Page Table Base Register (PTBR) will store the base address of the outer page table-2.</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a:solidFill>
                <a:srgbClr val="303030"/>
              </a:solidFill>
              <a:effectLst/>
              <a:latin typeface="Arim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9296400" cy="2031325"/>
          </a:xfrm>
          <a:prstGeom prst="rect">
            <a:avLst/>
          </a:prstGeom>
        </p:spPr>
        <p:txBody>
          <a:bodyPr wrap="square">
            <a:spAutoFit/>
          </a:bodyPr>
          <a:lstStyle/>
          <a:p>
            <a:pPr fontAlgn="base"/>
            <a:r>
              <a:rPr lang="en-US" b="1" i="0" u="sng" dirty="0" smtClean="0">
                <a:solidFill>
                  <a:srgbClr val="303030"/>
                </a:solidFill>
                <a:effectLst/>
                <a:latin typeface="Roboto Condensed"/>
              </a:rPr>
              <a:t>Number of Bits Required to Search an Entry in Outer Page Table-2</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Outer page table-2 contains 2</a:t>
            </a:r>
            <a:r>
              <a:rPr lang="en-US" b="0" i="0" baseline="30000" dirty="0" smtClean="0">
                <a:solidFill>
                  <a:srgbClr val="303030"/>
                </a:solidFill>
                <a:effectLst/>
                <a:latin typeface="Arimo"/>
              </a:rPr>
              <a:t>10</a:t>
            </a:r>
            <a:r>
              <a:rPr lang="en-US" b="0" i="0" dirty="0" smtClean="0">
                <a:solidFill>
                  <a:srgbClr val="303030"/>
                </a:solidFill>
                <a:effectLst/>
                <a:latin typeface="Arimo"/>
              </a:rPr>
              <a:t> entries.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Thus,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Number of bits required to search a particular entry in outer page table-2 = 10 bits</a:t>
            </a:r>
            <a:endParaRPr lang="en-US" b="0" i="0" dirty="0" smtClean="0">
              <a:solidFill>
                <a:srgbClr val="303030"/>
              </a:solidFill>
              <a:effectLst/>
              <a:latin typeface="Arimo"/>
            </a:endParaRPr>
          </a:p>
          <a:p>
            <a:pPr fontAlgn="base"/>
            <a:r>
              <a:rPr lang="en-US" b="0" i="0" dirty="0" smtClean="0">
                <a:solidFill>
                  <a:srgbClr val="303030"/>
                </a:solidFill>
                <a:effectLst/>
                <a:latin typeface="Arimo"/>
              </a:rPr>
              <a:t> </a:t>
            </a:r>
            <a:endParaRPr lang="en-US" b="0" i="0" dirty="0" smtClean="0">
              <a:solidFill>
                <a:srgbClr val="303030"/>
              </a:solidFill>
              <a:effectLst/>
              <a:latin typeface="Arimo"/>
            </a:endParaRPr>
          </a:p>
          <a:p>
            <a:pPr fontAlgn="base"/>
            <a:r>
              <a:rPr lang="en-US" b="0" i="0" dirty="0" smtClean="0">
                <a:solidFill>
                  <a:srgbClr val="303030"/>
                </a:solidFill>
                <a:effectLst/>
                <a:latin typeface="Arimo"/>
              </a:rPr>
              <a:t>The paging system will look like as shown below-</a:t>
            </a:r>
            <a:endParaRPr lang="en-US" b="0" i="0" dirty="0">
              <a:solidFill>
                <a:srgbClr val="303030"/>
              </a:solidFill>
              <a:effectLst/>
              <a:latin typeface="Arimo"/>
            </a:endParaRPr>
          </a:p>
        </p:txBody>
      </p:sp>
      <p:pic>
        <p:nvPicPr>
          <p:cNvPr id="5" name="Picture 4"/>
          <p:cNvPicPr>
            <a:picLocks noChangeAspect="1"/>
          </p:cNvPicPr>
          <p:nvPr/>
        </p:nvPicPr>
        <p:blipFill>
          <a:blip r:embed="rId1"/>
          <a:stretch>
            <a:fillRect/>
          </a:stretch>
        </p:blipFill>
        <p:spPr>
          <a:xfrm>
            <a:off x="457200" y="2895600"/>
            <a:ext cx="8344218" cy="27432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7150" y="194157"/>
            <a:ext cx="4484370" cy="467359"/>
          </a:xfrm>
          <a:prstGeom prst="rect">
            <a:avLst/>
          </a:prstGeom>
        </p:spPr>
        <p:txBody>
          <a:bodyPr vert="horz" wrap="square" lIns="0" tIns="12700" rIns="0" bIns="0" rtlCol="0">
            <a:spAutoFit/>
          </a:bodyPr>
          <a:lstStyle/>
          <a:p>
            <a:pPr marL="12700">
              <a:lnSpc>
                <a:spcPct val="100000"/>
              </a:lnSpc>
              <a:spcBef>
                <a:spcPts val="100"/>
              </a:spcBef>
            </a:pPr>
            <a:r>
              <a:rPr spc="-20" dirty="0"/>
              <a:t>Two-Level </a:t>
            </a:r>
            <a:r>
              <a:rPr spc="-25" dirty="0"/>
              <a:t>Paging</a:t>
            </a:r>
            <a:r>
              <a:rPr spc="114" dirty="0"/>
              <a:t> </a:t>
            </a:r>
            <a:r>
              <a:rPr spc="-15" dirty="0"/>
              <a:t>Example</a:t>
            </a:r>
            <a:endParaRPr spc="-15" dirty="0"/>
          </a:p>
        </p:txBody>
      </p:sp>
      <p:sp>
        <p:nvSpPr>
          <p:cNvPr id="3" name="object 3"/>
          <p:cNvSpPr txBox="1"/>
          <p:nvPr/>
        </p:nvSpPr>
        <p:spPr>
          <a:xfrm>
            <a:off x="187228" y="1017270"/>
            <a:ext cx="8449310" cy="2964180"/>
          </a:xfrm>
          <a:prstGeom prst="rect">
            <a:avLst/>
          </a:prstGeom>
        </p:spPr>
        <p:txBody>
          <a:bodyPr vert="horz" wrap="square" lIns="0" tIns="119380" rIns="0" bIns="0" rtlCol="0">
            <a:spAutoFit/>
          </a:bodyPr>
          <a:lstStyle/>
          <a:p>
            <a:pPr marL="355600" marR="935355" indent="-342900">
              <a:lnSpc>
                <a:spcPct val="68000"/>
              </a:lnSpc>
              <a:spcBef>
                <a:spcPts val="940"/>
              </a:spcBef>
              <a:buChar char="•"/>
              <a:tabLst>
                <a:tab pos="354965" algn="l"/>
                <a:tab pos="355600" algn="l"/>
              </a:tabLst>
            </a:pPr>
            <a:r>
              <a:rPr sz="2200" dirty="0">
                <a:latin typeface="Arial" panose="020B0604020202020204"/>
                <a:cs typeface="Arial" panose="020B0604020202020204"/>
              </a:rPr>
              <a:t>A </a:t>
            </a:r>
            <a:r>
              <a:rPr sz="2200" spc="-10" dirty="0">
                <a:latin typeface="Arial" panose="020B0604020202020204"/>
                <a:cs typeface="Arial" panose="020B0604020202020204"/>
              </a:rPr>
              <a:t>logical </a:t>
            </a:r>
            <a:r>
              <a:rPr sz="2200" spc="-20" dirty="0">
                <a:latin typeface="Arial" panose="020B0604020202020204"/>
                <a:cs typeface="Arial" panose="020B0604020202020204"/>
              </a:rPr>
              <a:t>address (on 32-bit </a:t>
            </a:r>
            <a:r>
              <a:rPr sz="2200" spc="-15" dirty="0">
                <a:latin typeface="Arial" panose="020B0604020202020204"/>
                <a:cs typeface="Arial" panose="020B0604020202020204"/>
              </a:rPr>
              <a:t>machine </a:t>
            </a:r>
            <a:r>
              <a:rPr sz="2200" dirty="0">
                <a:latin typeface="Arial" panose="020B0604020202020204"/>
                <a:cs typeface="Arial" panose="020B0604020202020204"/>
              </a:rPr>
              <a:t>with </a:t>
            </a:r>
            <a:r>
              <a:rPr sz="2200" spc="-15" dirty="0">
                <a:latin typeface="Arial" panose="020B0604020202020204"/>
                <a:cs typeface="Arial" panose="020B0604020202020204"/>
              </a:rPr>
              <a:t>1K </a:t>
            </a:r>
            <a:r>
              <a:rPr sz="2200" spc="-20" dirty="0">
                <a:latin typeface="Arial" panose="020B0604020202020204"/>
                <a:cs typeface="Arial" panose="020B0604020202020204"/>
              </a:rPr>
              <a:t>page </a:t>
            </a:r>
            <a:r>
              <a:rPr sz="2200" spc="-5" dirty="0">
                <a:latin typeface="Arial" panose="020B0604020202020204"/>
                <a:cs typeface="Arial" panose="020B0604020202020204"/>
              </a:rPr>
              <a:t>size) </a:t>
            </a:r>
            <a:r>
              <a:rPr sz="2200" spc="5" dirty="0">
                <a:latin typeface="Arial" panose="020B0604020202020204"/>
                <a:cs typeface="Arial" panose="020B0604020202020204"/>
              </a:rPr>
              <a:t>is  </a:t>
            </a:r>
            <a:r>
              <a:rPr sz="2200" spc="-10" dirty="0">
                <a:latin typeface="Arial" panose="020B0604020202020204"/>
                <a:cs typeface="Arial" panose="020B0604020202020204"/>
              </a:rPr>
              <a:t>divided</a:t>
            </a:r>
            <a:r>
              <a:rPr sz="2200" spc="60" dirty="0">
                <a:latin typeface="Arial" panose="020B0604020202020204"/>
                <a:cs typeface="Arial" panose="020B0604020202020204"/>
              </a:rPr>
              <a:t> </a:t>
            </a:r>
            <a:r>
              <a:rPr sz="2200" spc="-15" dirty="0">
                <a:latin typeface="Arial" panose="020B0604020202020204"/>
                <a:cs typeface="Arial" panose="020B0604020202020204"/>
              </a:rPr>
              <a:t>into:</a:t>
            </a:r>
            <a:endParaRPr sz="2200">
              <a:latin typeface="Arial" panose="020B0604020202020204"/>
              <a:cs typeface="Arial" panose="020B0604020202020204"/>
            </a:endParaRPr>
          </a:p>
          <a:p>
            <a:pPr marL="635000" lvl="1" indent="-279400">
              <a:lnSpc>
                <a:spcPts val="1950"/>
              </a:lnSpc>
              <a:buChar char="–"/>
              <a:tabLst>
                <a:tab pos="634365" algn="l"/>
                <a:tab pos="635000" algn="l"/>
              </a:tabLst>
            </a:pPr>
            <a:r>
              <a:rPr sz="1900" dirty="0">
                <a:latin typeface="Arial" panose="020B0604020202020204"/>
                <a:cs typeface="Arial" panose="020B0604020202020204"/>
              </a:rPr>
              <a:t>a</a:t>
            </a:r>
            <a:r>
              <a:rPr sz="1900" spc="5" dirty="0">
                <a:latin typeface="Arial" panose="020B0604020202020204"/>
                <a:cs typeface="Arial" panose="020B0604020202020204"/>
              </a:rPr>
              <a:t> </a:t>
            </a:r>
            <a:r>
              <a:rPr sz="1900" spc="30" dirty="0">
                <a:latin typeface="Arial" panose="020B0604020202020204"/>
                <a:cs typeface="Arial" panose="020B0604020202020204"/>
              </a:rPr>
              <a:t>page</a:t>
            </a:r>
            <a:r>
              <a:rPr sz="1900" spc="-85" dirty="0">
                <a:latin typeface="Arial" panose="020B0604020202020204"/>
                <a:cs typeface="Arial" panose="020B0604020202020204"/>
              </a:rPr>
              <a:t> </a:t>
            </a:r>
            <a:r>
              <a:rPr sz="1900" spc="25" dirty="0">
                <a:latin typeface="Arial" panose="020B0604020202020204"/>
                <a:cs typeface="Arial" panose="020B0604020202020204"/>
              </a:rPr>
              <a:t>number</a:t>
            </a:r>
            <a:r>
              <a:rPr sz="1900" spc="-160" dirty="0">
                <a:latin typeface="Arial" panose="020B0604020202020204"/>
                <a:cs typeface="Arial" panose="020B0604020202020204"/>
              </a:rPr>
              <a:t> </a:t>
            </a:r>
            <a:r>
              <a:rPr sz="1900" spc="15" dirty="0">
                <a:latin typeface="Arial" panose="020B0604020202020204"/>
                <a:cs typeface="Arial" panose="020B0604020202020204"/>
              </a:rPr>
              <a:t>consisting</a:t>
            </a:r>
            <a:r>
              <a:rPr sz="1900" spc="-185" dirty="0">
                <a:latin typeface="Arial" panose="020B0604020202020204"/>
                <a:cs typeface="Arial" panose="020B0604020202020204"/>
              </a:rPr>
              <a:t> </a:t>
            </a:r>
            <a:r>
              <a:rPr sz="1900" spc="20" dirty="0">
                <a:latin typeface="Arial" panose="020B0604020202020204"/>
                <a:cs typeface="Arial" panose="020B0604020202020204"/>
              </a:rPr>
              <a:t>of</a:t>
            </a:r>
            <a:r>
              <a:rPr sz="1900" spc="-60" dirty="0">
                <a:latin typeface="Arial" panose="020B0604020202020204"/>
                <a:cs typeface="Arial" panose="020B0604020202020204"/>
              </a:rPr>
              <a:t> </a:t>
            </a:r>
            <a:r>
              <a:rPr sz="1900" spc="20" dirty="0">
                <a:latin typeface="Arial" panose="020B0604020202020204"/>
                <a:cs typeface="Arial" panose="020B0604020202020204"/>
              </a:rPr>
              <a:t>22</a:t>
            </a:r>
            <a:r>
              <a:rPr sz="1900" spc="-85" dirty="0">
                <a:latin typeface="Arial" panose="020B0604020202020204"/>
                <a:cs typeface="Arial" panose="020B0604020202020204"/>
              </a:rPr>
              <a:t> </a:t>
            </a:r>
            <a:r>
              <a:rPr sz="1900" spc="-5" dirty="0">
                <a:latin typeface="Arial" panose="020B0604020202020204"/>
                <a:cs typeface="Arial" panose="020B0604020202020204"/>
              </a:rPr>
              <a:t>bits</a:t>
            </a:r>
            <a:endParaRPr sz="1900">
              <a:latin typeface="Arial" panose="020B0604020202020204"/>
              <a:cs typeface="Arial" panose="020B0604020202020204"/>
            </a:endParaRPr>
          </a:p>
          <a:p>
            <a:pPr marL="635000" lvl="1" indent="-279400">
              <a:lnSpc>
                <a:spcPts val="2190"/>
              </a:lnSpc>
              <a:buChar char="–"/>
              <a:tabLst>
                <a:tab pos="634365" algn="l"/>
                <a:tab pos="635000" algn="l"/>
              </a:tabLst>
            </a:pPr>
            <a:r>
              <a:rPr sz="1900" dirty="0">
                <a:latin typeface="Arial" panose="020B0604020202020204"/>
                <a:cs typeface="Arial" panose="020B0604020202020204"/>
              </a:rPr>
              <a:t>a</a:t>
            </a:r>
            <a:r>
              <a:rPr sz="1900" spc="5" dirty="0">
                <a:latin typeface="Arial" panose="020B0604020202020204"/>
                <a:cs typeface="Arial" panose="020B0604020202020204"/>
              </a:rPr>
              <a:t> </a:t>
            </a:r>
            <a:r>
              <a:rPr sz="1900" spc="30" dirty="0">
                <a:latin typeface="Arial" panose="020B0604020202020204"/>
                <a:cs typeface="Arial" panose="020B0604020202020204"/>
              </a:rPr>
              <a:t>page</a:t>
            </a:r>
            <a:r>
              <a:rPr sz="1900" spc="-85" dirty="0">
                <a:latin typeface="Arial" panose="020B0604020202020204"/>
                <a:cs typeface="Arial" panose="020B0604020202020204"/>
              </a:rPr>
              <a:t> </a:t>
            </a:r>
            <a:r>
              <a:rPr sz="1900" spc="10" dirty="0">
                <a:latin typeface="Arial" panose="020B0604020202020204"/>
                <a:cs typeface="Arial" panose="020B0604020202020204"/>
              </a:rPr>
              <a:t>offset</a:t>
            </a:r>
            <a:r>
              <a:rPr sz="1900" spc="-160" dirty="0">
                <a:latin typeface="Arial" panose="020B0604020202020204"/>
                <a:cs typeface="Arial" panose="020B0604020202020204"/>
              </a:rPr>
              <a:t> </a:t>
            </a:r>
            <a:r>
              <a:rPr sz="1900" spc="15" dirty="0">
                <a:latin typeface="Arial" panose="020B0604020202020204"/>
                <a:cs typeface="Arial" panose="020B0604020202020204"/>
              </a:rPr>
              <a:t>consisting</a:t>
            </a:r>
            <a:r>
              <a:rPr sz="1900" spc="-185" dirty="0">
                <a:latin typeface="Arial" panose="020B0604020202020204"/>
                <a:cs typeface="Arial" panose="020B0604020202020204"/>
              </a:rPr>
              <a:t> </a:t>
            </a:r>
            <a:r>
              <a:rPr sz="1900" spc="20" dirty="0">
                <a:latin typeface="Arial" panose="020B0604020202020204"/>
                <a:cs typeface="Arial" panose="020B0604020202020204"/>
              </a:rPr>
              <a:t>of</a:t>
            </a:r>
            <a:r>
              <a:rPr sz="1900" spc="-60" dirty="0">
                <a:latin typeface="Arial" panose="020B0604020202020204"/>
                <a:cs typeface="Arial" panose="020B0604020202020204"/>
              </a:rPr>
              <a:t> </a:t>
            </a:r>
            <a:r>
              <a:rPr sz="1900" spc="20" dirty="0">
                <a:latin typeface="Arial" panose="020B0604020202020204"/>
                <a:cs typeface="Arial" panose="020B0604020202020204"/>
              </a:rPr>
              <a:t>10</a:t>
            </a:r>
            <a:r>
              <a:rPr sz="1900" spc="10" dirty="0">
                <a:latin typeface="Arial" panose="020B0604020202020204"/>
                <a:cs typeface="Arial" panose="020B0604020202020204"/>
              </a:rPr>
              <a:t> </a:t>
            </a:r>
            <a:r>
              <a:rPr sz="1900" spc="-5" dirty="0">
                <a:latin typeface="Arial" panose="020B0604020202020204"/>
                <a:cs typeface="Arial" panose="020B0604020202020204"/>
              </a:rPr>
              <a:t>bits</a:t>
            </a:r>
            <a:endParaRPr sz="1900">
              <a:latin typeface="Arial" panose="020B0604020202020204"/>
              <a:cs typeface="Arial" panose="020B0604020202020204"/>
            </a:endParaRPr>
          </a:p>
          <a:p>
            <a:pPr marL="355600" marR="5080" indent="-342900">
              <a:lnSpc>
                <a:spcPct val="68000"/>
              </a:lnSpc>
              <a:spcBef>
                <a:spcPts val="1360"/>
              </a:spcBef>
              <a:buChar char="•"/>
              <a:tabLst>
                <a:tab pos="354965" algn="l"/>
                <a:tab pos="355600" algn="l"/>
              </a:tabLst>
            </a:pPr>
            <a:r>
              <a:rPr sz="2200" dirty="0">
                <a:latin typeface="Arial" panose="020B0604020202020204"/>
                <a:cs typeface="Arial" panose="020B0604020202020204"/>
              </a:rPr>
              <a:t>Since </a:t>
            </a:r>
            <a:r>
              <a:rPr sz="2200" spc="-15" dirty="0">
                <a:latin typeface="Arial" panose="020B0604020202020204"/>
                <a:cs typeface="Arial" panose="020B0604020202020204"/>
              </a:rPr>
              <a:t>the </a:t>
            </a:r>
            <a:r>
              <a:rPr sz="2200" spc="-20" dirty="0">
                <a:latin typeface="Arial" panose="020B0604020202020204"/>
                <a:cs typeface="Arial" panose="020B0604020202020204"/>
              </a:rPr>
              <a:t>page </a:t>
            </a:r>
            <a:r>
              <a:rPr sz="2200" spc="-15" dirty="0">
                <a:latin typeface="Arial" panose="020B0604020202020204"/>
                <a:cs typeface="Arial" panose="020B0604020202020204"/>
              </a:rPr>
              <a:t>table </a:t>
            </a:r>
            <a:r>
              <a:rPr sz="2200" spc="5" dirty="0">
                <a:latin typeface="Arial" panose="020B0604020202020204"/>
                <a:cs typeface="Arial" panose="020B0604020202020204"/>
              </a:rPr>
              <a:t>is </a:t>
            </a:r>
            <a:r>
              <a:rPr sz="2200" spc="-25" dirty="0">
                <a:latin typeface="Arial" panose="020B0604020202020204"/>
                <a:cs typeface="Arial" panose="020B0604020202020204"/>
              </a:rPr>
              <a:t>paged, </a:t>
            </a:r>
            <a:r>
              <a:rPr sz="2200" spc="-15" dirty="0">
                <a:latin typeface="Arial" panose="020B0604020202020204"/>
                <a:cs typeface="Arial" panose="020B0604020202020204"/>
              </a:rPr>
              <a:t>the </a:t>
            </a:r>
            <a:r>
              <a:rPr sz="2200" spc="-20" dirty="0">
                <a:latin typeface="Arial" panose="020B0604020202020204"/>
                <a:cs typeface="Arial" panose="020B0604020202020204"/>
              </a:rPr>
              <a:t>page </a:t>
            </a:r>
            <a:r>
              <a:rPr sz="2200" spc="-25" dirty="0">
                <a:latin typeface="Arial" panose="020B0604020202020204"/>
                <a:cs typeface="Arial" panose="020B0604020202020204"/>
              </a:rPr>
              <a:t>number </a:t>
            </a:r>
            <a:r>
              <a:rPr sz="2200" spc="5" dirty="0">
                <a:latin typeface="Arial" panose="020B0604020202020204"/>
                <a:cs typeface="Arial" panose="020B0604020202020204"/>
              </a:rPr>
              <a:t>is </a:t>
            </a:r>
            <a:r>
              <a:rPr sz="2200" spc="-20" dirty="0">
                <a:latin typeface="Arial" panose="020B0604020202020204"/>
                <a:cs typeface="Arial" panose="020B0604020202020204"/>
              </a:rPr>
              <a:t>further </a:t>
            </a:r>
            <a:r>
              <a:rPr sz="2200" spc="-10" dirty="0">
                <a:latin typeface="Arial" panose="020B0604020202020204"/>
                <a:cs typeface="Arial" panose="020B0604020202020204"/>
              </a:rPr>
              <a:t>divided  </a:t>
            </a:r>
            <a:r>
              <a:rPr sz="2200" spc="-15" dirty="0">
                <a:latin typeface="Arial" panose="020B0604020202020204"/>
                <a:cs typeface="Arial" panose="020B0604020202020204"/>
              </a:rPr>
              <a:t>into:</a:t>
            </a:r>
            <a:endParaRPr sz="2200">
              <a:latin typeface="Arial" panose="020B0604020202020204"/>
              <a:cs typeface="Arial" panose="020B0604020202020204"/>
            </a:endParaRPr>
          </a:p>
          <a:p>
            <a:pPr marL="635000" lvl="1" indent="-279400">
              <a:lnSpc>
                <a:spcPts val="1950"/>
              </a:lnSpc>
              <a:buChar char="–"/>
              <a:tabLst>
                <a:tab pos="634365" algn="l"/>
                <a:tab pos="635000" algn="l"/>
              </a:tabLst>
            </a:pPr>
            <a:r>
              <a:rPr sz="1900" dirty="0">
                <a:latin typeface="Arial" panose="020B0604020202020204"/>
                <a:cs typeface="Arial" panose="020B0604020202020204"/>
              </a:rPr>
              <a:t>a </a:t>
            </a:r>
            <a:r>
              <a:rPr sz="1900" spc="10" dirty="0">
                <a:latin typeface="Arial" panose="020B0604020202020204"/>
                <a:cs typeface="Arial" panose="020B0604020202020204"/>
              </a:rPr>
              <a:t>12-bit </a:t>
            </a:r>
            <a:r>
              <a:rPr sz="1900" spc="30" dirty="0">
                <a:latin typeface="Arial" panose="020B0604020202020204"/>
                <a:cs typeface="Arial" panose="020B0604020202020204"/>
              </a:rPr>
              <a:t>page</a:t>
            </a:r>
            <a:r>
              <a:rPr sz="1900" spc="-150" dirty="0">
                <a:latin typeface="Arial" panose="020B0604020202020204"/>
                <a:cs typeface="Arial" panose="020B0604020202020204"/>
              </a:rPr>
              <a:t> </a:t>
            </a:r>
            <a:r>
              <a:rPr sz="1900" spc="35" dirty="0">
                <a:latin typeface="Arial" panose="020B0604020202020204"/>
                <a:cs typeface="Arial" panose="020B0604020202020204"/>
              </a:rPr>
              <a:t>number</a:t>
            </a:r>
            <a:endParaRPr sz="1900">
              <a:latin typeface="Arial" panose="020B0604020202020204"/>
              <a:cs typeface="Arial" panose="020B0604020202020204"/>
            </a:endParaRPr>
          </a:p>
          <a:p>
            <a:pPr marL="635000" lvl="1" indent="-279400">
              <a:lnSpc>
                <a:spcPts val="2190"/>
              </a:lnSpc>
              <a:buChar char="–"/>
              <a:tabLst>
                <a:tab pos="634365" algn="l"/>
                <a:tab pos="635000" algn="l"/>
              </a:tabLst>
            </a:pPr>
            <a:r>
              <a:rPr sz="1900" dirty="0">
                <a:latin typeface="Arial" panose="020B0604020202020204"/>
                <a:cs typeface="Arial" panose="020B0604020202020204"/>
              </a:rPr>
              <a:t>a </a:t>
            </a:r>
            <a:r>
              <a:rPr sz="1900" spc="10" dirty="0">
                <a:latin typeface="Arial" panose="020B0604020202020204"/>
                <a:cs typeface="Arial" panose="020B0604020202020204"/>
              </a:rPr>
              <a:t>10-bit </a:t>
            </a:r>
            <a:r>
              <a:rPr sz="1900" spc="30" dirty="0">
                <a:latin typeface="Arial" panose="020B0604020202020204"/>
                <a:cs typeface="Arial" panose="020B0604020202020204"/>
              </a:rPr>
              <a:t>page</a:t>
            </a:r>
            <a:r>
              <a:rPr sz="1900" spc="-150" dirty="0">
                <a:latin typeface="Arial" panose="020B0604020202020204"/>
                <a:cs typeface="Arial" panose="020B0604020202020204"/>
              </a:rPr>
              <a:t> </a:t>
            </a:r>
            <a:r>
              <a:rPr sz="1900" spc="15" dirty="0">
                <a:latin typeface="Arial" panose="020B0604020202020204"/>
                <a:cs typeface="Arial" panose="020B0604020202020204"/>
              </a:rPr>
              <a:t>offset</a:t>
            </a:r>
            <a:endParaRPr sz="1900">
              <a:latin typeface="Arial" panose="020B0604020202020204"/>
              <a:cs typeface="Arial" panose="020B0604020202020204"/>
            </a:endParaRPr>
          </a:p>
          <a:p>
            <a:pPr marL="355600" indent="-342900">
              <a:lnSpc>
                <a:spcPts val="2470"/>
              </a:lnSpc>
              <a:spcBef>
                <a:spcPts val="520"/>
              </a:spcBef>
              <a:buChar char="•"/>
              <a:tabLst>
                <a:tab pos="354965" algn="l"/>
                <a:tab pos="355600" algn="l"/>
              </a:tabLst>
            </a:pPr>
            <a:r>
              <a:rPr sz="2200" spc="-20" dirty="0">
                <a:latin typeface="Arial" panose="020B0604020202020204"/>
                <a:cs typeface="Arial" panose="020B0604020202020204"/>
              </a:rPr>
              <a:t>Thus, </a:t>
            </a:r>
            <a:r>
              <a:rPr sz="2200" dirty="0">
                <a:latin typeface="Arial" panose="020B0604020202020204"/>
                <a:cs typeface="Arial" panose="020B0604020202020204"/>
              </a:rPr>
              <a:t>a </a:t>
            </a:r>
            <a:r>
              <a:rPr sz="2200" spc="-10" dirty="0">
                <a:latin typeface="Arial" panose="020B0604020202020204"/>
                <a:cs typeface="Arial" panose="020B0604020202020204"/>
              </a:rPr>
              <a:t>logical </a:t>
            </a:r>
            <a:r>
              <a:rPr sz="2200" spc="-20" dirty="0">
                <a:latin typeface="Arial" panose="020B0604020202020204"/>
                <a:cs typeface="Arial" panose="020B0604020202020204"/>
              </a:rPr>
              <a:t>address </a:t>
            </a:r>
            <a:r>
              <a:rPr sz="2200" spc="5" dirty="0">
                <a:latin typeface="Arial" panose="020B0604020202020204"/>
                <a:cs typeface="Arial" panose="020B0604020202020204"/>
              </a:rPr>
              <a:t>is </a:t>
            </a:r>
            <a:r>
              <a:rPr sz="2200" spc="-15" dirty="0">
                <a:latin typeface="Arial" panose="020B0604020202020204"/>
                <a:cs typeface="Arial" panose="020B0604020202020204"/>
              </a:rPr>
              <a:t>as</a:t>
            </a:r>
            <a:r>
              <a:rPr sz="2200" spc="330" dirty="0">
                <a:latin typeface="Arial" panose="020B0604020202020204"/>
                <a:cs typeface="Arial" panose="020B0604020202020204"/>
              </a:rPr>
              <a:t> </a:t>
            </a:r>
            <a:r>
              <a:rPr sz="2200" spc="-5" dirty="0">
                <a:latin typeface="Arial" panose="020B0604020202020204"/>
                <a:cs typeface="Arial" panose="020B0604020202020204"/>
              </a:rPr>
              <a:t>follows:</a:t>
            </a:r>
            <a:endParaRPr sz="2200">
              <a:latin typeface="Arial" panose="020B0604020202020204"/>
              <a:cs typeface="Arial" panose="020B0604020202020204"/>
            </a:endParaRPr>
          </a:p>
          <a:p>
            <a:pPr marL="12700">
              <a:lnSpc>
                <a:spcPts val="2470"/>
              </a:lnSpc>
            </a:pPr>
            <a:r>
              <a:rPr sz="2200" dirty="0">
                <a:latin typeface="Arial" panose="020B0604020202020204"/>
                <a:cs typeface="Arial" panose="020B0604020202020204"/>
              </a:rPr>
              <a:t>•</a:t>
            </a:r>
            <a:endParaRPr sz="2200">
              <a:latin typeface="Arial" panose="020B0604020202020204"/>
              <a:cs typeface="Arial" panose="020B0604020202020204"/>
            </a:endParaRPr>
          </a:p>
        </p:txBody>
      </p:sp>
      <p:sp>
        <p:nvSpPr>
          <p:cNvPr id="4" name="object 4"/>
          <p:cNvSpPr txBox="1"/>
          <p:nvPr/>
        </p:nvSpPr>
        <p:spPr>
          <a:xfrm>
            <a:off x="149128" y="4890770"/>
            <a:ext cx="7762875" cy="894080"/>
          </a:xfrm>
          <a:prstGeom prst="rect">
            <a:avLst/>
          </a:prstGeom>
        </p:spPr>
        <p:txBody>
          <a:bodyPr vert="horz" wrap="square" lIns="0" tIns="119380" rIns="0" bIns="0" rtlCol="0">
            <a:spAutoFit/>
          </a:bodyPr>
          <a:lstStyle/>
          <a:p>
            <a:pPr marL="393700" marR="55880" indent="-342900">
              <a:lnSpc>
                <a:spcPct val="68000"/>
              </a:lnSpc>
              <a:spcBef>
                <a:spcPts val="940"/>
              </a:spcBef>
              <a:buChar char="•"/>
              <a:tabLst>
                <a:tab pos="393065" algn="l"/>
                <a:tab pos="393700" algn="l"/>
              </a:tabLst>
            </a:pPr>
            <a:r>
              <a:rPr sz="2200" spc="-15" dirty="0">
                <a:latin typeface="Arial" panose="020B0604020202020204"/>
                <a:cs typeface="Arial" panose="020B0604020202020204"/>
              </a:rPr>
              <a:t>where </a:t>
            </a:r>
            <a:r>
              <a:rPr sz="2200" i="1" spc="-15" dirty="0">
                <a:latin typeface="Arial" panose="020B0604020202020204"/>
                <a:cs typeface="Arial" panose="020B0604020202020204"/>
              </a:rPr>
              <a:t>p</a:t>
            </a:r>
            <a:r>
              <a:rPr sz="2250" i="1" spc="-22" baseline="-19000" dirty="0">
                <a:latin typeface="Arial" panose="020B0604020202020204"/>
                <a:cs typeface="Arial" panose="020B0604020202020204"/>
              </a:rPr>
              <a:t>1 </a:t>
            </a:r>
            <a:r>
              <a:rPr sz="2200" spc="5" dirty="0">
                <a:latin typeface="Arial" panose="020B0604020202020204"/>
                <a:cs typeface="Arial" panose="020B0604020202020204"/>
              </a:rPr>
              <a:t>is </a:t>
            </a:r>
            <a:r>
              <a:rPr sz="2200" spc="-15" dirty="0">
                <a:latin typeface="Arial" panose="020B0604020202020204"/>
                <a:cs typeface="Arial" panose="020B0604020202020204"/>
              </a:rPr>
              <a:t>an index </a:t>
            </a:r>
            <a:r>
              <a:rPr sz="2200" spc="-10" dirty="0">
                <a:latin typeface="Arial" panose="020B0604020202020204"/>
                <a:cs typeface="Arial" panose="020B0604020202020204"/>
              </a:rPr>
              <a:t>into </a:t>
            </a:r>
            <a:r>
              <a:rPr sz="2200" spc="-15" dirty="0">
                <a:latin typeface="Arial" panose="020B0604020202020204"/>
                <a:cs typeface="Arial" panose="020B0604020202020204"/>
              </a:rPr>
              <a:t>the </a:t>
            </a:r>
            <a:r>
              <a:rPr sz="2200" spc="-20" dirty="0">
                <a:latin typeface="Arial" panose="020B0604020202020204"/>
                <a:cs typeface="Arial" panose="020B0604020202020204"/>
              </a:rPr>
              <a:t>outer page </a:t>
            </a:r>
            <a:r>
              <a:rPr sz="2200" spc="-15" dirty="0">
                <a:latin typeface="Arial" panose="020B0604020202020204"/>
                <a:cs typeface="Arial" panose="020B0604020202020204"/>
              </a:rPr>
              <a:t>table, </a:t>
            </a:r>
            <a:r>
              <a:rPr sz="2200" spc="-20" dirty="0">
                <a:latin typeface="Arial" panose="020B0604020202020204"/>
                <a:cs typeface="Arial" panose="020B0604020202020204"/>
              </a:rPr>
              <a:t>and </a:t>
            </a:r>
            <a:r>
              <a:rPr sz="2200" i="1" spc="-15" dirty="0">
                <a:latin typeface="Arial" panose="020B0604020202020204"/>
                <a:cs typeface="Arial" panose="020B0604020202020204"/>
              </a:rPr>
              <a:t>p</a:t>
            </a:r>
            <a:r>
              <a:rPr sz="2250" i="1" spc="-22" baseline="-19000" dirty="0">
                <a:latin typeface="Arial" panose="020B0604020202020204"/>
                <a:cs typeface="Arial" panose="020B0604020202020204"/>
              </a:rPr>
              <a:t>2 </a:t>
            </a:r>
            <a:r>
              <a:rPr sz="2200" spc="5" dirty="0">
                <a:latin typeface="Arial" panose="020B0604020202020204"/>
                <a:cs typeface="Arial" panose="020B0604020202020204"/>
              </a:rPr>
              <a:t>is </a:t>
            </a:r>
            <a:r>
              <a:rPr sz="2200" spc="-15" dirty="0">
                <a:latin typeface="Arial" panose="020B0604020202020204"/>
                <a:cs typeface="Arial" panose="020B0604020202020204"/>
              </a:rPr>
              <a:t>the  displacement </a:t>
            </a:r>
            <a:r>
              <a:rPr sz="2200" spc="-5" dirty="0">
                <a:latin typeface="Arial" panose="020B0604020202020204"/>
                <a:cs typeface="Arial" panose="020B0604020202020204"/>
              </a:rPr>
              <a:t>within </a:t>
            </a:r>
            <a:r>
              <a:rPr sz="2200" spc="-15" dirty="0">
                <a:latin typeface="Arial" panose="020B0604020202020204"/>
                <a:cs typeface="Arial" panose="020B0604020202020204"/>
              </a:rPr>
              <a:t>the </a:t>
            </a:r>
            <a:r>
              <a:rPr sz="2200" spc="-20" dirty="0">
                <a:latin typeface="Arial" panose="020B0604020202020204"/>
                <a:cs typeface="Arial" panose="020B0604020202020204"/>
              </a:rPr>
              <a:t>page </a:t>
            </a:r>
            <a:r>
              <a:rPr sz="2200" spc="-15" dirty="0">
                <a:latin typeface="Arial" panose="020B0604020202020204"/>
                <a:cs typeface="Arial" panose="020B0604020202020204"/>
              </a:rPr>
              <a:t>of the inner </a:t>
            </a:r>
            <a:r>
              <a:rPr sz="2200" spc="-20" dirty="0">
                <a:latin typeface="Arial" panose="020B0604020202020204"/>
                <a:cs typeface="Arial" panose="020B0604020202020204"/>
              </a:rPr>
              <a:t>page</a:t>
            </a:r>
            <a:r>
              <a:rPr sz="2200" spc="30" dirty="0">
                <a:latin typeface="Arial" panose="020B0604020202020204"/>
                <a:cs typeface="Arial" panose="020B0604020202020204"/>
              </a:rPr>
              <a:t> </a:t>
            </a:r>
            <a:r>
              <a:rPr sz="2200" spc="-15" dirty="0">
                <a:latin typeface="Arial" panose="020B0604020202020204"/>
                <a:cs typeface="Arial" panose="020B0604020202020204"/>
              </a:rPr>
              <a:t>table</a:t>
            </a:r>
            <a:endParaRPr sz="2200">
              <a:latin typeface="Arial" panose="020B0604020202020204"/>
              <a:cs typeface="Arial" panose="020B0604020202020204"/>
            </a:endParaRPr>
          </a:p>
          <a:p>
            <a:pPr marL="393700" indent="-342900">
              <a:lnSpc>
                <a:spcPts val="2400"/>
              </a:lnSpc>
              <a:buChar char="•"/>
              <a:tabLst>
                <a:tab pos="393065" algn="l"/>
                <a:tab pos="393700" algn="l"/>
              </a:tabLst>
            </a:pPr>
            <a:r>
              <a:rPr sz="2200" spc="-5" dirty="0">
                <a:latin typeface="Arial" panose="020B0604020202020204"/>
                <a:cs typeface="Arial" panose="020B0604020202020204"/>
              </a:rPr>
              <a:t>Known </a:t>
            </a:r>
            <a:r>
              <a:rPr sz="2200" spc="-15" dirty="0">
                <a:latin typeface="Arial" panose="020B0604020202020204"/>
                <a:cs typeface="Arial" panose="020B0604020202020204"/>
              </a:rPr>
              <a:t>as </a:t>
            </a:r>
            <a:r>
              <a:rPr sz="2200" b="1" spc="-20" dirty="0">
                <a:solidFill>
                  <a:srgbClr val="3366FF"/>
                </a:solidFill>
                <a:latin typeface="Arial" panose="020B0604020202020204"/>
                <a:cs typeface="Arial" panose="020B0604020202020204"/>
              </a:rPr>
              <a:t>forward-mapped </a:t>
            </a:r>
            <a:r>
              <a:rPr sz="2200" b="1" spc="-30" dirty="0">
                <a:solidFill>
                  <a:srgbClr val="3366FF"/>
                </a:solidFill>
                <a:latin typeface="Arial" panose="020B0604020202020204"/>
                <a:cs typeface="Arial" panose="020B0604020202020204"/>
              </a:rPr>
              <a:t>page</a:t>
            </a:r>
            <a:r>
              <a:rPr sz="2200" b="1" spc="-200" dirty="0">
                <a:solidFill>
                  <a:srgbClr val="3366FF"/>
                </a:solidFill>
                <a:latin typeface="Arial" panose="020B0604020202020204"/>
                <a:cs typeface="Arial" panose="020B0604020202020204"/>
              </a:rPr>
              <a:t> </a:t>
            </a:r>
            <a:r>
              <a:rPr sz="2200" b="1" spc="-25" dirty="0">
                <a:solidFill>
                  <a:srgbClr val="3366FF"/>
                </a:solidFill>
                <a:latin typeface="Arial" panose="020B0604020202020204"/>
                <a:cs typeface="Arial" panose="020B0604020202020204"/>
              </a:rPr>
              <a:t>table</a:t>
            </a:r>
            <a:endParaRPr sz="2200">
              <a:latin typeface="Arial" panose="020B0604020202020204"/>
              <a:cs typeface="Arial" panose="020B0604020202020204"/>
            </a:endParaRPr>
          </a:p>
        </p:txBody>
      </p:sp>
      <p:sp>
        <p:nvSpPr>
          <p:cNvPr id="5" name="object 5"/>
          <p:cNvSpPr/>
          <p:nvPr/>
        </p:nvSpPr>
        <p:spPr>
          <a:xfrm>
            <a:off x="2362200" y="3848100"/>
            <a:ext cx="3153147" cy="105410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28912" y="194157"/>
            <a:ext cx="4752975" cy="467359"/>
          </a:xfrm>
          <a:prstGeom prst="rect">
            <a:avLst/>
          </a:prstGeom>
        </p:spPr>
        <p:txBody>
          <a:bodyPr vert="horz" wrap="square" lIns="0" tIns="12700" rIns="0" bIns="0" rtlCol="0">
            <a:spAutoFit/>
          </a:bodyPr>
          <a:lstStyle/>
          <a:p>
            <a:pPr marL="12700">
              <a:lnSpc>
                <a:spcPct val="100000"/>
              </a:lnSpc>
              <a:spcBef>
                <a:spcPts val="100"/>
              </a:spcBef>
            </a:pPr>
            <a:r>
              <a:rPr spc="-5" dirty="0"/>
              <a:t>Address-Translation</a:t>
            </a:r>
            <a:r>
              <a:rPr spc="-175" dirty="0"/>
              <a:t> </a:t>
            </a:r>
            <a:r>
              <a:rPr spc="-10" dirty="0"/>
              <a:t>Scheme</a:t>
            </a:r>
            <a:endParaRPr spc="-10" dirty="0"/>
          </a:p>
        </p:txBody>
      </p:sp>
      <p:sp>
        <p:nvSpPr>
          <p:cNvPr id="3" name="object 3"/>
          <p:cNvSpPr/>
          <p:nvPr/>
        </p:nvSpPr>
        <p:spPr>
          <a:xfrm>
            <a:off x="186386" y="1274508"/>
            <a:ext cx="8767113" cy="3682587"/>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4250" y="208445"/>
            <a:ext cx="4789805" cy="467359"/>
          </a:xfrm>
          <a:prstGeom prst="rect">
            <a:avLst/>
          </a:prstGeom>
        </p:spPr>
        <p:txBody>
          <a:bodyPr vert="horz" wrap="square" lIns="0" tIns="12700" rIns="0" bIns="0" rtlCol="0">
            <a:spAutoFit/>
          </a:bodyPr>
          <a:lstStyle/>
          <a:p>
            <a:pPr marL="12700">
              <a:lnSpc>
                <a:spcPct val="100000"/>
              </a:lnSpc>
              <a:spcBef>
                <a:spcPts val="100"/>
              </a:spcBef>
            </a:pPr>
            <a:r>
              <a:rPr spc="-10" dirty="0"/>
              <a:t>64-bit Logical </a:t>
            </a:r>
            <a:r>
              <a:rPr spc="-5" dirty="0"/>
              <a:t>Address</a:t>
            </a:r>
            <a:r>
              <a:rPr spc="-150" dirty="0"/>
              <a:t> </a:t>
            </a:r>
            <a:r>
              <a:rPr spc="-5" dirty="0"/>
              <a:t>Space</a:t>
            </a:r>
            <a:endParaRPr spc="-5" dirty="0"/>
          </a:p>
        </p:txBody>
      </p:sp>
      <p:sp>
        <p:nvSpPr>
          <p:cNvPr id="3" name="object 3"/>
          <p:cNvSpPr txBox="1"/>
          <p:nvPr/>
        </p:nvSpPr>
        <p:spPr>
          <a:xfrm>
            <a:off x="53339" y="1143317"/>
            <a:ext cx="8102600" cy="1844039"/>
          </a:xfrm>
          <a:prstGeom prst="rect">
            <a:avLst/>
          </a:prstGeom>
        </p:spPr>
        <p:txBody>
          <a:bodyPr vert="horz" wrap="square" lIns="0" tIns="53340" rIns="0" bIns="0" rtlCol="0">
            <a:spAutoFit/>
          </a:bodyPr>
          <a:lstStyle/>
          <a:p>
            <a:pPr marL="381000" indent="-342900">
              <a:lnSpc>
                <a:spcPct val="100000"/>
              </a:lnSpc>
              <a:spcBef>
                <a:spcPts val="420"/>
              </a:spcBef>
              <a:buChar char="■"/>
              <a:tabLst>
                <a:tab pos="381000" algn="l"/>
              </a:tabLst>
            </a:pPr>
            <a:r>
              <a:rPr sz="2400" spc="-10" dirty="0">
                <a:latin typeface="Arial" panose="020B0604020202020204"/>
                <a:cs typeface="Arial" panose="020B0604020202020204"/>
              </a:rPr>
              <a:t>Even </a:t>
            </a:r>
            <a:r>
              <a:rPr sz="2400" spc="-20" dirty="0">
                <a:latin typeface="Arial" panose="020B0604020202020204"/>
                <a:cs typeface="Arial" panose="020B0604020202020204"/>
              </a:rPr>
              <a:t>two-level </a:t>
            </a:r>
            <a:r>
              <a:rPr sz="2400" spc="-30" dirty="0">
                <a:latin typeface="Arial" panose="020B0604020202020204"/>
                <a:cs typeface="Arial" panose="020B0604020202020204"/>
              </a:rPr>
              <a:t>paging </a:t>
            </a:r>
            <a:r>
              <a:rPr sz="2400" spc="-15" dirty="0">
                <a:latin typeface="Arial" panose="020B0604020202020204"/>
                <a:cs typeface="Arial" panose="020B0604020202020204"/>
              </a:rPr>
              <a:t>scheme </a:t>
            </a:r>
            <a:r>
              <a:rPr sz="2400" spc="-25" dirty="0">
                <a:latin typeface="Arial" panose="020B0604020202020204"/>
                <a:cs typeface="Arial" panose="020B0604020202020204"/>
              </a:rPr>
              <a:t>not</a:t>
            </a:r>
            <a:r>
              <a:rPr sz="2400" spc="-20" dirty="0">
                <a:latin typeface="Arial" panose="020B0604020202020204"/>
                <a:cs typeface="Arial" panose="020B0604020202020204"/>
              </a:rPr>
              <a:t> </a:t>
            </a:r>
            <a:r>
              <a:rPr sz="2400" spc="-15" dirty="0">
                <a:latin typeface="Arial" panose="020B0604020202020204"/>
                <a:cs typeface="Arial" panose="020B0604020202020204"/>
              </a:rPr>
              <a:t>sufficient</a:t>
            </a:r>
            <a:endParaRPr sz="2400">
              <a:latin typeface="Arial" panose="020B0604020202020204"/>
              <a:cs typeface="Arial" panose="020B0604020202020204"/>
            </a:endParaRPr>
          </a:p>
          <a:p>
            <a:pPr marL="381000" indent="-342900">
              <a:lnSpc>
                <a:spcPct val="100000"/>
              </a:lnSpc>
              <a:spcBef>
                <a:spcPts val="320"/>
              </a:spcBef>
              <a:buChar char="■"/>
              <a:tabLst>
                <a:tab pos="381000" algn="l"/>
              </a:tabLst>
            </a:pPr>
            <a:r>
              <a:rPr sz="2400" spc="15" dirty="0">
                <a:latin typeface="Arial" panose="020B0604020202020204"/>
                <a:cs typeface="Arial" panose="020B0604020202020204"/>
              </a:rPr>
              <a:t>If </a:t>
            </a:r>
            <a:r>
              <a:rPr sz="2400" spc="-30" dirty="0">
                <a:latin typeface="Arial" panose="020B0604020202020204"/>
                <a:cs typeface="Arial" panose="020B0604020202020204"/>
              </a:rPr>
              <a:t>page </a:t>
            </a:r>
            <a:r>
              <a:rPr sz="2400" spc="-10" dirty="0">
                <a:latin typeface="Arial" panose="020B0604020202020204"/>
                <a:cs typeface="Arial" panose="020B0604020202020204"/>
              </a:rPr>
              <a:t>size </a:t>
            </a:r>
            <a:r>
              <a:rPr sz="2400" spc="-20" dirty="0">
                <a:latin typeface="Arial" panose="020B0604020202020204"/>
                <a:cs typeface="Arial" panose="020B0604020202020204"/>
              </a:rPr>
              <a:t>is </a:t>
            </a:r>
            <a:r>
              <a:rPr sz="2400" dirty="0">
                <a:latin typeface="Arial" panose="020B0604020202020204"/>
                <a:cs typeface="Arial" panose="020B0604020202020204"/>
              </a:rPr>
              <a:t>4 </a:t>
            </a:r>
            <a:r>
              <a:rPr sz="2400" spc="-5" dirty="0">
                <a:latin typeface="Arial" panose="020B0604020202020204"/>
                <a:cs typeface="Arial" panose="020B0604020202020204"/>
              </a:rPr>
              <a:t>KB</a:t>
            </a:r>
            <a:r>
              <a:rPr sz="2400" spc="145" dirty="0">
                <a:latin typeface="Arial" panose="020B0604020202020204"/>
                <a:cs typeface="Arial" panose="020B0604020202020204"/>
              </a:rPr>
              <a:t> </a:t>
            </a:r>
            <a:r>
              <a:rPr sz="2400" spc="-5" dirty="0">
                <a:latin typeface="Arial" panose="020B0604020202020204"/>
                <a:cs typeface="Arial" panose="020B0604020202020204"/>
              </a:rPr>
              <a:t>(2</a:t>
            </a:r>
            <a:r>
              <a:rPr sz="2400" spc="-7" baseline="24000" dirty="0">
                <a:latin typeface="Arial" panose="020B0604020202020204"/>
                <a:cs typeface="Arial" panose="020B0604020202020204"/>
              </a:rPr>
              <a:t>12</a:t>
            </a:r>
            <a:r>
              <a:rPr sz="2400" spc="-5" dirty="0">
                <a:latin typeface="Arial" panose="020B0604020202020204"/>
                <a:cs typeface="Arial" panose="020B0604020202020204"/>
              </a:rPr>
              <a:t>)</a:t>
            </a:r>
            <a:endParaRPr sz="2400">
              <a:latin typeface="Arial" panose="020B0604020202020204"/>
              <a:cs typeface="Arial" panose="020B0604020202020204"/>
            </a:endParaRPr>
          </a:p>
          <a:p>
            <a:pPr marL="787400" lvl="1" indent="-292100">
              <a:lnSpc>
                <a:spcPct val="100000"/>
              </a:lnSpc>
              <a:spcBef>
                <a:spcPts val="220"/>
              </a:spcBef>
              <a:buChar char="●"/>
              <a:tabLst>
                <a:tab pos="787400" algn="l"/>
              </a:tabLst>
            </a:pPr>
            <a:r>
              <a:rPr sz="2000" spc="-15" dirty="0">
                <a:latin typeface="Arial" panose="020B0604020202020204"/>
                <a:cs typeface="Arial" panose="020B0604020202020204"/>
              </a:rPr>
              <a:t>Then page </a:t>
            </a:r>
            <a:r>
              <a:rPr sz="2000" spc="-10" dirty="0">
                <a:latin typeface="Arial" panose="020B0604020202020204"/>
                <a:cs typeface="Arial" panose="020B0604020202020204"/>
              </a:rPr>
              <a:t>table has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52</a:t>
            </a:r>
            <a:r>
              <a:rPr sz="1950" spc="52" baseline="26000" dirty="0">
                <a:latin typeface="Arial" panose="020B0604020202020204"/>
                <a:cs typeface="Arial" panose="020B0604020202020204"/>
              </a:rPr>
              <a:t> </a:t>
            </a:r>
            <a:r>
              <a:rPr sz="2000" spc="-5" dirty="0">
                <a:latin typeface="Arial" panose="020B0604020202020204"/>
                <a:cs typeface="Arial" panose="020B0604020202020204"/>
              </a:rPr>
              <a:t>entries</a:t>
            </a:r>
            <a:endParaRPr sz="2000">
              <a:latin typeface="Arial" panose="020B0604020202020204"/>
              <a:cs typeface="Arial" panose="020B0604020202020204"/>
            </a:endParaRPr>
          </a:p>
          <a:p>
            <a:pPr marL="787400" lvl="1" indent="-292100">
              <a:lnSpc>
                <a:spcPct val="100000"/>
              </a:lnSpc>
              <a:spcBef>
                <a:spcPts val="300"/>
              </a:spcBef>
              <a:buChar char="●"/>
              <a:tabLst>
                <a:tab pos="787400" algn="l"/>
              </a:tabLst>
            </a:pPr>
            <a:r>
              <a:rPr sz="2000" spc="20" dirty="0">
                <a:latin typeface="Arial" panose="020B0604020202020204"/>
                <a:cs typeface="Arial" panose="020B0604020202020204"/>
              </a:rPr>
              <a:t>If </a:t>
            </a:r>
            <a:r>
              <a:rPr sz="2000" spc="-5" dirty="0">
                <a:latin typeface="Arial" panose="020B0604020202020204"/>
                <a:cs typeface="Arial" panose="020B0604020202020204"/>
              </a:rPr>
              <a:t>two </a:t>
            </a:r>
            <a:r>
              <a:rPr sz="2000" spc="-15" dirty="0">
                <a:latin typeface="Arial" panose="020B0604020202020204"/>
                <a:cs typeface="Arial" panose="020B0604020202020204"/>
              </a:rPr>
              <a:t>level </a:t>
            </a:r>
            <a:r>
              <a:rPr sz="2000" spc="-5" dirty="0">
                <a:latin typeface="Arial" panose="020B0604020202020204"/>
                <a:cs typeface="Arial" panose="020B0604020202020204"/>
              </a:rPr>
              <a:t>scheme, </a:t>
            </a:r>
            <a:r>
              <a:rPr sz="2000" spc="-20" dirty="0">
                <a:latin typeface="Arial" panose="020B0604020202020204"/>
                <a:cs typeface="Arial" panose="020B0604020202020204"/>
              </a:rPr>
              <a:t>inner </a:t>
            </a:r>
            <a:r>
              <a:rPr sz="2000" spc="-15" dirty="0">
                <a:latin typeface="Arial" panose="020B0604020202020204"/>
                <a:cs typeface="Arial" panose="020B0604020202020204"/>
              </a:rPr>
              <a:t>page </a:t>
            </a:r>
            <a:r>
              <a:rPr sz="2000" spc="-10" dirty="0">
                <a:latin typeface="Arial" panose="020B0604020202020204"/>
                <a:cs typeface="Arial" panose="020B0604020202020204"/>
              </a:rPr>
              <a:t>tables </a:t>
            </a:r>
            <a:r>
              <a:rPr sz="2000" spc="-15" dirty="0">
                <a:latin typeface="Arial" panose="020B0604020202020204"/>
                <a:cs typeface="Arial" panose="020B0604020202020204"/>
              </a:rPr>
              <a:t>could </a:t>
            </a:r>
            <a:r>
              <a:rPr sz="2000" spc="-10" dirty="0">
                <a:latin typeface="Arial" panose="020B0604020202020204"/>
                <a:cs typeface="Arial" panose="020B0604020202020204"/>
              </a:rPr>
              <a:t>be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10 </a:t>
            </a:r>
            <a:r>
              <a:rPr sz="2000" spc="5" dirty="0">
                <a:latin typeface="Arial" panose="020B0604020202020204"/>
                <a:cs typeface="Arial" panose="020B0604020202020204"/>
              </a:rPr>
              <a:t>4-byte</a:t>
            </a:r>
            <a:r>
              <a:rPr sz="2000" spc="90" dirty="0">
                <a:latin typeface="Arial" panose="020B0604020202020204"/>
                <a:cs typeface="Arial" panose="020B0604020202020204"/>
              </a:rPr>
              <a:t> </a:t>
            </a:r>
            <a:r>
              <a:rPr sz="2000" spc="-5" dirty="0">
                <a:latin typeface="Arial" panose="020B0604020202020204"/>
                <a:cs typeface="Arial" panose="020B0604020202020204"/>
              </a:rPr>
              <a:t>entries</a:t>
            </a:r>
            <a:endParaRPr sz="2000">
              <a:latin typeface="Arial" panose="020B0604020202020204"/>
              <a:cs typeface="Arial" panose="020B0604020202020204"/>
            </a:endParaRPr>
          </a:p>
          <a:p>
            <a:pPr marL="787400" lvl="1" indent="-292100">
              <a:lnSpc>
                <a:spcPct val="100000"/>
              </a:lnSpc>
              <a:spcBef>
                <a:spcPts val="200"/>
              </a:spcBef>
              <a:buChar char="●"/>
              <a:tabLst>
                <a:tab pos="787400" algn="l"/>
              </a:tabLst>
            </a:pPr>
            <a:r>
              <a:rPr sz="2000" spc="-10" dirty="0">
                <a:latin typeface="Arial" panose="020B0604020202020204"/>
                <a:cs typeface="Arial" panose="020B0604020202020204"/>
              </a:rPr>
              <a:t>Address </a:t>
            </a:r>
            <a:r>
              <a:rPr sz="2000" spc="-25" dirty="0">
                <a:latin typeface="Arial" panose="020B0604020202020204"/>
                <a:cs typeface="Arial" panose="020B0604020202020204"/>
              </a:rPr>
              <a:t>would </a:t>
            </a:r>
            <a:r>
              <a:rPr sz="2000" spc="-20" dirty="0">
                <a:latin typeface="Arial" panose="020B0604020202020204"/>
                <a:cs typeface="Arial" panose="020B0604020202020204"/>
              </a:rPr>
              <a:t>look</a:t>
            </a:r>
            <a:r>
              <a:rPr sz="2000" spc="240" dirty="0">
                <a:latin typeface="Arial" panose="020B0604020202020204"/>
                <a:cs typeface="Arial" panose="020B0604020202020204"/>
              </a:rPr>
              <a:t> </a:t>
            </a:r>
            <a:r>
              <a:rPr sz="2000" spc="-25" dirty="0">
                <a:latin typeface="Arial" panose="020B0604020202020204"/>
                <a:cs typeface="Arial" panose="020B0604020202020204"/>
              </a:rPr>
              <a:t>like</a:t>
            </a:r>
            <a:endParaRPr sz="2000">
              <a:latin typeface="Arial" panose="020B0604020202020204"/>
              <a:cs typeface="Arial" panose="020B0604020202020204"/>
            </a:endParaRPr>
          </a:p>
        </p:txBody>
      </p:sp>
      <p:sp>
        <p:nvSpPr>
          <p:cNvPr id="4" name="object 4"/>
          <p:cNvSpPr txBox="1"/>
          <p:nvPr/>
        </p:nvSpPr>
        <p:spPr>
          <a:xfrm>
            <a:off x="510540" y="4295457"/>
            <a:ext cx="8282305" cy="1930400"/>
          </a:xfrm>
          <a:prstGeom prst="rect">
            <a:avLst/>
          </a:prstGeom>
        </p:spPr>
        <p:txBody>
          <a:bodyPr vert="horz" wrap="square" lIns="0" tIns="50800" rIns="0" bIns="0" rtlCol="0">
            <a:spAutoFit/>
          </a:bodyPr>
          <a:lstStyle/>
          <a:p>
            <a:pPr marL="330200" indent="-292100">
              <a:lnSpc>
                <a:spcPct val="100000"/>
              </a:lnSpc>
              <a:spcBef>
                <a:spcPts val="400"/>
              </a:spcBef>
              <a:buChar char="●"/>
              <a:tabLst>
                <a:tab pos="330200" algn="l"/>
              </a:tabLst>
            </a:pPr>
            <a:r>
              <a:rPr sz="2000" spc="10" dirty="0">
                <a:latin typeface="Arial" panose="020B0604020202020204"/>
                <a:cs typeface="Arial" panose="020B0604020202020204"/>
              </a:rPr>
              <a:t>Outer </a:t>
            </a:r>
            <a:r>
              <a:rPr sz="2000" spc="-15" dirty="0">
                <a:latin typeface="Arial" panose="020B0604020202020204"/>
                <a:cs typeface="Arial" panose="020B0604020202020204"/>
              </a:rPr>
              <a:t>page </a:t>
            </a:r>
            <a:r>
              <a:rPr sz="2000" spc="-10" dirty="0">
                <a:latin typeface="Arial" panose="020B0604020202020204"/>
                <a:cs typeface="Arial" panose="020B0604020202020204"/>
              </a:rPr>
              <a:t>table has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42  </a:t>
            </a:r>
            <a:r>
              <a:rPr sz="2000" spc="-5" dirty="0">
                <a:latin typeface="Arial" panose="020B0604020202020204"/>
                <a:cs typeface="Arial" panose="020B0604020202020204"/>
              </a:rPr>
              <a:t>entries </a:t>
            </a:r>
            <a:r>
              <a:rPr sz="2000" spc="-10" dirty="0">
                <a:latin typeface="Arial" panose="020B0604020202020204"/>
                <a:cs typeface="Arial" panose="020B0604020202020204"/>
              </a:rPr>
              <a:t>or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44</a:t>
            </a:r>
            <a:r>
              <a:rPr sz="1950" spc="284" baseline="26000" dirty="0">
                <a:latin typeface="Arial" panose="020B0604020202020204"/>
                <a:cs typeface="Arial" panose="020B0604020202020204"/>
              </a:rPr>
              <a:t> </a:t>
            </a:r>
            <a:r>
              <a:rPr sz="2000" dirty="0">
                <a:latin typeface="Arial" panose="020B0604020202020204"/>
                <a:cs typeface="Arial" panose="020B0604020202020204"/>
              </a:rPr>
              <a:t>bytes</a:t>
            </a:r>
            <a:endParaRPr sz="2000">
              <a:latin typeface="Arial" panose="020B0604020202020204"/>
              <a:cs typeface="Arial" panose="020B0604020202020204"/>
            </a:endParaRPr>
          </a:p>
          <a:p>
            <a:pPr marL="330200" indent="-292100">
              <a:lnSpc>
                <a:spcPct val="100000"/>
              </a:lnSpc>
              <a:spcBef>
                <a:spcPts val="300"/>
              </a:spcBef>
              <a:buChar char="●"/>
              <a:tabLst>
                <a:tab pos="330200" algn="l"/>
              </a:tabLst>
            </a:pPr>
            <a:r>
              <a:rPr sz="2000" spc="5" dirty="0">
                <a:latin typeface="Arial" panose="020B0604020202020204"/>
                <a:cs typeface="Arial" panose="020B0604020202020204"/>
              </a:rPr>
              <a:t>One </a:t>
            </a:r>
            <a:r>
              <a:rPr sz="2000" spc="-15" dirty="0">
                <a:latin typeface="Arial" panose="020B0604020202020204"/>
                <a:cs typeface="Arial" panose="020B0604020202020204"/>
              </a:rPr>
              <a:t>solution </a:t>
            </a:r>
            <a:r>
              <a:rPr sz="2000" spc="-25" dirty="0">
                <a:latin typeface="Arial" panose="020B0604020202020204"/>
                <a:cs typeface="Arial" panose="020B0604020202020204"/>
              </a:rPr>
              <a:t>is </a:t>
            </a:r>
            <a:r>
              <a:rPr sz="2000" spc="20" dirty="0">
                <a:latin typeface="Arial" panose="020B0604020202020204"/>
                <a:cs typeface="Arial" panose="020B0604020202020204"/>
              </a:rPr>
              <a:t>to </a:t>
            </a:r>
            <a:r>
              <a:rPr sz="2000" spc="-10" dirty="0">
                <a:latin typeface="Arial" panose="020B0604020202020204"/>
                <a:cs typeface="Arial" panose="020B0604020202020204"/>
              </a:rPr>
              <a:t>add </a:t>
            </a:r>
            <a:r>
              <a:rPr sz="2000" dirty="0">
                <a:latin typeface="Arial" panose="020B0604020202020204"/>
                <a:cs typeface="Arial" panose="020B0604020202020204"/>
              </a:rPr>
              <a:t>a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nd  </a:t>
            </a:r>
            <a:r>
              <a:rPr sz="2000" spc="-5" dirty="0">
                <a:latin typeface="Arial" panose="020B0604020202020204"/>
                <a:cs typeface="Arial" panose="020B0604020202020204"/>
              </a:rPr>
              <a:t>outer </a:t>
            </a:r>
            <a:r>
              <a:rPr sz="2000" spc="-15" dirty="0">
                <a:latin typeface="Arial" panose="020B0604020202020204"/>
                <a:cs typeface="Arial" panose="020B0604020202020204"/>
              </a:rPr>
              <a:t>page</a:t>
            </a:r>
            <a:r>
              <a:rPr sz="2000" dirty="0">
                <a:latin typeface="Arial" panose="020B0604020202020204"/>
                <a:cs typeface="Arial" panose="020B0604020202020204"/>
              </a:rPr>
              <a:t> </a:t>
            </a:r>
            <a:r>
              <a:rPr sz="2000" spc="-10" dirty="0">
                <a:latin typeface="Arial" panose="020B0604020202020204"/>
                <a:cs typeface="Arial" panose="020B0604020202020204"/>
              </a:rPr>
              <a:t>table</a:t>
            </a:r>
            <a:endParaRPr sz="2000">
              <a:latin typeface="Arial" panose="020B0604020202020204"/>
              <a:cs typeface="Arial" panose="020B0604020202020204"/>
            </a:endParaRPr>
          </a:p>
          <a:p>
            <a:pPr marL="330200" marR="30480" indent="-292100">
              <a:lnSpc>
                <a:spcPts val="2200"/>
              </a:lnSpc>
              <a:spcBef>
                <a:spcPts val="440"/>
              </a:spcBef>
              <a:buChar char="●"/>
              <a:tabLst>
                <a:tab pos="330200" algn="l"/>
              </a:tabLst>
            </a:pPr>
            <a:r>
              <a:rPr sz="2000" spc="-20" dirty="0">
                <a:latin typeface="Arial" panose="020B0604020202020204"/>
                <a:cs typeface="Arial" panose="020B0604020202020204"/>
              </a:rPr>
              <a:t>But </a:t>
            </a:r>
            <a:r>
              <a:rPr sz="2000" spc="-25" dirty="0">
                <a:latin typeface="Arial" panose="020B0604020202020204"/>
                <a:cs typeface="Arial" panose="020B0604020202020204"/>
              </a:rPr>
              <a:t>in </a:t>
            </a:r>
            <a:r>
              <a:rPr sz="2000" spc="5" dirty="0">
                <a:latin typeface="Arial" panose="020B0604020202020204"/>
                <a:cs typeface="Arial" panose="020B0604020202020204"/>
              </a:rPr>
              <a:t>the </a:t>
            </a:r>
            <a:r>
              <a:rPr sz="2000" spc="-25" dirty="0">
                <a:latin typeface="Arial" panose="020B0604020202020204"/>
                <a:cs typeface="Arial" panose="020B0604020202020204"/>
              </a:rPr>
              <a:t>following </a:t>
            </a:r>
            <a:r>
              <a:rPr sz="2000" spc="-10" dirty="0">
                <a:latin typeface="Arial" panose="020B0604020202020204"/>
                <a:cs typeface="Arial" panose="020B0604020202020204"/>
              </a:rPr>
              <a:t>example </a:t>
            </a:r>
            <a:r>
              <a:rPr sz="2000" spc="5" dirty="0">
                <a:latin typeface="Arial" panose="020B0604020202020204"/>
                <a:cs typeface="Arial" panose="020B0604020202020204"/>
              </a:rPr>
              <a:t>the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nd </a:t>
            </a:r>
            <a:r>
              <a:rPr sz="2000" spc="-5" dirty="0">
                <a:latin typeface="Arial" panose="020B0604020202020204"/>
                <a:cs typeface="Arial" panose="020B0604020202020204"/>
              </a:rPr>
              <a:t>outer </a:t>
            </a:r>
            <a:r>
              <a:rPr sz="2000" spc="-15" dirty="0">
                <a:latin typeface="Arial" panose="020B0604020202020204"/>
                <a:cs typeface="Arial" panose="020B0604020202020204"/>
              </a:rPr>
              <a:t>page </a:t>
            </a:r>
            <a:r>
              <a:rPr sz="2000" spc="-10" dirty="0">
                <a:latin typeface="Arial" panose="020B0604020202020204"/>
                <a:cs typeface="Arial" panose="020B0604020202020204"/>
              </a:rPr>
              <a:t>table </a:t>
            </a:r>
            <a:r>
              <a:rPr sz="2000" spc="-25" dirty="0">
                <a:latin typeface="Arial" panose="020B0604020202020204"/>
                <a:cs typeface="Arial" panose="020B0604020202020204"/>
              </a:rPr>
              <a:t>is </a:t>
            </a:r>
            <a:r>
              <a:rPr sz="2000" spc="-10" dirty="0">
                <a:latin typeface="Arial" panose="020B0604020202020204"/>
                <a:cs typeface="Arial" panose="020B0604020202020204"/>
              </a:rPr>
              <a:t>still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34 </a:t>
            </a:r>
            <a:r>
              <a:rPr sz="2000" dirty="0">
                <a:latin typeface="Arial" panose="020B0604020202020204"/>
                <a:cs typeface="Arial" panose="020B0604020202020204"/>
              </a:rPr>
              <a:t>bytes </a:t>
            </a:r>
            <a:r>
              <a:rPr sz="2000" spc="-25" dirty="0">
                <a:latin typeface="Arial" panose="020B0604020202020204"/>
                <a:cs typeface="Arial" panose="020B0604020202020204"/>
              </a:rPr>
              <a:t>in  </a:t>
            </a:r>
            <a:r>
              <a:rPr sz="2000" spc="-15" dirty="0">
                <a:latin typeface="Arial" panose="020B0604020202020204"/>
                <a:cs typeface="Arial" panose="020B0604020202020204"/>
              </a:rPr>
              <a:t>size</a:t>
            </a:r>
            <a:endParaRPr sz="2000">
              <a:latin typeface="Arial" panose="020B0604020202020204"/>
              <a:cs typeface="Arial" panose="020B0604020202020204"/>
            </a:endParaRPr>
          </a:p>
          <a:p>
            <a:pPr marL="723900" marR="565150" indent="-228600">
              <a:lnSpc>
                <a:spcPts val="2200"/>
              </a:lnSpc>
              <a:spcBef>
                <a:spcPts val="400"/>
              </a:spcBef>
            </a:pPr>
            <a:r>
              <a:rPr sz="2000" spc="-15" dirty="0">
                <a:latin typeface="Webdings" panose="05030102010509060703"/>
                <a:cs typeface="Webdings" panose="05030102010509060703"/>
              </a:rPr>
              <a:t></a:t>
            </a:r>
            <a:r>
              <a:rPr sz="2000" spc="-15" dirty="0">
                <a:latin typeface="Arial" panose="020B0604020202020204"/>
                <a:cs typeface="Arial" panose="020B0604020202020204"/>
              </a:rPr>
              <a:t>And </a:t>
            </a:r>
            <a:r>
              <a:rPr sz="2000" spc="-20" dirty="0">
                <a:latin typeface="Arial" panose="020B0604020202020204"/>
                <a:cs typeface="Arial" panose="020B0604020202020204"/>
              </a:rPr>
              <a:t>possibly </a:t>
            </a:r>
            <a:r>
              <a:rPr sz="2000" dirty="0">
                <a:latin typeface="Arial" panose="020B0604020202020204"/>
                <a:cs typeface="Arial" panose="020B0604020202020204"/>
              </a:rPr>
              <a:t>4 </a:t>
            </a:r>
            <a:r>
              <a:rPr sz="2000" spc="10" dirty="0">
                <a:latin typeface="Arial" panose="020B0604020202020204"/>
                <a:cs typeface="Arial" panose="020B0604020202020204"/>
              </a:rPr>
              <a:t>memory </a:t>
            </a:r>
            <a:r>
              <a:rPr sz="2000" spc="-5" dirty="0">
                <a:latin typeface="Arial" panose="020B0604020202020204"/>
                <a:cs typeface="Arial" panose="020B0604020202020204"/>
              </a:rPr>
              <a:t>access </a:t>
            </a:r>
            <a:r>
              <a:rPr sz="2000" spc="20" dirty="0">
                <a:latin typeface="Arial" panose="020B0604020202020204"/>
                <a:cs typeface="Arial" panose="020B0604020202020204"/>
              </a:rPr>
              <a:t>to </a:t>
            </a:r>
            <a:r>
              <a:rPr sz="2000" spc="-10" dirty="0">
                <a:latin typeface="Arial" panose="020B0604020202020204"/>
                <a:cs typeface="Arial" panose="020B0604020202020204"/>
              </a:rPr>
              <a:t>get </a:t>
            </a:r>
            <a:r>
              <a:rPr sz="2000" spc="20" dirty="0">
                <a:latin typeface="Arial" panose="020B0604020202020204"/>
                <a:cs typeface="Arial" panose="020B0604020202020204"/>
              </a:rPr>
              <a:t>to </a:t>
            </a:r>
            <a:r>
              <a:rPr sz="2000" spc="-10" dirty="0">
                <a:latin typeface="Arial" panose="020B0604020202020204"/>
                <a:cs typeface="Arial" panose="020B0604020202020204"/>
              </a:rPr>
              <a:t>one </a:t>
            </a:r>
            <a:r>
              <a:rPr sz="2000" spc="-15" dirty="0">
                <a:latin typeface="Arial" panose="020B0604020202020204"/>
                <a:cs typeface="Arial" panose="020B0604020202020204"/>
              </a:rPr>
              <a:t>physical </a:t>
            </a:r>
            <a:r>
              <a:rPr sz="2000" spc="10" dirty="0">
                <a:latin typeface="Arial" panose="020B0604020202020204"/>
                <a:cs typeface="Arial" panose="020B0604020202020204"/>
              </a:rPr>
              <a:t>memory  </a:t>
            </a:r>
            <a:r>
              <a:rPr sz="2000" spc="-15" dirty="0">
                <a:latin typeface="Arial" panose="020B0604020202020204"/>
                <a:cs typeface="Arial" panose="020B0604020202020204"/>
              </a:rPr>
              <a:t>location</a:t>
            </a:r>
            <a:endParaRPr sz="2000">
              <a:latin typeface="Arial" panose="020B0604020202020204"/>
              <a:cs typeface="Arial" panose="020B0604020202020204"/>
            </a:endParaRPr>
          </a:p>
        </p:txBody>
      </p:sp>
      <p:sp>
        <p:nvSpPr>
          <p:cNvPr id="5" name="object 5"/>
          <p:cNvSpPr/>
          <p:nvPr/>
        </p:nvSpPr>
        <p:spPr>
          <a:xfrm>
            <a:off x="2159000" y="2997200"/>
            <a:ext cx="3228304" cy="1136326"/>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1262" y="256070"/>
            <a:ext cx="4573905" cy="467359"/>
          </a:xfrm>
          <a:prstGeom prst="rect">
            <a:avLst/>
          </a:prstGeom>
        </p:spPr>
        <p:txBody>
          <a:bodyPr vert="horz" wrap="square" lIns="0" tIns="12700" rIns="0" bIns="0" rtlCol="0">
            <a:spAutoFit/>
          </a:bodyPr>
          <a:lstStyle/>
          <a:p>
            <a:pPr marL="12700">
              <a:lnSpc>
                <a:spcPct val="100000"/>
              </a:lnSpc>
              <a:spcBef>
                <a:spcPts val="100"/>
              </a:spcBef>
            </a:pPr>
            <a:r>
              <a:rPr dirty="0"/>
              <a:t>Three-level </a:t>
            </a:r>
            <a:r>
              <a:rPr spc="-25" dirty="0"/>
              <a:t>Paging</a:t>
            </a:r>
            <a:r>
              <a:rPr spc="75" dirty="0"/>
              <a:t> </a:t>
            </a:r>
            <a:r>
              <a:rPr spc="-10" dirty="0"/>
              <a:t>Scheme</a:t>
            </a:r>
            <a:endParaRPr spc="-10" dirty="0"/>
          </a:p>
        </p:txBody>
      </p:sp>
      <p:sp>
        <p:nvSpPr>
          <p:cNvPr id="3" name="object 3"/>
          <p:cNvSpPr/>
          <p:nvPr/>
        </p:nvSpPr>
        <p:spPr>
          <a:xfrm>
            <a:off x="1079500" y="1322630"/>
            <a:ext cx="6781800" cy="1484069"/>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977900" y="4013200"/>
            <a:ext cx="6883400" cy="1313295"/>
          </a:xfrm>
          <a:prstGeom prst="rect">
            <a:avLst/>
          </a:prstGeom>
          <a:blipFill>
            <a:blip r:embed="rId2" cstate="print"/>
            <a:stretch>
              <a:fillRect/>
            </a:stretch>
          </a:blipFill>
        </p:spPr>
        <p:txBody>
          <a:bodyPr wrap="square" lIns="0" tIns="0" rIns="0" bIns="0" rtlCol="0"/>
          <a:lstStyl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9112" y="208445"/>
            <a:ext cx="4103688" cy="459100"/>
          </a:xfrm>
          <a:prstGeom prst="rect">
            <a:avLst/>
          </a:prstGeom>
        </p:spPr>
        <p:txBody>
          <a:bodyPr vert="horz" wrap="square" lIns="0" tIns="12700" rIns="0" bIns="0" rtlCol="0">
            <a:spAutoFit/>
          </a:bodyPr>
          <a:lstStyle/>
          <a:p>
            <a:pPr marL="12700">
              <a:lnSpc>
                <a:spcPct val="100000"/>
              </a:lnSpc>
              <a:spcBef>
                <a:spcPts val="100"/>
              </a:spcBef>
            </a:pPr>
            <a:r>
              <a:rPr lang="en-US" dirty="0" smtClean="0"/>
              <a:t>2- </a:t>
            </a:r>
            <a:r>
              <a:rPr dirty="0" smtClean="0"/>
              <a:t>Hashed </a:t>
            </a:r>
            <a:r>
              <a:rPr spc="-20" dirty="0"/>
              <a:t>Page</a:t>
            </a:r>
            <a:r>
              <a:rPr spc="-95" dirty="0"/>
              <a:t> </a:t>
            </a:r>
            <a:r>
              <a:rPr spc="-65" dirty="0"/>
              <a:t>Tables</a:t>
            </a:r>
            <a:endParaRPr spc="-65" dirty="0"/>
          </a:p>
        </p:txBody>
      </p:sp>
      <p:sp>
        <p:nvSpPr>
          <p:cNvPr id="3" name="object 3"/>
          <p:cNvSpPr txBox="1"/>
          <p:nvPr/>
        </p:nvSpPr>
        <p:spPr>
          <a:xfrm>
            <a:off x="218225" y="1082992"/>
            <a:ext cx="8776335" cy="5552440"/>
          </a:xfrm>
          <a:prstGeom prst="rect">
            <a:avLst/>
          </a:prstGeom>
        </p:spPr>
        <p:txBody>
          <a:bodyPr vert="horz" wrap="square" lIns="0" tIns="53340" rIns="0" bIns="0" rtlCol="0">
            <a:spAutoFit/>
          </a:bodyPr>
          <a:lstStyle/>
          <a:p>
            <a:pPr marL="355600" indent="-342900">
              <a:lnSpc>
                <a:spcPct val="100000"/>
              </a:lnSpc>
              <a:spcBef>
                <a:spcPts val="420"/>
              </a:spcBef>
              <a:buChar char="•"/>
              <a:tabLst>
                <a:tab pos="354965" algn="l"/>
                <a:tab pos="355600" algn="l"/>
              </a:tabLst>
            </a:pPr>
            <a:r>
              <a:rPr sz="2400" spc="-20" dirty="0">
                <a:latin typeface="Arial" panose="020B0604020202020204"/>
                <a:cs typeface="Arial" panose="020B0604020202020204"/>
              </a:rPr>
              <a:t>Common in address spaces </a:t>
            </a:r>
            <a:r>
              <a:rPr sz="2400" dirty="0">
                <a:latin typeface="Arial" panose="020B0604020202020204"/>
                <a:cs typeface="Arial" panose="020B0604020202020204"/>
              </a:rPr>
              <a:t>&gt; </a:t>
            </a:r>
            <a:r>
              <a:rPr sz="2400" spc="-20" dirty="0">
                <a:latin typeface="Arial" panose="020B0604020202020204"/>
                <a:cs typeface="Arial" panose="020B0604020202020204"/>
              </a:rPr>
              <a:t>32</a:t>
            </a:r>
            <a:r>
              <a:rPr sz="2400" spc="445" dirty="0">
                <a:latin typeface="Arial" panose="020B0604020202020204"/>
                <a:cs typeface="Arial" panose="020B0604020202020204"/>
              </a:rPr>
              <a:t> </a:t>
            </a:r>
            <a:r>
              <a:rPr sz="2400" spc="-10" dirty="0">
                <a:latin typeface="Arial" panose="020B0604020202020204"/>
                <a:cs typeface="Arial" panose="020B0604020202020204"/>
              </a:rPr>
              <a:t>bits</a:t>
            </a:r>
            <a:endParaRPr sz="2400">
              <a:latin typeface="Arial" panose="020B0604020202020204"/>
              <a:cs typeface="Arial" panose="020B0604020202020204"/>
            </a:endParaRPr>
          </a:p>
          <a:p>
            <a:pPr marL="355600" indent="-342900">
              <a:lnSpc>
                <a:spcPct val="100000"/>
              </a:lnSpc>
              <a:spcBef>
                <a:spcPts val="320"/>
              </a:spcBef>
              <a:buChar char="•"/>
              <a:tabLst>
                <a:tab pos="354965" algn="l"/>
                <a:tab pos="355600" algn="l"/>
              </a:tabLst>
            </a:pPr>
            <a:r>
              <a:rPr sz="2400" spc="-5" dirty="0">
                <a:latin typeface="Arial" panose="020B0604020202020204"/>
                <a:cs typeface="Arial" panose="020B0604020202020204"/>
              </a:rPr>
              <a:t>The </a:t>
            </a:r>
            <a:r>
              <a:rPr sz="2400" spc="-15" dirty="0">
                <a:latin typeface="Arial" panose="020B0604020202020204"/>
                <a:cs typeface="Arial" panose="020B0604020202020204"/>
              </a:rPr>
              <a:t>virtual </a:t>
            </a:r>
            <a:r>
              <a:rPr sz="2400" spc="-30" dirty="0">
                <a:latin typeface="Arial" panose="020B0604020202020204"/>
                <a:cs typeface="Arial" panose="020B0604020202020204"/>
              </a:rPr>
              <a:t>page </a:t>
            </a:r>
            <a:r>
              <a:rPr sz="2400" spc="-25" dirty="0">
                <a:latin typeface="Arial" panose="020B0604020202020204"/>
                <a:cs typeface="Arial" panose="020B0604020202020204"/>
              </a:rPr>
              <a:t>number </a:t>
            </a:r>
            <a:r>
              <a:rPr sz="2400" spc="-20" dirty="0">
                <a:latin typeface="Arial" panose="020B0604020202020204"/>
                <a:cs typeface="Arial" panose="020B0604020202020204"/>
              </a:rPr>
              <a:t>is </a:t>
            </a:r>
            <a:r>
              <a:rPr sz="2400" spc="-25" dirty="0">
                <a:latin typeface="Arial" panose="020B0604020202020204"/>
                <a:cs typeface="Arial" panose="020B0604020202020204"/>
              </a:rPr>
              <a:t>hashed </a:t>
            </a:r>
            <a:r>
              <a:rPr sz="2400" spc="-10" dirty="0">
                <a:latin typeface="Arial" panose="020B0604020202020204"/>
                <a:cs typeface="Arial" panose="020B0604020202020204"/>
              </a:rPr>
              <a:t>into </a:t>
            </a:r>
            <a:r>
              <a:rPr sz="2400" dirty="0">
                <a:latin typeface="Arial" panose="020B0604020202020204"/>
                <a:cs typeface="Arial" panose="020B0604020202020204"/>
              </a:rPr>
              <a:t>a </a:t>
            </a:r>
            <a:r>
              <a:rPr sz="2400" spc="-30" dirty="0">
                <a:latin typeface="Arial" panose="020B0604020202020204"/>
                <a:cs typeface="Arial" panose="020B0604020202020204"/>
              </a:rPr>
              <a:t>page</a:t>
            </a:r>
            <a:r>
              <a:rPr sz="2400" spc="114" dirty="0">
                <a:latin typeface="Arial" panose="020B0604020202020204"/>
                <a:cs typeface="Arial" panose="020B0604020202020204"/>
              </a:rPr>
              <a:t> </a:t>
            </a:r>
            <a:r>
              <a:rPr sz="2400" spc="-15" dirty="0">
                <a:latin typeface="Arial" panose="020B0604020202020204"/>
                <a:cs typeface="Arial" panose="020B0604020202020204"/>
              </a:rPr>
              <a:t>table</a:t>
            </a:r>
            <a:endParaRPr sz="2400">
              <a:latin typeface="Arial" panose="020B0604020202020204"/>
              <a:cs typeface="Arial" panose="020B0604020202020204"/>
            </a:endParaRPr>
          </a:p>
          <a:p>
            <a:pPr marL="762000" marR="625475" lvl="1" indent="-292100">
              <a:lnSpc>
                <a:spcPts val="2200"/>
              </a:lnSpc>
              <a:spcBef>
                <a:spcPts val="460"/>
              </a:spcBef>
              <a:buChar char="–"/>
              <a:tabLst>
                <a:tab pos="761365" algn="l"/>
                <a:tab pos="762000" algn="l"/>
              </a:tabLst>
            </a:pPr>
            <a:r>
              <a:rPr sz="2000" spc="-25" dirty="0">
                <a:latin typeface="Arial" panose="020B0604020202020204"/>
                <a:cs typeface="Arial" panose="020B0604020202020204"/>
              </a:rPr>
              <a:t>This </a:t>
            </a:r>
            <a:r>
              <a:rPr sz="2000" spc="-15" dirty="0">
                <a:latin typeface="Arial" panose="020B0604020202020204"/>
                <a:cs typeface="Arial" panose="020B0604020202020204"/>
              </a:rPr>
              <a:t>page </a:t>
            </a:r>
            <a:r>
              <a:rPr sz="2000" spc="-10" dirty="0">
                <a:latin typeface="Arial" panose="020B0604020202020204"/>
                <a:cs typeface="Arial" panose="020B0604020202020204"/>
              </a:rPr>
              <a:t>table contains </a:t>
            </a:r>
            <a:r>
              <a:rPr sz="2000" dirty="0">
                <a:latin typeface="Arial" panose="020B0604020202020204"/>
                <a:cs typeface="Arial" panose="020B0604020202020204"/>
              </a:rPr>
              <a:t>a </a:t>
            </a:r>
            <a:r>
              <a:rPr sz="2000" spc="-15" dirty="0">
                <a:latin typeface="Arial" panose="020B0604020202020204"/>
                <a:cs typeface="Arial" panose="020B0604020202020204"/>
              </a:rPr>
              <a:t>chain </a:t>
            </a:r>
            <a:r>
              <a:rPr sz="2000" spc="-10" dirty="0">
                <a:latin typeface="Arial" panose="020B0604020202020204"/>
                <a:cs typeface="Arial" panose="020B0604020202020204"/>
              </a:rPr>
              <a:t>of </a:t>
            </a:r>
            <a:r>
              <a:rPr sz="2000" spc="-5" dirty="0">
                <a:latin typeface="Arial" panose="020B0604020202020204"/>
                <a:cs typeface="Arial" panose="020B0604020202020204"/>
              </a:rPr>
              <a:t>elements </a:t>
            </a:r>
            <a:r>
              <a:rPr sz="2000" spc="-15" dirty="0">
                <a:latin typeface="Arial" panose="020B0604020202020204"/>
                <a:cs typeface="Arial" panose="020B0604020202020204"/>
              </a:rPr>
              <a:t>hashing </a:t>
            </a:r>
            <a:r>
              <a:rPr sz="2000" spc="20" dirty="0">
                <a:latin typeface="Arial" panose="020B0604020202020204"/>
                <a:cs typeface="Arial" panose="020B0604020202020204"/>
              </a:rPr>
              <a:t>to </a:t>
            </a:r>
            <a:r>
              <a:rPr sz="2000" spc="5" dirty="0">
                <a:latin typeface="Arial" panose="020B0604020202020204"/>
                <a:cs typeface="Arial" panose="020B0604020202020204"/>
              </a:rPr>
              <a:t>the </a:t>
            </a:r>
            <a:r>
              <a:rPr sz="2000" dirty="0">
                <a:latin typeface="Arial" panose="020B0604020202020204"/>
                <a:cs typeface="Arial" panose="020B0604020202020204"/>
              </a:rPr>
              <a:t>same  </a:t>
            </a:r>
            <a:r>
              <a:rPr sz="2000" spc="-15" dirty="0">
                <a:latin typeface="Arial" panose="020B0604020202020204"/>
                <a:cs typeface="Arial" panose="020B0604020202020204"/>
              </a:rPr>
              <a:t>location</a:t>
            </a:r>
            <a:endParaRPr sz="2000">
              <a:latin typeface="Arial" panose="020B0604020202020204"/>
              <a:cs typeface="Arial" panose="020B0604020202020204"/>
            </a:endParaRPr>
          </a:p>
          <a:p>
            <a:pPr marL="355600" indent="-342900">
              <a:lnSpc>
                <a:spcPct val="100000"/>
              </a:lnSpc>
              <a:spcBef>
                <a:spcPts val="260"/>
              </a:spcBef>
              <a:buChar char="•"/>
              <a:tabLst>
                <a:tab pos="354965" algn="l"/>
                <a:tab pos="355600" algn="l"/>
              </a:tabLst>
            </a:pPr>
            <a:r>
              <a:rPr sz="2400" spc="-10" dirty="0">
                <a:latin typeface="Arial" panose="020B0604020202020204"/>
                <a:cs typeface="Arial" panose="020B0604020202020204"/>
              </a:rPr>
              <a:t>Each </a:t>
            </a:r>
            <a:r>
              <a:rPr sz="2400" spc="-25" dirty="0">
                <a:latin typeface="Arial" panose="020B0604020202020204"/>
                <a:cs typeface="Arial" panose="020B0604020202020204"/>
              </a:rPr>
              <a:t>element</a:t>
            </a:r>
            <a:r>
              <a:rPr sz="2400" spc="265" dirty="0">
                <a:latin typeface="Arial" panose="020B0604020202020204"/>
                <a:cs typeface="Arial" panose="020B0604020202020204"/>
              </a:rPr>
              <a:t> </a:t>
            </a:r>
            <a:r>
              <a:rPr sz="2400" spc="-20" dirty="0">
                <a:latin typeface="Arial" panose="020B0604020202020204"/>
                <a:cs typeface="Arial" panose="020B0604020202020204"/>
              </a:rPr>
              <a:t>contains</a:t>
            </a:r>
            <a:endParaRPr sz="2400">
              <a:latin typeface="Arial" panose="020B0604020202020204"/>
              <a:cs typeface="Arial" panose="020B0604020202020204"/>
            </a:endParaRPr>
          </a:p>
          <a:p>
            <a:pPr marL="762000" lvl="1" indent="-292100">
              <a:lnSpc>
                <a:spcPct val="100000"/>
              </a:lnSpc>
              <a:spcBef>
                <a:spcPts val="220"/>
              </a:spcBef>
              <a:buChar char="–"/>
              <a:tabLst>
                <a:tab pos="761365" algn="l"/>
                <a:tab pos="762000" algn="l"/>
              </a:tabLst>
            </a:pPr>
            <a:r>
              <a:rPr sz="2000" spc="5" dirty="0">
                <a:latin typeface="Arial" panose="020B0604020202020204"/>
                <a:cs typeface="Arial" panose="020B0604020202020204"/>
              </a:rPr>
              <a:t>(1) the </a:t>
            </a:r>
            <a:r>
              <a:rPr sz="2000" spc="-5" dirty="0">
                <a:latin typeface="Arial" panose="020B0604020202020204"/>
                <a:cs typeface="Arial" panose="020B0604020202020204"/>
              </a:rPr>
              <a:t>virtual </a:t>
            </a:r>
            <a:r>
              <a:rPr sz="2000" spc="-15" dirty="0">
                <a:latin typeface="Arial" panose="020B0604020202020204"/>
                <a:cs typeface="Arial" panose="020B0604020202020204"/>
              </a:rPr>
              <a:t>page</a:t>
            </a:r>
            <a:r>
              <a:rPr sz="2000" spc="-75" dirty="0">
                <a:latin typeface="Arial" panose="020B0604020202020204"/>
                <a:cs typeface="Arial" panose="020B0604020202020204"/>
              </a:rPr>
              <a:t> </a:t>
            </a:r>
            <a:r>
              <a:rPr sz="2000" spc="-5" dirty="0">
                <a:latin typeface="Arial" panose="020B0604020202020204"/>
                <a:cs typeface="Arial" panose="020B0604020202020204"/>
              </a:rPr>
              <a:t>number</a:t>
            </a:r>
            <a:endParaRPr sz="2000">
              <a:latin typeface="Arial" panose="020B0604020202020204"/>
              <a:cs typeface="Arial" panose="020B0604020202020204"/>
            </a:endParaRPr>
          </a:p>
          <a:p>
            <a:pPr marL="762000" lvl="1" indent="-292100">
              <a:lnSpc>
                <a:spcPct val="100000"/>
              </a:lnSpc>
              <a:spcBef>
                <a:spcPts val="300"/>
              </a:spcBef>
              <a:buChar char="–"/>
              <a:tabLst>
                <a:tab pos="761365" algn="l"/>
                <a:tab pos="762000" algn="l"/>
              </a:tabLst>
            </a:pPr>
            <a:r>
              <a:rPr sz="2000" spc="5" dirty="0">
                <a:latin typeface="Arial" panose="020B0604020202020204"/>
                <a:cs typeface="Arial" panose="020B0604020202020204"/>
              </a:rPr>
              <a:t>(2) the </a:t>
            </a:r>
            <a:r>
              <a:rPr sz="2000" spc="-15" dirty="0">
                <a:latin typeface="Arial" panose="020B0604020202020204"/>
                <a:cs typeface="Arial" panose="020B0604020202020204"/>
              </a:rPr>
              <a:t>value </a:t>
            </a:r>
            <a:r>
              <a:rPr sz="2000" spc="-10" dirty="0">
                <a:latin typeface="Arial" panose="020B0604020202020204"/>
                <a:cs typeface="Arial" panose="020B0604020202020204"/>
              </a:rPr>
              <a:t>of </a:t>
            </a:r>
            <a:r>
              <a:rPr sz="2000" spc="5" dirty="0">
                <a:latin typeface="Arial" panose="020B0604020202020204"/>
                <a:cs typeface="Arial" panose="020B0604020202020204"/>
              </a:rPr>
              <a:t>the </a:t>
            </a:r>
            <a:r>
              <a:rPr sz="2000" spc="-5" dirty="0">
                <a:latin typeface="Arial" panose="020B0604020202020204"/>
                <a:cs typeface="Arial" panose="020B0604020202020204"/>
              </a:rPr>
              <a:t>mapped </a:t>
            </a:r>
            <a:r>
              <a:rPr sz="2000" spc="-15" dirty="0">
                <a:latin typeface="Arial" panose="020B0604020202020204"/>
                <a:cs typeface="Arial" panose="020B0604020202020204"/>
              </a:rPr>
              <a:t>page</a:t>
            </a:r>
            <a:r>
              <a:rPr sz="2000" spc="15" dirty="0">
                <a:latin typeface="Arial" panose="020B0604020202020204"/>
                <a:cs typeface="Arial" panose="020B0604020202020204"/>
              </a:rPr>
              <a:t> frame</a:t>
            </a:r>
            <a:endParaRPr sz="2000">
              <a:latin typeface="Arial" panose="020B0604020202020204"/>
              <a:cs typeface="Arial" panose="020B0604020202020204"/>
            </a:endParaRPr>
          </a:p>
          <a:p>
            <a:pPr marL="762000" lvl="1" indent="-292100">
              <a:lnSpc>
                <a:spcPct val="100000"/>
              </a:lnSpc>
              <a:spcBef>
                <a:spcPts val="200"/>
              </a:spcBef>
              <a:buChar char="–"/>
              <a:tabLst>
                <a:tab pos="761365" algn="l"/>
                <a:tab pos="762000" algn="l"/>
              </a:tabLst>
            </a:pPr>
            <a:r>
              <a:rPr sz="2000" spc="5" dirty="0">
                <a:latin typeface="Arial" panose="020B0604020202020204"/>
                <a:cs typeface="Arial" panose="020B0604020202020204"/>
              </a:rPr>
              <a:t>(3) </a:t>
            </a:r>
            <a:r>
              <a:rPr sz="2000" dirty="0">
                <a:latin typeface="Arial" panose="020B0604020202020204"/>
                <a:cs typeface="Arial" panose="020B0604020202020204"/>
              </a:rPr>
              <a:t>a </a:t>
            </a:r>
            <a:r>
              <a:rPr sz="2000" spc="-10" dirty="0">
                <a:latin typeface="Arial" panose="020B0604020202020204"/>
                <a:cs typeface="Arial" panose="020B0604020202020204"/>
              </a:rPr>
              <a:t>pointer </a:t>
            </a:r>
            <a:r>
              <a:rPr sz="2000" spc="20" dirty="0">
                <a:latin typeface="Arial" panose="020B0604020202020204"/>
                <a:cs typeface="Arial" panose="020B0604020202020204"/>
              </a:rPr>
              <a:t>to </a:t>
            </a:r>
            <a:r>
              <a:rPr sz="2000" spc="5" dirty="0">
                <a:latin typeface="Arial" panose="020B0604020202020204"/>
                <a:cs typeface="Arial" panose="020B0604020202020204"/>
              </a:rPr>
              <a:t>the </a:t>
            </a:r>
            <a:r>
              <a:rPr sz="2000" spc="-10" dirty="0">
                <a:latin typeface="Arial" panose="020B0604020202020204"/>
                <a:cs typeface="Arial" panose="020B0604020202020204"/>
              </a:rPr>
              <a:t>next</a:t>
            </a:r>
            <a:r>
              <a:rPr sz="2000" spc="-100" dirty="0">
                <a:latin typeface="Arial" panose="020B0604020202020204"/>
                <a:cs typeface="Arial" panose="020B0604020202020204"/>
              </a:rPr>
              <a:t> </a:t>
            </a:r>
            <a:r>
              <a:rPr sz="2000" spc="-15" dirty="0">
                <a:latin typeface="Arial" panose="020B0604020202020204"/>
                <a:cs typeface="Arial" panose="020B0604020202020204"/>
              </a:rPr>
              <a:t>element</a:t>
            </a:r>
            <a:endParaRPr sz="2000">
              <a:latin typeface="Arial" panose="020B0604020202020204"/>
              <a:cs typeface="Arial" panose="020B0604020202020204"/>
            </a:endParaRPr>
          </a:p>
          <a:p>
            <a:pPr marL="355600" marR="5080" indent="-342900">
              <a:lnSpc>
                <a:spcPts val="2600"/>
              </a:lnSpc>
              <a:spcBef>
                <a:spcPts val="620"/>
              </a:spcBef>
              <a:buChar char="•"/>
              <a:tabLst>
                <a:tab pos="354965" algn="l"/>
                <a:tab pos="355600" algn="l"/>
              </a:tabLst>
            </a:pPr>
            <a:r>
              <a:rPr sz="2400" spc="-15" dirty="0">
                <a:latin typeface="Arial" panose="020B0604020202020204"/>
                <a:cs typeface="Arial" panose="020B0604020202020204"/>
              </a:rPr>
              <a:t>Virtual </a:t>
            </a:r>
            <a:r>
              <a:rPr sz="2400" spc="-30" dirty="0">
                <a:latin typeface="Arial" panose="020B0604020202020204"/>
                <a:cs typeface="Arial" panose="020B0604020202020204"/>
              </a:rPr>
              <a:t>page </a:t>
            </a:r>
            <a:r>
              <a:rPr sz="2400" spc="-20" dirty="0">
                <a:latin typeface="Arial" panose="020B0604020202020204"/>
                <a:cs typeface="Arial" panose="020B0604020202020204"/>
              </a:rPr>
              <a:t>numbers </a:t>
            </a:r>
            <a:r>
              <a:rPr sz="2400" spc="-15" dirty="0">
                <a:latin typeface="Arial" panose="020B0604020202020204"/>
                <a:cs typeface="Arial" panose="020B0604020202020204"/>
              </a:rPr>
              <a:t>are </a:t>
            </a:r>
            <a:r>
              <a:rPr sz="2400" spc="-20" dirty="0">
                <a:latin typeface="Arial" panose="020B0604020202020204"/>
                <a:cs typeface="Arial" panose="020B0604020202020204"/>
              </a:rPr>
              <a:t>compared in </a:t>
            </a:r>
            <a:r>
              <a:rPr sz="2400" spc="-10" dirty="0">
                <a:latin typeface="Arial" panose="020B0604020202020204"/>
                <a:cs typeface="Arial" panose="020B0604020202020204"/>
              </a:rPr>
              <a:t>this </a:t>
            </a:r>
            <a:r>
              <a:rPr sz="2400" spc="-25" dirty="0">
                <a:latin typeface="Arial" panose="020B0604020202020204"/>
                <a:cs typeface="Arial" panose="020B0604020202020204"/>
              </a:rPr>
              <a:t>chain </a:t>
            </a:r>
            <a:r>
              <a:rPr sz="2400" spc="-20" dirty="0">
                <a:latin typeface="Arial" panose="020B0604020202020204"/>
                <a:cs typeface="Arial" panose="020B0604020202020204"/>
              </a:rPr>
              <a:t>searching </a:t>
            </a:r>
            <a:r>
              <a:rPr sz="2400" spc="-5" dirty="0">
                <a:latin typeface="Arial" panose="020B0604020202020204"/>
                <a:cs typeface="Arial" panose="020B0604020202020204"/>
              </a:rPr>
              <a:t>for  </a:t>
            </a:r>
            <a:r>
              <a:rPr sz="2400" dirty="0">
                <a:latin typeface="Arial" panose="020B0604020202020204"/>
                <a:cs typeface="Arial" panose="020B0604020202020204"/>
              </a:rPr>
              <a:t>a</a:t>
            </a:r>
            <a:r>
              <a:rPr sz="2400" spc="-10" dirty="0">
                <a:latin typeface="Arial" panose="020B0604020202020204"/>
                <a:cs typeface="Arial" panose="020B0604020202020204"/>
              </a:rPr>
              <a:t> </a:t>
            </a:r>
            <a:r>
              <a:rPr sz="2400" spc="-5" dirty="0">
                <a:latin typeface="Arial" panose="020B0604020202020204"/>
                <a:cs typeface="Arial" panose="020B0604020202020204"/>
              </a:rPr>
              <a:t>match</a:t>
            </a:r>
            <a:endParaRPr sz="2400">
              <a:latin typeface="Arial" panose="020B0604020202020204"/>
              <a:cs typeface="Arial" panose="020B0604020202020204"/>
            </a:endParaRPr>
          </a:p>
          <a:p>
            <a:pPr marL="762000" lvl="1" indent="-292100">
              <a:lnSpc>
                <a:spcPct val="100000"/>
              </a:lnSpc>
              <a:spcBef>
                <a:spcPts val="180"/>
              </a:spcBef>
              <a:buChar char="–"/>
              <a:tabLst>
                <a:tab pos="761365" algn="l"/>
                <a:tab pos="762000" algn="l"/>
              </a:tabLst>
            </a:pPr>
            <a:r>
              <a:rPr sz="2000" spc="20" dirty="0">
                <a:latin typeface="Arial" panose="020B0604020202020204"/>
                <a:cs typeface="Arial" panose="020B0604020202020204"/>
              </a:rPr>
              <a:t>If </a:t>
            </a:r>
            <a:r>
              <a:rPr sz="2000" dirty="0">
                <a:latin typeface="Arial" panose="020B0604020202020204"/>
                <a:cs typeface="Arial" panose="020B0604020202020204"/>
              </a:rPr>
              <a:t>a </a:t>
            </a:r>
            <a:r>
              <a:rPr sz="2000" spc="10" dirty="0">
                <a:latin typeface="Arial" panose="020B0604020202020204"/>
                <a:cs typeface="Arial" panose="020B0604020202020204"/>
              </a:rPr>
              <a:t>match </a:t>
            </a:r>
            <a:r>
              <a:rPr sz="2000" spc="-25" dirty="0">
                <a:latin typeface="Arial" panose="020B0604020202020204"/>
                <a:cs typeface="Arial" panose="020B0604020202020204"/>
              </a:rPr>
              <a:t>is </a:t>
            </a:r>
            <a:r>
              <a:rPr sz="2000" spc="-5" dirty="0">
                <a:latin typeface="Arial" panose="020B0604020202020204"/>
                <a:cs typeface="Arial" panose="020B0604020202020204"/>
              </a:rPr>
              <a:t>found, </a:t>
            </a:r>
            <a:r>
              <a:rPr sz="2000" spc="5" dirty="0">
                <a:latin typeface="Arial" panose="020B0604020202020204"/>
                <a:cs typeface="Arial" panose="020B0604020202020204"/>
              </a:rPr>
              <a:t>the </a:t>
            </a:r>
            <a:r>
              <a:rPr sz="2000" spc="-10" dirty="0">
                <a:latin typeface="Arial" panose="020B0604020202020204"/>
                <a:cs typeface="Arial" panose="020B0604020202020204"/>
              </a:rPr>
              <a:t>corresponding </a:t>
            </a:r>
            <a:r>
              <a:rPr sz="2000" spc="-15" dirty="0">
                <a:latin typeface="Arial" panose="020B0604020202020204"/>
                <a:cs typeface="Arial" panose="020B0604020202020204"/>
              </a:rPr>
              <a:t>physical </a:t>
            </a:r>
            <a:r>
              <a:rPr sz="2000" spc="15" dirty="0">
                <a:latin typeface="Arial" panose="020B0604020202020204"/>
                <a:cs typeface="Arial" panose="020B0604020202020204"/>
              </a:rPr>
              <a:t>frame </a:t>
            </a:r>
            <a:r>
              <a:rPr sz="2000" spc="-25" dirty="0">
                <a:latin typeface="Arial" panose="020B0604020202020204"/>
                <a:cs typeface="Arial" panose="020B0604020202020204"/>
              </a:rPr>
              <a:t>is</a:t>
            </a:r>
            <a:r>
              <a:rPr sz="2000" spc="-80" dirty="0">
                <a:latin typeface="Arial" panose="020B0604020202020204"/>
                <a:cs typeface="Arial" panose="020B0604020202020204"/>
              </a:rPr>
              <a:t> </a:t>
            </a:r>
            <a:r>
              <a:rPr sz="2000" spc="5" dirty="0">
                <a:latin typeface="Arial" panose="020B0604020202020204"/>
                <a:cs typeface="Arial" panose="020B0604020202020204"/>
              </a:rPr>
              <a:t>extracted</a:t>
            </a:r>
            <a:endParaRPr sz="2000">
              <a:latin typeface="Arial" panose="020B0604020202020204"/>
              <a:cs typeface="Arial" panose="020B0604020202020204"/>
            </a:endParaRPr>
          </a:p>
          <a:p>
            <a:pPr marL="355600" indent="-342900">
              <a:lnSpc>
                <a:spcPct val="100000"/>
              </a:lnSpc>
              <a:spcBef>
                <a:spcPts val="300"/>
              </a:spcBef>
              <a:buChar char="•"/>
              <a:tabLst>
                <a:tab pos="354965" algn="l"/>
                <a:tab pos="355600" algn="l"/>
              </a:tabLst>
            </a:pPr>
            <a:r>
              <a:rPr sz="2400" spc="-45" dirty="0">
                <a:latin typeface="Arial" panose="020B0604020202020204"/>
                <a:cs typeface="Arial" panose="020B0604020202020204"/>
              </a:rPr>
              <a:t>Variation </a:t>
            </a:r>
            <a:r>
              <a:rPr sz="2400" spc="-5" dirty="0">
                <a:latin typeface="Arial" panose="020B0604020202020204"/>
                <a:cs typeface="Arial" panose="020B0604020202020204"/>
              </a:rPr>
              <a:t>for </a:t>
            </a:r>
            <a:r>
              <a:rPr sz="2400" spc="-25" dirty="0">
                <a:latin typeface="Arial" panose="020B0604020202020204"/>
                <a:cs typeface="Arial" panose="020B0604020202020204"/>
              </a:rPr>
              <a:t>64-bit </a:t>
            </a:r>
            <a:r>
              <a:rPr sz="2400" spc="-20" dirty="0">
                <a:latin typeface="Arial" panose="020B0604020202020204"/>
                <a:cs typeface="Arial" panose="020B0604020202020204"/>
              </a:rPr>
              <a:t>addresses is </a:t>
            </a:r>
            <a:r>
              <a:rPr sz="2400" b="1" spc="-15" dirty="0">
                <a:solidFill>
                  <a:srgbClr val="3366FF"/>
                </a:solidFill>
                <a:latin typeface="Arial" panose="020B0604020202020204"/>
                <a:cs typeface="Arial" panose="020B0604020202020204"/>
              </a:rPr>
              <a:t>clustered </a:t>
            </a:r>
            <a:r>
              <a:rPr sz="2400" b="1" spc="5" dirty="0">
                <a:solidFill>
                  <a:srgbClr val="3366FF"/>
                </a:solidFill>
                <a:latin typeface="Arial" panose="020B0604020202020204"/>
                <a:cs typeface="Arial" panose="020B0604020202020204"/>
              </a:rPr>
              <a:t>page</a:t>
            </a:r>
            <a:r>
              <a:rPr sz="2400" b="1" spc="70" dirty="0">
                <a:solidFill>
                  <a:srgbClr val="3366FF"/>
                </a:solidFill>
                <a:latin typeface="Arial" panose="020B0604020202020204"/>
                <a:cs typeface="Arial" panose="020B0604020202020204"/>
              </a:rPr>
              <a:t> </a:t>
            </a:r>
            <a:r>
              <a:rPr sz="2400" b="1" spc="-10" dirty="0">
                <a:solidFill>
                  <a:srgbClr val="3366FF"/>
                </a:solidFill>
                <a:latin typeface="Arial" panose="020B0604020202020204"/>
                <a:cs typeface="Arial" panose="020B0604020202020204"/>
              </a:rPr>
              <a:t>tables</a:t>
            </a:r>
            <a:endParaRPr sz="2400">
              <a:latin typeface="Arial" panose="020B0604020202020204"/>
              <a:cs typeface="Arial" panose="020B0604020202020204"/>
            </a:endParaRPr>
          </a:p>
          <a:p>
            <a:pPr marL="762000" marR="250190" lvl="1" indent="-292100">
              <a:lnSpc>
                <a:spcPts val="2200"/>
              </a:lnSpc>
              <a:spcBef>
                <a:spcPts val="460"/>
              </a:spcBef>
              <a:buChar char="–"/>
              <a:tabLst>
                <a:tab pos="761365" algn="l"/>
                <a:tab pos="762000" algn="l"/>
              </a:tabLst>
            </a:pPr>
            <a:r>
              <a:rPr sz="2000" spc="-25" dirty="0">
                <a:latin typeface="Arial" panose="020B0604020202020204"/>
                <a:cs typeface="Arial" panose="020B0604020202020204"/>
              </a:rPr>
              <a:t>Similar </a:t>
            </a:r>
            <a:r>
              <a:rPr sz="2000" spc="20" dirty="0">
                <a:latin typeface="Arial" panose="020B0604020202020204"/>
                <a:cs typeface="Arial" panose="020B0604020202020204"/>
              </a:rPr>
              <a:t>to </a:t>
            </a:r>
            <a:r>
              <a:rPr sz="2000" spc="-10" dirty="0">
                <a:latin typeface="Arial" panose="020B0604020202020204"/>
                <a:cs typeface="Arial" panose="020B0604020202020204"/>
              </a:rPr>
              <a:t>hashed but each </a:t>
            </a:r>
            <a:r>
              <a:rPr sz="2000" spc="5" dirty="0">
                <a:latin typeface="Arial" panose="020B0604020202020204"/>
                <a:cs typeface="Arial" panose="020B0604020202020204"/>
              </a:rPr>
              <a:t>entry </a:t>
            </a:r>
            <a:r>
              <a:rPr sz="2000" spc="10" dirty="0">
                <a:latin typeface="Arial" panose="020B0604020202020204"/>
                <a:cs typeface="Arial" panose="020B0604020202020204"/>
              </a:rPr>
              <a:t>refers </a:t>
            </a:r>
            <a:r>
              <a:rPr sz="2000" spc="20" dirty="0">
                <a:latin typeface="Arial" panose="020B0604020202020204"/>
                <a:cs typeface="Arial" panose="020B0604020202020204"/>
              </a:rPr>
              <a:t>to </a:t>
            </a:r>
            <a:r>
              <a:rPr sz="2000" spc="-5" dirty="0">
                <a:latin typeface="Arial" panose="020B0604020202020204"/>
                <a:cs typeface="Arial" panose="020B0604020202020204"/>
              </a:rPr>
              <a:t>several </a:t>
            </a:r>
            <a:r>
              <a:rPr sz="2000" spc="-15" dirty="0">
                <a:latin typeface="Arial" panose="020B0604020202020204"/>
                <a:cs typeface="Arial" panose="020B0604020202020204"/>
              </a:rPr>
              <a:t>pages </a:t>
            </a:r>
            <a:r>
              <a:rPr sz="2000" dirty="0">
                <a:latin typeface="Arial" panose="020B0604020202020204"/>
                <a:cs typeface="Arial" panose="020B0604020202020204"/>
              </a:rPr>
              <a:t>(such </a:t>
            </a:r>
            <a:r>
              <a:rPr sz="2000" spc="-10" dirty="0">
                <a:latin typeface="Arial" panose="020B0604020202020204"/>
                <a:cs typeface="Arial" panose="020B0604020202020204"/>
              </a:rPr>
              <a:t>as 16)  </a:t>
            </a:r>
            <a:r>
              <a:rPr sz="2000" dirty="0">
                <a:latin typeface="Arial" panose="020B0604020202020204"/>
                <a:cs typeface="Arial" panose="020B0604020202020204"/>
              </a:rPr>
              <a:t>rather than</a:t>
            </a:r>
            <a:r>
              <a:rPr sz="2000" spc="-100" dirty="0">
                <a:latin typeface="Arial" panose="020B0604020202020204"/>
                <a:cs typeface="Arial" panose="020B0604020202020204"/>
              </a:rPr>
              <a:t> </a:t>
            </a:r>
            <a:r>
              <a:rPr sz="2000" dirty="0">
                <a:latin typeface="Arial" panose="020B0604020202020204"/>
                <a:cs typeface="Arial" panose="020B0604020202020204"/>
              </a:rPr>
              <a:t>1</a:t>
            </a:r>
            <a:endParaRPr sz="2000">
              <a:latin typeface="Arial" panose="020B0604020202020204"/>
              <a:cs typeface="Arial" panose="020B0604020202020204"/>
            </a:endParaRPr>
          </a:p>
          <a:p>
            <a:pPr marL="762000" marR="1160780" lvl="1" indent="-292100">
              <a:lnSpc>
                <a:spcPts val="2200"/>
              </a:lnSpc>
              <a:spcBef>
                <a:spcPts val="400"/>
              </a:spcBef>
              <a:buChar char="–"/>
              <a:tabLst>
                <a:tab pos="761365" algn="l"/>
                <a:tab pos="762000" algn="l"/>
              </a:tabLst>
            </a:pPr>
            <a:r>
              <a:rPr sz="2000" spc="-25" dirty="0">
                <a:latin typeface="Arial" panose="020B0604020202020204"/>
                <a:cs typeface="Arial" panose="020B0604020202020204"/>
              </a:rPr>
              <a:t>Especially </a:t>
            </a:r>
            <a:r>
              <a:rPr sz="2000" spc="-5" dirty="0">
                <a:latin typeface="Arial" panose="020B0604020202020204"/>
                <a:cs typeface="Arial" panose="020B0604020202020204"/>
              </a:rPr>
              <a:t>useful </a:t>
            </a:r>
            <a:r>
              <a:rPr sz="2000" spc="5" dirty="0">
                <a:latin typeface="Arial" panose="020B0604020202020204"/>
                <a:cs typeface="Arial" panose="020B0604020202020204"/>
              </a:rPr>
              <a:t>for </a:t>
            </a:r>
            <a:r>
              <a:rPr sz="2000" b="1" spc="-10" dirty="0">
                <a:solidFill>
                  <a:srgbClr val="3366FF"/>
                </a:solidFill>
                <a:latin typeface="Arial" panose="020B0604020202020204"/>
                <a:cs typeface="Arial" panose="020B0604020202020204"/>
              </a:rPr>
              <a:t>sparse </a:t>
            </a:r>
            <a:r>
              <a:rPr sz="2000" spc="-5" dirty="0">
                <a:latin typeface="Arial" panose="020B0604020202020204"/>
                <a:cs typeface="Arial" panose="020B0604020202020204"/>
              </a:rPr>
              <a:t>address </a:t>
            </a:r>
            <a:r>
              <a:rPr sz="2000" spc="-10" dirty="0">
                <a:latin typeface="Arial" panose="020B0604020202020204"/>
                <a:cs typeface="Arial" panose="020B0604020202020204"/>
              </a:rPr>
              <a:t>spaces </a:t>
            </a:r>
            <a:r>
              <a:rPr sz="2000" spc="-5" dirty="0">
                <a:latin typeface="Arial" panose="020B0604020202020204"/>
                <a:cs typeface="Arial" panose="020B0604020202020204"/>
              </a:rPr>
              <a:t>(where </a:t>
            </a:r>
            <a:r>
              <a:rPr sz="2000" spc="10" dirty="0">
                <a:latin typeface="Arial" panose="020B0604020202020204"/>
                <a:cs typeface="Arial" panose="020B0604020202020204"/>
              </a:rPr>
              <a:t>memory  </a:t>
            </a:r>
            <a:r>
              <a:rPr sz="2000" dirty="0">
                <a:latin typeface="Arial" panose="020B0604020202020204"/>
                <a:cs typeface="Arial" panose="020B0604020202020204"/>
              </a:rPr>
              <a:t>references </a:t>
            </a:r>
            <a:r>
              <a:rPr sz="2000" spc="5" dirty="0">
                <a:latin typeface="Arial" panose="020B0604020202020204"/>
                <a:cs typeface="Arial" panose="020B0604020202020204"/>
              </a:rPr>
              <a:t>are </a:t>
            </a:r>
            <a:r>
              <a:rPr sz="2000" spc="-10" dirty="0">
                <a:latin typeface="Arial" panose="020B0604020202020204"/>
                <a:cs typeface="Arial" panose="020B0604020202020204"/>
              </a:rPr>
              <a:t>non-contiguous and</a:t>
            </a:r>
            <a:r>
              <a:rPr sz="2000" spc="-65" dirty="0">
                <a:latin typeface="Arial" panose="020B0604020202020204"/>
                <a:cs typeface="Arial" panose="020B0604020202020204"/>
              </a:rPr>
              <a:t> </a:t>
            </a:r>
            <a:r>
              <a:rPr sz="2000" spc="5" dirty="0">
                <a:latin typeface="Arial" panose="020B0604020202020204"/>
                <a:cs typeface="Arial" panose="020B0604020202020204"/>
              </a:rPr>
              <a:t>scattered)</a:t>
            </a:r>
            <a:endParaRPr sz="2000">
              <a:latin typeface="Arial" panose="020B0604020202020204"/>
              <a:cs typeface="Arial" panose="020B06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2225">
              <a:lnSpc>
                <a:spcPct val="100000"/>
              </a:lnSpc>
              <a:spcBef>
                <a:spcPts val="100"/>
              </a:spcBef>
            </a:pPr>
            <a:r>
              <a:rPr dirty="0"/>
              <a:t>Hashed </a:t>
            </a:r>
            <a:r>
              <a:rPr spc="-20" dirty="0"/>
              <a:t>Page</a:t>
            </a:r>
            <a:r>
              <a:rPr spc="-114" dirty="0"/>
              <a:t> </a:t>
            </a:r>
            <a:r>
              <a:rPr spc="-70" dirty="0"/>
              <a:t>Table</a:t>
            </a:r>
            <a:endParaRPr spc="-70" dirty="0"/>
          </a:p>
        </p:txBody>
      </p:sp>
      <p:sp>
        <p:nvSpPr>
          <p:cNvPr id="3" name="object 3"/>
          <p:cNvSpPr/>
          <p:nvPr/>
        </p:nvSpPr>
        <p:spPr>
          <a:xfrm>
            <a:off x="232891" y="1270000"/>
            <a:ext cx="8682508" cy="4986651"/>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7524" y="194157"/>
            <a:ext cx="4333875" cy="459100"/>
          </a:xfrm>
          <a:prstGeom prst="rect">
            <a:avLst/>
          </a:prstGeom>
        </p:spPr>
        <p:txBody>
          <a:bodyPr vert="horz" wrap="square" lIns="0" tIns="12700" rIns="0" bIns="0" rtlCol="0">
            <a:spAutoFit/>
          </a:bodyPr>
          <a:lstStyle/>
          <a:p>
            <a:pPr marL="12700">
              <a:lnSpc>
                <a:spcPct val="100000"/>
              </a:lnSpc>
              <a:spcBef>
                <a:spcPts val="100"/>
              </a:spcBef>
            </a:pPr>
            <a:r>
              <a:rPr lang="en-US" dirty="0" smtClean="0"/>
              <a:t>3- </a:t>
            </a:r>
            <a:r>
              <a:rPr dirty="0" smtClean="0"/>
              <a:t>Inverted </a:t>
            </a:r>
            <a:r>
              <a:rPr spc="-20" dirty="0"/>
              <a:t>Page</a:t>
            </a:r>
            <a:r>
              <a:rPr spc="-114" dirty="0"/>
              <a:t> </a:t>
            </a:r>
            <a:r>
              <a:rPr spc="-70" dirty="0"/>
              <a:t>Table</a:t>
            </a:r>
            <a:endParaRPr spc="-70" dirty="0"/>
          </a:p>
        </p:txBody>
      </p:sp>
      <p:sp>
        <p:nvSpPr>
          <p:cNvPr id="3" name="object 3"/>
          <p:cNvSpPr txBox="1"/>
          <p:nvPr/>
        </p:nvSpPr>
        <p:spPr>
          <a:xfrm>
            <a:off x="78739" y="1088250"/>
            <a:ext cx="8873490" cy="5029200"/>
          </a:xfrm>
          <a:prstGeom prst="rect">
            <a:avLst/>
          </a:prstGeom>
        </p:spPr>
        <p:txBody>
          <a:bodyPr vert="horz" wrap="square" lIns="0" tIns="53340" rIns="0" bIns="0" rtlCol="0">
            <a:spAutoFit/>
          </a:bodyPr>
          <a:lstStyle/>
          <a:p>
            <a:pPr marL="355600" marR="541655" indent="-342900">
              <a:lnSpc>
                <a:spcPts val="2600"/>
              </a:lnSpc>
              <a:spcBef>
                <a:spcPts val="420"/>
              </a:spcBef>
              <a:buChar char="•"/>
              <a:tabLst>
                <a:tab pos="354965" algn="l"/>
                <a:tab pos="355600" algn="l"/>
              </a:tabLst>
            </a:pPr>
            <a:r>
              <a:rPr sz="2400" spc="-20" dirty="0">
                <a:latin typeface="Arial" panose="020B0604020202020204"/>
                <a:cs typeface="Arial" panose="020B0604020202020204"/>
              </a:rPr>
              <a:t>Rather </a:t>
            </a:r>
            <a:r>
              <a:rPr sz="2400" spc="-10" dirty="0">
                <a:latin typeface="Arial" panose="020B0604020202020204"/>
                <a:cs typeface="Arial" panose="020B0604020202020204"/>
              </a:rPr>
              <a:t>than </a:t>
            </a:r>
            <a:r>
              <a:rPr sz="2400" spc="-20" dirty="0">
                <a:latin typeface="Arial" panose="020B0604020202020204"/>
                <a:cs typeface="Arial" panose="020B0604020202020204"/>
              </a:rPr>
              <a:t>each </a:t>
            </a:r>
            <a:r>
              <a:rPr sz="2400" spc="-15" dirty="0">
                <a:latin typeface="Arial" panose="020B0604020202020204"/>
                <a:cs typeface="Arial" panose="020B0604020202020204"/>
              </a:rPr>
              <a:t>process </a:t>
            </a:r>
            <a:r>
              <a:rPr sz="2400" spc="-25" dirty="0">
                <a:latin typeface="Arial" panose="020B0604020202020204"/>
                <a:cs typeface="Arial" panose="020B0604020202020204"/>
              </a:rPr>
              <a:t>having </a:t>
            </a:r>
            <a:r>
              <a:rPr sz="2400" dirty="0">
                <a:latin typeface="Arial" panose="020B0604020202020204"/>
                <a:cs typeface="Arial" panose="020B0604020202020204"/>
              </a:rPr>
              <a:t>a </a:t>
            </a:r>
            <a:r>
              <a:rPr sz="2400" spc="-30" dirty="0">
                <a:latin typeface="Arial" panose="020B0604020202020204"/>
                <a:cs typeface="Arial" panose="020B0604020202020204"/>
              </a:rPr>
              <a:t>page </a:t>
            </a:r>
            <a:r>
              <a:rPr sz="2400" spc="-15" dirty="0">
                <a:latin typeface="Arial" panose="020B0604020202020204"/>
                <a:cs typeface="Arial" panose="020B0604020202020204"/>
              </a:rPr>
              <a:t>table </a:t>
            </a:r>
            <a:r>
              <a:rPr sz="2400" spc="-25" dirty="0">
                <a:latin typeface="Arial" panose="020B0604020202020204"/>
                <a:cs typeface="Arial" panose="020B0604020202020204"/>
              </a:rPr>
              <a:t>and keeping  </a:t>
            </a:r>
            <a:r>
              <a:rPr sz="2400" spc="-5" dirty="0">
                <a:latin typeface="Arial" panose="020B0604020202020204"/>
                <a:cs typeface="Arial" panose="020B0604020202020204"/>
              </a:rPr>
              <a:t>track </a:t>
            </a:r>
            <a:r>
              <a:rPr sz="2400" spc="-20" dirty="0">
                <a:latin typeface="Arial" panose="020B0604020202020204"/>
                <a:cs typeface="Arial" panose="020B0604020202020204"/>
              </a:rPr>
              <a:t>of </a:t>
            </a:r>
            <a:r>
              <a:rPr sz="2400" spc="-25" dirty="0">
                <a:latin typeface="Arial" panose="020B0604020202020204"/>
                <a:cs typeface="Arial" panose="020B0604020202020204"/>
              </a:rPr>
              <a:t>all possible logical</a:t>
            </a:r>
            <a:r>
              <a:rPr sz="2400" spc="550" dirty="0">
                <a:latin typeface="Arial" panose="020B0604020202020204"/>
                <a:cs typeface="Arial" panose="020B0604020202020204"/>
              </a:rPr>
              <a:t> </a:t>
            </a:r>
            <a:r>
              <a:rPr sz="2400" spc="-25" dirty="0">
                <a:latin typeface="Arial" panose="020B0604020202020204"/>
                <a:cs typeface="Arial" panose="020B0604020202020204"/>
              </a:rPr>
              <a:t>pages,</a:t>
            </a:r>
            <a:endParaRPr sz="2400">
              <a:latin typeface="Arial" panose="020B0604020202020204"/>
              <a:cs typeface="Arial" panose="020B0604020202020204"/>
            </a:endParaRPr>
          </a:p>
          <a:p>
            <a:pPr marL="838200" lvl="1" indent="-368300">
              <a:lnSpc>
                <a:spcPct val="100000"/>
              </a:lnSpc>
              <a:spcBef>
                <a:spcPts val="280"/>
              </a:spcBef>
              <a:buChar char="–"/>
              <a:tabLst>
                <a:tab pos="837565" algn="l"/>
                <a:tab pos="838200" algn="l"/>
              </a:tabLst>
            </a:pPr>
            <a:r>
              <a:rPr sz="2000" spc="10" dirty="0">
                <a:latin typeface="Arial" panose="020B0604020202020204"/>
                <a:cs typeface="Arial" panose="020B0604020202020204"/>
              </a:rPr>
              <a:t>track </a:t>
            </a:r>
            <a:r>
              <a:rPr sz="2000" spc="-20" dirty="0">
                <a:latin typeface="Arial" panose="020B0604020202020204"/>
                <a:cs typeface="Arial" panose="020B0604020202020204"/>
              </a:rPr>
              <a:t>all </a:t>
            </a:r>
            <a:r>
              <a:rPr sz="2000" spc="-15" dirty="0">
                <a:latin typeface="Arial" panose="020B0604020202020204"/>
                <a:cs typeface="Arial" panose="020B0604020202020204"/>
              </a:rPr>
              <a:t>physical</a:t>
            </a:r>
            <a:r>
              <a:rPr sz="2000" spc="45" dirty="0">
                <a:latin typeface="Arial" panose="020B0604020202020204"/>
                <a:cs typeface="Arial" panose="020B0604020202020204"/>
              </a:rPr>
              <a:t> </a:t>
            </a:r>
            <a:r>
              <a:rPr sz="2000" spc="-15" dirty="0">
                <a:latin typeface="Arial" panose="020B0604020202020204"/>
                <a:cs typeface="Arial" panose="020B0604020202020204"/>
              </a:rPr>
              <a:t>pages</a:t>
            </a:r>
            <a:endParaRPr sz="2000">
              <a:latin typeface="Arial" panose="020B0604020202020204"/>
              <a:cs typeface="Arial" panose="020B0604020202020204"/>
            </a:endParaRPr>
          </a:p>
          <a:p>
            <a:pPr marL="355600" indent="-342900">
              <a:lnSpc>
                <a:spcPct val="100000"/>
              </a:lnSpc>
              <a:spcBef>
                <a:spcPts val="200"/>
              </a:spcBef>
              <a:buChar char="•"/>
              <a:tabLst>
                <a:tab pos="354965" algn="l"/>
                <a:tab pos="355600" algn="l"/>
              </a:tabLst>
            </a:pPr>
            <a:r>
              <a:rPr sz="2400" spc="-5" dirty="0">
                <a:latin typeface="Arial" panose="020B0604020202020204"/>
                <a:cs typeface="Arial" panose="020B0604020202020204"/>
              </a:rPr>
              <a:t>One </a:t>
            </a:r>
            <a:r>
              <a:rPr sz="2400" spc="-10" dirty="0">
                <a:latin typeface="Arial" panose="020B0604020202020204"/>
                <a:cs typeface="Arial" panose="020B0604020202020204"/>
              </a:rPr>
              <a:t>entry </a:t>
            </a:r>
            <a:r>
              <a:rPr sz="2400" spc="-5" dirty="0">
                <a:latin typeface="Arial" panose="020B0604020202020204"/>
                <a:cs typeface="Arial" panose="020B0604020202020204"/>
              </a:rPr>
              <a:t>for </a:t>
            </a:r>
            <a:r>
              <a:rPr sz="2400" spc="-20" dirty="0">
                <a:latin typeface="Arial" panose="020B0604020202020204"/>
                <a:cs typeface="Arial" panose="020B0604020202020204"/>
              </a:rPr>
              <a:t>each real </a:t>
            </a:r>
            <a:r>
              <a:rPr sz="2400" spc="-30" dirty="0">
                <a:latin typeface="Arial" panose="020B0604020202020204"/>
                <a:cs typeface="Arial" panose="020B0604020202020204"/>
              </a:rPr>
              <a:t>page </a:t>
            </a:r>
            <a:r>
              <a:rPr sz="2400" spc="-20" dirty="0">
                <a:latin typeface="Arial" panose="020B0604020202020204"/>
                <a:cs typeface="Arial" panose="020B0604020202020204"/>
              </a:rPr>
              <a:t>of</a:t>
            </a:r>
            <a:r>
              <a:rPr sz="2400" spc="390" dirty="0">
                <a:latin typeface="Arial" panose="020B0604020202020204"/>
                <a:cs typeface="Arial" panose="020B0604020202020204"/>
              </a:rPr>
              <a:t> </a:t>
            </a:r>
            <a:r>
              <a:rPr sz="2400" spc="-15" dirty="0">
                <a:latin typeface="Arial" panose="020B0604020202020204"/>
                <a:cs typeface="Arial" panose="020B0604020202020204"/>
              </a:rPr>
              <a:t>memory</a:t>
            </a:r>
            <a:endParaRPr sz="2400">
              <a:latin typeface="Arial" panose="020B0604020202020204"/>
              <a:cs typeface="Arial" panose="020B0604020202020204"/>
            </a:endParaRPr>
          </a:p>
          <a:p>
            <a:pPr marL="355600" indent="-342900">
              <a:lnSpc>
                <a:spcPct val="100000"/>
              </a:lnSpc>
              <a:spcBef>
                <a:spcPts val="320"/>
              </a:spcBef>
              <a:buChar char="•"/>
              <a:tabLst>
                <a:tab pos="354965" algn="l"/>
                <a:tab pos="355600" algn="l"/>
              </a:tabLst>
            </a:pPr>
            <a:r>
              <a:rPr sz="2400" spc="-5" dirty="0">
                <a:latin typeface="Arial" panose="020B0604020202020204"/>
                <a:cs typeface="Arial" panose="020B0604020202020204"/>
              </a:rPr>
              <a:t>Entry </a:t>
            </a:r>
            <a:r>
              <a:rPr sz="2400" spc="-10" dirty="0">
                <a:latin typeface="Arial" panose="020B0604020202020204"/>
                <a:cs typeface="Arial" panose="020B0604020202020204"/>
              </a:rPr>
              <a:t>consists</a:t>
            </a:r>
            <a:r>
              <a:rPr sz="2400" spc="60" dirty="0">
                <a:latin typeface="Arial" panose="020B0604020202020204"/>
                <a:cs typeface="Arial" panose="020B0604020202020204"/>
              </a:rPr>
              <a:t> </a:t>
            </a:r>
            <a:r>
              <a:rPr sz="2400" spc="-20" dirty="0">
                <a:latin typeface="Arial" panose="020B0604020202020204"/>
                <a:cs typeface="Arial" panose="020B0604020202020204"/>
              </a:rPr>
              <a:t>of</a:t>
            </a:r>
            <a:endParaRPr sz="2400">
              <a:latin typeface="Arial" panose="020B0604020202020204"/>
              <a:cs typeface="Arial" panose="020B0604020202020204"/>
            </a:endParaRPr>
          </a:p>
          <a:p>
            <a:pPr marL="762000" lvl="1" indent="-292100">
              <a:lnSpc>
                <a:spcPct val="100000"/>
              </a:lnSpc>
              <a:spcBef>
                <a:spcPts val="220"/>
              </a:spcBef>
              <a:buChar char="–"/>
              <a:tabLst>
                <a:tab pos="761365" algn="l"/>
                <a:tab pos="762000" algn="l"/>
              </a:tabLst>
            </a:pPr>
            <a:r>
              <a:rPr sz="2000" spc="5" dirty="0">
                <a:latin typeface="Arial" panose="020B0604020202020204"/>
                <a:cs typeface="Arial" panose="020B0604020202020204"/>
              </a:rPr>
              <a:t>the </a:t>
            </a:r>
            <a:r>
              <a:rPr sz="2000" spc="-5" dirty="0">
                <a:latin typeface="Arial" panose="020B0604020202020204"/>
                <a:cs typeface="Arial" panose="020B0604020202020204"/>
              </a:rPr>
              <a:t>virtual address </a:t>
            </a:r>
            <a:r>
              <a:rPr sz="2000" spc="-10" dirty="0">
                <a:latin typeface="Arial" panose="020B0604020202020204"/>
                <a:cs typeface="Arial" panose="020B0604020202020204"/>
              </a:rPr>
              <a:t>of </a:t>
            </a:r>
            <a:r>
              <a:rPr sz="2000" spc="5" dirty="0">
                <a:latin typeface="Arial" panose="020B0604020202020204"/>
                <a:cs typeface="Arial" panose="020B0604020202020204"/>
              </a:rPr>
              <a:t>the </a:t>
            </a:r>
            <a:r>
              <a:rPr sz="2000" spc="-15" dirty="0">
                <a:latin typeface="Arial" panose="020B0604020202020204"/>
                <a:cs typeface="Arial" panose="020B0604020202020204"/>
              </a:rPr>
              <a:t>page </a:t>
            </a:r>
            <a:r>
              <a:rPr sz="2000" spc="5" dirty="0">
                <a:latin typeface="Arial" panose="020B0604020202020204"/>
                <a:cs typeface="Arial" panose="020B0604020202020204"/>
              </a:rPr>
              <a:t>stored </a:t>
            </a:r>
            <a:r>
              <a:rPr sz="2000" spc="-25" dirty="0">
                <a:latin typeface="Arial" panose="020B0604020202020204"/>
                <a:cs typeface="Arial" panose="020B0604020202020204"/>
              </a:rPr>
              <a:t>in </a:t>
            </a:r>
            <a:r>
              <a:rPr sz="2000" dirty="0">
                <a:latin typeface="Arial" panose="020B0604020202020204"/>
                <a:cs typeface="Arial" panose="020B0604020202020204"/>
              </a:rPr>
              <a:t>that real </a:t>
            </a:r>
            <a:r>
              <a:rPr sz="2000" spc="10" dirty="0">
                <a:latin typeface="Arial" panose="020B0604020202020204"/>
                <a:cs typeface="Arial" panose="020B0604020202020204"/>
              </a:rPr>
              <a:t>memory</a:t>
            </a:r>
            <a:r>
              <a:rPr sz="2000" spc="-145" dirty="0">
                <a:latin typeface="Arial" panose="020B0604020202020204"/>
                <a:cs typeface="Arial" panose="020B0604020202020204"/>
              </a:rPr>
              <a:t> </a:t>
            </a:r>
            <a:r>
              <a:rPr sz="2000" spc="-15" dirty="0">
                <a:latin typeface="Arial" panose="020B0604020202020204"/>
                <a:cs typeface="Arial" panose="020B0604020202020204"/>
              </a:rPr>
              <a:t>location,</a:t>
            </a:r>
            <a:endParaRPr sz="2000">
              <a:latin typeface="Arial" panose="020B0604020202020204"/>
              <a:cs typeface="Arial" panose="020B0604020202020204"/>
            </a:endParaRPr>
          </a:p>
          <a:p>
            <a:pPr marL="762000" lvl="1" indent="-292100">
              <a:lnSpc>
                <a:spcPct val="100000"/>
              </a:lnSpc>
              <a:spcBef>
                <a:spcPts val="300"/>
              </a:spcBef>
              <a:buChar char="–"/>
              <a:tabLst>
                <a:tab pos="761365" algn="l"/>
                <a:tab pos="762000" algn="l"/>
              </a:tabLst>
            </a:pPr>
            <a:r>
              <a:rPr sz="2000" spc="-5" dirty="0">
                <a:latin typeface="Arial" panose="020B0604020202020204"/>
                <a:cs typeface="Arial" panose="020B0604020202020204"/>
              </a:rPr>
              <a:t>information </a:t>
            </a:r>
            <a:r>
              <a:rPr sz="2000" spc="-15" dirty="0">
                <a:latin typeface="Arial" panose="020B0604020202020204"/>
                <a:cs typeface="Arial" panose="020B0604020202020204"/>
              </a:rPr>
              <a:t>about </a:t>
            </a:r>
            <a:r>
              <a:rPr sz="2000" spc="5" dirty="0">
                <a:latin typeface="Arial" panose="020B0604020202020204"/>
                <a:cs typeface="Arial" panose="020B0604020202020204"/>
              </a:rPr>
              <a:t>the </a:t>
            </a:r>
            <a:r>
              <a:rPr sz="2000" spc="-5" dirty="0">
                <a:latin typeface="Arial" panose="020B0604020202020204"/>
                <a:cs typeface="Arial" panose="020B0604020202020204"/>
              </a:rPr>
              <a:t>process </a:t>
            </a:r>
            <a:r>
              <a:rPr sz="2000" dirty="0">
                <a:latin typeface="Arial" panose="020B0604020202020204"/>
                <a:cs typeface="Arial" panose="020B0604020202020204"/>
              </a:rPr>
              <a:t>that </a:t>
            </a:r>
            <a:r>
              <a:rPr sz="2000" spc="-20" dirty="0">
                <a:latin typeface="Arial" panose="020B0604020202020204"/>
                <a:cs typeface="Arial" panose="020B0604020202020204"/>
              </a:rPr>
              <a:t>owns </a:t>
            </a:r>
            <a:r>
              <a:rPr sz="2000" dirty="0">
                <a:latin typeface="Arial" panose="020B0604020202020204"/>
                <a:cs typeface="Arial" panose="020B0604020202020204"/>
              </a:rPr>
              <a:t>that</a:t>
            </a:r>
            <a:r>
              <a:rPr sz="2000" spc="-65" dirty="0">
                <a:latin typeface="Arial" panose="020B0604020202020204"/>
                <a:cs typeface="Arial" panose="020B0604020202020204"/>
              </a:rPr>
              <a:t> </a:t>
            </a:r>
            <a:r>
              <a:rPr sz="2000" spc="-15" dirty="0">
                <a:latin typeface="Arial" panose="020B0604020202020204"/>
                <a:cs typeface="Arial" panose="020B0604020202020204"/>
              </a:rPr>
              <a:t>page</a:t>
            </a:r>
            <a:endParaRPr sz="2000">
              <a:latin typeface="Arial" panose="020B0604020202020204"/>
              <a:cs typeface="Arial" panose="020B0604020202020204"/>
            </a:endParaRPr>
          </a:p>
          <a:p>
            <a:pPr marL="355600" indent="-342900">
              <a:lnSpc>
                <a:spcPct val="100000"/>
              </a:lnSpc>
              <a:spcBef>
                <a:spcPts val="300"/>
              </a:spcBef>
              <a:buChar char="•"/>
              <a:tabLst>
                <a:tab pos="354965" algn="l"/>
                <a:tab pos="355600" algn="l"/>
              </a:tabLst>
            </a:pPr>
            <a:r>
              <a:rPr sz="2400" spc="-20" dirty="0">
                <a:latin typeface="Arial" panose="020B0604020202020204"/>
                <a:cs typeface="Arial" panose="020B0604020202020204"/>
              </a:rPr>
              <a:t>Decreases </a:t>
            </a:r>
            <a:r>
              <a:rPr sz="2400" spc="-15" dirty="0">
                <a:latin typeface="Arial" panose="020B0604020202020204"/>
                <a:cs typeface="Arial" panose="020B0604020202020204"/>
              </a:rPr>
              <a:t>memory </a:t>
            </a:r>
            <a:r>
              <a:rPr sz="2400" spc="-30" dirty="0">
                <a:latin typeface="Arial" panose="020B0604020202020204"/>
                <a:cs typeface="Arial" panose="020B0604020202020204"/>
              </a:rPr>
              <a:t>needed </a:t>
            </a:r>
            <a:r>
              <a:rPr sz="2400" spc="15" dirty="0">
                <a:latin typeface="Arial" panose="020B0604020202020204"/>
                <a:cs typeface="Arial" panose="020B0604020202020204"/>
              </a:rPr>
              <a:t>to </a:t>
            </a:r>
            <a:r>
              <a:rPr sz="2400" spc="-5" dirty="0">
                <a:latin typeface="Arial" panose="020B0604020202020204"/>
                <a:cs typeface="Arial" panose="020B0604020202020204"/>
              </a:rPr>
              <a:t>store </a:t>
            </a:r>
            <a:r>
              <a:rPr sz="2400" spc="-20" dirty="0">
                <a:latin typeface="Arial" panose="020B0604020202020204"/>
                <a:cs typeface="Arial" panose="020B0604020202020204"/>
              </a:rPr>
              <a:t>each </a:t>
            </a:r>
            <a:r>
              <a:rPr sz="2400" spc="-30" dirty="0">
                <a:latin typeface="Arial" panose="020B0604020202020204"/>
                <a:cs typeface="Arial" panose="020B0604020202020204"/>
              </a:rPr>
              <a:t>page</a:t>
            </a:r>
            <a:r>
              <a:rPr sz="2400" spc="600" dirty="0">
                <a:latin typeface="Arial" panose="020B0604020202020204"/>
                <a:cs typeface="Arial" panose="020B0604020202020204"/>
              </a:rPr>
              <a:t> </a:t>
            </a:r>
            <a:r>
              <a:rPr sz="2400" spc="-15" dirty="0">
                <a:latin typeface="Arial" panose="020B0604020202020204"/>
                <a:cs typeface="Arial" panose="020B0604020202020204"/>
              </a:rPr>
              <a:t>table</a:t>
            </a:r>
            <a:endParaRPr sz="2400">
              <a:latin typeface="Arial" panose="020B0604020202020204"/>
              <a:cs typeface="Arial" panose="020B0604020202020204"/>
            </a:endParaRPr>
          </a:p>
          <a:p>
            <a:pPr marL="762000" marR="227330" lvl="1" indent="-292100">
              <a:lnSpc>
                <a:spcPts val="2200"/>
              </a:lnSpc>
              <a:spcBef>
                <a:spcPts val="460"/>
              </a:spcBef>
              <a:buFont typeface="Arial" panose="020B0604020202020204"/>
              <a:buChar char="–"/>
              <a:tabLst>
                <a:tab pos="837565" algn="l"/>
                <a:tab pos="838200" algn="l"/>
              </a:tabLst>
            </a:pPr>
            <a:r>
              <a:rPr dirty="0"/>
              <a:t>	</a:t>
            </a:r>
            <a:r>
              <a:rPr sz="2000" spc="-10" dirty="0">
                <a:latin typeface="Arial" panose="020B0604020202020204"/>
                <a:cs typeface="Arial" panose="020B0604020202020204"/>
              </a:rPr>
              <a:t>but increases </a:t>
            </a:r>
            <a:r>
              <a:rPr sz="2000" spc="5" dirty="0">
                <a:latin typeface="Arial" panose="020B0604020202020204"/>
                <a:cs typeface="Arial" panose="020B0604020202020204"/>
              </a:rPr>
              <a:t>time </a:t>
            </a:r>
            <a:r>
              <a:rPr sz="2000" spc="-15" dirty="0">
                <a:latin typeface="Arial" panose="020B0604020202020204"/>
                <a:cs typeface="Arial" panose="020B0604020202020204"/>
              </a:rPr>
              <a:t>needed </a:t>
            </a:r>
            <a:r>
              <a:rPr sz="2000" spc="20" dirty="0">
                <a:latin typeface="Arial" panose="020B0604020202020204"/>
                <a:cs typeface="Arial" panose="020B0604020202020204"/>
              </a:rPr>
              <a:t>to </a:t>
            </a:r>
            <a:r>
              <a:rPr sz="2000" dirty="0">
                <a:latin typeface="Arial" panose="020B0604020202020204"/>
                <a:cs typeface="Arial" panose="020B0604020202020204"/>
              </a:rPr>
              <a:t>search </a:t>
            </a:r>
            <a:r>
              <a:rPr sz="2000" spc="5" dirty="0">
                <a:latin typeface="Arial" panose="020B0604020202020204"/>
                <a:cs typeface="Arial" panose="020B0604020202020204"/>
              </a:rPr>
              <a:t>the </a:t>
            </a:r>
            <a:r>
              <a:rPr sz="2000" spc="-10" dirty="0">
                <a:latin typeface="Arial" panose="020B0604020202020204"/>
                <a:cs typeface="Arial" panose="020B0604020202020204"/>
              </a:rPr>
              <a:t>table </a:t>
            </a:r>
            <a:r>
              <a:rPr sz="2000" spc="-20" dirty="0">
                <a:latin typeface="Arial" panose="020B0604020202020204"/>
                <a:cs typeface="Arial" panose="020B0604020202020204"/>
              </a:rPr>
              <a:t>when </a:t>
            </a:r>
            <a:r>
              <a:rPr sz="2000" dirty="0">
                <a:latin typeface="Arial" panose="020B0604020202020204"/>
                <a:cs typeface="Arial" panose="020B0604020202020204"/>
              </a:rPr>
              <a:t>a </a:t>
            </a:r>
            <a:r>
              <a:rPr sz="2000" spc="-15" dirty="0">
                <a:latin typeface="Arial" panose="020B0604020202020204"/>
                <a:cs typeface="Arial" panose="020B0604020202020204"/>
              </a:rPr>
              <a:t>page </a:t>
            </a:r>
            <a:r>
              <a:rPr sz="2000" dirty="0">
                <a:latin typeface="Arial" panose="020B0604020202020204"/>
                <a:cs typeface="Arial" panose="020B0604020202020204"/>
              </a:rPr>
              <a:t>reference  occurs</a:t>
            </a:r>
            <a:endParaRPr sz="2000">
              <a:latin typeface="Arial" panose="020B0604020202020204"/>
              <a:cs typeface="Arial" panose="020B0604020202020204"/>
            </a:endParaRPr>
          </a:p>
          <a:p>
            <a:pPr marL="355600" indent="-342900">
              <a:lnSpc>
                <a:spcPct val="100000"/>
              </a:lnSpc>
              <a:spcBef>
                <a:spcPts val="160"/>
              </a:spcBef>
              <a:buChar char="•"/>
              <a:tabLst>
                <a:tab pos="354965" algn="l"/>
                <a:tab pos="355600" algn="l"/>
              </a:tabLst>
            </a:pPr>
            <a:r>
              <a:rPr sz="2400" spc="-15" dirty="0">
                <a:latin typeface="Arial" panose="020B0604020202020204"/>
                <a:cs typeface="Arial" panose="020B0604020202020204"/>
              </a:rPr>
              <a:t>Use </a:t>
            </a:r>
            <a:r>
              <a:rPr sz="2400" spc="-20" dirty="0">
                <a:latin typeface="Arial" panose="020B0604020202020204"/>
                <a:cs typeface="Arial" panose="020B0604020202020204"/>
              </a:rPr>
              <a:t>hash </a:t>
            </a:r>
            <a:r>
              <a:rPr sz="2400" spc="-15" dirty="0">
                <a:latin typeface="Arial" panose="020B0604020202020204"/>
                <a:cs typeface="Arial" panose="020B0604020202020204"/>
              </a:rPr>
              <a:t>table </a:t>
            </a:r>
            <a:r>
              <a:rPr sz="2400" spc="15" dirty="0">
                <a:latin typeface="Arial" panose="020B0604020202020204"/>
                <a:cs typeface="Arial" panose="020B0604020202020204"/>
              </a:rPr>
              <a:t>to </a:t>
            </a:r>
            <a:r>
              <a:rPr sz="2400" spc="-25" dirty="0">
                <a:latin typeface="Arial" panose="020B0604020202020204"/>
                <a:cs typeface="Arial" panose="020B0604020202020204"/>
              </a:rPr>
              <a:t>limit </a:t>
            </a:r>
            <a:r>
              <a:rPr sz="2400" spc="-5" dirty="0">
                <a:latin typeface="Arial" panose="020B0604020202020204"/>
                <a:cs typeface="Arial" panose="020B0604020202020204"/>
              </a:rPr>
              <a:t>the </a:t>
            </a:r>
            <a:r>
              <a:rPr sz="2400" spc="-15" dirty="0">
                <a:latin typeface="Arial" panose="020B0604020202020204"/>
                <a:cs typeface="Arial" panose="020B0604020202020204"/>
              </a:rPr>
              <a:t>search </a:t>
            </a:r>
            <a:r>
              <a:rPr sz="2400" spc="15" dirty="0">
                <a:latin typeface="Arial" panose="020B0604020202020204"/>
                <a:cs typeface="Arial" panose="020B0604020202020204"/>
              </a:rPr>
              <a:t>to </a:t>
            </a:r>
            <a:r>
              <a:rPr sz="2400" spc="-15" dirty="0">
                <a:latin typeface="Arial" panose="020B0604020202020204"/>
                <a:cs typeface="Arial" panose="020B0604020202020204"/>
              </a:rPr>
              <a:t>one/few </a:t>
            </a:r>
            <a:r>
              <a:rPr sz="2400" spc="-25" dirty="0">
                <a:latin typeface="Arial" panose="020B0604020202020204"/>
                <a:cs typeface="Arial" panose="020B0604020202020204"/>
              </a:rPr>
              <a:t>page-table</a:t>
            </a:r>
            <a:r>
              <a:rPr sz="2400" spc="15" dirty="0">
                <a:latin typeface="Arial" panose="020B0604020202020204"/>
                <a:cs typeface="Arial" panose="020B0604020202020204"/>
              </a:rPr>
              <a:t> </a:t>
            </a:r>
            <a:r>
              <a:rPr sz="2400" spc="-25" dirty="0">
                <a:latin typeface="Arial" panose="020B0604020202020204"/>
                <a:cs typeface="Arial" panose="020B0604020202020204"/>
              </a:rPr>
              <a:t>entries</a:t>
            </a:r>
            <a:endParaRPr sz="2400">
              <a:latin typeface="Arial" panose="020B0604020202020204"/>
              <a:cs typeface="Arial" panose="020B0604020202020204"/>
            </a:endParaRPr>
          </a:p>
          <a:p>
            <a:pPr marL="762000" lvl="1" indent="-292100">
              <a:lnSpc>
                <a:spcPct val="100000"/>
              </a:lnSpc>
              <a:spcBef>
                <a:spcPts val="320"/>
              </a:spcBef>
              <a:buChar char="–"/>
              <a:tabLst>
                <a:tab pos="761365" algn="l"/>
                <a:tab pos="762000" algn="l"/>
              </a:tabLst>
            </a:pPr>
            <a:r>
              <a:rPr sz="2000" spc="-15" dirty="0">
                <a:latin typeface="Arial" panose="020B0604020202020204"/>
                <a:cs typeface="Arial" panose="020B0604020202020204"/>
              </a:rPr>
              <a:t>TLB </a:t>
            </a:r>
            <a:r>
              <a:rPr sz="2000" spc="-5" dirty="0">
                <a:latin typeface="Arial" panose="020B0604020202020204"/>
                <a:cs typeface="Arial" panose="020B0604020202020204"/>
              </a:rPr>
              <a:t>can accelerate</a:t>
            </a:r>
            <a:r>
              <a:rPr sz="2000" spc="85" dirty="0">
                <a:latin typeface="Arial" panose="020B0604020202020204"/>
                <a:cs typeface="Arial" panose="020B0604020202020204"/>
              </a:rPr>
              <a:t> </a:t>
            </a:r>
            <a:r>
              <a:rPr sz="2000" spc="-5" dirty="0">
                <a:latin typeface="Arial" panose="020B0604020202020204"/>
                <a:cs typeface="Arial" panose="020B0604020202020204"/>
              </a:rPr>
              <a:t>access</a:t>
            </a:r>
            <a:endParaRPr sz="2000">
              <a:latin typeface="Arial" panose="020B0604020202020204"/>
              <a:cs typeface="Arial" panose="020B0604020202020204"/>
            </a:endParaRPr>
          </a:p>
          <a:p>
            <a:pPr marL="355600" indent="-342900">
              <a:lnSpc>
                <a:spcPct val="100000"/>
              </a:lnSpc>
              <a:spcBef>
                <a:spcPts val="200"/>
              </a:spcBef>
              <a:buChar char="•"/>
              <a:tabLst>
                <a:tab pos="354965" algn="l"/>
                <a:tab pos="355600" algn="l"/>
              </a:tabLst>
            </a:pPr>
            <a:r>
              <a:rPr sz="2400" spc="-15" dirty="0">
                <a:latin typeface="Arial" panose="020B0604020202020204"/>
                <a:cs typeface="Arial" panose="020B0604020202020204"/>
              </a:rPr>
              <a:t>But </a:t>
            </a:r>
            <a:r>
              <a:rPr sz="2400" spc="-25" dirty="0">
                <a:latin typeface="Arial" panose="020B0604020202020204"/>
                <a:cs typeface="Arial" panose="020B0604020202020204"/>
              </a:rPr>
              <a:t>how </a:t>
            </a:r>
            <a:r>
              <a:rPr sz="2400" spc="15" dirty="0">
                <a:latin typeface="Arial" panose="020B0604020202020204"/>
                <a:cs typeface="Arial" panose="020B0604020202020204"/>
              </a:rPr>
              <a:t>to </a:t>
            </a:r>
            <a:r>
              <a:rPr sz="2400" spc="-25" dirty="0">
                <a:latin typeface="Arial" panose="020B0604020202020204"/>
                <a:cs typeface="Arial" panose="020B0604020202020204"/>
              </a:rPr>
              <a:t>implement </a:t>
            </a:r>
            <a:r>
              <a:rPr sz="2400" spc="-20" dirty="0">
                <a:latin typeface="Arial" panose="020B0604020202020204"/>
                <a:cs typeface="Arial" panose="020B0604020202020204"/>
              </a:rPr>
              <a:t>shared</a:t>
            </a:r>
            <a:r>
              <a:rPr sz="2400" spc="-180" dirty="0">
                <a:latin typeface="Arial" panose="020B0604020202020204"/>
                <a:cs typeface="Arial" panose="020B0604020202020204"/>
              </a:rPr>
              <a:t> </a:t>
            </a:r>
            <a:r>
              <a:rPr sz="2400" spc="-10" dirty="0">
                <a:latin typeface="Arial" panose="020B0604020202020204"/>
                <a:cs typeface="Arial" panose="020B0604020202020204"/>
              </a:rPr>
              <a:t>memory?</a:t>
            </a:r>
            <a:endParaRPr sz="2400">
              <a:latin typeface="Arial" panose="020B0604020202020204"/>
              <a:cs typeface="Arial" panose="020B0604020202020204"/>
            </a:endParaRPr>
          </a:p>
          <a:p>
            <a:pPr marL="762000" lvl="1" indent="-292100">
              <a:lnSpc>
                <a:spcPct val="100000"/>
              </a:lnSpc>
              <a:spcBef>
                <a:spcPts val="320"/>
              </a:spcBef>
              <a:buChar char="–"/>
              <a:tabLst>
                <a:tab pos="761365" algn="l"/>
                <a:tab pos="762000" algn="l"/>
              </a:tabLst>
            </a:pPr>
            <a:r>
              <a:rPr sz="2000" spc="5" dirty="0">
                <a:latin typeface="Arial" panose="020B0604020202020204"/>
                <a:cs typeface="Arial" panose="020B0604020202020204"/>
              </a:rPr>
              <a:t>One </a:t>
            </a:r>
            <a:r>
              <a:rPr sz="2000" spc="-15" dirty="0">
                <a:latin typeface="Arial" panose="020B0604020202020204"/>
                <a:cs typeface="Arial" panose="020B0604020202020204"/>
              </a:rPr>
              <a:t>mapping </a:t>
            </a:r>
            <a:r>
              <a:rPr sz="2000" spc="-10" dirty="0">
                <a:latin typeface="Arial" panose="020B0604020202020204"/>
                <a:cs typeface="Arial" panose="020B0604020202020204"/>
              </a:rPr>
              <a:t>of </a:t>
            </a:r>
            <a:r>
              <a:rPr sz="2000" dirty="0">
                <a:latin typeface="Arial" panose="020B0604020202020204"/>
                <a:cs typeface="Arial" panose="020B0604020202020204"/>
              </a:rPr>
              <a:t>a </a:t>
            </a:r>
            <a:r>
              <a:rPr sz="2000" spc="-5" dirty="0">
                <a:latin typeface="Arial" panose="020B0604020202020204"/>
                <a:cs typeface="Arial" panose="020B0604020202020204"/>
              </a:rPr>
              <a:t>virtual address </a:t>
            </a:r>
            <a:r>
              <a:rPr sz="2000" spc="20" dirty="0">
                <a:latin typeface="Arial" panose="020B0604020202020204"/>
                <a:cs typeface="Arial" panose="020B0604020202020204"/>
              </a:rPr>
              <a:t>to </a:t>
            </a:r>
            <a:r>
              <a:rPr sz="2000" spc="5" dirty="0">
                <a:latin typeface="Arial" panose="020B0604020202020204"/>
                <a:cs typeface="Arial" panose="020B0604020202020204"/>
              </a:rPr>
              <a:t>the </a:t>
            </a:r>
            <a:r>
              <a:rPr sz="2000" spc="-5" dirty="0">
                <a:latin typeface="Arial" panose="020B0604020202020204"/>
                <a:cs typeface="Arial" panose="020B0604020202020204"/>
              </a:rPr>
              <a:t>shared </a:t>
            </a:r>
            <a:r>
              <a:rPr sz="2000" spc="-15" dirty="0">
                <a:latin typeface="Arial" panose="020B0604020202020204"/>
                <a:cs typeface="Arial" panose="020B0604020202020204"/>
              </a:rPr>
              <a:t>physical</a:t>
            </a:r>
            <a:r>
              <a:rPr sz="2000" spc="30" dirty="0">
                <a:latin typeface="Arial" panose="020B0604020202020204"/>
                <a:cs typeface="Arial" panose="020B0604020202020204"/>
              </a:rPr>
              <a:t> </a:t>
            </a:r>
            <a:r>
              <a:rPr sz="2000" spc="-5" dirty="0">
                <a:latin typeface="Arial" panose="020B0604020202020204"/>
                <a:cs typeface="Arial" panose="020B0604020202020204"/>
              </a:rPr>
              <a:t>address</a:t>
            </a:r>
            <a:endParaRPr sz="2000">
              <a:latin typeface="Arial" panose="020B0604020202020204"/>
              <a:cs typeface="Arial" panose="020B060402020202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1225" y="224320"/>
            <a:ext cx="5349240" cy="467359"/>
          </a:xfrm>
          <a:prstGeom prst="rect">
            <a:avLst/>
          </a:prstGeom>
        </p:spPr>
        <p:txBody>
          <a:bodyPr vert="horz" wrap="square" lIns="0" tIns="12700" rIns="0" bIns="0" rtlCol="0">
            <a:spAutoFit/>
          </a:bodyPr>
          <a:lstStyle/>
          <a:p>
            <a:pPr marL="12700">
              <a:lnSpc>
                <a:spcPct val="100000"/>
              </a:lnSpc>
              <a:spcBef>
                <a:spcPts val="100"/>
              </a:spcBef>
            </a:pPr>
            <a:r>
              <a:rPr dirty="0"/>
              <a:t>Inverted </a:t>
            </a:r>
            <a:r>
              <a:rPr spc="-20" dirty="0"/>
              <a:t>Page </a:t>
            </a:r>
            <a:r>
              <a:rPr spc="-70" dirty="0"/>
              <a:t>Table</a:t>
            </a:r>
            <a:r>
              <a:rPr spc="-215" dirty="0"/>
              <a:t> </a:t>
            </a:r>
            <a:r>
              <a:rPr dirty="0"/>
              <a:t>Architecture</a:t>
            </a:r>
            <a:endParaRPr dirty="0"/>
          </a:p>
        </p:txBody>
      </p:sp>
      <p:grpSp>
        <p:nvGrpSpPr>
          <p:cNvPr id="4" name="object 3"/>
          <p:cNvGrpSpPr/>
          <p:nvPr/>
        </p:nvGrpSpPr>
        <p:grpSpPr>
          <a:xfrm>
            <a:off x="914400" y="990600"/>
            <a:ext cx="7581900" cy="5607050"/>
            <a:chOff x="1162050" y="1619250"/>
            <a:chExt cx="7581900" cy="5607050"/>
          </a:xfrm>
        </p:grpSpPr>
        <p:sp>
          <p:nvSpPr>
            <p:cNvPr id="5" name="object 4"/>
            <p:cNvSpPr/>
            <p:nvPr/>
          </p:nvSpPr>
          <p:spPr>
            <a:xfrm>
              <a:off x="1219200" y="1670494"/>
              <a:ext cx="7467600" cy="5498401"/>
            </a:xfrm>
            <a:prstGeom prst="rect">
              <a:avLst/>
            </a:prstGeom>
            <a:blipFill>
              <a:blip r:embed="rId1" cstate="print"/>
              <a:stretch>
                <a:fillRect/>
              </a:stretch>
            </a:blipFill>
          </p:spPr>
          <p:txBody>
            <a:bodyPr wrap="square" lIns="0" tIns="0" rIns="0" bIns="0" rtlCol="0"/>
            <a:lstStyle/>
            <a:p/>
          </p:txBody>
        </p:sp>
        <p:sp>
          <p:nvSpPr>
            <p:cNvPr id="6" name="object 5"/>
            <p:cNvSpPr/>
            <p:nvPr/>
          </p:nvSpPr>
          <p:spPr>
            <a:xfrm>
              <a:off x="1162050" y="1619249"/>
              <a:ext cx="7581900" cy="5607050"/>
            </a:xfrm>
            <a:custGeom>
              <a:avLst/>
              <a:gdLst/>
              <a:ahLst/>
              <a:cxnLst/>
              <a:rect l="l" t="t" r="r" b="b"/>
              <a:pathLst>
                <a:path w="7581900" h="5607050">
                  <a:moveTo>
                    <a:pt x="7536180" y="45720"/>
                  </a:moveTo>
                  <a:lnTo>
                    <a:pt x="7524750" y="45720"/>
                  </a:lnTo>
                  <a:lnTo>
                    <a:pt x="7524750" y="57150"/>
                  </a:lnTo>
                  <a:lnTo>
                    <a:pt x="7524750" y="5549646"/>
                  </a:lnTo>
                  <a:lnTo>
                    <a:pt x="57150" y="5549646"/>
                  </a:lnTo>
                  <a:lnTo>
                    <a:pt x="57150" y="57150"/>
                  </a:lnTo>
                  <a:lnTo>
                    <a:pt x="7524750" y="57150"/>
                  </a:lnTo>
                  <a:lnTo>
                    <a:pt x="7524750" y="45720"/>
                  </a:lnTo>
                  <a:lnTo>
                    <a:pt x="57150" y="45720"/>
                  </a:lnTo>
                  <a:lnTo>
                    <a:pt x="45720" y="45720"/>
                  </a:lnTo>
                  <a:lnTo>
                    <a:pt x="45720" y="5561076"/>
                  </a:lnTo>
                  <a:lnTo>
                    <a:pt x="57150" y="5561076"/>
                  </a:lnTo>
                  <a:lnTo>
                    <a:pt x="7524750" y="5561076"/>
                  </a:lnTo>
                  <a:lnTo>
                    <a:pt x="7536180" y="5561076"/>
                  </a:lnTo>
                  <a:lnTo>
                    <a:pt x="7536180" y="45720"/>
                  </a:lnTo>
                  <a:close/>
                </a:path>
                <a:path w="7581900" h="5607050">
                  <a:moveTo>
                    <a:pt x="7581900" y="0"/>
                  </a:moveTo>
                  <a:lnTo>
                    <a:pt x="7547610" y="0"/>
                  </a:lnTo>
                  <a:lnTo>
                    <a:pt x="7547610" y="34290"/>
                  </a:lnTo>
                  <a:lnTo>
                    <a:pt x="7547610" y="5572506"/>
                  </a:lnTo>
                  <a:lnTo>
                    <a:pt x="34290" y="5572506"/>
                  </a:lnTo>
                  <a:lnTo>
                    <a:pt x="34290" y="34290"/>
                  </a:lnTo>
                  <a:lnTo>
                    <a:pt x="7547610" y="34290"/>
                  </a:lnTo>
                  <a:lnTo>
                    <a:pt x="7547610" y="0"/>
                  </a:lnTo>
                  <a:lnTo>
                    <a:pt x="34290" y="0"/>
                  </a:lnTo>
                  <a:lnTo>
                    <a:pt x="0" y="0"/>
                  </a:lnTo>
                  <a:lnTo>
                    <a:pt x="0" y="5606796"/>
                  </a:lnTo>
                  <a:lnTo>
                    <a:pt x="34277" y="5606796"/>
                  </a:lnTo>
                  <a:lnTo>
                    <a:pt x="7547610" y="5606796"/>
                  </a:lnTo>
                  <a:lnTo>
                    <a:pt x="7581900" y="5606796"/>
                  </a:lnTo>
                  <a:lnTo>
                    <a:pt x="7581900" y="0"/>
                  </a:lnTo>
                  <a:close/>
                </a:path>
              </a:pathLst>
            </a:custGeom>
            <a:solidFill>
              <a:srgbClr val="000000"/>
            </a:solidFill>
          </p:spPr>
          <p:txBody>
            <a:bodyPr wrap="square" lIns="0" tIns="0" rIns="0" bIns="0" rtlCol="0"/>
            <a:lstStyle/>
            <a:p/>
          </p:txBody>
        </p:sp>
        <p:sp>
          <p:nvSpPr>
            <p:cNvPr id="7" name="object 6"/>
            <p:cNvSpPr/>
            <p:nvPr/>
          </p:nvSpPr>
          <p:spPr>
            <a:xfrm>
              <a:off x="4572000" y="3505200"/>
              <a:ext cx="838200" cy="1828800"/>
            </a:xfrm>
            <a:custGeom>
              <a:avLst/>
              <a:gdLst/>
              <a:ahLst/>
              <a:cxnLst/>
              <a:rect l="l" t="t" r="r" b="b"/>
              <a:pathLst>
                <a:path w="838200" h="1828800">
                  <a:moveTo>
                    <a:pt x="571500" y="1295400"/>
                  </a:moveTo>
                  <a:lnTo>
                    <a:pt x="523620" y="1299704"/>
                  </a:lnTo>
                  <a:lnTo>
                    <a:pt x="478531" y="1312111"/>
                  </a:lnTo>
                  <a:lnTo>
                    <a:pt x="436992" y="1331863"/>
                  </a:lnTo>
                  <a:lnTo>
                    <a:pt x="399762" y="1358199"/>
                  </a:lnTo>
                  <a:lnTo>
                    <a:pt x="367599" y="1390362"/>
                  </a:lnTo>
                  <a:lnTo>
                    <a:pt x="341263" y="1427592"/>
                  </a:lnTo>
                  <a:lnTo>
                    <a:pt x="321511" y="1469131"/>
                  </a:lnTo>
                  <a:lnTo>
                    <a:pt x="309104" y="1514220"/>
                  </a:lnTo>
                  <a:lnTo>
                    <a:pt x="304800" y="1562100"/>
                  </a:lnTo>
                  <a:lnTo>
                    <a:pt x="309104" y="1609979"/>
                  </a:lnTo>
                  <a:lnTo>
                    <a:pt x="321511" y="1655068"/>
                  </a:lnTo>
                  <a:lnTo>
                    <a:pt x="341263" y="1696607"/>
                  </a:lnTo>
                  <a:lnTo>
                    <a:pt x="367599" y="1733837"/>
                  </a:lnTo>
                  <a:lnTo>
                    <a:pt x="399762" y="1766000"/>
                  </a:lnTo>
                  <a:lnTo>
                    <a:pt x="436992" y="1792336"/>
                  </a:lnTo>
                  <a:lnTo>
                    <a:pt x="478531" y="1812088"/>
                  </a:lnTo>
                  <a:lnTo>
                    <a:pt x="523620" y="1824495"/>
                  </a:lnTo>
                  <a:lnTo>
                    <a:pt x="571500" y="1828800"/>
                  </a:lnTo>
                  <a:lnTo>
                    <a:pt x="619379" y="1824495"/>
                  </a:lnTo>
                  <a:lnTo>
                    <a:pt x="664468" y="1812088"/>
                  </a:lnTo>
                  <a:lnTo>
                    <a:pt x="706007" y="1792336"/>
                  </a:lnTo>
                  <a:lnTo>
                    <a:pt x="743237" y="1766000"/>
                  </a:lnTo>
                  <a:lnTo>
                    <a:pt x="775400" y="1733837"/>
                  </a:lnTo>
                  <a:lnTo>
                    <a:pt x="801736" y="1696607"/>
                  </a:lnTo>
                  <a:lnTo>
                    <a:pt x="821488" y="1655068"/>
                  </a:lnTo>
                  <a:lnTo>
                    <a:pt x="833895" y="1609979"/>
                  </a:lnTo>
                  <a:lnTo>
                    <a:pt x="838200" y="1562100"/>
                  </a:lnTo>
                  <a:lnTo>
                    <a:pt x="833895" y="1514220"/>
                  </a:lnTo>
                  <a:lnTo>
                    <a:pt x="821488" y="1469131"/>
                  </a:lnTo>
                  <a:lnTo>
                    <a:pt x="801736" y="1427592"/>
                  </a:lnTo>
                  <a:lnTo>
                    <a:pt x="775400" y="1390362"/>
                  </a:lnTo>
                  <a:lnTo>
                    <a:pt x="743237" y="1358199"/>
                  </a:lnTo>
                  <a:lnTo>
                    <a:pt x="706007" y="1331863"/>
                  </a:lnTo>
                  <a:lnTo>
                    <a:pt x="664468" y="1312111"/>
                  </a:lnTo>
                  <a:lnTo>
                    <a:pt x="619379" y="1299704"/>
                  </a:lnTo>
                  <a:lnTo>
                    <a:pt x="571500" y="1295400"/>
                  </a:lnTo>
                  <a:close/>
                </a:path>
                <a:path w="838200" h="1828800">
                  <a:moveTo>
                    <a:pt x="266700" y="0"/>
                  </a:moveTo>
                  <a:lnTo>
                    <a:pt x="218820" y="4304"/>
                  </a:lnTo>
                  <a:lnTo>
                    <a:pt x="173731" y="16711"/>
                  </a:lnTo>
                  <a:lnTo>
                    <a:pt x="132192" y="36463"/>
                  </a:lnTo>
                  <a:lnTo>
                    <a:pt x="94962" y="62799"/>
                  </a:lnTo>
                  <a:lnTo>
                    <a:pt x="62799" y="94962"/>
                  </a:lnTo>
                  <a:lnTo>
                    <a:pt x="36463" y="132192"/>
                  </a:lnTo>
                  <a:lnTo>
                    <a:pt x="16711" y="173731"/>
                  </a:lnTo>
                  <a:lnTo>
                    <a:pt x="4304" y="218820"/>
                  </a:lnTo>
                  <a:lnTo>
                    <a:pt x="0" y="266700"/>
                  </a:lnTo>
                  <a:lnTo>
                    <a:pt x="4304" y="314579"/>
                  </a:lnTo>
                  <a:lnTo>
                    <a:pt x="16711" y="359668"/>
                  </a:lnTo>
                  <a:lnTo>
                    <a:pt x="36463" y="401207"/>
                  </a:lnTo>
                  <a:lnTo>
                    <a:pt x="62799" y="438437"/>
                  </a:lnTo>
                  <a:lnTo>
                    <a:pt x="94962" y="470600"/>
                  </a:lnTo>
                  <a:lnTo>
                    <a:pt x="132192" y="496936"/>
                  </a:lnTo>
                  <a:lnTo>
                    <a:pt x="173731" y="516688"/>
                  </a:lnTo>
                  <a:lnTo>
                    <a:pt x="218820" y="529095"/>
                  </a:lnTo>
                  <a:lnTo>
                    <a:pt x="266700" y="533400"/>
                  </a:lnTo>
                  <a:lnTo>
                    <a:pt x="314579" y="529095"/>
                  </a:lnTo>
                  <a:lnTo>
                    <a:pt x="359668" y="516688"/>
                  </a:lnTo>
                  <a:lnTo>
                    <a:pt x="401207" y="496936"/>
                  </a:lnTo>
                  <a:lnTo>
                    <a:pt x="438437" y="470600"/>
                  </a:lnTo>
                  <a:lnTo>
                    <a:pt x="470600" y="438437"/>
                  </a:lnTo>
                  <a:lnTo>
                    <a:pt x="496936" y="401207"/>
                  </a:lnTo>
                  <a:lnTo>
                    <a:pt x="516688" y="359668"/>
                  </a:lnTo>
                  <a:lnTo>
                    <a:pt x="529095" y="314579"/>
                  </a:lnTo>
                  <a:lnTo>
                    <a:pt x="533400" y="266700"/>
                  </a:lnTo>
                  <a:lnTo>
                    <a:pt x="529095" y="218820"/>
                  </a:lnTo>
                  <a:lnTo>
                    <a:pt x="516688" y="173731"/>
                  </a:lnTo>
                  <a:lnTo>
                    <a:pt x="496936" y="132192"/>
                  </a:lnTo>
                  <a:lnTo>
                    <a:pt x="470600" y="94962"/>
                  </a:lnTo>
                  <a:lnTo>
                    <a:pt x="438437" y="62799"/>
                  </a:lnTo>
                  <a:lnTo>
                    <a:pt x="401207" y="36463"/>
                  </a:lnTo>
                  <a:lnTo>
                    <a:pt x="359668" y="16711"/>
                  </a:lnTo>
                  <a:lnTo>
                    <a:pt x="314579" y="4304"/>
                  </a:lnTo>
                  <a:lnTo>
                    <a:pt x="266700" y="0"/>
                  </a:lnTo>
                  <a:close/>
                </a:path>
              </a:pathLst>
            </a:custGeom>
            <a:ln w="28575">
              <a:solidFill>
                <a:srgbClr val="FF0000"/>
              </a:solidFill>
            </a:ln>
          </p:spPr>
          <p:txBody>
            <a:bodyPr wrap="square" lIns="0" tIns="0" rIns="0" bIns="0" rtlCol="0"/>
            <a:lstStyle/>
            <a:p/>
          </p:txBody>
        </p:sp>
        <p:sp>
          <p:nvSpPr>
            <p:cNvPr id="8" name="object 7"/>
            <p:cNvSpPr/>
            <p:nvPr/>
          </p:nvSpPr>
          <p:spPr>
            <a:xfrm>
              <a:off x="5562600" y="5715000"/>
              <a:ext cx="1219200" cy="511809"/>
            </a:xfrm>
            <a:custGeom>
              <a:avLst/>
              <a:gdLst/>
              <a:ahLst/>
              <a:cxnLst/>
              <a:rect l="l" t="t" r="r" b="b"/>
              <a:pathLst>
                <a:path w="1219200" h="511810">
                  <a:moveTo>
                    <a:pt x="0" y="0"/>
                  </a:moveTo>
                  <a:lnTo>
                    <a:pt x="0" y="511302"/>
                  </a:lnTo>
                  <a:lnTo>
                    <a:pt x="1219200" y="511301"/>
                  </a:lnTo>
                  <a:lnTo>
                    <a:pt x="1219200" y="0"/>
                  </a:lnTo>
                  <a:lnTo>
                    <a:pt x="0" y="0"/>
                  </a:lnTo>
                  <a:close/>
                </a:path>
              </a:pathLst>
            </a:custGeom>
            <a:ln w="28575">
              <a:solidFill>
                <a:srgbClr val="2B40DB"/>
              </a:solidFill>
            </a:ln>
          </p:spPr>
          <p:txBody>
            <a:bodyPr wrap="square" lIns="0" tIns="0" rIns="0" bIns="0" rtlCol="0"/>
            <a:lstStyle/>
            <a:p/>
          </p:txBody>
        </p:sp>
      </p:grpSp>
      <p:sp>
        <p:nvSpPr>
          <p:cNvPr id="9" name="object 8"/>
          <p:cNvSpPr txBox="1"/>
          <p:nvPr/>
        </p:nvSpPr>
        <p:spPr>
          <a:xfrm>
            <a:off x="5540375" y="5132704"/>
            <a:ext cx="768350" cy="465455"/>
          </a:xfrm>
          <a:prstGeom prst="rect">
            <a:avLst/>
          </a:prstGeom>
        </p:spPr>
        <p:txBody>
          <a:bodyPr vert="horz" wrap="square" lIns="0" tIns="59690" rIns="0" bIns="0" rtlCol="0">
            <a:spAutoFit/>
          </a:bodyPr>
          <a:lstStyle/>
          <a:p>
            <a:pPr marR="5080" indent="80645">
              <a:lnSpc>
                <a:spcPts val="1540"/>
              </a:lnSpc>
              <a:spcBef>
                <a:spcPts val="470"/>
              </a:spcBef>
            </a:pPr>
            <a:r>
              <a:rPr sz="1600" dirty="0">
                <a:latin typeface="Comic Sans MS" panose="030F0702030302020204"/>
                <a:cs typeface="Comic Sans MS" panose="030F0702030302020204"/>
              </a:rPr>
              <a:t>Frame  </a:t>
            </a:r>
            <a:r>
              <a:rPr sz="1600" spc="-5" dirty="0">
                <a:latin typeface="Comic Sans MS" panose="030F0702030302020204"/>
                <a:cs typeface="Comic Sans MS" panose="030F0702030302020204"/>
              </a:rPr>
              <a:t>Number</a:t>
            </a:r>
            <a:endParaRPr sz="1600" dirty="0">
              <a:latin typeface="Comic Sans MS" panose="030F0702030302020204"/>
              <a:cs typeface="Comic Sans MS" panose="030F070203030202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474905"/>
            <a:ext cx="2557406"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sp>
        <p:nvSpPr>
          <p:cNvPr id="3" name="object 3"/>
          <p:cNvSpPr txBox="1"/>
          <p:nvPr/>
        </p:nvSpPr>
        <p:spPr>
          <a:xfrm>
            <a:off x="876973" y="1511673"/>
            <a:ext cx="6477559" cy="975588"/>
          </a:xfrm>
          <a:prstGeom prst="rect">
            <a:avLst/>
          </a:prstGeom>
        </p:spPr>
        <p:txBody>
          <a:bodyPr vert="horz" wrap="square" lIns="0" tIns="76200" rIns="0" bIns="0" rtlCol="0">
            <a:spAutoFit/>
          </a:bodyPr>
          <a:lstStyle/>
          <a:p>
            <a:pPr marL="313690" marR="488315" indent="-302260">
              <a:lnSpc>
                <a:spcPct val="80000"/>
              </a:lnSpc>
              <a:spcBef>
                <a:spcPts val="600"/>
              </a:spcBef>
              <a:buFont typeface="Wingdings" panose="05000000000000000000"/>
              <a:buChar char=""/>
              <a:tabLst>
                <a:tab pos="313055" algn="l"/>
                <a:tab pos="313690" algn="l"/>
              </a:tabLst>
            </a:pP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memory management scheme that supports  programmer’s view of</a:t>
            </a:r>
            <a:r>
              <a:rPr sz="2120" spc="-9" dirty="0">
                <a:latin typeface="Comic Sans MS" panose="030F0702030302020204"/>
                <a:cs typeface="Comic Sans MS" panose="030F0702030302020204"/>
              </a:rPr>
              <a:t> </a:t>
            </a:r>
            <a:r>
              <a:rPr sz="2120" spc="-4" dirty="0">
                <a:latin typeface="Comic Sans MS" panose="030F0702030302020204"/>
                <a:cs typeface="Comic Sans MS" panose="030F0702030302020204"/>
              </a:rPr>
              <a:t>memory.</a:t>
            </a:r>
            <a:endParaRPr sz="2120">
              <a:latin typeface="Comic Sans MS" panose="030F0702030302020204"/>
              <a:cs typeface="Comic Sans MS" panose="030F0702030302020204"/>
            </a:endParaRPr>
          </a:p>
          <a:p>
            <a:pPr marL="313690" indent="-302260">
              <a:spcBef>
                <a:spcPts val="380"/>
              </a:spcBef>
              <a:buFont typeface="Wingdings" panose="05000000000000000000"/>
              <a:buChar char=""/>
              <a:tabLst>
                <a:tab pos="313055" algn="l"/>
                <a:tab pos="313690" algn="l"/>
              </a:tabLst>
            </a:pP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segment is </a:t>
            </a: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logical unit such </a:t>
            </a:r>
            <a:r>
              <a:rPr sz="2120" dirty="0">
                <a:latin typeface="Comic Sans MS" panose="030F0702030302020204"/>
                <a:cs typeface="Comic Sans MS" panose="030F0702030302020204"/>
              </a:rPr>
              <a:t>as: </a:t>
            </a:r>
            <a:r>
              <a:rPr sz="2120" spc="-4" dirty="0">
                <a:latin typeface="Comic Sans MS" panose="030F0702030302020204"/>
                <a:cs typeface="Comic Sans MS" panose="030F0702030302020204"/>
              </a:rPr>
              <a:t>main</a:t>
            </a:r>
            <a:r>
              <a:rPr sz="2120" spc="-75" dirty="0">
                <a:latin typeface="Comic Sans MS" panose="030F0702030302020204"/>
                <a:cs typeface="Comic Sans MS" panose="030F0702030302020204"/>
              </a:rPr>
              <a:t> </a:t>
            </a:r>
            <a:r>
              <a:rPr sz="2120" dirty="0">
                <a:latin typeface="Comic Sans MS" panose="030F0702030302020204"/>
                <a:cs typeface="Comic Sans MS" panose="030F0702030302020204"/>
              </a:rPr>
              <a:t>program,</a:t>
            </a:r>
            <a:endParaRPr sz="2120">
              <a:latin typeface="Comic Sans MS" panose="030F0702030302020204"/>
              <a:cs typeface="Comic Sans MS" panose="030F0702030302020204"/>
            </a:endParaRPr>
          </a:p>
        </p:txBody>
      </p:sp>
      <p:sp>
        <p:nvSpPr>
          <p:cNvPr id="4" name="object 4"/>
          <p:cNvSpPr txBox="1"/>
          <p:nvPr/>
        </p:nvSpPr>
        <p:spPr>
          <a:xfrm>
            <a:off x="1179531" y="2398508"/>
            <a:ext cx="6718486" cy="337238"/>
          </a:xfrm>
          <a:prstGeom prst="rect">
            <a:avLst/>
          </a:prstGeom>
        </p:spPr>
        <p:txBody>
          <a:bodyPr vert="horz" wrap="square" lIns="0" tIns="11206" rIns="0" bIns="0" rtlCol="0">
            <a:spAutoFit/>
          </a:bodyPr>
          <a:lstStyle/>
          <a:p>
            <a:pPr marL="11430">
              <a:spcBef>
                <a:spcPts val="90"/>
              </a:spcBef>
            </a:pPr>
            <a:r>
              <a:rPr sz="2120" dirty="0">
                <a:latin typeface="Comic Sans MS" panose="030F0702030302020204"/>
                <a:cs typeface="Comic Sans MS" panose="030F0702030302020204"/>
              </a:rPr>
              <a:t>procedure, </a:t>
            </a:r>
            <a:r>
              <a:rPr sz="2120" spc="-4" dirty="0">
                <a:latin typeface="Comic Sans MS" panose="030F0702030302020204"/>
                <a:cs typeface="Comic Sans MS" panose="030F0702030302020204"/>
              </a:rPr>
              <a:t>function, </a:t>
            </a:r>
            <a:r>
              <a:rPr sz="2120" dirty="0">
                <a:latin typeface="Comic Sans MS" panose="030F0702030302020204"/>
                <a:cs typeface="Comic Sans MS" panose="030F0702030302020204"/>
              </a:rPr>
              <a:t>method, </a:t>
            </a:r>
            <a:r>
              <a:rPr sz="2120" spc="-4" dirty="0">
                <a:latin typeface="Comic Sans MS" panose="030F0702030302020204"/>
                <a:cs typeface="Comic Sans MS" panose="030F0702030302020204"/>
              </a:rPr>
              <a:t>object, </a:t>
            </a:r>
            <a:r>
              <a:rPr sz="2120" dirty="0">
                <a:latin typeface="Comic Sans MS" panose="030F0702030302020204"/>
                <a:cs typeface="Comic Sans MS" panose="030F0702030302020204"/>
              </a:rPr>
              <a:t>global</a:t>
            </a:r>
            <a:r>
              <a:rPr sz="2120" spc="-71" dirty="0">
                <a:latin typeface="Comic Sans MS" panose="030F0702030302020204"/>
                <a:cs typeface="Comic Sans MS" panose="030F0702030302020204"/>
              </a:rPr>
              <a:t> </a:t>
            </a:r>
            <a:r>
              <a:rPr sz="2120" spc="-4" dirty="0">
                <a:latin typeface="Comic Sans MS" panose="030F0702030302020204"/>
                <a:cs typeface="Comic Sans MS" panose="030F0702030302020204"/>
              </a:rPr>
              <a:t>variables,</a:t>
            </a:r>
            <a:endParaRPr sz="2120">
              <a:latin typeface="Comic Sans MS" panose="030F0702030302020204"/>
              <a:cs typeface="Comic Sans MS" panose="030F0702030302020204"/>
            </a:endParaRPr>
          </a:p>
        </p:txBody>
      </p:sp>
      <p:sp>
        <p:nvSpPr>
          <p:cNvPr id="5" name="object 5"/>
          <p:cNvSpPr txBox="1"/>
          <p:nvPr/>
        </p:nvSpPr>
        <p:spPr>
          <a:xfrm>
            <a:off x="876972" y="2607609"/>
            <a:ext cx="5030321" cy="763112"/>
          </a:xfrm>
          <a:prstGeom prst="rect">
            <a:avLst/>
          </a:prstGeom>
        </p:spPr>
        <p:txBody>
          <a:bodyPr vert="horz" wrap="square" lIns="0" tIns="59391" rIns="0" bIns="0" rtlCol="0">
            <a:spAutoFit/>
          </a:bodyPr>
          <a:lstStyle/>
          <a:p>
            <a:pPr marL="313690">
              <a:spcBef>
                <a:spcPts val="470"/>
              </a:spcBef>
            </a:pPr>
            <a:r>
              <a:rPr sz="2120" dirty="0">
                <a:latin typeface="Comic Sans MS" panose="030F0702030302020204"/>
                <a:cs typeface="Comic Sans MS" panose="030F0702030302020204"/>
              </a:rPr>
              <a:t>stack, symbol</a:t>
            </a:r>
            <a:r>
              <a:rPr sz="2120" spc="-9" dirty="0">
                <a:latin typeface="Comic Sans MS" panose="030F0702030302020204"/>
                <a:cs typeface="Comic Sans MS" panose="030F0702030302020204"/>
              </a:rPr>
              <a:t> </a:t>
            </a:r>
            <a:r>
              <a:rPr sz="2120" spc="-4" dirty="0">
                <a:latin typeface="Comic Sans MS" panose="030F0702030302020204"/>
                <a:cs typeface="Comic Sans MS" panose="030F0702030302020204"/>
              </a:rPr>
              <a:t>table</a:t>
            </a:r>
            <a:endParaRPr sz="2120">
              <a:latin typeface="Comic Sans MS" panose="030F0702030302020204"/>
              <a:cs typeface="Comic Sans MS" panose="030F0702030302020204"/>
            </a:endParaRPr>
          </a:p>
          <a:p>
            <a:pPr marL="313690" indent="-302260">
              <a:spcBef>
                <a:spcPts val="385"/>
              </a:spcBef>
              <a:buFont typeface="Wingdings" panose="05000000000000000000"/>
              <a:buChar char=""/>
              <a:tabLst>
                <a:tab pos="313055" algn="l"/>
                <a:tab pos="313690" algn="l"/>
              </a:tabLst>
            </a:pP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program is </a:t>
            </a:r>
            <a:r>
              <a:rPr sz="2120" dirty="0">
                <a:latin typeface="Comic Sans MS" panose="030F0702030302020204"/>
                <a:cs typeface="Comic Sans MS" panose="030F0702030302020204"/>
              </a:rPr>
              <a:t>a </a:t>
            </a:r>
            <a:r>
              <a:rPr sz="2120" spc="-4" dirty="0">
                <a:latin typeface="Comic Sans MS" panose="030F0702030302020204"/>
                <a:cs typeface="Comic Sans MS" panose="030F0702030302020204"/>
              </a:rPr>
              <a:t>collection of</a:t>
            </a:r>
            <a:r>
              <a:rPr sz="2120" spc="-66" dirty="0">
                <a:latin typeface="Comic Sans MS" panose="030F0702030302020204"/>
                <a:cs typeface="Comic Sans MS" panose="030F0702030302020204"/>
              </a:rPr>
              <a:t> </a:t>
            </a:r>
            <a:r>
              <a:rPr sz="2120" spc="-4" dirty="0">
                <a:latin typeface="Comic Sans MS" panose="030F0702030302020204"/>
                <a:cs typeface="Comic Sans MS" panose="030F0702030302020204"/>
              </a:rPr>
              <a:t>segments</a:t>
            </a:r>
            <a:endParaRPr sz="2120">
              <a:latin typeface="Comic Sans MS" panose="030F0702030302020204"/>
              <a:cs typeface="Comic Sans MS" panose="030F07020303020202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489697"/>
            <a:ext cx="2481206"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grpSp>
        <p:nvGrpSpPr>
          <p:cNvPr id="3" name="object 3"/>
          <p:cNvGrpSpPr/>
          <p:nvPr/>
        </p:nvGrpSpPr>
        <p:grpSpPr>
          <a:xfrm>
            <a:off x="2437280" y="1428750"/>
            <a:ext cx="4269441" cy="4874559"/>
            <a:chOff x="2609850" y="1619250"/>
            <a:chExt cx="4838700" cy="5524500"/>
          </a:xfrm>
        </p:grpSpPr>
        <p:sp>
          <p:nvSpPr>
            <p:cNvPr id="4" name="object 4"/>
            <p:cNvSpPr/>
            <p:nvPr/>
          </p:nvSpPr>
          <p:spPr>
            <a:xfrm>
              <a:off x="2717800" y="1676400"/>
              <a:ext cx="4673600" cy="5410200"/>
            </a:xfrm>
            <a:prstGeom prst="rect">
              <a:avLst/>
            </a:prstGeom>
            <a:blipFill>
              <a:blip r:embed="rId1" cstate="print"/>
              <a:stretch>
                <a:fillRect/>
              </a:stretch>
            </a:blipFill>
          </p:spPr>
          <p:txBody>
            <a:bodyPr wrap="square" lIns="0" tIns="0" rIns="0" bIns="0" rtlCol="0"/>
            <a:lstStyle/>
            <a:p>
              <a:endParaRPr sz="1590"/>
            </a:p>
          </p:txBody>
        </p:sp>
        <p:sp>
          <p:nvSpPr>
            <p:cNvPr id="5" name="object 5"/>
            <p:cNvSpPr/>
            <p:nvPr/>
          </p:nvSpPr>
          <p:spPr>
            <a:xfrm>
              <a:off x="2609850" y="1619250"/>
              <a:ext cx="4838700" cy="5524500"/>
            </a:xfrm>
            <a:prstGeom prst="rect">
              <a:avLst/>
            </a:prstGeom>
            <a:blipFill>
              <a:blip r:embed="rId2" cstate="print"/>
              <a:stretch>
                <a:fillRect/>
              </a:stretch>
            </a:blipFill>
          </p:spPr>
          <p:txBody>
            <a:bodyPr wrap="square" lIns="0" tIns="0" rIns="0" bIns="0" rtlCol="0"/>
            <a:lstStyle/>
            <a:p>
              <a:endParaRPr sz="1590"/>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442" y="474905"/>
            <a:ext cx="2328358"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grpSp>
        <p:nvGrpSpPr>
          <p:cNvPr id="3" name="object 3"/>
          <p:cNvGrpSpPr/>
          <p:nvPr/>
        </p:nvGrpSpPr>
        <p:grpSpPr>
          <a:xfrm>
            <a:off x="1050552" y="1453963"/>
            <a:ext cx="3479426" cy="4151779"/>
            <a:chOff x="1038225" y="1647825"/>
            <a:chExt cx="3943350" cy="4705350"/>
          </a:xfrm>
        </p:grpSpPr>
        <p:sp>
          <p:nvSpPr>
            <p:cNvPr id="4" name="object 4"/>
            <p:cNvSpPr/>
            <p:nvPr/>
          </p:nvSpPr>
          <p:spPr>
            <a:xfrm>
              <a:off x="1066800" y="1676400"/>
              <a:ext cx="3886200" cy="4648200"/>
            </a:xfrm>
            <a:custGeom>
              <a:avLst/>
              <a:gdLst/>
              <a:ahLst/>
              <a:cxnLst/>
              <a:rect l="l" t="t" r="r" b="b"/>
              <a:pathLst>
                <a:path w="3886200" h="4648200">
                  <a:moveTo>
                    <a:pt x="3886200" y="2324100"/>
                  </a:moveTo>
                  <a:lnTo>
                    <a:pt x="3885711" y="2271473"/>
                  </a:lnTo>
                  <a:lnTo>
                    <a:pt x="3884254" y="2219133"/>
                  </a:lnTo>
                  <a:lnTo>
                    <a:pt x="3881837" y="2167093"/>
                  </a:lnTo>
                  <a:lnTo>
                    <a:pt x="3878471" y="2115363"/>
                  </a:lnTo>
                  <a:lnTo>
                    <a:pt x="3874167" y="2063958"/>
                  </a:lnTo>
                  <a:lnTo>
                    <a:pt x="3868934" y="2012888"/>
                  </a:lnTo>
                  <a:lnTo>
                    <a:pt x="3862784" y="1962167"/>
                  </a:lnTo>
                  <a:lnTo>
                    <a:pt x="3855725" y="1911806"/>
                  </a:lnTo>
                  <a:lnTo>
                    <a:pt x="3847769" y="1861818"/>
                  </a:lnTo>
                  <a:lnTo>
                    <a:pt x="3838927" y="1812215"/>
                  </a:lnTo>
                  <a:lnTo>
                    <a:pt x="3829207" y="1763009"/>
                  </a:lnTo>
                  <a:lnTo>
                    <a:pt x="3818621" y="1714213"/>
                  </a:lnTo>
                  <a:lnTo>
                    <a:pt x="3807178" y="1665839"/>
                  </a:lnTo>
                  <a:lnTo>
                    <a:pt x="3794890" y="1617899"/>
                  </a:lnTo>
                  <a:lnTo>
                    <a:pt x="3781766" y="1570406"/>
                  </a:lnTo>
                  <a:lnTo>
                    <a:pt x="3767817" y="1523371"/>
                  </a:lnTo>
                  <a:lnTo>
                    <a:pt x="3753052" y="1476807"/>
                  </a:lnTo>
                  <a:lnTo>
                    <a:pt x="3737483" y="1430727"/>
                  </a:lnTo>
                  <a:lnTo>
                    <a:pt x="3721119" y="1385142"/>
                  </a:lnTo>
                  <a:lnTo>
                    <a:pt x="3703972" y="1340066"/>
                  </a:lnTo>
                  <a:lnTo>
                    <a:pt x="3686050" y="1295509"/>
                  </a:lnTo>
                  <a:lnTo>
                    <a:pt x="3667365" y="1251485"/>
                  </a:lnTo>
                  <a:lnTo>
                    <a:pt x="3647926" y="1208006"/>
                  </a:lnTo>
                  <a:lnTo>
                    <a:pt x="3627745" y="1165083"/>
                  </a:lnTo>
                  <a:lnTo>
                    <a:pt x="3606830" y="1122730"/>
                  </a:lnTo>
                  <a:lnTo>
                    <a:pt x="3585194" y="1080959"/>
                  </a:lnTo>
                  <a:lnTo>
                    <a:pt x="3562845" y="1039781"/>
                  </a:lnTo>
                  <a:lnTo>
                    <a:pt x="3539795" y="999210"/>
                  </a:lnTo>
                  <a:lnTo>
                    <a:pt x="3516053" y="959257"/>
                  </a:lnTo>
                  <a:lnTo>
                    <a:pt x="3491630" y="919934"/>
                  </a:lnTo>
                  <a:lnTo>
                    <a:pt x="3466536" y="881255"/>
                  </a:lnTo>
                  <a:lnTo>
                    <a:pt x="3440781" y="843231"/>
                  </a:lnTo>
                  <a:lnTo>
                    <a:pt x="3414376" y="805874"/>
                  </a:lnTo>
                  <a:lnTo>
                    <a:pt x="3387331" y="769198"/>
                  </a:lnTo>
                  <a:lnTo>
                    <a:pt x="3359656" y="733213"/>
                  </a:lnTo>
                  <a:lnTo>
                    <a:pt x="3331362" y="697933"/>
                  </a:lnTo>
                  <a:lnTo>
                    <a:pt x="3302458" y="663369"/>
                  </a:lnTo>
                  <a:lnTo>
                    <a:pt x="3272956" y="629535"/>
                  </a:lnTo>
                  <a:lnTo>
                    <a:pt x="3242865" y="596442"/>
                  </a:lnTo>
                  <a:lnTo>
                    <a:pt x="3212196" y="564102"/>
                  </a:lnTo>
                  <a:lnTo>
                    <a:pt x="3180959" y="532528"/>
                  </a:lnTo>
                  <a:lnTo>
                    <a:pt x="3149165" y="501732"/>
                  </a:lnTo>
                  <a:lnTo>
                    <a:pt x="3116823" y="471726"/>
                  </a:lnTo>
                  <a:lnTo>
                    <a:pt x="3083943" y="442524"/>
                  </a:lnTo>
                  <a:lnTo>
                    <a:pt x="3050538" y="414136"/>
                  </a:lnTo>
                  <a:lnTo>
                    <a:pt x="3016615" y="386575"/>
                  </a:lnTo>
                  <a:lnTo>
                    <a:pt x="2982187" y="359854"/>
                  </a:lnTo>
                  <a:lnTo>
                    <a:pt x="2947262" y="333984"/>
                  </a:lnTo>
                  <a:lnTo>
                    <a:pt x="2911852" y="308979"/>
                  </a:lnTo>
                  <a:lnTo>
                    <a:pt x="2875967" y="284850"/>
                  </a:lnTo>
                  <a:lnTo>
                    <a:pt x="2839616" y="261609"/>
                  </a:lnTo>
                  <a:lnTo>
                    <a:pt x="2802811" y="239270"/>
                  </a:lnTo>
                  <a:lnTo>
                    <a:pt x="2765562" y="217844"/>
                  </a:lnTo>
                  <a:lnTo>
                    <a:pt x="2727878" y="197343"/>
                  </a:lnTo>
                  <a:lnTo>
                    <a:pt x="2689771" y="177780"/>
                  </a:lnTo>
                  <a:lnTo>
                    <a:pt x="2651250" y="159167"/>
                  </a:lnTo>
                  <a:lnTo>
                    <a:pt x="2612326" y="141516"/>
                  </a:lnTo>
                  <a:lnTo>
                    <a:pt x="2573009" y="124840"/>
                  </a:lnTo>
                  <a:lnTo>
                    <a:pt x="2533309" y="109150"/>
                  </a:lnTo>
                  <a:lnTo>
                    <a:pt x="2493237" y="94460"/>
                  </a:lnTo>
                  <a:lnTo>
                    <a:pt x="2452802" y="80781"/>
                  </a:lnTo>
                  <a:lnTo>
                    <a:pt x="2412016" y="68126"/>
                  </a:lnTo>
                  <a:lnTo>
                    <a:pt x="2370889" y="56507"/>
                  </a:lnTo>
                  <a:lnTo>
                    <a:pt x="2329430" y="45937"/>
                  </a:lnTo>
                  <a:lnTo>
                    <a:pt x="2287651" y="36427"/>
                  </a:lnTo>
                  <a:lnTo>
                    <a:pt x="2245561" y="27989"/>
                  </a:lnTo>
                  <a:lnTo>
                    <a:pt x="2203171" y="20637"/>
                  </a:lnTo>
                  <a:lnTo>
                    <a:pt x="2160490" y="14382"/>
                  </a:lnTo>
                  <a:lnTo>
                    <a:pt x="2117530" y="9237"/>
                  </a:lnTo>
                  <a:lnTo>
                    <a:pt x="2074301" y="5214"/>
                  </a:lnTo>
                  <a:lnTo>
                    <a:pt x="2030813" y="2325"/>
                  </a:lnTo>
                  <a:lnTo>
                    <a:pt x="1987075" y="583"/>
                  </a:lnTo>
                  <a:lnTo>
                    <a:pt x="1943100" y="0"/>
                  </a:lnTo>
                  <a:lnTo>
                    <a:pt x="1899124" y="583"/>
                  </a:lnTo>
                  <a:lnTo>
                    <a:pt x="1855386" y="2325"/>
                  </a:lnTo>
                  <a:lnTo>
                    <a:pt x="1811898" y="5214"/>
                  </a:lnTo>
                  <a:lnTo>
                    <a:pt x="1768669" y="9237"/>
                  </a:lnTo>
                  <a:lnTo>
                    <a:pt x="1725709" y="14382"/>
                  </a:lnTo>
                  <a:lnTo>
                    <a:pt x="1683028" y="20637"/>
                  </a:lnTo>
                  <a:lnTo>
                    <a:pt x="1640638" y="27989"/>
                  </a:lnTo>
                  <a:lnTo>
                    <a:pt x="1598548" y="36427"/>
                  </a:lnTo>
                  <a:lnTo>
                    <a:pt x="1556769" y="45937"/>
                  </a:lnTo>
                  <a:lnTo>
                    <a:pt x="1515310" y="56507"/>
                  </a:lnTo>
                  <a:lnTo>
                    <a:pt x="1474183" y="68126"/>
                  </a:lnTo>
                  <a:lnTo>
                    <a:pt x="1433397" y="80781"/>
                  </a:lnTo>
                  <a:lnTo>
                    <a:pt x="1392962" y="94460"/>
                  </a:lnTo>
                  <a:lnTo>
                    <a:pt x="1352890" y="109150"/>
                  </a:lnTo>
                  <a:lnTo>
                    <a:pt x="1313190" y="124840"/>
                  </a:lnTo>
                  <a:lnTo>
                    <a:pt x="1273873" y="141516"/>
                  </a:lnTo>
                  <a:lnTo>
                    <a:pt x="1234949" y="159167"/>
                  </a:lnTo>
                  <a:lnTo>
                    <a:pt x="1196428" y="177780"/>
                  </a:lnTo>
                  <a:lnTo>
                    <a:pt x="1158321" y="197343"/>
                  </a:lnTo>
                  <a:lnTo>
                    <a:pt x="1120637" y="217844"/>
                  </a:lnTo>
                  <a:lnTo>
                    <a:pt x="1083388" y="239270"/>
                  </a:lnTo>
                  <a:lnTo>
                    <a:pt x="1046583" y="261609"/>
                  </a:lnTo>
                  <a:lnTo>
                    <a:pt x="1010232" y="284850"/>
                  </a:lnTo>
                  <a:lnTo>
                    <a:pt x="974347" y="308979"/>
                  </a:lnTo>
                  <a:lnTo>
                    <a:pt x="938937" y="333984"/>
                  </a:lnTo>
                  <a:lnTo>
                    <a:pt x="904012" y="359854"/>
                  </a:lnTo>
                  <a:lnTo>
                    <a:pt x="869584" y="386575"/>
                  </a:lnTo>
                  <a:lnTo>
                    <a:pt x="835661" y="414136"/>
                  </a:lnTo>
                  <a:lnTo>
                    <a:pt x="802256" y="442524"/>
                  </a:lnTo>
                  <a:lnTo>
                    <a:pt x="769376" y="471726"/>
                  </a:lnTo>
                  <a:lnTo>
                    <a:pt x="737034" y="501732"/>
                  </a:lnTo>
                  <a:lnTo>
                    <a:pt x="705240" y="532528"/>
                  </a:lnTo>
                  <a:lnTo>
                    <a:pt x="674003" y="564102"/>
                  </a:lnTo>
                  <a:lnTo>
                    <a:pt x="643334" y="596442"/>
                  </a:lnTo>
                  <a:lnTo>
                    <a:pt x="613243" y="629535"/>
                  </a:lnTo>
                  <a:lnTo>
                    <a:pt x="583741" y="663369"/>
                  </a:lnTo>
                  <a:lnTo>
                    <a:pt x="554837" y="697933"/>
                  </a:lnTo>
                  <a:lnTo>
                    <a:pt x="526543" y="733213"/>
                  </a:lnTo>
                  <a:lnTo>
                    <a:pt x="498868" y="769198"/>
                  </a:lnTo>
                  <a:lnTo>
                    <a:pt x="471823" y="805874"/>
                  </a:lnTo>
                  <a:lnTo>
                    <a:pt x="445418" y="843231"/>
                  </a:lnTo>
                  <a:lnTo>
                    <a:pt x="419663" y="881255"/>
                  </a:lnTo>
                  <a:lnTo>
                    <a:pt x="394569" y="919934"/>
                  </a:lnTo>
                  <a:lnTo>
                    <a:pt x="370146" y="959257"/>
                  </a:lnTo>
                  <a:lnTo>
                    <a:pt x="346404" y="999210"/>
                  </a:lnTo>
                  <a:lnTo>
                    <a:pt x="323354" y="1039781"/>
                  </a:lnTo>
                  <a:lnTo>
                    <a:pt x="301005" y="1080959"/>
                  </a:lnTo>
                  <a:lnTo>
                    <a:pt x="279369" y="1122730"/>
                  </a:lnTo>
                  <a:lnTo>
                    <a:pt x="258454" y="1165083"/>
                  </a:lnTo>
                  <a:lnTo>
                    <a:pt x="238273" y="1208006"/>
                  </a:lnTo>
                  <a:lnTo>
                    <a:pt x="218834" y="1251485"/>
                  </a:lnTo>
                  <a:lnTo>
                    <a:pt x="200149" y="1295509"/>
                  </a:lnTo>
                  <a:lnTo>
                    <a:pt x="182227" y="1340066"/>
                  </a:lnTo>
                  <a:lnTo>
                    <a:pt x="165080" y="1385142"/>
                  </a:lnTo>
                  <a:lnTo>
                    <a:pt x="148716" y="1430727"/>
                  </a:lnTo>
                  <a:lnTo>
                    <a:pt x="133147" y="1476807"/>
                  </a:lnTo>
                  <a:lnTo>
                    <a:pt x="118382" y="1523371"/>
                  </a:lnTo>
                  <a:lnTo>
                    <a:pt x="104433" y="1570406"/>
                  </a:lnTo>
                  <a:lnTo>
                    <a:pt x="91309" y="1617899"/>
                  </a:lnTo>
                  <a:lnTo>
                    <a:pt x="79021" y="1665839"/>
                  </a:lnTo>
                  <a:lnTo>
                    <a:pt x="67578" y="1714213"/>
                  </a:lnTo>
                  <a:lnTo>
                    <a:pt x="56992" y="1763009"/>
                  </a:lnTo>
                  <a:lnTo>
                    <a:pt x="47272" y="1812215"/>
                  </a:lnTo>
                  <a:lnTo>
                    <a:pt x="38430" y="1861818"/>
                  </a:lnTo>
                  <a:lnTo>
                    <a:pt x="30474" y="1911806"/>
                  </a:lnTo>
                  <a:lnTo>
                    <a:pt x="23415" y="1962167"/>
                  </a:lnTo>
                  <a:lnTo>
                    <a:pt x="17265" y="2012888"/>
                  </a:lnTo>
                  <a:lnTo>
                    <a:pt x="12032" y="2063958"/>
                  </a:lnTo>
                  <a:lnTo>
                    <a:pt x="7728" y="2115363"/>
                  </a:lnTo>
                  <a:lnTo>
                    <a:pt x="4362" y="2167093"/>
                  </a:lnTo>
                  <a:lnTo>
                    <a:pt x="1945" y="2219133"/>
                  </a:lnTo>
                  <a:lnTo>
                    <a:pt x="488" y="2271473"/>
                  </a:lnTo>
                  <a:lnTo>
                    <a:pt x="0" y="2324100"/>
                  </a:lnTo>
                  <a:lnTo>
                    <a:pt x="488" y="2376726"/>
                  </a:lnTo>
                  <a:lnTo>
                    <a:pt x="1945" y="2429066"/>
                  </a:lnTo>
                  <a:lnTo>
                    <a:pt x="4362" y="2481106"/>
                  </a:lnTo>
                  <a:lnTo>
                    <a:pt x="7728" y="2532836"/>
                  </a:lnTo>
                  <a:lnTo>
                    <a:pt x="12032" y="2584241"/>
                  </a:lnTo>
                  <a:lnTo>
                    <a:pt x="17265" y="2635311"/>
                  </a:lnTo>
                  <a:lnTo>
                    <a:pt x="23415" y="2686032"/>
                  </a:lnTo>
                  <a:lnTo>
                    <a:pt x="30474" y="2736393"/>
                  </a:lnTo>
                  <a:lnTo>
                    <a:pt x="38430" y="2786381"/>
                  </a:lnTo>
                  <a:lnTo>
                    <a:pt x="47272" y="2835984"/>
                  </a:lnTo>
                  <a:lnTo>
                    <a:pt x="56992" y="2885190"/>
                  </a:lnTo>
                  <a:lnTo>
                    <a:pt x="67578" y="2933986"/>
                  </a:lnTo>
                  <a:lnTo>
                    <a:pt x="79021" y="2982360"/>
                  </a:lnTo>
                  <a:lnTo>
                    <a:pt x="91309" y="3030300"/>
                  </a:lnTo>
                  <a:lnTo>
                    <a:pt x="104433" y="3077793"/>
                  </a:lnTo>
                  <a:lnTo>
                    <a:pt x="118382" y="3124828"/>
                  </a:lnTo>
                  <a:lnTo>
                    <a:pt x="133147" y="3171392"/>
                  </a:lnTo>
                  <a:lnTo>
                    <a:pt x="148716" y="3217472"/>
                  </a:lnTo>
                  <a:lnTo>
                    <a:pt x="165080" y="3263057"/>
                  </a:lnTo>
                  <a:lnTo>
                    <a:pt x="182227" y="3308133"/>
                  </a:lnTo>
                  <a:lnTo>
                    <a:pt x="200149" y="3352690"/>
                  </a:lnTo>
                  <a:lnTo>
                    <a:pt x="218834" y="3396714"/>
                  </a:lnTo>
                  <a:lnTo>
                    <a:pt x="238273" y="3440193"/>
                  </a:lnTo>
                  <a:lnTo>
                    <a:pt x="258454" y="3483116"/>
                  </a:lnTo>
                  <a:lnTo>
                    <a:pt x="279369" y="3525469"/>
                  </a:lnTo>
                  <a:lnTo>
                    <a:pt x="301005" y="3567240"/>
                  </a:lnTo>
                  <a:lnTo>
                    <a:pt x="323354" y="3608418"/>
                  </a:lnTo>
                  <a:lnTo>
                    <a:pt x="346404" y="3648989"/>
                  </a:lnTo>
                  <a:lnTo>
                    <a:pt x="370146" y="3688942"/>
                  </a:lnTo>
                  <a:lnTo>
                    <a:pt x="394569" y="3728265"/>
                  </a:lnTo>
                  <a:lnTo>
                    <a:pt x="419663" y="3766944"/>
                  </a:lnTo>
                  <a:lnTo>
                    <a:pt x="445418" y="3804968"/>
                  </a:lnTo>
                  <a:lnTo>
                    <a:pt x="471823" y="3842325"/>
                  </a:lnTo>
                  <a:lnTo>
                    <a:pt x="498868" y="3879001"/>
                  </a:lnTo>
                  <a:lnTo>
                    <a:pt x="526543" y="3914986"/>
                  </a:lnTo>
                  <a:lnTo>
                    <a:pt x="554837" y="3950266"/>
                  </a:lnTo>
                  <a:lnTo>
                    <a:pt x="583741" y="3984830"/>
                  </a:lnTo>
                  <a:lnTo>
                    <a:pt x="613243" y="4018664"/>
                  </a:lnTo>
                  <a:lnTo>
                    <a:pt x="643334" y="4051757"/>
                  </a:lnTo>
                  <a:lnTo>
                    <a:pt x="674003" y="4084097"/>
                  </a:lnTo>
                  <a:lnTo>
                    <a:pt x="705240" y="4115671"/>
                  </a:lnTo>
                  <a:lnTo>
                    <a:pt x="737034" y="4146467"/>
                  </a:lnTo>
                  <a:lnTo>
                    <a:pt x="769376" y="4176473"/>
                  </a:lnTo>
                  <a:lnTo>
                    <a:pt x="802256" y="4205675"/>
                  </a:lnTo>
                  <a:lnTo>
                    <a:pt x="835661" y="4234063"/>
                  </a:lnTo>
                  <a:lnTo>
                    <a:pt x="869584" y="4261624"/>
                  </a:lnTo>
                  <a:lnTo>
                    <a:pt x="904012" y="4288345"/>
                  </a:lnTo>
                  <a:lnTo>
                    <a:pt x="938937" y="4314215"/>
                  </a:lnTo>
                  <a:lnTo>
                    <a:pt x="974347" y="4339220"/>
                  </a:lnTo>
                  <a:lnTo>
                    <a:pt x="1010232" y="4363349"/>
                  </a:lnTo>
                  <a:lnTo>
                    <a:pt x="1046583" y="4386590"/>
                  </a:lnTo>
                  <a:lnTo>
                    <a:pt x="1083388" y="4408929"/>
                  </a:lnTo>
                  <a:lnTo>
                    <a:pt x="1120637" y="4430355"/>
                  </a:lnTo>
                  <a:lnTo>
                    <a:pt x="1158321" y="4450856"/>
                  </a:lnTo>
                  <a:lnTo>
                    <a:pt x="1196428" y="4470419"/>
                  </a:lnTo>
                  <a:lnTo>
                    <a:pt x="1234949" y="4489032"/>
                  </a:lnTo>
                  <a:lnTo>
                    <a:pt x="1273873" y="4506683"/>
                  </a:lnTo>
                  <a:lnTo>
                    <a:pt x="1313190" y="4523359"/>
                  </a:lnTo>
                  <a:lnTo>
                    <a:pt x="1352890" y="4539049"/>
                  </a:lnTo>
                  <a:lnTo>
                    <a:pt x="1392962" y="4553739"/>
                  </a:lnTo>
                  <a:lnTo>
                    <a:pt x="1433397" y="4567418"/>
                  </a:lnTo>
                  <a:lnTo>
                    <a:pt x="1474183" y="4580073"/>
                  </a:lnTo>
                  <a:lnTo>
                    <a:pt x="1515310" y="4591692"/>
                  </a:lnTo>
                  <a:lnTo>
                    <a:pt x="1556769" y="4602262"/>
                  </a:lnTo>
                  <a:lnTo>
                    <a:pt x="1598548" y="4611772"/>
                  </a:lnTo>
                  <a:lnTo>
                    <a:pt x="1640638" y="4620210"/>
                  </a:lnTo>
                  <a:lnTo>
                    <a:pt x="1683028" y="4627562"/>
                  </a:lnTo>
                  <a:lnTo>
                    <a:pt x="1725709" y="4633817"/>
                  </a:lnTo>
                  <a:lnTo>
                    <a:pt x="1768669" y="4638962"/>
                  </a:lnTo>
                  <a:lnTo>
                    <a:pt x="1811898" y="4642985"/>
                  </a:lnTo>
                  <a:lnTo>
                    <a:pt x="1855386" y="4645874"/>
                  </a:lnTo>
                  <a:lnTo>
                    <a:pt x="1899124" y="4647616"/>
                  </a:lnTo>
                  <a:lnTo>
                    <a:pt x="1943100" y="4648200"/>
                  </a:lnTo>
                  <a:lnTo>
                    <a:pt x="1987075" y="4647616"/>
                  </a:lnTo>
                  <a:lnTo>
                    <a:pt x="2030813" y="4645874"/>
                  </a:lnTo>
                  <a:lnTo>
                    <a:pt x="2074301" y="4642985"/>
                  </a:lnTo>
                  <a:lnTo>
                    <a:pt x="2117530" y="4638962"/>
                  </a:lnTo>
                  <a:lnTo>
                    <a:pt x="2160490" y="4633817"/>
                  </a:lnTo>
                  <a:lnTo>
                    <a:pt x="2203171" y="4627562"/>
                  </a:lnTo>
                  <a:lnTo>
                    <a:pt x="2245561" y="4620210"/>
                  </a:lnTo>
                  <a:lnTo>
                    <a:pt x="2287651" y="4611772"/>
                  </a:lnTo>
                  <a:lnTo>
                    <a:pt x="2329430" y="4602262"/>
                  </a:lnTo>
                  <a:lnTo>
                    <a:pt x="2370889" y="4591692"/>
                  </a:lnTo>
                  <a:lnTo>
                    <a:pt x="2412016" y="4580073"/>
                  </a:lnTo>
                  <a:lnTo>
                    <a:pt x="2452802" y="4567418"/>
                  </a:lnTo>
                  <a:lnTo>
                    <a:pt x="2493237" y="4553739"/>
                  </a:lnTo>
                  <a:lnTo>
                    <a:pt x="2533309" y="4539049"/>
                  </a:lnTo>
                  <a:lnTo>
                    <a:pt x="2573009" y="4523359"/>
                  </a:lnTo>
                  <a:lnTo>
                    <a:pt x="2612326" y="4506683"/>
                  </a:lnTo>
                  <a:lnTo>
                    <a:pt x="2651250" y="4489032"/>
                  </a:lnTo>
                  <a:lnTo>
                    <a:pt x="2689771" y="4470419"/>
                  </a:lnTo>
                  <a:lnTo>
                    <a:pt x="2727878" y="4450856"/>
                  </a:lnTo>
                  <a:lnTo>
                    <a:pt x="2765562" y="4430355"/>
                  </a:lnTo>
                  <a:lnTo>
                    <a:pt x="2802811" y="4408929"/>
                  </a:lnTo>
                  <a:lnTo>
                    <a:pt x="2839616" y="4386590"/>
                  </a:lnTo>
                  <a:lnTo>
                    <a:pt x="2875967" y="4363349"/>
                  </a:lnTo>
                  <a:lnTo>
                    <a:pt x="2911852" y="4339220"/>
                  </a:lnTo>
                  <a:lnTo>
                    <a:pt x="2947262" y="4314215"/>
                  </a:lnTo>
                  <a:lnTo>
                    <a:pt x="2982187" y="4288345"/>
                  </a:lnTo>
                  <a:lnTo>
                    <a:pt x="3016615" y="4261624"/>
                  </a:lnTo>
                  <a:lnTo>
                    <a:pt x="3050538" y="4234063"/>
                  </a:lnTo>
                  <a:lnTo>
                    <a:pt x="3083943" y="4205675"/>
                  </a:lnTo>
                  <a:lnTo>
                    <a:pt x="3116823" y="4176473"/>
                  </a:lnTo>
                  <a:lnTo>
                    <a:pt x="3149165" y="4146467"/>
                  </a:lnTo>
                  <a:lnTo>
                    <a:pt x="3180959" y="4115671"/>
                  </a:lnTo>
                  <a:lnTo>
                    <a:pt x="3212196" y="4084097"/>
                  </a:lnTo>
                  <a:lnTo>
                    <a:pt x="3242865" y="4051757"/>
                  </a:lnTo>
                  <a:lnTo>
                    <a:pt x="3272956" y="4018664"/>
                  </a:lnTo>
                  <a:lnTo>
                    <a:pt x="3302458" y="3984830"/>
                  </a:lnTo>
                  <a:lnTo>
                    <a:pt x="3331362" y="3950266"/>
                  </a:lnTo>
                  <a:lnTo>
                    <a:pt x="3359656" y="3914986"/>
                  </a:lnTo>
                  <a:lnTo>
                    <a:pt x="3387331" y="3879001"/>
                  </a:lnTo>
                  <a:lnTo>
                    <a:pt x="3414376" y="3842325"/>
                  </a:lnTo>
                  <a:lnTo>
                    <a:pt x="3440781" y="3804968"/>
                  </a:lnTo>
                  <a:lnTo>
                    <a:pt x="3466536" y="3766944"/>
                  </a:lnTo>
                  <a:lnTo>
                    <a:pt x="3491630" y="3728265"/>
                  </a:lnTo>
                  <a:lnTo>
                    <a:pt x="3516053" y="3688942"/>
                  </a:lnTo>
                  <a:lnTo>
                    <a:pt x="3539795" y="3648989"/>
                  </a:lnTo>
                  <a:lnTo>
                    <a:pt x="3562845" y="3608418"/>
                  </a:lnTo>
                  <a:lnTo>
                    <a:pt x="3585194" y="3567240"/>
                  </a:lnTo>
                  <a:lnTo>
                    <a:pt x="3606830" y="3525469"/>
                  </a:lnTo>
                  <a:lnTo>
                    <a:pt x="3627745" y="3483116"/>
                  </a:lnTo>
                  <a:lnTo>
                    <a:pt x="3647926" y="3440193"/>
                  </a:lnTo>
                  <a:lnTo>
                    <a:pt x="3667365" y="3396714"/>
                  </a:lnTo>
                  <a:lnTo>
                    <a:pt x="3686050" y="3352690"/>
                  </a:lnTo>
                  <a:lnTo>
                    <a:pt x="3703972" y="3308133"/>
                  </a:lnTo>
                  <a:lnTo>
                    <a:pt x="3721119" y="3263057"/>
                  </a:lnTo>
                  <a:lnTo>
                    <a:pt x="3737483" y="3217472"/>
                  </a:lnTo>
                  <a:lnTo>
                    <a:pt x="3753052" y="3171392"/>
                  </a:lnTo>
                  <a:lnTo>
                    <a:pt x="3767817" y="3124828"/>
                  </a:lnTo>
                  <a:lnTo>
                    <a:pt x="3781766" y="3077793"/>
                  </a:lnTo>
                  <a:lnTo>
                    <a:pt x="3794890" y="3030300"/>
                  </a:lnTo>
                  <a:lnTo>
                    <a:pt x="3807178" y="2982360"/>
                  </a:lnTo>
                  <a:lnTo>
                    <a:pt x="3818621" y="2933986"/>
                  </a:lnTo>
                  <a:lnTo>
                    <a:pt x="3829207" y="2885190"/>
                  </a:lnTo>
                  <a:lnTo>
                    <a:pt x="3838927" y="2835984"/>
                  </a:lnTo>
                  <a:lnTo>
                    <a:pt x="3847769" y="2786381"/>
                  </a:lnTo>
                  <a:lnTo>
                    <a:pt x="3855725" y="2736393"/>
                  </a:lnTo>
                  <a:lnTo>
                    <a:pt x="3862784" y="2686032"/>
                  </a:lnTo>
                  <a:lnTo>
                    <a:pt x="3868934" y="2635311"/>
                  </a:lnTo>
                  <a:lnTo>
                    <a:pt x="3874167" y="2584241"/>
                  </a:lnTo>
                  <a:lnTo>
                    <a:pt x="3878471" y="2532836"/>
                  </a:lnTo>
                  <a:lnTo>
                    <a:pt x="3881837" y="2481106"/>
                  </a:lnTo>
                  <a:lnTo>
                    <a:pt x="3884254" y="2429066"/>
                  </a:lnTo>
                  <a:lnTo>
                    <a:pt x="3885711" y="2376726"/>
                  </a:lnTo>
                  <a:lnTo>
                    <a:pt x="3886200" y="2324100"/>
                  </a:lnTo>
                  <a:close/>
                </a:path>
              </a:pathLst>
            </a:custGeom>
            <a:solidFill>
              <a:srgbClr val="FFFF66"/>
            </a:solidFill>
          </p:spPr>
          <p:txBody>
            <a:bodyPr wrap="square" lIns="0" tIns="0" rIns="0" bIns="0" rtlCol="0"/>
            <a:lstStyle/>
            <a:p>
              <a:endParaRPr sz="1590"/>
            </a:p>
          </p:txBody>
        </p:sp>
        <p:sp>
          <p:nvSpPr>
            <p:cNvPr id="5" name="object 5"/>
            <p:cNvSpPr/>
            <p:nvPr/>
          </p:nvSpPr>
          <p:spPr>
            <a:xfrm>
              <a:off x="1066800" y="1676400"/>
              <a:ext cx="3886200" cy="4648200"/>
            </a:xfrm>
            <a:custGeom>
              <a:avLst/>
              <a:gdLst/>
              <a:ahLst/>
              <a:cxnLst/>
              <a:rect l="l" t="t" r="r" b="b"/>
              <a:pathLst>
                <a:path w="3886200" h="4648200">
                  <a:moveTo>
                    <a:pt x="1943100" y="0"/>
                  </a:moveTo>
                  <a:lnTo>
                    <a:pt x="1899124" y="583"/>
                  </a:lnTo>
                  <a:lnTo>
                    <a:pt x="1855386" y="2325"/>
                  </a:lnTo>
                  <a:lnTo>
                    <a:pt x="1811898" y="5214"/>
                  </a:lnTo>
                  <a:lnTo>
                    <a:pt x="1768669" y="9237"/>
                  </a:lnTo>
                  <a:lnTo>
                    <a:pt x="1725709" y="14382"/>
                  </a:lnTo>
                  <a:lnTo>
                    <a:pt x="1683028" y="20637"/>
                  </a:lnTo>
                  <a:lnTo>
                    <a:pt x="1640638" y="27989"/>
                  </a:lnTo>
                  <a:lnTo>
                    <a:pt x="1598548" y="36427"/>
                  </a:lnTo>
                  <a:lnTo>
                    <a:pt x="1556769" y="45937"/>
                  </a:lnTo>
                  <a:lnTo>
                    <a:pt x="1515310" y="56507"/>
                  </a:lnTo>
                  <a:lnTo>
                    <a:pt x="1474183" y="68126"/>
                  </a:lnTo>
                  <a:lnTo>
                    <a:pt x="1433397" y="80781"/>
                  </a:lnTo>
                  <a:lnTo>
                    <a:pt x="1392962" y="94460"/>
                  </a:lnTo>
                  <a:lnTo>
                    <a:pt x="1352890" y="109150"/>
                  </a:lnTo>
                  <a:lnTo>
                    <a:pt x="1313190" y="124840"/>
                  </a:lnTo>
                  <a:lnTo>
                    <a:pt x="1273873" y="141516"/>
                  </a:lnTo>
                  <a:lnTo>
                    <a:pt x="1234949" y="159167"/>
                  </a:lnTo>
                  <a:lnTo>
                    <a:pt x="1196428" y="177780"/>
                  </a:lnTo>
                  <a:lnTo>
                    <a:pt x="1158321" y="197343"/>
                  </a:lnTo>
                  <a:lnTo>
                    <a:pt x="1120637" y="217844"/>
                  </a:lnTo>
                  <a:lnTo>
                    <a:pt x="1083388" y="239270"/>
                  </a:lnTo>
                  <a:lnTo>
                    <a:pt x="1046583" y="261609"/>
                  </a:lnTo>
                  <a:lnTo>
                    <a:pt x="1010232" y="284850"/>
                  </a:lnTo>
                  <a:lnTo>
                    <a:pt x="974347" y="308979"/>
                  </a:lnTo>
                  <a:lnTo>
                    <a:pt x="938937" y="333984"/>
                  </a:lnTo>
                  <a:lnTo>
                    <a:pt x="904012" y="359854"/>
                  </a:lnTo>
                  <a:lnTo>
                    <a:pt x="869584" y="386575"/>
                  </a:lnTo>
                  <a:lnTo>
                    <a:pt x="835661" y="414136"/>
                  </a:lnTo>
                  <a:lnTo>
                    <a:pt x="802256" y="442524"/>
                  </a:lnTo>
                  <a:lnTo>
                    <a:pt x="769376" y="471726"/>
                  </a:lnTo>
                  <a:lnTo>
                    <a:pt x="737034" y="501732"/>
                  </a:lnTo>
                  <a:lnTo>
                    <a:pt x="705240" y="532528"/>
                  </a:lnTo>
                  <a:lnTo>
                    <a:pt x="674003" y="564102"/>
                  </a:lnTo>
                  <a:lnTo>
                    <a:pt x="643334" y="596442"/>
                  </a:lnTo>
                  <a:lnTo>
                    <a:pt x="613243" y="629535"/>
                  </a:lnTo>
                  <a:lnTo>
                    <a:pt x="583741" y="663369"/>
                  </a:lnTo>
                  <a:lnTo>
                    <a:pt x="554837" y="697933"/>
                  </a:lnTo>
                  <a:lnTo>
                    <a:pt x="526543" y="733213"/>
                  </a:lnTo>
                  <a:lnTo>
                    <a:pt x="498868" y="769198"/>
                  </a:lnTo>
                  <a:lnTo>
                    <a:pt x="471823" y="805874"/>
                  </a:lnTo>
                  <a:lnTo>
                    <a:pt x="445418" y="843231"/>
                  </a:lnTo>
                  <a:lnTo>
                    <a:pt x="419663" y="881255"/>
                  </a:lnTo>
                  <a:lnTo>
                    <a:pt x="394569" y="919934"/>
                  </a:lnTo>
                  <a:lnTo>
                    <a:pt x="370146" y="959257"/>
                  </a:lnTo>
                  <a:lnTo>
                    <a:pt x="346404" y="999210"/>
                  </a:lnTo>
                  <a:lnTo>
                    <a:pt x="323354" y="1039781"/>
                  </a:lnTo>
                  <a:lnTo>
                    <a:pt x="301005" y="1080959"/>
                  </a:lnTo>
                  <a:lnTo>
                    <a:pt x="279369" y="1122730"/>
                  </a:lnTo>
                  <a:lnTo>
                    <a:pt x="258454" y="1165083"/>
                  </a:lnTo>
                  <a:lnTo>
                    <a:pt x="238273" y="1208006"/>
                  </a:lnTo>
                  <a:lnTo>
                    <a:pt x="218834" y="1251485"/>
                  </a:lnTo>
                  <a:lnTo>
                    <a:pt x="200149" y="1295509"/>
                  </a:lnTo>
                  <a:lnTo>
                    <a:pt x="182227" y="1340066"/>
                  </a:lnTo>
                  <a:lnTo>
                    <a:pt x="165080" y="1385142"/>
                  </a:lnTo>
                  <a:lnTo>
                    <a:pt x="148716" y="1430727"/>
                  </a:lnTo>
                  <a:lnTo>
                    <a:pt x="133147" y="1476807"/>
                  </a:lnTo>
                  <a:lnTo>
                    <a:pt x="118382" y="1523371"/>
                  </a:lnTo>
                  <a:lnTo>
                    <a:pt x="104433" y="1570406"/>
                  </a:lnTo>
                  <a:lnTo>
                    <a:pt x="91309" y="1617899"/>
                  </a:lnTo>
                  <a:lnTo>
                    <a:pt x="79021" y="1665839"/>
                  </a:lnTo>
                  <a:lnTo>
                    <a:pt x="67578" y="1714213"/>
                  </a:lnTo>
                  <a:lnTo>
                    <a:pt x="56992" y="1763009"/>
                  </a:lnTo>
                  <a:lnTo>
                    <a:pt x="47272" y="1812215"/>
                  </a:lnTo>
                  <a:lnTo>
                    <a:pt x="38430" y="1861818"/>
                  </a:lnTo>
                  <a:lnTo>
                    <a:pt x="30474" y="1911806"/>
                  </a:lnTo>
                  <a:lnTo>
                    <a:pt x="23415" y="1962167"/>
                  </a:lnTo>
                  <a:lnTo>
                    <a:pt x="17265" y="2012888"/>
                  </a:lnTo>
                  <a:lnTo>
                    <a:pt x="12032" y="2063958"/>
                  </a:lnTo>
                  <a:lnTo>
                    <a:pt x="7728" y="2115363"/>
                  </a:lnTo>
                  <a:lnTo>
                    <a:pt x="4362" y="2167093"/>
                  </a:lnTo>
                  <a:lnTo>
                    <a:pt x="1945" y="2219133"/>
                  </a:lnTo>
                  <a:lnTo>
                    <a:pt x="488" y="2271473"/>
                  </a:lnTo>
                  <a:lnTo>
                    <a:pt x="0" y="2324100"/>
                  </a:lnTo>
                  <a:lnTo>
                    <a:pt x="488" y="2376726"/>
                  </a:lnTo>
                  <a:lnTo>
                    <a:pt x="1945" y="2429066"/>
                  </a:lnTo>
                  <a:lnTo>
                    <a:pt x="4362" y="2481106"/>
                  </a:lnTo>
                  <a:lnTo>
                    <a:pt x="7728" y="2532836"/>
                  </a:lnTo>
                  <a:lnTo>
                    <a:pt x="12032" y="2584241"/>
                  </a:lnTo>
                  <a:lnTo>
                    <a:pt x="17265" y="2635311"/>
                  </a:lnTo>
                  <a:lnTo>
                    <a:pt x="23415" y="2686032"/>
                  </a:lnTo>
                  <a:lnTo>
                    <a:pt x="30474" y="2736393"/>
                  </a:lnTo>
                  <a:lnTo>
                    <a:pt x="38430" y="2786381"/>
                  </a:lnTo>
                  <a:lnTo>
                    <a:pt x="47272" y="2835984"/>
                  </a:lnTo>
                  <a:lnTo>
                    <a:pt x="56992" y="2885190"/>
                  </a:lnTo>
                  <a:lnTo>
                    <a:pt x="67578" y="2933986"/>
                  </a:lnTo>
                  <a:lnTo>
                    <a:pt x="79021" y="2982360"/>
                  </a:lnTo>
                  <a:lnTo>
                    <a:pt x="91309" y="3030300"/>
                  </a:lnTo>
                  <a:lnTo>
                    <a:pt x="104433" y="3077793"/>
                  </a:lnTo>
                  <a:lnTo>
                    <a:pt x="118382" y="3124828"/>
                  </a:lnTo>
                  <a:lnTo>
                    <a:pt x="133147" y="3171392"/>
                  </a:lnTo>
                  <a:lnTo>
                    <a:pt x="148716" y="3217472"/>
                  </a:lnTo>
                  <a:lnTo>
                    <a:pt x="165080" y="3263057"/>
                  </a:lnTo>
                  <a:lnTo>
                    <a:pt x="182227" y="3308133"/>
                  </a:lnTo>
                  <a:lnTo>
                    <a:pt x="200149" y="3352690"/>
                  </a:lnTo>
                  <a:lnTo>
                    <a:pt x="218834" y="3396714"/>
                  </a:lnTo>
                  <a:lnTo>
                    <a:pt x="238273" y="3440193"/>
                  </a:lnTo>
                  <a:lnTo>
                    <a:pt x="258454" y="3483116"/>
                  </a:lnTo>
                  <a:lnTo>
                    <a:pt x="279369" y="3525469"/>
                  </a:lnTo>
                  <a:lnTo>
                    <a:pt x="301005" y="3567240"/>
                  </a:lnTo>
                  <a:lnTo>
                    <a:pt x="323354" y="3608418"/>
                  </a:lnTo>
                  <a:lnTo>
                    <a:pt x="346404" y="3648989"/>
                  </a:lnTo>
                  <a:lnTo>
                    <a:pt x="370146" y="3688942"/>
                  </a:lnTo>
                  <a:lnTo>
                    <a:pt x="394569" y="3728265"/>
                  </a:lnTo>
                  <a:lnTo>
                    <a:pt x="419663" y="3766944"/>
                  </a:lnTo>
                  <a:lnTo>
                    <a:pt x="445418" y="3804968"/>
                  </a:lnTo>
                  <a:lnTo>
                    <a:pt x="471823" y="3842325"/>
                  </a:lnTo>
                  <a:lnTo>
                    <a:pt x="498868" y="3879001"/>
                  </a:lnTo>
                  <a:lnTo>
                    <a:pt x="526543" y="3914986"/>
                  </a:lnTo>
                  <a:lnTo>
                    <a:pt x="554837" y="3950266"/>
                  </a:lnTo>
                  <a:lnTo>
                    <a:pt x="583741" y="3984830"/>
                  </a:lnTo>
                  <a:lnTo>
                    <a:pt x="613243" y="4018664"/>
                  </a:lnTo>
                  <a:lnTo>
                    <a:pt x="643334" y="4051757"/>
                  </a:lnTo>
                  <a:lnTo>
                    <a:pt x="674003" y="4084097"/>
                  </a:lnTo>
                  <a:lnTo>
                    <a:pt x="705240" y="4115671"/>
                  </a:lnTo>
                  <a:lnTo>
                    <a:pt x="737034" y="4146467"/>
                  </a:lnTo>
                  <a:lnTo>
                    <a:pt x="769376" y="4176473"/>
                  </a:lnTo>
                  <a:lnTo>
                    <a:pt x="802256" y="4205675"/>
                  </a:lnTo>
                  <a:lnTo>
                    <a:pt x="835661" y="4234063"/>
                  </a:lnTo>
                  <a:lnTo>
                    <a:pt x="869584" y="4261624"/>
                  </a:lnTo>
                  <a:lnTo>
                    <a:pt x="904012" y="4288345"/>
                  </a:lnTo>
                  <a:lnTo>
                    <a:pt x="938937" y="4314215"/>
                  </a:lnTo>
                  <a:lnTo>
                    <a:pt x="974347" y="4339220"/>
                  </a:lnTo>
                  <a:lnTo>
                    <a:pt x="1010232" y="4363349"/>
                  </a:lnTo>
                  <a:lnTo>
                    <a:pt x="1046583" y="4386590"/>
                  </a:lnTo>
                  <a:lnTo>
                    <a:pt x="1083388" y="4408929"/>
                  </a:lnTo>
                  <a:lnTo>
                    <a:pt x="1120637" y="4430355"/>
                  </a:lnTo>
                  <a:lnTo>
                    <a:pt x="1158321" y="4450856"/>
                  </a:lnTo>
                  <a:lnTo>
                    <a:pt x="1196428" y="4470419"/>
                  </a:lnTo>
                  <a:lnTo>
                    <a:pt x="1234949" y="4489032"/>
                  </a:lnTo>
                  <a:lnTo>
                    <a:pt x="1273873" y="4506683"/>
                  </a:lnTo>
                  <a:lnTo>
                    <a:pt x="1313190" y="4523359"/>
                  </a:lnTo>
                  <a:lnTo>
                    <a:pt x="1352890" y="4539049"/>
                  </a:lnTo>
                  <a:lnTo>
                    <a:pt x="1392962" y="4553739"/>
                  </a:lnTo>
                  <a:lnTo>
                    <a:pt x="1433397" y="4567418"/>
                  </a:lnTo>
                  <a:lnTo>
                    <a:pt x="1474183" y="4580073"/>
                  </a:lnTo>
                  <a:lnTo>
                    <a:pt x="1515310" y="4591692"/>
                  </a:lnTo>
                  <a:lnTo>
                    <a:pt x="1556769" y="4602262"/>
                  </a:lnTo>
                  <a:lnTo>
                    <a:pt x="1598548" y="4611772"/>
                  </a:lnTo>
                  <a:lnTo>
                    <a:pt x="1640638" y="4620210"/>
                  </a:lnTo>
                  <a:lnTo>
                    <a:pt x="1683028" y="4627562"/>
                  </a:lnTo>
                  <a:lnTo>
                    <a:pt x="1725709" y="4633817"/>
                  </a:lnTo>
                  <a:lnTo>
                    <a:pt x="1768669" y="4638962"/>
                  </a:lnTo>
                  <a:lnTo>
                    <a:pt x="1811898" y="4642985"/>
                  </a:lnTo>
                  <a:lnTo>
                    <a:pt x="1855386" y="4645874"/>
                  </a:lnTo>
                  <a:lnTo>
                    <a:pt x="1899124" y="4647616"/>
                  </a:lnTo>
                  <a:lnTo>
                    <a:pt x="1943100" y="4648200"/>
                  </a:lnTo>
                  <a:lnTo>
                    <a:pt x="1987075" y="4647616"/>
                  </a:lnTo>
                  <a:lnTo>
                    <a:pt x="2030813" y="4645874"/>
                  </a:lnTo>
                  <a:lnTo>
                    <a:pt x="2074301" y="4642985"/>
                  </a:lnTo>
                  <a:lnTo>
                    <a:pt x="2117530" y="4638962"/>
                  </a:lnTo>
                  <a:lnTo>
                    <a:pt x="2160490" y="4633817"/>
                  </a:lnTo>
                  <a:lnTo>
                    <a:pt x="2203171" y="4627562"/>
                  </a:lnTo>
                  <a:lnTo>
                    <a:pt x="2245561" y="4620210"/>
                  </a:lnTo>
                  <a:lnTo>
                    <a:pt x="2287651" y="4611772"/>
                  </a:lnTo>
                  <a:lnTo>
                    <a:pt x="2329430" y="4602262"/>
                  </a:lnTo>
                  <a:lnTo>
                    <a:pt x="2370889" y="4591692"/>
                  </a:lnTo>
                  <a:lnTo>
                    <a:pt x="2412016" y="4580073"/>
                  </a:lnTo>
                  <a:lnTo>
                    <a:pt x="2452802" y="4567418"/>
                  </a:lnTo>
                  <a:lnTo>
                    <a:pt x="2493237" y="4553739"/>
                  </a:lnTo>
                  <a:lnTo>
                    <a:pt x="2533309" y="4539049"/>
                  </a:lnTo>
                  <a:lnTo>
                    <a:pt x="2573009" y="4523359"/>
                  </a:lnTo>
                  <a:lnTo>
                    <a:pt x="2612326" y="4506683"/>
                  </a:lnTo>
                  <a:lnTo>
                    <a:pt x="2651250" y="4489032"/>
                  </a:lnTo>
                  <a:lnTo>
                    <a:pt x="2689771" y="4470419"/>
                  </a:lnTo>
                  <a:lnTo>
                    <a:pt x="2727878" y="4450856"/>
                  </a:lnTo>
                  <a:lnTo>
                    <a:pt x="2765562" y="4430355"/>
                  </a:lnTo>
                  <a:lnTo>
                    <a:pt x="2802811" y="4408929"/>
                  </a:lnTo>
                  <a:lnTo>
                    <a:pt x="2839616" y="4386590"/>
                  </a:lnTo>
                  <a:lnTo>
                    <a:pt x="2875967" y="4363349"/>
                  </a:lnTo>
                  <a:lnTo>
                    <a:pt x="2911852" y="4339220"/>
                  </a:lnTo>
                  <a:lnTo>
                    <a:pt x="2947262" y="4314215"/>
                  </a:lnTo>
                  <a:lnTo>
                    <a:pt x="2982187" y="4288345"/>
                  </a:lnTo>
                  <a:lnTo>
                    <a:pt x="3016615" y="4261624"/>
                  </a:lnTo>
                  <a:lnTo>
                    <a:pt x="3050538" y="4234063"/>
                  </a:lnTo>
                  <a:lnTo>
                    <a:pt x="3083943" y="4205675"/>
                  </a:lnTo>
                  <a:lnTo>
                    <a:pt x="3116823" y="4176473"/>
                  </a:lnTo>
                  <a:lnTo>
                    <a:pt x="3149165" y="4146467"/>
                  </a:lnTo>
                  <a:lnTo>
                    <a:pt x="3180959" y="4115671"/>
                  </a:lnTo>
                  <a:lnTo>
                    <a:pt x="3212196" y="4084097"/>
                  </a:lnTo>
                  <a:lnTo>
                    <a:pt x="3242865" y="4051757"/>
                  </a:lnTo>
                  <a:lnTo>
                    <a:pt x="3272956" y="4018664"/>
                  </a:lnTo>
                  <a:lnTo>
                    <a:pt x="3302458" y="3984830"/>
                  </a:lnTo>
                  <a:lnTo>
                    <a:pt x="3331362" y="3950266"/>
                  </a:lnTo>
                  <a:lnTo>
                    <a:pt x="3359656" y="3914986"/>
                  </a:lnTo>
                  <a:lnTo>
                    <a:pt x="3387331" y="3879001"/>
                  </a:lnTo>
                  <a:lnTo>
                    <a:pt x="3414376" y="3842325"/>
                  </a:lnTo>
                  <a:lnTo>
                    <a:pt x="3440781" y="3804968"/>
                  </a:lnTo>
                  <a:lnTo>
                    <a:pt x="3466536" y="3766944"/>
                  </a:lnTo>
                  <a:lnTo>
                    <a:pt x="3491630" y="3728265"/>
                  </a:lnTo>
                  <a:lnTo>
                    <a:pt x="3516053" y="3688942"/>
                  </a:lnTo>
                  <a:lnTo>
                    <a:pt x="3539795" y="3648989"/>
                  </a:lnTo>
                  <a:lnTo>
                    <a:pt x="3562845" y="3608418"/>
                  </a:lnTo>
                  <a:lnTo>
                    <a:pt x="3585194" y="3567240"/>
                  </a:lnTo>
                  <a:lnTo>
                    <a:pt x="3606830" y="3525469"/>
                  </a:lnTo>
                  <a:lnTo>
                    <a:pt x="3627745" y="3483116"/>
                  </a:lnTo>
                  <a:lnTo>
                    <a:pt x="3647926" y="3440193"/>
                  </a:lnTo>
                  <a:lnTo>
                    <a:pt x="3667365" y="3396714"/>
                  </a:lnTo>
                  <a:lnTo>
                    <a:pt x="3686050" y="3352690"/>
                  </a:lnTo>
                  <a:lnTo>
                    <a:pt x="3703972" y="3308133"/>
                  </a:lnTo>
                  <a:lnTo>
                    <a:pt x="3721119" y="3263057"/>
                  </a:lnTo>
                  <a:lnTo>
                    <a:pt x="3737483" y="3217472"/>
                  </a:lnTo>
                  <a:lnTo>
                    <a:pt x="3753052" y="3171392"/>
                  </a:lnTo>
                  <a:lnTo>
                    <a:pt x="3767817" y="3124828"/>
                  </a:lnTo>
                  <a:lnTo>
                    <a:pt x="3781766" y="3077793"/>
                  </a:lnTo>
                  <a:lnTo>
                    <a:pt x="3794890" y="3030300"/>
                  </a:lnTo>
                  <a:lnTo>
                    <a:pt x="3807178" y="2982360"/>
                  </a:lnTo>
                  <a:lnTo>
                    <a:pt x="3818621" y="2933986"/>
                  </a:lnTo>
                  <a:lnTo>
                    <a:pt x="3829207" y="2885190"/>
                  </a:lnTo>
                  <a:lnTo>
                    <a:pt x="3838927" y="2835984"/>
                  </a:lnTo>
                  <a:lnTo>
                    <a:pt x="3847769" y="2786381"/>
                  </a:lnTo>
                  <a:lnTo>
                    <a:pt x="3855725" y="2736393"/>
                  </a:lnTo>
                  <a:lnTo>
                    <a:pt x="3862784" y="2686032"/>
                  </a:lnTo>
                  <a:lnTo>
                    <a:pt x="3868934" y="2635311"/>
                  </a:lnTo>
                  <a:lnTo>
                    <a:pt x="3874167" y="2584241"/>
                  </a:lnTo>
                  <a:lnTo>
                    <a:pt x="3878471" y="2532836"/>
                  </a:lnTo>
                  <a:lnTo>
                    <a:pt x="3881837" y="2481106"/>
                  </a:lnTo>
                  <a:lnTo>
                    <a:pt x="3884254" y="2429066"/>
                  </a:lnTo>
                  <a:lnTo>
                    <a:pt x="3885711" y="2376726"/>
                  </a:lnTo>
                  <a:lnTo>
                    <a:pt x="3886200" y="2324100"/>
                  </a:lnTo>
                  <a:lnTo>
                    <a:pt x="3885711" y="2271473"/>
                  </a:lnTo>
                  <a:lnTo>
                    <a:pt x="3884254" y="2219133"/>
                  </a:lnTo>
                  <a:lnTo>
                    <a:pt x="3881837" y="2167093"/>
                  </a:lnTo>
                  <a:lnTo>
                    <a:pt x="3878471" y="2115363"/>
                  </a:lnTo>
                  <a:lnTo>
                    <a:pt x="3874167" y="2063958"/>
                  </a:lnTo>
                  <a:lnTo>
                    <a:pt x="3868934" y="2012888"/>
                  </a:lnTo>
                  <a:lnTo>
                    <a:pt x="3862784" y="1962167"/>
                  </a:lnTo>
                  <a:lnTo>
                    <a:pt x="3855725" y="1911806"/>
                  </a:lnTo>
                  <a:lnTo>
                    <a:pt x="3847769" y="1861818"/>
                  </a:lnTo>
                  <a:lnTo>
                    <a:pt x="3838927" y="1812215"/>
                  </a:lnTo>
                  <a:lnTo>
                    <a:pt x="3829207" y="1763009"/>
                  </a:lnTo>
                  <a:lnTo>
                    <a:pt x="3818621" y="1714213"/>
                  </a:lnTo>
                  <a:lnTo>
                    <a:pt x="3807178" y="1665839"/>
                  </a:lnTo>
                  <a:lnTo>
                    <a:pt x="3794890" y="1617899"/>
                  </a:lnTo>
                  <a:lnTo>
                    <a:pt x="3781766" y="1570406"/>
                  </a:lnTo>
                  <a:lnTo>
                    <a:pt x="3767817" y="1523371"/>
                  </a:lnTo>
                  <a:lnTo>
                    <a:pt x="3753052" y="1476807"/>
                  </a:lnTo>
                  <a:lnTo>
                    <a:pt x="3737483" y="1430727"/>
                  </a:lnTo>
                  <a:lnTo>
                    <a:pt x="3721119" y="1385142"/>
                  </a:lnTo>
                  <a:lnTo>
                    <a:pt x="3703972" y="1340066"/>
                  </a:lnTo>
                  <a:lnTo>
                    <a:pt x="3686050" y="1295509"/>
                  </a:lnTo>
                  <a:lnTo>
                    <a:pt x="3667365" y="1251485"/>
                  </a:lnTo>
                  <a:lnTo>
                    <a:pt x="3647926" y="1208006"/>
                  </a:lnTo>
                  <a:lnTo>
                    <a:pt x="3627745" y="1165083"/>
                  </a:lnTo>
                  <a:lnTo>
                    <a:pt x="3606830" y="1122730"/>
                  </a:lnTo>
                  <a:lnTo>
                    <a:pt x="3585194" y="1080959"/>
                  </a:lnTo>
                  <a:lnTo>
                    <a:pt x="3562845" y="1039781"/>
                  </a:lnTo>
                  <a:lnTo>
                    <a:pt x="3539795" y="999210"/>
                  </a:lnTo>
                  <a:lnTo>
                    <a:pt x="3516053" y="959257"/>
                  </a:lnTo>
                  <a:lnTo>
                    <a:pt x="3491630" y="919934"/>
                  </a:lnTo>
                  <a:lnTo>
                    <a:pt x="3466536" y="881255"/>
                  </a:lnTo>
                  <a:lnTo>
                    <a:pt x="3440781" y="843231"/>
                  </a:lnTo>
                  <a:lnTo>
                    <a:pt x="3414376" y="805874"/>
                  </a:lnTo>
                  <a:lnTo>
                    <a:pt x="3387331" y="769198"/>
                  </a:lnTo>
                  <a:lnTo>
                    <a:pt x="3359656" y="733213"/>
                  </a:lnTo>
                  <a:lnTo>
                    <a:pt x="3331362" y="697933"/>
                  </a:lnTo>
                  <a:lnTo>
                    <a:pt x="3302458" y="663369"/>
                  </a:lnTo>
                  <a:lnTo>
                    <a:pt x="3272956" y="629535"/>
                  </a:lnTo>
                  <a:lnTo>
                    <a:pt x="3242865" y="596442"/>
                  </a:lnTo>
                  <a:lnTo>
                    <a:pt x="3212196" y="564102"/>
                  </a:lnTo>
                  <a:lnTo>
                    <a:pt x="3180959" y="532528"/>
                  </a:lnTo>
                  <a:lnTo>
                    <a:pt x="3149165" y="501732"/>
                  </a:lnTo>
                  <a:lnTo>
                    <a:pt x="3116823" y="471726"/>
                  </a:lnTo>
                  <a:lnTo>
                    <a:pt x="3083943" y="442524"/>
                  </a:lnTo>
                  <a:lnTo>
                    <a:pt x="3050538" y="414136"/>
                  </a:lnTo>
                  <a:lnTo>
                    <a:pt x="3016615" y="386575"/>
                  </a:lnTo>
                  <a:lnTo>
                    <a:pt x="2982187" y="359854"/>
                  </a:lnTo>
                  <a:lnTo>
                    <a:pt x="2947262" y="333984"/>
                  </a:lnTo>
                  <a:lnTo>
                    <a:pt x="2911852" y="308979"/>
                  </a:lnTo>
                  <a:lnTo>
                    <a:pt x="2875967" y="284850"/>
                  </a:lnTo>
                  <a:lnTo>
                    <a:pt x="2839616" y="261609"/>
                  </a:lnTo>
                  <a:lnTo>
                    <a:pt x="2802811" y="239270"/>
                  </a:lnTo>
                  <a:lnTo>
                    <a:pt x="2765562" y="217844"/>
                  </a:lnTo>
                  <a:lnTo>
                    <a:pt x="2727878" y="197343"/>
                  </a:lnTo>
                  <a:lnTo>
                    <a:pt x="2689771" y="177780"/>
                  </a:lnTo>
                  <a:lnTo>
                    <a:pt x="2651250" y="159167"/>
                  </a:lnTo>
                  <a:lnTo>
                    <a:pt x="2612326" y="141516"/>
                  </a:lnTo>
                  <a:lnTo>
                    <a:pt x="2573009" y="124840"/>
                  </a:lnTo>
                  <a:lnTo>
                    <a:pt x="2533309" y="109150"/>
                  </a:lnTo>
                  <a:lnTo>
                    <a:pt x="2493237" y="94460"/>
                  </a:lnTo>
                  <a:lnTo>
                    <a:pt x="2452802" y="80781"/>
                  </a:lnTo>
                  <a:lnTo>
                    <a:pt x="2412016" y="68126"/>
                  </a:lnTo>
                  <a:lnTo>
                    <a:pt x="2370889" y="56507"/>
                  </a:lnTo>
                  <a:lnTo>
                    <a:pt x="2329430" y="45937"/>
                  </a:lnTo>
                  <a:lnTo>
                    <a:pt x="2287651" y="36427"/>
                  </a:lnTo>
                  <a:lnTo>
                    <a:pt x="2245561" y="27989"/>
                  </a:lnTo>
                  <a:lnTo>
                    <a:pt x="2203171" y="20637"/>
                  </a:lnTo>
                  <a:lnTo>
                    <a:pt x="2160490" y="14382"/>
                  </a:lnTo>
                  <a:lnTo>
                    <a:pt x="2117530" y="9237"/>
                  </a:lnTo>
                  <a:lnTo>
                    <a:pt x="2074301" y="5214"/>
                  </a:lnTo>
                  <a:lnTo>
                    <a:pt x="2030813" y="2325"/>
                  </a:lnTo>
                  <a:lnTo>
                    <a:pt x="1987075" y="583"/>
                  </a:lnTo>
                  <a:lnTo>
                    <a:pt x="1943100" y="0"/>
                  </a:lnTo>
                  <a:close/>
                </a:path>
              </a:pathLst>
            </a:custGeom>
            <a:ln w="57150">
              <a:solidFill>
                <a:srgbClr val="FFFFFF"/>
              </a:solidFill>
            </a:ln>
          </p:spPr>
          <p:txBody>
            <a:bodyPr wrap="square" lIns="0" tIns="0" rIns="0" bIns="0" rtlCol="0"/>
            <a:lstStyle/>
            <a:p>
              <a:endParaRPr sz="1590"/>
            </a:p>
          </p:txBody>
        </p:sp>
      </p:grpSp>
      <p:sp>
        <p:nvSpPr>
          <p:cNvPr id="6" name="object 6"/>
          <p:cNvSpPr txBox="1"/>
          <p:nvPr/>
        </p:nvSpPr>
        <p:spPr>
          <a:xfrm>
            <a:off x="1613647" y="2084294"/>
            <a:ext cx="1210235" cy="527901"/>
          </a:xfrm>
          <a:prstGeom prst="rect">
            <a:avLst/>
          </a:prstGeom>
          <a:solidFill>
            <a:srgbClr val="00FFFF"/>
          </a:solidFill>
          <a:ln w="9525">
            <a:solidFill>
              <a:srgbClr val="000000"/>
            </a:solidFill>
          </a:ln>
        </p:spPr>
        <p:txBody>
          <a:bodyPr vert="horz" wrap="square" lIns="0" tIns="200025" rIns="0" bIns="0" rtlCol="0">
            <a:spAutoFit/>
          </a:bodyPr>
          <a:lstStyle/>
          <a:p>
            <a:pPr algn="ctr">
              <a:spcBef>
                <a:spcPts val="1575"/>
              </a:spcBef>
            </a:pPr>
            <a:r>
              <a:rPr sz="2120" spc="-4" dirty="0">
                <a:latin typeface="Arial" panose="020B0604020202020204"/>
                <a:cs typeface="Arial" panose="020B0604020202020204"/>
              </a:rPr>
              <a:t>1</a:t>
            </a:r>
            <a:endParaRPr sz="2120">
              <a:latin typeface="Arial" panose="020B0604020202020204"/>
              <a:cs typeface="Arial" panose="020B0604020202020204"/>
            </a:endParaRPr>
          </a:p>
        </p:txBody>
      </p:sp>
      <p:sp>
        <p:nvSpPr>
          <p:cNvPr id="7" name="object 7"/>
          <p:cNvSpPr txBox="1"/>
          <p:nvPr/>
        </p:nvSpPr>
        <p:spPr>
          <a:xfrm>
            <a:off x="1479176" y="3227294"/>
            <a:ext cx="1344706" cy="784751"/>
          </a:xfrm>
          <a:prstGeom prst="rect">
            <a:avLst/>
          </a:prstGeom>
          <a:solidFill>
            <a:srgbClr val="FF00FF"/>
          </a:solidFill>
          <a:ln w="9525">
            <a:solidFill>
              <a:srgbClr val="000000"/>
            </a:solidFill>
          </a:ln>
        </p:spPr>
        <p:txBody>
          <a:bodyPr vert="horz" wrap="square" lIns="0" tIns="3922" rIns="0" bIns="0" rtlCol="0">
            <a:spAutoFit/>
          </a:bodyPr>
          <a:lstStyle/>
          <a:p>
            <a:pPr>
              <a:spcBef>
                <a:spcPts val="30"/>
              </a:spcBef>
            </a:pPr>
            <a:endParaRPr sz="2955">
              <a:latin typeface="Times New Roman" panose="02020603050405020304"/>
              <a:cs typeface="Times New Roman" panose="02020603050405020304"/>
            </a:endParaRPr>
          </a:p>
          <a:p>
            <a:pPr algn="ctr">
              <a:lnSpc>
                <a:spcPct val="100000"/>
              </a:lnSpc>
            </a:pPr>
            <a:r>
              <a:rPr sz="2120" spc="-4" dirty="0">
                <a:latin typeface="Arial" panose="020B0604020202020204"/>
                <a:cs typeface="Arial" panose="020B0604020202020204"/>
              </a:rPr>
              <a:t>3</a:t>
            </a:r>
            <a:endParaRPr sz="2120">
              <a:latin typeface="Arial" panose="020B0604020202020204"/>
              <a:cs typeface="Arial" panose="020B0604020202020204"/>
            </a:endParaRPr>
          </a:p>
        </p:txBody>
      </p:sp>
      <p:sp>
        <p:nvSpPr>
          <p:cNvPr id="8" name="object 8"/>
          <p:cNvSpPr/>
          <p:nvPr/>
        </p:nvSpPr>
        <p:spPr>
          <a:xfrm>
            <a:off x="3160059" y="2756647"/>
            <a:ext cx="941294" cy="537882"/>
          </a:xfrm>
          <a:prstGeom prst="rect">
            <a:avLst/>
          </a:prstGeom>
          <a:blipFill>
            <a:blip r:embed="rId1" cstate="print"/>
            <a:stretch>
              <a:fillRect/>
            </a:stretch>
          </a:blipFill>
        </p:spPr>
        <p:txBody>
          <a:bodyPr wrap="square" lIns="0" tIns="0" rIns="0" bIns="0" rtlCol="0"/>
          <a:lstStyle/>
          <a:p>
            <a:endParaRPr sz="1590"/>
          </a:p>
        </p:txBody>
      </p:sp>
      <p:sp>
        <p:nvSpPr>
          <p:cNvPr id="9" name="object 9"/>
          <p:cNvSpPr txBox="1"/>
          <p:nvPr/>
        </p:nvSpPr>
        <p:spPr>
          <a:xfrm>
            <a:off x="3160059" y="2756647"/>
            <a:ext cx="941294" cy="426064"/>
          </a:xfrm>
          <a:prstGeom prst="rect">
            <a:avLst/>
          </a:prstGeom>
          <a:ln w="9525">
            <a:solidFill>
              <a:srgbClr val="000000"/>
            </a:solidFill>
          </a:ln>
        </p:spPr>
        <p:txBody>
          <a:bodyPr vert="horz" wrap="square" lIns="0" tIns="99172" rIns="0" bIns="0" rtlCol="0">
            <a:spAutoFit/>
          </a:bodyPr>
          <a:lstStyle/>
          <a:p>
            <a:pPr algn="ctr">
              <a:spcBef>
                <a:spcPts val="780"/>
              </a:spcBef>
            </a:pPr>
            <a:r>
              <a:rPr sz="2120" spc="-4" dirty="0">
                <a:latin typeface="Arial" panose="020B0604020202020204"/>
                <a:cs typeface="Arial" panose="020B0604020202020204"/>
              </a:rPr>
              <a:t>2</a:t>
            </a:r>
            <a:endParaRPr sz="2120">
              <a:latin typeface="Arial" panose="020B0604020202020204"/>
              <a:cs typeface="Arial" panose="020B0604020202020204"/>
            </a:endParaRPr>
          </a:p>
        </p:txBody>
      </p:sp>
      <p:sp>
        <p:nvSpPr>
          <p:cNvPr id="10" name="object 10"/>
          <p:cNvSpPr txBox="1"/>
          <p:nvPr/>
        </p:nvSpPr>
        <p:spPr>
          <a:xfrm>
            <a:off x="2958353" y="3496236"/>
            <a:ext cx="1075765" cy="678395"/>
          </a:xfrm>
          <a:prstGeom prst="rect">
            <a:avLst/>
          </a:prstGeom>
          <a:solidFill>
            <a:srgbClr val="0099CC"/>
          </a:solidFill>
          <a:ln w="9525">
            <a:solidFill>
              <a:srgbClr val="000000"/>
            </a:solidFill>
          </a:ln>
        </p:spPr>
        <p:txBody>
          <a:bodyPr vert="horz" wrap="square" lIns="0" tIns="6163" rIns="0" bIns="0" rtlCol="0">
            <a:spAutoFit/>
          </a:bodyPr>
          <a:lstStyle/>
          <a:p>
            <a:pPr>
              <a:spcBef>
                <a:spcPts val="50"/>
              </a:spcBef>
            </a:pPr>
            <a:endParaRPr sz="2250">
              <a:latin typeface="Times New Roman" panose="02020603050405020304"/>
              <a:cs typeface="Times New Roman" panose="02020603050405020304"/>
            </a:endParaRPr>
          </a:p>
          <a:p>
            <a:pPr algn="ctr">
              <a:lnSpc>
                <a:spcPct val="100000"/>
              </a:lnSpc>
            </a:pPr>
            <a:r>
              <a:rPr sz="2120" spc="-4" dirty="0">
                <a:latin typeface="Arial" panose="020B0604020202020204"/>
                <a:cs typeface="Arial" panose="020B0604020202020204"/>
              </a:rPr>
              <a:t>4</a:t>
            </a:r>
            <a:endParaRPr sz="2120">
              <a:latin typeface="Arial" panose="020B0604020202020204"/>
              <a:cs typeface="Arial" panose="020B0604020202020204"/>
            </a:endParaRPr>
          </a:p>
        </p:txBody>
      </p:sp>
      <p:sp>
        <p:nvSpPr>
          <p:cNvPr id="11" name="object 11"/>
          <p:cNvSpPr/>
          <p:nvPr/>
        </p:nvSpPr>
        <p:spPr>
          <a:xfrm>
            <a:off x="1949824" y="4706470"/>
            <a:ext cx="1680881" cy="403412"/>
          </a:xfrm>
          <a:prstGeom prst="rect">
            <a:avLst/>
          </a:prstGeom>
          <a:blipFill>
            <a:blip r:embed="rId2" cstate="print"/>
            <a:stretch>
              <a:fillRect/>
            </a:stretch>
          </a:blipFill>
        </p:spPr>
        <p:txBody>
          <a:bodyPr wrap="square" lIns="0" tIns="0" rIns="0" bIns="0" rtlCol="0"/>
          <a:lstStyle/>
          <a:p>
            <a:endParaRPr sz="1590"/>
          </a:p>
        </p:txBody>
      </p:sp>
      <p:sp>
        <p:nvSpPr>
          <p:cNvPr id="12" name="object 12"/>
          <p:cNvSpPr txBox="1"/>
          <p:nvPr/>
        </p:nvSpPr>
        <p:spPr>
          <a:xfrm>
            <a:off x="1949824" y="4706471"/>
            <a:ext cx="1680882" cy="358172"/>
          </a:xfrm>
          <a:prstGeom prst="rect">
            <a:avLst/>
          </a:prstGeom>
          <a:ln w="9525">
            <a:solidFill>
              <a:srgbClr val="000000"/>
            </a:solidFill>
          </a:ln>
        </p:spPr>
        <p:txBody>
          <a:bodyPr vert="horz" wrap="square" lIns="0" tIns="31937" rIns="0" bIns="0" rtlCol="0">
            <a:spAutoFit/>
          </a:bodyPr>
          <a:lstStyle/>
          <a:p>
            <a:pPr algn="ctr">
              <a:spcBef>
                <a:spcPts val="250"/>
              </a:spcBef>
            </a:pPr>
            <a:r>
              <a:rPr sz="2120" spc="-4" dirty="0">
                <a:solidFill>
                  <a:srgbClr val="FFFF65"/>
                </a:solidFill>
                <a:latin typeface="Arial" panose="020B0604020202020204"/>
                <a:cs typeface="Arial" panose="020B0604020202020204"/>
              </a:rPr>
              <a:t>5</a:t>
            </a:r>
            <a:endParaRPr sz="2120">
              <a:latin typeface="Arial" panose="020B0604020202020204"/>
              <a:cs typeface="Arial" panose="020B0604020202020204"/>
            </a:endParaRPr>
          </a:p>
        </p:txBody>
      </p:sp>
      <p:grpSp>
        <p:nvGrpSpPr>
          <p:cNvPr id="13" name="object 13"/>
          <p:cNvGrpSpPr/>
          <p:nvPr/>
        </p:nvGrpSpPr>
        <p:grpSpPr>
          <a:xfrm>
            <a:off x="5555316" y="1521199"/>
            <a:ext cx="2067485" cy="4286250"/>
            <a:chOff x="6143625" y="1724025"/>
            <a:chExt cx="2343150" cy="4857750"/>
          </a:xfrm>
        </p:grpSpPr>
        <p:sp>
          <p:nvSpPr>
            <p:cNvPr id="14" name="object 14"/>
            <p:cNvSpPr/>
            <p:nvPr/>
          </p:nvSpPr>
          <p:spPr>
            <a:xfrm>
              <a:off x="6172200" y="1752600"/>
              <a:ext cx="2286000" cy="4800600"/>
            </a:xfrm>
            <a:custGeom>
              <a:avLst/>
              <a:gdLst/>
              <a:ahLst/>
              <a:cxnLst/>
              <a:rect l="l" t="t" r="r" b="b"/>
              <a:pathLst>
                <a:path w="2286000" h="4800600">
                  <a:moveTo>
                    <a:pt x="2286000" y="4800600"/>
                  </a:moveTo>
                  <a:lnTo>
                    <a:pt x="2286000" y="0"/>
                  </a:lnTo>
                  <a:lnTo>
                    <a:pt x="0" y="0"/>
                  </a:lnTo>
                  <a:lnTo>
                    <a:pt x="0" y="4800600"/>
                  </a:lnTo>
                  <a:lnTo>
                    <a:pt x="2286000" y="4800600"/>
                  </a:lnTo>
                  <a:close/>
                </a:path>
              </a:pathLst>
            </a:custGeom>
            <a:solidFill>
              <a:srgbClr val="00FF00"/>
            </a:solidFill>
          </p:spPr>
          <p:txBody>
            <a:bodyPr wrap="square" lIns="0" tIns="0" rIns="0" bIns="0" rtlCol="0"/>
            <a:lstStyle/>
            <a:p>
              <a:endParaRPr sz="1590"/>
            </a:p>
          </p:txBody>
        </p:sp>
        <p:sp>
          <p:nvSpPr>
            <p:cNvPr id="15" name="object 15"/>
            <p:cNvSpPr/>
            <p:nvPr/>
          </p:nvSpPr>
          <p:spPr>
            <a:xfrm>
              <a:off x="6172200" y="1752600"/>
              <a:ext cx="2286000" cy="4800600"/>
            </a:xfrm>
            <a:custGeom>
              <a:avLst/>
              <a:gdLst/>
              <a:ahLst/>
              <a:cxnLst/>
              <a:rect l="l" t="t" r="r" b="b"/>
              <a:pathLst>
                <a:path w="2286000" h="4800600">
                  <a:moveTo>
                    <a:pt x="0" y="4800600"/>
                  </a:moveTo>
                  <a:lnTo>
                    <a:pt x="0" y="0"/>
                  </a:lnTo>
                  <a:lnTo>
                    <a:pt x="2286000" y="0"/>
                  </a:lnTo>
                  <a:lnTo>
                    <a:pt x="2286000" y="4800600"/>
                  </a:lnTo>
                  <a:lnTo>
                    <a:pt x="0" y="4800600"/>
                  </a:lnTo>
                  <a:close/>
                </a:path>
              </a:pathLst>
            </a:custGeom>
            <a:ln w="57150">
              <a:solidFill>
                <a:srgbClr val="FFFFFF"/>
              </a:solidFill>
            </a:ln>
          </p:spPr>
          <p:txBody>
            <a:bodyPr wrap="square" lIns="0" tIns="0" rIns="0" bIns="0" rtlCol="0"/>
            <a:lstStyle/>
            <a:p>
              <a:endParaRPr sz="1590"/>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442" y="474905"/>
            <a:ext cx="2328358"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grpSp>
        <p:nvGrpSpPr>
          <p:cNvPr id="3" name="object 3"/>
          <p:cNvGrpSpPr/>
          <p:nvPr/>
        </p:nvGrpSpPr>
        <p:grpSpPr>
          <a:xfrm>
            <a:off x="1050552" y="1453963"/>
            <a:ext cx="3479426" cy="4151779"/>
            <a:chOff x="1038225" y="1647825"/>
            <a:chExt cx="3943350" cy="4705350"/>
          </a:xfrm>
        </p:grpSpPr>
        <p:sp>
          <p:nvSpPr>
            <p:cNvPr id="4" name="object 4"/>
            <p:cNvSpPr/>
            <p:nvPr/>
          </p:nvSpPr>
          <p:spPr>
            <a:xfrm>
              <a:off x="1066800" y="1676400"/>
              <a:ext cx="3886200" cy="4648200"/>
            </a:xfrm>
            <a:custGeom>
              <a:avLst/>
              <a:gdLst/>
              <a:ahLst/>
              <a:cxnLst/>
              <a:rect l="l" t="t" r="r" b="b"/>
              <a:pathLst>
                <a:path w="3886200" h="4648200">
                  <a:moveTo>
                    <a:pt x="3886200" y="2324100"/>
                  </a:moveTo>
                  <a:lnTo>
                    <a:pt x="3885711" y="2271473"/>
                  </a:lnTo>
                  <a:lnTo>
                    <a:pt x="3884254" y="2219133"/>
                  </a:lnTo>
                  <a:lnTo>
                    <a:pt x="3881837" y="2167093"/>
                  </a:lnTo>
                  <a:lnTo>
                    <a:pt x="3878471" y="2115363"/>
                  </a:lnTo>
                  <a:lnTo>
                    <a:pt x="3874167" y="2063958"/>
                  </a:lnTo>
                  <a:lnTo>
                    <a:pt x="3868934" y="2012888"/>
                  </a:lnTo>
                  <a:lnTo>
                    <a:pt x="3862784" y="1962167"/>
                  </a:lnTo>
                  <a:lnTo>
                    <a:pt x="3855725" y="1911806"/>
                  </a:lnTo>
                  <a:lnTo>
                    <a:pt x="3847769" y="1861818"/>
                  </a:lnTo>
                  <a:lnTo>
                    <a:pt x="3838927" y="1812215"/>
                  </a:lnTo>
                  <a:lnTo>
                    <a:pt x="3829207" y="1763009"/>
                  </a:lnTo>
                  <a:lnTo>
                    <a:pt x="3818621" y="1714213"/>
                  </a:lnTo>
                  <a:lnTo>
                    <a:pt x="3807178" y="1665839"/>
                  </a:lnTo>
                  <a:lnTo>
                    <a:pt x="3794890" y="1617899"/>
                  </a:lnTo>
                  <a:lnTo>
                    <a:pt x="3781766" y="1570406"/>
                  </a:lnTo>
                  <a:lnTo>
                    <a:pt x="3767817" y="1523371"/>
                  </a:lnTo>
                  <a:lnTo>
                    <a:pt x="3753052" y="1476807"/>
                  </a:lnTo>
                  <a:lnTo>
                    <a:pt x="3737483" y="1430727"/>
                  </a:lnTo>
                  <a:lnTo>
                    <a:pt x="3721119" y="1385142"/>
                  </a:lnTo>
                  <a:lnTo>
                    <a:pt x="3703972" y="1340066"/>
                  </a:lnTo>
                  <a:lnTo>
                    <a:pt x="3686050" y="1295509"/>
                  </a:lnTo>
                  <a:lnTo>
                    <a:pt x="3667365" y="1251485"/>
                  </a:lnTo>
                  <a:lnTo>
                    <a:pt x="3647926" y="1208006"/>
                  </a:lnTo>
                  <a:lnTo>
                    <a:pt x="3627745" y="1165083"/>
                  </a:lnTo>
                  <a:lnTo>
                    <a:pt x="3606830" y="1122730"/>
                  </a:lnTo>
                  <a:lnTo>
                    <a:pt x="3585194" y="1080959"/>
                  </a:lnTo>
                  <a:lnTo>
                    <a:pt x="3562845" y="1039781"/>
                  </a:lnTo>
                  <a:lnTo>
                    <a:pt x="3539795" y="999210"/>
                  </a:lnTo>
                  <a:lnTo>
                    <a:pt x="3516053" y="959257"/>
                  </a:lnTo>
                  <a:lnTo>
                    <a:pt x="3491630" y="919934"/>
                  </a:lnTo>
                  <a:lnTo>
                    <a:pt x="3466536" y="881255"/>
                  </a:lnTo>
                  <a:lnTo>
                    <a:pt x="3440781" y="843231"/>
                  </a:lnTo>
                  <a:lnTo>
                    <a:pt x="3414376" y="805874"/>
                  </a:lnTo>
                  <a:lnTo>
                    <a:pt x="3387331" y="769198"/>
                  </a:lnTo>
                  <a:lnTo>
                    <a:pt x="3359656" y="733213"/>
                  </a:lnTo>
                  <a:lnTo>
                    <a:pt x="3331362" y="697933"/>
                  </a:lnTo>
                  <a:lnTo>
                    <a:pt x="3302458" y="663369"/>
                  </a:lnTo>
                  <a:lnTo>
                    <a:pt x="3272956" y="629535"/>
                  </a:lnTo>
                  <a:lnTo>
                    <a:pt x="3242865" y="596442"/>
                  </a:lnTo>
                  <a:lnTo>
                    <a:pt x="3212196" y="564102"/>
                  </a:lnTo>
                  <a:lnTo>
                    <a:pt x="3180959" y="532528"/>
                  </a:lnTo>
                  <a:lnTo>
                    <a:pt x="3149165" y="501732"/>
                  </a:lnTo>
                  <a:lnTo>
                    <a:pt x="3116823" y="471726"/>
                  </a:lnTo>
                  <a:lnTo>
                    <a:pt x="3083943" y="442524"/>
                  </a:lnTo>
                  <a:lnTo>
                    <a:pt x="3050538" y="414136"/>
                  </a:lnTo>
                  <a:lnTo>
                    <a:pt x="3016615" y="386575"/>
                  </a:lnTo>
                  <a:lnTo>
                    <a:pt x="2982187" y="359854"/>
                  </a:lnTo>
                  <a:lnTo>
                    <a:pt x="2947262" y="333984"/>
                  </a:lnTo>
                  <a:lnTo>
                    <a:pt x="2911852" y="308979"/>
                  </a:lnTo>
                  <a:lnTo>
                    <a:pt x="2875967" y="284850"/>
                  </a:lnTo>
                  <a:lnTo>
                    <a:pt x="2839616" y="261609"/>
                  </a:lnTo>
                  <a:lnTo>
                    <a:pt x="2802811" y="239270"/>
                  </a:lnTo>
                  <a:lnTo>
                    <a:pt x="2765562" y="217844"/>
                  </a:lnTo>
                  <a:lnTo>
                    <a:pt x="2727878" y="197343"/>
                  </a:lnTo>
                  <a:lnTo>
                    <a:pt x="2689771" y="177780"/>
                  </a:lnTo>
                  <a:lnTo>
                    <a:pt x="2651250" y="159167"/>
                  </a:lnTo>
                  <a:lnTo>
                    <a:pt x="2612326" y="141516"/>
                  </a:lnTo>
                  <a:lnTo>
                    <a:pt x="2573009" y="124840"/>
                  </a:lnTo>
                  <a:lnTo>
                    <a:pt x="2533309" y="109150"/>
                  </a:lnTo>
                  <a:lnTo>
                    <a:pt x="2493237" y="94460"/>
                  </a:lnTo>
                  <a:lnTo>
                    <a:pt x="2452802" y="80781"/>
                  </a:lnTo>
                  <a:lnTo>
                    <a:pt x="2412016" y="68126"/>
                  </a:lnTo>
                  <a:lnTo>
                    <a:pt x="2370889" y="56507"/>
                  </a:lnTo>
                  <a:lnTo>
                    <a:pt x="2329430" y="45937"/>
                  </a:lnTo>
                  <a:lnTo>
                    <a:pt x="2287651" y="36427"/>
                  </a:lnTo>
                  <a:lnTo>
                    <a:pt x="2245561" y="27989"/>
                  </a:lnTo>
                  <a:lnTo>
                    <a:pt x="2203171" y="20637"/>
                  </a:lnTo>
                  <a:lnTo>
                    <a:pt x="2160490" y="14382"/>
                  </a:lnTo>
                  <a:lnTo>
                    <a:pt x="2117530" y="9237"/>
                  </a:lnTo>
                  <a:lnTo>
                    <a:pt x="2074301" y="5214"/>
                  </a:lnTo>
                  <a:lnTo>
                    <a:pt x="2030813" y="2325"/>
                  </a:lnTo>
                  <a:lnTo>
                    <a:pt x="1987075" y="583"/>
                  </a:lnTo>
                  <a:lnTo>
                    <a:pt x="1943100" y="0"/>
                  </a:lnTo>
                  <a:lnTo>
                    <a:pt x="1899124" y="583"/>
                  </a:lnTo>
                  <a:lnTo>
                    <a:pt x="1855386" y="2325"/>
                  </a:lnTo>
                  <a:lnTo>
                    <a:pt x="1811898" y="5214"/>
                  </a:lnTo>
                  <a:lnTo>
                    <a:pt x="1768669" y="9237"/>
                  </a:lnTo>
                  <a:lnTo>
                    <a:pt x="1725709" y="14382"/>
                  </a:lnTo>
                  <a:lnTo>
                    <a:pt x="1683028" y="20637"/>
                  </a:lnTo>
                  <a:lnTo>
                    <a:pt x="1640638" y="27989"/>
                  </a:lnTo>
                  <a:lnTo>
                    <a:pt x="1598548" y="36427"/>
                  </a:lnTo>
                  <a:lnTo>
                    <a:pt x="1556769" y="45937"/>
                  </a:lnTo>
                  <a:lnTo>
                    <a:pt x="1515310" y="56507"/>
                  </a:lnTo>
                  <a:lnTo>
                    <a:pt x="1474183" y="68126"/>
                  </a:lnTo>
                  <a:lnTo>
                    <a:pt x="1433397" y="80781"/>
                  </a:lnTo>
                  <a:lnTo>
                    <a:pt x="1392962" y="94460"/>
                  </a:lnTo>
                  <a:lnTo>
                    <a:pt x="1352890" y="109150"/>
                  </a:lnTo>
                  <a:lnTo>
                    <a:pt x="1313190" y="124840"/>
                  </a:lnTo>
                  <a:lnTo>
                    <a:pt x="1273873" y="141516"/>
                  </a:lnTo>
                  <a:lnTo>
                    <a:pt x="1234949" y="159167"/>
                  </a:lnTo>
                  <a:lnTo>
                    <a:pt x="1196428" y="177780"/>
                  </a:lnTo>
                  <a:lnTo>
                    <a:pt x="1158321" y="197343"/>
                  </a:lnTo>
                  <a:lnTo>
                    <a:pt x="1120637" y="217844"/>
                  </a:lnTo>
                  <a:lnTo>
                    <a:pt x="1083388" y="239270"/>
                  </a:lnTo>
                  <a:lnTo>
                    <a:pt x="1046583" y="261609"/>
                  </a:lnTo>
                  <a:lnTo>
                    <a:pt x="1010232" y="284850"/>
                  </a:lnTo>
                  <a:lnTo>
                    <a:pt x="974347" y="308979"/>
                  </a:lnTo>
                  <a:lnTo>
                    <a:pt x="938937" y="333984"/>
                  </a:lnTo>
                  <a:lnTo>
                    <a:pt x="904012" y="359854"/>
                  </a:lnTo>
                  <a:lnTo>
                    <a:pt x="869584" y="386575"/>
                  </a:lnTo>
                  <a:lnTo>
                    <a:pt x="835661" y="414136"/>
                  </a:lnTo>
                  <a:lnTo>
                    <a:pt x="802256" y="442524"/>
                  </a:lnTo>
                  <a:lnTo>
                    <a:pt x="769376" y="471726"/>
                  </a:lnTo>
                  <a:lnTo>
                    <a:pt x="737034" y="501732"/>
                  </a:lnTo>
                  <a:lnTo>
                    <a:pt x="705240" y="532528"/>
                  </a:lnTo>
                  <a:lnTo>
                    <a:pt x="674003" y="564102"/>
                  </a:lnTo>
                  <a:lnTo>
                    <a:pt x="643334" y="596442"/>
                  </a:lnTo>
                  <a:lnTo>
                    <a:pt x="613243" y="629535"/>
                  </a:lnTo>
                  <a:lnTo>
                    <a:pt x="583741" y="663369"/>
                  </a:lnTo>
                  <a:lnTo>
                    <a:pt x="554837" y="697933"/>
                  </a:lnTo>
                  <a:lnTo>
                    <a:pt x="526543" y="733213"/>
                  </a:lnTo>
                  <a:lnTo>
                    <a:pt x="498868" y="769198"/>
                  </a:lnTo>
                  <a:lnTo>
                    <a:pt x="471823" y="805874"/>
                  </a:lnTo>
                  <a:lnTo>
                    <a:pt x="445418" y="843231"/>
                  </a:lnTo>
                  <a:lnTo>
                    <a:pt x="419663" y="881255"/>
                  </a:lnTo>
                  <a:lnTo>
                    <a:pt x="394569" y="919934"/>
                  </a:lnTo>
                  <a:lnTo>
                    <a:pt x="370146" y="959257"/>
                  </a:lnTo>
                  <a:lnTo>
                    <a:pt x="346404" y="999210"/>
                  </a:lnTo>
                  <a:lnTo>
                    <a:pt x="323354" y="1039781"/>
                  </a:lnTo>
                  <a:lnTo>
                    <a:pt x="301005" y="1080959"/>
                  </a:lnTo>
                  <a:lnTo>
                    <a:pt x="279369" y="1122730"/>
                  </a:lnTo>
                  <a:lnTo>
                    <a:pt x="258454" y="1165083"/>
                  </a:lnTo>
                  <a:lnTo>
                    <a:pt x="238273" y="1208006"/>
                  </a:lnTo>
                  <a:lnTo>
                    <a:pt x="218834" y="1251485"/>
                  </a:lnTo>
                  <a:lnTo>
                    <a:pt x="200149" y="1295509"/>
                  </a:lnTo>
                  <a:lnTo>
                    <a:pt x="182227" y="1340066"/>
                  </a:lnTo>
                  <a:lnTo>
                    <a:pt x="165080" y="1385142"/>
                  </a:lnTo>
                  <a:lnTo>
                    <a:pt x="148716" y="1430727"/>
                  </a:lnTo>
                  <a:lnTo>
                    <a:pt x="133147" y="1476807"/>
                  </a:lnTo>
                  <a:lnTo>
                    <a:pt x="118382" y="1523371"/>
                  </a:lnTo>
                  <a:lnTo>
                    <a:pt x="104433" y="1570406"/>
                  </a:lnTo>
                  <a:lnTo>
                    <a:pt x="91309" y="1617899"/>
                  </a:lnTo>
                  <a:lnTo>
                    <a:pt x="79021" y="1665839"/>
                  </a:lnTo>
                  <a:lnTo>
                    <a:pt x="67578" y="1714213"/>
                  </a:lnTo>
                  <a:lnTo>
                    <a:pt x="56992" y="1763009"/>
                  </a:lnTo>
                  <a:lnTo>
                    <a:pt x="47272" y="1812215"/>
                  </a:lnTo>
                  <a:lnTo>
                    <a:pt x="38430" y="1861818"/>
                  </a:lnTo>
                  <a:lnTo>
                    <a:pt x="30474" y="1911806"/>
                  </a:lnTo>
                  <a:lnTo>
                    <a:pt x="23415" y="1962167"/>
                  </a:lnTo>
                  <a:lnTo>
                    <a:pt x="17265" y="2012888"/>
                  </a:lnTo>
                  <a:lnTo>
                    <a:pt x="12032" y="2063958"/>
                  </a:lnTo>
                  <a:lnTo>
                    <a:pt x="7728" y="2115363"/>
                  </a:lnTo>
                  <a:lnTo>
                    <a:pt x="4362" y="2167093"/>
                  </a:lnTo>
                  <a:lnTo>
                    <a:pt x="1945" y="2219133"/>
                  </a:lnTo>
                  <a:lnTo>
                    <a:pt x="488" y="2271473"/>
                  </a:lnTo>
                  <a:lnTo>
                    <a:pt x="0" y="2324100"/>
                  </a:lnTo>
                  <a:lnTo>
                    <a:pt x="488" y="2376726"/>
                  </a:lnTo>
                  <a:lnTo>
                    <a:pt x="1945" y="2429066"/>
                  </a:lnTo>
                  <a:lnTo>
                    <a:pt x="4362" y="2481106"/>
                  </a:lnTo>
                  <a:lnTo>
                    <a:pt x="7728" y="2532836"/>
                  </a:lnTo>
                  <a:lnTo>
                    <a:pt x="12032" y="2584241"/>
                  </a:lnTo>
                  <a:lnTo>
                    <a:pt x="17265" y="2635311"/>
                  </a:lnTo>
                  <a:lnTo>
                    <a:pt x="23415" y="2686032"/>
                  </a:lnTo>
                  <a:lnTo>
                    <a:pt x="30474" y="2736393"/>
                  </a:lnTo>
                  <a:lnTo>
                    <a:pt x="38430" y="2786381"/>
                  </a:lnTo>
                  <a:lnTo>
                    <a:pt x="47272" y="2835984"/>
                  </a:lnTo>
                  <a:lnTo>
                    <a:pt x="56992" y="2885190"/>
                  </a:lnTo>
                  <a:lnTo>
                    <a:pt x="67578" y="2933986"/>
                  </a:lnTo>
                  <a:lnTo>
                    <a:pt x="79021" y="2982360"/>
                  </a:lnTo>
                  <a:lnTo>
                    <a:pt x="91309" y="3030300"/>
                  </a:lnTo>
                  <a:lnTo>
                    <a:pt x="104433" y="3077793"/>
                  </a:lnTo>
                  <a:lnTo>
                    <a:pt x="118382" y="3124828"/>
                  </a:lnTo>
                  <a:lnTo>
                    <a:pt x="133147" y="3171392"/>
                  </a:lnTo>
                  <a:lnTo>
                    <a:pt x="148716" y="3217472"/>
                  </a:lnTo>
                  <a:lnTo>
                    <a:pt x="165080" y="3263057"/>
                  </a:lnTo>
                  <a:lnTo>
                    <a:pt x="182227" y="3308133"/>
                  </a:lnTo>
                  <a:lnTo>
                    <a:pt x="200149" y="3352690"/>
                  </a:lnTo>
                  <a:lnTo>
                    <a:pt x="218834" y="3396714"/>
                  </a:lnTo>
                  <a:lnTo>
                    <a:pt x="238273" y="3440193"/>
                  </a:lnTo>
                  <a:lnTo>
                    <a:pt x="258454" y="3483116"/>
                  </a:lnTo>
                  <a:lnTo>
                    <a:pt x="279369" y="3525469"/>
                  </a:lnTo>
                  <a:lnTo>
                    <a:pt x="301005" y="3567240"/>
                  </a:lnTo>
                  <a:lnTo>
                    <a:pt x="323354" y="3608418"/>
                  </a:lnTo>
                  <a:lnTo>
                    <a:pt x="346404" y="3648989"/>
                  </a:lnTo>
                  <a:lnTo>
                    <a:pt x="370146" y="3688942"/>
                  </a:lnTo>
                  <a:lnTo>
                    <a:pt x="394569" y="3728265"/>
                  </a:lnTo>
                  <a:lnTo>
                    <a:pt x="419663" y="3766944"/>
                  </a:lnTo>
                  <a:lnTo>
                    <a:pt x="445418" y="3804968"/>
                  </a:lnTo>
                  <a:lnTo>
                    <a:pt x="471823" y="3842325"/>
                  </a:lnTo>
                  <a:lnTo>
                    <a:pt x="498868" y="3879001"/>
                  </a:lnTo>
                  <a:lnTo>
                    <a:pt x="526543" y="3914986"/>
                  </a:lnTo>
                  <a:lnTo>
                    <a:pt x="554837" y="3950266"/>
                  </a:lnTo>
                  <a:lnTo>
                    <a:pt x="583741" y="3984830"/>
                  </a:lnTo>
                  <a:lnTo>
                    <a:pt x="613243" y="4018664"/>
                  </a:lnTo>
                  <a:lnTo>
                    <a:pt x="643334" y="4051757"/>
                  </a:lnTo>
                  <a:lnTo>
                    <a:pt x="674003" y="4084097"/>
                  </a:lnTo>
                  <a:lnTo>
                    <a:pt x="705240" y="4115671"/>
                  </a:lnTo>
                  <a:lnTo>
                    <a:pt x="737034" y="4146467"/>
                  </a:lnTo>
                  <a:lnTo>
                    <a:pt x="769376" y="4176473"/>
                  </a:lnTo>
                  <a:lnTo>
                    <a:pt x="802256" y="4205675"/>
                  </a:lnTo>
                  <a:lnTo>
                    <a:pt x="835661" y="4234063"/>
                  </a:lnTo>
                  <a:lnTo>
                    <a:pt x="869584" y="4261624"/>
                  </a:lnTo>
                  <a:lnTo>
                    <a:pt x="904012" y="4288345"/>
                  </a:lnTo>
                  <a:lnTo>
                    <a:pt x="938937" y="4314215"/>
                  </a:lnTo>
                  <a:lnTo>
                    <a:pt x="974347" y="4339220"/>
                  </a:lnTo>
                  <a:lnTo>
                    <a:pt x="1010232" y="4363349"/>
                  </a:lnTo>
                  <a:lnTo>
                    <a:pt x="1046583" y="4386590"/>
                  </a:lnTo>
                  <a:lnTo>
                    <a:pt x="1083388" y="4408929"/>
                  </a:lnTo>
                  <a:lnTo>
                    <a:pt x="1120637" y="4430355"/>
                  </a:lnTo>
                  <a:lnTo>
                    <a:pt x="1158321" y="4450856"/>
                  </a:lnTo>
                  <a:lnTo>
                    <a:pt x="1196428" y="4470419"/>
                  </a:lnTo>
                  <a:lnTo>
                    <a:pt x="1234949" y="4489032"/>
                  </a:lnTo>
                  <a:lnTo>
                    <a:pt x="1273873" y="4506683"/>
                  </a:lnTo>
                  <a:lnTo>
                    <a:pt x="1313190" y="4523359"/>
                  </a:lnTo>
                  <a:lnTo>
                    <a:pt x="1352890" y="4539049"/>
                  </a:lnTo>
                  <a:lnTo>
                    <a:pt x="1392962" y="4553739"/>
                  </a:lnTo>
                  <a:lnTo>
                    <a:pt x="1433397" y="4567418"/>
                  </a:lnTo>
                  <a:lnTo>
                    <a:pt x="1474183" y="4580073"/>
                  </a:lnTo>
                  <a:lnTo>
                    <a:pt x="1515310" y="4591692"/>
                  </a:lnTo>
                  <a:lnTo>
                    <a:pt x="1556769" y="4602262"/>
                  </a:lnTo>
                  <a:lnTo>
                    <a:pt x="1598548" y="4611772"/>
                  </a:lnTo>
                  <a:lnTo>
                    <a:pt x="1640638" y="4620210"/>
                  </a:lnTo>
                  <a:lnTo>
                    <a:pt x="1683028" y="4627562"/>
                  </a:lnTo>
                  <a:lnTo>
                    <a:pt x="1725709" y="4633817"/>
                  </a:lnTo>
                  <a:lnTo>
                    <a:pt x="1768669" y="4638962"/>
                  </a:lnTo>
                  <a:lnTo>
                    <a:pt x="1811898" y="4642985"/>
                  </a:lnTo>
                  <a:lnTo>
                    <a:pt x="1855386" y="4645874"/>
                  </a:lnTo>
                  <a:lnTo>
                    <a:pt x="1899124" y="4647616"/>
                  </a:lnTo>
                  <a:lnTo>
                    <a:pt x="1943100" y="4648200"/>
                  </a:lnTo>
                  <a:lnTo>
                    <a:pt x="1987075" y="4647616"/>
                  </a:lnTo>
                  <a:lnTo>
                    <a:pt x="2030813" y="4645874"/>
                  </a:lnTo>
                  <a:lnTo>
                    <a:pt x="2074301" y="4642985"/>
                  </a:lnTo>
                  <a:lnTo>
                    <a:pt x="2117530" y="4638962"/>
                  </a:lnTo>
                  <a:lnTo>
                    <a:pt x="2160490" y="4633817"/>
                  </a:lnTo>
                  <a:lnTo>
                    <a:pt x="2203171" y="4627562"/>
                  </a:lnTo>
                  <a:lnTo>
                    <a:pt x="2245561" y="4620210"/>
                  </a:lnTo>
                  <a:lnTo>
                    <a:pt x="2287651" y="4611772"/>
                  </a:lnTo>
                  <a:lnTo>
                    <a:pt x="2329430" y="4602262"/>
                  </a:lnTo>
                  <a:lnTo>
                    <a:pt x="2370889" y="4591692"/>
                  </a:lnTo>
                  <a:lnTo>
                    <a:pt x="2412016" y="4580073"/>
                  </a:lnTo>
                  <a:lnTo>
                    <a:pt x="2452802" y="4567418"/>
                  </a:lnTo>
                  <a:lnTo>
                    <a:pt x="2493237" y="4553739"/>
                  </a:lnTo>
                  <a:lnTo>
                    <a:pt x="2533309" y="4539049"/>
                  </a:lnTo>
                  <a:lnTo>
                    <a:pt x="2573009" y="4523359"/>
                  </a:lnTo>
                  <a:lnTo>
                    <a:pt x="2612326" y="4506683"/>
                  </a:lnTo>
                  <a:lnTo>
                    <a:pt x="2651250" y="4489032"/>
                  </a:lnTo>
                  <a:lnTo>
                    <a:pt x="2689771" y="4470419"/>
                  </a:lnTo>
                  <a:lnTo>
                    <a:pt x="2727878" y="4450856"/>
                  </a:lnTo>
                  <a:lnTo>
                    <a:pt x="2765562" y="4430355"/>
                  </a:lnTo>
                  <a:lnTo>
                    <a:pt x="2802811" y="4408929"/>
                  </a:lnTo>
                  <a:lnTo>
                    <a:pt x="2839616" y="4386590"/>
                  </a:lnTo>
                  <a:lnTo>
                    <a:pt x="2875967" y="4363349"/>
                  </a:lnTo>
                  <a:lnTo>
                    <a:pt x="2911852" y="4339220"/>
                  </a:lnTo>
                  <a:lnTo>
                    <a:pt x="2947262" y="4314215"/>
                  </a:lnTo>
                  <a:lnTo>
                    <a:pt x="2982187" y="4288345"/>
                  </a:lnTo>
                  <a:lnTo>
                    <a:pt x="3016615" y="4261624"/>
                  </a:lnTo>
                  <a:lnTo>
                    <a:pt x="3050538" y="4234063"/>
                  </a:lnTo>
                  <a:lnTo>
                    <a:pt x="3083943" y="4205675"/>
                  </a:lnTo>
                  <a:lnTo>
                    <a:pt x="3116823" y="4176473"/>
                  </a:lnTo>
                  <a:lnTo>
                    <a:pt x="3149165" y="4146467"/>
                  </a:lnTo>
                  <a:lnTo>
                    <a:pt x="3180959" y="4115671"/>
                  </a:lnTo>
                  <a:lnTo>
                    <a:pt x="3212196" y="4084097"/>
                  </a:lnTo>
                  <a:lnTo>
                    <a:pt x="3242865" y="4051757"/>
                  </a:lnTo>
                  <a:lnTo>
                    <a:pt x="3272956" y="4018664"/>
                  </a:lnTo>
                  <a:lnTo>
                    <a:pt x="3302458" y="3984830"/>
                  </a:lnTo>
                  <a:lnTo>
                    <a:pt x="3331362" y="3950266"/>
                  </a:lnTo>
                  <a:lnTo>
                    <a:pt x="3359656" y="3914986"/>
                  </a:lnTo>
                  <a:lnTo>
                    <a:pt x="3387331" y="3879001"/>
                  </a:lnTo>
                  <a:lnTo>
                    <a:pt x="3414376" y="3842325"/>
                  </a:lnTo>
                  <a:lnTo>
                    <a:pt x="3440781" y="3804968"/>
                  </a:lnTo>
                  <a:lnTo>
                    <a:pt x="3466536" y="3766944"/>
                  </a:lnTo>
                  <a:lnTo>
                    <a:pt x="3491630" y="3728265"/>
                  </a:lnTo>
                  <a:lnTo>
                    <a:pt x="3516053" y="3688942"/>
                  </a:lnTo>
                  <a:lnTo>
                    <a:pt x="3539795" y="3648989"/>
                  </a:lnTo>
                  <a:lnTo>
                    <a:pt x="3562845" y="3608418"/>
                  </a:lnTo>
                  <a:lnTo>
                    <a:pt x="3585194" y="3567240"/>
                  </a:lnTo>
                  <a:lnTo>
                    <a:pt x="3606830" y="3525469"/>
                  </a:lnTo>
                  <a:lnTo>
                    <a:pt x="3627745" y="3483116"/>
                  </a:lnTo>
                  <a:lnTo>
                    <a:pt x="3647926" y="3440193"/>
                  </a:lnTo>
                  <a:lnTo>
                    <a:pt x="3667365" y="3396714"/>
                  </a:lnTo>
                  <a:lnTo>
                    <a:pt x="3686050" y="3352690"/>
                  </a:lnTo>
                  <a:lnTo>
                    <a:pt x="3703972" y="3308133"/>
                  </a:lnTo>
                  <a:lnTo>
                    <a:pt x="3721119" y="3263057"/>
                  </a:lnTo>
                  <a:lnTo>
                    <a:pt x="3737483" y="3217472"/>
                  </a:lnTo>
                  <a:lnTo>
                    <a:pt x="3753052" y="3171392"/>
                  </a:lnTo>
                  <a:lnTo>
                    <a:pt x="3767817" y="3124828"/>
                  </a:lnTo>
                  <a:lnTo>
                    <a:pt x="3781766" y="3077793"/>
                  </a:lnTo>
                  <a:lnTo>
                    <a:pt x="3794890" y="3030300"/>
                  </a:lnTo>
                  <a:lnTo>
                    <a:pt x="3807178" y="2982360"/>
                  </a:lnTo>
                  <a:lnTo>
                    <a:pt x="3818621" y="2933986"/>
                  </a:lnTo>
                  <a:lnTo>
                    <a:pt x="3829207" y="2885190"/>
                  </a:lnTo>
                  <a:lnTo>
                    <a:pt x="3838927" y="2835984"/>
                  </a:lnTo>
                  <a:lnTo>
                    <a:pt x="3847769" y="2786381"/>
                  </a:lnTo>
                  <a:lnTo>
                    <a:pt x="3855725" y="2736393"/>
                  </a:lnTo>
                  <a:lnTo>
                    <a:pt x="3862784" y="2686032"/>
                  </a:lnTo>
                  <a:lnTo>
                    <a:pt x="3868934" y="2635311"/>
                  </a:lnTo>
                  <a:lnTo>
                    <a:pt x="3874167" y="2584241"/>
                  </a:lnTo>
                  <a:lnTo>
                    <a:pt x="3878471" y="2532836"/>
                  </a:lnTo>
                  <a:lnTo>
                    <a:pt x="3881837" y="2481106"/>
                  </a:lnTo>
                  <a:lnTo>
                    <a:pt x="3884254" y="2429066"/>
                  </a:lnTo>
                  <a:lnTo>
                    <a:pt x="3885711" y="2376726"/>
                  </a:lnTo>
                  <a:lnTo>
                    <a:pt x="3886200" y="2324100"/>
                  </a:lnTo>
                  <a:close/>
                </a:path>
              </a:pathLst>
            </a:custGeom>
            <a:solidFill>
              <a:srgbClr val="FFFF66"/>
            </a:solidFill>
          </p:spPr>
          <p:txBody>
            <a:bodyPr wrap="square" lIns="0" tIns="0" rIns="0" bIns="0" rtlCol="0"/>
            <a:lstStyle/>
            <a:p>
              <a:endParaRPr sz="1590"/>
            </a:p>
          </p:txBody>
        </p:sp>
        <p:sp>
          <p:nvSpPr>
            <p:cNvPr id="5" name="object 5"/>
            <p:cNvSpPr/>
            <p:nvPr/>
          </p:nvSpPr>
          <p:spPr>
            <a:xfrm>
              <a:off x="1066800" y="1676400"/>
              <a:ext cx="3886200" cy="4648200"/>
            </a:xfrm>
            <a:custGeom>
              <a:avLst/>
              <a:gdLst/>
              <a:ahLst/>
              <a:cxnLst/>
              <a:rect l="l" t="t" r="r" b="b"/>
              <a:pathLst>
                <a:path w="3886200" h="4648200">
                  <a:moveTo>
                    <a:pt x="1943100" y="0"/>
                  </a:moveTo>
                  <a:lnTo>
                    <a:pt x="1899124" y="583"/>
                  </a:lnTo>
                  <a:lnTo>
                    <a:pt x="1855386" y="2325"/>
                  </a:lnTo>
                  <a:lnTo>
                    <a:pt x="1811898" y="5214"/>
                  </a:lnTo>
                  <a:lnTo>
                    <a:pt x="1768669" y="9237"/>
                  </a:lnTo>
                  <a:lnTo>
                    <a:pt x="1725709" y="14382"/>
                  </a:lnTo>
                  <a:lnTo>
                    <a:pt x="1683028" y="20637"/>
                  </a:lnTo>
                  <a:lnTo>
                    <a:pt x="1640638" y="27989"/>
                  </a:lnTo>
                  <a:lnTo>
                    <a:pt x="1598548" y="36427"/>
                  </a:lnTo>
                  <a:lnTo>
                    <a:pt x="1556769" y="45937"/>
                  </a:lnTo>
                  <a:lnTo>
                    <a:pt x="1515310" y="56507"/>
                  </a:lnTo>
                  <a:lnTo>
                    <a:pt x="1474183" y="68126"/>
                  </a:lnTo>
                  <a:lnTo>
                    <a:pt x="1433397" y="80781"/>
                  </a:lnTo>
                  <a:lnTo>
                    <a:pt x="1392962" y="94460"/>
                  </a:lnTo>
                  <a:lnTo>
                    <a:pt x="1352890" y="109150"/>
                  </a:lnTo>
                  <a:lnTo>
                    <a:pt x="1313190" y="124840"/>
                  </a:lnTo>
                  <a:lnTo>
                    <a:pt x="1273873" y="141516"/>
                  </a:lnTo>
                  <a:lnTo>
                    <a:pt x="1234949" y="159167"/>
                  </a:lnTo>
                  <a:lnTo>
                    <a:pt x="1196428" y="177780"/>
                  </a:lnTo>
                  <a:lnTo>
                    <a:pt x="1158321" y="197343"/>
                  </a:lnTo>
                  <a:lnTo>
                    <a:pt x="1120637" y="217844"/>
                  </a:lnTo>
                  <a:lnTo>
                    <a:pt x="1083388" y="239270"/>
                  </a:lnTo>
                  <a:lnTo>
                    <a:pt x="1046583" y="261609"/>
                  </a:lnTo>
                  <a:lnTo>
                    <a:pt x="1010232" y="284850"/>
                  </a:lnTo>
                  <a:lnTo>
                    <a:pt x="974347" y="308979"/>
                  </a:lnTo>
                  <a:lnTo>
                    <a:pt x="938937" y="333984"/>
                  </a:lnTo>
                  <a:lnTo>
                    <a:pt x="904012" y="359854"/>
                  </a:lnTo>
                  <a:lnTo>
                    <a:pt x="869584" y="386575"/>
                  </a:lnTo>
                  <a:lnTo>
                    <a:pt x="835661" y="414136"/>
                  </a:lnTo>
                  <a:lnTo>
                    <a:pt x="802256" y="442524"/>
                  </a:lnTo>
                  <a:lnTo>
                    <a:pt x="769376" y="471726"/>
                  </a:lnTo>
                  <a:lnTo>
                    <a:pt x="737034" y="501732"/>
                  </a:lnTo>
                  <a:lnTo>
                    <a:pt x="705240" y="532528"/>
                  </a:lnTo>
                  <a:lnTo>
                    <a:pt x="674003" y="564102"/>
                  </a:lnTo>
                  <a:lnTo>
                    <a:pt x="643334" y="596442"/>
                  </a:lnTo>
                  <a:lnTo>
                    <a:pt x="613243" y="629535"/>
                  </a:lnTo>
                  <a:lnTo>
                    <a:pt x="583741" y="663369"/>
                  </a:lnTo>
                  <a:lnTo>
                    <a:pt x="554837" y="697933"/>
                  </a:lnTo>
                  <a:lnTo>
                    <a:pt x="526543" y="733213"/>
                  </a:lnTo>
                  <a:lnTo>
                    <a:pt x="498868" y="769198"/>
                  </a:lnTo>
                  <a:lnTo>
                    <a:pt x="471823" y="805874"/>
                  </a:lnTo>
                  <a:lnTo>
                    <a:pt x="445418" y="843231"/>
                  </a:lnTo>
                  <a:lnTo>
                    <a:pt x="419663" y="881255"/>
                  </a:lnTo>
                  <a:lnTo>
                    <a:pt x="394569" y="919934"/>
                  </a:lnTo>
                  <a:lnTo>
                    <a:pt x="370146" y="959257"/>
                  </a:lnTo>
                  <a:lnTo>
                    <a:pt x="346404" y="999210"/>
                  </a:lnTo>
                  <a:lnTo>
                    <a:pt x="323354" y="1039781"/>
                  </a:lnTo>
                  <a:lnTo>
                    <a:pt x="301005" y="1080959"/>
                  </a:lnTo>
                  <a:lnTo>
                    <a:pt x="279369" y="1122730"/>
                  </a:lnTo>
                  <a:lnTo>
                    <a:pt x="258454" y="1165083"/>
                  </a:lnTo>
                  <a:lnTo>
                    <a:pt x="238273" y="1208006"/>
                  </a:lnTo>
                  <a:lnTo>
                    <a:pt x="218834" y="1251485"/>
                  </a:lnTo>
                  <a:lnTo>
                    <a:pt x="200149" y="1295509"/>
                  </a:lnTo>
                  <a:lnTo>
                    <a:pt x="182227" y="1340066"/>
                  </a:lnTo>
                  <a:lnTo>
                    <a:pt x="165080" y="1385142"/>
                  </a:lnTo>
                  <a:lnTo>
                    <a:pt x="148716" y="1430727"/>
                  </a:lnTo>
                  <a:lnTo>
                    <a:pt x="133147" y="1476807"/>
                  </a:lnTo>
                  <a:lnTo>
                    <a:pt x="118382" y="1523371"/>
                  </a:lnTo>
                  <a:lnTo>
                    <a:pt x="104433" y="1570406"/>
                  </a:lnTo>
                  <a:lnTo>
                    <a:pt x="91309" y="1617899"/>
                  </a:lnTo>
                  <a:lnTo>
                    <a:pt x="79021" y="1665839"/>
                  </a:lnTo>
                  <a:lnTo>
                    <a:pt x="67578" y="1714213"/>
                  </a:lnTo>
                  <a:lnTo>
                    <a:pt x="56992" y="1763009"/>
                  </a:lnTo>
                  <a:lnTo>
                    <a:pt x="47272" y="1812215"/>
                  </a:lnTo>
                  <a:lnTo>
                    <a:pt x="38430" y="1861818"/>
                  </a:lnTo>
                  <a:lnTo>
                    <a:pt x="30474" y="1911806"/>
                  </a:lnTo>
                  <a:lnTo>
                    <a:pt x="23415" y="1962167"/>
                  </a:lnTo>
                  <a:lnTo>
                    <a:pt x="17265" y="2012888"/>
                  </a:lnTo>
                  <a:lnTo>
                    <a:pt x="12032" y="2063958"/>
                  </a:lnTo>
                  <a:lnTo>
                    <a:pt x="7728" y="2115363"/>
                  </a:lnTo>
                  <a:lnTo>
                    <a:pt x="4362" y="2167093"/>
                  </a:lnTo>
                  <a:lnTo>
                    <a:pt x="1945" y="2219133"/>
                  </a:lnTo>
                  <a:lnTo>
                    <a:pt x="488" y="2271473"/>
                  </a:lnTo>
                  <a:lnTo>
                    <a:pt x="0" y="2324100"/>
                  </a:lnTo>
                  <a:lnTo>
                    <a:pt x="488" y="2376726"/>
                  </a:lnTo>
                  <a:lnTo>
                    <a:pt x="1945" y="2429066"/>
                  </a:lnTo>
                  <a:lnTo>
                    <a:pt x="4362" y="2481106"/>
                  </a:lnTo>
                  <a:lnTo>
                    <a:pt x="7728" y="2532836"/>
                  </a:lnTo>
                  <a:lnTo>
                    <a:pt x="12032" y="2584241"/>
                  </a:lnTo>
                  <a:lnTo>
                    <a:pt x="17265" y="2635311"/>
                  </a:lnTo>
                  <a:lnTo>
                    <a:pt x="23415" y="2686032"/>
                  </a:lnTo>
                  <a:lnTo>
                    <a:pt x="30474" y="2736393"/>
                  </a:lnTo>
                  <a:lnTo>
                    <a:pt x="38430" y="2786381"/>
                  </a:lnTo>
                  <a:lnTo>
                    <a:pt x="47272" y="2835984"/>
                  </a:lnTo>
                  <a:lnTo>
                    <a:pt x="56992" y="2885190"/>
                  </a:lnTo>
                  <a:lnTo>
                    <a:pt x="67578" y="2933986"/>
                  </a:lnTo>
                  <a:lnTo>
                    <a:pt x="79021" y="2982360"/>
                  </a:lnTo>
                  <a:lnTo>
                    <a:pt x="91309" y="3030300"/>
                  </a:lnTo>
                  <a:lnTo>
                    <a:pt x="104433" y="3077793"/>
                  </a:lnTo>
                  <a:lnTo>
                    <a:pt x="118382" y="3124828"/>
                  </a:lnTo>
                  <a:lnTo>
                    <a:pt x="133147" y="3171392"/>
                  </a:lnTo>
                  <a:lnTo>
                    <a:pt x="148716" y="3217472"/>
                  </a:lnTo>
                  <a:lnTo>
                    <a:pt x="165080" y="3263057"/>
                  </a:lnTo>
                  <a:lnTo>
                    <a:pt x="182227" y="3308133"/>
                  </a:lnTo>
                  <a:lnTo>
                    <a:pt x="200149" y="3352690"/>
                  </a:lnTo>
                  <a:lnTo>
                    <a:pt x="218834" y="3396714"/>
                  </a:lnTo>
                  <a:lnTo>
                    <a:pt x="238273" y="3440193"/>
                  </a:lnTo>
                  <a:lnTo>
                    <a:pt x="258454" y="3483116"/>
                  </a:lnTo>
                  <a:lnTo>
                    <a:pt x="279369" y="3525469"/>
                  </a:lnTo>
                  <a:lnTo>
                    <a:pt x="301005" y="3567240"/>
                  </a:lnTo>
                  <a:lnTo>
                    <a:pt x="323354" y="3608418"/>
                  </a:lnTo>
                  <a:lnTo>
                    <a:pt x="346404" y="3648989"/>
                  </a:lnTo>
                  <a:lnTo>
                    <a:pt x="370146" y="3688942"/>
                  </a:lnTo>
                  <a:lnTo>
                    <a:pt x="394569" y="3728265"/>
                  </a:lnTo>
                  <a:lnTo>
                    <a:pt x="419663" y="3766944"/>
                  </a:lnTo>
                  <a:lnTo>
                    <a:pt x="445418" y="3804968"/>
                  </a:lnTo>
                  <a:lnTo>
                    <a:pt x="471823" y="3842325"/>
                  </a:lnTo>
                  <a:lnTo>
                    <a:pt x="498868" y="3879001"/>
                  </a:lnTo>
                  <a:lnTo>
                    <a:pt x="526543" y="3914986"/>
                  </a:lnTo>
                  <a:lnTo>
                    <a:pt x="554837" y="3950266"/>
                  </a:lnTo>
                  <a:lnTo>
                    <a:pt x="583741" y="3984830"/>
                  </a:lnTo>
                  <a:lnTo>
                    <a:pt x="613243" y="4018664"/>
                  </a:lnTo>
                  <a:lnTo>
                    <a:pt x="643334" y="4051757"/>
                  </a:lnTo>
                  <a:lnTo>
                    <a:pt x="674003" y="4084097"/>
                  </a:lnTo>
                  <a:lnTo>
                    <a:pt x="705240" y="4115671"/>
                  </a:lnTo>
                  <a:lnTo>
                    <a:pt x="737034" y="4146467"/>
                  </a:lnTo>
                  <a:lnTo>
                    <a:pt x="769376" y="4176473"/>
                  </a:lnTo>
                  <a:lnTo>
                    <a:pt x="802256" y="4205675"/>
                  </a:lnTo>
                  <a:lnTo>
                    <a:pt x="835661" y="4234063"/>
                  </a:lnTo>
                  <a:lnTo>
                    <a:pt x="869584" y="4261624"/>
                  </a:lnTo>
                  <a:lnTo>
                    <a:pt x="904012" y="4288345"/>
                  </a:lnTo>
                  <a:lnTo>
                    <a:pt x="938937" y="4314215"/>
                  </a:lnTo>
                  <a:lnTo>
                    <a:pt x="974347" y="4339220"/>
                  </a:lnTo>
                  <a:lnTo>
                    <a:pt x="1010232" y="4363349"/>
                  </a:lnTo>
                  <a:lnTo>
                    <a:pt x="1046583" y="4386590"/>
                  </a:lnTo>
                  <a:lnTo>
                    <a:pt x="1083388" y="4408929"/>
                  </a:lnTo>
                  <a:lnTo>
                    <a:pt x="1120637" y="4430355"/>
                  </a:lnTo>
                  <a:lnTo>
                    <a:pt x="1158321" y="4450856"/>
                  </a:lnTo>
                  <a:lnTo>
                    <a:pt x="1196428" y="4470419"/>
                  </a:lnTo>
                  <a:lnTo>
                    <a:pt x="1234949" y="4489032"/>
                  </a:lnTo>
                  <a:lnTo>
                    <a:pt x="1273873" y="4506683"/>
                  </a:lnTo>
                  <a:lnTo>
                    <a:pt x="1313190" y="4523359"/>
                  </a:lnTo>
                  <a:lnTo>
                    <a:pt x="1352890" y="4539049"/>
                  </a:lnTo>
                  <a:lnTo>
                    <a:pt x="1392962" y="4553739"/>
                  </a:lnTo>
                  <a:lnTo>
                    <a:pt x="1433397" y="4567418"/>
                  </a:lnTo>
                  <a:lnTo>
                    <a:pt x="1474183" y="4580073"/>
                  </a:lnTo>
                  <a:lnTo>
                    <a:pt x="1515310" y="4591692"/>
                  </a:lnTo>
                  <a:lnTo>
                    <a:pt x="1556769" y="4602262"/>
                  </a:lnTo>
                  <a:lnTo>
                    <a:pt x="1598548" y="4611772"/>
                  </a:lnTo>
                  <a:lnTo>
                    <a:pt x="1640638" y="4620210"/>
                  </a:lnTo>
                  <a:lnTo>
                    <a:pt x="1683028" y="4627562"/>
                  </a:lnTo>
                  <a:lnTo>
                    <a:pt x="1725709" y="4633817"/>
                  </a:lnTo>
                  <a:lnTo>
                    <a:pt x="1768669" y="4638962"/>
                  </a:lnTo>
                  <a:lnTo>
                    <a:pt x="1811898" y="4642985"/>
                  </a:lnTo>
                  <a:lnTo>
                    <a:pt x="1855386" y="4645874"/>
                  </a:lnTo>
                  <a:lnTo>
                    <a:pt x="1899124" y="4647616"/>
                  </a:lnTo>
                  <a:lnTo>
                    <a:pt x="1943100" y="4648200"/>
                  </a:lnTo>
                  <a:lnTo>
                    <a:pt x="1987075" y="4647616"/>
                  </a:lnTo>
                  <a:lnTo>
                    <a:pt x="2030813" y="4645874"/>
                  </a:lnTo>
                  <a:lnTo>
                    <a:pt x="2074301" y="4642985"/>
                  </a:lnTo>
                  <a:lnTo>
                    <a:pt x="2117530" y="4638962"/>
                  </a:lnTo>
                  <a:lnTo>
                    <a:pt x="2160490" y="4633817"/>
                  </a:lnTo>
                  <a:lnTo>
                    <a:pt x="2203171" y="4627562"/>
                  </a:lnTo>
                  <a:lnTo>
                    <a:pt x="2245561" y="4620210"/>
                  </a:lnTo>
                  <a:lnTo>
                    <a:pt x="2287651" y="4611772"/>
                  </a:lnTo>
                  <a:lnTo>
                    <a:pt x="2329430" y="4602262"/>
                  </a:lnTo>
                  <a:lnTo>
                    <a:pt x="2370889" y="4591692"/>
                  </a:lnTo>
                  <a:lnTo>
                    <a:pt x="2412016" y="4580073"/>
                  </a:lnTo>
                  <a:lnTo>
                    <a:pt x="2452802" y="4567418"/>
                  </a:lnTo>
                  <a:lnTo>
                    <a:pt x="2493237" y="4553739"/>
                  </a:lnTo>
                  <a:lnTo>
                    <a:pt x="2533309" y="4539049"/>
                  </a:lnTo>
                  <a:lnTo>
                    <a:pt x="2573009" y="4523359"/>
                  </a:lnTo>
                  <a:lnTo>
                    <a:pt x="2612326" y="4506683"/>
                  </a:lnTo>
                  <a:lnTo>
                    <a:pt x="2651250" y="4489032"/>
                  </a:lnTo>
                  <a:lnTo>
                    <a:pt x="2689771" y="4470419"/>
                  </a:lnTo>
                  <a:lnTo>
                    <a:pt x="2727878" y="4450856"/>
                  </a:lnTo>
                  <a:lnTo>
                    <a:pt x="2765562" y="4430355"/>
                  </a:lnTo>
                  <a:lnTo>
                    <a:pt x="2802811" y="4408929"/>
                  </a:lnTo>
                  <a:lnTo>
                    <a:pt x="2839616" y="4386590"/>
                  </a:lnTo>
                  <a:lnTo>
                    <a:pt x="2875967" y="4363349"/>
                  </a:lnTo>
                  <a:lnTo>
                    <a:pt x="2911852" y="4339220"/>
                  </a:lnTo>
                  <a:lnTo>
                    <a:pt x="2947262" y="4314215"/>
                  </a:lnTo>
                  <a:lnTo>
                    <a:pt x="2982187" y="4288345"/>
                  </a:lnTo>
                  <a:lnTo>
                    <a:pt x="3016615" y="4261624"/>
                  </a:lnTo>
                  <a:lnTo>
                    <a:pt x="3050538" y="4234063"/>
                  </a:lnTo>
                  <a:lnTo>
                    <a:pt x="3083943" y="4205675"/>
                  </a:lnTo>
                  <a:lnTo>
                    <a:pt x="3116823" y="4176473"/>
                  </a:lnTo>
                  <a:lnTo>
                    <a:pt x="3149165" y="4146467"/>
                  </a:lnTo>
                  <a:lnTo>
                    <a:pt x="3180959" y="4115671"/>
                  </a:lnTo>
                  <a:lnTo>
                    <a:pt x="3212196" y="4084097"/>
                  </a:lnTo>
                  <a:lnTo>
                    <a:pt x="3242865" y="4051757"/>
                  </a:lnTo>
                  <a:lnTo>
                    <a:pt x="3272956" y="4018664"/>
                  </a:lnTo>
                  <a:lnTo>
                    <a:pt x="3302458" y="3984830"/>
                  </a:lnTo>
                  <a:lnTo>
                    <a:pt x="3331362" y="3950266"/>
                  </a:lnTo>
                  <a:lnTo>
                    <a:pt x="3359656" y="3914986"/>
                  </a:lnTo>
                  <a:lnTo>
                    <a:pt x="3387331" y="3879001"/>
                  </a:lnTo>
                  <a:lnTo>
                    <a:pt x="3414376" y="3842325"/>
                  </a:lnTo>
                  <a:lnTo>
                    <a:pt x="3440781" y="3804968"/>
                  </a:lnTo>
                  <a:lnTo>
                    <a:pt x="3466536" y="3766944"/>
                  </a:lnTo>
                  <a:lnTo>
                    <a:pt x="3491630" y="3728265"/>
                  </a:lnTo>
                  <a:lnTo>
                    <a:pt x="3516053" y="3688942"/>
                  </a:lnTo>
                  <a:lnTo>
                    <a:pt x="3539795" y="3648989"/>
                  </a:lnTo>
                  <a:lnTo>
                    <a:pt x="3562845" y="3608418"/>
                  </a:lnTo>
                  <a:lnTo>
                    <a:pt x="3585194" y="3567240"/>
                  </a:lnTo>
                  <a:lnTo>
                    <a:pt x="3606830" y="3525469"/>
                  </a:lnTo>
                  <a:lnTo>
                    <a:pt x="3627745" y="3483116"/>
                  </a:lnTo>
                  <a:lnTo>
                    <a:pt x="3647926" y="3440193"/>
                  </a:lnTo>
                  <a:lnTo>
                    <a:pt x="3667365" y="3396714"/>
                  </a:lnTo>
                  <a:lnTo>
                    <a:pt x="3686050" y="3352690"/>
                  </a:lnTo>
                  <a:lnTo>
                    <a:pt x="3703972" y="3308133"/>
                  </a:lnTo>
                  <a:lnTo>
                    <a:pt x="3721119" y="3263057"/>
                  </a:lnTo>
                  <a:lnTo>
                    <a:pt x="3737483" y="3217472"/>
                  </a:lnTo>
                  <a:lnTo>
                    <a:pt x="3753052" y="3171392"/>
                  </a:lnTo>
                  <a:lnTo>
                    <a:pt x="3767817" y="3124828"/>
                  </a:lnTo>
                  <a:lnTo>
                    <a:pt x="3781766" y="3077793"/>
                  </a:lnTo>
                  <a:lnTo>
                    <a:pt x="3794890" y="3030300"/>
                  </a:lnTo>
                  <a:lnTo>
                    <a:pt x="3807178" y="2982360"/>
                  </a:lnTo>
                  <a:lnTo>
                    <a:pt x="3818621" y="2933986"/>
                  </a:lnTo>
                  <a:lnTo>
                    <a:pt x="3829207" y="2885190"/>
                  </a:lnTo>
                  <a:lnTo>
                    <a:pt x="3838927" y="2835984"/>
                  </a:lnTo>
                  <a:lnTo>
                    <a:pt x="3847769" y="2786381"/>
                  </a:lnTo>
                  <a:lnTo>
                    <a:pt x="3855725" y="2736393"/>
                  </a:lnTo>
                  <a:lnTo>
                    <a:pt x="3862784" y="2686032"/>
                  </a:lnTo>
                  <a:lnTo>
                    <a:pt x="3868934" y="2635311"/>
                  </a:lnTo>
                  <a:lnTo>
                    <a:pt x="3874167" y="2584241"/>
                  </a:lnTo>
                  <a:lnTo>
                    <a:pt x="3878471" y="2532836"/>
                  </a:lnTo>
                  <a:lnTo>
                    <a:pt x="3881837" y="2481106"/>
                  </a:lnTo>
                  <a:lnTo>
                    <a:pt x="3884254" y="2429066"/>
                  </a:lnTo>
                  <a:lnTo>
                    <a:pt x="3885711" y="2376726"/>
                  </a:lnTo>
                  <a:lnTo>
                    <a:pt x="3886200" y="2324100"/>
                  </a:lnTo>
                  <a:lnTo>
                    <a:pt x="3885711" y="2271473"/>
                  </a:lnTo>
                  <a:lnTo>
                    <a:pt x="3884254" y="2219133"/>
                  </a:lnTo>
                  <a:lnTo>
                    <a:pt x="3881837" y="2167093"/>
                  </a:lnTo>
                  <a:lnTo>
                    <a:pt x="3878471" y="2115363"/>
                  </a:lnTo>
                  <a:lnTo>
                    <a:pt x="3874167" y="2063958"/>
                  </a:lnTo>
                  <a:lnTo>
                    <a:pt x="3868934" y="2012888"/>
                  </a:lnTo>
                  <a:lnTo>
                    <a:pt x="3862784" y="1962167"/>
                  </a:lnTo>
                  <a:lnTo>
                    <a:pt x="3855725" y="1911806"/>
                  </a:lnTo>
                  <a:lnTo>
                    <a:pt x="3847769" y="1861818"/>
                  </a:lnTo>
                  <a:lnTo>
                    <a:pt x="3838927" y="1812215"/>
                  </a:lnTo>
                  <a:lnTo>
                    <a:pt x="3829207" y="1763009"/>
                  </a:lnTo>
                  <a:lnTo>
                    <a:pt x="3818621" y="1714213"/>
                  </a:lnTo>
                  <a:lnTo>
                    <a:pt x="3807178" y="1665839"/>
                  </a:lnTo>
                  <a:lnTo>
                    <a:pt x="3794890" y="1617899"/>
                  </a:lnTo>
                  <a:lnTo>
                    <a:pt x="3781766" y="1570406"/>
                  </a:lnTo>
                  <a:lnTo>
                    <a:pt x="3767817" y="1523371"/>
                  </a:lnTo>
                  <a:lnTo>
                    <a:pt x="3753052" y="1476807"/>
                  </a:lnTo>
                  <a:lnTo>
                    <a:pt x="3737483" y="1430727"/>
                  </a:lnTo>
                  <a:lnTo>
                    <a:pt x="3721119" y="1385142"/>
                  </a:lnTo>
                  <a:lnTo>
                    <a:pt x="3703972" y="1340066"/>
                  </a:lnTo>
                  <a:lnTo>
                    <a:pt x="3686050" y="1295509"/>
                  </a:lnTo>
                  <a:lnTo>
                    <a:pt x="3667365" y="1251485"/>
                  </a:lnTo>
                  <a:lnTo>
                    <a:pt x="3647926" y="1208006"/>
                  </a:lnTo>
                  <a:lnTo>
                    <a:pt x="3627745" y="1165083"/>
                  </a:lnTo>
                  <a:lnTo>
                    <a:pt x="3606830" y="1122730"/>
                  </a:lnTo>
                  <a:lnTo>
                    <a:pt x="3585194" y="1080959"/>
                  </a:lnTo>
                  <a:lnTo>
                    <a:pt x="3562845" y="1039781"/>
                  </a:lnTo>
                  <a:lnTo>
                    <a:pt x="3539795" y="999210"/>
                  </a:lnTo>
                  <a:lnTo>
                    <a:pt x="3516053" y="959257"/>
                  </a:lnTo>
                  <a:lnTo>
                    <a:pt x="3491630" y="919934"/>
                  </a:lnTo>
                  <a:lnTo>
                    <a:pt x="3466536" y="881255"/>
                  </a:lnTo>
                  <a:lnTo>
                    <a:pt x="3440781" y="843231"/>
                  </a:lnTo>
                  <a:lnTo>
                    <a:pt x="3414376" y="805874"/>
                  </a:lnTo>
                  <a:lnTo>
                    <a:pt x="3387331" y="769198"/>
                  </a:lnTo>
                  <a:lnTo>
                    <a:pt x="3359656" y="733213"/>
                  </a:lnTo>
                  <a:lnTo>
                    <a:pt x="3331362" y="697933"/>
                  </a:lnTo>
                  <a:lnTo>
                    <a:pt x="3302458" y="663369"/>
                  </a:lnTo>
                  <a:lnTo>
                    <a:pt x="3272956" y="629535"/>
                  </a:lnTo>
                  <a:lnTo>
                    <a:pt x="3242865" y="596442"/>
                  </a:lnTo>
                  <a:lnTo>
                    <a:pt x="3212196" y="564102"/>
                  </a:lnTo>
                  <a:lnTo>
                    <a:pt x="3180959" y="532528"/>
                  </a:lnTo>
                  <a:lnTo>
                    <a:pt x="3149165" y="501732"/>
                  </a:lnTo>
                  <a:lnTo>
                    <a:pt x="3116823" y="471726"/>
                  </a:lnTo>
                  <a:lnTo>
                    <a:pt x="3083943" y="442524"/>
                  </a:lnTo>
                  <a:lnTo>
                    <a:pt x="3050538" y="414136"/>
                  </a:lnTo>
                  <a:lnTo>
                    <a:pt x="3016615" y="386575"/>
                  </a:lnTo>
                  <a:lnTo>
                    <a:pt x="2982187" y="359854"/>
                  </a:lnTo>
                  <a:lnTo>
                    <a:pt x="2947262" y="333984"/>
                  </a:lnTo>
                  <a:lnTo>
                    <a:pt x="2911852" y="308979"/>
                  </a:lnTo>
                  <a:lnTo>
                    <a:pt x="2875967" y="284850"/>
                  </a:lnTo>
                  <a:lnTo>
                    <a:pt x="2839616" y="261609"/>
                  </a:lnTo>
                  <a:lnTo>
                    <a:pt x="2802811" y="239270"/>
                  </a:lnTo>
                  <a:lnTo>
                    <a:pt x="2765562" y="217844"/>
                  </a:lnTo>
                  <a:lnTo>
                    <a:pt x="2727878" y="197343"/>
                  </a:lnTo>
                  <a:lnTo>
                    <a:pt x="2689771" y="177780"/>
                  </a:lnTo>
                  <a:lnTo>
                    <a:pt x="2651250" y="159167"/>
                  </a:lnTo>
                  <a:lnTo>
                    <a:pt x="2612326" y="141516"/>
                  </a:lnTo>
                  <a:lnTo>
                    <a:pt x="2573009" y="124840"/>
                  </a:lnTo>
                  <a:lnTo>
                    <a:pt x="2533309" y="109150"/>
                  </a:lnTo>
                  <a:lnTo>
                    <a:pt x="2493237" y="94460"/>
                  </a:lnTo>
                  <a:lnTo>
                    <a:pt x="2452802" y="80781"/>
                  </a:lnTo>
                  <a:lnTo>
                    <a:pt x="2412016" y="68126"/>
                  </a:lnTo>
                  <a:lnTo>
                    <a:pt x="2370889" y="56507"/>
                  </a:lnTo>
                  <a:lnTo>
                    <a:pt x="2329430" y="45937"/>
                  </a:lnTo>
                  <a:lnTo>
                    <a:pt x="2287651" y="36427"/>
                  </a:lnTo>
                  <a:lnTo>
                    <a:pt x="2245561" y="27989"/>
                  </a:lnTo>
                  <a:lnTo>
                    <a:pt x="2203171" y="20637"/>
                  </a:lnTo>
                  <a:lnTo>
                    <a:pt x="2160490" y="14382"/>
                  </a:lnTo>
                  <a:lnTo>
                    <a:pt x="2117530" y="9237"/>
                  </a:lnTo>
                  <a:lnTo>
                    <a:pt x="2074301" y="5214"/>
                  </a:lnTo>
                  <a:lnTo>
                    <a:pt x="2030813" y="2325"/>
                  </a:lnTo>
                  <a:lnTo>
                    <a:pt x="1987075" y="583"/>
                  </a:lnTo>
                  <a:lnTo>
                    <a:pt x="1943100" y="0"/>
                  </a:lnTo>
                  <a:close/>
                </a:path>
              </a:pathLst>
            </a:custGeom>
            <a:ln w="57150">
              <a:solidFill>
                <a:srgbClr val="FFFFFF"/>
              </a:solidFill>
            </a:ln>
          </p:spPr>
          <p:txBody>
            <a:bodyPr wrap="square" lIns="0" tIns="0" rIns="0" bIns="0" rtlCol="0"/>
            <a:lstStyle/>
            <a:p>
              <a:endParaRPr sz="1590"/>
            </a:p>
          </p:txBody>
        </p:sp>
      </p:grpSp>
      <p:sp>
        <p:nvSpPr>
          <p:cNvPr id="6" name="object 6"/>
          <p:cNvSpPr txBox="1"/>
          <p:nvPr/>
        </p:nvSpPr>
        <p:spPr>
          <a:xfrm>
            <a:off x="1613647" y="2084294"/>
            <a:ext cx="1210235" cy="527901"/>
          </a:xfrm>
          <a:prstGeom prst="rect">
            <a:avLst/>
          </a:prstGeom>
          <a:solidFill>
            <a:srgbClr val="00FFFF"/>
          </a:solidFill>
          <a:ln w="9525">
            <a:solidFill>
              <a:srgbClr val="000000"/>
            </a:solidFill>
          </a:ln>
        </p:spPr>
        <p:txBody>
          <a:bodyPr vert="horz" wrap="square" lIns="0" tIns="200025" rIns="0" bIns="0" rtlCol="0">
            <a:spAutoFit/>
          </a:bodyPr>
          <a:lstStyle/>
          <a:p>
            <a:pPr algn="ctr">
              <a:spcBef>
                <a:spcPts val="1575"/>
              </a:spcBef>
            </a:pPr>
            <a:r>
              <a:rPr sz="2120" spc="-4" dirty="0">
                <a:latin typeface="Arial" panose="020B0604020202020204"/>
                <a:cs typeface="Arial" panose="020B0604020202020204"/>
              </a:rPr>
              <a:t>1</a:t>
            </a:r>
            <a:endParaRPr sz="2120">
              <a:latin typeface="Arial" panose="020B0604020202020204"/>
              <a:cs typeface="Arial" panose="020B0604020202020204"/>
            </a:endParaRPr>
          </a:p>
        </p:txBody>
      </p:sp>
      <p:sp>
        <p:nvSpPr>
          <p:cNvPr id="7" name="object 7"/>
          <p:cNvSpPr txBox="1"/>
          <p:nvPr/>
        </p:nvSpPr>
        <p:spPr>
          <a:xfrm>
            <a:off x="1479176" y="3227294"/>
            <a:ext cx="1344706" cy="784751"/>
          </a:xfrm>
          <a:prstGeom prst="rect">
            <a:avLst/>
          </a:prstGeom>
          <a:solidFill>
            <a:srgbClr val="FF00FF"/>
          </a:solidFill>
          <a:ln w="9525">
            <a:solidFill>
              <a:srgbClr val="000000"/>
            </a:solidFill>
          </a:ln>
        </p:spPr>
        <p:txBody>
          <a:bodyPr vert="horz" wrap="square" lIns="0" tIns="3922" rIns="0" bIns="0" rtlCol="0">
            <a:spAutoFit/>
          </a:bodyPr>
          <a:lstStyle/>
          <a:p>
            <a:pPr>
              <a:spcBef>
                <a:spcPts val="30"/>
              </a:spcBef>
            </a:pPr>
            <a:endParaRPr sz="2955">
              <a:latin typeface="Times New Roman" panose="02020603050405020304"/>
              <a:cs typeface="Times New Roman" panose="02020603050405020304"/>
            </a:endParaRPr>
          </a:p>
          <a:p>
            <a:pPr algn="ctr">
              <a:lnSpc>
                <a:spcPct val="100000"/>
              </a:lnSpc>
            </a:pPr>
            <a:r>
              <a:rPr sz="2120" spc="-4" dirty="0">
                <a:latin typeface="Arial" panose="020B0604020202020204"/>
                <a:cs typeface="Arial" panose="020B0604020202020204"/>
              </a:rPr>
              <a:t>3</a:t>
            </a:r>
            <a:endParaRPr sz="2120">
              <a:latin typeface="Arial" panose="020B0604020202020204"/>
              <a:cs typeface="Arial" panose="020B0604020202020204"/>
            </a:endParaRPr>
          </a:p>
        </p:txBody>
      </p:sp>
      <p:sp>
        <p:nvSpPr>
          <p:cNvPr id="8" name="object 8"/>
          <p:cNvSpPr/>
          <p:nvPr/>
        </p:nvSpPr>
        <p:spPr>
          <a:xfrm>
            <a:off x="3160059" y="2756647"/>
            <a:ext cx="941294" cy="537882"/>
          </a:xfrm>
          <a:prstGeom prst="rect">
            <a:avLst/>
          </a:prstGeom>
          <a:blipFill>
            <a:blip r:embed="rId1" cstate="print"/>
            <a:stretch>
              <a:fillRect/>
            </a:stretch>
          </a:blipFill>
        </p:spPr>
        <p:txBody>
          <a:bodyPr wrap="square" lIns="0" tIns="0" rIns="0" bIns="0" rtlCol="0"/>
          <a:lstStyle/>
          <a:p>
            <a:endParaRPr sz="1590"/>
          </a:p>
        </p:txBody>
      </p:sp>
      <p:sp>
        <p:nvSpPr>
          <p:cNvPr id="9" name="object 9"/>
          <p:cNvSpPr txBox="1"/>
          <p:nvPr/>
        </p:nvSpPr>
        <p:spPr>
          <a:xfrm>
            <a:off x="3160059" y="2756647"/>
            <a:ext cx="941294" cy="426064"/>
          </a:xfrm>
          <a:prstGeom prst="rect">
            <a:avLst/>
          </a:prstGeom>
          <a:ln w="9525">
            <a:solidFill>
              <a:srgbClr val="000000"/>
            </a:solidFill>
          </a:ln>
        </p:spPr>
        <p:txBody>
          <a:bodyPr vert="horz" wrap="square" lIns="0" tIns="99172" rIns="0" bIns="0" rtlCol="0">
            <a:spAutoFit/>
          </a:bodyPr>
          <a:lstStyle/>
          <a:p>
            <a:pPr algn="ctr">
              <a:spcBef>
                <a:spcPts val="780"/>
              </a:spcBef>
            </a:pPr>
            <a:r>
              <a:rPr sz="2120" spc="-4" dirty="0">
                <a:latin typeface="Arial" panose="020B0604020202020204"/>
                <a:cs typeface="Arial" panose="020B0604020202020204"/>
              </a:rPr>
              <a:t>2</a:t>
            </a:r>
            <a:endParaRPr sz="2120">
              <a:latin typeface="Arial" panose="020B0604020202020204"/>
              <a:cs typeface="Arial" panose="020B0604020202020204"/>
            </a:endParaRPr>
          </a:p>
        </p:txBody>
      </p:sp>
      <p:sp>
        <p:nvSpPr>
          <p:cNvPr id="10" name="object 10"/>
          <p:cNvSpPr txBox="1"/>
          <p:nvPr/>
        </p:nvSpPr>
        <p:spPr>
          <a:xfrm>
            <a:off x="2958353" y="3496236"/>
            <a:ext cx="1075765" cy="678395"/>
          </a:xfrm>
          <a:prstGeom prst="rect">
            <a:avLst/>
          </a:prstGeom>
          <a:solidFill>
            <a:srgbClr val="0099CC"/>
          </a:solidFill>
          <a:ln w="9525">
            <a:solidFill>
              <a:srgbClr val="000000"/>
            </a:solidFill>
          </a:ln>
        </p:spPr>
        <p:txBody>
          <a:bodyPr vert="horz" wrap="square" lIns="0" tIns="6163" rIns="0" bIns="0" rtlCol="0">
            <a:spAutoFit/>
          </a:bodyPr>
          <a:lstStyle/>
          <a:p>
            <a:pPr>
              <a:spcBef>
                <a:spcPts val="50"/>
              </a:spcBef>
            </a:pPr>
            <a:endParaRPr sz="2250">
              <a:latin typeface="Times New Roman" panose="02020603050405020304"/>
              <a:cs typeface="Times New Roman" panose="02020603050405020304"/>
            </a:endParaRPr>
          </a:p>
          <a:p>
            <a:pPr algn="ctr">
              <a:lnSpc>
                <a:spcPct val="100000"/>
              </a:lnSpc>
            </a:pPr>
            <a:r>
              <a:rPr sz="2120" spc="-4" dirty="0">
                <a:latin typeface="Arial" panose="020B0604020202020204"/>
                <a:cs typeface="Arial" panose="020B0604020202020204"/>
              </a:rPr>
              <a:t>4</a:t>
            </a:r>
            <a:endParaRPr sz="2120">
              <a:latin typeface="Arial" panose="020B0604020202020204"/>
              <a:cs typeface="Arial" panose="020B0604020202020204"/>
            </a:endParaRPr>
          </a:p>
        </p:txBody>
      </p:sp>
      <p:sp>
        <p:nvSpPr>
          <p:cNvPr id="11" name="object 11"/>
          <p:cNvSpPr/>
          <p:nvPr/>
        </p:nvSpPr>
        <p:spPr>
          <a:xfrm>
            <a:off x="5580529" y="2823883"/>
            <a:ext cx="2017059" cy="1003487"/>
          </a:xfrm>
          <a:custGeom>
            <a:avLst/>
            <a:gdLst/>
            <a:ahLst/>
            <a:cxnLst/>
            <a:rect l="l" t="t" r="r" b="b"/>
            <a:pathLst>
              <a:path w="2286000" h="1137285">
                <a:moveTo>
                  <a:pt x="0" y="1136903"/>
                </a:moveTo>
                <a:lnTo>
                  <a:pt x="2286000" y="1136903"/>
                </a:lnTo>
                <a:lnTo>
                  <a:pt x="2286000" y="0"/>
                </a:lnTo>
                <a:lnTo>
                  <a:pt x="0" y="0"/>
                </a:lnTo>
                <a:lnTo>
                  <a:pt x="0" y="1136903"/>
                </a:lnTo>
                <a:close/>
              </a:path>
            </a:pathLst>
          </a:custGeom>
          <a:solidFill>
            <a:srgbClr val="66FF66"/>
          </a:solidFill>
        </p:spPr>
        <p:txBody>
          <a:bodyPr wrap="square" lIns="0" tIns="0" rIns="0" bIns="0" rtlCol="0"/>
          <a:lstStyle/>
          <a:p>
            <a:endParaRPr sz="1590"/>
          </a:p>
        </p:txBody>
      </p:sp>
      <p:sp>
        <p:nvSpPr>
          <p:cNvPr id="12" name="object 12"/>
          <p:cNvSpPr txBox="1"/>
          <p:nvPr/>
        </p:nvSpPr>
        <p:spPr>
          <a:xfrm>
            <a:off x="6463329" y="1751172"/>
            <a:ext cx="124946" cy="256480"/>
          </a:xfrm>
          <a:prstGeom prst="rect">
            <a:avLst/>
          </a:prstGeom>
        </p:spPr>
        <p:txBody>
          <a:bodyPr vert="horz" wrap="square" lIns="0" tIns="0" rIns="0" bIns="0" rtlCol="0">
            <a:spAutoFit/>
          </a:bodyPr>
          <a:lstStyle/>
          <a:p>
            <a:pPr>
              <a:lnSpc>
                <a:spcPts val="1950"/>
              </a:lnSpc>
            </a:pPr>
            <a:r>
              <a:rPr sz="1765" spc="-4" dirty="0">
                <a:latin typeface="Arial" panose="020B0604020202020204"/>
                <a:cs typeface="Arial" panose="020B0604020202020204"/>
              </a:rPr>
              <a:t>1</a:t>
            </a:r>
            <a:endParaRPr sz="1765">
              <a:latin typeface="Arial" panose="020B0604020202020204"/>
              <a:cs typeface="Arial" panose="020B0604020202020204"/>
            </a:endParaRPr>
          </a:p>
        </p:txBody>
      </p:sp>
      <p:sp>
        <p:nvSpPr>
          <p:cNvPr id="13" name="object 13"/>
          <p:cNvSpPr txBox="1"/>
          <p:nvPr/>
        </p:nvSpPr>
        <p:spPr>
          <a:xfrm>
            <a:off x="6466018" y="2273591"/>
            <a:ext cx="124946" cy="256480"/>
          </a:xfrm>
          <a:prstGeom prst="rect">
            <a:avLst/>
          </a:prstGeom>
        </p:spPr>
        <p:txBody>
          <a:bodyPr vert="horz" wrap="square" lIns="0" tIns="0" rIns="0" bIns="0" rtlCol="0">
            <a:spAutoFit/>
          </a:bodyPr>
          <a:lstStyle/>
          <a:p>
            <a:pPr>
              <a:lnSpc>
                <a:spcPts val="1950"/>
              </a:lnSpc>
            </a:pPr>
            <a:r>
              <a:rPr sz="1765" spc="-4" dirty="0">
                <a:latin typeface="Arial" panose="020B0604020202020204"/>
                <a:cs typeface="Arial" panose="020B0604020202020204"/>
              </a:rPr>
              <a:t>4</a:t>
            </a:r>
            <a:endParaRPr sz="1765">
              <a:latin typeface="Arial" panose="020B0604020202020204"/>
              <a:cs typeface="Arial" panose="020B0604020202020204"/>
            </a:endParaRPr>
          </a:p>
        </p:txBody>
      </p:sp>
      <p:sp>
        <p:nvSpPr>
          <p:cNvPr id="14" name="object 14"/>
          <p:cNvSpPr/>
          <p:nvPr/>
        </p:nvSpPr>
        <p:spPr>
          <a:xfrm>
            <a:off x="5580529" y="3827032"/>
            <a:ext cx="2017059" cy="409015"/>
          </a:xfrm>
          <a:custGeom>
            <a:avLst/>
            <a:gdLst/>
            <a:ahLst/>
            <a:cxnLst/>
            <a:rect l="l" t="t" r="r" b="b"/>
            <a:pathLst>
              <a:path w="2286000" h="463550">
                <a:moveTo>
                  <a:pt x="0" y="463296"/>
                </a:moveTo>
                <a:lnTo>
                  <a:pt x="2286000" y="463296"/>
                </a:lnTo>
                <a:lnTo>
                  <a:pt x="2286000" y="0"/>
                </a:lnTo>
                <a:lnTo>
                  <a:pt x="0" y="0"/>
                </a:lnTo>
                <a:lnTo>
                  <a:pt x="0" y="463296"/>
                </a:lnTo>
                <a:close/>
              </a:path>
            </a:pathLst>
          </a:custGeom>
          <a:solidFill>
            <a:srgbClr val="66FF66"/>
          </a:solidFill>
        </p:spPr>
        <p:txBody>
          <a:bodyPr wrap="square" lIns="0" tIns="0" rIns="0" bIns="0" rtlCol="0"/>
          <a:lstStyle/>
          <a:p>
            <a:endParaRPr sz="1590"/>
          </a:p>
        </p:txBody>
      </p:sp>
      <p:sp>
        <p:nvSpPr>
          <p:cNvPr id="15" name="object 15"/>
          <p:cNvSpPr txBox="1"/>
          <p:nvPr/>
        </p:nvSpPr>
        <p:spPr>
          <a:xfrm>
            <a:off x="6466018" y="4735075"/>
            <a:ext cx="124946" cy="256480"/>
          </a:xfrm>
          <a:prstGeom prst="rect">
            <a:avLst/>
          </a:prstGeom>
        </p:spPr>
        <p:txBody>
          <a:bodyPr vert="horz" wrap="square" lIns="0" tIns="0" rIns="0" bIns="0" rtlCol="0">
            <a:spAutoFit/>
          </a:bodyPr>
          <a:lstStyle/>
          <a:p>
            <a:pPr>
              <a:lnSpc>
                <a:spcPts val="1950"/>
              </a:lnSpc>
            </a:pPr>
            <a:r>
              <a:rPr sz="1765" spc="-4" dirty="0">
                <a:latin typeface="Arial" panose="020B0604020202020204"/>
                <a:cs typeface="Arial" panose="020B0604020202020204"/>
              </a:rPr>
              <a:t>3</a:t>
            </a:r>
            <a:endParaRPr sz="1765">
              <a:latin typeface="Arial" panose="020B0604020202020204"/>
              <a:cs typeface="Arial" panose="020B0604020202020204"/>
            </a:endParaRPr>
          </a:p>
        </p:txBody>
      </p:sp>
      <p:grpSp>
        <p:nvGrpSpPr>
          <p:cNvPr id="16" name="object 16"/>
          <p:cNvGrpSpPr/>
          <p:nvPr/>
        </p:nvGrpSpPr>
        <p:grpSpPr>
          <a:xfrm>
            <a:off x="5580529" y="3092824"/>
            <a:ext cx="2017059" cy="1143000"/>
            <a:chOff x="6172200" y="3505200"/>
            <a:chExt cx="2286000" cy="1295400"/>
          </a:xfrm>
        </p:grpSpPr>
        <p:sp>
          <p:nvSpPr>
            <p:cNvPr id="17" name="object 17"/>
            <p:cNvSpPr/>
            <p:nvPr/>
          </p:nvSpPr>
          <p:spPr>
            <a:xfrm>
              <a:off x="6172200" y="4343400"/>
              <a:ext cx="2286000" cy="457200"/>
            </a:xfrm>
            <a:prstGeom prst="rect">
              <a:avLst/>
            </a:prstGeom>
            <a:blipFill>
              <a:blip r:embed="rId2" cstate="print"/>
              <a:stretch>
                <a:fillRect/>
              </a:stretch>
            </a:blipFill>
          </p:spPr>
          <p:txBody>
            <a:bodyPr wrap="square" lIns="0" tIns="0" rIns="0" bIns="0" rtlCol="0"/>
            <a:lstStyle/>
            <a:p>
              <a:endParaRPr sz="1590"/>
            </a:p>
          </p:txBody>
        </p:sp>
        <p:sp>
          <p:nvSpPr>
            <p:cNvPr id="18" name="object 18"/>
            <p:cNvSpPr/>
            <p:nvPr/>
          </p:nvSpPr>
          <p:spPr>
            <a:xfrm>
              <a:off x="6172200" y="3505200"/>
              <a:ext cx="2286000" cy="381000"/>
            </a:xfrm>
            <a:prstGeom prst="rect">
              <a:avLst/>
            </a:prstGeom>
            <a:blipFill>
              <a:blip r:embed="rId3" cstate="print"/>
              <a:stretch>
                <a:fillRect/>
              </a:stretch>
            </a:blipFill>
          </p:spPr>
          <p:txBody>
            <a:bodyPr wrap="square" lIns="0" tIns="0" rIns="0" bIns="0" rtlCol="0"/>
            <a:lstStyle/>
            <a:p>
              <a:endParaRPr sz="1590"/>
            </a:p>
          </p:txBody>
        </p:sp>
      </p:grpSp>
      <p:graphicFrame>
        <p:nvGraphicFramePr>
          <p:cNvPr id="19" name="object 19"/>
          <p:cNvGraphicFramePr>
            <a:graphicFrameLocks noGrp="1"/>
          </p:cNvGraphicFramePr>
          <p:nvPr/>
        </p:nvGraphicFramePr>
        <p:xfrm>
          <a:off x="5576327" y="1542209"/>
          <a:ext cx="2017059" cy="4267944"/>
        </p:xfrm>
        <a:graphic>
          <a:graphicData uri="http://schemas.openxmlformats.org/drawingml/2006/table">
            <a:tbl>
              <a:tblPr firstRow="1" bandRow="1">
                <a:tableStyleId>{2D5ABB26-0587-4C30-8999-92F81FD0307C}</a:tableStyleId>
              </a:tblPr>
              <a:tblGrid>
                <a:gridCol w="2017059"/>
              </a:tblGrid>
              <a:tr h="537882">
                <a:tc>
                  <a:txBody>
                    <a:bodyPr/>
                    <a:lstStyle/>
                    <a:p>
                      <a:pPr marR="1050925" algn="r">
                        <a:lnSpc>
                          <a:spcPct val="100000"/>
                        </a:lnSpc>
                        <a:spcBef>
                          <a:spcPts val="885"/>
                        </a:spcBef>
                      </a:pPr>
                      <a:r>
                        <a:rPr sz="2100" dirty="0">
                          <a:latin typeface="Arial" panose="020B0604020202020204"/>
                          <a:cs typeface="Arial" panose="020B0604020202020204"/>
                        </a:rPr>
                        <a:t>1</a:t>
                      </a:r>
                      <a:endParaRPr sz="2100">
                        <a:latin typeface="Arial" panose="020B0604020202020204"/>
                        <a:cs typeface="Arial" panose="020B0604020202020204"/>
                      </a:endParaRPr>
                    </a:p>
                  </a:txBody>
                  <a:tcPr marL="0" marR="0" marT="99172"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FFFF"/>
                    </a:solidFill>
                  </a:tcPr>
                </a:tc>
              </a:tr>
              <a:tr h="739588">
                <a:tc>
                  <a:txBody>
                    <a:bodyPr/>
                    <a:lstStyle/>
                    <a:p>
                      <a:pPr marR="1050925" algn="r">
                        <a:lnSpc>
                          <a:spcPct val="100000"/>
                        </a:lnSpc>
                        <a:spcBef>
                          <a:spcPts val="1785"/>
                        </a:spcBef>
                      </a:pPr>
                      <a:r>
                        <a:rPr sz="2100" dirty="0">
                          <a:latin typeface="Arial" panose="020B0604020202020204"/>
                          <a:cs typeface="Arial" panose="020B0604020202020204"/>
                        </a:rPr>
                        <a:t>4</a:t>
                      </a:r>
                      <a:endParaRPr sz="2100">
                        <a:latin typeface="Arial" panose="020B0604020202020204"/>
                        <a:cs typeface="Arial" panose="020B0604020202020204"/>
                      </a:endParaRPr>
                    </a:p>
                  </a:txBody>
                  <a:tcPr marL="0" marR="0" marT="20002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99CC"/>
                    </a:solidFill>
                  </a:tcPr>
                </a:tc>
              </a:tr>
              <a:tr h="268940">
                <a:tc>
                  <a:txBody>
                    <a:bodyPr/>
                    <a:lstStyle/>
                    <a:p>
                      <a:pPr>
                        <a:lnSpc>
                          <a:spcPct val="100000"/>
                        </a:lnSpc>
                      </a:pPr>
                      <a:endParaRPr sz="17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66FF66"/>
                    </a:solidFill>
                  </a:tcPr>
                </a:tc>
              </a:tr>
              <a:tr h="336176">
                <a:tc>
                  <a:txBody>
                    <a:bodyPr/>
                    <a:lstStyle/>
                    <a:p>
                      <a:pPr marR="1050925" algn="r">
                        <a:lnSpc>
                          <a:spcPts val="2870"/>
                        </a:lnSpc>
                      </a:pPr>
                      <a:r>
                        <a:rPr sz="2100" dirty="0">
                          <a:solidFill>
                            <a:srgbClr val="FFFF65"/>
                          </a:solidFill>
                          <a:latin typeface="Arial" panose="020B0604020202020204"/>
                          <a:cs typeface="Arial" panose="020B0604020202020204"/>
                        </a:rPr>
                        <a:t>5</a:t>
                      </a:r>
                      <a:endParaRPr sz="2100">
                        <a:latin typeface="Arial" panose="020B0604020202020204"/>
                        <a:cs typeface="Arial" panose="020B06040202020202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00721">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66FF66"/>
                    </a:solidFill>
                  </a:tcPr>
                </a:tc>
              </a:tr>
              <a:tr h="406101">
                <a:tc>
                  <a:txBody>
                    <a:bodyPr/>
                    <a:lstStyle/>
                    <a:p>
                      <a:pPr marR="1050925" algn="r">
                        <a:lnSpc>
                          <a:spcPct val="100000"/>
                        </a:lnSpc>
                        <a:spcBef>
                          <a:spcPts val="310"/>
                        </a:spcBef>
                      </a:pPr>
                      <a:r>
                        <a:rPr sz="2600" spc="-1027" baseline="-6000" dirty="0">
                          <a:latin typeface="Arial" panose="020B0604020202020204"/>
                          <a:cs typeface="Arial" panose="020B0604020202020204"/>
                        </a:rPr>
                        <a:t>2</a:t>
                      </a:r>
                      <a:r>
                        <a:rPr sz="2100" dirty="0">
                          <a:latin typeface="Arial" panose="020B0604020202020204"/>
                          <a:cs typeface="Arial" panose="020B0604020202020204"/>
                        </a:rPr>
                        <a:t>2</a:t>
                      </a:r>
                      <a:endParaRPr sz="2100">
                        <a:latin typeface="Arial" panose="020B0604020202020204"/>
                        <a:cs typeface="Arial" panose="020B0604020202020204"/>
                      </a:endParaRPr>
                    </a:p>
                  </a:txBody>
                  <a:tcPr marL="0" marR="0" marT="34738" marB="0">
                    <a:lnL w="12700">
                      <a:solidFill>
                        <a:srgbClr val="000000"/>
                      </a:solidFill>
                      <a:prstDash val="solid"/>
                    </a:lnL>
                    <a:lnR w="9525">
                      <a:solidFill>
                        <a:srgbClr val="000000"/>
                      </a:solidFill>
                      <a:prstDash val="solid"/>
                    </a:lnR>
                    <a:lnT w="19050">
                      <a:solidFill>
                        <a:srgbClr val="000000"/>
                      </a:solidFill>
                      <a:prstDash val="solid"/>
                    </a:lnT>
                    <a:lnB w="12700">
                      <a:solidFill>
                        <a:srgbClr val="000000"/>
                      </a:solidFill>
                      <a:prstDash val="solid"/>
                    </a:lnB>
                  </a:tcPr>
                </a:tc>
              </a:tr>
              <a:tr h="1140983">
                <a:tc>
                  <a:txBody>
                    <a:bodyPr/>
                    <a:lstStyle/>
                    <a:p>
                      <a:pPr>
                        <a:lnSpc>
                          <a:spcPct val="100000"/>
                        </a:lnSpc>
                        <a:spcBef>
                          <a:spcPts val="20"/>
                        </a:spcBef>
                      </a:pPr>
                      <a:endParaRPr sz="2700">
                        <a:latin typeface="Times New Roman" panose="02020603050405020304"/>
                        <a:cs typeface="Times New Roman" panose="02020603050405020304"/>
                      </a:endParaRPr>
                    </a:p>
                    <a:p>
                      <a:pPr marR="1050925" algn="r">
                        <a:lnSpc>
                          <a:spcPct val="100000"/>
                        </a:lnSpc>
                      </a:pPr>
                      <a:r>
                        <a:rPr sz="2100" dirty="0">
                          <a:latin typeface="Arial" panose="020B0604020202020204"/>
                          <a:cs typeface="Arial" panose="020B0604020202020204"/>
                        </a:rPr>
                        <a:t>3</a:t>
                      </a:r>
                      <a:endParaRPr sz="2100">
                        <a:latin typeface="Arial" panose="020B0604020202020204"/>
                        <a:cs typeface="Arial" panose="020B0604020202020204"/>
                      </a:endParaRPr>
                    </a:p>
                  </a:txBody>
                  <a:tcPr marL="0" marR="0" marT="2241" marB="0">
                    <a:lnL w="12700">
                      <a:solidFill>
                        <a:srgbClr val="000000"/>
                      </a:solidFill>
                      <a:prstDash val="solid"/>
                    </a:lnL>
                    <a:lnR w="9525">
                      <a:solidFill>
                        <a:srgbClr val="000000"/>
                      </a:solidFill>
                      <a:prstDash val="solid"/>
                    </a:lnR>
                    <a:lnT w="12700">
                      <a:solidFill>
                        <a:srgbClr val="000000"/>
                      </a:solidFill>
                      <a:prstDash val="solid"/>
                    </a:lnT>
                    <a:lnB w="19050">
                      <a:solidFill>
                        <a:srgbClr val="000000"/>
                      </a:solidFill>
                      <a:prstDash val="solid"/>
                    </a:lnB>
                    <a:solidFill>
                      <a:srgbClr val="FF00FF"/>
                    </a:solidFill>
                  </a:tcPr>
                </a:tc>
              </a:tr>
              <a:tr h="405429">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66FF66"/>
                    </a:solidFill>
                  </a:tcPr>
                </a:tc>
              </a:tr>
            </a:tbl>
          </a:graphicData>
        </a:graphic>
      </p:graphicFrame>
      <p:sp>
        <p:nvSpPr>
          <p:cNvPr id="20" name="object 20"/>
          <p:cNvSpPr/>
          <p:nvPr/>
        </p:nvSpPr>
        <p:spPr>
          <a:xfrm>
            <a:off x="1949824" y="4706470"/>
            <a:ext cx="1680881" cy="403412"/>
          </a:xfrm>
          <a:prstGeom prst="rect">
            <a:avLst/>
          </a:prstGeom>
          <a:blipFill>
            <a:blip r:embed="rId4" cstate="print"/>
            <a:stretch>
              <a:fillRect/>
            </a:stretch>
          </a:blipFill>
        </p:spPr>
        <p:txBody>
          <a:bodyPr wrap="square" lIns="0" tIns="0" rIns="0" bIns="0" rtlCol="0"/>
          <a:lstStyle/>
          <a:p>
            <a:endParaRPr sz="1590"/>
          </a:p>
        </p:txBody>
      </p:sp>
      <p:sp>
        <p:nvSpPr>
          <p:cNvPr id="21" name="object 21"/>
          <p:cNvSpPr txBox="1"/>
          <p:nvPr/>
        </p:nvSpPr>
        <p:spPr>
          <a:xfrm>
            <a:off x="1949824" y="4706471"/>
            <a:ext cx="1680882" cy="358172"/>
          </a:xfrm>
          <a:prstGeom prst="rect">
            <a:avLst/>
          </a:prstGeom>
          <a:ln w="9525">
            <a:solidFill>
              <a:srgbClr val="000000"/>
            </a:solidFill>
          </a:ln>
        </p:spPr>
        <p:txBody>
          <a:bodyPr vert="horz" wrap="square" lIns="0" tIns="31937" rIns="0" bIns="0" rtlCol="0">
            <a:spAutoFit/>
          </a:bodyPr>
          <a:lstStyle/>
          <a:p>
            <a:pPr algn="ctr">
              <a:spcBef>
                <a:spcPts val="250"/>
              </a:spcBef>
            </a:pPr>
            <a:r>
              <a:rPr sz="2120" spc="-4" dirty="0">
                <a:solidFill>
                  <a:srgbClr val="FFFF65"/>
                </a:solidFill>
                <a:latin typeface="Arial" panose="020B0604020202020204"/>
                <a:cs typeface="Arial" panose="020B0604020202020204"/>
              </a:rPr>
              <a:t>5</a:t>
            </a:r>
            <a:endParaRPr sz="2120">
              <a:latin typeface="Arial" panose="020B0604020202020204"/>
              <a:cs typeface="Arial" panose="020B0604020202020204"/>
            </a:endParaRPr>
          </a:p>
        </p:txBody>
      </p:sp>
      <p:sp>
        <p:nvSpPr>
          <p:cNvPr id="22" name="object 22"/>
          <p:cNvSpPr/>
          <p:nvPr/>
        </p:nvSpPr>
        <p:spPr>
          <a:xfrm>
            <a:off x="5580529" y="1546412"/>
            <a:ext cx="2017059" cy="4235824"/>
          </a:xfrm>
          <a:custGeom>
            <a:avLst/>
            <a:gdLst/>
            <a:ahLst/>
            <a:cxnLst/>
            <a:rect l="l" t="t" r="r" b="b"/>
            <a:pathLst>
              <a:path w="2286000" h="4800600">
                <a:moveTo>
                  <a:pt x="0" y="0"/>
                </a:moveTo>
                <a:lnTo>
                  <a:pt x="0" y="4800600"/>
                </a:lnTo>
                <a:lnTo>
                  <a:pt x="2286000" y="4800600"/>
                </a:lnTo>
                <a:lnTo>
                  <a:pt x="2286000" y="0"/>
                </a:lnTo>
                <a:lnTo>
                  <a:pt x="0" y="0"/>
                </a:lnTo>
                <a:close/>
              </a:path>
            </a:pathLst>
          </a:custGeom>
          <a:ln w="57150">
            <a:solidFill>
              <a:srgbClr val="FFFFFF"/>
            </a:solidFill>
          </a:ln>
        </p:spPr>
        <p:txBody>
          <a:bodyPr wrap="square" lIns="0" tIns="0" rIns="0" bIns="0" rtlCol="0"/>
          <a:lstStyle/>
          <a:p>
            <a:endParaRPr sz="159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442" y="474905"/>
            <a:ext cx="2328358"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grpSp>
        <p:nvGrpSpPr>
          <p:cNvPr id="3" name="object 3"/>
          <p:cNvGrpSpPr/>
          <p:nvPr/>
        </p:nvGrpSpPr>
        <p:grpSpPr>
          <a:xfrm>
            <a:off x="647140" y="1722905"/>
            <a:ext cx="3479426" cy="4151779"/>
            <a:chOff x="581025" y="1952625"/>
            <a:chExt cx="3943350" cy="4705350"/>
          </a:xfrm>
        </p:grpSpPr>
        <p:sp>
          <p:nvSpPr>
            <p:cNvPr id="4" name="object 4"/>
            <p:cNvSpPr/>
            <p:nvPr/>
          </p:nvSpPr>
          <p:spPr>
            <a:xfrm>
              <a:off x="609600" y="1981200"/>
              <a:ext cx="3886200" cy="4648200"/>
            </a:xfrm>
            <a:custGeom>
              <a:avLst/>
              <a:gdLst/>
              <a:ahLst/>
              <a:cxnLst/>
              <a:rect l="l" t="t" r="r" b="b"/>
              <a:pathLst>
                <a:path w="3886200" h="4648200">
                  <a:moveTo>
                    <a:pt x="3886200" y="2324100"/>
                  </a:moveTo>
                  <a:lnTo>
                    <a:pt x="3885711" y="2271473"/>
                  </a:lnTo>
                  <a:lnTo>
                    <a:pt x="3884254" y="2219133"/>
                  </a:lnTo>
                  <a:lnTo>
                    <a:pt x="3881837" y="2167093"/>
                  </a:lnTo>
                  <a:lnTo>
                    <a:pt x="3878471" y="2115363"/>
                  </a:lnTo>
                  <a:lnTo>
                    <a:pt x="3874167" y="2063958"/>
                  </a:lnTo>
                  <a:lnTo>
                    <a:pt x="3868934" y="2012888"/>
                  </a:lnTo>
                  <a:lnTo>
                    <a:pt x="3862784" y="1962167"/>
                  </a:lnTo>
                  <a:lnTo>
                    <a:pt x="3855725" y="1911806"/>
                  </a:lnTo>
                  <a:lnTo>
                    <a:pt x="3847769" y="1861818"/>
                  </a:lnTo>
                  <a:lnTo>
                    <a:pt x="3838927" y="1812215"/>
                  </a:lnTo>
                  <a:lnTo>
                    <a:pt x="3829207" y="1763009"/>
                  </a:lnTo>
                  <a:lnTo>
                    <a:pt x="3818621" y="1714213"/>
                  </a:lnTo>
                  <a:lnTo>
                    <a:pt x="3807178" y="1665839"/>
                  </a:lnTo>
                  <a:lnTo>
                    <a:pt x="3794890" y="1617899"/>
                  </a:lnTo>
                  <a:lnTo>
                    <a:pt x="3781766" y="1570406"/>
                  </a:lnTo>
                  <a:lnTo>
                    <a:pt x="3767817" y="1523371"/>
                  </a:lnTo>
                  <a:lnTo>
                    <a:pt x="3753052" y="1476807"/>
                  </a:lnTo>
                  <a:lnTo>
                    <a:pt x="3737483" y="1430727"/>
                  </a:lnTo>
                  <a:lnTo>
                    <a:pt x="3721119" y="1385142"/>
                  </a:lnTo>
                  <a:lnTo>
                    <a:pt x="3703972" y="1340066"/>
                  </a:lnTo>
                  <a:lnTo>
                    <a:pt x="3686050" y="1295509"/>
                  </a:lnTo>
                  <a:lnTo>
                    <a:pt x="3667365" y="1251485"/>
                  </a:lnTo>
                  <a:lnTo>
                    <a:pt x="3647926" y="1208006"/>
                  </a:lnTo>
                  <a:lnTo>
                    <a:pt x="3627745" y="1165083"/>
                  </a:lnTo>
                  <a:lnTo>
                    <a:pt x="3606830" y="1122730"/>
                  </a:lnTo>
                  <a:lnTo>
                    <a:pt x="3585194" y="1080959"/>
                  </a:lnTo>
                  <a:lnTo>
                    <a:pt x="3562845" y="1039781"/>
                  </a:lnTo>
                  <a:lnTo>
                    <a:pt x="3539795" y="999210"/>
                  </a:lnTo>
                  <a:lnTo>
                    <a:pt x="3516053" y="959257"/>
                  </a:lnTo>
                  <a:lnTo>
                    <a:pt x="3491630" y="919934"/>
                  </a:lnTo>
                  <a:lnTo>
                    <a:pt x="3466536" y="881255"/>
                  </a:lnTo>
                  <a:lnTo>
                    <a:pt x="3440781" y="843231"/>
                  </a:lnTo>
                  <a:lnTo>
                    <a:pt x="3414376" y="805874"/>
                  </a:lnTo>
                  <a:lnTo>
                    <a:pt x="3387331" y="769198"/>
                  </a:lnTo>
                  <a:lnTo>
                    <a:pt x="3359656" y="733213"/>
                  </a:lnTo>
                  <a:lnTo>
                    <a:pt x="3331362" y="697933"/>
                  </a:lnTo>
                  <a:lnTo>
                    <a:pt x="3302458" y="663369"/>
                  </a:lnTo>
                  <a:lnTo>
                    <a:pt x="3272956" y="629535"/>
                  </a:lnTo>
                  <a:lnTo>
                    <a:pt x="3242865" y="596442"/>
                  </a:lnTo>
                  <a:lnTo>
                    <a:pt x="3212196" y="564102"/>
                  </a:lnTo>
                  <a:lnTo>
                    <a:pt x="3180959" y="532528"/>
                  </a:lnTo>
                  <a:lnTo>
                    <a:pt x="3149165" y="501732"/>
                  </a:lnTo>
                  <a:lnTo>
                    <a:pt x="3116823" y="471726"/>
                  </a:lnTo>
                  <a:lnTo>
                    <a:pt x="3083943" y="442524"/>
                  </a:lnTo>
                  <a:lnTo>
                    <a:pt x="3050538" y="414136"/>
                  </a:lnTo>
                  <a:lnTo>
                    <a:pt x="3016615" y="386575"/>
                  </a:lnTo>
                  <a:lnTo>
                    <a:pt x="2982187" y="359854"/>
                  </a:lnTo>
                  <a:lnTo>
                    <a:pt x="2947262" y="333984"/>
                  </a:lnTo>
                  <a:lnTo>
                    <a:pt x="2911852" y="308979"/>
                  </a:lnTo>
                  <a:lnTo>
                    <a:pt x="2875967" y="284850"/>
                  </a:lnTo>
                  <a:lnTo>
                    <a:pt x="2839616" y="261609"/>
                  </a:lnTo>
                  <a:lnTo>
                    <a:pt x="2802811" y="239270"/>
                  </a:lnTo>
                  <a:lnTo>
                    <a:pt x="2765562" y="217844"/>
                  </a:lnTo>
                  <a:lnTo>
                    <a:pt x="2727878" y="197343"/>
                  </a:lnTo>
                  <a:lnTo>
                    <a:pt x="2689771" y="177780"/>
                  </a:lnTo>
                  <a:lnTo>
                    <a:pt x="2651250" y="159167"/>
                  </a:lnTo>
                  <a:lnTo>
                    <a:pt x="2612326" y="141516"/>
                  </a:lnTo>
                  <a:lnTo>
                    <a:pt x="2573009" y="124840"/>
                  </a:lnTo>
                  <a:lnTo>
                    <a:pt x="2533309" y="109150"/>
                  </a:lnTo>
                  <a:lnTo>
                    <a:pt x="2493237" y="94460"/>
                  </a:lnTo>
                  <a:lnTo>
                    <a:pt x="2452802" y="80781"/>
                  </a:lnTo>
                  <a:lnTo>
                    <a:pt x="2412016" y="68126"/>
                  </a:lnTo>
                  <a:lnTo>
                    <a:pt x="2370889" y="56507"/>
                  </a:lnTo>
                  <a:lnTo>
                    <a:pt x="2329430" y="45937"/>
                  </a:lnTo>
                  <a:lnTo>
                    <a:pt x="2287651" y="36427"/>
                  </a:lnTo>
                  <a:lnTo>
                    <a:pt x="2245561" y="27989"/>
                  </a:lnTo>
                  <a:lnTo>
                    <a:pt x="2203171" y="20637"/>
                  </a:lnTo>
                  <a:lnTo>
                    <a:pt x="2160490" y="14382"/>
                  </a:lnTo>
                  <a:lnTo>
                    <a:pt x="2117530" y="9237"/>
                  </a:lnTo>
                  <a:lnTo>
                    <a:pt x="2074301" y="5214"/>
                  </a:lnTo>
                  <a:lnTo>
                    <a:pt x="2030813" y="2325"/>
                  </a:lnTo>
                  <a:lnTo>
                    <a:pt x="1987075" y="583"/>
                  </a:lnTo>
                  <a:lnTo>
                    <a:pt x="1943099" y="0"/>
                  </a:lnTo>
                  <a:lnTo>
                    <a:pt x="1899124" y="583"/>
                  </a:lnTo>
                  <a:lnTo>
                    <a:pt x="1855386" y="2325"/>
                  </a:lnTo>
                  <a:lnTo>
                    <a:pt x="1811898" y="5214"/>
                  </a:lnTo>
                  <a:lnTo>
                    <a:pt x="1768669" y="9237"/>
                  </a:lnTo>
                  <a:lnTo>
                    <a:pt x="1725709" y="14382"/>
                  </a:lnTo>
                  <a:lnTo>
                    <a:pt x="1683028" y="20637"/>
                  </a:lnTo>
                  <a:lnTo>
                    <a:pt x="1640638" y="27989"/>
                  </a:lnTo>
                  <a:lnTo>
                    <a:pt x="1598548" y="36427"/>
                  </a:lnTo>
                  <a:lnTo>
                    <a:pt x="1556769" y="45937"/>
                  </a:lnTo>
                  <a:lnTo>
                    <a:pt x="1515310" y="56507"/>
                  </a:lnTo>
                  <a:lnTo>
                    <a:pt x="1474183" y="68126"/>
                  </a:lnTo>
                  <a:lnTo>
                    <a:pt x="1433397" y="80781"/>
                  </a:lnTo>
                  <a:lnTo>
                    <a:pt x="1392962" y="94460"/>
                  </a:lnTo>
                  <a:lnTo>
                    <a:pt x="1352890" y="109150"/>
                  </a:lnTo>
                  <a:lnTo>
                    <a:pt x="1313190" y="124840"/>
                  </a:lnTo>
                  <a:lnTo>
                    <a:pt x="1273873" y="141516"/>
                  </a:lnTo>
                  <a:lnTo>
                    <a:pt x="1234949" y="159167"/>
                  </a:lnTo>
                  <a:lnTo>
                    <a:pt x="1196428" y="177780"/>
                  </a:lnTo>
                  <a:lnTo>
                    <a:pt x="1158321" y="197343"/>
                  </a:lnTo>
                  <a:lnTo>
                    <a:pt x="1120637" y="217844"/>
                  </a:lnTo>
                  <a:lnTo>
                    <a:pt x="1083388" y="239270"/>
                  </a:lnTo>
                  <a:lnTo>
                    <a:pt x="1046583" y="261609"/>
                  </a:lnTo>
                  <a:lnTo>
                    <a:pt x="1010232" y="284850"/>
                  </a:lnTo>
                  <a:lnTo>
                    <a:pt x="974347" y="308979"/>
                  </a:lnTo>
                  <a:lnTo>
                    <a:pt x="938937" y="333984"/>
                  </a:lnTo>
                  <a:lnTo>
                    <a:pt x="904012" y="359854"/>
                  </a:lnTo>
                  <a:lnTo>
                    <a:pt x="869584" y="386575"/>
                  </a:lnTo>
                  <a:lnTo>
                    <a:pt x="835661" y="414136"/>
                  </a:lnTo>
                  <a:lnTo>
                    <a:pt x="802256" y="442524"/>
                  </a:lnTo>
                  <a:lnTo>
                    <a:pt x="769376" y="471726"/>
                  </a:lnTo>
                  <a:lnTo>
                    <a:pt x="737034" y="501732"/>
                  </a:lnTo>
                  <a:lnTo>
                    <a:pt x="705240" y="532528"/>
                  </a:lnTo>
                  <a:lnTo>
                    <a:pt x="674003" y="564102"/>
                  </a:lnTo>
                  <a:lnTo>
                    <a:pt x="643334" y="596442"/>
                  </a:lnTo>
                  <a:lnTo>
                    <a:pt x="613243" y="629535"/>
                  </a:lnTo>
                  <a:lnTo>
                    <a:pt x="583741" y="663369"/>
                  </a:lnTo>
                  <a:lnTo>
                    <a:pt x="554837" y="697933"/>
                  </a:lnTo>
                  <a:lnTo>
                    <a:pt x="526543" y="733213"/>
                  </a:lnTo>
                  <a:lnTo>
                    <a:pt x="498868" y="769198"/>
                  </a:lnTo>
                  <a:lnTo>
                    <a:pt x="471823" y="805874"/>
                  </a:lnTo>
                  <a:lnTo>
                    <a:pt x="445418" y="843231"/>
                  </a:lnTo>
                  <a:lnTo>
                    <a:pt x="419663" y="881255"/>
                  </a:lnTo>
                  <a:lnTo>
                    <a:pt x="394569" y="919934"/>
                  </a:lnTo>
                  <a:lnTo>
                    <a:pt x="370146" y="959257"/>
                  </a:lnTo>
                  <a:lnTo>
                    <a:pt x="346404" y="999210"/>
                  </a:lnTo>
                  <a:lnTo>
                    <a:pt x="323354" y="1039781"/>
                  </a:lnTo>
                  <a:lnTo>
                    <a:pt x="301005" y="1080959"/>
                  </a:lnTo>
                  <a:lnTo>
                    <a:pt x="279369" y="1122730"/>
                  </a:lnTo>
                  <a:lnTo>
                    <a:pt x="258454" y="1165083"/>
                  </a:lnTo>
                  <a:lnTo>
                    <a:pt x="238273" y="1208006"/>
                  </a:lnTo>
                  <a:lnTo>
                    <a:pt x="218834" y="1251485"/>
                  </a:lnTo>
                  <a:lnTo>
                    <a:pt x="200149" y="1295509"/>
                  </a:lnTo>
                  <a:lnTo>
                    <a:pt x="182227" y="1340066"/>
                  </a:lnTo>
                  <a:lnTo>
                    <a:pt x="165080" y="1385142"/>
                  </a:lnTo>
                  <a:lnTo>
                    <a:pt x="148716" y="1430727"/>
                  </a:lnTo>
                  <a:lnTo>
                    <a:pt x="133147" y="1476807"/>
                  </a:lnTo>
                  <a:lnTo>
                    <a:pt x="118382" y="1523371"/>
                  </a:lnTo>
                  <a:lnTo>
                    <a:pt x="104433" y="1570406"/>
                  </a:lnTo>
                  <a:lnTo>
                    <a:pt x="91309" y="1617899"/>
                  </a:lnTo>
                  <a:lnTo>
                    <a:pt x="79021" y="1665839"/>
                  </a:lnTo>
                  <a:lnTo>
                    <a:pt x="67578" y="1714213"/>
                  </a:lnTo>
                  <a:lnTo>
                    <a:pt x="56992" y="1763009"/>
                  </a:lnTo>
                  <a:lnTo>
                    <a:pt x="47272" y="1812215"/>
                  </a:lnTo>
                  <a:lnTo>
                    <a:pt x="38430" y="1861818"/>
                  </a:lnTo>
                  <a:lnTo>
                    <a:pt x="30474" y="1911806"/>
                  </a:lnTo>
                  <a:lnTo>
                    <a:pt x="23415" y="1962167"/>
                  </a:lnTo>
                  <a:lnTo>
                    <a:pt x="17265" y="2012888"/>
                  </a:lnTo>
                  <a:lnTo>
                    <a:pt x="12032" y="2063958"/>
                  </a:lnTo>
                  <a:lnTo>
                    <a:pt x="7728" y="2115363"/>
                  </a:lnTo>
                  <a:lnTo>
                    <a:pt x="4362" y="2167093"/>
                  </a:lnTo>
                  <a:lnTo>
                    <a:pt x="1945" y="2219133"/>
                  </a:lnTo>
                  <a:lnTo>
                    <a:pt x="488" y="2271473"/>
                  </a:lnTo>
                  <a:lnTo>
                    <a:pt x="0" y="2324100"/>
                  </a:lnTo>
                  <a:lnTo>
                    <a:pt x="488" y="2376726"/>
                  </a:lnTo>
                  <a:lnTo>
                    <a:pt x="1945" y="2429066"/>
                  </a:lnTo>
                  <a:lnTo>
                    <a:pt x="4362" y="2481106"/>
                  </a:lnTo>
                  <a:lnTo>
                    <a:pt x="7728" y="2532836"/>
                  </a:lnTo>
                  <a:lnTo>
                    <a:pt x="12032" y="2584241"/>
                  </a:lnTo>
                  <a:lnTo>
                    <a:pt x="17265" y="2635311"/>
                  </a:lnTo>
                  <a:lnTo>
                    <a:pt x="23415" y="2686032"/>
                  </a:lnTo>
                  <a:lnTo>
                    <a:pt x="30474" y="2736393"/>
                  </a:lnTo>
                  <a:lnTo>
                    <a:pt x="38430" y="2786381"/>
                  </a:lnTo>
                  <a:lnTo>
                    <a:pt x="47272" y="2835984"/>
                  </a:lnTo>
                  <a:lnTo>
                    <a:pt x="56992" y="2885190"/>
                  </a:lnTo>
                  <a:lnTo>
                    <a:pt x="67578" y="2933986"/>
                  </a:lnTo>
                  <a:lnTo>
                    <a:pt x="79021" y="2982360"/>
                  </a:lnTo>
                  <a:lnTo>
                    <a:pt x="91309" y="3030300"/>
                  </a:lnTo>
                  <a:lnTo>
                    <a:pt x="104433" y="3077793"/>
                  </a:lnTo>
                  <a:lnTo>
                    <a:pt x="118382" y="3124828"/>
                  </a:lnTo>
                  <a:lnTo>
                    <a:pt x="133147" y="3171392"/>
                  </a:lnTo>
                  <a:lnTo>
                    <a:pt x="148716" y="3217472"/>
                  </a:lnTo>
                  <a:lnTo>
                    <a:pt x="165080" y="3263057"/>
                  </a:lnTo>
                  <a:lnTo>
                    <a:pt x="182227" y="3308133"/>
                  </a:lnTo>
                  <a:lnTo>
                    <a:pt x="200149" y="3352690"/>
                  </a:lnTo>
                  <a:lnTo>
                    <a:pt x="218834" y="3396714"/>
                  </a:lnTo>
                  <a:lnTo>
                    <a:pt x="238273" y="3440193"/>
                  </a:lnTo>
                  <a:lnTo>
                    <a:pt x="258454" y="3483116"/>
                  </a:lnTo>
                  <a:lnTo>
                    <a:pt x="279369" y="3525469"/>
                  </a:lnTo>
                  <a:lnTo>
                    <a:pt x="301005" y="3567240"/>
                  </a:lnTo>
                  <a:lnTo>
                    <a:pt x="323354" y="3608418"/>
                  </a:lnTo>
                  <a:lnTo>
                    <a:pt x="346404" y="3648989"/>
                  </a:lnTo>
                  <a:lnTo>
                    <a:pt x="370146" y="3688942"/>
                  </a:lnTo>
                  <a:lnTo>
                    <a:pt x="394569" y="3728265"/>
                  </a:lnTo>
                  <a:lnTo>
                    <a:pt x="419663" y="3766944"/>
                  </a:lnTo>
                  <a:lnTo>
                    <a:pt x="445418" y="3804968"/>
                  </a:lnTo>
                  <a:lnTo>
                    <a:pt x="471823" y="3842325"/>
                  </a:lnTo>
                  <a:lnTo>
                    <a:pt x="498868" y="3879001"/>
                  </a:lnTo>
                  <a:lnTo>
                    <a:pt x="526543" y="3914986"/>
                  </a:lnTo>
                  <a:lnTo>
                    <a:pt x="554837" y="3950266"/>
                  </a:lnTo>
                  <a:lnTo>
                    <a:pt x="583741" y="3984830"/>
                  </a:lnTo>
                  <a:lnTo>
                    <a:pt x="613243" y="4018664"/>
                  </a:lnTo>
                  <a:lnTo>
                    <a:pt x="643334" y="4051757"/>
                  </a:lnTo>
                  <a:lnTo>
                    <a:pt x="674003" y="4084097"/>
                  </a:lnTo>
                  <a:lnTo>
                    <a:pt x="705240" y="4115671"/>
                  </a:lnTo>
                  <a:lnTo>
                    <a:pt x="737034" y="4146467"/>
                  </a:lnTo>
                  <a:lnTo>
                    <a:pt x="769376" y="4176473"/>
                  </a:lnTo>
                  <a:lnTo>
                    <a:pt x="802256" y="4205675"/>
                  </a:lnTo>
                  <a:lnTo>
                    <a:pt x="835661" y="4234063"/>
                  </a:lnTo>
                  <a:lnTo>
                    <a:pt x="869584" y="4261624"/>
                  </a:lnTo>
                  <a:lnTo>
                    <a:pt x="904012" y="4288345"/>
                  </a:lnTo>
                  <a:lnTo>
                    <a:pt x="938937" y="4314215"/>
                  </a:lnTo>
                  <a:lnTo>
                    <a:pt x="974347" y="4339220"/>
                  </a:lnTo>
                  <a:lnTo>
                    <a:pt x="1010232" y="4363349"/>
                  </a:lnTo>
                  <a:lnTo>
                    <a:pt x="1046583" y="4386590"/>
                  </a:lnTo>
                  <a:lnTo>
                    <a:pt x="1083388" y="4408929"/>
                  </a:lnTo>
                  <a:lnTo>
                    <a:pt x="1120637" y="4430355"/>
                  </a:lnTo>
                  <a:lnTo>
                    <a:pt x="1158321" y="4450856"/>
                  </a:lnTo>
                  <a:lnTo>
                    <a:pt x="1196428" y="4470419"/>
                  </a:lnTo>
                  <a:lnTo>
                    <a:pt x="1234949" y="4489032"/>
                  </a:lnTo>
                  <a:lnTo>
                    <a:pt x="1273873" y="4506683"/>
                  </a:lnTo>
                  <a:lnTo>
                    <a:pt x="1313190" y="4523359"/>
                  </a:lnTo>
                  <a:lnTo>
                    <a:pt x="1352890" y="4539049"/>
                  </a:lnTo>
                  <a:lnTo>
                    <a:pt x="1392962" y="4553739"/>
                  </a:lnTo>
                  <a:lnTo>
                    <a:pt x="1433397" y="4567418"/>
                  </a:lnTo>
                  <a:lnTo>
                    <a:pt x="1474183" y="4580073"/>
                  </a:lnTo>
                  <a:lnTo>
                    <a:pt x="1515310" y="4591692"/>
                  </a:lnTo>
                  <a:lnTo>
                    <a:pt x="1556769" y="4602262"/>
                  </a:lnTo>
                  <a:lnTo>
                    <a:pt x="1598548" y="4611772"/>
                  </a:lnTo>
                  <a:lnTo>
                    <a:pt x="1640638" y="4620210"/>
                  </a:lnTo>
                  <a:lnTo>
                    <a:pt x="1683028" y="4627562"/>
                  </a:lnTo>
                  <a:lnTo>
                    <a:pt x="1725709" y="4633817"/>
                  </a:lnTo>
                  <a:lnTo>
                    <a:pt x="1768669" y="4638962"/>
                  </a:lnTo>
                  <a:lnTo>
                    <a:pt x="1811898" y="4642985"/>
                  </a:lnTo>
                  <a:lnTo>
                    <a:pt x="1855386" y="4645874"/>
                  </a:lnTo>
                  <a:lnTo>
                    <a:pt x="1899124" y="4647616"/>
                  </a:lnTo>
                  <a:lnTo>
                    <a:pt x="1943100" y="4648200"/>
                  </a:lnTo>
                  <a:lnTo>
                    <a:pt x="1987075" y="4647616"/>
                  </a:lnTo>
                  <a:lnTo>
                    <a:pt x="2030813" y="4645874"/>
                  </a:lnTo>
                  <a:lnTo>
                    <a:pt x="2074301" y="4642985"/>
                  </a:lnTo>
                  <a:lnTo>
                    <a:pt x="2117530" y="4638962"/>
                  </a:lnTo>
                  <a:lnTo>
                    <a:pt x="2160490" y="4633817"/>
                  </a:lnTo>
                  <a:lnTo>
                    <a:pt x="2203171" y="4627562"/>
                  </a:lnTo>
                  <a:lnTo>
                    <a:pt x="2245561" y="4620210"/>
                  </a:lnTo>
                  <a:lnTo>
                    <a:pt x="2287651" y="4611772"/>
                  </a:lnTo>
                  <a:lnTo>
                    <a:pt x="2329430" y="4602262"/>
                  </a:lnTo>
                  <a:lnTo>
                    <a:pt x="2370889" y="4591692"/>
                  </a:lnTo>
                  <a:lnTo>
                    <a:pt x="2412016" y="4580073"/>
                  </a:lnTo>
                  <a:lnTo>
                    <a:pt x="2452802" y="4567418"/>
                  </a:lnTo>
                  <a:lnTo>
                    <a:pt x="2493237" y="4553739"/>
                  </a:lnTo>
                  <a:lnTo>
                    <a:pt x="2533309" y="4539049"/>
                  </a:lnTo>
                  <a:lnTo>
                    <a:pt x="2573009" y="4523359"/>
                  </a:lnTo>
                  <a:lnTo>
                    <a:pt x="2612326" y="4506683"/>
                  </a:lnTo>
                  <a:lnTo>
                    <a:pt x="2651250" y="4489032"/>
                  </a:lnTo>
                  <a:lnTo>
                    <a:pt x="2689771" y="4470419"/>
                  </a:lnTo>
                  <a:lnTo>
                    <a:pt x="2727878" y="4450856"/>
                  </a:lnTo>
                  <a:lnTo>
                    <a:pt x="2765562" y="4430355"/>
                  </a:lnTo>
                  <a:lnTo>
                    <a:pt x="2802811" y="4408929"/>
                  </a:lnTo>
                  <a:lnTo>
                    <a:pt x="2839616" y="4386590"/>
                  </a:lnTo>
                  <a:lnTo>
                    <a:pt x="2875967" y="4363349"/>
                  </a:lnTo>
                  <a:lnTo>
                    <a:pt x="2911852" y="4339220"/>
                  </a:lnTo>
                  <a:lnTo>
                    <a:pt x="2947262" y="4314215"/>
                  </a:lnTo>
                  <a:lnTo>
                    <a:pt x="2982187" y="4288345"/>
                  </a:lnTo>
                  <a:lnTo>
                    <a:pt x="3016615" y="4261624"/>
                  </a:lnTo>
                  <a:lnTo>
                    <a:pt x="3050538" y="4234063"/>
                  </a:lnTo>
                  <a:lnTo>
                    <a:pt x="3083943" y="4205675"/>
                  </a:lnTo>
                  <a:lnTo>
                    <a:pt x="3116823" y="4176473"/>
                  </a:lnTo>
                  <a:lnTo>
                    <a:pt x="3149165" y="4146467"/>
                  </a:lnTo>
                  <a:lnTo>
                    <a:pt x="3180959" y="4115671"/>
                  </a:lnTo>
                  <a:lnTo>
                    <a:pt x="3212196" y="4084097"/>
                  </a:lnTo>
                  <a:lnTo>
                    <a:pt x="3242865" y="4051757"/>
                  </a:lnTo>
                  <a:lnTo>
                    <a:pt x="3272956" y="4018664"/>
                  </a:lnTo>
                  <a:lnTo>
                    <a:pt x="3302458" y="3984830"/>
                  </a:lnTo>
                  <a:lnTo>
                    <a:pt x="3331362" y="3950266"/>
                  </a:lnTo>
                  <a:lnTo>
                    <a:pt x="3359656" y="3914986"/>
                  </a:lnTo>
                  <a:lnTo>
                    <a:pt x="3387331" y="3879001"/>
                  </a:lnTo>
                  <a:lnTo>
                    <a:pt x="3414376" y="3842325"/>
                  </a:lnTo>
                  <a:lnTo>
                    <a:pt x="3440781" y="3804968"/>
                  </a:lnTo>
                  <a:lnTo>
                    <a:pt x="3466536" y="3766944"/>
                  </a:lnTo>
                  <a:lnTo>
                    <a:pt x="3491630" y="3728265"/>
                  </a:lnTo>
                  <a:lnTo>
                    <a:pt x="3516053" y="3688942"/>
                  </a:lnTo>
                  <a:lnTo>
                    <a:pt x="3539795" y="3648989"/>
                  </a:lnTo>
                  <a:lnTo>
                    <a:pt x="3562845" y="3608418"/>
                  </a:lnTo>
                  <a:lnTo>
                    <a:pt x="3585194" y="3567240"/>
                  </a:lnTo>
                  <a:lnTo>
                    <a:pt x="3606830" y="3525469"/>
                  </a:lnTo>
                  <a:lnTo>
                    <a:pt x="3627745" y="3483116"/>
                  </a:lnTo>
                  <a:lnTo>
                    <a:pt x="3647926" y="3440193"/>
                  </a:lnTo>
                  <a:lnTo>
                    <a:pt x="3667365" y="3396714"/>
                  </a:lnTo>
                  <a:lnTo>
                    <a:pt x="3686050" y="3352690"/>
                  </a:lnTo>
                  <a:lnTo>
                    <a:pt x="3703972" y="3308133"/>
                  </a:lnTo>
                  <a:lnTo>
                    <a:pt x="3721119" y="3263057"/>
                  </a:lnTo>
                  <a:lnTo>
                    <a:pt x="3737483" y="3217472"/>
                  </a:lnTo>
                  <a:lnTo>
                    <a:pt x="3753052" y="3171392"/>
                  </a:lnTo>
                  <a:lnTo>
                    <a:pt x="3767817" y="3124828"/>
                  </a:lnTo>
                  <a:lnTo>
                    <a:pt x="3781766" y="3077793"/>
                  </a:lnTo>
                  <a:lnTo>
                    <a:pt x="3794890" y="3030300"/>
                  </a:lnTo>
                  <a:lnTo>
                    <a:pt x="3807178" y="2982360"/>
                  </a:lnTo>
                  <a:lnTo>
                    <a:pt x="3818621" y="2933986"/>
                  </a:lnTo>
                  <a:lnTo>
                    <a:pt x="3829207" y="2885190"/>
                  </a:lnTo>
                  <a:lnTo>
                    <a:pt x="3838927" y="2835984"/>
                  </a:lnTo>
                  <a:lnTo>
                    <a:pt x="3847769" y="2786381"/>
                  </a:lnTo>
                  <a:lnTo>
                    <a:pt x="3855725" y="2736393"/>
                  </a:lnTo>
                  <a:lnTo>
                    <a:pt x="3862784" y="2686032"/>
                  </a:lnTo>
                  <a:lnTo>
                    <a:pt x="3868934" y="2635311"/>
                  </a:lnTo>
                  <a:lnTo>
                    <a:pt x="3874167" y="2584241"/>
                  </a:lnTo>
                  <a:lnTo>
                    <a:pt x="3878471" y="2532836"/>
                  </a:lnTo>
                  <a:lnTo>
                    <a:pt x="3881837" y="2481106"/>
                  </a:lnTo>
                  <a:lnTo>
                    <a:pt x="3884254" y="2429066"/>
                  </a:lnTo>
                  <a:lnTo>
                    <a:pt x="3885711" y="2376726"/>
                  </a:lnTo>
                  <a:lnTo>
                    <a:pt x="3886200" y="2324100"/>
                  </a:lnTo>
                  <a:close/>
                </a:path>
              </a:pathLst>
            </a:custGeom>
            <a:solidFill>
              <a:srgbClr val="FFFF66"/>
            </a:solidFill>
          </p:spPr>
          <p:txBody>
            <a:bodyPr wrap="square" lIns="0" tIns="0" rIns="0" bIns="0" rtlCol="0"/>
            <a:lstStyle/>
            <a:p>
              <a:endParaRPr sz="1590"/>
            </a:p>
          </p:txBody>
        </p:sp>
        <p:sp>
          <p:nvSpPr>
            <p:cNvPr id="5" name="object 5"/>
            <p:cNvSpPr/>
            <p:nvPr/>
          </p:nvSpPr>
          <p:spPr>
            <a:xfrm>
              <a:off x="609600" y="1981200"/>
              <a:ext cx="3886200" cy="4648200"/>
            </a:xfrm>
            <a:custGeom>
              <a:avLst/>
              <a:gdLst/>
              <a:ahLst/>
              <a:cxnLst/>
              <a:rect l="l" t="t" r="r" b="b"/>
              <a:pathLst>
                <a:path w="3886200" h="4648200">
                  <a:moveTo>
                    <a:pt x="1943099" y="0"/>
                  </a:moveTo>
                  <a:lnTo>
                    <a:pt x="1899124" y="583"/>
                  </a:lnTo>
                  <a:lnTo>
                    <a:pt x="1855386" y="2325"/>
                  </a:lnTo>
                  <a:lnTo>
                    <a:pt x="1811898" y="5214"/>
                  </a:lnTo>
                  <a:lnTo>
                    <a:pt x="1768669" y="9237"/>
                  </a:lnTo>
                  <a:lnTo>
                    <a:pt x="1725709" y="14382"/>
                  </a:lnTo>
                  <a:lnTo>
                    <a:pt x="1683028" y="20637"/>
                  </a:lnTo>
                  <a:lnTo>
                    <a:pt x="1640638" y="27989"/>
                  </a:lnTo>
                  <a:lnTo>
                    <a:pt x="1598548" y="36427"/>
                  </a:lnTo>
                  <a:lnTo>
                    <a:pt x="1556769" y="45937"/>
                  </a:lnTo>
                  <a:lnTo>
                    <a:pt x="1515310" y="56507"/>
                  </a:lnTo>
                  <a:lnTo>
                    <a:pt x="1474183" y="68126"/>
                  </a:lnTo>
                  <a:lnTo>
                    <a:pt x="1433397" y="80781"/>
                  </a:lnTo>
                  <a:lnTo>
                    <a:pt x="1392962" y="94460"/>
                  </a:lnTo>
                  <a:lnTo>
                    <a:pt x="1352890" y="109150"/>
                  </a:lnTo>
                  <a:lnTo>
                    <a:pt x="1313190" y="124840"/>
                  </a:lnTo>
                  <a:lnTo>
                    <a:pt x="1273873" y="141516"/>
                  </a:lnTo>
                  <a:lnTo>
                    <a:pt x="1234949" y="159167"/>
                  </a:lnTo>
                  <a:lnTo>
                    <a:pt x="1196428" y="177780"/>
                  </a:lnTo>
                  <a:lnTo>
                    <a:pt x="1158321" y="197343"/>
                  </a:lnTo>
                  <a:lnTo>
                    <a:pt x="1120637" y="217844"/>
                  </a:lnTo>
                  <a:lnTo>
                    <a:pt x="1083388" y="239270"/>
                  </a:lnTo>
                  <a:lnTo>
                    <a:pt x="1046583" y="261609"/>
                  </a:lnTo>
                  <a:lnTo>
                    <a:pt x="1010232" y="284850"/>
                  </a:lnTo>
                  <a:lnTo>
                    <a:pt x="974347" y="308979"/>
                  </a:lnTo>
                  <a:lnTo>
                    <a:pt x="938937" y="333984"/>
                  </a:lnTo>
                  <a:lnTo>
                    <a:pt x="904012" y="359854"/>
                  </a:lnTo>
                  <a:lnTo>
                    <a:pt x="869584" y="386575"/>
                  </a:lnTo>
                  <a:lnTo>
                    <a:pt x="835661" y="414136"/>
                  </a:lnTo>
                  <a:lnTo>
                    <a:pt x="802256" y="442524"/>
                  </a:lnTo>
                  <a:lnTo>
                    <a:pt x="769376" y="471726"/>
                  </a:lnTo>
                  <a:lnTo>
                    <a:pt x="737034" y="501732"/>
                  </a:lnTo>
                  <a:lnTo>
                    <a:pt x="705240" y="532528"/>
                  </a:lnTo>
                  <a:lnTo>
                    <a:pt x="674003" y="564102"/>
                  </a:lnTo>
                  <a:lnTo>
                    <a:pt x="643334" y="596442"/>
                  </a:lnTo>
                  <a:lnTo>
                    <a:pt x="613243" y="629535"/>
                  </a:lnTo>
                  <a:lnTo>
                    <a:pt x="583741" y="663369"/>
                  </a:lnTo>
                  <a:lnTo>
                    <a:pt x="554837" y="697933"/>
                  </a:lnTo>
                  <a:lnTo>
                    <a:pt x="526543" y="733213"/>
                  </a:lnTo>
                  <a:lnTo>
                    <a:pt x="498868" y="769198"/>
                  </a:lnTo>
                  <a:lnTo>
                    <a:pt x="471823" y="805874"/>
                  </a:lnTo>
                  <a:lnTo>
                    <a:pt x="445418" y="843231"/>
                  </a:lnTo>
                  <a:lnTo>
                    <a:pt x="419663" y="881255"/>
                  </a:lnTo>
                  <a:lnTo>
                    <a:pt x="394569" y="919934"/>
                  </a:lnTo>
                  <a:lnTo>
                    <a:pt x="370146" y="959257"/>
                  </a:lnTo>
                  <a:lnTo>
                    <a:pt x="346404" y="999210"/>
                  </a:lnTo>
                  <a:lnTo>
                    <a:pt x="323354" y="1039781"/>
                  </a:lnTo>
                  <a:lnTo>
                    <a:pt x="301005" y="1080959"/>
                  </a:lnTo>
                  <a:lnTo>
                    <a:pt x="279369" y="1122730"/>
                  </a:lnTo>
                  <a:lnTo>
                    <a:pt x="258454" y="1165083"/>
                  </a:lnTo>
                  <a:lnTo>
                    <a:pt x="238273" y="1208006"/>
                  </a:lnTo>
                  <a:lnTo>
                    <a:pt x="218834" y="1251485"/>
                  </a:lnTo>
                  <a:lnTo>
                    <a:pt x="200149" y="1295509"/>
                  </a:lnTo>
                  <a:lnTo>
                    <a:pt x="182227" y="1340066"/>
                  </a:lnTo>
                  <a:lnTo>
                    <a:pt x="165080" y="1385142"/>
                  </a:lnTo>
                  <a:lnTo>
                    <a:pt x="148716" y="1430727"/>
                  </a:lnTo>
                  <a:lnTo>
                    <a:pt x="133147" y="1476807"/>
                  </a:lnTo>
                  <a:lnTo>
                    <a:pt x="118382" y="1523371"/>
                  </a:lnTo>
                  <a:lnTo>
                    <a:pt x="104433" y="1570406"/>
                  </a:lnTo>
                  <a:lnTo>
                    <a:pt x="91309" y="1617899"/>
                  </a:lnTo>
                  <a:lnTo>
                    <a:pt x="79021" y="1665839"/>
                  </a:lnTo>
                  <a:lnTo>
                    <a:pt x="67578" y="1714213"/>
                  </a:lnTo>
                  <a:lnTo>
                    <a:pt x="56992" y="1763009"/>
                  </a:lnTo>
                  <a:lnTo>
                    <a:pt x="47272" y="1812215"/>
                  </a:lnTo>
                  <a:lnTo>
                    <a:pt x="38430" y="1861818"/>
                  </a:lnTo>
                  <a:lnTo>
                    <a:pt x="30474" y="1911806"/>
                  </a:lnTo>
                  <a:lnTo>
                    <a:pt x="23415" y="1962167"/>
                  </a:lnTo>
                  <a:lnTo>
                    <a:pt x="17265" y="2012888"/>
                  </a:lnTo>
                  <a:lnTo>
                    <a:pt x="12032" y="2063958"/>
                  </a:lnTo>
                  <a:lnTo>
                    <a:pt x="7728" y="2115363"/>
                  </a:lnTo>
                  <a:lnTo>
                    <a:pt x="4362" y="2167093"/>
                  </a:lnTo>
                  <a:lnTo>
                    <a:pt x="1945" y="2219133"/>
                  </a:lnTo>
                  <a:lnTo>
                    <a:pt x="488" y="2271473"/>
                  </a:lnTo>
                  <a:lnTo>
                    <a:pt x="0" y="2324100"/>
                  </a:lnTo>
                  <a:lnTo>
                    <a:pt x="488" y="2376726"/>
                  </a:lnTo>
                  <a:lnTo>
                    <a:pt x="1945" y="2429066"/>
                  </a:lnTo>
                  <a:lnTo>
                    <a:pt x="4362" y="2481106"/>
                  </a:lnTo>
                  <a:lnTo>
                    <a:pt x="7728" y="2532836"/>
                  </a:lnTo>
                  <a:lnTo>
                    <a:pt x="12032" y="2584241"/>
                  </a:lnTo>
                  <a:lnTo>
                    <a:pt x="17265" y="2635311"/>
                  </a:lnTo>
                  <a:lnTo>
                    <a:pt x="23415" y="2686032"/>
                  </a:lnTo>
                  <a:lnTo>
                    <a:pt x="30474" y="2736393"/>
                  </a:lnTo>
                  <a:lnTo>
                    <a:pt x="38430" y="2786381"/>
                  </a:lnTo>
                  <a:lnTo>
                    <a:pt x="47272" y="2835984"/>
                  </a:lnTo>
                  <a:lnTo>
                    <a:pt x="56992" y="2885190"/>
                  </a:lnTo>
                  <a:lnTo>
                    <a:pt x="67578" y="2933986"/>
                  </a:lnTo>
                  <a:lnTo>
                    <a:pt x="79021" y="2982360"/>
                  </a:lnTo>
                  <a:lnTo>
                    <a:pt x="91309" y="3030300"/>
                  </a:lnTo>
                  <a:lnTo>
                    <a:pt x="104433" y="3077793"/>
                  </a:lnTo>
                  <a:lnTo>
                    <a:pt x="118382" y="3124828"/>
                  </a:lnTo>
                  <a:lnTo>
                    <a:pt x="133147" y="3171392"/>
                  </a:lnTo>
                  <a:lnTo>
                    <a:pt x="148716" y="3217472"/>
                  </a:lnTo>
                  <a:lnTo>
                    <a:pt x="165080" y="3263057"/>
                  </a:lnTo>
                  <a:lnTo>
                    <a:pt x="182227" y="3308133"/>
                  </a:lnTo>
                  <a:lnTo>
                    <a:pt x="200149" y="3352690"/>
                  </a:lnTo>
                  <a:lnTo>
                    <a:pt x="218834" y="3396714"/>
                  </a:lnTo>
                  <a:lnTo>
                    <a:pt x="238273" y="3440193"/>
                  </a:lnTo>
                  <a:lnTo>
                    <a:pt x="258454" y="3483116"/>
                  </a:lnTo>
                  <a:lnTo>
                    <a:pt x="279369" y="3525469"/>
                  </a:lnTo>
                  <a:lnTo>
                    <a:pt x="301005" y="3567240"/>
                  </a:lnTo>
                  <a:lnTo>
                    <a:pt x="323354" y="3608418"/>
                  </a:lnTo>
                  <a:lnTo>
                    <a:pt x="346404" y="3648989"/>
                  </a:lnTo>
                  <a:lnTo>
                    <a:pt x="370146" y="3688942"/>
                  </a:lnTo>
                  <a:lnTo>
                    <a:pt x="394569" y="3728265"/>
                  </a:lnTo>
                  <a:lnTo>
                    <a:pt x="419663" y="3766944"/>
                  </a:lnTo>
                  <a:lnTo>
                    <a:pt x="445418" y="3804968"/>
                  </a:lnTo>
                  <a:lnTo>
                    <a:pt x="471823" y="3842325"/>
                  </a:lnTo>
                  <a:lnTo>
                    <a:pt x="498868" y="3879001"/>
                  </a:lnTo>
                  <a:lnTo>
                    <a:pt x="526543" y="3914986"/>
                  </a:lnTo>
                  <a:lnTo>
                    <a:pt x="554837" y="3950266"/>
                  </a:lnTo>
                  <a:lnTo>
                    <a:pt x="583741" y="3984830"/>
                  </a:lnTo>
                  <a:lnTo>
                    <a:pt x="613243" y="4018664"/>
                  </a:lnTo>
                  <a:lnTo>
                    <a:pt x="643334" y="4051757"/>
                  </a:lnTo>
                  <a:lnTo>
                    <a:pt x="674003" y="4084097"/>
                  </a:lnTo>
                  <a:lnTo>
                    <a:pt x="705240" y="4115671"/>
                  </a:lnTo>
                  <a:lnTo>
                    <a:pt x="737034" y="4146467"/>
                  </a:lnTo>
                  <a:lnTo>
                    <a:pt x="769376" y="4176473"/>
                  </a:lnTo>
                  <a:lnTo>
                    <a:pt x="802256" y="4205675"/>
                  </a:lnTo>
                  <a:lnTo>
                    <a:pt x="835661" y="4234063"/>
                  </a:lnTo>
                  <a:lnTo>
                    <a:pt x="869584" y="4261624"/>
                  </a:lnTo>
                  <a:lnTo>
                    <a:pt x="904012" y="4288345"/>
                  </a:lnTo>
                  <a:lnTo>
                    <a:pt x="938937" y="4314215"/>
                  </a:lnTo>
                  <a:lnTo>
                    <a:pt x="974347" y="4339220"/>
                  </a:lnTo>
                  <a:lnTo>
                    <a:pt x="1010232" y="4363349"/>
                  </a:lnTo>
                  <a:lnTo>
                    <a:pt x="1046583" y="4386590"/>
                  </a:lnTo>
                  <a:lnTo>
                    <a:pt x="1083388" y="4408929"/>
                  </a:lnTo>
                  <a:lnTo>
                    <a:pt x="1120637" y="4430355"/>
                  </a:lnTo>
                  <a:lnTo>
                    <a:pt x="1158321" y="4450856"/>
                  </a:lnTo>
                  <a:lnTo>
                    <a:pt x="1196428" y="4470419"/>
                  </a:lnTo>
                  <a:lnTo>
                    <a:pt x="1234949" y="4489032"/>
                  </a:lnTo>
                  <a:lnTo>
                    <a:pt x="1273873" y="4506683"/>
                  </a:lnTo>
                  <a:lnTo>
                    <a:pt x="1313190" y="4523359"/>
                  </a:lnTo>
                  <a:lnTo>
                    <a:pt x="1352890" y="4539049"/>
                  </a:lnTo>
                  <a:lnTo>
                    <a:pt x="1392962" y="4553739"/>
                  </a:lnTo>
                  <a:lnTo>
                    <a:pt x="1433397" y="4567418"/>
                  </a:lnTo>
                  <a:lnTo>
                    <a:pt x="1474183" y="4580073"/>
                  </a:lnTo>
                  <a:lnTo>
                    <a:pt x="1515310" y="4591692"/>
                  </a:lnTo>
                  <a:lnTo>
                    <a:pt x="1556769" y="4602262"/>
                  </a:lnTo>
                  <a:lnTo>
                    <a:pt x="1598548" y="4611772"/>
                  </a:lnTo>
                  <a:lnTo>
                    <a:pt x="1640638" y="4620210"/>
                  </a:lnTo>
                  <a:lnTo>
                    <a:pt x="1683028" y="4627562"/>
                  </a:lnTo>
                  <a:lnTo>
                    <a:pt x="1725709" y="4633817"/>
                  </a:lnTo>
                  <a:lnTo>
                    <a:pt x="1768669" y="4638962"/>
                  </a:lnTo>
                  <a:lnTo>
                    <a:pt x="1811898" y="4642985"/>
                  </a:lnTo>
                  <a:lnTo>
                    <a:pt x="1855386" y="4645874"/>
                  </a:lnTo>
                  <a:lnTo>
                    <a:pt x="1899124" y="4647616"/>
                  </a:lnTo>
                  <a:lnTo>
                    <a:pt x="1943100" y="4648200"/>
                  </a:lnTo>
                  <a:lnTo>
                    <a:pt x="1987075" y="4647616"/>
                  </a:lnTo>
                  <a:lnTo>
                    <a:pt x="2030813" y="4645874"/>
                  </a:lnTo>
                  <a:lnTo>
                    <a:pt x="2074301" y="4642985"/>
                  </a:lnTo>
                  <a:lnTo>
                    <a:pt x="2117530" y="4638962"/>
                  </a:lnTo>
                  <a:lnTo>
                    <a:pt x="2160490" y="4633817"/>
                  </a:lnTo>
                  <a:lnTo>
                    <a:pt x="2203171" y="4627562"/>
                  </a:lnTo>
                  <a:lnTo>
                    <a:pt x="2245561" y="4620210"/>
                  </a:lnTo>
                  <a:lnTo>
                    <a:pt x="2287651" y="4611772"/>
                  </a:lnTo>
                  <a:lnTo>
                    <a:pt x="2329430" y="4602262"/>
                  </a:lnTo>
                  <a:lnTo>
                    <a:pt x="2370889" y="4591692"/>
                  </a:lnTo>
                  <a:lnTo>
                    <a:pt x="2412016" y="4580073"/>
                  </a:lnTo>
                  <a:lnTo>
                    <a:pt x="2452802" y="4567418"/>
                  </a:lnTo>
                  <a:lnTo>
                    <a:pt x="2493237" y="4553739"/>
                  </a:lnTo>
                  <a:lnTo>
                    <a:pt x="2533309" y="4539049"/>
                  </a:lnTo>
                  <a:lnTo>
                    <a:pt x="2573009" y="4523359"/>
                  </a:lnTo>
                  <a:lnTo>
                    <a:pt x="2612326" y="4506683"/>
                  </a:lnTo>
                  <a:lnTo>
                    <a:pt x="2651250" y="4489032"/>
                  </a:lnTo>
                  <a:lnTo>
                    <a:pt x="2689771" y="4470419"/>
                  </a:lnTo>
                  <a:lnTo>
                    <a:pt x="2727878" y="4450856"/>
                  </a:lnTo>
                  <a:lnTo>
                    <a:pt x="2765562" y="4430355"/>
                  </a:lnTo>
                  <a:lnTo>
                    <a:pt x="2802811" y="4408929"/>
                  </a:lnTo>
                  <a:lnTo>
                    <a:pt x="2839616" y="4386590"/>
                  </a:lnTo>
                  <a:lnTo>
                    <a:pt x="2875967" y="4363349"/>
                  </a:lnTo>
                  <a:lnTo>
                    <a:pt x="2911852" y="4339220"/>
                  </a:lnTo>
                  <a:lnTo>
                    <a:pt x="2947262" y="4314215"/>
                  </a:lnTo>
                  <a:lnTo>
                    <a:pt x="2982187" y="4288345"/>
                  </a:lnTo>
                  <a:lnTo>
                    <a:pt x="3016615" y="4261624"/>
                  </a:lnTo>
                  <a:lnTo>
                    <a:pt x="3050538" y="4234063"/>
                  </a:lnTo>
                  <a:lnTo>
                    <a:pt x="3083943" y="4205675"/>
                  </a:lnTo>
                  <a:lnTo>
                    <a:pt x="3116823" y="4176473"/>
                  </a:lnTo>
                  <a:lnTo>
                    <a:pt x="3149165" y="4146467"/>
                  </a:lnTo>
                  <a:lnTo>
                    <a:pt x="3180959" y="4115671"/>
                  </a:lnTo>
                  <a:lnTo>
                    <a:pt x="3212196" y="4084097"/>
                  </a:lnTo>
                  <a:lnTo>
                    <a:pt x="3242865" y="4051757"/>
                  </a:lnTo>
                  <a:lnTo>
                    <a:pt x="3272956" y="4018664"/>
                  </a:lnTo>
                  <a:lnTo>
                    <a:pt x="3302458" y="3984830"/>
                  </a:lnTo>
                  <a:lnTo>
                    <a:pt x="3331362" y="3950266"/>
                  </a:lnTo>
                  <a:lnTo>
                    <a:pt x="3359656" y="3914986"/>
                  </a:lnTo>
                  <a:lnTo>
                    <a:pt x="3387331" y="3879001"/>
                  </a:lnTo>
                  <a:lnTo>
                    <a:pt x="3414376" y="3842325"/>
                  </a:lnTo>
                  <a:lnTo>
                    <a:pt x="3440781" y="3804968"/>
                  </a:lnTo>
                  <a:lnTo>
                    <a:pt x="3466536" y="3766944"/>
                  </a:lnTo>
                  <a:lnTo>
                    <a:pt x="3491630" y="3728265"/>
                  </a:lnTo>
                  <a:lnTo>
                    <a:pt x="3516053" y="3688942"/>
                  </a:lnTo>
                  <a:lnTo>
                    <a:pt x="3539795" y="3648989"/>
                  </a:lnTo>
                  <a:lnTo>
                    <a:pt x="3562845" y="3608418"/>
                  </a:lnTo>
                  <a:lnTo>
                    <a:pt x="3585194" y="3567240"/>
                  </a:lnTo>
                  <a:lnTo>
                    <a:pt x="3606830" y="3525469"/>
                  </a:lnTo>
                  <a:lnTo>
                    <a:pt x="3627745" y="3483116"/>
                  </a:lnTo>
                  <a:lnTo>
                    <a:pt x="3647926" y="3440193"/>
                  </a:lnTo>
                  <a:lnTo>
                    <a:pt x="3667365" y="3396714"/>
                  </a:lnTo>
                  <a:lnTo>
                    <a:pt x="3686050" y="3352690"/>
                  </a:lnTo>
                  <a:lnTo>
                    <a:pt x="3703972" y="3308133"/>
                  </a:lnTo>
                  <a:lnTo>
                    <a:pt x="3721119" y="3263057"/>
                  </a:lnTo>
                  <a:lnTo>
                    <a:pt x="3737483" y="3217472"/>
                  </a:lnTo>
                  <a:lnTo>
                    <a:pt x="3753052" y="3171392"/>
                  </a:lnTo>
                  <a:lnTo>
                    <a:pt x="3767817" y="3124828"/>
                  </a:lnTo>
                  <a:lnTo>
                    <a:pt x="3781766" y="3077793"/>
                  </a:lnTo>
                  <a:lnTo>
                    <a:pt x="3794890" y="3030300"/>
                  </a:lnTo>
                  <a:lnTo>
                    <a:pt x="3807178" y="2982360"/>
                  </a:lnTo>
                  <a:lnTo>
                    <a:pt x="3818621" y="2933986"/>
                  </a:lnTo>
                  <a:lnTo>
                    <a:pt x="3829207" y="2885190"/>
                  </a:lnTo>
                  <a:lnTo>
                    <a:pt x="3838927" y="2835984"/>
                  </a:lnTo>
                  <a:lnTo>
                    <a:pt x="3847769" y="2786381"/>
                  </a:lnTo>
                  <a:lnTo>
                    <a:pt x="3855725" y="2736393"/>
                  </a:lnTo>
                  <a:lnTo>
                    <a:pt x="3862784" y="2686032"/>
                  </a:lnTo>
                  <a:lnTo>
                    <a:pt x="3868934" y="2635311"/>
                  </a:lnTo>
                  <a:lnTo>
                    <a:pt x="3874167" y="2584241"/>
                  </a:lnTo>
                  <a:lnTo>
                    <a:pt x="3878471" y="2532836"/>
                  </a:lnTo>
                  <a:lnTo>
                    <a:pt x="3881837" y="2481106"/>
                  </a:lnTo>
                  <a:lnTo>
                    <a:pt x="3884254" y="2429066"/>
                  </a:lnTo>
                  <a:lnTo>
                    <a:pt x="3885711" y="2376726"/>
                  </a:lnTo>
                  <a:lnTo>
                    <a:pt x="3886200" y="2324100"/>
                  </a:lnTo>
                  <a:lnTo>
                    <a:pt x="3885711" y="2271473"/>
                  </a:lnTo>
                  <a:lnTo>
                    <a:pt x="3884254" y="2219133"/>
                  </a:lnTo>
                  <a:lnTo>
                    <a:pt x="3881837" y="2167093"/>
                  </a:lnTo>
                  <a:lnTo>
                    <a:pt x="3878471" y="2115363"/>
                  </a:lnTo>
                  <a:lnTo>
                    <a:pt x="3874167" y="2063958"/>
                  </a:lnTo>
                  <a:lnTo>
                    <a:pt x="3868934" y="2012888"/>
                  </a:lnTo>
                  <a:lnTo>
                    <a:pt x="3862784" y="1962167"/>
                  </a:lnTo>
                  <a:lnTo>
                    <a:pt x="3855725" y="1911806"/>
                  </a:lnTo>
                  <a:lnTo>
                    <a:pt x="3847769" y="1861818"/>
                  </a:lnTo>
                  <a:lnTo>
                    <a:pt x="3838927" y="1812215"/>
                  </a:lnTo>
                  <a:lnTo>
                    <a:pt x="3829207" y="1763009"/>
                  </a:lnTo>
                  <a:lnTo>
                    <a:pt x="3818621" y="1714213"/>
                  </a:lnTo>
                  <a:lnTo>
                    <a:pt x="3807178" y="1665839"/>
                  </a:lnTo>
                  <a:lnTo>
                    <a:pt x="3794890" y="1617899"/>
                  </a:lnTo>
                  <a:lnTo>
                    <a:pt x="3781766" y="1570406"/>
                  </a:lnTo>
                  <a:lnTo>
                    <a:pt x="3767817" y="1523371"/>
                  </a:lnTo>
                  <a:lnTo>
                    <a:pt x="3753052" y="1476807"/>
                  </a:lnTo>
                  <a:lnTo>
                    <a:pt x="3737483" y="1430727"/>
                  </a:lnTo>
                  <a:lnTo>
                    <a:pt x="3721119" y="1385142"/>
                  </a:lnTo>
                  <a:lnTo>
                    <a:pt x="3703972" y="1340066"/>
                  </a:lnTo>
                  <a:lnTo>
                    <a:pt x="3686050" y="1295509"/>
                  </a:lnTo>
                  <a:lnTo>
                    <a:pt x="3667365" y="1251485"/>
                  </a:lnTo>
                  <a:lnTo>
                    <a:pt x="3647926" y="1208006"/>
                  </a:lnTo>
                  <a:lnTo>
                    <a:pt x="3627745" y="1165083"/>
                  </a:lnTo>
                  <a:lnTo>
                    <a:pt x="3606830" y="1122730"/>
                  </a:lnTo>
                  <a:lnTo>
                    <a:pt x="3585194" y="1080959"/>
                  </a:lnTo>
                  <a:lnTo>
                    <a:pt x="3562845" y="1039781"/>
                  </a:lnTo>
                  <a:lnTo>
                    <a:pt x="3539795" y="999210"/>
                  </a:lnTo>
                  <a:lnTo>
                    <a:pt x="3516053" y="959257"/>
                  </a:lnTo>
                  <a:lnTo>
                    <a:pt x="3491630" y="919934"/>
                  </a:lnTo>
                  <a:lnTo>
                    <a:pt x="3466536" y="881255"/>
                  </a:lnTo>
                  <a:lnTo>
                    <a:pt x="3440781" y="843231"/>
                  </a:lnTo>
                  <a:lnTo>
                    <a:pt x="3414376" y="805874"/>
                  </a:lnTo>
                  <a:lnTo>
                    <a:pt x="3387331" y="769198"/>
                  </a:lnTo>
                  <a:lnTo>
                    <a:pt x="3359656" y="733213"/>
                  </a:lnTo>
                  <a:lnTo>
                    <a:pt x="3331362" y="697933"/>
                  </a:lnTo>
                  <a:lnTo>
                    <a:pt x="3302458" y="663369"/>
                  </a:lnTo>
                  <a:lnTo>
                    <a:pt x="3272956" y="629535"/>
                  </a:lnTo>
                  <a:lnTo>
                    <a:pt x="3242865" y="596442"/>
                  </a:lnTo>
                  <a:lnTo>
                    <a:pt x="3212196" y="564102"/>
                  </a:lnTo>
                  <a:lnTo>
                    <a:pt x="3180959" y="532528"/>
                  </a:lnTo>
                  <a:lnTo>
                    <a:pt x="3149165" y="501732"/>
                  </a:lnTo>
                  <a:lnTo>
                    <a:pt x="3116823" y="471726"/>
                  </a:lnTo>
                  <a:lnTo>
                    <a:pt x="3083943" y="442524"/>
                  </a:lnTo>
                  <a:lnTo>
                    <a:pt x="3050538" y="414136"/>
                  </a:lnTo>
                  <a:lnTo>
                    <a:pt x="3016615" y="386575"/>
                  </a:lnTo>
                  <a:lnTo>
                    <a:pt x="2982187" y="359854"/>
                  </a:lnTo>
                  <a:lnTo>
                    <a:pt x="2947262" y="333984"/>
                  </a:lnTo>
                  <a:lnTo>
                    <a:pt x="2911852" y="308979"/>
                  </a:lnTo>
                  <a:lnTo>
                    <a:pt x="2875967" y="284850"/>
                  </a:lnTo>
                  <a:lnTo>
                    <a:pt x="2839616" y="261609"/>
                  </a:lnTo>
                  <a:lnTo>
                    <a:pt x="2802811" y="239270"/>
                  </a:lnTo>
                  <a:lnTo>
                    <a:pt x="2765562" y="217844"/>
                  </a:lnTo>
                  <a:lnTo>
                    <a:pt x="2727878" y="197343"/>
                  </a:lnTo>
                  <a:lnTo>
                    <a:pt x="2689771" y="177780"/>
                  </a:lnTo>
                  <a:lnTo>
                    <a:pt x="2651250" y="159167"/>
                  </a:lnTo>
                  <a:lnTo>
                    <a:pt x="2612326" y="141516"/>
                  </a:lnTo>
                  <a:lnTo>
                    <a:pt x="2573009" y="124840"/>
                  </a:lnTo>
                  <a:lnTo>
                    <a:pt x="2533309" y="109150"/>
                  </a:lnTo>
                  <a:lnTo>
                    <a:pt x="2493237" y="94460"/>
                  </a:lnTo>
                  <a:lnTo>
                    <a:pt x="2452802" y="80781"/>
                  </a:lnTo>
                  <a:lnTo>
                    <a:pt x="2412016" y="68126"/>
                  </a:lnTo>
                  <a:lnTo>
                    <a:pt x="2370889" y="56507"/>
                  </a:lnTo>
                  <a:lnTo>
                    <a:pt x="2329430" y="45937"/>
                  </a:lnTo>
                  <a:lnTo>
                    <a:pt x="2287651" y="36427"/>
                  </a:lnTo>
                  <a:lnTo>
                    <a:pt x="2245561" y="27989"/>
                  </a:lnTo>
                  <a:lnTo>
                    <a:pt x="2203171" y="20637"/>
                  </a:lnTo>
                  <a:lnTo>
                    <a:pt x="2160490" y="14382"/>
                  </a:lnTo>
                  <a:lnTo>
                    <a:pt x="2117530" y="9237"/>
                  </a:lnTo>
                  <a:lnTo>
                    <a:pt x="2074301" y="5214"/>
                  </a:lnTo>
                  <a:lnTo>
                    <a:pt x="2030813" y="2325"/>
                  </a:lnTo>
                  <a:lnTo>
                    <a:pt x="1987075" y="583"/>
                  </a:lnTo>
                  <a:lnTo>
                    <a:pt x="1943099" y="0"/>
                  </a:lnTo>
                  <a:close/>
                </a:path>
              </a:pathLst>
            </a:custGeom>
            <a:ln w="57150">
              <a:solidFill>
                <a:srgbClr val="FFFFFF"/>
              </a:solidFill>
            </a:ln>
          </p:spPr>
          <p:txBody>
            <a:bodyPr wrap="square" lIns="0" tIns="0" rIns="0" bIns="0" rtlCol="0"/>
            <a:lstStyle/>
            <a:p>
              <a:endParaRPr sz="1590"/>
            </a:p>
          </p:txBody>
        </p:sp>
      </p:grpSp>
      <p:sp>
        <p:nvSpPr>
          <p:cNvPr id="6" name="object 6"/>
          <p:cNvSpPr txBox="1"/>
          <p:nvPr/>
        </p:nvSpPr>
        <p:spPr>
          <a:xfrm>
            <a:off x="1210235" y="2353235"/>
            <a:ext cx="1210235" cy="527901"/>
          </a:xfrm>
          <a:prstGeom prst="rect">
            <a:avLst/>
          </a:prstGeom>
          <a:solidFill>
            <a:srgbClr val="00FFFF"/>
          </a:solidFill>
          <a:ln w="9525">
            <a:solidFill>
              <a:srgbClr val="000000"/>
            </a:solidFill>
          </a:ln>
        </p:spPr>
        <p:txBody>
          <a:bodyPr vert="horz" wrap="square" lIns="0" tIns="200025" rIns="0" bIns="0" rtlCol="0">
            <a:spAutoFit/>
          </a:bodyPr>
          <a:lstStyle/>
          <a:p>
            <a:pPr algn="ctr">
              <a:spcBef>
                <a:spcPts val="1575"/>
              </a:spcBef>
            </a:pPr>
            <a:r>
              <a:rPr sz="2120" spc="-4" dirty="0">
                <a:latin typeface="Arial" panose="020B0604020202020204"/>
                <a:cs typeface="Arial" panose="020B0604020202020204"/>
              </a:rPr>
              <a:t>1</a:t>
            </a:r>
            <a:endParaRPr sz="2120">
              <a:latin typeface="Arial" panose="020B0604020202020204"/>
              <a:cs typeface="Arial" panose="020B0604020202020204"/>
            </a:endParaRPr>
          </a:p>
        </p:txBody>
      </p:sp>
      <p:sp>
        <p:nvSpPr>
          <p:cNvPr id="7" name="object 7"/>
          <p:cNvSpPr txBox="1"/>
          <p:nvPr/>
        </p:nvSpPr>
        <p:spPr>
          <a:xfrm>
            <a:off x="1075765" y="3496235"/>
            <a:ext cx="1344706" cy="784751"/>
          </a:xfrm>
          <a:prstGeom prst="rect">
            <a:avLst/>
          </a:prstGeom>
          <a:solidFill>
            <a:srgbClr val="FF00FF"/>
          </a:solidFill>
          <a:ln w="9525">
            <a:solidFill>
              <a:srgbClr val="000000"/>
            </a:solidFill>
          </a:ln>
        </p:spPr>
        <p:txBody>
          <a:bodyPr vert="horz" wrap="square" lIns="0" tIns="3922" rIns="0" bIns="0" rtlCol="0">
            <a:spAutoFit/>
          </a:bodyPr>
          <a:lstStyle/>
          <a:p>
            <a:pPr>
              <a:spcBef>
                <a:spcPts val="30"/>
              </a:spcBef>
            </a:pPr>
            <a:endParaRPr sz="2955">
              <a:latin typeface="Times New Roman" panose="02020603050405020304"/>
              <a:cs typeface="Times New Roman" panose="02020603050405020304"/>
            </a:endParaRPr>
          </a:p>
          <a:p>
            <a:pPr algn="ctr">
              <a:lnSpc>
                <a:spcPct val="100000"/>
              </a:lnSpc>
            </a:pPr>
            <a:r>
              <a:rPr sz="2120" spc="-4" dirty="0">
                <a:latin typeface="Arial" panose="020B0604020202020204"/>
                <a:cs typeface="Arial" panose="020B0604020202020204"/>
              </a:rPr>
              <a:t>3</a:t>
            </a:r>
            <a:endParaRPr sz="2120">
              <a:latin typeface="Arial" panose="020B0604020202020204"/>
              <a:cs typeface="Arial" panose="020B0604020202020204"/>
            </a:endParaRPr>
          </a:p>
        </p:txBody>
      </p:sp>
      <p:sp>
        <p:nvSpPr>
          <p:cNvPr id="8" name="object 8"/>
          <p:cNvSpPr/>
          <p:nvPr/>
        </p:nvSpPr>
        <p:spPr>
          <a:xfrm>
            <a:off x="2756648" y="3025588"/>
            <a:ext cx="941293" cy="537882"/>
          </a:xfrm>
          <a:prstGeom prst="rect">
            <a:avLst/>
          </a:prstGeom>
          <a:blipFill>
            <a:blip r:embed="rId1" cstate="print"/>
            <a:stretch>
              <a:fillRect/>
            </a:stretch>
          </a:blipFill>
        </p:spPr>
        <p:txBody>
          <a:bodyPr wrap="square" lIns="0" tIns="0" rIns="0" bIns="0" rtlCol="0"/>
          <a:lstStyle/>
          <a:p>
            <a:endParaRPr sz="1590"/>
          </a:p>
        </p:txBody>
      </p:sp>
      <p:sp>
        <p:nvSpPr>
          <p:cNvPr id="9" name="object 9"/>
          <p:cNvSpPr txBox="1"/>
          <p:nvPr/>
        </p:nvSpPr>
        <p:spPr>
          <a:xfrm>
            <a:off x="2756647" y="3025588"/>
            <a:ext cx="941294" cy="426064"/>
          </a:xfrm>
          <a:prstGeom prst="rect">
            <a:avLst/>
          </a:prstGeom>
          <a:ln w="9525">
            <a:solidFill>
              <a:srgbClr val="000000"/>
            </a:solidFill>
          </a:ln>
        </p:spPr>
        <p:txBody>
          <a:bodyPr vert="horz" wrap="square" lIns="0" tIns="99172" rIns="0" bIns="0" rtlCol="0">
            <a:spAutoFit/>
          </a:bodyPr>
          <a:lstStyle/>
          <a:p>
            <a:pPr algn="ctr">
              <a:spcBef>
                <a:spcPts val="780"/>
              </a:spcBef>
            </a:pPr>
            <a:r>
              <a:rPr sz="2120" spc="-4" dirty="0">
                <a:latin typeface="Arial" panose="020B0604020202020204"/>
                <a:cs typeface="Arial" panose="020B0604020202020204"/>
              </a:rPr>
              <a:t>2</a:t>
            </a:r>
            <a:endParaRPr sz="2120">
              <a:latin typeface="Arial" panose="020B0604020202020204"/>
              <a:cs typeface="Arial" panose="020B0604020202020204"/>
            </a:endParaRPr>
          </a:p>
        </p:txBody>
      </p:sp>
      <p:sp>
        <p:nvSpPr>
          <p:cNvPr id="10" name="object 10"/>
          <p:cNvSpPr txBox="1"/>
          <p:nvPr/>
        </p:nvSpPr>
        <p:spPr>
          <a:xfrm>
            <a:off x="2554941" y="3765177"/>
            <a:ext cx="1075765" cy="678395"/>
          </a:xfrm>
          <a:prstGeom prst="rect">
            <a:avLst/>
          </a:prstGeom>
          <a:solidFill>
            <a:srgbClr val="0099CC"/>
          </a:solidFill>
          <a:ln w="9525">
            <a:solidFill>
              <a:srgbClr val="000000"/>
            </a:solidFill>
          </a:ln>
        </p:spPr>
        <p:txBody>
          <a:bodyPr vert="horz" wrap="square" lIns="0" tIns="6163" rIns="0" bIns="0" rtlCol="0">
            <a:spAutoFit/>
          </a:bodyPr>
          <a:lstStyle/>
          <a:p>
            <a:pPr>
              <a:spcBef>
                <a:spcPts val="50"/>
              </a:spcBef>
            </a:pPr>
            <a:endParaRPr sz="2250">
              <a:latin typeface="Times New Roman" panose="02020603050405020304"/>
              <a:cs typeface="Times New Roman" panose="02020603050405020304"/>
            </a:endParaRPr>
          </a:p>
          <a:p>
            <a:pPr algn="ctr">
              <a:lnSpc>
                <a:spcPct val="100000"/>
              </a:lnSpc>
            </a:pPr>
            <a:r>
              <a:rPr sz="2120" spc="-4" dirty="0">
                <a:latin typeface="Arial" panose="020B0604020202020204"/>
                <a:cs typeface="Arial" panose="020B0604020202020204"/>
              </a:rPr>
              <a:t>4</a:t>
            </a:r>
            <a:endParaRPr sz="2120">
              <a:latin typeface="Arial" panose="020B0604020202020204"/>
              <a:cs typeface="Arial" panose="020B0604020202020204"/>
            </a:endParaRPr>
          </a:p>
        </p:txBody>
      </p:sp>
      <p:sp>
        <p:nvSpPr>
          <p:cNvPr id="11" name="object 11"/>
          <p:cNvSpPr/>
          <p:nvPr/>
        </p:nvSpPr>
        <p:spPr>
          <a:xfrm>
            <a:off x="6252882" y="2823883"/>
            <a:ext cx="2017059" cy="1003487"/>
          </a:xfrm>
          <a:custGeom>
            <a:avLst/>
            <a:gdLst/>
            <a:ahLst/>
            <a:cxnLst/>
            <a:rect l="l" t="t" r="r" b="b"/>
            <a:pathLst>
              <a:path w="2286000" h="1137285">
                <a:moveTo>
                  <a:pt x="0" y="1136903"/>
                </a:moveTo>
                <a:lnTo>
                  <a:pt x="2286000" y="1136903"/>
                </a:lnTo>
                <a:lnTo>
                  <a:pt x="2286000" y="0"/>
                </a:lnTo>
                <a:lnTo>
                  <a:pt x="0" y="0"/>
                </a:lnTo>
                <a:lnTo>
                  <a:pt x="0" y="1136903"/>
                </a:lnTo>
                <a:close/>
              </a:path>
            </a:pathLst>
          </a:custGeom>
          <a:solidFill>
            <a:srgbClr val="66FF66"/>
          </a:solidFill>
        </p:spPr>
        <p:txBody>
          <a:bodyPr wrap="square" lIns="0" tIns="0" rIns="0" bIns="0" rtlCol="0"/>
          <a:lstStyle/>
          <a:p>
            <a:endParaRPr sz="1590"/>
          </a:p>
        </p:txBody>
      </p:sp>
      <p:sp>
        <p:nvSpPr>
          <p:cNvPr id="12" name="object 12"/>
          <p:cNvSpPr txBox="1"/>
          <p:nvPr/>
        </p:nvSpPr>
        <p:spPr>
          <a:xfrm>
            <a:off x="7135682" y="1751172"/>
            <a:ext cx="124946" cy="256480"/>
          </a:xfrm>
          <a:prstGeom prst="rect">
            <a:avLst/>
          </a:prstGeom>
        </p:spPr>
        <p:txBody>
          <a:bodyPr vert="horz" wrap="square" lIns="0" tIns="0" rIns="0" bIns="0" rtlCol="0">
            <a:spAutoFit/>
          </a:bodyPr>
          <a:lstStyle/>
          <a:p>
            <a:pPr>
              <a:lnSpc>
                <a:spcPts val="1950"/>
              </a:lnSpc>
            </a:pPr>
            <a:r>
              <a:rPr sz="1765" spc="-4" dirty="0">
                <a:latin typeface="Arial" panose="020B0604020202020204"/>
                <a:cs typeface="Arial" panose="020B0604020202020204"/>
              </a:rPr>
              <a:t>1</a:t>
            </a:r>
            <a:endParaRPr sz="1765">
              <a:latin typeface="Arial" panose="020B0604020202020204"/>
              <a:cs typeface="Arial" panose="020B0604020202020204"/>
            </a:endParaRPr>
          </a:p>
        </p:txBody>
      </p:sp>
      <p:sp>
        <p:nvSpPr>
          <p:cNvPr id="13" name="object 13"/>
          <p:cNvSpPr txBox="1"/>
          <p:nvPr/>
        </p:nvSpPr>
        <p:spPr>
          <a:xfrm>
            <a:off x="7138371" y="2273591"/>
            <a:ext cx="124946" cy="256480"/>
          </a:xfrm>
          <a:prstGeom prst="rect">
            <a:avLst/>
          </a:prstGeom>
        </p:spPr>
        <p:txBody>
          <a:bodyPr vert="horz" wrap="square" lIns="0" tIns="0" rIns="0" bIns="0" rtlCol="0">
            <a:spAutoFit/>
          </a:bodyPr>
          <a:lstStyle/>
          <a:p>
            <a:pPr>
              <a:lnSpc>
                <a:spcPts val="1950"/>
              </a:lnSpc>
            </a:pPr>
            <a:r>
              <a:rPr sz="1765" spc="-4" dirty="0">
                <a:latin typeface="Arial" panose="020B0604020202020204"/>
                <a:cs typeface="Arial" panose="020B0604020202020204"/>
              </a:rPr>
              <a:t>4</a:t>
            </a:r>
            <a:endParaRPr sz="1765">
              <a:latin typeface="Arial" panose="020B0604020202020204"/>
              <a:cs typeface="Arial" panose="020B0604020202020204"/>
            </a:endParaRPr>
          </a:p>
        </p:txBody>
      </p:sp>
      <p:sp>
        <p:nvSpPr>
          <p:cNvPr id="14" name="object 14"/>
          <p:cNvSpPr/>
          <p:nvPr/>
        </p:nvSpPr>
        <p:spPr>
          <a:xfrm>
            <a:off x="6252882" y="3827032"/>
            <a:ext cx="2017059" cy="409015"/>
          </a:xfrm>
          <a:custGeom>
            <a:avLst/>
            <a:gdLst/>
            <a:ahLst/>
            <a:cxnLst/>
            <a:rect l="l" t="t" r="r" b="b"/>
            <a:pathLst>
              <a:path w="2286000" h="463550">
                <a:moveTo>
                  <a:pt x="0" y="463296"/>
                </a:moveTo>
                <a:lnTo>
                  <a:pt x="2286000" y="463296"/>
                </a:lnTo>
                <a:lnTo>
                  <a:pt x="2286000" y="0"/>
                </a:lnTo>
                <a:lnTo>
                  <a:pt x="0" y="0"/>
                </a:lnTo>
                <a:lnTo>
                  <a:pt x="0" y="463296"/>
                </a:lnTo>
                <a:close/>
              </a:path>
            </a:pathLst>
          </a:custGeom>
          <a:solidFill>
            <a:srgbClr val="66FF66"/>
          </a:solidFill>
        </p:spPr>
        <p:txBody>
          <a:bodyPr wrap="square" lIns="0" tIns="0" rIns="0" bIns="0" rtlCol="0"/>
          <a:lstStyle/>
          <a:p>
            <a:endParaRPr sz="1590"/>
          </a:p>
        </p:txBody>
      </p:sp>
      <p:sp>
        <p:nvSpPr>
          <p:cNvPr id="15" name="object 15"/>
          <p:cNvSpPr txBox="1"/>
          <p:nvPr/>
        </p:nvSpPr>
        <p:spPr>
          <a:xfrm>
            <a:off x="7138371" y="4735075"/>
            <a:ext cx="124946" cy="256480"/>
          </a:xfrm>
          <a:prstGeom prst="rect">
            <a:avLst/>
          </a:prstGeom>
        </p:spPr>
        <p:txBody>
          <a:bodyPr vert="horz" wrap="square" lIns="0" tIns="0" rIns="0" bIns="0" rtlCol="0">
            <a:spAutoFit/>
          </a:bodyPr>
          <a:lstStyle/>
          <a:p>
            <a:pPr>
              <a:lnSpc>
                <a:spcPts val="1950"/>
              </a:lnSpc>
            </a:pPr>
            <a:r>
              <a:rPr sz="1765" spc="-4" dirty="0">
                <a:latin typeface="Arial" panose="020B0604020202020204"/>
                <a:cs typeface="Arial" panose="020B0604020202020204"/>
              </a:rPr>
              <a:t>3</a:t>
            </a:r>
            <a:endParaRPr sz="1765">
              <a:latin typeface="Arial" panose="020B0604020202020204"/>
              <a:cs typeface="Arial" panose="020B0604020202020204"/>
            </a:endParaRPr>
          </a:p>
        </p:txBody>
      </p:sp>
      <p:grpSp>
        <p:nvGrpSpPr>
          <p:cNvPr id="16" name="object 16"/>
          <p:cNvGrpSpPr/>
          <p:nvPr/>
        </p:nvGrpSpPr>
        <p:grpSpPr>
          <a:xfrm>
            <a:off x="6252882" y="3092824"/>
            <a:ext cx="2017059" cy="1143000"/>
            <a:chOff x="6934200" y="3505200"/>
            <a:chExt cx="2286000" cy="1295400"/>
          </a:xfrm>
        </p:grpSpPr>
        <p:sp>
          <p:nvSpPr>
            <p:cNvPr id="17" name="object 17"/>
            <p:cNvSpPr/>
            <p:nvPr/>
          </p:nvSpPr>
          <p:spPr>
            <a:xfrm>
              <a:off x="6934200" y="4343400"/>
              <a:ext cx="2286000" cy="457200"/>
            </a:xfrm>
            <a:prstGeom prst="rect">
              <a:avLst/>
            </a:prstGeom>
            <a:blipFill>
              <a:blip r:embed="rId2" cstate="print"/>
              <a:stretch>
                <a:fillRect/>
              </a:stretch>
            </a:blipFill>
          </p:spPr>
          <p:txBody>
            <a:bodyPr wrap="square" lIns="0" tIns="0" rIns="0" bIns="0" rtlCol="0"/>
            <a:lstStyle/>
            <a:p>
              <a:endParaRPr sz="1590"/>
            </a:p>
          </p:txBody>
        </p:sp>
        <p:sp>
          <p:nvSpPr>
            <p:cNvPr id="18" name="object 18"/>
            <p:cNvSpPr/>
            <p:nvPr/>
          </p:nvSpPr>
          <p:spPr>
            <a:xfrm>
              <a:off x="6934200" y="3505200"/>
              <a:ext cx="2286000" cy="381000"/>
            </a:xfrm>
            <a:prstGeom prst="rect">
              <a:avLst/>
            </a:prstGeom>
            <a:blipFill>
              <a:blip r:embed="rId3" cstate="print"/>
              <a:stretch>
                <a:fillRect/>
              </a:stretch>
            </a:blipFill>
          </p:spPr>
          <p:txBody>
            <a:bodyPr wrap="square" lIns="0" tIns="0" rIns="0" bIns="0" rtlCol="0"/>
            <a:lstStyle/>
            <a:p>
              <a:endParaRPr sz="1590"/>
            </a:p>
          </p:txBody>
        </p:sp>
      </p:grpSp>
      <p:graphicFrame>
        <p:nvGraphicFramePr>
          <p:cNvPr id="19" name="object 19"/>
          <p:cNvGraphicFramePr>
            <a:graphicFrameLocks noGrp="1"/>
          </p:cNvGraphicFramePr>
          <p:nvPr/>
        </p:nvGraphicFramePr>
        <p:xfrm>
          <a:off x="6248680" y="1542209"/>
          <a:ext cx="2017059" cy="4267944"/>
        </p:xfrm>
        <a:graphic>
          <a:graphicData uri="http://schemas.openxmlformats.org/drawingml/2006/table">
            <a:tbl>
              <a:tblPr firstRow="1" bandRow="1">
                <a:tableStyleId>{2D5ABB26-0587-4C30-8999-92F81FD0307C}</a:tableStyleId>
              </a:tblPr>
              <a:tblGrid>
                <a:gridCol w="2017059"/>
              </a:tblGrid>
              <a:tr h="537882">
                <a:tc>
                  <a:txBody>
                    <a:bodyPr/>
                    <a:lstStyle/>
                    <a:p>
                      <a:pPr marR="1050925" algn="r">
                        <a:lnSpc>
                          <a:spcPct val="100000"/>
                        </a:lnSpc>
                        <a:spcBef>
                          <a:spcPts val="885"/>
                        </a:spcBef>
                      </a:pPr>
                      <a:r>
                        <a:rPr sz="2100" dirty="0">
                          <a:latin typeface="Arial" panose="020B0604020202020204"/>
                          <a:cs typeface="Arial" panose="020B0604020202020204"/>
                        </a:rPr>
                        <a:t>1</a:t>
                      </a:r>
                      <a:endParaRPr sz="2100">
                        <a:latin typeface="Arial" panose="020B0604020202020204"/>
                        <a:cs typeface="Arial" panose="020B0604020202020204"/>
                      </a:endParaRPr>
                    </a:p>
                  </a:txBody>
                  <a:tcPr marL="0" marR="0" marT="99172" marB="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solidFill>
                      <a:srgbClr val="00FFFF"/>
                    </a:solidFill>
                  </a:tcPr>
                </a:tc>
              </a:tr>
              <a:tr h="739588">
                <a:tc>
                  <a:txBody>
                    <a:bodyPr/>
                    <a:lstStyle/>
                    <a:p>
                      <a:pPr marR="1050925" algn="r">
                        <a:lnSpc>
                          <a:spcPct val="100000"/>
                        </a:lnSpc>
                        <a:spcBef>
                          <a:spcPts val="1785"/>
                        </a:spcBef>
                      </a:pPr>
                      <a:r>
                        <a:rPr sz="2100" dirty="0">
                          <a:latin typeface="Arial" panose="020B0604020202020204"/>
                          <a:cs typeface="Arial" panose="020B0604020202020204"/>
                        </a:rPr>
                        <a:t>4</a:t>
                      </a:r>
                      <a:endParaRPr sz="2100">
                        <a:latin typeface="Arial" panose="020B0604020202020204"/>
                        <a:cs typeface="Arial" panose="020B0604020202020204"/>
                      </a:endParaRPr>
                    </a:p>
                  </a:txBody>
                  <a:tcPr marL="0" marR="0" marT="200025" marB="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solidFill>
                      <a:srgbClr val="0099CC"/>
                    </a:solidFill>
                  </a:tcPr>
                </a:tc>
              </a:tr>
              <a:tr h="268940">
                <a:tc>
                  <a:txBody>
                    <a:bodyPr/>
                    <a:lstStyle/>
                    <a:p>
                      <a:pPr>
                        <a:lnSpc>
                          <a:spcPct val="100000"/>
                        </a:lnSpc>
                      </a:pPr>
                      <a:endParaRPr sz="17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9525">
                      <a:solidFill>
                        <a:srgbClr val="000000"/>
                      </a:solidFill>
                      <a:prstDash val="solid"/>
                    </a:lnB>
                    <a:solidFill>
                      <a:srgbClr val="66FF66"/>
                    </a:solidFill>
                  </a:tcPr>
                </a:tc>
              </a:tr>
              <a:tr h="336176">
                <a:tc>
                  <a:txBody>
                    <a:bodyPr/>
                    <a:lstStyle/>
                    <a:p>
                      <a:pPr marR="1050925" algn="r">
                        <a:lnSpc>
                          <a:spcPts val="2870"/>
                        </a:lnSpc>
                      </a:pPr>
                      <a:r>
                        <a:rPr sz="2100" dirty="0">
                          <a:solidFill>
                            <a:srgbClr val="FFFF65"/>
                          </a:solidFill>
                          <a:latin typeface="Arial" panose="020B0604020202020204"/>
                          <a:cs typeface="Arial" panose="020B0604020202020204"/>
                        </a:rPr>
                        <a:t>5</a:t>
                      </a:r>
                      <a:endParaRPr sz="2100">
                        <a:latin typeface="Arial" panose="020B0604020202020204"/>
                        <a:cs typeface="Arial" panose="020B06040202020202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00721">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66FF66"/>
                    </a:solidFill>
                  </a:tcPr>
                </a:tc>
              </a:tr>
              <a:tr h="406101">
                <a:tc>
                  <a:txBody>
                    <a:bodyPr/>
                    <a:lstStyle/>
                    <a:p>
                      <a:pPr marR="1050925" algn="r">
                        <a:lnSpc>
                          <a:spcPct val="100000"/>
                        </a:lnSpc>
                        <a:spcBef>
                          <a:spcPts val="310"/>
                        </a:spcBef>
                      </a:pPr>
                      <a:r>
                        <a:rPr sz="2600" spc="-1027" baseline="-6000" dirty="0">
                          <a:latin typeface="Arial" panose="020B0604020202020204"/>
                          <a:cs typeface="Arial" panose="020B0604020202020204"/>
                        </a:rPr>
                        <a:t>2</a:t>
                      </a:r>
                      <a:r>
                        <a:rPr sz="2100" dirty="0">
                          <a:latin typeface="Arial" panose="020B0604020202020204"/>
                          <a:cs typeface="Arial" panose="020B0604020202020204"/>
                        </a:rPr>
                        <a:t>2</a:t>
                      </a:r>
                      <a:endParaRPr sz="2100">
                        <a:latin typeface="Arial" panose="020B0604020202020204"/>
                        <a:cs typeface="Arial" panose="020B0604020202020204"/>
                      </a:endParaRPr>
                    </a:p>
                  </a:txBody>
                  <a:tcPr marL="0" marR="0" marT="34738" marB="0">
                    <a:lnL w="9525">
                      <a:solidFill>
                        <a:srgbClr val="000000"/>
                      </a:solidFill>
                      <a:prstDash val="solid"/>
                    </a:lnL>
                    <a:lnR w="9525">
                      <a:solidFill>
                        <a:srgbClr val="000000"/>
                      </a:solidFill>
                      <a:prstDash val="solid"/>
                    </a:lnR>
                    <a:lnT w="19050">
                      <a:solidFill>
                        <a:srgbClr val="000000"/>
                      </a:solidFill>
                      <a:prstDash val="solid"/>
                    </a:lnT>
                    <a:lnB w="12700">
                      <a:solidFill>
                        <a:srgbClr val="000000"/>
                      </a:solidFill>
                      <a:prstDash val="solid"/>
                    </a:lnB>
                  </a:tcPr>
                </a:tc>
              </a:tr>
              <a:tr h="1140983">
                <a:tc>
                  <a:txBody>
                    <a:bodyPr/>
                    <a:lstStyle/>
                    <a:p>
                      <a:pPr>
                        <a:lnSpc>
                          <a:spcPct val="100000"/>
                        </a:lnSpc>
                        <a:spcBef>
                          <a:spcPts val="20"/>
                        </a:spcBef>
                      </a:pPr>
                      <a:endParaRPr sz="2700">
                        <a:latin typeface="Times New Roman" panose="02020603050405020304"/>
                        <a:cs typeface="Times New Roman" panose="02020603050405020304"/>
                      </a:endParaRPr>
                    </a:p>
                    <a:p>
                      <a:pPr marR="1050925" algn="r">
                        <a:lnSpc>
                          <a:spcPct val="100000"/>
                        </a:lnSpc>
                      </a:pPr>
                      <a:r>
                        <a:rPr sz="2100" dirty="0">
                          <a:latin typeface="Arial" panose="020B0604020202020204"/>
                          <a:cs typeface="Arial" panose="020B0604020202020204"/>
                        </a:rPr>
                        <a:t>3</a:t>
                      </a:r>
                      <a:endParaRPr sz="2100">
                        <a:latin typeface="Arial" panose="020B0604020202020204"/>
                        <a:cs typeface="Arial" panose="020B0604020202020204"/>
                      </a:endParaRPr>
                    </a:p>
                  </a:txBody>
                  <a:tcPr marL="0" marR="0" marT="2241" marB="0">
                    <a:lnL w="9525">
                      <a:solidFill>
                        <a:srgbClr val="000000"/>
                      </a:solidFill>
                      <a:prstDash val="solid"/>
                    </a:lnL>
                    <a:lnR w="9525">
                      <a:solidFill>
                        <a:srgbClr val="000000"/>
                      </a:solidFill>
                      <a:prstDash val="solid"/>
                    </a:lnR>
                    <a:lnT w="12700">
                      <a:solidFill>
                        <a:srgbClr val="000000"/>
                      </a:solidFill>
                      <a:prstDash val="solid"/>
                    </a:lnT>
                    <a:lnB w="19050">
                      <a:solidFill>
                        <a:srgbClr val="000000"/>
                      </a:solidFill>
                      <a:prstDash val="solid"/>
                    </a:lnB>
                    <a:solidFill>
                      <a:srgbClr val="FF00FF"/>
                    </a:solidFill>
                  </a:tcPr>
                </a:tc>
              </a:tr>
              <a:tr h="405429">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66FF66"/>
                    </a:solidFill>
                  </a:tcPr>
                </a:tc>
              </a:tr>
            </a:tbl>
          </a:graphicData>
        </a:graphic>
      </p:graphicFrame>
      <p:sp>
        <p:nvSpPr>
          <p:cNvPr id="20" name="object 20"/>
          <p:cNvSpPr/>
          <p:nvPr/>
        </p:nvSpPr>
        <p:spPr>
          <a:xfrm>
            <a:off x="1546412" y="4975412"/>
            <a:ext cx="1680882" cy="403412"/>
          </a:xfrm>
          <a:prstGeom prst="rect">
            <a:avLst/>
          </a:prstGeom>
          <a:blipFill>
            <a:blip r:embed="rId4" cstate="print"/>
            <a:stretch>
              <a:fillRect/>
            </a:stretch>
          </a:blipFill>
        </p:spPr>
        <p:txBody>
          <a:bodyPr wrap="square" lIns="0" tIns="0" rIns="0" bIns="0" rtlCol="0"/>
          <a:lstStyle/>
          <a:p>
            <a:endParaRPr sz="1590"/>
          </a:p>
        </p:txBody>
      </p:sp>
      <p:sp>
        <p:nvSpPr>
          <p:cNvPr id="21" name="object 21"/>
          <p:cNvSpPr txBox="1"/>
          <p:nvPr/>
        </p:nvSpPr>
        <p:spPr>
          <a:xfrm>
            <a:off x="1546412" y="4975412"/>
            <a:ext cx="1680882" cy="358172"/>
          </a:xfrm>
          <a:prstGeom prst="rect">
            <a:avLst/>
          </a:prstGeom>
          <a:ln w="9525">
            <a:solidFill>
              <a:srgbClr val="000000"/>
            </a:solidFill>
          </a:ln>
        </p:spPr>
        <p:txBody>
          <a:bodyPr vert="horz" wrap="square" lIns="0" tIns="31937" rIns="0" bIns="0" rtlCol="0">
            <a:spAutoFit/>
          </a:bodyPr>
          <a:lstStyle/>
          <a:p>
            <a:pPr algn="ctr">
              <a:spcBef>
                <a:spcPts val="250"/>
              </a:spcBef>
            </a:pPr>
            <a:r>
              <a:rPr sz="2120" spc="-4" dirty="0">
                <a:solidFill>
                  <a:srgbClr val="FFFF65"/>
                </a:solidFill>
                <a:latin typeface="Arial" panose="020B0604020202020204"/>
                <a:cs typeface="Arial" panose="020B0604020202020204"/>
              </a:rPr>
              <a:t>5</a:t>
            </a:r>
            <a:endParaRPr sz="2120">
              <a:latin typeface="Arial" panose="020B0604020202020204"/>
              <a:cs typeface="Arial" panose="020B0604020202020204"/>
            </a:endParaRPr>
          </a:p>
        </p:txBody>
      </p:sp>
      <p:sp>
        <p:nvSpPr>
          <p:cNvPr id="22" name="object 22"/>
          <p:cNvSpPr/>
          <p:nvPr/>
        </p:nvSpPr>
        <p:spPr>
          <a:xfrm>
            <a:off x="4504765" y="2756647"/>
            <a:ext cx="1143000" cy="1613647"/>
          </a:xfrm>
          <a:custGeom>
            <a:avLst/>
            <a:gdLst/>
            <a:ahLst/>
            <a:cxnLst/>
            <a:rect l="l" t="t" r="r" b="b"/>
            <a:pathLst>
              <a:path w="1295400" h="1828800">
                <a:moveTo>
                  <a:pt x="0" y="0"/>
                </a:moveTo>
                <a:lnTo>
                  <a:pt x="0" y="1828800"/>
                </a:lnTo>
                <a:lnTo>
                  <a:pt x="1295400" y="1828799"/>
                </a:lnTo>
                <a:lnTo>
                  <a:pt x="1295400" y="0"/>
                </a:lnTo>
                <a:lnTo>
                  <a:pt x="0" y="0"/>
                </a:lnTo>
                <a:close/>
              </a:path>
            </a:pathLst>
          </a:custGeom>
          <a:ln w="28575">
            <a:solidFill>
              <a:srgbClr val="000000"/>
            </a:solidFill>
          </a:ln>
        </p:spPr>
        <p:txBody>
          <a:bodyPr wrap="square" lIns="0" tIns="0" rIns="0" bIns="0" rtlCol="0"/>
          <a:lstStyle/>
          <a:p>
            <a:endParaRPr sz="1590"/>
          </a:p>
        </p:txBody>
      </p:sp>
      <p:sp>
        <p:nvSpPr>
          <p:cNvPr id="23" name="object 23"/>
          <p:cNvSpPr txBox="1"/>
          <p:nvPr/>
        </p:nvSpPr>
        <p:spPr>
          <a:xfrm>
            <a:off x="4543313" y="4493559"/>
            <a:ext cx="1066240" cy="663161"/>
          </a:xfrm>
          <a:prstGeom prst="rect">
            <a:avLst/>
          </a:prstGeom>
        </p:spPr>
        <p:txBody>
          <a:bodyPr vert="horz" wrap="square" lIns="0" tIns="11206" rIns="0" bIns="0" rtlCol="0">
            <a:spAutoFit/>
          </a:bodyPr>
          <a:lstStyle/>
          <a:p>
            <a:pPr marL="210820" marR="4445" indent="-200025">
              <a:spcBef>
                <a:spcPts val="90"/>
              </a:spcBef>
            </a:pPr>
            <a:r>
              <a:rPr sz="2120" spc="-4" dirty="0">
                <a:latin typeface="Comic Sans MS" panose="030F0702030302020204"/>
                <a:cs typeface="Comic Sans MS" panose="030F0702030302020204"/>
              </a:rPr>
              <a:t>segment  table</a:t>
            </a:r>
            <a:endParaRPr sz="2120">
              <a:latin typeface="Comic Sans MS" panose="030F0702030302020204"/>
              <a:cs typeface="Comic Sans MS" panose="030F0702030302020204"/>
            </a:endParaRPr>
          </a:p>
        </p:txBody>
      </p:sp>
      <p:sp>
        <p:nvSpPr>
          <p:cNvPr id="24" name="object 24"/>
          <p:cNvSpPr/>
          <p:nvPr/>
        </p:nvSpPr>
        <p:spPr>
          <a:xfrm>
            <a:off x="6252882" y="1546412"/>
            <a:ext cx="2017059" cy="4235824"/>
          </a:xfrm>
          <a:custGeom>
            <a:avLst/>
            <a:gdLst/>
            <a:ahLst/>
            <a:cxnLst/>
            <a:rect l="l" t="t" r="r" b="b"/>
            <a:pathLst>
              <a:path w="2286000" h="4800600">
                <a:moveTo>
                  <a:pt x="0" y="0"/>
                </a:moveTo>
                <a:lnTo>
                  <a:pt x="0" y="4800600"/>
                </a:lnTo>
                <a:lnTo>
                  <a:pt x="2286000" y="4800600"/>
                </a:lnTo>
                <a:lnTo>
                  <a:pt x="2286000" y="0"/>
                </a:lnTo>
                <a:lnTo>
                  <a:pt x="0" y="0"/>
                </a:lnTo>
                <a:close/>
              </a:path>
            </a:pathLst>
          </a:custGeom>
          <a:ln w="57150">
            <a:solidFill>
              <a:srgbClr val="FFFFFF"/>
            </a:solidFill>
          </a:ln>
        </p:spPr>
        <p:txBody>
          <a:bodyPr wrap="square" lIns="0" tIns="0" rIns="0" bIns="0" rtlCol="0"/>
          <a:lstStyle/>
          <a:p>
            <a:endParaRPr sz="159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442" y="474905"/>
            <a:ext cx="2785558"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sp>
        <p:nvSpPr>
          <p:cNvPr id="3" name="object 3"/>
          <p:cNvSpPr txBox="1"/>
          <p:nvPr/>
        </p:nvSpPr>
        <p:spPr>
          <a:xfrm>
            <a:off x="1011443" y="1539912"/>
            <a:ext cx="6224868" cy="1484275"/>
          </a:xfrm>
          <a:prstGeom prst="rect">
            <a:avLst/>
          </a:prstGeom>
        </p:spPr>
        <p:txBody>
          <a:bodyPr vert="horz" wrap="square" lIns="0" tIns="75079" rIns="0" bIns="0" rtlCol="0">
            <a:spAutoFit/>
          </a:bodyPr>
          <a:lstStyle/>
          <a:p>
            <a:pPr marL="313690" indent="-302260">
              <a:spcBef>
                <a:spcPts val="590"/>
              </a:spcBef>
              <a:buFont typeface="Wingdings" panose="05000000000000000000"/>
              <a:buChar char=""/>
              <a:tabLst>
                <a:tab pos="313055" algn="l"/>
                <a:tab pos="313690" algn="l"/>
              </a:tabLst>
            </a:pPr>
            <a:r>
              <a:rPr sz="2120" u="heavy" dirty="0">
                <a:uFill>
                  <a:solidFill>
                    <a:srgbClr val="000000"/>
                  </a:solidFill>
                </a:uFill>
                <a:latin typeface="Comic Sans MS" panose="030F0702030302020204"/>
                <a:cs typeface="Comic Sans MS" panose="030F0702030302020204"/>
              </a:rPr>
              <a:t>Logical address</a:t>
            </a:r>
            <a:r>
              <a:rPr sz="2120" dirty="0">
                <a:latin typeface="Comic Sans MS" panose="030F0702030302020204"/>
                <a:cs typeface="Comic Sans MS" panose="030F0702030302020204"/>
              </a:rPr>
              <a:t> </a:t>
            </a:r>
            <a:r>
              <a:rPr sz="2120" b="1" spc="-4" dirty="0">
                <a:latin typeface="Comic Sans MS" panose="030F0702030302020204"/>
                <a:cs typeface="Comic Sans MS" panose="030F0702030302020204"/>
              </a:rPr>
              <a:t>consists </a:t>
            </a:r>
            <a:r>
              <a:rPr sz="2120" b="1" dirty="0">
                <a:latin typeface="Comic Sans MS" panose="030F0702030302020204"/>
                <a:cs typeface="Comic Sans MS" panose="030F0702030302020204"/>
              </a:rPr>
              <a:t>of a </a:t>
            </a:r>
            <a:r>
              <a:rPr sz="2120" b="1" spc="-4" dirty="0">
                <a:latin typeface="Comic Sans MS" panose="030F0702030302020204"/>
                <a:cs typeface="Comic Sans MS" panose="030F0702030302020204"/>
              </a:rPr>
              <a:t>two</a:t>
            </a:r>
            <a:r>
              <a:rPr sz="2120" b="1" spc="-405" dirty="0">
                <a:latin typeface="Comic Sans MS" panose="030F0702030302020204"/>
                <a:cs typeface="Comic Sans MS" panose="030F0702030302020204"/>
              </a:rPr>
              <a:t> </a:t>
            </a:r>
            <a:r>
              <a:rPr sz="2120" b="1" dirty="0">
                <a:latin typeface="Comic Sans MS" panose="030F0702030302020204"/>
                <a:cs typeface="Comic Sans MS" panose="030F0702030302020204"/>
              </a:rPr>
              <a:t>tuple:</a:t>
            </a:r>
            <a:endParaRPr sz="2120">
              <a:latin typeface="Comic Sans MS" panose="030F0702030302020204"/>
              <a:cs typeface="Comic Sans MS" panose="030F0702030302020204"/>
            </a:endParaRPr>
          </a:p>
          <a:p>
            <a:pPr marL="662305">
              <a:spcBef>
                <a:spcPts val="505"/>
              </a:spcBef>
            </a:pPr>
            <a:r>
              <a:rPr sz="2120" b="1" spc="-4" dirty="0">
                <a:latin typeface="Comic Sans MS" panose="030F0702030302020204"/>
                <a:cs typeface="Comic Sans MS" panose="030F0702030302020204"/>
              </a:rPr>
              <a:t>&lt;segment-number,</a:t>
            </a:r>
            <a:r>
              <a:rPr sz="2120" b="1" spc="-13" dirty="0">
                <a:latin typeface="Comic Sans MS" panose="030F0702030302020204"/>
                <a:cs typeface="Comic Sans MS" panose="030F0702030302020204"/>
              </a:rPr>
              <a:t> </a:t>
            </a:r>
            <a:r>
              <a:rPr sz="2120" b="1" spc="-4" dirty="0">
                <a:latin typeface="Comic Sans MS" panose="030F0702030302020204"/>
                <a:cs typeface="Comic Sans MS" panose="030F0702030302020204"/>
              </a:rPr>
              <a:t>offset&gt;</a:t>
            </a:r>
            <a:endParaRPr sz="2120">
              <a:latin typeface="Comic Sans MS" panose="030F0702030302020204"/>
              <a:cs typeface="Comic Sans MS" panose="030F0702030302020204"/>
            </a:endParaRPr>
          </a:p>
          <a:p>
            <a:pPr marL="313690" marR="4445" indent="-302260">
              <a:lnSpc>
                <a:spcPts val="2285"/>
              </a:lnSpc>
              <a:spcBef>
                <a:spcPts val="790"/>
              </a:spcBef>
              <a:buFont typeface="Wingdings" panose="05000000000000000000"/>
              <a:buChar char=""/>
              <a:tabLst>
                <a:tab pos="313055" algn="l"/>
                <a:tab pos="313690" algn="l"/>
              </a:tabLst>
            </a:pPr>
            <a:r>
              <a:rPr sz="2120" u="heavy" spc="-4" dirty="0">
                <a:uFill>
                  <a:solidFill>
                    <a:srgbClr val="000000"/>
                  </a:solidFill>
                </a:uFill>
                <a:latin typeface="Comic Sans MS" panose="030F0702030302020204"/>
                <a:cs typeface="Comic Sans MS" panose="030F0702030302020204"/>
              </a:rPr>
              <a:t>Segment table</a:t>
            </a:r>
            <a:r>
              <a:rPr sz="2120" spc="-4" dirty="0">
                <a:latin typeface="Comic Sans MS" panose="030F0702030302020204"/>
                <a:cs typeface="Comic Sans MS" panose="030F0702030302020204"/>
              </a:rPr>
              <a:t> </a:t>
            </a:r>
            <a:r>
              <a:rPr sz="2120" b="1" dirty="0">
                <a:latin typeface="Comic Sans MS" panose="030F0702030302020204"/>
                <a:cs typeface="Comic Sans MS" panose="030F0702030302020204"/>
              </a:rPr>
              <a:t>– maps two-dimensional logical  addresses </a:t>
            </a:r>
            <a:r>
              <a:rPr sz="2120" b="1" spc="-4" dirty="0">
                <a:latin typeface="Comic Sans MS" panose="030F0702030302020204"/>
                <a:cs typeface="Comic Sans MS" panose="030F0702030302020204"/>
              </a:rPr>
              <a:t>to </a:t>
            </a:r>
            <a:r>
              <a:rPr sz="2120" b="1" dirty="0">
                <a:latin typeface="Comic Sans MS" panose="030F0702030302020204"/>
                <a:cs typeface="Comic Sans MS" panose="030F0702030302020204"/>
              </a:rPr>
              <a:t>physical</a:t>
            </a:r>
            <a:r>
              <a:rPr sz="2120" b="1" spc="-31" dirty="0">
                <a:latin typeface="Comic Sans MS" panose="030F0702030302020204"/>
                <a:cs typeface="Comic Sans MS" panose="030F0702030302020204"/>
              </a:rPr>
              <a:t> </a:t>
            </a:r>
            <a:r>
              <a:rPr sz="2120" b="1" spc="-4" dirty="0">
                <a:latin typeface="Comic Sans MS" panose="030F0702030302020204"/>
                <a:cs typeface="Comic Sans MS" panose="030F0702030302020204"/>
              </a:rPr>
              <a:t>addresses</a:t>
            </a:r>
            <a:endParaRPr sz="2120">
              <a:latin typeface="Comic Sans MS" panose="030F0702030302020204"/>
              <a:cs typeface="Comic Sans MS" panose="030F070203030202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442" y="474905"/>
            <a:ext cx="2328358"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sp>
        <p:nvSpPr>
          <p:cNvPr id="3" name="object 3"/>
          <p:cNvSpPr txBox="1"/>
          <p:nvPr/>
        </p:nvSpPr>
        <p:spPr>
          <a:xfrm>
            <a:off x="944208" y="1539912"/>
            <a:ext cx="6594101" cy="1484275"/>
          </a:xfrm>
          <a:prstGeom prst="rect">
            <a:avLst/>
          </a:prstGeom>
        </p:spPr>
        <p:txBody>
          <a:bodyPr vert="horz" wrap="square" lIns="0" tIns="75079" rIns="0" bIns="0" rtlCol="0">
            <a:spAutoFit/>
          </a:bodyPr>
          <a:lstStyle/>
          <a:p>
            <a:pPr marL="313690" indent="-302260">
              <a:spcBef>
                <a:spcPts val="590"/>
              </a:spcBef>
              <a:buFont typeface="Wingdings" panose="05000000000000000000"/>
              <a:buChar char=""/>
              <a:tabLst>
                <a:tab pos="313055" algn="l"/>
                <a:tab pos="313690" algn="l"/>
              </a:tabLst>
            </a:pPr>
            <a:r>
              <a:rPr sz="2120" b="1" dirty="0">
                <a:latin typeface="Comic Sans MS" panose="030F0702030302020204"/>
                <a:cs typeface="Comic Sans MS" panose="030F0702030302020204"/>
              </a:rPr>
              <a:t>Each segment </a:t>
            </a:r>
            <a:r>
              <a:rPr sz="2120" b="1" spc="-4" dirty="0">
                <a:latin typeface="Comic Sans MS" panose="030F0702030302020204"/>
                <a:cs typeface="Comic Sans MS" panose="030F0702030302020204"/>
              </a:rPr>
              <a:t>table entry</a:t>
            </a:r>
            <a:r>
              <a:rPr sz="2120" b="1" spc="-31" dirty="0">
                <a:latin typeface="Comic Sans MS" panose="030F0702030302020204"/>
                <a:cs typeface="Comic Sans MS" panose="030F0702030302020204"/>
              </a:rPr>
              <a:t> </a:t>
            </a:r>
            <a:r>
              <a:rPr sz="2120" b="1" dirty="0">
                <a:latin typeface="Comic Sans MS" panose="030F0702030302020204"/>
                <a:cs typeface="Comic Sans MS" panose="030F0702030302020204"/>
              </a:rPr>
              <a:t>has:</a:t>
            </a:r>
            <a:endParaRPr sz="2120">
              <a:latin typeface="Comic Sans MS" panose="030F0702030302020204"/>
              <a:cs typeface="Comic Sans MS" panose="030F0702030302020204"/>
            </a:endParaRPr>
          </a:p>
          <a:p>
            <a:pPr marL="666115" marR="4445" lvl="1" indent="-252095">
              <a:lnSpc>
                <a:spcPts val="2285"/>
              </a:lnSpc>
              <a:spcBef>
                <a:spcPts val="790"/>
              </a:spcBef>
              <a:buFont typeface="Wingdings" panose="05000000000000000000"/>
              <a:buChar char=""/>
              <a:tabLst>
                <a:tab pos="666115" algn="l"/>
                <a:tab pos="666750" algn="l"/>
              </a:tabLst>
            </a:pPr>
            <a:r>
              <a:rPr sz="2120" u="heavy" spc="-4" dirty="0">
                <a:uFill>
                  <a:solidFill>
                    <a:srgbClr val="000000"/>
                  </a:solidFill>
                </a:uFill>
                <a:latin typeface="Comic Sans MS" panose="030F0702030302020204"/>
                <a:cs typeface="Comic Sans MS" panose="030F0702030302020204"/>
              </a:rPr>
              <a:t>base</a:t>
            </a:r>
            <a:r>
              <a:rPr sz="2120" spc="-4" dirty="0">
                <a:latin typeface="Comic Sans MS" panose="030F0702030302020204"/>
                <a:cs typeface="Comic Sans MS" panose="030F0702030302020204"/>
              </a:rPr>
              <a:t> </a:t>
            </a:r>
            <a:r>
              <a:rPr sz="2120" b="1" dirty="0">
                <a:latin typeface="Comic Sans MS" panose="030F0702030302020204"/>
                <a:cs typeface="Comic Sans MS" panose="030F0702030302020204"/>
              </a:rPr>
              <a:t>– contains </a:t>
            </a:r>
            <a:r>
              <a:rPr sz="2120" b="1" spc="-4" dirty="0">
                <a:latin typeface="Comic Sans MS" panose="030F0702030302020204"/>
                <a:cs typeface="Comic Sans MS" panose="030F0702030302020204"/>
              </a:rPr>
              <a:t>the </a:t>
            </a:r>
            <a:r>
              <a:rPr sz="2120" b="1" dirty="0">
                <a:latin typeface="Comic Sans MS" panose="030F0702030302020204"/>
                <a:cs typeface="Comic Sans MS" panose="030F0702030302020204"/>
              </a:rPr>
              <a:t>starting physical address  </a:t>
            </a:r>
            <a:r>
              <a:rPr sz="2120" b="1" spc="-4" dirty="0">
                <a:latin typeface="Comic Sans MS" panose="030F0702030302020204"/>
                <a:cs typeface="Comic Sans MS" panose="030F0702030302020204"/>
              </a:rPr>
              <a:t>where the segments reside in</a:t>
            </a:r>
            <a:r>
              <a:rPr sz="2120" b="1" spc="-57" dirty="0">
                <a:latin typeface="Comic Sans MS" panose="030F0702030302020204"/>
                <a:cs typeface="Comic Sans MS" panose="030F0702030302020204"/>
              </a:rPr>
              <a:t> </a:t>
            </a:r>
            <a:r>
              <a:rPr sz="2120" b="1" spc="-4" dirty="0">
                <a:latin typeface="Comic Sans MS" panose="030F0702030302020204"/>
                <a:cs typeface="Comic Sans MS" panose="030F0702030302020204"/>
              </a:rPr>
              <a:t>memory.</a:t>
            </a:r>
            <a:endParaRPr sz="2120">
              <a:latin typeface="Comic Sans MS" panose="030F0702030302020204"/>
              <a:cs typeface="Comic Sans MS" panose="030F0702030302020204"/>
            </a:endParaRPr>
          </a:p>
          <a:p>
            <a:pPr marL="666750" lvl="1" indent="-252730">
              <a:spcBef>
                <a:spcPts val="470"/>
              </a:spcBef>
              <a:buFont typeface="Wingdings" panose="05000000000000000000"/>
              <a:buChar char=""/>
              <a:tabLst>
                <a:tab pos="666115" algn="l"/>
                <a:tab pos="666750" algn="l"/>
              </a:tabLst>
            </a:pPr>
            <a:r>
              <a:rPr sz="2120" u="heavy" dirty="0">
                <a:uFill>
                  <a:solidFill>
                    <a:srgbClr val="000000"/>
                  </a:solidFill>
                </a:uFill>
                <a:latin typeface="Comic Sans MS" panose="030F0702030302020204"/>
                <a:cs typeface="Comic Sans MS" panose="030F0702030302020204"/>
              </a:rPr>
              <a:t>limit</a:t>
            </a:r>
            <a:r>
              <a:rPr sz="2120" dirty="0">
                <a:latin typeface="Comic Sans MS" panose="030F0702030302020204"/>
                <a:cs typeface="Comic Sans MS" panose="030F0702030302020204"/>
              </a:rPr>
              <a:t> </a:t>
            </a:r>
            <a:r>
              <a:rPr sz="2120" b="1" dirty="0">
                <a:latin typeface="Comic Sans MS" panose="030F0702030302020204"/>
                <a:cs typeface="Comic Sans MS" panose="030F0702030302020204"/>
              </a:rPr>
              <a:t>– specifies </a:t>
            </a:r>
            <a:r>
              <a:rPr sz="2120" b="1" spc="-4" dirty="0">
                <a:latin typeface="Comic Sans MS" panose="030F0702030302020204"/>
                <a:cs typeface="Comic Sans MS" panose="030F0702030302020204"/>
              </a:rPr>
              <a:t>the length of the</a:t>
            </a:r>
            <a:r>
              <a:rPr sz="2120" b="1" spc="-437" dirty="0">
                <a:latin typeface="Comic Sans MS" panose="030F0702030302020204"/>
                <a:cs typeface="Comic Sans MS" panose="030F0702030302020204"/>
              </a:rPr>
              <a:t> </a:t>
            </a:r>
            <a:r>
              <a:rPr sz="2120" b="1" spc="-4" dirty="0">
                <a:latin typeface="Comic Sans MS" panose="030F0702030302020204"/>
                <a:cs typeface="Comic Sans MS" panose="030F0702030302020204"/>
              </a:rPr>
              <a:t>segment.</a:t>
            </a:r>
            <a:endParaRPr sz="2120">
              <a:latin typeface="Comic Sans MS" panose="030F0702030302020204"/>
              <a:cs typeface="Comic Sans MS" panose="030F070203030202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442" y="474905"/>
            <a:ext cx="2328358"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sp>
        <p:nvSpPr>
          <p:cNvPr id="3" name="object 3"/>
          <p:cNvSpPr txBox="1"/>
          <p:nvPr/>
        </p:nvSpPr>
        <p:spPr>
          <a:xfrm>
            <a:off x="809736" y="1334844"/>
            <a:ext cx="7467040" cy="1720536"/>
          </a:xfrm>
          <a:prstGeom prst="rect">
            <a:avLst/>
          </a:prstGeom>
        </p:spPr>
        <p:txBody>
          <a:bodyPr vert="horz" wrap="square" lIns="0" tIns="47625" rIns="0" bIns="0" rtlCol="0">
            <a:spAutoFit/>
          </a:bodyPr>
          <a:lstStyle/>
          <a:p>
            <a:pPr marL="313690" marR="693420" indent="-302260">
              <a:lnSpc>
                <a:spcPts val="2285"/>
              </a:lnSpc>
              <a:spcBef>
                <a:spcPts val="375"/>
              </a:spcBef>
              <a:buFont typeface="Wingdings" panose="05000000000000000000"/>
              <a:buChar char=""/>
              <a:tabLst>
                <a:tab pos="313055" algn="l"/>
                <a:tab pos="313690" algn="l"/>
                <a:tab pos="4047490" algn="l"/>
              </a:tabLst>
            </a:pPr>
            <a:r>
              <a:rPr sz="2120" u="heavy" spc="-4" dirty="0">
                <a:uFill>
                  <a:solidFill>
                    <a:srgbClr val="000000"/>
                  </a:solidFill>
                </a:uFill>
                <a:latin typeface="Comic Sans MS" panose="030F0702030302020204"/>
                <a:cs typeface="Comic Sans MS" panose="030F0702030302020204"/>
              </a:rPr>
              <a:t>Segment-table</a:t>
            </a:r>
            <a:r>
              <a:rPr sz="2120" u="heavy" spc="-9" dirty="0">
                <a:uFill>
                  <a:solidFill>
                    <a:srgbClr val="000000"/>
                  </a:solidFill>
                </a:uFill>
                <a:latin typeface="Comic Sans MS" panose="030F0702030302020204"/>
                <a:cs typeface="Comic Sans MS" panose="030F0702030302020204"/>
              </a:rPr>
              <a:t> </a:t>
            </a:r>
            <a:r>
              <a:rPr sz="2120" u="heavy" spc="-4" dirty="0">
                <a:uFill>
                  <a:solidFill>
                    <a:srgbClr val="000000"/>
                  </a:solidFill>
                </a:uFill>
                <a:latin typeface="Comic Sans MS" panose="030F0702030302020204"/>
                <a:cs typeface="Comic Sans MS" panose="030F0702030302020204"/>
              </a:rPr>
              <a:t>base register</a:t>
            </a:r>
            <a:r>
              <a:rPr sz="2120" spc="-4" dirty="0">
                <a:latin typeface="Comic Sans MS" panose="030F0702030302020204"/>
                <a:cs typeface="Comic Sans MS" panose="030F0702030302020204"/>
              </a:rPr>
              <a:t>	</a:t>
            </a:r>
            <a:r>
              <a:rPr sz="2120" b="1" spc="-4" dirty="0">
                <a:latin typeface="Comic Sans MS" panose="030F0702030302020204"/>
                <a:cs typeface="Comic Sans MS" panose="030F0702030302020204"/>
              </a:rPr>
              <a:t>(STBR) </a:t>
            </a:r>
            <a:r>
              <a:rPr sz="2120" b="1" dirty="0">
                <a:latin typeface="Comic Sans MS" panose="030F0702030302020204"/>
                <a:cs typeface="Comic Sans MS" panose="030F0702030302020204"/>
              </a:rPr>
              <a:t>points </a:t>
            </a:r>
            <a:r>
              <a:rPr sz="2120" b="1" spc="-4" dirty="0">
                <a:latin typeface="Comic Sans MS" panose="030F0702030302020204"/>
                <a:cs typeface="Comic Sans MS" panose="030F0702030302020204"/>
              </a:rPr>
              <a:t>to</a:t>
            </a:r>
            <a:r>
              <a:rPr sz="2120" b="1" spc="-93" dirty="0">
                <a:latin typeface="Comic Sans MS" panose="030F0702030302020204"/>
                <a:cs typeface="Comic Sans MS" panose="030F0702030302020204"/>
              </a:rPr>
              <a:t> </a:t>
            </a:r>
            <a:r>
              <a:rPr sz="2120" b="1" spc="-4" dirty="0">
                <a:latin typeface="Comic Sans MS" panose="030F0702030302020204"/>
                <a:cs typeface="Comic Sans MS" panose="030F0702030302020204"/>
              </a:rPr>
              <a:t>the  segment table’s location in</a:t>
            </a:r>
            <a:r>
              <a:rPr sz="2120" b="1" spc="-22" dirty="0">
                <a:latin typeface="Comic Sans MS" panose="030F0702030302020204"/>
                <a:cs typeface="Comic Sans MS" panose="030F0702030302020204"/>
              </a:rPr>
              <a:t> </a:t>
            </a:r>
            <a:r>
              <a:rPr sz="2120" b="1" spc="-4" dirty="0">
                <a:latin typeface="Comic Sans MS" panose="030F0702030302020204"/>
                <a:cs typeface="Comic Sans MS" panose="030F0702030302020204"/>
              </a:rPr>
              <a:t>memory.</a:t>
            </a:r>
            <a:endParaRPr sz="2120">
              <a:latin typeface="Comic Sans MS" panose="030F0702030302020204"/>
              <a:cs typeface="Comic Sans MS" panose="030F0702030302020204"/>
            </a:endParaRPr>
          </a:p>
          <a:p>
            <a:pPr marL="313690" marR="4445" indent="-302260">
              <a:lnSpc>
                <a:spcPts val="2285"/>
              </a:lnSpc>
              <a:spcBef>
                <a:spcPts val="760"/>
              </a:spcBef>
              <a:buFont typeface="Wingdings" panose="05000000000000000000"/>
              <a:buChar char=""/>
              <a:tabLst>
                <a:tab pos="313055" algn="l"/>
                <a:tab pos="313690" algn="l"/>
              </a:tabLst>
            </a:pPr>
            <a:r>
              <a:rPr sz="2120" u="heavy" spc="-4" dirty="0">
                <a:uFill>
                  <a:solidFill>
                    <a:srgbClr val="000000"/>
                  </a:solidFill>
                </a:uFill>
                <a:latin typeface="Comic Sans MS" panose="030F0702030302020204"/>
                <a:cs typeface="Comic Sans MS" panose="030F0702030302020204"/>
              </a:rPr>
              <a:t>Segment-table length register</a:t>
            </a:r>
            <a:r>
              <a:rPr sz="2120" spc="-4" dirty="0">
                <a:latin typeface="Comic Sans MS" panose="030F0702030302020204"/>
                <a:cs typeface="Comic Sans MS" panose="030F0702030302020204"/>
              </a:rPr>
              <a:t> </a:t>
            </a:r>
            <a:r>
              <a:rPr sz="2120" b="1" spc="-4" dirty="0">
                <a:latin typeface="Comic Sans MS" panose="030F0702030302020204"/>
                <a:cs typeface="Comic Sans MS" panose="030F0702030302020204"/>
              </a:rPr>
              <a:t>(STLR) indicates number  of segments used by </a:t>
            </a:r>
            <a:r>
              <a:rPr sz="2120" b="1" dirty="0">
                <a:latin typeface="Comic Sans MS" panose="030F0702030302020204"/>
                <a:cs typeface="Comic Sans MS" panose="030F0702030302020204"/>
              </a:rPr>
              <a:t>a</a:t>
            </a:r>
            <a:r>
              <a:rPr sz="2120" b="1" spc="-18" dirty="0">
                <a:latin typeface="Comic Sans MS" panose="030F0702030302020204"/>
                <a:cs typeface="Comic Sans MS" panose="030F0702030302020204"/>
              </a:rPr>
              <a:t> </a:t>
            </a:r>
            <a:r>
              <a:rPr sz="2120" b="1" spc="-4" dirty="0">
                <a:latin typeface="Comic Sans MS" panose="030F0702030302020204"/>
                <a:cs typeface="Comic Sans MS" panose="030F0702030302020204"/>
              </a:rPr>
              <a:t>program</a:t>
            </a:r>
            <a:endParaRPr sz="2120">
              <a:latin typeface="Comic Sans MS" panose="030F0702030302020204"/>
              <a:cs typeface="Comic Sans MS" panose="030F0702030302020204"/>
            </a:endParaRPr>
          </a:p>
          <a:p>
            <a:pPr marL="313690" indent="-302260">
              <a:spcBef>
                <a:spcPts val="465"/>
              </a:spcBef>
              <a:buFont typeface="Wingdings" panose="05000000000000000000"/>
              <a:buChar char=""/>
              <a:tabLst>
                <a:tab pos="313055" algn="l"/>
                <a:tab pos="313690" algn="l"/>
              </a:tabLst>
            </a:pPr>
            <a:r>
              <a:rPr sz="2120" b="1" spc="-4" dirty="0">
                <a:latin typeface="Comic Sans MS" panose="030F0702030302020204"/>
                <a:cs typeface="Comic Sans MS" panose="030F0702030302020204"/>
              </a:rPr>
              <a:t>Segment number </a:t>
            </a:r>
            <a:r>
              <a:rPr sz="2120" dirty="0">
                <a:latin typeface="Comic Sans MS" panose="030F0702030302020204"/>
                <a:cs typeface="Comic Sans MS" panose="030F0702030302020204"/>
              </a:rPr>
              <a:t>s </a:t>
            </a:r>
            <a:r>
              <a:rPr sz="2120" b="1" spc="-4" dirty="0">
                <a:latin typeface="Comic Sans MS" panose="030F0702030302020204"/>
                <a:cs typeface="Comic Sans MS" panose="030F0702030302020204"/>
              </a:rPr>
              <a:t>is </a:t>
            </a:r>
            <a:r>
              <a:rPr sz="2120" b="1" dirty="0">
                <a:latin typeface="Comic Sans MS" panose="030F0702030302020204"/>
                <a:cs typeface="Comic Sans MS" panose="030F0702030302020204"/>
              </a:rPr>
              <a:t>legal </a:t>
            </a:r>
            <a:r>
              <a:rPr sz="2120" b="1" spc="-4" dirty="0">
                <a:latin typeface="Comic Sans MS" panose="030F0702030302020204"/>
                <a:cs typeface="Comic Sans MS" panose="030F0702030302020204"/>
              </a:rPr>
              <a:t>if </a:t>
            </a:r>
            <a:r>
              <a:rPr sz="2120" dirty="0">
                <a:latin typeface="Comic Sans MS" panose="030F0702030302020204"/>
                <a:cs typeface="Comic Sans MS" panose="030F0702030302020204"/>
              </a:rPr>
              <a:t>s </a:t>
            </a:r>
            <a:r>
              <a:rPr sz="2120" b="1" dirty="0">
                <a:latin typeface="Comic Sans MS" panose="030F0702030302020204"/>
                <a:cs typeface="Comic Sans MS" panose="030F0702030302020204"/>
              </a:rPr>
              <a:t>&lt;</a:t>
            </a:r>
            <a:r>
              <a:rPr sz="2120" b="1" spc="-366" dirty="0">
                <a:latin typeface="Comic Sans MS" panose="030F0702030302020204"/>
                <a:cs typeface="Comic Sans MS" panose="030F0702030302020204"/>
              </a:rPr>
              <a:t> </a:t>
            </a:r>
            <a:r>
              <a:rPr sz="2120" b="1" spc="-4" dirty="0">
                <a:latin typeface="Comic Sans MS" panose="030F0702030302020204"/>
                <a:cs typeface="Comic Sans MS" panose="030F0702030302020204"/>
              </a:rPr>
              <a:t>STLR</a:t>
            </a:r>
            <a:endParaRPr sz="2120">
              <a:latin typeface="Comic Sans MS" panose="030F0702030302020204"/>
              <a:cs typeface="Comic Sans MS" panose="030F070203030202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442" y="474905"/>
            <a:ext cx="2763146" cy="457591"/>
          </a:xfrm>
          <a:prstGeom prst="rect">
            <a:avLst/>
          </a:prstGeom>
        </p:spPr>
        <p:txBody>
          <a:bodyPr vert="horz" wrap="square" lIns="0" tIns="11206" rIns="0" bIns="0" rtlCol="0">
            <a:spAutoFit/>
          </a:bodyPr>
          <a:lstStyle/>
          <a:p>
            <a:pPr marL="11430">
              <a:spcBef>
                <a:spcPts val="90"/>
              </a:spcBef>
            </a:pPr>
            <a:r>
              <a:rPr spc="-4" dirty="0"/>
              <a:t>Segmentation</a:t>
            </a:r>
            <a:endParaRPr spc="-4" dirty="0"/>
          </a:p>
        </p:txBody>
      </p:sp>
      <p:grpSp>
        <p:nvGrpSpPr>
          <p:cNvPr id="3" name="object 3"/>
          <p:cNvGrpSpPr/>
          <p:nvPr/>
        </p:nvGrpSpPr>
        <p:grpSpPr>
          <a:xfrm>
            <a:off x="1227044" y="1428750"/>
            <a:ext cx="6689912" cy="4943475"/>
            <a:chOff x="1238250" y="1619250"/>
            <a:chExt cx="7581900" cy="5602605"/>
          </a:xfrm>
        </p:grpSpPr>
        <p:sp>
          <p:nvSpPr>
            <p:cNvPr id="4" name="object 4"/>
            <p:cNvSpPr/>
            <p:nvPr/>
          </p:nvSpPr>
          <p:spPr>
            <a:xfrm>
              <a:off x="1355247" y="1676400"/>
              <a:ext cx="7407752" cy="5487923"/>
            </a:xfrm>
            <a:prstGeom prst="rect">
              <a:avLst/>
            </a:prstGeom>
            <a:blipFill>
              <a:blip r:embed="rId1" cstate="print"/>
              <a:stretch>
                <a:fillRect/>
              </a:stretch>
            </a:blipFill>
          </p:spPr>
          <p:txBody>
            <a:bodyPr wrap="square" lIns="0" tIns="0" rIns="0" bIns="0" rtlCol="0"/>
            <a:lstStyle/>
            <a:p>
              <a:endParaRPr sz="1590"/>
            </a:p>
          </p:txBody>
        </p:sp>
        <p:sp>
          <p:nvSpPr>
            <p:cNvPr id="5" name="object 5"/>
            <p:cNvSpPr/>
            <p:nvPr/>
          </p:nvSpPr>
          <p:spPr>
            <a:xfrm>
              <a:off x="1238250" y="1619250"/>
              <a:ext cx="7581900" cy="5602224"/>
            </a:xfrm>
            <a:prstGeom prst="rect">
              <a:avLst/>
            </a:prstGeom>
            <a:blipFill>
              <a:blip r:embed="rId2" cstate="print"/>
              <a:stretch>
                <a:fillRect/>
              </a:stretch>
            </a:blipFill>
          </p:spPr>
          <p:txBody>
            <a:bodyPr wrap="square" lIns="0" tIns="0" rIns="0" bIns="0" rtlCol="0"/>
            <a:lstStyle/>
            <a:p>
              <a:endParaRPr sz="1590"/>
            </a:p>
          </p:txBody>
        </p:sp>
        <p:sp>
          <p:nvSpPr>
            <p:cNvPr id="6" name="object 6"/>
            <p:cNvSpPr/>
            <p:nvPr/>
          </p:nvSpPr>
          <p:spPr>
            <a:xfrm>
              <a:off x="7162800" y="3047999"/>
              <a:ext cx="1524000" cy="3733800"/>
            </a:xfrm>
            <a:custGeom>
              <a:avLst/>
              <a:gdLst/>
              <a:ahLst/>
              <a:cxnLst/>
              <a:rect l="l" t="t" r="r" b="b"/>
              <a:pathLst>
                <a:path w="1524000" h="3733800">
                  <a:moveTo>
                    <a:pt x="1524000" y="1981200"/>
                  </a:moveTo>
                  <a:lnTo>
                    <a:pt x="0" y="1981200"/>
                  </a:lnTo>
                  <a:lnTo>
                    <a:pt x="0" y="3733800"/>
                  </a:lnTo>
                  <a:lnTo>
                    <a:pt x="1524000" y="3733800"/>
                  </a:lnTo>
                  <a:lnTo>
                    <a:pt x="1524000" y="1981200"/>
                  </a:lnTo>
                  <a:close/>
                </a:path>
                <a:path w="1524000" h="3733800">
                  <a:moveTo>
                    <a:pt x="1524000" y="0"/>
                  </a:moveTo>
                  <a:lnTo>
                    <a:pt x="0" y="0"/>
                  </a:lnTo>
                  <a:lnTo>
                    <a:pt x="0" y="1600200"/>
                  </a:lnTo>
                  <a:lnTo>
                    <a:pt x="1524000" y="1600200"/>
                  </a:lnTo>
                  <a:lnTo>
                    <a:pt x="1524000" y="0"/>
                  </a:lnTo>
                  <a:close/>
                </a:path>
              </a:pathLst>
            </a:custGeom>
            <a:solidFill>
              <a:srgbClr val="00FF00"/>
            </a:solidFill>
          </p:spPr>
          <p:txBody>
            <a:bodyPr wrap="square" lIns="0" tIns="0" rIns="0" bIns="0" rtlCol="0"/>
            <a:lstStyle/>
            <a:p>
              <a:endParaRPr sz="1590"/>
            </a:p>
          </p:txBody>
        </p:sp>
        <p:sp>
          <p:nvSpPr>
            <p:cNvPr id="7" name="object 7"/>
            <p:cNvSpPr/>
            <p:nvPr/>
          </p:nvSpPr>
          <p:spPr>
            <a:xfrm>
              <a:off x="7162800" y="3048000"/>
              <a:ext cx="1524000" cy="3733800"/>
            </a:xfrm>
            <a:custGeom>
              <a:avLst/>
              <a:gdLst/>
              <a:ahLst/>
              <a:cxnLst/>
              <a:rect l="l" t="t" r="r" b="b"/>
              <a:pathLst>
                <a:path w="1524000" h="3733800">
                  <a:moveTo>
                    <a:pt x="0" y="0"/>
                  </a:moveTo>
                  <a:lnTo>
                    <a:pt x="0" y="3733800"/>
                  </a:lnTo>
                  <a:lnTo>
                    <a:pt x="1524000" y="3733800"/>
                  </a:lnTo>
                  <a:lnTo>
                    <a:pt x="1524000" y="0"/>
                  </a:lnTo>
                  <a:lnTo>
                    <a:pt x="0" y="0"/>
                  </a:lnTo>
                  <a:close/>
                </a:path>
              </a:pathLst>
            </a:custGeom>
            <a:ln w="28575">
              <a:solidFill>
                <a:srgbClr val="000000"/>
              </a:solidFill>
            </a:ln>
          </p:spPr>
          <p:txBody>
            <a:bodyPr wrap="square" lIns="0" tIns="0" rIns="0" bIns="0" rtlCol="0"/>
            <a:lstStyle/>
            <a:p>
              <a:endParaRPr sz="1590"/>
            </a:p>
          </p:txBody>
        </p:sp>
        <p:sp>
          <p:nvSpPr>
            <p:cNvPr id="8" name="object 8"/>
            <p:cNvSpPr/>
            <p:nvPr/>
          </p:nvSpPr>
          <p:spPr>
            <a:xfrm>
              <a:off x="7162800" y="4648200"/>
              <a:ext cx="1524000" cy="381000"/>
            </a:xfrm>
            <a:custGeom>
              <a:avLst/>
              <a:gdLst/>
              <a:ahLst/>
              <a:cxnLst/>
              <a:rect l="l" t="t" r="r" b="b"/>
              <a:pathLst>
                <a:path w="1524000" h="381000">
                  <a:moveTo>
                    <a:pt x="1524000" y="381000"/>
                  </a:moveTo>
                  <a:lnTo>
                    <a:pt x="1524000" y="0"/>
                  </a:lnTo>
                  <a:lnTo>
                    <a:pt x="0" y="0"/>
                  </a:lnTo>
                  <a:lnTo>
                    <a:pt x="0" y="381000"/>
                  </a:lnTo>
                  <a:lnTo>
                    <a:pt x="1524000" y="381000"/>
                  </a:lnTo>
                  <a:close/>
                </a:path>
              </a:pathLst>
            </a:custGeom>
            <a:solidFill>
              <a:srgbClr val="FFFF66"/>
            </a:solidFill>
          </p:spPr>
          <p:txBody>
            <a:bodyPr wrap="square" lIns="0" tIns="0" rIns="0" bIns="0" rtlCol="0"/>
            <a:lstStyle/>
            <a:p>
              <a:endParaRPr sz="1590"/>
            </a:p>
          </p:txBody>
        </p:sp>
        <p:sp>
          <p:nvSpPr>
            <p:cNvPr id="9" name="object 9"/>
            <p:cNvSpPr/>
            <p:nvPr/>
          </p:nvSpPr>
          <p:spPr>
            <a:xfrm>
              <a:off x="7162800" y="4648200"/>
              <a:ext cx="1524000" cy="381000"/>
            </a:xfrm>
            <a:custGeom>
              <a:avLst/>
              <a:gdLst/>
              <a:ahLst/>
              <a:cxnLst/>
              <a:rect l="l" t="t" r="r" b="b"/>
              <a:pathLst>
                <a:path w="1524000" h="381000">
                  <a:moveTo>
                    <a:pt x="0" y="0"/>
                  </a:moveTo>
                  <a:lnTo>
                    <a:pt x="0" y="381000"/>
                  </a:lnTo>
                  <a:lnTo>
                    <a:pt x="1524000" y="381000"/>
                  </a:lnTo>
                  <a:lnTo>
                    <a:pt x="1524000" y="0"/>
                  </a:lnTo>
                  <a:lnTo>
                    <a:pt x="0" y="0"/>
                  </a:lnTo>
                  <a:close/>
                </a:path>
              </a:pathLst>
            </a:custGeom>
            <a:ln w="28575">
              <a:solidFill>
                <a:srgbClr val="000000"/>
              </a:solidFill>
            </a:ln>
          </p:spPr>
          <p:txBody>
            <a:bodyPr wrap="square" lIns="0" tIns="0" rIns="0" bIns="0" rtlCol="0"/>
            <a:lstStyle/>
            <a:p>
              <a:endParaRPr sz="1590"/>
            </a:p>
          </p:txBody>
        </p:sp>
        <p:sp>
          <p:nvSpPr>
            <p:cNvPr id="10" name="object 10"/>
            <p:cNvSpPr/>
            <p:nvPr/>
          </p:nvSpPr>
          <p:spPr>
            <a:xfrm>
              <a:off x="1371600" y="3200400"/>
              <a:ext cx="990600" cy="1295400"/>
            </a:xfrm>
            <a:custGeom>
              <a:avLst/>
              <a:gdLst/>
              <a:ahLst/>
              <a:cxnLst/>
              <a:rect l="l" t="t" r="r" b="b"/>
              <a:pathLst>
                <a:path w="990600" h="1295400">
                  <a:moveTo>
                    <a:pt x="990600" y="1295400"/>
                  </a:moveTo>
                  <a:lnTo>
                    <a:pt x="990600" y="0"/>
                  </a:lnTo>
                  <a:lnTo>
                    <a:pt x="0" y="0"/>
                  </a:lnTo>
                  <a:lnTo>
                    <a:pt x="0" y="1295400"/>
                  </a:lnTo>
                  <a:lnTo>
                    <a:pt x="990600" y="1295400"/>
                  </a:lnTo>
                  <a:close/>
                </a:path>
              </a:pathLst>
            </a:custGeom>
            <a:solidFill>
              <a:srgbClr val="FFFF66"/>
            </a:solidFill>
          </p:spPr>
          <p:txBody>
            <a:bodyPr wrap="square" lIns="0" tIns="0" rIns="0" bIns="0" rtlCol="0"/>
            <a:lstStyle/>
            <a:p>
              <a:endParaRPr sz="1590"/>
            </a:p>
          </p:txBody>
        </p:sp>
        <p:sp>
          <p:nvSpPr>
            <p:cNvPr id="11" name="object 11"/>
            <p:cNvSpPr/>
            <p:nvPr/>
          </p:nvSpPr>
          <p:spPr>
            <a:xfrm>
              <a:off x="1371600" y="3200400"/>
              <a:ext cx="990600" cy="1295400"/>
            </a:xfrm>
            <a:custGeom>
              <a:avLst/>
              <a:gdLst/>
              <a:ahLst/>
              <a:cxnLst/>
              <a:rect l="l" t="t" r="r" b="b"/>
              <a:pathLst>
                <a:path w="990600" h="1295400">
                  <a:moveTo>
                    <a:pt x="0" y="0"/>
                  </a:moveTo>
                  <a:lnTo>
                    <a:pt x="0" y="1295400"/>
                  </a:lnTo>
                  <a:lnTo>
                    <a:pt x="990600" y="1295400"/>
                  </a:lnTo>
                  <a:lnTo>
                    <a:pt x="990600" y="0"/>
                  </a:lnTo>
                  <a:lnTo>
                    <a:pt x="0" y="0"/>
                  </a:lnTo>
                  <a:close/>
                </a:path>
              </a:pathLst>
            </a:custGeom>
            <a:ln w="28575">
              <a:solidFill>
                <a:srgbClr val="000000"/>
              </a:solidFill>
            </a:ln>
          </p:spPr>
          <p:txBody>
            <a:bodyPr wrap="square" lIns="0" tIns="0" rIns="0" bIns="0" rtlCol="0"/>
            <a:lstStyle/>
            <a:p>
              <a:endParaRPr sz="1590"/>
            </a:p>
          </p:txBody>
        </p:sp>
      </p:grpSp>
      <p:sp>
        <p:nvSpPr>
          <p:cNvPr id="12" name="object 12"/>
          <p:cNvSpPr txBox="1"/>
          <p:nvPr/>
        </p:nvSpPr>
        <p:spPr>
          <a:xfrm>
            <a:off x="1344706" y="2823883"/>
            <a:ext cx="874059" cy="779150"/>
          </a:xfrm>
          <a:prstGeom prst="rect">
            <a:avLst/>
          </a:prstGeom>
        </p:spPr>
        <p:txBody>
          <a:bodyPr vert="horz" wrap="square" lIns="0" tIns="5043" rIns="0" bIns="0" rtlCol="0">
            <a:spAutoFit/>
          </a:bodyPr>
          <a:lstStyle/>
          <a:p>
            <a:pPr>
              <a:spcBef>
                <a:spcPts val="40"/>
              </a:spcBef>
            </a:pPr>
            <a:endParaRPr sz="2910">
              <a:latin typeface="Times New Roman" panose="02020603050405020304"/>
              <a:cs typeface="Times New Roman" panose="02020603050405020304"/>
            </a:endParaRPr>
          </a:p>
          <a:p>
            <a:pPr marL="148590"/>
            <a:r>
              <a:rPr sz="2120" dirty="0">
                <a:latin typeface="Comic Sans MS" panose="030F0702030302020204"/>
                <a:cs typeface="Comic Sans MS" panose="030F0702030302020204"/>
              </a:rPr>
              <a:t>CPU</a:t>
            </a:r>
            <a:endParaRPr sz="2120">
              <a:latin typeface="Comic Sans MS" panose="030F0702030302020204"/>
              <a:cs typeface="Comic Sans MS" panose="030F070203030202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9804" y="171315"/>
            <a:ext cx="7089996" cy="457591"/>
          </a:xfrm>
          <a:prstGeom prst="rect">
            <a:avLst/>
          </a:prstGeom>
        </p:spPr>
        <p:txBody>
          <a:bodyPr vert="horz" wrap="square" lIns="0" tIns="11206" rIns="0" bIns="0" rtlCol="0">
            <a:spAutoFit/>
          </a:bodyPr>
          <a:lstStyle/>
          <a:p>
            <a:pPr marL="11430">
              <a:spcBef>
                <a:spcPts val="90"/>
              </a:spcBef>
              <a:tabLst>
                <a:tab pos="1414780" algn="l"/>
                <a:tab pos="6330950" algn="l"/>
              </a:tabLst>
            </a:pPr>
            <a:r>
              <a:rPr spc="-4" dirty="0" smtClean="0"/>
              <a:t>Segmentation</a:t>
            </a:r>
            <a:r>
              <a:rPr spc="-79" dirty="0" smtClean="0"/>
              <a:t> </a:t>
            </a:r>
            <a:r>
              <a:rPr spc="-4" dirty="0"/>
              <a:t>Architecture	</a:t>
            </a:r>
            <a:endParaRPr spc="-4" dirty="0"/>
          </a:p>
        </p:txBody>
      </p:sp>
      <p:sp>
        <p:nvSpPr>
          <p:cNvPr id="3" name="object 3"/>
          <p:cNvSpPr txBox="1"/>
          <p:nvPr/>
        </p:nvSpPr>
        <p:spPr>
          <a:xfrm>
            <a:off x="1010098" y="1404097"/>
            <a:ext cx="3724835" cy="2284815"/>
          </a:xfrm>
          <a:prstGeom prst="rect">
            <a:avLst/>
          </a:prstGeom>
        </p:spPr>
        <p:txBody>
          <a:bodyPr vert="horz" wrap="square" lIns="0" tIns="75079" rIns="0" bIns="0" rtlCol="0">
            <a:spAutoFit/>
          </a:bodyPr>
          <a:lstStyle/>
          <a:p>
            <a:pPr marL="263525" indent="-252095">
              <a:spcBef>
                <a:spcPts val="590"/>
              </a:spcBef>
              <a:buFont typeface="Wingdings" panose="05000000000000000000"/>
              <a:buChar char=""/>
              <a:tabLst>
                <a:tab pos="262255" algn="l"/>
                <a:tab pos="262890" algn="l"/>
              </a:tabLst>
            </a:pPr>
            <a:r>
              <a:rPr sz="2120" u="heavy" dirty="0">
                <a:uFill>
                  <a:solidFill>
                    <a:srgbClr val="000000"/>
                  </a:solidFill>
                </a:uFill>
                <a:latin typeface="Comic Sans MS" panose="030F0702030302020204"/>
                <a:cs typeface="Comic Sans MS" panose="030F0702030302020204"/>
              </a:rPr>
              <a:t>Dynamic </a:t>
            </a:r>
            <a:r>
              <a:rPr sz="2120" u="heavy" spc="-4" dirty="0">
                <a:uFill>
                  <a:solidFill>
                    <a:srgbClr val="000000"/>
                  </a:solidFill>
                </a:uFill>
                <a:latin typeface="Comic Sans MS" panose="030F0702030302020204"/>
                <a:cs typeface="Comic Sans MS" panose="030F0702030302020204"/>
              </a:rPr>
              <a:t>Storage</a:t>
            </a:r>
            <a:r>
              <a:rPr sz="2120" u="heavy" spc="-84" dirty="0">
                <a:uFill>
                  <a:solidFill>
                    <a:srgbClr val="000000"/>
                  </a:solidFill>
                </a:uFill>
                <a:latin typeface="Comic Sans MS" panose="030F0702030302020204"/>
                <a:cs typeface="Comic Sans MS" panose="030F0702030302020204"/>
              </a:rPr>
              <a:t> </a:t>
            </a:r>
            <a:r>
              <a:rPr sz="2120" u="heavy" spc="-4" dirty="0">
                <a:uFill>
                  <a:solidFill>
                    <a:srgbClr val="000000"/>
                  </a:solidFill>
                </a:uFill>
                <a:latin typeface="Comic Sans MS" panose="030F0702030302020204"/>
                <a:cs typeface="Comic Sans MS" panose="030F0702030302020204"/>
              </a:rPr>
              <a:t>Allocation</a:t>
            </a:r>
            <a:endParaRPr sz="2120" dirty="0">
              <a:latin typeface="Comic Sans MS" panose="030F0702030302020204"/>
              <a:cs typeface="Comic Sans MS" panose="030F0702030302020204"/>
            </a:endParaRPr>
          </a:p>
          <a:p>
            <a:pPr marL="616585" lvl="1" indent="-202565">
              <a:spcBef>
                <a:spcPts val="505"/>
              </a:spcBef>
              <a:buFont typeface="Wingdings" panose="05000000000000000000"/>
              <a:buChar char=""/>
              <a:tabLst>
                <a:tab pos="615950" algn="l"/>
              </a:tabLst>
            </a:pPr>
            <a:r>
              <a:rPr sz="2120" b="1" spc="-4" dirty="0">
                <a:latin typeface="Comic Sans MS" panose="030F0702030302020204"/>
                <a:cs typeface="Comic Sans MS" panose="030F0702030302020204"/>
              </a:rPr>
              <a:t>First</a:t>
            </a:r>
            <a:r>
              <a:rPr sz="2120" b="1" spc="-13" dirty="0">
                <a:latin typeface="Comic Sans MS" panose="030F0702030302020204"/>
                <a:cs typeface="Comic Sans MS" panose="030F0702030302020204"/>
              </a:rPr>
              <a:t> </a:t>
            </a:r>
            <a:r>
              <a:rPr sz="2120" b="1" spc="-4" dirty="0">
                <a:latin typeface="Comic Sans MS" panose="030F0702030302020204"/>
                <a:cs typeface="Comic Sans MS" panose="030F0702030302020204"/>
              </a:rPr>
              <a:t>fit</a:t>
            </a:r>
            <a:endParaRPr sz="2120" dirty="0">
              <a:latin typeface="Comic Sans MS" panose="030F0702030302020204"/>
              <a:cs typeface="Comic Sans MS" panose="030F0702030302020204"/>
            </a:endParaRPr>
          </a:p>
          <a:p>
            <a:pPr marL="616585" lvl="1" indent="-202565">
              <a:spcBef>
                <a:spcPts val="505"/>
              </a:spcBef>
              <a:buFont typeface="Wingdings" panose="05000000000000000000"/>
              <a:buChar char=""/>
              <a:tabLst>
                <a:tab pos="615950" algn="l"/>
              </a:tabLst>
            </a:pPr>
            <a:r>
              <a:rPr sz="2120" b="1" spc="-4" dirty="0">
                <a:latin typeface="Comic Sans MS" panose="030F0702030302020204"/>
                <a:cs typeface="Comic Sans MS" panose="030F0702030302020204"/>
              </a:rPr>
              <a:t>Best</a:t>
            </a:r>
            <a:r>
              <a:rPr sz="2120" b="1" spc="-13" dirty="0">
                <a:latin typeface="Comic Sans MS" panose="030F0702030302020204"/>
                <a:cs typeface="Comic Sans MS" panose="030F0702030302020204"/>
              </a:rPr>
              <a:t> </a:t>
            </a:r>
            <a:r>
              <a:rPr sz="2120" b="1" spc="-4" dirty="0">
                <a:latin typeface="Comic Sans MS" panose="030F0702030302020204"/>
                <a:cs typeface="Comic Sans MS" panose="030F0702030302020204"/>
              </a:rPr>
              <a:t>fit</a:t>
            </a:r>
            <a:endParaRPr sz="2120" dirty="0">
              <a:latin typeface="Comic Sans MS" panose="030F0702030302020204"/>
              <a:cs typeface="Comic Sans MS" panose="030F0702030302020204"/>
            </a:endParaRPr>
          </a:p>
          <a:p>
            <a:pPr marL="616585" lvl="1" indent="-202565">
              <a:spcBef>
                <a:spcPts val="505"/>
              </a:spcBef>
              <a:buFont typeface="Wingdings" panose="05000000000000000000"/>
              <a:buChar char=""/>
              <a:tabLst>
                <a:tab pos="615950" algn="l"/>
              </a:tabLst>
            </a:pPr>
            <a:r>
              <a:rPr sz="2120" b="1" dirty="0">
                <a:latin typeface="Comic Sans MS" panose="030F0702030302020204"/>
                <a:cs typeface="Comic Sans MS" panose="030F0702030302020204"/>
              </a:rPr>
              <a:t>Worst</a:t>
            </a:r>
            <a:r>
              <a:rPr sz="2120" b="1" spc="-13" dirty="0">
                <a:latin typeface="Comic Sans MS" panose="030F0702030302020204"/>
                <a:cs typeface="Comic Sans MS" panose="030F0702030302020204"/>
              </a:rPr>
              <a:t> </a:t>
            </a:r>
            <a:r>
              <a:rPr sz="2120" b="1" spc="-4" dirty="0">
                <a:latin typeface="Comic Sans MS" panose="030F0702030302020204"/>
                <a:cs typeface="Comic Sans MS" panose="030F0702030302020204"/>
              </a:rPr>
              <a:t>fit</a:t>
            </a:r>
            <a:endParaRPr sz="2120" dirty="0">
              <a:latin typeface="Comic Sans MS" panose="030F0702030302020204"/>
              <a:cs typeface="Comic Sans MS" panose="030F0702030302020204"/>
            </a:endParaRPr>
          </a:p>
          <a:p>
            <a:pPr lvl="1">
              <a:spcBef>
                <a:spcPts val="40"/>
              </a:spcBef>
              <a:buFont typeface="Wingdings" panose="05000000000000000000"/>
              <a:buChar char=""/>
            </a:pPr>
            <a:endParaRPr sz="2515" dirty="0">
              <a:latin typeface="Comic Sans MS" panose="030F0702030302020204"/>
              <a:cs typeface="Comic Sans MS" panose="030F0702030302020204"/>
            </a:endParaRPr>
          </a:p>
          <a:p>
            <a:pPr marL="616585" lvl="1" indent="-202565">
              <a:buFont typeface="Wingdings" panose="05000000000000000000"/>
              <a:buChar char=""/>
              <a:tabLst>
                <a:tab pos="615950" algn="l"/>
              </a:tabLst>
            </a:pPr>
            <a:r>
              <a:rPr sz="2120" u="heavy" dirty="0">
                <a:uFill>
                  <a:solidFill>
                    <a:srgbClr val="000000"/>
                  </a:solidFill>
                </a:uFill>
                <a:latin typeface="Comic Sans MS" panose="030F0702030302020204"/>
                <a:cs typeface="Comic Sans MS" panose="030F0702030302020204"/>
              </a:rPr>
              <a:t>External</a:t>
            </a:r>
            <a:r>
              <a:rPr sz="2120" u="heavy" spc="-35" dirty="0">
                <a:uFill>
                  <a:solidFill>
                    <a:srgbClr val="000000"/>
                  </a:solidFill>
                </a:uFill>
                <a:latin typeface="Comic Sans MS" panose="030F0702030302020204"/>
                <a:cs typeface="Comic Sans MS" panose="030F0702030302020204"/>
              </a:rPr>
              <a:t> </a:t>
            </a:r>
            <a:r>
              <a:rPr sz="2120" u="heavy" spc="-4" dirty="0">
                <a:uFill>
                  <a:solidFill>
                    <a:srgbClr val="000000"/>
                  </a:solidFill>
                </a:uFill>
                <a:latin typeface="Comic Sans MS" panose="030F0702030302020204"/>
                <a:cs typeface="Comic Sans MS" panose="030F0702030302020204"/>
              </a:rPr>
              <a:t>fragmentation</a:t>
            </a:r>
            <a:endParaRPr sz="2120" dirty="0">
              <a:latin typeface="Comic Sans MS" panose="030F0702030302020204"/>
              <a:cs typeface="Comic Sans MS" panose="030F07020303020202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4341" y="489697"/>
            <a:ext cx="1680659" cy="457591"/>
          </a:xfrm>
          <a:prstGeom prst="rect">
            <a:avLst/>
          </a:prstGeom>
        </p:spPr>
        <p:txBody>
          <a:bodyPr vert="horz" wrap="square" lIns="0" tIns="11206" rIns="0" bIns="0" rtlCol="0">
            <a:spAutoFit/>
          </a:bodyPr>
          <a:lstStyle/>
          <a:p>
            <a:pPr marL="11430">
              <a:spcBef>
                <a:spcPts val="90"/>
              </a:spcBef>
            </a:pPr>
            <a:r>
              <a:rPr u="none" dirty="0"/>
              <a:t>Example</a:t>
            </a:r>
            <a:endParaRPr u="none" dirty="0"/>
          </a:p>
        </p:txBody>
      </p:sp>
      <p:grpSp>
        <p:nvGrpSpPr>
          <p:cNvPr id="3" name="object 3"/>
          <p:cNvGrpSpPr/>
          <p:nvPr/>
        </p:nvGrpSpPr>
        <p:grpSpPr>
          <a:xfrm>
            <a:off x="1630456" y="1400512"/>
            <a:ext cx="5950324" cy="4970369"/>
            <a:chOff x="1695450" y="1587246"/>
            <a:chExt cx="6743700" cy="5633085"/>
          </a:xfrm>
        </p:grpSpPr>
        <p:sp>
          <p:nvSpPr>
            <p:cNvPr id="4" name="object 4"/>
            <p:cNvSpPr/>
            <p:nvPr/>
          </p:nvSpPr>
          <p:spPr>
            <a:xfrm>
              <a:off x="1801243" y="1644396"/>
              <a:ext cx="6580756" cy="5518403"/>
            </a:xfrm>
            <a:prstGeom prst="rect">
              <a:avLst/>
            </a:prstGeom>
            <a:blipFill>
              <a:blip r:embed="rId1" cstate="print"/>
              <a:stretch>
                <a:fillRect/>
              </a:stretch>
            </a:blipFill>
          </p:spPr>
          <p:txBody>
            <a:bodyPr wrap="square" lIns="0" tIns="0" rIns="0" bIns="0" rtlCol="0"/>
            <a:lstStyle/>
            <a:p>
              <a:endParaRPr sz="1590"/>
            </a:p>
          </p:txBody>
        </p:sp>
        <p:sp>
          <p:nvSpPr>
            <p:cNvPr id="5" name="object 5"/>
            <p:cNvSpPr/>
            <p:nvPr/>
          </p:nvSpPr>
          <p:spPr>
            <a:xfrm>
              <a:off x="1695450" y="1587246"/>
              <a:ext cx="6743700" cy="5632704"/>
            </a:xfrm>
            <a:prstGeom prst="rect">
              <a:avLst/>
            </a:prstGeom>
            <a:blipFill>
              <a:blip r:embed="rId2" cstate="print"/>
              <a:stretch>
                <a:fillRect/>
              </a:stretch>
            </a:blipFill>
          </p:spPr>
          <p:txBody>
            <a:bodyPr wrap="square" lIns="0" tIns="0" rIns="0" bIns="0" rtlCol="0"/>
            <a:lstStyle/>
            <a:p>
              <a:endParaRPr sz="1590"/>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87356" y="590550"/>
            <a:ext cx="4637443" cy="457591"/>
          </a:xfrm>
          <a:prstGeom prst="rect">
            <a:avLst/>
          </a:prstGeom>
        </p:spPr>
        <p:txBody>
          <a:bodyPr vert="horz" wrap="square" lIns="0" tIns="11206" rIns="0" bIns="0" rtlCol="0">
            <a:spAutoFit/>
          </a:bodyPr>
          <a:lstStyle/>
          <a:p>
            <a:pPr marL="11430">
              <a:spcBef>
                <a:spcPts val="90"/>
              </a:spcBef>
            </a:pPr>
            <a:r>
              <a:rPr spc="-4" dirty="0"/>
              <a:t>Address</a:t>
            </a:r>
            <a:r>
              <a:rPr spc="-88" dirty="0"/>
              <a:t> </a:t>
            </a:r>
            <a:r>
              <a:rPr u="none" dirty="0"/>
              <a:t>Translation</a:t>
            </a:r>
            <a:endParaRPr u="none" dirty="0"/>
          </a:p>
        </p:txBody>
      </p:sp>
      <p:sp>
        <p:nvSpPr>
          <p:cNvPr id="3" name="object 3"/>
          <p:cNvSpPr txBox="1"/>
          <p:nvPr/>
        </p:nvSpPr>
        <p:spPr>
          <a:xfrm>
            <a:off x="809737" y="1248111"/>
            <a:ext cx="4989419" cy="892296"/>
          </a:xfrm>
          <a:prstGeom prst="rect">
            <a:avLst/>
          </a:prstGeom>
        </p:spPr>
        <p:txBody>
          <a:bodyPr vert="horz" wrap="square" lIns="0" tIns="123825" rIns="0" bIns="0" rtlCol="0">
            <a:spAutoFit/>
          </a:bodyPr>
          <a:lstStyle/>
          <a:p>
            <a:pPr marL="263525" indent="-252095">
              <a:spcBef>
                <a:spcPts val="975"/>
              </a:spcBef>
              <a:buFont typeface="Wingdings" panose="05000000000000000000"/>
              <a:buChar char=""/>
              <a:tabLst>
                <a:tab pos="262255" algn="l"/>
                <a:tab pos="262890" algn="l"/>
              </a:tabLst>
            </a:pPr>
            <a:r>
              <a:rPr sz="2120" b="1" u="heavy" dirty="0">
                <a:uFill>
                  <a:solidFill>
                    <a:srgbClr val="000000"/>
                  </a:solidFill>
                </a:uFill>
                <a:latin typeface="Comic Sans MS" panose="030F0702030302020204"/>
                <a:cs typeface="Comic Sans MS" panose="030F0702030302020204"/>
              </a:rPr>
              <a:t>Logical and Physical</a:t>
            </a:r>
            <a:r>
              <a:rPr sz="2120" b="1" u="heavy" spc="-31" dirty="0">
                <a:uFill>
                  <a:solidFill>
                    <a:srgbClr val="000000"/>
                  </a:solidFill>
                </a:uFill>
                <a:latin typeface="Comic Sans MS" panose="030F0702030302020204"/>
                <a:cs typeface="Comic Sans MS" panose="030F0702030302020204"/>
              </a:rPr>
              <a:t> </a:t>
            </a:r>
            <a:r>
              <a:rPr sz="2120" b="1" u="heavy" spc="-4" dirty="0">
                <a:uFill>
                  <a:solidFill>
                    <a:srgbClr val="000000"/>
                  </a:solidFill>
                </a:uFill>
                <a:latin typeface="Comic Sans MS" panose="030F0702030302020204"/>
                <a:cs typeface="Comic Sans MS" panose="030F0702030302020204"/>
              </a:rPr>
              <a:t>Addresses</a:t>
            </a:r>
            <a:endParaRPr sz="2120">
              <a:latin typeface="Comic Sans MS" panose="030F0702030302020204"/>
              <a:cs typeface="Comic Sans MS" panose="030F0702030302020204"/>
            </a:endParaRPr>
          </a:p>
          <a:p>
            <a:pPr marL="616585" lvl="1" indent="-201930">
              <a:spcBef>
                <a:spcPts val="890"/>
              </a:spcBef>
              <a:buFont typeface="Wingdings" panose="05000000000000000000"/>
              <a:buChar char=""/>
              <a:tabLst>
                <a:tab pos="615950" algn="l"/>
              </a:tabLst>
            </a:pPr>
            <a:r>
              <a:rPr sz="2120" b="1" spc="-4" dirty="0">
                <a:latin typeface="Comic Sans MS" panose="030F0702030302020204"/>
                <a:cs typeface="Comic Sans MS" panose="030F0702030302020204"/>
              </a:rPr>
              <a:t>(2, 399) </a:t>
            </a:r>
            <a:r>
              <a:rPr sz="2120" b="1" dirty="0">
                <a:latin typeface="Comic Sans MS" panose="030F0702030302020204"/>
                <a:cs typeface="Comic Sans MS" panose="030F0702030302020204"/>
              </a:rPr>
              <a:t>– </a:t>
            </a:r>
            <a:r>
              <a:rPr sz="2120" b="1" spc="-4" dirty="0">
                <a:latin typeface="Comic Sans MS" panose="030F0702030302020204"/>
                <a:cs typeface="Comic Sans MS" panose="030F0702030302020204"/>
              </a:rPr>
              <a:t>PA: 4300+399 </a:t>
            </a:r>
            <a:r>
              <a:rPr sz="2120" b="1" dirty="0">
                <a:latin typeface="Comic Sans MS" panose="030F0702030302020204"/>
                <a:cs typeface="Comic Sans MS" panose="030F0702030302020204"/>
              </a:rPr>
              <a:t>=</a:t>
            </a:r>
            <a:r>
              <a:rPr sz="2120" b="1" spc="-154" dirty="0">
                <a:latin typeface="Comic Sans MS" panose="030F0702030302020204"/>
                <a:cs typeface="Comic Sans MS" panose="030F0702030302020204"/>
              </a:rPr>
              <a:t> </a:t>
            </a:r>
            <a:r>
              <a:rPr sz="2120" b="1" spc="-4" dirty="0">
                <a:latin typeface="Comic Sans MS" panose="030F0702030302020204"/>
                <a:cs typeface="Comic Sans MS" panose="030F0702030302020204"/>
              </a:rPr>
              <a:t>4699</a:t>
            </a:r>
            <a:endParaRPr sz="2120">
              <a:latin typeface="Comic Sans MS" panose="030F0702030302020204"/>
              <a:cs typeface="Comic Sans MS" panose="030F0702030302020204"/>
            </a:endParaRPr>
          </a:p>
        </p:txBody>
      </p:sp>
      <p:sp>
        <p:nvSpPr>
          <p:cNvPr id="4" name="object 4"/>
          <p:cNvSpPr txBox="1"/>
          <p:nvPr/>
        </p:nvSpPr>
        <p:spPr>
          <a:xfrm>
            <a:off x="1213149" y="2119480"/>
            <a:ext cx="3351119" cy="1333635"/>
          </a:xfrm>
          <a:prstGeom prst="rect">
            <a:avLst/>
          </a:prstGeom>
        </p:spPr>
        <p:txBody>
          <a:bodyPr vert="horz" wrap="square" lIns="0" tIns="123825" rIns="0" bIns="0" rtlCol="0">
            <a:spAutoFit/>
          </a:bodyPr>
          <a:lstStyle/>
          <a:p>
            <a:pPr marL="212725" indent="-201930">
              <a:spcBef>
                <a:spcPts val="975"/>
              </a:spcBef>
              <a:buFont typeface="Wingdings" panose="05000000000000000000"/>
              <a:buChar char=""/>
              <a:tabLst>
                <a:tab pos="212725" algn="l"/>
                <a:tab pos="1550035" algn="l"/>
              </a:tabLst>
            </a:pPr>
            <a:r>
              <a:rPr sz="2120" b="1" spc="-4" dirty="0">
                <a:latin typeface="Comic Sans MS" panose="030F0702030302020204"/>
                <a:cs typeface="Comic Sans MS" panose="030F0702030302020204"/>
              </a:rPr>
              <a:t>(4,</a:t>
            </a:r>
            <a:r>
              <a:rPr sz="2120" b="1" spc="-9" dirty="0">
                <a:latin typeface="Comic Sans MS" panose="030F0702030302020204"/>
                <a:cs typeface="Comic Sans MS" panose="030F0702030302020204"/>
              </a:rPr>
              <a:t> </a:t>
            </a:r>
            <a:r>
              <a:rPr sz="2120" b="1" spc="-4" dirty="0">
                <a:latin typeface="Comic Sans MS" panose="030F0702030302020204"/>
                <a:cs typeface="Comic Sans MS" panose="030F0702030302020204"/>
              </a:rPr>
              <a:t>0)	</a:t>
            </a:r>
            <a:r>
              <a:rPr sz="2120" b="1" dirty="0">
                <a:latin typeface="Comic Sans MS" panose="030F0702030302020204"/>
                <a:cs typeface="Comic Sans MS" panose="030F0702030302020204"/>
              </a:rPr>
              <a:t>– </a:t>
            </a:r>
            <a:r>
              <a:rPr sz="2120" b="1" spc="-4" dirty="0">
                <a:latin typeface="Comic Sans MS" panose="030F0702030302020204"/>
                <a:cs typeface="Comic Sans MS" panose="030F0702030302020204"/>
              </a:rPr>
              <a:t>PA:</a:t>
            </a:r>
            <a:r>
              <a:rPr sz="2120" b="1" spc="-97" dirty="0">
                <a:latin typeface="Comic Sans MS" panose="030F0702030302020204"/>
                <a:cs typeface="Comic Sans MS" panose="030F0702030302020204"/>
              </a:rPr>
              <a:t> </a:t>
            </a:r>
            <a:r>
              <a:rPr sz="2120" b="1" spc="-4" dirty="0">
                <a:latin typeface="Comic Sans MS" panose="030F0702030302020204"/>
                <a:cs typeface="Comic Sans MS" panose="030F0702030302020204"/>
              </a:rPr>
              <a:t>4700+0</a:t>
            </a:r>
            <a:endParaRPr sz="2120">
              <a:latin typeface="Comic Sans MS" panose="030F0702030302020204"/>
              <a:cs typeface="Comic Sans MS" panose="030F0702030302020204"/>
            </a:endParaRPr>
          </a:p>
          <a:p>
            <a:pPr marL="212725" indent="-201930">
              <a:spcBef>
                <a:spcPts val="890"/>
              </a:spcBef>
              <a:buFont typeface="Wingdings" panose="05000000000000000000"/>
              <a:buChar char=""/>
              <a:tabLst>
                <a:tab pos="212725" algn="l"/>
                <a:tab pos="1958975" algn="l"/>
              </a:tabLst>
            </a:pPr>
            <a:r>
              <a:rPr sz="2120" b="1" spc="-4" dirty="0">
                <a:latin typeface="Comic Sans MS" panose="030F0702030302020204"/>
                <a:cs typeface="Comic Sans MS" panose="030F0702030302020204"/>
              </a:rPr>
              <a:t>(4,</a:t>
            </a:r>
            <a:r>
              <a:rPr sz="2120" b="1" spc="-9" dirty="0">
                <a:latin typeface="Comic Sans MS" panose="030F0702030302020204"/>
                <a:cs typeface="Comic Sans MS" panose="030F0702030302020204"/>
              </a:rPr>
              <a:t> </a:t>
            </a:r>
            <a:r>
              <a:rPr sz="2120" b="1" spc="-4" dirty="0">
                <a:latin typeface="Comic Sans MS" panose="030F0702030302020204"/>
                <a:cs typeface="Comic Sans MS" panose="030F0702030302020204"/>
              </a:rPr>
              <a:t>1000)</a:t>
            </a:r>
            <a:r>
              <a:rPr sz="2120" b="1" spc="4" dirty="0">
                <a:latin typeface="Comic Sans MS" panose="030F0702030302020204"/>
                <a:cs typeface="Comic Sans MS" panose="030F0702030302020204"/>
              </a:rPr>
              <a:t> </a:t>
            </a:r>
            <a:r>
              <a:rPr sz="2120" b="1" spc="-4" dirty="0">
                <a:latin typeface="Symbol"/>
                <a:cs typeface="Symbol"/>
              </a:rPr>
              <a:t></a:t>
            </a:r>
            <a:r>
              <a:rPr sz="2120" spc="-4" dirty="0">
                <a:latin typeface="Times New Roman" panose="02020603050405020304"/>
                <a:cs typeface="Times New Roman" panose="02020603050405020304"/>
              </a:rPr>
              <a:t>	</a:t>
            </a:r>
            <a:r>
              <a:rPr sz="2120" b="1" spc="-4" dirty="0">
                <a:latin typeface="Comic Sans MS" panose="030F0702030302020204"/>
                <a:cs typeface="Comic Sans MS" panose="030F0702030302020204"/>
              </a:rPr>
              <a:t>trap</a:t>
            </a:r>
            <a:endParaRPr sz="2120">
              <a:latin typeface="Comic Sans MS" panose="030F0702030302020204"/>
              <a:cs typeface="Comic Sans MS" panose="030F0702030302020204"/>
            </a:endParaRPr>
          </a:p>
          <a:p>
            <a:pPr marL="212725" indent="-201930">
              <a:spcBef>
                <a:spcPts val="890"/>
              </a:spcBef>
              <a:buFont typeface="Wingdings" panose="05000000000000000000"/>
              <a:buChar char=""/>
              <a:tabLst>
                <a:tab pos="212725" algn="l"/>
                <a:tab pos="1958975" algn="l"/>
              </a:tabLst>
            </a:pPr>
            <a:r>
              <a:rPr sz="2120" b="1" spc="-4" dirty="0">
                <a:latin typeface="Comic Sans MS" panose="030F0702030302020204"/>
                <a:cs typeface="Comic Sans MS" panose="030F0702030302020204"/>
              </a:rPr>
              <a:t>(3,</a:t>
            </a:r>
            <a:r>
              <a:rPr sz="2120" b="1" spc="-9" dirty="0">
                <a:latin typeface="Comic Sans MS" panose="030F0702030302020204"/>
                <a:cs typeface="Comic Sans MS" panose="030F0702030302020204"/>
              </a:rPr>
              <a:t> </a:t>
            </a:r>
            <a:r>
              <a:rPr sz="2120" b="1" spc="-4" dirty="0">
                <a:latin typeface="Comic Sans MS" panose="030F0702030302020204"/>
                <a:cs typeface="Comic Sans MS" panose="030F0702030302020204"/>
              </a:rPr>
              <a:t>1300)</a:t>
            </a:r>
            <a:r>
              <a:rPr sz="2120" b="1" spc="4" dirty="0">
                <a:latin typeface="Comic Sans MS" panose="030F0702030302020204"/>
                <a:cs typeface="Comic Sans MS" panose="030F0702030302020204"/>
              </a:rPr>
              <a:t> </a:t>
            </a:r>
            <a:r>
              <a:rPr sz="2120" b="1" spc="-4" dirty="0">
                <a:latin typeface="Symbol"/>
                <a:cs typeface="Symbol"/>
              </a:rPr>
              <a:t></a:t>
            </a:r>
            <a:r>
              <a:rPr sz="2120" spc="-4" dirty="0">
                <a:latin typeface="Times New Roman" panose="02020603050405020304"/>
                <a:cs typeface="Times New Roman" panose="02020603050405020304"/>
              </a:rPr>
              <a:t>	</a:t>
            </a:r>
            <a:r>
              <a:rPr sz="2120" b="1" spc="-4" dirty="0">
                <a:latin typeface="Comic Sans MS" panose="030F0702030302020204"/>
                <a:cs typeface="Comic Sans MS" panose="030F0702030302020204"/>
              </a:rPr>
              <a:t>trap</a:t>
            </a:r>
            <a:endParaRPr sz="2120">
              <a:latin typeface="Comic Sans MS" panose="030F0702030302020204"/>
              <a:cs typeface="Comic Sans MS" panose="030F0702030302020204"/>
            </a:endParaRPr>
          </a:p>
        </p:txBody>
      </p:sp>
      <p:sp>
        <p:nvSpPr>
          <p:cNvPr id="5" name="object 5"/>
          <p:cNvSpPr txBox="1"/>
          <p:nvPr/>
        </p:nvSpPr>
        <p:spPr>
          <a:xfrm>
            <a:off x="4842996" y="2232437"/>
            <a:ext cx="957543" cy="337238"/>
          </a:xfrm>
          <a:prstGeom prst="rect">
            <a:avLst/>
          </a:prstGeom>
        </p:spPr>
        <p:txBody>
          <a:bodyPr vert="horz" wrap="square" lIns="0" tIns="11206" rIns="0" bIns="0" rtlCol="0">
            <a:spAutoFit/>
          </a:bodyPr>
          <a:lstStyle/>
          <a:p>
            <a:pPr marL="11430">
              <a:spcBef>
                <a:spcPts val="90"/>
              </a:spcBef>
            </a:pPr>
            <a:r>
              <a:rPr sz="2120" b="1" dirty="0">
                <a:latin typeface="Comic Sans MS" panose="030F0702030302020204"/>
                <a:cs typeface="Comic Sans MS" panose="030F0702030302020204"/>
              </a:rPr>
              <a:t>=</a:t>
            </a:r>
            <a:r>
              <a:rPr sz="2120" b="1" spc="-93" dirty="0">
                <a:latin typeface="Comic Sans MS" panose="030F0702030302020204"/>
                <a:cs typeface="Comic Sans MS" panose="030F0702030302020204"/>
              </a:rPr>
              <a:t> </a:t>
            </a:r>
            <a:r>
              <a:rPr sz="2120" b="1" spc="-4" dirty="0">
                <a:latin typeface="Comic Sans MS" panose="030F0702030302020204"/>
                <a:cs typeface="Comic Sans MS" panose="030F0702030302020204"/>
              </a:rPr>
              <a:t>4700</a:t>
            </a:r>
            <a:endParaRPr sz="2120">
              <a:latin typeface="Comic Sans MS" panose="030F0702030302020204"/>
              <a:cs typeface="Comic Sans MS" panose="030F0702030302020204"/>
            </a:endParaRPr>
          </a:p>
        </p:txBody>
      </p:sp>
      <p:sp>
        <p:nvSpPr>
          <p:cNvPr id="6" name="object 6"/>
          <p:cNvSpPr txBox="1"/>
          <p:nvPr/>
        </p:nvSpPr>
        <p:spPr>
          <a:xfrm>
            <a:off x="1213149" y="3539490"/>
            <a:ext cx="2587438" cy="337238"/>
          </a:xfrm>
          <a:prstGeom prst="rect">
            <a:avLst/>
          </a:prstGeom>
        </p:spPr>
        <p:txBody>
          <a:bodyPr vert="horz" wrap="square" lIns="0" tIns="11206" rIns="0" bIns="0" rtlCol="0">
            <a:spAutoFit/>
          </a:bodyPr>
          <a:lstStyle/>
          <a:p>
            <a:pPr marL="212725" indent="-201930">
              <a:spcBef>
                <a:spcPts val="90"/>
              </a:spcBef>
              <a:buFont typeface="Wingdings" panose="05000000000000000000"/>
              <a:buChar char=""/>
              <a:tabLst>
                <a:tab pos="212725" algn="l"/>
                <a:tab pos="1645285" algn="l"/>
                <a:tab pos="2027555" algn="l"/>
              </a:tabLst>
            </a:pPr>
            <a:r>
              <a:rPr sz="2120" b="1" spc="-4" dirty="0">
                <a:latin typeface="Comic Sans MS" panose="030F0702030302020204"/>
                <a:cs typeface="Comic Sans MS" panose="030F0702030302020204"/>
              </a:rPr>
              <a:t>(6</a:t>
            </a:r>
            <a:r>
              <a:rPr sz="2120" b="1" dirty="0">
                <a:latin typeface="Comic Sans MS" panose="030F0702030302020204"/>
                <a:cs typeface="Comic Sans MS" panose="030F0702030302020204"/>
              </a:rPr>
              <a:t>,</a:t>
            </a:r>
            <a:r>
              <a:rPr sz="2120" b="1" spc="-9" dirty="0">
                <a:latin typeface="Comic Sans MS" panose="030F0702030302020204"/>
                <a:cs typeface="Comic Sans MS" panose="030F0702030302020204"/>
              </a:rPr>
              <a:t> </a:t>
            </a:r>
            <a:r>
              <a:rPr sz="2120" b="1" spc="-4" dirty="0">
                <a:latin typeface="Comic Sans MS" panose="030F0702030302020204"/>
                <a:cs typeface="Comic Sans MS" panose="030F0702030302020204"/>
              </a:rPr>
              <a:t>297</a:t>
            </a:r>
            <a:r>
              <a:rPr sz="2120" b="1" dirty="0">
                <a:latin typeface="Comic Sans MS" panose="030F0702030302020204"/>
                <a:cs typeface="Comic Sans MS" panose="030F0702030302020204"/>
              </a:rPr>
              <a:t>)	</a:t>
            </a:r>
            <a:r>
              <a:rPr sz="2120" b="1" spc="-4" dirty="0">
                <a:latin typeface="Symbol"/>
                <a:cs typeface="Symbol"/>
              </a:rPr>
              <a:t></a:t>
            </a:r>
            <a:r>
              <a:rPr sz="2120" dirty="0">
                <a:latin typeface="Times New Roman" panose="02020603050405020304"/>
                <a:cs typeface="Times New Roman" panose="02020603050405020304"/>
              </a:rPr>
              <a:t>	</a:t>
            </a:r>
            <a:r>
              <a:rPr sz="2120" b="1" spc="-4" dirty="0">
                <a:latin typeface="Comic Sans MS" panose="030F0702030302020204"/>
                <a:cs typeface="Comic Sans MS" panose="030F0702030302020204"/>
              </a:rPr>
              <a:t>trap</a:t>
            </a:r>
            <a:endParaRPr sz="2120">
              <a:latin typeface="Comic Sans MS" panose="030F0702030302020204"/>
              <a:cs typeface="Comic Sans MS" panose="030F070203030202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2863" y="1497554"/>
            <a:ext cx="7413251" cy="1786730"/>
          </a:xfrm>
          <a:prstGeom prst="rect">
            <a:avLst/>
          </a:prstGeom>
        </p:spPr>
        <p:txBody>
          <a:bodyPr vert="horz" wrap="square" lIns="0" tIns="75079" rIns="0" bIns="0" rtlCol="0">
            <a:spAutoFit/>
          </a:bodyPr>
          <a:lstStyle/>
          <a:p>
            <a:pPr marL="263525" indent="-252095">
              <a:spcBef>
                <a:spcPts val="590"/>
              </a:spcBef>
              <a:buFont typeface="Wingdings" panose="05000000000000000000"/>
              <a:buChar char=""/>
              <a:tabLst>
                <a:tab pos="262255" algn="l"/>
                <a:tab pos="262890" algn="l"/>
                <a:tab pos="2482215" algn="l"/>
              </a:tabLst>
            </a:pPr>
            <a:r>
              <a:rPr sz="2120" b="1" spc="-4" dirty="0">
                <a:latin typeface="Comic Sans MS" panose="030F0702030302020204"/>
                <a:cs typeface="Comic Sans MS" panose="030F0702030302020204"/>
              </a:rPr>
              <a:t>Reduce</a:t>
            </a:r>
            <a:r>
              <a:rPr sz="2120" b="1" dirty="0">
                <a:latin typeface="Comic Sans MS" panose="030F0702030302020204"/>
                <a:cs typeface="Comic Sans MS" panose="030F0702030302020204"/>
              </a:rPr>
              <a:t> </a:t>
            </a:r>
            <a:r>
              <a:rPr sz="2120" b="1" spc="-4" dirty="0">
                <a:latin typeface="Comic Sans MS" panose="030F0702030302020204"/>
                <a:cs typeface="Comic Sans MS" panose="030F0702030302020204"/>
              </a:rPr>
              <a:t>external	fragmentation by</a:t>
            </a:r>
            <a:r>
              <a:rPr sz="2120" b="1" spc="22" dirty="0">
                <a:latin typeface="Comic Sans MS" panose="030F0702030302020204"/>
                <a:cs typeface="Comic Sans MS" panose="030F0702030302020204"/>
              </a:rPr>
              <a:t> </a:t>
            </a:r>
            <a:r>
              <a:rPr sz="2120" u="heavy" dirty="0">
                <a:uFill>
                  <a:solidFill>
                    <a:srgbClr val="000000"/>
                  </a:solidFill>
                </a:uFill>
                <a:latin typeface="Comic Sans MS" panose="030F0702030302020204"/>
                <a:cs typeface="Comic Sans MS" panose="030F0702030302020204"/>
              </a:rPr>
              <a:t>compaction</a:t>
            </a:r>
            <a:endParaRPr sz="2120">
              <a:latin typeface="Comic Sans MS" panose="030F0702030302020204"/>
              <a:cs typeface="Comic Sans MS" panose="030F0702030302020204"/>
            </a:endParaRPr>
          </a:p>
          <a:p>
            <a:pPr marL="616585" marR="4445" lvl="1" indent="-201930">
              <a:lnSpc>
                <a:spcPts val="2285"/>
              </a:lnSpc>
              <a:spcBef>
                <a:spcPts val="790"/>
              </a:spcBef>
              <a:buFont typeface="Wingdings" panose="05000000000000000000"/>
              <a:buChar char=""/>
              <a:tabLst>
                <a:tab pos="615950" algn="l"/>
              </a:tabLst>
            </a:pPr>
            <a:r>
              <a:rPr sz="2120" b="1" spc="-4" dirty="0">
                <a:latin typeface="Comic Sans MS" panose="030F0702030302020204"/>
                <a:cs typeface="Comic Sans MS" panose="030F0702030302020204"/>
              </a:rPr>
              <a:t>Shuffle segments to </a:t>
            </a:r>
            <a:r>
              <a:rPr sz="2120" b="1" dirty="0">
                <a:latin typeface="Comic Sans MS" panose="030F0702030302020204"/>
                <a:cs typeface="Comic Sans MS" panose="030F0702030302020204"/>
              </a:rPr>
              <a:t>place </a:t>
            </a:r>
            <a:r>
              <a:rPr sz="2120" b="1" spc="-4" dirty="0">
                <a:latin typeface="Comic Sans MS" panose="030F0702030302020204"/>
                <a:cs typeface="Comic Sans MS" panose="030F0702030302020204"/>
              </a:rPr>
              <a:t>free memory together in  </a:t>
            </a:r>
            <a:r>
              <a:rPr sz="2120" b="1" dirty="0">
                <a:latin typeface="Comic Sans MS" panose="030F0702030302020204"/>
                <a:cs typeface="Comic Sans MS" panose="030F0702030302020204"/>
              </a:rPr>
              <a:t>one</a:t>
            </a:r>
            <a:r>
              <a:rPr sz="2120" b="1" spc="-4" dirty="0">
                <a:latin typeface="Comic Sans MS" panose="030F0702030302020204"/>
                <a:cs typeface="Comic Sans MS" panose="030F0702030302020204"/>
              </a:rPr>
              <a:t> </a:t>
            </a:r>
            <a:r>
              <a:rPr sz="2120" b="1" dirty="0">
                <a:latin typeface="Comic Sans MS" panose="030F0702030302020204"/>
                <a:cs typeface="Comic Sans MS" panose="030F0702030302020204"/>
              </a:rPr>
              <a:t>block.</a:t>
            </a:r>
            <a:endParaRPr sz="2120">
              <a:latin typeface="Comic Sans MS" panose="030F0702030302020204"/>
              <a:cs typeface="Comic Sans MS" panose="030F0702030302020204"/>
            </a:endParaRPr>
          </a:p>
          <a:p>
            <a:pPr marL="615950" marR="5715" lvl="1" indent="-201930">
              <a:lnSpc>
                <a:spcPts val="2285"/>
              </a:lnSpc>
              <a:spcBef>
                <a:spcPts val="760"/>
              </a:spcBef>
              <a:buFont typeface="Wingdings" panose="05000000000000000000"/>
              <a:buChar char=""/>
              <a:tabLst>
                <a:tab pos="615950" algn="l"/>
              </a:tabLst>
            </a:pPr>
            <a:r>
              <a:rPr sz="2120" b="1" dirty="0">
                <a:latin typeface="Comic Sans MS" panose="030F0702030302020204"/>
                <a:cs typeface="Comic Sans MS" panose="030F0702030302020204"/>
              </a:rPr>
              <a:t>Compaction </a:t>
            </a:r>
            <a:r>
              <a:rPr sz="2120" b="1" spc="-4" dirty="0">
                <a:latin typeface="Comic Sans MS" panose="030F0702030302020204"/>
                <a:cs typeface="Comic Sans MS" panose="030F0702030302020204"/>
              </a:rPr>
              <a:t>is </a:t>
            </a:r>
            <a:r>
              <a:rPr sz="2120" b="1" dirty="0">
                <a:latin typeface="Comic Sans MS" panose="030F0702030302020204"/>
                <a:cs typeface="Comic Sans MS" panose="030F0702030302020204"/>
              </a:rPr>
              <a:t>possible </a:t>
            </a:r>
            <a:r>
              <a:rPr sz="2205" b="1" i="1" spc="-44" dirty="0">
                <a:latin typeface="Comic Sans MS" panose="030F0702030302020204"/>
                <a:cs typeface="Comic Sans MS" panose="030F0702030302020204"/>
              </a:rPr>
              <a:t>only </a:t>
            </a:r>
            <a:r>
              <a:rPr sz="2120" b="1" spc="-4" dirty="0">
                <a:latin typeface="Comic Sans MS" panose="030F0702030302020204"/>
                <a:cs typeface="Comic Sans MS" panose="030F0702030302020204"/>
              </a:rPr>
              <a:t>if relocation is dynamic,  </a:t>
            </a:r>
            <a:r>
              <a:rPr sz="2120" b="1" dirty="0">
                <a:latin typeface="Comic Sans MS" panose="030F0702030302020204"/>
                <a:cs typeface="Comic Sans MS" panose="030F0702030302020204"/>
              </a:rPr>
              <a:t>and </a:t>
            </a:r>
            <a:r>
              <a:rPr sz="2120" b="1" spc="-4" dirty="0">
                <a:latin typeface="Comic Sans MS" panose="030F0702030302020204"/>
                <a:cs typeface="Comic Sans MS" panose="030F0702030302020204"/>
              </a:rPr>
              <a:t>is done </a:t>
            </a:r>
            <a:r>
              <a:rPr sz="2120" b="1" dirty="0">
                <a:latin typeface="Comic Sans MS" panose="030F0702030302020204"/>
                <a:cs typeface="Comic Sans MS" panose="030F0702030302020204"/>
              </a:rPr>
              <a:t>at </a:t>
            </a:r>
            <a:r>
              <a:rPr sz="2120" b="1" spc="-4" dirty="0">
                <a:latin typeface="Comic Sans MS" panose="030F0702030302020204"/>
                <a:cs typeface="Comic Sans MS" panose="030F0702030302020204"/>
              </a:rPr>
              <a:t>execution</a:t>
            </a:r>
            <a:r>
              <a:rPr sz="2120" b="1" spc="-26" dirty="0">
                <a:latin typeface="Comic Sans MS" panose="030F0702030302020204"/>
                <a:cs typeface="Comic Sans MS" panose="030F0702030302020204"/>
              </a:rPr>
              <a:t> </a:t>
            </a:r>
            <a:r>
              <a:rPr sz="2120" b="1" spc="-4" dirty="0">
                <a:latin typeface="Comic Sans MS" panose="030F0702030302020204"/>
                <a:cs typeface="Comic Sans MS" panose="030F0702030302020204"/>
              </a:rPr>
              <a:t>time.</a:t>
            </a:r>
            <a:endParaRPr sz="2120">
              <a:latin typeface="Comic Sans MS" panose="030F0702030302020204"/>
              <a:cs typeface="Comic Sans MS" panose="030F0702030302020204"/>
            </a:endParaRPr>
          </a:p>
        </p:txBody>
      </p:sp>
      <p:sp>
        <p:nvSpPr>
          <p:cNvPr id="3" name="object 3"/>
          <p:cNvSpPr txBox="1">
            <a:spLocks noGrp="1"/>
          </p:cNvSpPr>
          <p:nvPr>
            <p:ph type="title"/>
          </p:nvPr>
        </p:nvSpPr>
        <p:spPr>
          <a:xfrm>
            <a:off x="1180690" y="685800"/>
            <a:ext cx="6937596" cy="457591"/>
          </a:xfrm>
          <a:prstGeom prst="rect">
            <a:avLst/>
          </a:prstGeom>
        </p:spPr>
        <p:txBody>
          <a:bodyPr vert="horz" wrap="square" lIns="0" tIns="11206" rIns="0" bIns="0" rtlCol="0">
            <a:spAutoFit/>
          </a:bodyPr>
          <a:lstStyle/>
          <a:p>
            <a:pPr marL="11430">
              <a:spcBef>
                <a:spcPts val="90"/>
              </a:spcBef>
              <a:tabLst>
                <a:tab pos="1500505" algn="l"/>
                <a:tab pos="6330950" algn="l"/>
              </a:tabLst>
            </a:pPr>
            <a:r>
              <a:rPr spc="-4" dirty="0" smtClean="0"/>
              <a:t>Issues </a:t>
            </a:r>
            <a:r>
              <a:rPr spc="-4" dirty="0"/>
              <a:t>with</a:t>
            </a:r>
            <a:r>
              <a:rPr spc="-88" dirty="0"/>
              <a:t> </a:t>
            </a:r>
            <a:r>
              <a:rPr spc="-4" dirty="0"/>
              <a:t>Segmentation	</a:t>
            </a:r>
            <a:endParaRPr spc="-4"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10097" y="1363083"/>
            <a:ext cx="6882653" cy="1861494"/>
          </a:xfrm>
          <a:prstGeom prst="rect">
            <a:avLst/>
          </a:prstGeom>
        </p:spPr>
        <p:txBody>
          <a:bodyPr vert="horz" wrap="square" lIns="0" tIns="75079" rIns="0" bIns="0" rtlCol="0">
            <a:spAutoFit/>
          </a:bodyPr>
          <a:lstStyle/>
          <a:p>
            <a:pPr marL="263525" indent="-252095">
              <a:spcBef>
                <a:spcPts val="590"/>
              </a:spcBef>
              <a:buFont typeface="Wingdings" panose="05000000000000000000"/>
              <a:buChar char=""/>
              <a:tabLst>
                <a:tab pos="262255" algn="l"/>
                <a:tab pos="262890" algn="l"/>
              </a:tabLst>
            </a:pPr>
            <a:r>
              <a:rPr sz="2120" u="heavy" spc="-4" dirty="0">
                <a:uFill>
                  <a:solidFill>
                    <a:srgbClr val="000000"/>
                  </a:solidFill>
                </a:uFill>
                <a:latin typeface="Comic Sans MS" panose="030F0702030302020204"/>
                <a:cs typeface="Comic Sans MS" panose="030F0702030302020204"/>
              </a:rPr>
              <a:t>I/O</a:t>
            </a:r>
            <a:r>
              <a:rPr sz="2120" u="heavy" spc="-18" dirty="0">
                <a:uFill>
                  <a:solidFill>
                    <a:srgbClr val="000000"/>
                  </a:solidFill>
                </a:uFill>
                <a:latin typeface="Comic Sans MS" panose="030F0702030302020204"/>
                <a:cs typeface="Comic Sans MS" panose="030F0702030302020204"/>
              </a:rPr>
              <a:t> </a:t>
            </a:r>
            <a:r>
              <a:rPr sz="2120" u="heavy" dirty="0">
                <a:uFill>
                  <a:solidFill>
                    <a:srgbClr val="000000"/>
                  </a:solidFill>
                </a:uFill>
                <a:latin typeface="Comic Sans MS" panose="030F0702030302020204"/>
                <a:cs typeface="Comic Sans MS" panose="030F0702030302020204"/>
              </a:rPr>
              <a:t>problem</a:t>
            </a:r>
            <a:endParaRPr sz="2120">
              <a:latin typeface="Comic Sans MS" panose="030F0702030302020204"/>
              <a:cs typeface="Comic Sans MS" panose="030F0702030302020204"/>
            </a:endParaRPr>
          </a:p>
          <a:p>
            <a:pPr marL="616585" lvl="1" indent="-201930">
              <a:spcBef>
                <a:spcPts val="505"/>
              </a:spcBef>
              <a:buFont typeface="Wingdings" panose="05000000000000000000"/>
              <a:buChar char=""/>
              <a:tabLst>
                <a:tab pos="615950" algn="l"/>
              </a:tabLst>
            </a:pPr>
            <a:r>
              <a:rPr sz="2120" b="1" dirty="0">
                <a:latin typeface="Comic Sans MS" panose="030F0702030302020204"/>
                <a:cs typeface="Comic Sans MS" panose="030F0702030302020204"/>
              </a:rPr>
              <a:t>Latch </a:t>
            </a:r>
            <a:r>
              <a:rPr sz="2120" b="1" spc="-4" dirty="0">
                <a:latin typeface="Comic Sans MS" panose="030F0702030302020204"/>
                <a:cs typeface="Comic Sans MS" panose="030F0702030302020204"/>
              </a:rPr>
              <a:t>job in </a:t>
            </a:r>
            <a:r>
              <a:rPr sz="2120" b="1" dirty="0">
                <a:latin typeface="Comic Sans MS" panose="030F0702030302020204"/>
                <a:cs typeface="Comic Sans MS" panose="030F0702030302020204"/>
              </a:rPr>
              <a:t>memory </a:t>
            </a:r>
            <a:r>
              <a:rPr sz="2120" b="1" spc="-4" dirty="0">
                <a:latin typeface="Comic Sans MS" panose="030F0702030302020204"/>
                <a:cs typeface="Comic Sans MS" panose="030F0702030302020204"/>
              </a:rPr>
              <a:t>while it is involved in</a:t>
            </a:r>
            <a:r>
              <a:rPr sz="2120" b="1" spc="-71" dirty="0">
                <a:latin typeface="Comic Sans MS" panose="030F0702030302020204"/>
                <a:cs typeface="Comic Sans MS" panose="030F0702030302020204"/>
              </a:rPr>
              <a:t> </a:t>
            </a:r>
            <a:r>
              <a:rPr sz="2120" b="1" spc="-4" dirty="0">
                <a:latin typeface="Comic Sans MS" panose="030F0702030302020204"/>
                <a:cs typeface="Comic Sans MS" panose="030F0702030302020204"/>
              </a:rPr>
              <a:t>I/O.</a:t>
            </a:r>
            <a:endParaRPr sz="2120">
              <a:latin typeface="Comic Sans MS" panose="030F0702030302020204"/>
              <a:cs typeface="Comic Sans MS" panose="030F0702030302020204"/>
            </a:endParaRPr>
          </a:p>
          <a:p>
            <a:pPr marL="616585" lvl="1" indent="-201930">
              <a:spcBef>
                <a:spcPts val="505"/>
              </a:spcBef>
              <a:buFont typeface="Wingdings" panose="05000000000000000000"/>
              <a:buChar char=""/>
              <a:tabLst>
                <a:tab pos="615950" algn="l"/>
              </a:tabLst>
            </a:pPr>
            <a:r>
              <a:rPr sz="2120" b="1" dirty="0">
                <a:latin typeface="Comic Sans MS" panose="030F0702030302020204"/>
                <a:cs typeface="Comic Sans MS" panose="030F0702030302020204"/>
              </a:rPr>
              <a:t>Do </a:t>
            </a:r>
            <a:r>
              <a:rPr sz="2120" b="1" spc="-4" dirty="0">
                <a:latin typeface="Comic Sans MS" panose="030F0702030302020204"/>
                <a:cs typeface="Comic Sans MS" panose="030F0702030302020204"/>
              </a:rPr>
              <a:t>I/O </a:t>
            </a:r>
            <a:r>
              <a:rPr sz="2120" b="1" dirty="0">
                <a:latin typeface="Comic Sans MS" panose="030F0702030302020204"/>
                <a:cs typeface="Comic Sans MS" panose="030F0702030302020204"/>
              </a:rPr>
              <a:t>only </a:t>
            </a:r>
            <a:r>
              <a:rPr sz="2120" b="1" spc="-4" dirty="0">
                <a:latin typeface="Comic Sans MS" panose="030F0702030302020204"/>
                <a:cs typeface="Comic Sans MS" panose="030F0702030302020204"/>
              </a:rPr>
              <a:t>into OS</a:t>
            </a:r>
            <a:r>
              <a:rPr sz="2120" b="1" spc="-26" dirty="0">
                <a:latin typeface="Comic Sans MS" panose="030F0702030302020204"/>
                <a:cs typeface="Comic Sans MS" panose="030F0702030302020204"/>
              </a:rPr>
              <a:t> </a:t>
            </a:r>
            <a:r>
              <a:rPr sz="2120" b="1" spc="-4" dirty="0">
                <a:latin typeface="Comic Sans MS" panose="030F0702030302020204"/>
                <a:cs typeface="Comic Sans MS" panose="030F0702030302020204"/>
              </a:rPr>
              <a:t>buffers</a:t>
            </a:r>
            <a:endParaRPr sz="2120">
              <a:latin typeface="Comic Sans MS" panose="030F0702030302020204"/>
              <a:cs typeface="Comic Sans MS" panose="030F0702030302020204"/>
            </a:endParaRPr>
          </a:p>
          <a:p>
            <a:pPr marL="263525" indent="-252095">
              <a:lnSpc>
                <a:spcPts val="2415"/>
              </a:lnSpc>
              <a:spcBef>
                <a:spcPts val="505"/>
              </a:spcBef>
              <a:buFont typeface="Wingdings" panose="05000000000000000000"/>
              <a:buChar char=""/>
              <a:tabLst>
                <a:tab pos="262255" algn="l"/>
                <a:tab pos="262890" algn="l"/>
                <a:tab pos="3428365" algn="l"/>
                <a:tab pos="4131945" algn="l"/>
                <a:tab pos="5293995" algn="l"/>
              </a:tabLst>
            </a:pPr>
            <a:r>
              <a:rPr sz="2120" b="1" dirty="0">
                <a:latin typeface="Comic Sans MS" panose="030F0702030302020204"/>
                <a:cs typeface="Comic Sans MS" panose="030F0702030302020204"/>
              </a:rPr>
              <a:t>Very </a:t>
            </a:r>
            <a:r>
              <a:rPr sz="2120" b="1" spc="-4" dirty="0">
                <a:latin typeface="Comic Sans MS" panose="030F0702030302020204"/>
                <a:cs typeface="Comic Sans MS" panose="030F0702030302020204"/>
              </a:rPr>
              <a:t>large</a:t>
            </a:r>
            <a:r>
              <a:rPr sz="2120" b="1" spc="-9" dirty="0">
                <a:latin typeface="Comic Sans MS" panose="030F0702030302020204"/>
                <a:cs typeface="Comic Sans MS" panose="030F0702030302020204"/>
              </a:rPr>
              <a:t> </a:t>
            </a:r>
            <a:r>
              <a:rPr sz="2120" b="1" dirty="0">
                <a:latin typeface="Comic Sans MS" panose="030F0702030302020204"/>
                <a:cs typeface="Comic Sans MS" panose="030F0702030302020204"/>
              </a:rPr>
              <a:t>segments</a:t>
            </a:r>
            <a:r>
              <a:rPr sz="2120" b="1" spc="-13" dirty="0">
                <a:latin typeface="Comic Sans MS" panose="030F0702030302020204"/>
                <a:cs typeface="Comic Sans MS" panose="030F0702030302020204"/>
              </a:rPr>
              <a:t> </a:t>
            </a:r>
            <a:r>
              <a:rPr sz="2120" b="1" spc="-4" dirty="0">
                <a:latin typeface="Symbol"/>
                <a:cs typeface="Symbol"/>
              </a:rPr>
              <a:t></a:t>
            </a:r>
            <a:r>
              <a:rPr sz="2120" spc="-4" dirty="0">
                <a:latin typeface="Times New Roman" panose="02020603050405020304"/>
                <a:cs typeface="Times New Roman" panose="02020603050405020304"/>
              </a:rPr>
              <a:t>	</a:t>
            </a:r>
            <a:r>
              <a:rPr sz="2120" b="1" dirty="0">
                <a:latin typeface="Comic Sans MS" panose="030F0702030302020204"/>
                <a:cs typeface="Comic Sans MS" panose="030F0702030302020204"/>
              </a:rPr>
              <a:t>page	program	segments—</a:t>
            </a:r>
            <a:endParaRPr sz="2120">
              <a:latin typeface="Comic Sans MS" panose="030F0702030302020204"/>
              <a:cs typeface="Comic Sans MS" panose="030F0702030302020204"/>
            </a:endParaRPr>
          </a:p>
          <a:p>
            <a:pPr marL="262890">
              <a:lnSpc>
                <a:spcPts val="2415"/>
              </a:lnSpc>
            </a:pPr>
            <a:r>
              <a:rPr sz="2120" u="heavy" dirty="0">
                <a:uFill>
                  <a:solidFill>
                    <a:srgbClr val="000000"/>
                  </a:solidFill>
                </a:uFill>
                <a:latin typeface="Comic Sans MS" panose="030F0702030302020204"/>
                <a:cs typeface="Comic Sans MS" panose="030F0702030302020204"/>
              </a:rPr>
              <a:t>paged</a:t>
            </a:r>
            <a:r>
              <a:rPr sz="2120" spc="274" dirty="0">
                <a:latin typeface="Comic Sans MS" panose="030F0702030302020204"/>
                <a:cs typeface="Comic Sans MS" panose="030F0702030302020204"/>
              </a:rPr>
              <a:t> </a:t>
            </a:r>
            <a:r>
              <a:rPr sz="2120" u="heavy" spc="-4" dirty="0">
                <a:uFill>
                  <a:solidFill>
                    <a:srgbClr val="000000"/>
                  </a:solidFill>
                </a:uFill>
                <a:latin typeface="Comic Sans MS" panose="030F0702030302020204"/>
                <a:cs typeface="Comic Sans MS" panose="030F0702030302020204"/>
              </a:rPr>
              <a:t>segmentation</a:t>
            </a:r>
            <a:endParaRPr sz="2120">
              <a:latin typeface="Comic Sans MS" panose="030F0702030302020204"/>
              <a:cs typeface="Comic Sans MS" panose="030F0702030302020204"/>
            </a:endParaRPr>
          </a:p>
        </p:txBody>
      </p:sp>
      <p:sp>
        <p:nvSpPr>
          <p:cNvPr id="3" name="object 3"/>
          <p:cNvSpPr txBox="1">
            <a:spLocks noGrp="1"/>
          </p:cNvSpPr>
          <p:nvPr>
            <p:ph type="title"/>
          </p:nvPr>
        </p:nvSpPr>
        <p:spPr>
          <a:xfrm>
            <a:off x="1010097" y="685800"/>
            <a:ext cx="6862930" cy="457591"/>
          </a:xfrm>
          <a:prstGeom prst="rect">
            <a:avLst/>
          </a:prstGeom>
        </p:spPr>
        <p:txBody>
          <a:bodyPr vert="horz" wrap="square" lIns="0" tIns="11206" rIns="0" bIns="0" rtlCol="0">
            <a:spAutoFit/>
          </a:bodyPr>
          <a:lstStyle/>
          <a:p>
            <a:pPr marL="11430">
              <a:spcBef>
                <a:spcPts val="90"/>
              </a:spcBef>
            </a:pPr>
            <a:r>
              <a:rPr spc="-4" dirty="0"/>
              <a:t>Issues with</a:t>
            </a:r>
            <a:r>
              <a:rPr spc="-88" dirty="0"/>
              <a:t> </a:t>
            </a:r>
            <a:r>
              <a:rPr spc="-4" dirty="0"/>
              <a:t>Segmentation</a:t>
            </a:r>
            <a:endParaRPr spc="-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18082</Words>
  <Application>WPS Writer</Application>
  <PresentationFormat>On-screen Show (4:3)</PresentationFormat>
  <Paragraphs>789</Paragraphs>
  <Slides>69</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69</vt:i4>
      </vt:variant>
    </vt:vector>
  </HeadingPairs>
  <TitlesOfParts>
    <vt:vector size="95" baseType="lpstr">
      <vt:lpstr>Arial</vt:lpstr>
      <vt:lpstr>SimSun</vt:lpstr>
      <vt:lpstr>Wingdings</vt:lpstr>
      <vt:lpstr>Arial</vt:lpstr>
      <vt:lpstr>Wingdings</vt:lpstr>
      <vt:lpstr>Comic Sans MS</vt:lpstr>
      <vt:lpstr>Nunito</vt:lpstr>
      <vt:lpstr>Thonburi</vt:lpstr>
      <vt:lpstr>Consolas</vt:lpstr>
      <vt:lpstr>AoyagiKouzanFontT</vt:lpstr>
      <vt:lpstr>Times New Roman</vt:lpstr>
      <vt:lpstr>Calibri</vt:lpstr>
      <vt:lpstr>Helvetica Neue</vt:lpstr>
      <vt:lpstr>Symbol</vt:lpstr>
      <vt:lpstr>Arimo</vt:lpstr>
      <vt:lpstr>Roboto Condensed</vt:lpstr>
      <vt:lpstr>Webdings</vt:lpstr>
      <vt:lpstr>Times New Roman</vt:lpstr>
      <vt:lpstr>Symbol</vt:lpstr>
      <vt:lpstr>Kingsoft Sign</vt:lpstr>
      <vt:lpstr>Microsoft YaHei</vt:lpstr>
      <vt:lpstr>汉仪旗黑</vt:lpstr>
      <vt:lpstr>Arial Unicode MS</vt:lpstr>
      <vt:lpstr>宋体-简</vt:lpstr>
      <vt:lpstr>苹方-简</vt:lpstr>
      <vt:lpstr>Office Theme</vt:lpstr>
      <vt:lpstr> Memory management PART2 Non-Contiguous Memory management scheme  Paging and Segmentation</vt:lpstr>
      <vt:lpstr>PowerPoint 演示文稿</vt:lpstr>
      <vt:lpstr>PowerPoint 演示文稿</vt:lpstr>
      <vt:lpstr>PowerPoint 演示文稿</vt:lpstr>
      <vt:lpstr>Overview</vt:lpstr>
      <vt:lpstr>Address Translation Scheme</vt:lpstr>
      <vt:lpstr>Paging Hardware</vt:lpstr>
      <vt:lpstr>Paging  Model of Logical and	Physical Memory</vt:lpstr>
      <vt:lpstr>Paging Example</vt:lpstr>
      <vt:lpstr>PowerPoint 演示文稿</vt:lpstr>
      <vt:lpstr>Paging (Cont.)</vt:lpstr>
      <vt:lpstr>Free Frames</vt:lpstr>
      <vt:lpstr>Paging Example</vt:lpstr>
      <vt:lpstr>Addressing in Paging</vt:lpstr>
      <vt:lpstr>Addressing in Paging</vt:lpstr>
      <vt:lpstr>Addressing in Paging	</vt:lpstr>
      <vt:lpstr>Page Table Size</vt:lpstr>
      <vt:lpstr>Another Example	</vt:lpstr>
      <vt:lpstr>Another Example	</vt:lpstr>
      <vt:lpstr>Page Table Entries in Page Table </vt:lpstr>
      <vt:lpstr>Page Table Entries in Page Table </vt:lpstr>
      <vt:lpstr>Implementation of Page Table</vt:lpstr>
      <vt:lpstr>Implementation of Page Table</vt:lpstr>
      <vt:lpstr>Implementation of Page Table</vt:lpstr>
      <vt:lpstr>Logical address: (p, d)</vt:lpstr>
      <vt:lpstr>Implementation of Page Table	</vt:lpstr>
      <vt:lpstr>Paging Hardware With TLB</vt:lpstr>
      <vt:lpstr>Performance of Paging</vt:lpstr>
      <vt:lpstr>Example	</vt:lpstr>
      <vt:lpstr>Example</vt:lpstr>
      <vt:lpstr>Structure of the Page Table</vt:lpstr>
      <vt:lpstr>Hierarchical/ Multi-level Page Tables</vt:lpstr>
      <vt:lpstr>Multilevel Paging</vt:lpstr>
      <vt:lpstr>EXAMPLE: 1</vt:lpstr>
      <vt:lpstr>PowerPoint 演示文稿</vt:lpstr>
      <vt:lpstr>PowerPoint 演示文稿</vt:lpstr>
      <vt:lpstr>PowerPoint 演示文稿</vt:lpstr>
      <vt:lpstr>PowerPoint 演示文稿</vt:lpstr>
      <vt:lpstr>PowerPoint 演示文稿</vt:lpstr>
      <vt:lpstr>EXAMPLE: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Two-Level Paging Example</vt:lpstr>
      <vt:lpstr>Address-Translation Scheme</vt:lpstr>
      <vt:lpstr>64-bit Logical Address Space</vt:lpstr>
      <vt:lpstr>Three-level Paging Scheme</vt:lpstr>
      <vt:lpstr>2- Hashed Page Tables</vt:lpstr>
      <vt:lpstr>Hashed Page Table</vt:lpstr>
      <vt:lpstr>3- Inverted Page Table</vt:lpstr>
      <vt:lpstr>Inverted Page Table Architecture</vt:lpstr>
      <vt:lpstr>Segmentation</vt:lpstr>
      <vt:lpstr>Segmentation</vt:lpstr>
      <vt:lpstr>Segmentation</vt:lpstr>
      <vt:lpstr>Segmentation</vt:lpstr>
      <vt:lpstr>Segmentation</vt:lpstr>
      <vt:lpstr>Segmentation</vt:lpstr>
      <vt:lpstr>Segmentation</vt:lpstr>
      <vt:lpstr>Segmentation</vt:lpstr>
      <vt:lpstr>Segmentation</vt:lpstr>
      <vt:lpstr>Segmentation Architecture	</vt:lpstr>
      <vt:lpstr>Example</vt:lpstr>
      <vt:lpstr>Address Translation</vt:lpstr>
      <vt:lpstr>Issues with Segmentation	</vt:lpstr>
      <vt:lpstr>Issues with Segmentation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Memory management  Non-Contiguous Memory management scheme  Paging and Segmentation</dc:title>
  <dc:creator/>
  <cp:lastModifiedBy>rubabanam</cp:lastModifiedBy>
  <cp:revision>16</cp:revision>
  <dcterms:created xsi:type="dcterms:W3CDTF">2023-11-23T03:34:29Z</dcterms:created>
  <dcterms:modified xsi:type="dcterms:W3CDTF">2023-11-23T03:34:29Z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2023-05-14T05:00:00Z</vt:filetime>
  </property>
  <property fmtid="{D5CDD505-2E9C-101B-9397-08002B2CF9AE}" pid="3" name="KSOProductBuildVer">
    <vt:lpwstr>1033-5.6.0.8082</vt:lpwstr>
  </property>
</Properties>
</file>