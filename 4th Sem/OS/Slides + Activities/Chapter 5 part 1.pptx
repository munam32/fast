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0" d="100"/>
          <a:sy n="50" d="100"/>
        </p:scale>
        <p:origin x="1524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3625" y="709647"/>
            <a:ext cx="7871149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696464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0" i="1">
                <a:solidFill>
                  <a:schemeClr val="tx1"/>
                </a:solidFill>
                <a:latin typeface="URW Gothic"/>
                <a:cs typeface="URW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696464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696464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696464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696464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103" y="192023"/>
            <a:ext cx="9915525" cy="7362825"/>
          </a:xfrm>
          <a:custGeom>
            <a:avLst/>
            <a:gdLst/>
            <a:ahLst/>
            <a:cxnLst/>
            <a:rect l="l" t="t" r="r" b="b"/>
            <a:pathLst>
              <a:path w="9915525" h="7362825">
                <a:moveTo>
                  <a:pt x="0" y="362711"/>
                </a:moveTo>
                <a:lnTo>
                  <a:pt x="3324" y="313316"/>
                </a:lnTo>
                <a:lnTo>
                  <a:pt x="13003" y="265994"/>
                </a:lnTo>
                <a:lnTo>
                  <a:pt x="28598" y="221170"/>
                </a:lnTo>
                <a:lnTo>
                  <a:pt x="49671" y="179267"/>
                </a:lnTo>
                <a:lnTo>
                  <a:pt x="75781" y="140708"/>
                </a:lnTo>
                <a:lnTo>
                  <a:pt x="106489" y="105917"/>
                </a:lnTo>
                <a:lnTo>
                  <a:pt x="141357" y="75318"/>
                </a:lnTo>
                <a:lnTo>
                  <a:pt x="179944" y="49332"/>
                </a:lnTo>
                <a:lnTo>
                  <a:pt x="221813" y="28384"/>
                </a:lnTo>
                <a:lnTo>
                  <a:pt x="266523" y="12897"/>
                </a:lnTo>
                <a:lnTo>
                  <a:pt x="313636" y="3294"/>
                </a:lnTo>
                <a:lnTo>
                  <a:pt x="362712" y="0"/>
                </a:lnTo>
                <a:lnTo>
                  <a:pt x="9552432" y="0"/>
                </a:lnTo>
                <a:lnTo>
                  <a:pt x="9601827" y="3294"/>
                </a:lnTo>
                <a:lnTo>
                  <a:pt x="9649149" y="12897"/>
                </a:lnTo>
                <a:lnTo>
                  <a:pt x="9693973" y="28384"/>
                </a:lnTo>
                <a:lnTo>
                  <a:pt x="9735876" y="49332"/>
                </a:lnTo>
                <a:lnTo>
                  <a:pt x="9774435" y="75318"/>
                </a:lnTo>
                <a:lnTo>
                  <a:pt x="9809226" y="105917"/>
                </a:lnTo>
                <a:lnTo>
                  <a:pt x="9839825" y="140708"/>
                </a:lnTo>
                <a:lnTo>
                  <a:pt x="9865811" y="179267"/>
                </a:lnTo>
                <a:lnTo>
                  <a:pt x="9886759" y="221170"/>
                </a:lnTo>
                <a:lnTo>
                  <a:pt x="9902246" y="265994"/>
                </a:lnTo>
                <a:lnTo>
                  <a:pt x="9911849" y="313316"/>
                </a:lnTo>
                <a:lnTo>
                  <a:pt x="9915144" y="362711"/>
                </a:lnTo>
                <a:lnTo>
                  <a:pt x="9915144" y="6999731"/>
                </a:lnTo>
                <a:lnTo>
                  <a:pt x="9911849" y="7048807"/>
                </a:lnTo>
                <a:lnTo>
                  <a:pt x="9902246" y="7095920"/>
                </a:lnTo>
                <a:lnTo>
                  <a:pt x="9886759" y="7140630"/>
                </a:lnTo>
                <a:lnTo>
                  <a:pt x="9865811" y="7182499"/>
                </a:lnTo>
                <a:lnTo>
                  <a:pt x="9839825" y="7221086"/>
                </a:lnTo>
                <a:lnTo>
                  <a:pt x="9809225" y="7255954"/>
                </a:lnTo>
                <a:lnTo>
                  <a:pt x="9774435" y="7286662"/>
                </a:lnTo>
                <a:lnTo>
                  <a:pt x="9735876" y="7312772"/>
                </a:lnTo>
                <a:lnTo>
                  <a:pt x="9693973" y="7333845"/>
                </a:lnTo>
                <a:lnTo>
                  <a:pt x="9649149" y="7349440"/>
                </a:lnTo>
                <a:lnTo>
                  <a:pt x="9601827" y="7359119"/>
                </a:lnTo>
                <a:lnTo>
                  <a:pt x="9552432" y="7362443"/>
                </a:lnTo>
                <a:lnTo>
                  <a:pt x="362712" y="7362443"/>
                </a:lnTo>
                <a:lnTo>
                  <a:pt x="313636" y="7359119"/>
                </a:lnTo>
                <a:lnTo>
                  <a:pt x="266523" y="7349440"/>
                </a:lnTo>
                <a:lnTo>
                  <a:pt x="221813" y="7333845"/>
                </a:lnTo>
                <a:lnTo>
                  <a:pt x="179944" y="7312772"/>
                </a:lnTo>
                <a:lnTo>
                  <a:pt x="141357" y="7286662"/>
                </a:lnTo>
                <a:lnTo>
                  <a:pt x="106489" y="7255954"/>
                </a:lnTo>
                <a:lnTo>
                  <a:pt x="75781" y="7221086"/>
                </a:lnTo>
                <a:lnTo>
                  <a:pt x="49671" y="7182499"/>
                </a:lnTo>
                <a:lnTo>
                  <a:pt x="28598" y="7140630"/>
                </a:lnTo>
                <a:lnTo>
                  <a:pt x="13003" y="7095920"/>
                </a:lnTo>
                <a:lnTo>
                  <a:pt x="3324" y="7048807"/>
                </a:lnTo>
                <a:lnTo>
                  <a:pt x="0" y="6999731"/>
                </a:lnTo>
                <a:lnTo>
                  <a:pt x="0" y="362711"/>
                </a:lnTo>
                <a:close/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3625" y="202229"/>
            <a:ext cx="7827009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AF50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91003" y="1304004"/>
            <a:ext cx="4406900" cy="2989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1">
                <a:solidFill>
                  <a:schemeClr val="tx1"/>
                </a:solidFill>
                <a:latin typeface="URW Gothic"/>
                <a:cs typeface="URW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93724" y="7039050"/>
            <a:ext cx="2503170" cy="243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696464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0604" y="7077995"/>
            <a:ext cx="302259" cy="247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5444" y="1035288"/>
            <a:ext cx="4203700" cy="16687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19200" marR="5080" indent="-1207135">
              <a:lnSpc>
                <a:spcPct val="112000"/>
              </a:lnSpc>
              <a:spcBef>
                <a:spcPts val="90"/>
              </a:spcBef>
            </a:pPr>
            <a:r>
              <a:rPr sz="4800" b="0" spc="-15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Operating </a:t>
            </a:r>
            <a:r>
              <a:rPr sz="4800" b="0" spc="-30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Systems  </a:t>
            </a:r>
            <a:r>
              <a:rPr sz="4800" b="0" spc="-27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CS2006</a:t>
            </a:r>
            <a:endParaRPr sz="4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33869" y="3255521"/>
            <a:ext cx="4305935" cy="1210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0395" marR="614045" indent="756920">
              <a:lnSpc>
                <a:spcPct val="116000"/>
              </a:lnSpc>
              <a:spcBef>
                <a:spcPts val="95"/>
              </a:spcBef>
            </a:pPr>
            <a:r>
              <a:rPr lang="en-US" sz="3500" spc="-130" dirty="0">
                <a:latin typeface="Times New Roman" panose="02020603050405020304"/>
                <a:cs typeface="Times New Roman" panose="02020603050405020304"/>
              </a:rPr>
              <a:t>Chapter: 4</a:t>
            </a:r>
            <a:r>
              <a:rPr sz="3500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b="1" spc="-2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CPU </a:t>
            </a:r>
            <a:r>
              <a:rPr sz="3500" b="1" spc="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Scheduling</a:t>
            </a:r>
            <a:endParaRPr sz="4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630448"/>
            <a:ext cx="58146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What’s </a:t>
            </a:r>
            <a:r>
              <a:rPr spc="-260" dirty="0"/>
              <a:t>in today’s</a:t>
            </a:r>
            <a:r>
              <a:rPr spc="-295" dirty="0"/>
              <a:t> </a:t>
            </a:r>
            <a:r>
              <a:rPr spc="-280" dirty="0"/>
              <a:t>lecture</a:t>
            </a:r>
            <a:endParaRPr spc="-280" dirty="0"/>
          </a:p>
        </p:txBody>
      </p:sp>
      <p:sp>
        <p:nvSpPr>
          <p:cNvPr id="3" name="object 3"/>
          <p:cNvSpPr txBox="1"/>
          <p:nvPr/>
        </p:nvSpPr>
        <p:spPr>
          <a:xfrm>
            <a:off x="1093655" y="2027062"/>
            <a:ext cx="3515360" cy="1685289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78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245" dirty="0">
                <a:latin typeface="Times New Roman" panose="02020603050405020304"/>
                <a:cs typeface="Times New Roman" panose="02020603050405020304"/>
              </a:rPr>
              <a:t>Basic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Concepts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70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Scheduling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65" dirty="0">
                <a:latin typeface="Times New Roman" panose="02020603050405020304"/>
                <a:cs typeface="Times New Roman" panose="02020603050405020304"/>
              </a:rPr>
              <a:t>Criteria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Scheduling</a:t>
            </a:r>
            <a:r>
              <a:rPr sz="3050" spc="-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Algorithms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234181"/>
            <a:ext cx="36518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Basic</a:t>
            </a:r>
            <a:r>
              <a:rPr spc="-335" dirty="0"/>
              <a:t> </a:t>
            </a:r>
            <a:r>
              <a:rPr spc="-180" dirty="0"/>
              <a:t>Concepts</a:t>
            </a:r>
            <a:endParaRPr spc="-180" dirty="0"/>
          </a:p>
        </p:txBody>
      </p:sp>
      <p:sp>
        <p:nvSpPr>
          <p:cNvPr id="3" name="object 3"/>
          <p:cNvSpPr txBox="1"/>
          <p:nvPr/>
        </p:nvSpPr>
        <p:spPr>
          <a:xfrm>
            <a:off x="918455" y="1218666"/>
            <a:ext cx="8373745" cy="497141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12420" marR="5080" indent="-300355" algn="just">
              <a:lnSpc>
                <a:spcPct val="91000"/>
              </a:lnSpc>
              <a:spcBef>
                <a:spcPts val="46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multiprogramming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systems,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where </a:t>
            </a:r>
            <a:r>
              <a:rPr sz="3050" spc="-65" dirty="0">
                <a:latin typeface="Times New Roman" panose="02020603050405020304"/>
                <a:cs typeface="Times New Roman" panose="02020603050405020304"/>
              </a:rPr>
              <a:t>there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more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than 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one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runnable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(ready),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200" dirty="0">
                <a:latin typeface="Times New Roman" panose="02020603050405020304"/>
                <a:cs typeface="Times New Roman" panose="02020603050405020304"/>
              </a:rPr>
              <a:t>OS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must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decide 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which 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one 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3050" spc="-45" dirty="0">
                <a:latin typeface="Times New Roman" panose="02020603050405020304"/>
                <a:cs typeface="Times New Roman" panose="02020603050405020304"/>
              </a:rPr>
              <a:t>run</a:t>
            </a:r>
            <a:r>
              <a:rPr sz="30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next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marR="5080" indent="-300355" algn="just">
              <a:lnSpc>
                <a:spcPts val="3320"/>
              </a:lnSpc>
              <a:spcBef>
                <a:spcPts val="72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245" dirty="0">
                <a:latin typeface="Times New Roman" panose="02020603050405020304"/>
                <a:cs typeface="Times New Roman" panose="02020603050405020304"/>
              </a:rPr>
              <a:t>We 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already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talked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about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2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dispatcher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whose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job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to  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allow 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next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0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45" dirty="0">
                <a:latin typeface="Times New Roman" panose="02020603050405020304"/>
                <a:cs typeface="Times New Roman" panose="02020603050405020304"/>
              </a:rPr>
              <a:t>run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marR="7620" indent="-300355" algn="just">
              <a:lnSpc>
                <a:spcPct val="90000"/>
              </a:lnSpc>
              <a:spcBef>
                <a:spcPts val="74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3050" spc="-95" dirty="0">
                <a:latin typeface="Arial" panose="020B0604020202020204"/>
                <a:cs typeface="Arial" panose="020B0604020202020204"/>
              </a:rPr>
              <a:t>’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s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intimately 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associated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3050" spc="-229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3050" spc="-114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scheduler 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whose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job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to 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decide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(using </a:t>
            </a:r>
            <a:r>
              <a:rPr sz="3050" spc="-229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3050" spc="-15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scheduling </a:t>
            </a:r>
            <a:r>
              <a:rPr sz="3050" spc="-11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algorithm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which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to  </a:t>
            </a:r>
            <a:r>
              <a:rPr sz="3050" spc="-229" dirty="0">
                <a:latin typeface="Times New Roman" panose="02020603050405020304"/>
                <a:cs typeface="Times New Roman" panose="02020603050405020304"/>
              </a:rPr>
              <a:t>have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dispatcher</a:t>
            </a:r>
            <a:r>
              <a:rPr sz="30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dispatch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marR="5080" indent="-300355" algn="just">
              <a:lnSpc>
                <a:spcPts val="3320"/>
              </a:lnSpc>
              <a:spcBef>
                <a:spcPts val="72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245" dirty="0">
                <a:latin typeface="Times New Roman" panose="02020603050405020304"/>
                <a:cs typeface="Times New Roman" panose="02020603050405020304"/>
              </a:rPr>
              <a:t>We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will </a:t>
            </a: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focus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on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scheduling, </a:t>
            </a:r>
            <a:r>
              <a:rPr sz="3050" spc="-100" dirty="0">
                <a:latin typeface="Times New Roman" panose="02020603050405020304"/>
                <a:cs typeface="Times New Roman" panose="02020603050405020304"/>
              </a:rPr>
              <a:t>understand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problems 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associated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it,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look </a:t>
            </a:r>
            <a:r>
              <a:rPr sz="3050" spc="-100" dirty="0">
                <a:latin typeface="Times New Roman" panose="02020603050405020304"/>
                <a:cs typeface="Times New Roman" panose="02020603050405020304"/>
              </a:rPr>
              <a:t>at 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some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scheduling 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algorithms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Alternating </a:t>
            </a:r>
            <a:r>
              <a:rPr spc="-170" dirty="0"/>
              <a:t>Sequence </a:t>
            </a:r>
            <a:r>
              <a:rPr spc="-235" dirty="0"/>
              <a:t>of </a:t>
            </a:r>
            <a:r>
              <a:rPr spc="-180" dirty="0"/>
              <a:t>CPU</a:t>
            </a:r>
            <a:r>
              <a:rPr spc="-434" dirty="0"/>
              <a:t> </a:t>
            </a:r>
            <a:r>
              <a:rPr spc="-260" dirty="0"/>
              <a:t>And</a:t>
            </a:r>
            <a:endParaRPr spc="-260" dirty="0"/>
          </a:p>
        </p:txBody>
      </p:sp>
      <p:sp>
        <p:nvSpPr>
          <p:cNvPr id="3" name="object 3"/>
          <p:cNvSpPr txBox="1"/>
          <p:nvPr/>
        </p:nvSpPr>
        <p:spPr>
          <a:xfrm>
            <a:off x="1093625" y="872687"/>
            <a:ext cx="24384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45" dirty="0">
                <a:solidFill>
                  <a:srgbClr val="00AF50"/>
                </a:solidFill>
                <a:latin typeface="Trebuchet MS" panose="020B0603020202020204"/>
                <a:cs typeface="Trebuchet MS" panose="020B0603020202020204"/>
              </a:rPr>
              <a:t>I/O</a:t>
            </a:r>
            <a:r>
              <a:rPr sz="4400" b="1" spc="-340" dirty="0">
                <a:solidFill>
                  <a:srgbClr val="00AF5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4400" b="1" spc="-105" dirty="0">
                <a:solidFill>
                  <a:srgbClr val="00AF50"/>
                </a:solidFill>
                <a:latin typeface="Trebuchet MS" panose="020B0603020202020204"/>
                <a:cs typeface="Trebuchet MS" panose="020B0603020202020204"/>
              </a:rPr>
              <a:t>Bursts</a:t>
            </a:r>
            <a:endParaRPr sz="4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3304032" y="1467611"/>
            <a:ext cx="3954779" cy="5509260"/>
            <a:chOff x="3304032" y="1467611"/>
            <a:chExt cx="3954779" cy="5509260"/>
          </a:xfrm>
        </p:grpSpPr>
        <p:sp>
          <p:nvSpPr>
            <p:cNvPr id="6" name="object 6"/>
            <p:cNvSpPr/>
            <p:nvPr/>
          </p:nvSpPr>
          <p:spPr>
            <a:xfrm>
              <a:off x="3366516" y="1530095"/>
              <a:ext cx="3829812" cy="5384291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304019" y="1467611"/>
              <a:ext cx="3955415" cy="5509260"/>
            </a:xfrm>
            <a:custGeom>
              <a:avLst/>
              <a:gdLst/>
              <a:ahLst/>
              <a:cxnLst/>
              <a:rect l="l" t="t" r="r" b="b"/>
              <a:pathLst>
                <a:path w="3955415" h="5509259">
                  <a:moveTo>
                    <a:pt x="3904500" y="62496"/>
                  </a:moveTo>
                  <a:lnTo>
                    <a:pt x="3892308" y="62496"/>
                  </a:lnTo>
                  <a:lnTo>
                    <a:pt x="3892308" y="5446788"/>
                  </a:lnTo>
                  <a:lnTo>
                    <a:pt x="3904500" y="5446788"/>
                  </a:lnTo>
                  <a:lnTo>
                    <a:pt x="3904500" y="62496"/>
                  </a:lnTo>
                  <a:close/>
                </a:path>
                <a:path w="3955415" h="5509259">
                  <a:moveTo>
                    <a:pt x="3904500" y="50800"/>
                  </a:moveTo>
                  <a:lnTo>
                    <a:pt x="50304" y="50800"/>
                  </a:lnTo>
                  <a:lnTo>
                    <a:pt x="50304" y="62230"/>
                  </a:lnTo>
                  <a:lnTo>
                    <a:pt x="50304" y="5447030"/>
                  </a:lnTo>
                  <a:lnTo>
                    <a:pt x="50304" y="5458460"/>
                  </a:lnTo>
                  <a:lnTo>
                    <a:pt x="3904500" y="5458460"/>
                  </a:lnTo>
                  <a:lnTo>
                    <a:pt x="3904500" y="5447030"/>
                  </a:lnTo>
                  <a:lnTo>
                    <a:pt x="62496" y="5447030"/>
                  </a:lnTo>
                  <a:lnTo>
                    <a:pt x="62496" y="62230"/>
                  </a:lnTo>
                  <a:lnTo>
                    <a:pt x="3904500" y="62230"/>
                  </a:lnTo>
                  <a:lnTo>
                    <a:pt x="3904500" y="50800"/>
                  </a:lnTo>
                  <a:close/>
                </a:path>
                <a:path w="3955415" h="5509259">
                  <a:moveTo>
                    <a:pt x="3954792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0" y="5471160"/>
                  </a:lnTo>
                  <a:lnTo>
                    <a:pt x="0" y="5509260"/>
                  </a:lnTo>
                  <a:lnTo>
                    <a:pt x="3954792" y="5509260"/>
                  </a:lnTo>
                  <a:lnTo>
                    <a:pt x="3954792" y="5471172"/>
                  </a:lnTo>
                  <a:lnTo>
                    <a:pt x="3954792" y="38112"/>
                  </a:lnTo>
                  <a:lnTo>
                    <a:pt x="3916692" y="38112"/>
                  </a:lnTo>
                  <a:lnTo>
                    <a:pt x="3916692" y="5471160"/>
                  </a:lnTo>
                  <a:lnTo>
                    <a:pt x="38112" y="5471160"/>
                  </a:lnTo>
                  <a:lnTo>
                    <a:pt x="38112" y="38100"/>
                  </a:lnTo>
                  <a:lnTo>
                    <a:pt x="3954792" y="38100"/>
                  </a:lnTo>
                  <a:lnTo>
                    <a:pt x="39547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630448"/>
            <a:ext cx="42284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0" dirty="0"/>
              <a:t>Nature </a:t>
            </a:r>
            <a:r>
              <a:rPr spc="-235" dirty="0"/>
              <a:t>of</a:t>
            </a:r>
            <a:r>
              <a:rPr spc="-375" dirty="0"/>
              <a:t> </a:t>
            </a:r>
            <a:r>
              <a:rPr spc="-140" dirty="0"/>
              <a:t>Process</a:t>
            </a:r>
            <a:endParaRPr spc="-140" dirty="0"/>
          </a:p>
        </p:txBody>
      </p:sp>
      <p:sp>
        <p:nvSpPr>
          <p:cNvPr id="3" name="object 3"/>
          <p:cNvSpPr txBox="1"/>
          <p:nvPr/>
        </p:nvSpPr>
        <p:spPr>
          <a:xfrm>
            <a:off x="1093655" y="1688136"/>
            <a:ext cx="8375650" cy="3934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420" marR="5715" indent="-300355">
              <a:lnSpc>
                <a:spcPct val="101000"/>
              </a:lnSpc>
              <a:spcBef>
                <a:spcPts val="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  <a:tab pos="1032510" algn="l"/>
                <a:tab pos="1526540" algn="l"/>
                <a:tab pos="3014980" algn="l"/>
                <a:tab pos="3798570" algn="l"/>
                <a:tab pos="4284345" algn="l"/>
                <a:tab pos="5094605" algn="l"/>
                <a:tab pos="5807710" algn="l"/>
                <a:tab pos="6250305" algn="l"/>
                <a:tab pos="7115175" algn="l"/>
                <a:tab pos="7777480" algn="l"/>
              </a:tabLst>
            </a:pP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5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25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235" dirty="0">
                <a:latin typeface="Times New Roman" panose="02020603050405020304"/>
                <a:cs typeface="Times New Roman" panose="02020603050405020304"/>
              </a:rPr>
              <a:t>ss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22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3050" spc="-34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29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25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32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21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25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21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69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3050" spc="25" dirty="0">
                <a:latin typeface="Times New Roman" panose="02020603050405020304"/>
                <a:cs typeface="Times New Roman" panose="02020603050405020304"/>
              </a:rPr>
              <a:t>O 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usage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marR="5715" indent="-300355">
              <a:lnSpc>
                <a:spcPct val="101000"/>
              </a:lnSpc>
              <a:spcBef>
                <a:spcPts val="66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  <a:tab pos="837565" algn="l"/>
                <a:tab pos="2235835" algn="l"/>
                <a:tab pos="3943350" algn="l"/>
                <a:tab pos="5451475" algn="l"/>
                <a:tab pos="6316980" algn="l"/>
                <a:tab pos="6967220" algn="l"/>
                <a:tab pos="7400925" algn="l"/>
                <a:tab pos="8079105" algn="l"/>
              </a:tabLst>
            </a:pPr>
            <a:r>
              <a:rPr sz="3050" spc="-370" dirty="0">
                <a:latin typeface="Times New Roman" panose="02020603050405020304"/>
                <a:cs typeface="Times New Roman" panose="02020603050405020304"/>
              </a:rPr>
              <a:t>A	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nu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4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12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spc="-24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20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3050" spc="6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25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050" spc="-34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24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229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5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180" dirty="0">
                <a:latin typeface="Times New Roman" panose="02020603050405020304"/>
                <a:cs typeface="Times New Roman" panose="02020603050405020304"/>
              </a:rPr>
              <a:t>f 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computation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and minimal</a:t>
            </a:r>
            <a:r>
              <a:rPr sz="30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175" dirty="0">
                <a:latin typeface="Times New Roman" panose="02020603050405020304"/>
                <a:cs typeface="Times New Roman" panose="02020603050405020304"/>
              </a:rPr>
              <a:t>I/O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51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This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example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50" spc="-15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CPU-BOUND</a:t>
            </a:r>
            <a:r>
              <a:rPr sz="2650" spc="-4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process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marR="5080" indent="-300355">
              <a:lnSpc>
                <a:spcPct val="101000"/>
              </a:lnSpc>
              <a:spcBef>
                <a:spcPts val="58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370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data processing job </a:t>
            </a:r>
            <a:r>
              <a:rPr sz="3050" spc="-245" dirty="0">
                <a:latin typeface="Times New Roman" panose="02020603050405020304"/>
                <a:cs typeface="Times New Roman" panose="02020603050405020304"/>
              </a:rPr>
              <a:t>may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do 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little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computation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3050" spc="-229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3050" spc="-60" dirty="0">
                <a:latin typeface="Times New Roman" panose="02020603050405020304"/>
                <a:cs typeface="Times New Roman" panose="02020603050405020304"/>
              </a:rPr>
              <a:t>lot  </a:t>
            </a: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175" dirty="0">
                <a:latin typeface="Times New Roman" panose="02020603050405020304"/>
                <a:cs typeface="Times New Roman" panose="02020603050405020304"/>
              </a:rPr>
              <a:t>I/O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9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This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example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50" spc="-175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2650" spc="-6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I/O-BOUND</a:t>
            </a:r>
            <a:r>
              <a:rPr sz="2650" spc="47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process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630448"/>
            <a:ext cx="26733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Schedulers</a:t>
            </a:r>
            <a:endParaRPr spc="-160" dirty="0"/>
          </a:p>
        </p:txBody>
      </p:sp>
      <p:sp>
        <p:nvSpPr>
          <p:cNvPr id="3" name="object 3"/>
          <p:cNvSpPr txBox="1"/>
          <p:nvPr/>
        </p:nvSpPr>
        <p:spPr>
          <a:xfrm>
            <a:off x="1093655" y="1604959"/>
            <a:ext cx="7270115" cy="352742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78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Chooses </a:t>
            </a:r>
            <a:r>
              <a:rPr sz="3050" spc="-229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ready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activates</a:t>
            </a:r>
            <a:r>
              <a:rPr sz="3050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45" dirty="0">
                <a:latin typeface="Times New Roman" panose="02020603050405020304"/>
                <a:cs typeface="Times New Roman" panose="02020603050405020304"/>
              </a:rPr>
              <a:t>it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70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Policy </a:t>
            </a:r>
            <a:r>
              <a:rPr sz="3050" spc="15" dirty="0">
                <a:latin typeface="Times New Roman" panose="02020603050405020304"/>
                <a:cs typeface="Times New Roman" panose="02020603050405020304"/>
              </a:rPr>
              <a:t>–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which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3050" spc="-2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choose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Choice </a:t>
            </a: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policy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depends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305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goals: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50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80" dirty="0">
                <a:latin typeface="Times New Roman" panose="02020603050405020304"/>
                <a:cs typeface="Times New Roman" panose="02020603050405020304"/>
              </a:rPr>
              <a:t>Maximize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throughput </a:t>
            </a:r>
            <a:r>
              <a:rPr sz="2650" spc="-5" dirty="0">
                <a:latin typeface="Times New Roman" panose="02020603050405020304"/>
                <a:cs typeface="Times New Roman" panose="02020603050405020304"/>
              </a:rPr>
              <a:t>– </a:t>
            </a:r>
            <a:r>
              <a:rPr sz="2650" spc="-190" dirty="0">
                <a:latin typeface="Times New Roman" panose="02020603050405020304"/>
                <a:cs typeface="Times New Roman" panose="02020603050405020304"/>
              </a:rPr>
              <a:t>avoid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idle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5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overhead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2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Fairness </a:t>
            </a:r>
            <a:r>
              <a:rPr sz="2650" spc="-5" dirty="0">
                <a:latin typeface="Times New Roman" panose="02020603050405020304"/>
                <a:cs typeface="Times New Roman" panose="02020603050405020304"/>
              </a:rPr>
              <a:t>–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all jobs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get </a:t>
            </a:r>
            <a:r>
              <a:rPr sz="2650" spc="-180" dirty="0">
                <a:latin typeface="Times New Roman" panose="02020603050405020304"/>
                <a:cs typeface="Times New Roman" panose="02020603050405020304"/>
              </a:rPr>
              <a:t>same</a:t>
            </a:r>
            <a:r>
              <a:rPr sz="265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service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3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75" dirty="0">
                <a:latin typeface="Times New Roman" panose="02020603050405020304"/>
                <a:cs typeface="Times New Roman" panose="02020603050405020304"/>
              </a:rPr>
              <a:t>Minimum average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waiting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2650" spc="-5" dirty="0">
                <a:latin typeface="Times New Roman" panose="02020603050405020304"/>
                <a:cs typeface="Times New Roman" panose="02020603050405020304"/>
              </a:rPr>
              <a:t>–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good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service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65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some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3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Good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service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“important”</a:t>
            </a:r>
            <a:r>
              <a:rPr sz="2650" spc="-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jobs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630448"/>
            <a:ext cx="26733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Schedulers</a:t>
            </a:r>
            <a:endParaRPr spc="-160" dirty="0"/>
          </a:p>
        </p:txBody>
      </p:sp>
      <p:sp>
        <p:nvSpPr>
          <p:cNvPr id="3" name="object 3"/>
          <p:cNvSpPr txBox="1"/>
          <p:nvPr/>
        </p:nvSpPr>
        <p:spPr>
          <a:xfrm>
            <a:off x="1093655" y="1604959"/>
            <a:ext cx="6186805" cy="1685289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78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0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Short </a:t>
            </a:r>
            <a:r>
              <a:rPr sz="3050" spc="-2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term </a:t>
            </a:r>
            <a:r>
              <a:rPr sz="3050" spc="-13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Scheduler 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3050" spc="-14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CPU </a:t>
            </a:r>
            <a:r>
              <a:rPr sz="3050" spc="-16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Scheduling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70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9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Long </a:t>
            </a:r>
            <a:r>
              <a:rPr sz="3050" spc="-2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term </a:t>
            </a:r>
            <a:r>
              <a:rPr sz="3050" spc="-13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Scheduler 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3050" spc="-17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Job</a:t>
            </a:r>
            <a:r>
              <a:rPr sz="3050" spc="-5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Scheduler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6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Medium </a:t>
            </a:r>
            <a:r>
              <a:rPr sz="3050" spc="-16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Term</a:t>
            </a:r>
            <a:r>
              <a:rPr sz="3050" spc="-38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Scheduler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630448"/>
            <a:ext cx="26733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Schedulers</a:t>
            </a:r>
            <a:endParaRPr spc="-160" dirty="0"/>
          </a:p>
        </p:txBody>
      </p:sp>
      <p:sp>
        <p:nvSpPr>
          <p:cNvPr id="3" name="object 3"/>
          <p:cNvSpPr txBox="1"/>
          <p:nvPr/>
        </p:nvSpPr>
        <p:spPr>
          <a:xfrm>
            <a:off x="1093655" y="1612312"/>
            <a:ext cx="7826375" cy="296672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73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0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Short </a:t>
            </a:r>
            <a:r>
              <a:rPr sz="3050" spc="-2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term </a:t>
            </a:r>
            <a:r>
              <a:rPr sz="3050" spc="-13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Scheduler 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3050" spc="-14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CPU</a:t>
            </a:r>
            <a:r>
              <a:rPr sz="3050" spc="-16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6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Scheduling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829310" lvl="1" indent="-314325">
              <a:lnSpc>
                <a:spcPct val="100000"/>
              </a:lnSpc>
              <a:spcBef>
                <a:spcPts val="50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829310" algn="l"/>
                <a:tab pos="829310" algn="l"/>
              </a:tabLst>
            </a:pP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Which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program </a:t>
            </a: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run</a:t>
            </a:r>
            <a:r>
              <a:rPr sz="265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next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2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9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Long </a:t>
            </a:r>
            <a:r>
              <a:rPr sz="3050" spc="-2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term </a:t>
            </a:r>
            <a:r>
              <a:rPr sz="3050" spc="-13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Scheduler 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3050" spc="-17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Job</a:t>
            </a:r>
            <a:r>
              <a:rPr sz="3050" spc="-4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Scheduler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829310" lvl="1" indent="-314325">
              <a:lnSpc>
                <a:spcPct val="100000"/>
              </a:lnSpc>
              <a:spcBef>
                <a:spcPts val="49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829310" algn="l"/>
                <a:tab pos="829310" algn="l"/>
              </a:tabLst>
            </a:pP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Which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ready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jobs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should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brought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650" spc="2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memory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829310" lvl="1" indent="-314325">
              <a:lnSpc>
                <a:spcPct val="100000"/>
              </a:lnSpc>
              <a:spcBef>
                <a:spcPts val="43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829310" algn="l"/>
                <a:tab pos="829310" algn="l"/>
              </a:tabLst>
            </a:pPr>
            <a:r>
              <a:rPr sz="2650" spc="-290" dirty="0">
                <a:latin typeface="Times New Roman" panose="02020603050405020304"/>
                <a:cs typeface="Times New Roman" panose="02020603050405020304"/>
              </a:rPr>
              <a:t>May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need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invoke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only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when 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leaves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650" spc="3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829310" lvl="1" indent="-314325">
              <a:lnSpc>
                <a:spcPct val="100000"/>
              </a:lnSpc>
              <a:spcBef>
                <a:spcPts val="43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829310" algn="l"/>
                <a:tab pos="829310" algn="l"/>
              </a:tabLst>
            </a:pP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Must </a:t>
            </a:r>
            <a:r>
              <a:rPr sz="2650" spc="-180" dirty="0">
                <a:latin typeface="Times New Roman" panose="02020603050405020304"/>
                <a:cs typeface="Times New Roman" panose="02020603050405020304"/>
              </a:rPr>
              <a:t>make 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careful</a:t>
            </a:r>
            <a:r>
              <a:rPr sz="2650" spc="2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selection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551249"/>
            <a:ext cx="26733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Schedulers</a:t>
            </a:r>
            <a:endParaRPr spc="-160" dirty="0"/>
          </a:p>
        </p:txBody>
      </p:sp>
      <p:sp>
        <p:nvSpPr>
          <p:cNvPr id="3" name="object 3"/>
          <p:cNvSpPr txBox="1"/>
          <p:nvPr/>
        </p:nvSpPr>
        <p:spPr>
          <a:xfrm>
            <a:off x="1093655" y="1688136"/>
            <a:ext cx="8373745" cy="3093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420" marR="5080" indent="-300355">
              <a:lnSpc>
                <a:spcPct val="101000"/>
              </a:lnSpc>
              <a:spcBef>
                <a:spcPts val="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  <a:tab pos="2008505" algn="l"/>
                <a:tab pos="2607945" algn="l"/>
                <a:tab pos="3328670" algn="l"/>
                <a:tab pos="4170045" algn="l"/>
                <a:tab pos="4464050" algn="l"/>
                <a:tab pos="5717540" algn="l"/>
                <a:tab pos="6911975" algn="l"/>
                <a:tab pos="7354570" algn="l"/>
                <a:tab pos="8063865" algn="l"/>
              </a:tabLst>
            </a:pPr>
            <a:r>
              <a:rPr sz="3050" spc="-409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22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4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41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050" spc="-37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24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30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spc="-204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3050" spc="-22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229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20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20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23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spc="-22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-27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7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o  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free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up 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more</a:t>
            </a:r>
            <a:r>
              <a:rPr sz="30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memory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45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improve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3050" spc="-2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mix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70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This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3050" spc="-180" dirty="0">
                <a:latin typeface="Times New Roman" panose="02020603050405020304"/>
                <a:cs typeface="Times New Roman" panose="02020603050405020304"/>
              </a:rPr>
              <a:t>also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called</a:t>
            </a:r>
            <a:r>
              <a:rPr sz="3050" spc="2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b="1" spc="-10" dirty="0">
                <a:latin typeface="Times New Roman" panose="02020603050405020304"/>
                <a:cs typeface="Times New Roman" panose="02020603050405020304"/>
              </a:rPr>
              <a:t>Swapping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  <a:tab pos="1115695" algn="l"/>
                <a:tab pos="2674620" algn="l"/>
                <a:tab pos="4460240" algn="l"/>
                <a:tab pos="5075555" algn="l"/>
                <a:tab pos="5772150" algn="l"/>
                <a:tab pos="6520180" algn="l"/>
                <a:tab pos="6931025" algn="l"/>
                <a:tab pos="8094980" algn="l"/>
              </a:tabLst>
            </a:pP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-22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204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4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r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23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3050" spc="-23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-20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21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4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-22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22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27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-22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spc="-204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25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225" dirty="0">
                <a:latin typeface="Times New Roman" panose="02020603050405020304"/>
                <a:cs typeface="Times New Roman" panose="02020603050405020304"/>
              </a:rPr>
              <a:t>s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>
              <a:lnSpc>
                <a:spcPct val="100000"/>
              </a:lnSpc>
              <a:spcBef>
                <a:spcPts val="35"/>
              </a:spcBef>
            </a:pPr>
            <a:r>
              <a:rPr sz="3050" b="1" spc="15" dirty="0">
                <a:solidFill>
                  <a:srgbClr val="D34816"/>
                </a:solidFill>
                <a:latin typeface="Times New Roman" panose="02020603050405020304"/>
                <a:cs typeface="Times New Roman" panose="02020603050405020304"/>
              </a:rPr>
              <a:t>Intermediate </a:t>
            </a:r>
            <a:r>
              <a:rPr sz="3050" b="1" spc="15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3050" b="1" spc="15" dirty="0">
                <a:solidFill>
                  <a:srgbClr val="D34816"/>
                </a:solidFill>
                <a:latin typeface="Times New Roman" panose="02020603050405020304"/>
                <a:cs typeface="Times New Roman" panose="02020603050405020304"/>
              </a:rPr>
              <a:t>Medium</a:t>
            </a:r>
            <a:r>
              <a:rPr sz="3050" b="1" spc="-650" dirty="0">
                <a:solidFill>
                  <a:srgbClr val="D3481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b="1" spc="-135" dirty="0">
                <a:solidFill>
                  <a:srgbClr val="D34816"/>
                </a:solidFill>
                <a:latin typeface="Times New Roman" panose="02020603050405020304"/>
                <a:cs typeface="Times New Roman" panose="02020603050405020304"/>
              </a:rPr>
              <a:t>Term </a:t>
            </a:r>
            <a:r>
              <a:rPr sz="3050" b="1" spc="5" dirty="0">
                <a:solidFill>
                  <a:srgbClr val="D34816"/>
                </a:solidFill>
                <a:latin typeface="Times New Roman" panose="02020603050405020304"/>
                <a:cs typeface="Times New Roman" panose="02020603050405020304"/>
              </a:rPr>
              <a:t>Scheduler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5263" y="202229"/>
            <a:ext cx="592836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Addition </a:t>
            </a:r>
            <a:r>
              <a:rPr spc="-254" dirty="0"/>
              <a:t>of </a:t>
            </a:r>
            <a:r>
              <a:rPr spc="-140" dirty="0"/>
              <a:t>Medium</a:t>
            </a:r>
            <a:r>
              <a:rPr spc="-245" dirty="0"/>
              <a:t> </a:t>
            </a:r>
            <a:r>
              <a:rPr spc="-420" dirty="0"/>
              <a:t>Term  </a:t>
            </a:r>
            <a:r>
              <a:rPr spc="-165" dirty="0"/>
              <a:t>Scheduling</a:t>
            </a:r>
            <a:endParaRPr spc="-165" dirty="0"/>
          </a:p>
        </p:txBody>
      </p:sp>
      <p:sp>
        <p:nvSpPr>
          <p:cNvPr id="3" name="object 3"/>
          <p:cNvSpPr/>
          <p:nvPr/>
        </p:nvSpPr>
        <p:spPr>
          <a:xfrm>
            <a:off x="416051" y="2421635"/>
            <a:ext cx="9144000" cy="384505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9096" y="788846"/>
            <a:ext cx="4373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Schedulers</a:t>
            </a:r>
            <a:r>
              <a:rPr spc="-290" dirty="0"/>
              <a:t> </a:t>
            </a:r>
            <a:r>
              <a:rPr spc="-300" dirty="0"/>
              <a:t>(Cont.)</a:t>
            </a:r>
            <a:endParaRPr spc="-300" dirty="0"/>
          </a:p>
        </p:txBody>
      </p:sp>
      <p:sp>
        <p:nvSpPr>
          <p:cNvPr id="3" name="object 3"/>
          <p:cNvSpPr/>
          <p:nvPr/>
        </p:nvSpPr>
        <p:spPr>
          <a:xfrm>
            <a:off x="3248120" y="2482786"/>
            <a:ext cx="294005" cy="201295"/>
          </a:xfrm>
          <a:custGeom>
            <a:avLst/>
            <a:gdLst/>
            <a:ahLst/>
            <a:cxnLst/>
            <a:rect l="l" t="t" r="r" b="b"/>
            <a:pathLst>
              <a:path w="294004" h="201294">
                <a:moveTo>
                  <a:pt x="200215" y="201167"/>
                </a:moveTo>
                <a:lnTo>
                  <a:pt x="187737" y="190690"/>
                </a:lnTo>
                <a:lnTo>
                  <a:pt x="218598" y="153733"/>
                </a:lnTo>
                <a:lnTo>
                  <a:pt x="0" y="153733"/>
                </a:lnTo>
                <a:lnTo>
                  <a:pt x="0" y="127825"/>
                </a:lnTo>
                <a:lnTo>
                  <a:pt x="238220" y="127825"/>
                </a:lnTo>
                <a:lnTo>
                  <a:pt x="259842" y="100583"/>
                </a:lnTo>
                <a:lnTo>
                  <a:pt x="237839" y="72961"/>
                </a:lnTo>
                <a:lnTo>
                  <a:pt x="0" y="72961"/>
                </a:lnTo>
                <a:lnTo>
                  <a:pt x="0" y="47053"/>
                </a:lnTo>
                <a:lnTo>
                  <a:pt x="218408" y="47053"/>
                </a:lnTo>
                <a:lnTo>
                  <a:pt x="187737" y="10572"/>
                </a:lnTo>
                <a:lnTo>
                  <a:pt x="200215" y="0"/>
                </a:lnTo>
                <a:lnTo>
                  <a:pt x="293751" y="94392"/>
                </a:lnTo>
                <a:lnTo>
                  <a:pt x="293751" y="106870"/>
                </a:lnTo>
                <a:lnTo>
                  <a:pt x="200215" y="2011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556108" y="1808513"/>
            <a:ext cx="2656840" cy="151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0" marR="5080" indent="-95250">
              <a:lnSpc>
                <a:spcPct val="104000"/>
              </a:lnSpc>
              <a:tabLst>
                <a:tab pos="1195070" algn="l"/>
              </a:tabLst>
            </a:pPr>
            <a:r>
              <a:rPr sz="3050" spc="-29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9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24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21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qu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spc="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y  </a:t>
            </a:r>
            <a:r>
              <a:rPr sz="3050" spc="-1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(must </a:t>
            </a:r>
            <a:r>
              <a:rPr sz="3050" spc="-1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3050" spc="-8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fast)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929005" algn="l"/>
              </a:tabLst>
            </a:pPr>
            <a:r>
              <a:rPr sz="3050" spc="-29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6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24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spc="-21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q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spc="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050" spc="-240" dirty="0">
                <a:latin typeface="Times New Roman" panose="02020603050405020304"/>
                <a:cs typeface="Times New Roman" panose="02020603050405020304"/>
              </a:rPr>
              <a:t>y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09536" y="3505390"/>
            <a:ext cx="294005" cy="201295"/>
          </a:xfrm>
          <a:custGeom>
            <a:avLst/>
            <a:gdLst/>
            <a:ahLst/>
            <a:cxnLst/>
            <a:rect l="l" t="t" r="r" b="b"/>
            <a:pathLst>
              <a:path w="294004" h="201295">
                <a:moveTo>
                  <a:pt x="200215" y="201167"/>
                </a:moveTo>
                <a:lnTo>
                  <a:pt x="187737" y="190690"/>
                </a:lnTo>
                <a:lnTo>
                  <a:pt x="218598" y="153733"/>
                </a:lnTo>
                <a:lnTo>
                  <a:pt x="0" y="153733"/>
                </a:lnTo>
                <a:lnTo>
                  <a:pt x="0" y="127825"/>
                </a:lnTo>
                <a:lnTo>
                  <a:pt x="238220" y="127825"/>
                </a:lnTo>
                <a:lnTo>
                  <a:pt x="259842" y="100583"/>
                </a:lnTo>
                <a:lnTo>
                  <a:pt x="237839" y="72961"/>
                </a:lnTo>
                <a:lnTo>
                  <a:pt x="0" y="72961"/>
                </a:lnTo>
                <a:lnTo>
                  <a:pt x="0" y="47053"/>
                </a:lnTo>
                <a:lnTo>
                  <a:pt x="218408" y="47053"/>
                </a:lnTo>
                <a:lnTo>
                  <a:pt x="187737" y="10572"/>
                </a:lnTo>
                <a:lnTo>
                  <a:pt x="200215" y="0"/>
                </a:lnTo>
                <a:lnTo>
                  <a:pt x="293751" y="94392"/>
                </a:lnTo>
                <a:lnTo>
                  <a:pt x="293751" y="106870"/>
                </a:lnTo>
                <a:lnTo>
                  <a:pt x="200215" y="2011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39290" y="1808505"/>
            <a:ext cx="5735955" cy="1999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2420" marR="116205" indent="-300355">
              <a:lnSpc>
                <a:spcPct val="104000"/>
              </a:lnSpc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  <a:tab pos="2254885" algn="l"/>
                <a:tab pos="2811780" algn="l"/>
                <a:tab pos="3954145" algn="l"/>
                <a:tab pos="4511040" algn="l"/>
              </a:tabLst>
            </a:pPr>
            <a:r>
              <a:rPr sz="3050" spc="-409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12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65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3050" spc="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12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23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4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-22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spc="-32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20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d 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(milliseconds)	</a:t>
            </a: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Objective?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marR="5080" indent="-300355">
              <a:lnSpc>
                <a:spcPct val="104000"/>
              </a:lnSpc>
              <a:spcBef>
                <a:spcPts val="47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  <a:tab pos="2153285" algn="l"/>
                <a:tab pos="3473450" algn="l"/>
                <a:tab pos="3813810" algn="l"/>
                <a:tab pos="4326890" algn="l"/>
              </a:tabLst>
            </a:pP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Long-term	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scheduler	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is	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invoked 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(seconds,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minutes)	</a:t>
            </a:r>
            <a:r>
              <a:rPr sz="3050" spc="-2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(may </a:t>
            </a:r>
            <a:r>
              <a:rPr sz="3050" spc="-14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3050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slower)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9290" y="3853640"/>
            <a:ext cx="8374380" cy="965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174115" algn="l"/>
                <a:tab pos="2924810" algn="l"/>
                <a:tab pos="4593590" algn="l"/>
                <a:tab pos="6057900" algn="l"/>
                <a:tab pos="6813550" algn="l"/>
                <a:tab pos="8079105" algn="l"/>
              </a:tabLst>
            </a:pPr>
            <a:r>
              <a:rPr sz="2600" spc="-1155" dirty="0">
                <a:solidFill>
                  <a:srgbClr val="D34816"/>
                </a:solidFill>
                <a:latin typeface="Webdings" panose="05030102010509060703"/>
                <a:cs typeface="Webdings" panose="05030102010509060703"/>
              </a:rPr>
              <a:t></a:t>
            </a:r>
            <a:r>
              <a:rPr sz="2600" spc="260" dirty="0">
                <a:solidFill>
                  <a:srgbClr val="D3481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3050" spc="-26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3050" spc="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15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23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4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spc="7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050" spc="-22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1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215" dirty="0">
                <a:latin typeface="Times New Roman" panose="02020603050405020304"/>
                <a:cs typeface="Times New Roman" panose="02020603050405020304"/>
              </a:rPr>
              <a:t>f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>
              <a:lnSpc>
                <a:spcPct val="100000"/>
              </a:lnSpc>
              <a:spcBef>
                <a:spcPts val="40"/>
              </a:spcBef>
            </a:pPr>
            <a:r>
              <a:rPr sz="3050" i="1" spc="-290" dirty="0">
                <a:latin typeface="Times New Roman" panose="02020603050405020304"/>
                <a:cs typeface="Times New Roman" panose="02020603050405020304"/>
              </a:rPr>
              <a:t>multiprogramming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630448"/>
            <a:ext cx="2644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Scheduling</a:t>
            </a:r>
            <a:endParaRPr spc="-165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5" name="object 5"/>
          <p:cNvSpPr txBox="1"/>
          <p:nvPr/>
        </p:nvSpPr>
        <p:spPr>
          <a:xfrm>
            <a:off x="305800" y="7095872"/>
            <a:ext cx="211454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sz="1300" dirty="0">
                <a:latin typeface="Arial" panose="020B0604020202020204"/>
                <a:cs typeface="Arial" panose="020B0604020202020204"/>
              </a:rPr>
              <a:t>1</a:t>
            </a:r>
            <a:r>
              <a:rPr sz="1300" spc="10" dirty="0">
                <a:latin typeface="Arial" panose="020B0604020202020204"/>
                <a:cs typeface="Arial" panose="020B0604020202020204"/>
              </a:rPr>
              <a:t>2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3655" y="1612312"/>
            <a:ext cx="7988300" cy="437959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73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0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Short </a:t>
            </a:r>
            <a:r>
              <a:rPr sz="3050" spc="-2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term </a:t>
            </a:r>
            <a:r>
              <a:rPr sz="3050" spc="-114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scheduler </a:t>
            </a:r>
            <a:r>
              <a:rPr sz="3050" spc="-12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(CPU</a:t>
            </a:r>
            <a:r>
              <a:rPr sz="3050" spc="-12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2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Scheduler)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marR="5080" lvl="1" indent="-252095">
              <a:lnSpc>
                <a:spcPts val="3170"/>
              </a:lnSpc>
              <a:spcBef>
                <a:spcPts val="62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Whenever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CPU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becomes 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idle, 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must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selected 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execution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31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selected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from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Ready</a:t>
            </a:r>
            <a:r>
              <a:rPr sz="2650" spc="25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queue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3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90" dirty="0">
                <a:latin typeface="Times New Roman" panose="02020603050405020304"/>
                <a:cs typeface="Times New Roman" panose="02020603050405020304"/>
              </a:rPr>
              <a:t>Ready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queue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3050" spc="-55" dirty="0">
                <a:latin typeface="Times New Roman" panose="02020603050405020304"/>
                <a:cs typeface="Times New Roman" panose="02020603050405020304"/>
              </a:rPr>
              <a:t>not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necessarily </a:t>
            </a:r>
            <a:r>
              <a:rPr sz="3050" spc="-229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FIFO</a:t>
            </a:r>
            <a:r>
              <a:rPr sz="3050" spc="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queue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70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It </a:t>
            </a: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be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9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Priority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based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3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34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-3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Tree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2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Unordered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linked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list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etc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472051"/>
            <a:ext cx="50704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Short </a:t>
            </a:r>
            <a:r>
              <a:rPr spc="-325" dirty="0"/>
              <a:t>term</a:t>
            </a:r>
            <a:r>
              <a:rPr spc="-390" dirty="0"/>
              <a:t> </a:t>
            </a:r>
            <a:r>
              <a:rPr spc="-200" dirty="0"/>
              <a:t>Scheduler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1076946" y="1333032"/>
            <a:ext cx="8373109" cy="4927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420" marR="5080" indent="-300355">
              <a:lnSpc>
                <a:spcPct val="101000"/>
              </a:lnSpc>
              <a:spcBef>
                <a:spcPts val="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  <a:tab pos="1428750" algn="l"/>
                <a:tab pos="2279015" algn="l"/>
                <a:tab pos="3375660" algn="l"/>
                <a:tab pos="3974465" algn="l"/>
                <a:tab pos="5451475" algn="l"/>
                <a:tab pos="5878195" algn="l"/>
                <a:tab pos="7232650" algn="l"/>
                <a:tab pos="7926705" algn="l"/>
              </a:tabLst>
            </a:pPr>
            <a:r>
              <a:rPr sz="3050" spc="-409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22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21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25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3050" spc="-24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235" dirty="0">
                <a:latin typeface="Times New Roman" panose="02020603050405020304"/>
                <a:cs typeface="Times New Roman" panose="02020603050405020304"/>
              </a:rPr>
              <a:t>ss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22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6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24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3050" spc="-28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5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22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e  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ready 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execute,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allocates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CPU </a:t>
            </a:r>
            <a:r>
              <a:rPr sz="3050" spc="-2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one </a:t>
            </a:r>
            <a:r>
              <a:rPr sz="3050" spc="-18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0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them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marR="5080" indent="-300355">
              <a:lnSpc>
                <a:spcPct val="101000"/>
              </a:lnSpc>
              <a:spcBef>
                <a:spcPts val="66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  <a:tab pos="1268095" algn="l"/>
                <a:tab pos="3018790" algn="l"/>
                <a:tab pos="4542790" algn="l"/>
                <a:tab pos="5372735" algn="l"/>
                <a:tab pos="6207125" algn="l"/>
                <a:tab pos="7190105" algn="l"/>
                <a:tab pos="8216265" algn="l"/>
              </a:tabLst>
            </a:pP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23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20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du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spc="-24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-23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3050" spc="-22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050" spc="-34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24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22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235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050" spc="-22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a 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process: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1017905" lvl="1" indent="-654050">
              <a:lnSpc>
                <a:spcPct val="100000"/>
              </a:lnSpc>
              <a:spcBef>
                <a:spcPts val="510"/>
              </a:spcBef>
              <a:buAutoNum type="arabicPeriod"/>
              <a:tabLst>
                <a:tab pos="1017905" algn="l"/>
                <a:tab pos="1018540" algn="l"/>
              </a:tabLst>
            </a:pP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Switches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from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running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waiting</a:t>
            </a:r>
            <a:r>
              <a:rPr sz="265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state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1017905" lvl="1" indent="-65405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1017905" algn="l"/>
                <a:tab pos="1018540" algn="l"/>
              </a:tabLst>
            </a:pP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Switches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from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running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ready</a:t>
            </a:r>
            <a:r>
              <a:rPr sz="265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state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1017905" lvl="1" indent="-654050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1017905" algn="l"/>
                <a:tab pos="1018540" algn="l"/>
              </a:tabLst>
            </a:pP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Switches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from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waiting 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65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ready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1017905" lvl="1" indent="-654050">
              <a:lnSpc>
                <a:spcPct val="100000"/>
              </a:lnSpc>
              <a:spcBef>
                <a:spcPts val="435"/>
              </a:spcBef>
              <a:buAutoNum type="arabicPeriod"/>
              <a:tabLst>
                <a:tab pos="1017905" algn="l"/>
                <a:tab pos="1018540" algn="l"/>
              </a:tabLst>
            </a:pP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Terminates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2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Scheduling 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under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1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4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050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b="1" i="1" spc="-7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nonpreemptive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95" dirty="0">
                <a:latin typeface="Times New Roman" panose="02020603050405020304"/>
                <a:cs typeface="Times New Roman" panose="02020603050405020304"/>
              </a:rPr>
              <a:t>All </a:t>
            </a:r>
            <a:r>
              <a:rPr sz="3050" spc="-65" dirty="0">
                <a:latin typeface="Times New Roman" panose="02020603050405020304"/>
                <a:cs typeface="Times New Roman" panose="02020603050405020304"/>
              </a:rPr>
              <a:t>other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scheduling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05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b="1" i="1" spc="-5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preemptive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3724" y="7020572"/>
            <a:ext cx="250317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1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CS-2006 Operating</a:t>
            </a:r>
            <a:r>
              <a:rPr sz="1500" spc="-4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1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Systems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86004" y="7061707"/>
            <a:ext cx="25336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</a:t>
            </a:r>
            <a:r>
              <a:rPr sz="1500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15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293" y="188213"/>
            <a:ext cx="9922764" cy="737006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0798" y="254065"/>
            <a:ext cx="7396480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50" spc="-215" dirty="0"/>
              <a:t>When </a:t>
            </a:r>
            <a:r>
              <a:rPr sz="3750" spc="-295" dirty="0"/>
              <a:t>to </a:t>
            </a:r>
            <a:r>
              <a:rPr sz="3750" spc="-165" dirty="0"/>
              <a:t>select </a:t>
            </a:r>
            <a:r>
              <a:rPr sz="3750" spc="-20" dirty="0"/>
              <a:t>a </a:t>
            </a:r>
            <a:r>
              <a:rPr sz="3750" spc="-300" dirty="0"/>
              <a:t>new </a:t>
            </a:r>
            <a:r>
              <a:rPr sz="3750" spc="-130" dirty="0"/>
              <a:t>process </a:t>
            </a:r>
            <a:r>
              <a:rPr sz="3750" spc="-295" dirty="0"/>
              <a:t>to</a:t>
            </a:r>
            <a:r>
              <a:rPr sz="3750" spc="-425" dirty="0"/>
              <a:t> </a:t>
            </a:r>
            <a:r>
              <a:rPr sz="3750" spc="-145" dirty="0"/>
              <a:t>Run</a:t>
            </a:r>
            <a:endParaRPr sz="3750"/>
          </a:p>
        </p:txBody>
      </p:sp>
      <p:sp>
        <p:nvSpPr>
          <p:cNvPr id="4" name="object 4"/>
          <p:cNvSpPr txBox="1"/>
          <p:nvPr/>
        </p:nvSpPr>
        <p:spPr>
          <a:xfrm>
            <a:off x="255590" y="1361955"/>
            <a:ext cx="266065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2420" algn="l"/>
              </a:tabLst>
            </a:pPr>
            <a:r>
              <a:rPr sz="2250" spc="-1010" dirty="0">
                <a:solidFill>
                  <a:srgbClr val="D34816"/>
                </a:solidFill>
                <a:latin typeface="Webdings" panose="05030102010509060703"/>
                <a:cs typeface="Webdings" panose="05030102010509060703"/>
              </a:rPr>
              <a:t></a:t>
            </a:r>
            <a:r>
              <a:rPr sz="2250" spc="-1010" dirty="0">
                <a:solidFill>
                  <a:srgbClr val="D34816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Four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circumstances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7647" y="3015487"/>
            <a:ext cx="41402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2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5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500" spc="2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w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61072" y="3015487"/>
            <a:ext cx="34925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500" spc="1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15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5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t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5245" y="2699993"/>
            <a:ext cx="4527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300" spc="1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300" spc="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mit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27577" y="2620757"/>
            <a:ext cx="63881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3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300" spc="-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1300" spc="1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3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3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se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58688" y="3015487"/>
            <a:ext cx="75057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2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5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1500" spc="2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5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5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500" spc="2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500" spc="2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g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39744" y="3015487"/>
            <a:ext cx="58737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2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5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500" spc="2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5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500" spc="1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y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36423" y="2523267"/>
            <a:ext cx="67691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Di</a:t>
            </a:r>
            <a:r>
              <a:rPr sz="13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3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300" spc="1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300" spc="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tch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36423" y="3420895"/>
            <a:ext cx="68389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Time-out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42208" y="5926328"/>
            <a:ext cx="71755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Blocked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26751" y="3483863"/>
            <a:ext cx="1986280" cy="2326005"/>
          </a:xfrm>
          <a:custGeom>
            <a:avLst/>
            <a:gdLst/>
            <a:ahLst/>
            <a:cxnLst/>
            <a:rect l="l" t="t" r="r" b="b"/>
            <a:pathLst>
              <a:path w="1986279" h="2326004">
                <a:moveTo>
                  <a:pt x="83832" y="83820"/>
                </a:moveTo>
                <a:lnTo>
                  <a:pt x="69088" y="54864"/>
                </a:lnTo>
                <a:lnTo>
                  <a:pt x="41148" y="0"/>
                </a:lnTo>
                <a:lnTo>
                  <a:pt x="0" y="83820"/>
                </a:lnTo>
                <a:lnTo>
                  <a:pt x="35052" y="59156"/>
                </a:lnTo>
                <a:lnTo>
                  <a:pt x="35052" y="2255520"/>
                </a:lnTo>
                <a:lnTo>
                  <a:pt x="48768" y="2255520"/>
                </a:lnTo>
                <a:lnTo>
                  <a:pt x="48768" y="60045"/>
                </a:lnTo>
                <a:lnTo>
                  <a:pt x="83832" y="83820"/>
                </a:lnTo>
                <a:close/>
              </a:path>
              <a:path w="1986279" h="2326004">
                <a:moveTo>
                  <a:pt x="1985784" y="15252"/>
                </a:moveTo>
                <a:lnTo>
                  <a:pt x="1973592" y="7620"/>
                </a:lnTo>
                <a:lnTo>
                  <a:pt x="593953" y="2262047"/>
                </a:lnTo>
                <a:lnTo>
                  <a:pt x="593953" y="2278316"/>
                </a:lnTo>
                <a:lnTo>
                  <a:pt x="592836" y="2278392"/>
                </a:lnTo>
                <a:lnTo>
                  <a:pt x="592340" y="2277313"/>
                </a:lnTo>
                <a:lnTo>
                  <a:pt x="593953" y="2278316"/>
                </a:lnTo>
                <a:lnTo>
                  <a:pt x="593953" y="2262047"/>
                </a:lnTo>
                <a:lnTo>
                  <a:pt x="589000" y="2270137"/>
                </a:lnTo>
                <a:lnTo>
                  <a:pt x="571500" y="2232672"/>
                </a:lnTo>
                <a:lnTo>
                  <a:pt x="563880" y="2325636"/>
                </a:lnTo>
                <a:lnTo>
                  <a:pt x="633526" y="2281440"/>
                </a:lnTo>
                <a:lnTo>
                  <a:pt x="643128" y="2275344"/>
                </a:lnTo>
                <a:lnTo>
                  <a:pt x="601116" y="2277884"/>
                </a:lnTo>
                <a:lnTo>
                  <a:pt x="1985784" y="152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292359" y="4434349"/>
            <a:ext cx="79502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Event</a:t>
            </a:r>
            <a:r>
              <a:rPr sz="1300" spc="-4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00" spc="-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wait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13462" y="3461702"/>
            <a:ext cx="3112135" cy="1771014"/>
            <a:chOff x="6113462" y="3461702"/>
            <a:chExt cx="3112135" cy="1771014"/>
          </a:xfrm>
        </p:grpSpPr>
        <p:sp>
          <p:nvSpPr>
            <p:cNvPr id="17" name="object 17"/>
            <p:cNvSpPr/>
            <p:nvPr/>
          </p:nvSpPr>
          <p:spPr>
            <a:xfrm>
              <a:off x="6118860" y="3467100"/>
              <a:ext cx="3101340" cy="1760220"/>
            </a:xfrm>
            <a:custGeom>
              <a:avLst/>
              <a:gdLst/>
              <a:ahLst/>
              <a:cxnLst/>
              <a:rect l="l" t="t" r="r" b="b"/>
              <a:pathLst>
                <a:path w="3101340" h="1760220">
                  <a:moveTo>
                    <a:pt x="2808732" y="1760220"/>
                  </a:moveTo>
                  <a:lnTo>
                    <a:pt x="294132" y="1760220"/>
                  </a:lnTo>
                  <a:lnTo>
                    <a:pt x="246641" y="1756388"/>
                  </a:lnTo>
                  <a:lnTo>
                    <a:pt x="201509" y="1745297"/>
                  </a:lnTo>
                  <a:lnTo>
                    <a:pt x="159358" y="1727548"/>
                  </a:lnTo>
                  <a:lnTo>
                    <a:pt x="120810" y="1703746"/>
                  </a:lnTo>
                  <a:lnTo>
                    <a:pt x="86487" y="1674495"/>
                  </a:lnTo>
                  <a:lnTo>
                    <a:pt x="57009" y="1640397"/>
                  </a:lnTo>
                  <a:lnTo>
                    <a:pt x="33000" y="1602056"/>
                  </a:lnTo>
                  <a:lnTo>
                    <a:pt x="15081" y="1560076"/>
                  </a:lnTo>
                  <a:lnTo>
                    <a:pt x="3874" y="1515060"/>
                  </a:lnTo>
                  <a:lnTo>
                    <a:pt x="0" y="1467612"/>
                  </a:lnTo>
                  <a:lnTo>
                    <a:pt x="0" y="294132"/>
                  </a:lnTo>
                  <a:lnTo>
                    <a:pt x="3874" y="246641"/>
                  </a:lnTo>
                  <a:lnTo>
                    <a:pt x="15081" y="201509"/>
                  </a:lnTo>
                  <a:lnTo>
                    <a:pt x="33000" y="159358"/>
                  </a:lnTo>
                  <a:lnTo>
                    <a:pt x="57009" y="120810"/>
                  </a:lnTo>
                  <a:lnTo>
                    <a:pt x="86487" y="86487"/>
                  </a:lnTo>
                  <a:lnTo>
                    <a:pt x="120810" y="57009"/>
                  </a:lnTo>
                  <a:lnTo>
                    <a:pt x="159358" y="33000"/>
                  </a:lnTo>
                  <a:lnTo>
                    <a:pt x="201509" y="15081"/>
                  </a:lnTo>
                  <a:lnTo>
                    <a:pt x="246641" y="3874"/>
                  </a:lnTo>
                  <a:lnTo>
                    <a:pt x="294132" y="0"/>
                  </a:lnTo>
                  <a:lnTo>
                    <a:pt x="2808732" y="0"/>
                  </a:lnTo>
                  <a:lnTo>
                    <a:pt x="2856180" y="3874"/>
                  </a:lnTo>
                  <a:lnTo>
                    <a:pt x="2901196" y="15081"/>
                  </a:lnTo>
                  <a:lnTo>
                    <a:pt x="2943176" y="33000"/>
                  </a:lnTo>
                  <a:lnTo>
                    <a:pt x="2981517" y="57009"/>
                  </a:lnTo>
                  <a:lnTo>
                    <a:pt x="3015615" y="86487"/>
                  </a:lnTo>
                  <a:lnTo>
                    <a:pt x="3044866" y="120810"/>
                  </a:lnTo>
                  <a:lnTo>
                    <a:pt x="3068668" y="159358"/>
                  </a:lnTo>
                  <a:lnTo>
                    <a:pt x="3086417" y="201509"/>
                  </a:lnTo>
                  <a:lnTo>
                    <a:pt x="3097508" y="246641"/>
                  </a:lnTo>
                  <a:lnTo>
                    <a:pt x="3101340" y="294132"/>
                  </a:lnTo>
                  <a:lnTo>
                    <a:pt x="3101340" y="1467612"/>
                  </a:lnTo>
                  <a:lnTo>
                    <a:pt x="3097508" y="1515060"/>
                  </a:lnTo>
                  <a:lnTo>
                    <a:pt x="3086417" y="1560076"/>
                  </a:lnTo>
                  <a:lnTo>
                    <a:pt x="3068668" y="1602056"/>
                  </a:lnTo>
                  <a:lnTo>
                    <a:pt x="3044866" y="1640397"/>
                  </a:lnTo>
                  <a:lnTo>
                    <a:pt x="3015615" y="1674495"/>
                  </a:lnTo>
                  <a:lnTo>
                    <a:pt x="2981517" y="1703746"/>
                  </a:lnTo>
                  <a:lnTo>
                    <a:pt x="2943176" y="1727548"/>
                  </a:lnTo>
                  <a:lnTo>
                    <a:pt x="2901196" y="1745297"/>
                  </a:lnTo>
                  <a:lnTo>
                    <a:pt x="2856180" y="1756388"/>
                  </a:lnTo>
                  <a:lnTo>
                    <a:pt x="2808732" y="176022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118860" y="3467100"/>
              <a:ext cx="3101340" cy="1760220"/>
            </a:xfrm>
            <a:custGeom>
              <a:avLst/>
              <a:gdLst/>
              <a:ahLst/>
              <a:cxnLst/>
              <a:rect l="l" t="t" r="r" b="b"/>
              <a:pathLst>
                <a:path w="3101340" h="1760220">
                  <a:moveTo>
                    <a:pt x="0" y="294132"/>
                  </a:moveTo>
                  <a:lnTo>
                    <a:pt x="3874" y="246641"/>
                  </a:lnTo>
                  <a:lnTo>
                    <a:pt x="15081" y="201509"/>
                  </a:lnTo>
                  <a:lnTo>
                    <a:pt x="33000" y="159358"/>
                  </a:lnTo>
                  <a:lnTo>
                    <a:pt x="57009" y="120810"/>
                  </a:lnTo>
                  <a:lnTo>
                    <a:pt x="86487" y="86487"/>
                  </a:lnTo>
                  <a:lnTo>
                    <a:pt x="120810" y="57009"/>
                  </a:lnTo>
                  <a:lnTo>
                    <a:pt x="159358" y="33000"/>
                  </a:lnTo>
                  <a:lnTo>
                    <a:pt x="201509" y="15081"/>
                  </a:lnTo>
                  <a:lnTo>
                    <a:pt x="246641" y="3874"/>
                  </a:lnTo>
                  <a:lnTo>
                    <a:pt x="294132" y="0"/>
                  </a:lnTo>
                  <a:lnTo>
                    <a:pt x="518159" y="0"/>
                  </a:lnTo>
                  <a:lnTo>
                    <a:pt x="1292352" y="0"/>
                  </a:lnTo>
                  <a:lnTo>
                    <a:pt x="2808732" y="0"/>
                  </a:lnTo>
                  <a:lnTo>
                    <a:pt x="2856180" y="3874"/>
                  </a:lnTo>
                  <a:lnTo>
                    <a:pt x="2901196" y="15081"/>
                  </a:lnTo>
                  <a:lnTo>
                    <a:pt x="2943176" y="33000"/>
                  </a:lnTo>
                  <a:lnTo>
                    <a:pt x="2981517" y="57009"/>
                  </a:lnTo>
                  <a:lnTo>
                    <a:pt x="3015615" y="86487"/>
                  </a:lnTo>
                  <a:lnTo>
                    <a:pt x="3044866" y="120810"/>
                  </a:lnTo>
                  <a:lnTo>
                    <a:pt x="3068668" y="159358"/>
                  </a:lnTo>
                  <a:lnTo>
                    <a:pt x="3086416" y="201509"/>
                  </a:lnTo>
                  <a:lnTo>
                    <a:pt x="3097508" y="246641"/>
                  </a:lnTo>
                  <a:lnTo>
                    <a:pt x="3101340" y="294132"/>
                  </a:lnTo>
                  <a:lnTo>
                    <a:pt x="3101340" y="1027176"/>
                  </a:lnTo>
                  <a:lnTo>
                    <a:pt x="3101340" y="1467612"/>
                  </a:lnTo>
                  <a:lnTo>
                    <a:pt x="3097508" y="1515060"/>
                  </a:lnTo>
                  <a:lnTo>
                    <a:pt x="3086416" y="1560076"/>
                  </a:lnTo>
                  <a:lnTo>
                    <a:pt x="3068668" y="1602056"/>
                  </a:lnTo>
                  <a:lnTo>
                    <a:pt x="3044866" y="1640397"/>
                  </a:lnTo>
                  <a:lnTo>
                    <a:pt x="3015615" y="1674495"/>
                  </a:lnTo>
                  <a:lnTo>
                    <a:pt x="2981517" y="1703746"/>
                  </a:lnTo>
                  <a:lnTo>
                    <a:pt x="2943176" y="1727548"/>
                  </a:lnTo>
                  <a:lnTo>
                    <a:pt x="2901196" y="1745296"/>
                  </a:lnTo>
                  <a:lnTo>
                    <a:pt x="2856180" y="1756388"/>
                  </a:lnTo>
                  <a:lnTo>
                    <a:pt x="2808732" y="1760220"/>
                  </a:lnTo>
                  <a:lnTo>
                    <a:pt x="1292352" y="1760220"/>
                  </a:lnTo>
                  <a:lnTo>
                    <a:pt x="1048512" y="1760220"/>
                  </a:lnTo>
                  <a:lnTo>
                    <a:pt x="518159" y="1760220"/>
                  </a:lnTo>
                  <a:lnTo>
                    <a:pt x="294132" y="1760220"/>
                  </a:lnTo>
                  <a:lnTo>
                    <a:pt x="246641" y="1756388"/>
                  </a:lnTo>
                  <a:lnTo>
                    <a:pt x="201509" y="1745296"/>
                  </a:lnTo>
                  <a:lnTo>
                    <a:pt x="159358" y="1727548"/>
                  </a:lnTo>
                  <a:lnTo>
                    <a:pt x="120810" y="1703746"/>
                  </a:lnTo>
                  <a:lnTo>
                    <a:pt x="86486" y="1674495"/>
                  </a:lnTo>
                  <a:lnTo>
                    <a:pt x="57009" y="1640397"/>
                  </a:lnTo>
                  <a:lnTo>
                    <a:pt x="33000" y="1602056"/>
                  </a:lnTo>
                  <a:lnTo>
                    <a:pt x="15081" y="1560076"/>
                  </a:lnTo>
                  <a:lnTo>
                    <a:pt x="3874" y="1515060"/>
                  </a:lnTo>
                  <a:lnTo>
                    <a:pt x="0" y="1467612"/>
                  </a:lnTo>
                  <a:lnTo>
                    <a:pt x="0" y="1027176"/>
                  </a:lnTo>
                  <a:lnTo>
                    <a:pt x="0" y="294132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484033" y="3582373"/>
            <a:ext cx="2371090" cy="1365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735">
              <a:lnSpc>
                <a:spcPts val="2545"/>
              </a:lnSpc>
              <a:spcBef>
                <a:spcPts val="95"/>
              </a:spcBef>
            </a:pPr>
            <a:r>
              <a:rPr sz="220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1.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Wait </a:t>
            </a:r>
            <a:r>
              <a:rPr sz="2200" dirty="0">
                <a:latin typeface="Arial" panose="020B0604020202020204"/>
                <a:cs typeface="Arial" panose="020B0604020202020204"/>
              </a:rPr>
              <a:t>for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I/O/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635" algn="ctr">
              <a:lnSpc>
                <a:spcPts val="2545"/>
              </a:lnSpc>
            </a:pPr>
            <a:r>
              <a:rPr sz="2200" spc="-5" dirty="0">
                <a:latin typeface="Courier New" panose="02070309020205020404"/>
                <a:cs typeface="Courier New" panose="02070309020205020404"/>
              </a:rPr>
              <a:t>waitpid()/</a:t>
            </a:r>
            <a:endParaRPr sz="2200">
              <a:latin typeface="Courier New" panose="02070309020205020404"/>
              <a:cs typeface="Courier New" panose="02070309020205020404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2200" spc="-10" dirty="0">
                <a:latin typeface="Courier New" panose="02070309020205020404"/>
                <a:cs typeface="Courier New" panose="02070309020205020404"/>
              </a:rPr>
              <a:t>P()/</a:t>
            </a:r>
            <a:r>
              <a:rPr sz="2200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200" spc="-10" dirty="0">
                <a:latin typeface="Courier New" panose="02070309020205020404"/>
                <a:cs typeface="Courier New" panose="02070309020205020404"/>
              </a:rPr>
              <a:t>Acquire()</a:t>
            </a:r>
            <a:endParaRPr sz="2200">
              <a:latin typeface="Courier New" panose="02070309020205020404"/>
              <a:cs typeface="Courier New" panose="02070309020205020404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2200" spc="-5" dirty="0">
                <a:latin typeface="Arial" panose="020B0604020202020204"/>
                <a:cs typeface="Arial" panose="020B0604020202020204"/>
              </a:rPr>
              <a:t>etc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77739" y="947102"/>
            <a:ext cx="5034915" cy="4233545"/>
            <a:chOff x="4777739" y="947102"/>
            <a:chExt cx="5034915" cy="4233545"/>
          </a:xfrm>
        </p:grpSpPr>
        <p:sp>
          <p:nvSpPr>
            <p:cNvPr id="21" name="object 21"/>
            <p:cNvSpPr/>
            <p:nvPr/>
          </p:nvSpPr>
          <p:spPr>
            <a:xfrm>
              <a:off x="4777739" y="4960619"/>
              <a:ext cx="1511935" cy="219710"/>
            </a:xfrm>
            <a:custGeom>
              <a:avLst/>
              <a:gdLst/>
              <a:ahLst/>
              <a:cxnLst/>
              <a:rect l="l" t="t" r="r" b="b"/>
              <a:pathLst>
                <a:path w="1511935" h="219710">
                  <a:moveTo>
                    <a:pt x="1386840" y="45720"/>
                  </a:moveTo>
                  <a:lnTo>
                    <a:pt x="1382268" y="13716"/>
                  </a:lnTo>
                  <a:lnTo>
                    <a:pt x="1507236" y="0"/>
                  </a:lnTo>
                  <a:lnTo>
                    <a:pt x="1511808" y="32004"/>
                  </a:lnTo>
                  <a:lnTo>
                    <a:pt x="1386840" y="45720"/>
                  </a:lnTo>
                  <a:close/>
                </a:path>
                <a:path w="1511935" h="219710">
                  <a:moveTo>
                    <a:pt x="1167384" y="70104"/>
                  </a:moveTo>
                  <a:lnTo>
                    <a:pt x="1164336" y="38100"/>
                  </a:lnTo>
                  <a:lnTo>
                    <a:pt x="1289304" y="24384"/>
                  </a:lnTo>
                  <a:lnTo>
                    <a:pt x="1292352" y="56388"/>
                  </a:lnTo>
                  <a:lnTo>
                    <a:pt x="1167384" y="70104"/>
                  </a:lnTo>
                  <a:close/>
                </a:path>
                <a:path w="1511935" h="219710">
                  <a:moveTo>
                    <a:pt x="949452" y="94488"/>
                  </a:moveTo>
                  <a:lnTo>
                    <a:pt x="944880" y="62484"/>
                  </a:lnTo>
                  <a:lnTo>
                    <a:pt x="1069848" y="48768"/>
                  </a:lnTo>
                  <a:lnTo>
                    <a:pt x="1074420" y="80772"/>
                  </a:lnTo>
                  <a:lnTo>
                    <a:pt x="949452" y="94488"/>
                  </a:lnTo>
                  <a:close/>
                </a:path>
                <a:path w="1511935" h="219710">
                  <a:moveTo>
                    <a:pt x="729996" y="118872"/>
                  </a:moveTo>
                  <a:lnTo>
                    <a:pt x="726948" y="86868"/>
                  </a:lnTo>
                  <a:lnTo>
                    <a:pt x="851916" y="73152"/>
                  </a:lnTo>
                  <a:lnTo>
                    <a:pt x="854964" y="105156"/>
                  </a:lnTo>
                  <a:lnTo>
                    <a:pt x="729996" y="118872"/>
                  </a:lnTo>
                  <a:close/>
                </a:path>
                <a:path w="1511935" h="219710">
                  <a:moveTo>
                    <a:pt x="512064" y="143256"/>
                  </a:moveTo>
                  <a:lnTo>
                    <a:pt x="507492" y="111252"/>
                  </a:lnTo>
                  <a:lnTo>
                    <a:pt x="632460" y="97536"/>
                  </a:lnTo>
                  <a:lnTo>
                    <a:pt x="637032" y="128016"/>
                  </a:lnTo>
                  <a:lnTo>
                    <a:pt x="512064" y="143256"/>
                  </a:lnTo>
                  <a:close/>
                </a:path>
                <a:path w="1511935" h="219710">
                  <a:moveTo>
                    <a:pt x="292608" y="167640"/>
                  </a:moveTo>
                  <a:lnTo>
                    <a:pt x="289560" y="135636"/>
                  </a:lnTo>
                  <a:lnTo>
                    <a:pt x="414528" y="121920"/>
                  </a:lnTo>
                  <a:lnTo>
                    <a:pt x="417576" y="152400"/>
                  </a:lnTo>
                  <a:lnTo>
                    <a:pt x="292608" y="167640"/>
                  </a:lnTo>
                  <a:close/>
                </a:path>
                <a:path w="1511935" h="219710">
                  <a:moveTo>
                    <a:pt x="99060" y="219456"/>
                  </a:moveTo>
                  <a:lnTo>
                    <a:pt x="0" y="182880"/>
                  </a:lnTo>
                  <a:lnTo>
                    <a:pt x="89916" y="126492"/>
                  </a:lnTo>
                  <a:lnTo>
                    <a:pt x="93037" y="158230"/>
                  </a:lnTo>
                  <a:lnTo>
                    <a:pt x="77724" y="160020"/>
                  </a:lnTo>
                  <a:lnTo>
                    <a:pt x="80772" y="190500"/>
                  </a:lnTo>
                  <a:lnTo>
                    <a:pt x="96211" y="190500"/>
                  </a:lnTo>
                  <a:lnTo>
                    <a:pt x="99060" y="219456"/>
                  </a:lnTo>
                  <a:close/>
                </a:path>
                <a:path w="1511935" h="219710">
                  <a:moveTo>
                    <a:pt x="96038" y="188738"/>
                  </a:moveTo>
                  <a:lnTo>
                    <a:pt x="93037" y="158230"/>
                  </a:lnTo>
                  <a:lnTo>
                    <a:pt x="195072" y="146304"/>
                  </a:lnTo>
                  <a:lnTo>
                    <a:pt x="199644" y="176784"/>
                  </a:lnTo>
                  <a:lnTo>
                    <a:pt x="96038" y="188738"/>
                  </a:lnTo>
                  <a:close/>
                </a:path>
                <a:path w="1511935" h="219710">
                  <a:moveTo>
                    <a:pt x="80772" y="190500"/>
                  </a:moveTo>
                  <a:lnTo>
                    <a:pt x="77724" y="160020"/>
                  </a:lnTo>
                  <a:lnTo>
                    <a:pt x="93037" y="158230"/>
                  </a:lnTo>
                  <a:lnTo>
                    <a:pt x="96038" y="188738"/>
                  </a:lnTo>
                  <a:lnTo>
                    <a:pt x="80772" y="190500"/>
                  </a:lnTo>
                  <a:close/>
                </a:path>
                <a:path w="1511935" h="219710">
                  <a:moveTo>
                    <a:pt x="96211" y="190500"/>
                  </a:moveTo>
                  <a:lnTo>
                    <a:pt x="80772" y="190500"/>
                  </a:lnTo>
                  <a:lnTo>
                    <a:pt x="96038" y="188738"/>
                  </a:lnTo>
                  <a:lnTo>
                    <a:pt x="96211" y="190500"/>
                  </a:lnTo>
                  <a:close/>
                </a:path>
              </a:pathLst>
            </a:custGeom>
            <a:solidFill>
              <a:srgbClr val="CC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621779" y="952499"/>
              <a:ext cx="3185160" cy="1676400"/>
            </a:xfrm>
            <a:custGeom>
              <a:avLst/>
              <a:gdLst/>
              <a:ahLst/>
              <a:cxnLst/>
              <a:rect l="l" t="t" r="r" b="b"/>
              <a:pathLst>
                <a:path w="3185159" h="1676400">
                  <a:moveTo>
                    <a:pt x="2906268" y="1676400"/>
                  </a:moveTo>
                  <a:lnTo>
                    <a:pt x="280416" y="1676400"/>
                  </a:lnTo>
                  <a:lnTo>
                    <a:pt x="235160" y="1672747"/>
                  </a:lnTo>
                  <a:lnTo>
                    <a:pt x="192145" y="1662171"/>
                  </a:lnTo>
                  <a:lnTo>
                    <a:pt x="151965" y="1645251"/>
                  </a:lnTo>
                  <a:lnTo>
                    <a:pt x="115214" y="1622560"/>
                  </a:lnTo>
                  <a:lnTo>
                    <a:pt x="82486" y="1594675"/>
                  </a:lnTo>
                  <a:lnTo>
                    <a:pt x="54376" y="1562173"/>
                  </a:lnTo>
                  <a:lnTo>
                    <a:pt x="31478" y="1525629"/>
                  </a:lnTo>
                  <a:lnTo>
                    <a:pt x="14386" y="1485619"/>
                  </a:lnTo>
                  <a:lnTo>
                    <a:pt x="3695" y="1442720"/>
                  </a:lnTo>
                  <a:lnTo>
                    <a:pt x="0" y="1397508"/>
                  </a:lnTo>
                  <a:lnTo>
                    <a:pt x="0" y="280416"/>
                  </a:lnTo>
                  <a:lnTo>
                    <a:pt x="3695" y="235160"/>
                  </a:lnTo>
                  <a:lnTo>
                    <a:pt x="14386" y="192145"/>
                  </a:lnTo>
                  <a:lnTo>
                    <a:pt x="31478" y="151965"/>
                  </a:lnTo>
                  <a:lnTo>
                    <a:pt x="54376" y="115214"/>
                  </a:lnTo>
                  <a:lnTo>
                    <a:pt x="82486" y="82486"/>
                  </a:lnTo>
                  <a:lnTo>
                    <a:pt x="115214" y="54376"/>
                  </a:lnTo>
                  <a:lnTo>
                    <a:pt x="151965" y="31478"/>
                  </a:lnTo>
                  <a:lnTo>
                    <a:pt x="192145" y="14386"/>
                  </a:lnTo>
                  <a:lnTo>
                    <a:pt x="235160" y="3695"/>
                  </a:lnTo>
                  <a:lnTo>
                    <a:pt x="280416" y="0"/>
                  </a:lnTo>
                  <a:lnTo>
                    <a:pt x="2906268" y="0"/>
                  </a:lnTo>
                  <a:lnTo>
                    <a:pt x="2951480" y="3695"/>
                  </a:lnTo>
                  <a:lnTo>
                    <a:pt x="2994379" y="14386"/>
                  </a:lnTo>
                  <a:lnTo>
                    <a:pt x="3034389" y="31478"/>
                  </a:lnTo>
                  <a:lnTo>
                    <a:pt x="3070933" y="54376"/>
                  </a:lnTo>
                  <a:lnTo>
                    <a:pt x="3103435" y="82486"/>
                  </a:lnTo>
                  <a:lnTo>
                    <a:pt x="3131320" y="115214"/>
                  </a:lnTo>
                  <a:lnTo>
                    <a:pt x="3154011" y="151965"/>
                  </a:lnTo>
                  <a:lnTo>
                    <a:pt x="3170932" y="192145"/>
                  </a:lnTo>
                  <a:lnTo>
                    <a:pt x="3181507" y="235160"/>
                  </a:lnTo>
                  <a:lnTo>
                    <a:pt x="3185160" y="280416"/>
                  </a:lnTo>
                  <a:lnTo>
                    <a:pt x="3185160" y="1397508"/>
                  </a:lnTo>
                  <a:lnTo>
                    <a:pt x="3181507" y="1442720"/>
                  </a:lnTo>
                  <a:lnTo>
                    <a:pt x="3170932" y="1485619"/>
                  </a:lnTo>
                  <a:lnTo>
                    <a:pt x="3154011" y="1525629"/>
                  </a:lnTo>
                  <a:lnTo>
                    <a:pt x="3131320" y="1562173"/>
                  </a:lnTo>
                  <a:lnTo>
                    <a:pt x="3103435" y="1594675"/>
                  </a:lnTo>
                  <a:lnTo>
                    <a:pt x="3070933" y="1622560"/>
                  </a:lnTo>
                  <a:lnTo>
                    <a:pt x="3034389" y="1645251"/>
                  </a:lnTo>
                  <a:lnTo>
                    <a:pt x="2994379" y="1662171"/>
                  </a:lnTo>
                  <a:lnTo>
                    <a:pt x="2951480" y="1672747"/>
                  </a:lnTo>
                  <a:lnTo>
                    <a:pt x="2906268" y="16764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621779" y="952499"/>
              <a:ext cx="3185160" cy="1676400"/>
            </a:xfrm>
            <a:custGeom>
              <a:avLst/>
              <a:gdLst/>
              <a:ahLst/>
              <a:cxnLst/>
              <a:rect l="l" t="t" r="r" b="b"/>
              <a:pathLst>
                <a:path w="3185159" h="1676400">
                  <a:moveTo>
                    <a:pt x="0" y="280416"/>
                  </a:moveTo>
                  <a:lnTo>
                    <a:pt x="3695" y="235160"/>
                  </a:lnTo>
                  <a:lnTo>
                    <a:pt x="14386" y="192145"/>
                  </a:lnTo>
                  <a:lnTo>
                    <a:pt x="31478" y="151965"/>
                  </a:lnTo>
                  <a:lnTo>
                    <a:pt x="54376" y="115214"/>
                  </a:lnTo>
                  <a:lnTo>
                    <a:pt x="82486" y="82486"/>
                  </a:lnTo>
                  <a:lnTo>
                    <a:pt x="115214" y="54376"/>
                  </a:lnTo>
                  <a:lnTo>
                    <a:pt x="151965" y="31478"/>
                  </a:lnTo>
                  <a:lnTo>
                    <a:pt x="192145" y="14386"/>
                  </a:lnTo>
                  <a:lnTo>
                    <a:pt x="235160" y="3695"/>
                  </a:lnTo>
                  <a:lnTo>
                    <a:pt x="280416" y="0"/>
                  </a:lnTo>
                  <a:lnTo>
                    <a:pt x="531876" y="0"/>
                  </a:lnTo>
                  <a:lnTo>
                    <a:pt x="1327404" y="0"/>
                  </a:lnTo>
                  <a:lnTo>
                    <a:pt x="2906268" y="0"/>
                  </a:lnTo>
                  <a:lnTo>
                    <a:pt x="2951480" y="3695"/>
                  </a:lnTo>
                  <a:lnTo>
                    <a:pt x="2994379" y="14386"/>
                  </a:lnTo>
                  <a:lnTo>
                    <a:pt x="3034389" y="31478"/>
                  </a:lnTo>
                  <a:lnTo>
                    <a:pt x="3070933" y="54376"/>
                  </a:lnTo>
                  <a:lnTo>
                    <a:pt x="3103435" y="82486"/>
                  </a:lnTo>
                  <a:lnTo>
                    <a:pt x="3131320" y="115214"/>
                  </a:lnTo>
                  <a:lnTo>
                    <a:pt x="3154010" y="151965"/>
                  </a:lnTo>
                  <a:lnTo>
                    <a:pt x="3170931" y="192145"/>
                  </a:lnTo>
                  <a:lnTo>
                    <a:pt x="3181506" y="235160"/>
                  </a:lnTo>
                  <a:lnTo>
                    <a:pt x="3185160" y="280416"/>
                  </a:lnTo>
                  <a:lnTo>
                    <a:pt x="3185160" y="978408"/>
                  </a:lnTo>
                  <a:lnTo>
                    <a:pt x="3185160" y="1397508"/>
                  </a:lnTo>
                  <a:lnTo>
                    <a:pt x="3181506" y="1442720"/>
                  </a:lnTo>
                  <a:lnTo>
                    <a:pt x="3170931" y="1485619"/>
                  </a:lnTo>
                  <a:lnTo>
                    <a:pt x="3154010" y="1525629"/>
                  </a:lnTo>
                  <a:lnTo>
                    <a:pt x="3131320" y="1562173"/>
                  </a:lnTo>
                  <a:lnTo>
                    <a:pt x="3103435" y="1594675"/>
                  </a:lnTo>
                  <a:lnTo>
                    <a:pt x="3070933" y="1622560"/>
                  </a:lnTo>
                  <a:lnTo>
                    <a:pt x="3034389" y="1645250"/>
                  </a:lnTo>
                  <a:lnTo>
                    <a:pt x="2994379" y="1662171"/>
                  </a:lnTo>
                  <a:lnTo>
                    <a:pt x="2951480" y="1672746"/>
                  </a:lnTo>
                  <a:lnTo>
                    <a:pt x="2906268" y="1676400"/>
                  </a:lnTo>
                  <a:lnTo>
                    <a:pt x="1327404" y="1676400"/>
                  </a:lnTo>
                  <a:lnTo>
                    <a:pt x="670560" y="1676400"/>
                  </a:lnTo>
                  <a:lnTo>
                    <a:pt x="531876" y="1676400"/>
                  </a:lnTo>
                  <a:lnTo>
                    <a:pt x="280416" y="1676400"/>
                  </a:lnTo>
                  <a:lnTo>
                    <a:pt x="235160" y="1672746"/>
                  </a:lnTo>
                  <a:lnTo>
                    <a:pt x="192145" y="1662171"/>
                  </a:lnTo>
                  <a:lnTo>
                    <a:pt x="151965" y="1645250"/>
                  </a:lnTo>
                  <a:lnTo>
                    <a:pt x="115214" y="1622560"/>
                  </a:lnTo>
                  <a:lnTo>
                    <a:pt x="82486" y="1594675"/>
                  </a:lnTo>
                  <a:lnTo>
                    <a:pt x="54376" y="1562173"/>
                  </a:lnTo>
                  <a:lnTo>
                    <a:pt x="31478" y="1525629"/>
                  </a:lnTo>
                  <a:lnTo>
                    <a:pt x="14386" y="1485619"/>
                  </a:lnTo>
                  <a:lnTo>
                    <a:pt x="3695" y="1442720"/>
                  </a:lnTo>
                  <a:lnTo>
                    <a:pt x="0" y="1397508"/>
                  </a:lnTo>
                  <a:lnTo>
                    <a:pt x="0" y="978408"/>
                  </a:lnTo>
                  <a:lnTo>
                    <a:pt x="0" y="280416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7038818" y="1064732"/>
            <a:ext cx="23507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2. 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Interrupt</a:t>
            </a:r>
            <a:r>
              <a:rPr sz="2200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occurs,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28561" y="1400000"/>
            <a:ext cx="27717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82980" marR="5080" indent="-970915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Arial" panose="020B0604020202020204"/>
                <a:cs typeface="Arial" panose="020B0604020202020204"/>
              </a:rPr>
              <a:t>move from Running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to  Ready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13702" y="2363723"/>
            <a:ext cx="6299835" cy="3382645"/>
            <a:chOff x="413702" y="2363723"/>
            <a:chExt cx="6299835" cy="3382645"/>
          </a:xfrm>
        </p:grpSpPr>
        <p:sp>
          <p:nvSpPr>
            <p:cNvPr id="27" name="object 27"/>
            <p:cNvSpPr/>
            <p:nvPr/>
          </p:nvSpPr>
          <p:spPr>
            <a:xfrm>
              <a:off x="5029199" y="2363723"/>
              <a:ext cx="1684020" cy="890269"/>
            </a:xfrm>
            <a:custGeom>
              <a:avLst/>
              <a:gdLst/>
              <a:ahLst/>
              <a:cxnLst/>
              <a:rect l="l" t="t" r="r" b="b"/>
              <a:pathLst>
                <a:path w="1684020" h="890270">
                  <a:moveTo>
                    <a:pt x="1572768" y="86868"/>
                  </a:moveTo>
                  <a:lnTo>
                    <a:pt x="1559052" y="57912"/>
                  </a:lnTo>
                  <a:lnTo>
                    <a:pt x="1670304" y="0"/>
                  </a:lnTo>
                  <a:lnTo>
                    <a:pt x="1684020" y="28956"/>
                  </a:lnTo>
                  <a:lnTo>
                    <a:pt x="1572768" y="86868"/>
                  </a:lnTo>
                  <a:close/>
                </a:path>
                <a:path w="1684020" h="890270">
                  <a:moveTo>
                    <a:pt x="1377696" y="188976"/>
                  </a:moveTo>
                  <a:lnTo>
                    <a:pt x="1363980" y="160020"/>
                  </a:lnTo>
                  <a:lnTo>
                    <a:pt x="1475232" y="102108"/>
                  </a:lnTo>
                  <a:lnTo>
                    <a:pt x="1488948" y="129540"/>
                  </a:lnTo>
                  <a:lnTo>
                    <a:pt x="1377696" y="188976"/>
                  </a:lnTo>
                  <a:close/>
                </a:path>
                <a:path w="1684020" h="890270">
                  <a:moveTo>
                    <a:pt x="1182624" y="289560"/>
                  </a:moveTo>
                  <a:lnTo>
                    <a:pt x="1168908" y="262128"/>
                  </a:lnTo>
                  <a:lnTo>
                    <a:pt x="1280160" y="204216"/>
                  </a:lnTo>
                  <a:lnTo>
                    <a:pt x="1293876" y="231648"/>
                  </a:lnTo>
                  <a:lnTo>
                    <a:pt x="1182624" y="289560"/>
                  </a:lnTo>
                  <a:close/>
                </a:path>
                <a:path w="1684020" h="890270">
                  <a:moveTo>
                    <a:pt x="987552" y="391668"/>
                  </a:moveTo>
                  <a:lnTo>
                    <a:pt x="973836" y="364236"/>
                  </a:lnTo>
                  <a:lnTo>
                    <a:pt x="1085088" y="306324"/>
                  </a:lnTo>
                  <a:lnTo>
                    <a:pt x="1098804" y="333756"/>
                  </a:lnTo>
                  <a:lnTo>
                    <a:pt x="987552" y="391668"/>
                  </a:lnTo>
                  <a:close/>
                </a:path>
                <a:path w="1684020" h="890270">
                  <a:moveTo>
                    <a:pt x="792480" y="493776"/>
                  </a:moveTo>
                  <a:lnTo>
                    <a:pt x="778764" y="466344"/>
                  </a:lnTo>
                  <a:lnTo>
                    <a:pt x="890016" y="408432"/>
                  </a:lnTo>
                  <a:lnTo>
                    <a:pt x="903732" y="435864"/>
                  </a:lnTo>
                  <a:lnTo>
                    <a:pt x="792480" y="493776"/>
                  </a:lnTo>
                  <a:close/>
                </a:path>
                <a:path w="1684020" h="890270">
                  <a:moveTo>
                    <a:pt x="597408" y="595884"/>
                  </a:moveTo>
                  <a:lnTo>
                    <a:pt x="583692" y="566928"/>
                  </a:lnTo>
                  <a:lnTo>
                    <a:pt x="694944" y="509016"/>
                  </a:lnTo>
                  <a:lnTo>
                    <a:pt x="708660" y="537972"/>
                  </a:lnTo>
                  <a:lnTo>
                    <a:pt x="597408" y="595884"/>
                  </a:lnTo>
                  <a:close/>
                </a:path>
                <a:path w="1684020" h="890270">
                  <a:moveTo>
                    <a:pt x="402336" y="697992"/>
                  </a:moveTo>
                  <a:lnTo>
                    <a:pt x="388620" y="669036"/>
                  </a:lnTo>
                  <a:lnTo>
                    <a:pt x="499872" y="611124"/>
                  </a:lnTo>
                  <a:lnTo>
                    <a:pt x="513588" y="638556"/>
                  </a:lnTo>
                  <a:lnTo>
                    <a:pt x="402336" y="697992"/>
                  </a:lnTo>
                  <a:close/>
                </a:path>
                <a:path w="1684020" h="890270">
                  <a:moveTo>
                    <a:pt x="207264" y="798576"/>
                  </a:moveTo>
                  <a:lnTo>
                    <a:pt x="193548" y="771144"/>
                  </a:lnTo>
                  <a:lnTo>
                    <a:pt x="304800" y="713232"/>
                  </a:lnTo>
                  <a:lnTo>
                    <a:pt x="318516" y="740664"/>
                  </a:lnTo>
                  <a:lnTo>
                    <a:pt x="207264" y="798576"/>
                  </a:lnTo>
                  <a:close/>
                </a:path>
                <a:path w="1684020" h="890270">
                  <a:moveTo>
                    <a:pt x="0" y="890016"/>
                  </a:moveTo>
                  <a:lnTo>
                    <a:pt x="62484" y="803148"/>
                  </a:lnTo>
                  <a:lnTo>
                    <a:pt x="77643" y="831899"/>
                  </a:lnTo>
                  <a:lnTo>
                    <a:pt x="62484" y="839724"/>
                  </a:lnTo>
                  <a:lnTo>
                    <a:pt x="77724" y="867156"/>
                  </a:lnTo>
                  <a:lnTo>
                    <a:pt x="96233" y="867156"/>
                  </a:lnTo>
                  <a:lnTo>
                    <a:pt x="106680" y="886968"/>
                  </a:lnTo>
                  <a:lnTo>
                    <a:pt x="0" y="890016"/>
                  </a:lnTo>
                  <a:close/>
                </a:path>
                <a:path w="1684020" h="890270">
                  <a:moveTo>
                    <a:pt x="92171" y="859450"/>
                  </a:moveTo>
                  <a:lnTo>
                    <a:pt x="77643" y="831899"/>
                  </a:lnTo>
                  <a:lnTo>
                    <a:pt x="109728" y="815340"/>
                  </a:lnTo>
                  <a:lnTo>
                    <a:pt x="123444" y="842772"/>
                  </a:lnTo>
                  <a:lnTo>
                    <a:pt x="92171" y="859450"/>
                  </a:lnTo>
                  <a:close/>
                </a:path>
                <a:path w="1684020" h="890270">
                  <a:moveTo>
                    <a:pt x="77724" y="867156"/>
                  </a:moveTo>
                  <a:lnTo>
                    <a:pt x="62484" y="839724"/>
                  </a:lnTo>
                  <a:lnTo>
                    <a:pt x="77643" y="831899"/>
                  </a:lnTo>
                  <a:lnTo>
                    <a:pt x="92171" y="859450"/>
                  </a:lnTo>
                  <a:lnTo>
                    <a:pt x="77724" y="867156"/>
                  </a:lnTo>
                  <a:close/>
                </a:path>
                <a:path w="1684020" h="890270">
                  <a:moveTo>
                    <a:pt x="96233" y="867156"/>
                  </a:moveTo>
                  <a:lnTo>
                    <a:pt x="77724" y="867156"/>
                  </a:lnTo>
                  <a:lnTo>
                    <a:pt x="92171" y="859450"/>
                  </a:lnTo>
                  <a:lnTo>
                    <a:pt x="96233" y="867156"/>
                  </a:lnTo>
                  <a:close/>
                </a:path>
              </a:pathLst>
            </a:custGeom>
            <a:solidFill>
              <a:srgbClr val="CC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19100" y="3970019"/>
              <a:ext cx="3185160" cy="1771014"/>
            </a:xfrm>
            <a:custGeom>
              <a:avLst/>
              <a:gdLst/>
              <a:ahLst/>
              <a:cxnLst/>
              <a:rect l="l" t="t" r="r" b="b"/>
              <a:pathLst>
                <a:path w="3185160" h="1771014">
                  <a:moveTo>
                    <a:pt x="2892552" y="1760220"/>
                  </a:moveTo>
                  <a:lnTo>
                    <a:pt x="294132" y="1760220"/>
                  </a:lnTo>
                  <a:lnTo>
                    <a:pt x="246641" y="1756388"/>
                  </a:lnTo>
                  <a:lnTo>
                    <a:pt x="201509" y="1745297"/>
                  </a:lnTo>
                  <a:lnTo>
                    <a:pt x="159358" y="1727548"/>
                  </a:lnTo>
                  <a:lnTo>
                    <a:pt x="120810" y="1703746"/>
                  </a:lnTo>
                  <a:lnTo>
                    <a:pt x="86487" y="1674495"/>
                  </a:lnTo>
                  <a:lnTo>
                    <a:pt x="57009" y="1640397"/>
                  </a:lnTo>
                  <a:lnTo>
                    <a:pt x="33000" y="1602056"/>
                  </a:lnTo>
                  <a:lnTo>
                    <a:pt x="15081" y="1560076"/>
                  </a:lnTo>
                  <a:lnTo>
                    <a:pt x="3874" y="1515060"/>
                  </a:lnTo>
                  <a:lnTo>
                    <a:pt x="0" y="1467612"/>
                  </a:lnTo>
                  <a:lnTo>
                    <a:pt x="0" y="294132"/>
                  </a:lnTo>
                  <a:lnTo>
                    <a:pt x="3874" y="246641"/>
                  </a:lnTo>
                  <a:lnTo>
                    <a:pt x="15081" y="201509"/>
                  </a:lnTo>
                  <a:lnTo>
                    <a:pt x="33000" y="159358"/>
                  </a:lnTo>
                  <a:lnTo>
                    <a:pt x="57009" y="120810"/>
                  </a:lnTo>
                  <a:lnTo>
                    <a:pt x="86487" y="86487"/>
                  </a:lnTo>
                  <a:lnTo>
                    <a:pt x="120810" y="57009"/>
                  </a:lnTo>
                  <a:lnTo>
                    <a:pt x="159358" y="33000"/>
                  </a:lnTo>
                  <a:lnTo>
                    <a:pt x="201509" y="15081"/>
                  </a:lnTo>
                  <a:lnTo>
                    <a:pt x="246641" y="3874"/>
                  </a:lnTo>
                  <a:lnTo>
                    <a:pt x="294132" y="0"/>
                  </a:lnTo>
                  <a:lnTo>
                    <a:pt x="2892552" y="0"/>
                  </a:lnTo>
                  <a:lnTo>
                    <a:pt x="2940000" y="3874"/>
                  </a:lnTo>
                  <a:lnTo>
                    <a:pt x="2985016" y="15081"/>
                  </a:lnTo>
                  <a:lnTo>
                    <a:pt x="3026996" y="33000"/>
                  </a:lnTo>
                  <a:lnTo>
                    <a:pt x="3065337" y="57009"/>
                  </a:lnTo>
                  <a:lnTo>
                    <a:pt x="3099435" y="86487"/>
                  </a:lnTo>
                  <a:lnTo>
                    <a:pt x="3128686" y="120810"/>
                  </a:lnTo>
                  <a:lnTo>
                    <a:pt x="3152488" y="159358"/>
                  </a:lnTo>
                  <a:lnTo>
                    <a:pt x="3170237" y="201509"/>
                  </a:lnTo>
                  <a:lnTo>
                    <a:pt x="3181328" y="246641"/>
                  </a:lnTo>
                  <a:lnTo>
                    <a:pt x="3185160" y="294132"/>
                  </a:lnTo>
                  <a:lnTo>
                    <a:pt x="3185160" y="1467612"/>
                  </a:lnTo>
                  <a:lnTo>
                    <a:pt x="3181328" y="1515060"/>
                  </a:lnTo>
                  <a:lnTo>
                    <a:pt x="3170237" y="1560076"/>
                  </a:lnTo>
                  <a:lnTo>
                    <a:pt x="3152488" y="1602056"/>
                  </a:lnTo>
                  <a:lnTo>
                    <a:pt x="3128686" y="1640397"/>
                  </a:lnTo>
                  <a:lnTo>
                    <a:pt x="3099435" y="1674495"/>
                  </a:lnTo>
                  <a:lnTo>
                    <a:pt x="3065337" y="1703746"/>
                  </a:lnTo>
                  <a:lnTo>
                    <a:pt x="3026996" y="1727548"/>
                  </a:lnTo>
                  <a:lnTo>
                    <a:pt x="2985016" y="1745297"/>
                  </a:lnTo>
                  <a:lnTo>
                    <a:pt x="2940000" y="1756388"/>
                  </a:lnTo>
                  <a:lnTo>
                    <a:pt x="2892552" y="1760220"/>
                  </a:lnTo>
                  <a:close/>
                </a:path>
                <a:path w="3185160" h="1771014">
                  <a:moveTo>
                    <a:pt x="632460" y="1770888"/>
                  </a:moveTo>
                  <a:lnTo>
                    <a:pt x="531876" y="1760220"/>
                  </a:lnTo>
                  <a:lnTo>
                    <a:pt x="1327404" y="1760220"/>
                  </a:lnTo>
                  <a:lnTo>
                    <a:pt x="632460" y="1770888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19100" y="3970019"/>
              <a:ext cx="3185160" cy="1771014"/>
            </a:xfrm>
            <a:custGeom>
              <a:avLst/>
              <a:gdLst/>
              <a:ahLst/>
              <a:cxnLst/>
              <a:rect l="l" t="t" r="r" b="b"/>
              <a:pathLst>
                <a:path w="3185160" h="1771014">
                  <a:moveTo>
                    <a:pt x="0" y="294132"/>
                  </a:moveTo>
                  <a:lnTo>
                    <a:pt x="3874" y="246641"/>
                  </a:lnTo>
                  <a:lnTo>
                    <a:pt x="15081" y="201509"/>
                  </a:lnTo>
                  <a:lnTo>
                    <a:pt x="33000" y="159358"/>
                  </a:lnTo>
                  <a:lnTo>
                    <a:pt x="57009" y="120810"/>
                  </a:lnTo>
                  <a:lnTo>
                    <a:pt x="86487" y="86487"/>
                  </a:lnTo>
                  <a:lnTo>
                    <a:pt x="120810" y="57009"/>
                  </a:lnTo>
                  <a:lnTo>
                    <a:pt x="159358" y="33000"/>
                  </a:lnTo>
                  <a:lnTo>
                    <a:pt x="201509" y="15081"/>
                  </a:lnTo>
                  <a:lnTo>
                    <a:pt x="246641" y="3874"/>
                  </a:lnTo>
                  <a:lnTo>
                    <a:pt x="294132" y="0"/>
                  </a:lnTo>
                  <a:lnTo>
                    <a:pt x="531876" y="0"/>
                  </a:lnTo>
                  <a:lnTo>
                    <a:pt x="1327404" y="0"/>
                  </a:lnTo>
                  <a:lnTo>
                    <a:pt x="2892552" y="0"/>
                  </a:lnTo>
                  <a:lnTo>
                    <a:pt x="2940000" y="3874"/>
                  </a:lnTo>
                  <a:lnTo>
                    <a:pt x="2985016" y="15081"/>
                  </a:lnTo>
                  <a:lnTo>
                    <a:pt x="3026996" y="33000"/>
                  </a:lnTo>
                  <a:lnTo>
                    <a:pt x="3065337" y="57009"/>
                  </a:lnTo>
                  <a:lnTo>
                    <a:pt x="3099434" y="86487"/>
                  </a:lnTo>
                  <a:lnTo>
                    <a:pt x="3128686" y="120810"/>
                  </a:lnTo>
                  <a:lnTo>
                    <a:pt x="3152488" y="159358"/>
                  </a:lnTo>
                  <a:lnTo>
                    <a:pt x="3170236" y="201509"/>
                  </a:lnTo>
                  <a:lnTo>
                    <a:pt x="3181328" y="246641"/>
                  </a:lnTo>
                  <a:lnTo>
                    <a:pt x="3185160" y="294132"/>
                  </a:lnTo>
                  <a:lnTo>
                    <a:pt x="3185160" y="1027176"/>
                  </a:lnTo>
                  <a:lnTo>
                    <a:pt x="3185160" y="1467612"/>
                  </a:lnTo>
                  <a:lnTo>
                    <a:pt x="3181328" y="1515060"/>
                  </a:lnTo>
                  <a:lnTo>
                    <a:pt x="3170236" y="1560076"/>
                  </a:lnTo>
                  <a:lnTo>
                    <a:pt x="3152488" y="1602056"/>
                  </a:lnTo>
                  <a:lnTo>
                    <a:pt x="3128686" y="1640397"/>
                  </a:lnTo>
                  <a:lnTo>
                    <a:pt x="3099435" y="1674495"/>
                  </a:lnTo>
                  <a:lnTo>
                    <a:pt x="3065337" y="1703746"/>
                  </a:lnTo>
                  <a:lnTo>
                    <a:pt x="3026996" y="1727548"/>
                  </a:lnTo>
                  <a:lnTo>
                    <a:pt x="2985016" y="1745296"/>
                  </a:lnTo>
                  <a:lnTo>
                    <a:pt x="2940000" y="1756388"/>
                  </a:lnTo>
                  <a:lnTo>
                    <a:pt x="2892552" y="1760220"/>
                  </a:lnTo>
                  <a:lnTo>
                    <a:pt x="1327404" y="1760220"/>
                  </a:lnTo>
                  <a:lnTo>
                    <a:pt x="632460" y="1770888"/>
                  </a:lnTo>
                  <a:lnTo>
                    <a:pt x="531876" y="1760220"/>
                  </a:lnTo>
                  <a:lnTo>
                    <a:pt x="294132" y="1760220"/>
                  </a:lnTo>
                  <a:lnTo>
                    <a:pt x="246641" y="1756388"/>
                  </a:lnTo>
                  <a:lnTo>
                    <a:pt x="201509" y="1745296"/>
                  </a:lnTo>
                  <a:lnTo>
                    <a:pt x="159358" y="1727548"/>
                  </a:lnTo>
                  <a:lnTo>
                    <a:pt x="120810" y="1703746"/>
                  </a:lnTo>
                  <a:lnTo>
                    <a:pt x="86486" y="1674495"/>
                  </a:lnTo>
                  <a:lnTo>
                    <a:pt x="57009" y="1640397"/>
                  </a:lnTo>
                  <a:lnTo>
                    <a:pt x="33000" y="1602056"/>
                  </a:lnTo>
                  <a:lnTo>
                    <a:pt x="15081" y="1560076"/>
                  </a:lnTo>
                  <a:lnTo>
                    <a:pt x="3874" y="1515060"/>
                  </a:lnTo>
                  <a:lnTo>
                    <a:pt x="0" y="1467612"/>
                  </a:lnTo>
                  <a:lnTo>
                    <a:pt x="0" y="1027176"/>
                  </a:lnTo>
                  <a:lnTo>
                    <a:pt x="0" y="294132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603566" y="3932403"/>
            <a:ext cx="2933700" cy="149479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671830">
              <a:lnSpc>
                <a:spcPct val="100000"/>
              </a:lnSpc>
              <a:spcBef>
                <a:spcPts val="625"/>
              </a:spcBef>
            </a:pPr>
            <a:r>
              <a:rPr sz="3300" baseline="-1600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3. </a:t>
            </a:r>
            <a:r>
              <a:rPr sz="3300" spc="-7" baseline="-16000" dirty="0">
                <a:latin typeface="Arial" panose="020B0604020202020204"/>
                <a:cs typeface="Arial" panose="020B0604020202020204"/>
              </a:rPr>
              <a:t>Event </a:t>
            </a:r>
            <a:r>
              <a:rPr sz="3300" spc="-322" baseline="-16000" dirty="0">
                <a:latin typeface="Arial" panose="020B0604020202020204"/>
                <a:cs typeface="Arial" panose="020B0604020202020204"/>
              </a:rPr>
              <a:t>I/</a:t>
            </a:r>
            <a:r>
              <a:rPr sz="1300" spc="-21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3300" spc="-322" baseline="-16000" dirty="0">
                <a:latin typeface="Arial" panose="020B0604020202020204"/>
                <a:cs typeface="Arial" panose="020B0604020202020204"/>
              </a:rPr>
              <a:t>O</a:t>
            </a:r>
            <a:r>
              <a:rPr sz="1300" spc="-21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vent</a:t>
            </a:r>
            <a:r>
              <a:rPr sz="1300" spc="-18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00" spc="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occurs</a:t>
            </a:r>
            <a:endParaRPr sz="1300">
              <a:latin typeface="Arial" panose="020B0604020202020204"/>
              <a:cs typeface="Arial" panose="020B0604020202020204"/>
            </a:endParaRPr>
          </a:p>
          <a:p>
            <a:pPr marR="106680" algn="ctr">
              <a:lnSpc>
                <a:spcPts val="2615"/>
              </a:lnSpc>
              <a:spcBef>
                <a:spcPts val="530"/>
              </a:spcBef>
            </a:pPr>
            <a:r>
              <a:rPr sz="2200" spc="-5" dirty="0">
                <a:latin typeface="Arial" panose="020B0604020202020204"/>
                <a:cs typeface="Arial" panose="020B0604020202020204"/>
              </a:rPr>
              <a:t>Completion/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5" dirty="0">
                <a:latin typeface="Courier New" panose="02070309020205020404"/>
                <a:cs typeface="Courier New" panose="02070309020205020404"/>
              </a:rPr>
              <a:t>exit(0)</a:t>
            </a:r>
            <a:endParaRPr sz="2200">
              <a:latin typeface="Courier New" panose="02070309020205020404"/>
              <a:cs typeface="Courier New" panose="02070309020205020404"/>
            </a:endParaRPr>
          </a:p>
          <a:p>
            <a:pPr marL="653415" marR="762635" algn="ctr">
              <a:lnSpc>
                <a:spcPts val="2640"/>
              </a:lnSpc>
              <a:spcBef>
                <a:spcPts val="65"/>
              </a:spcBef>
            </a:pPr>
            <a:r>
              <a:rPr sz="2200" spc="-5" dirty="0">
                <a:latin typeface="Courier New" panose="02070309020205020404"/>
                <a:cs typeface="Courier New" panose="02070309020205020404"/>
              </a:rPr>
              <a:t>/ </a:t>
            </a:r>
            <a:r>
              <a:rPr sz="2200" spc="-10" dirty="0">
                <a:latin typeface="Courier New" panose="02070309020205020404"/>
                <a:cs typeface="Courier New" panose="02070309020205020404"/>
              </a:rPr>
              <a:t>V() </a:t>
            </a:r>
            <a:r>
              <a:rPr sz="2200" spc="-5" dirty="0">
                <a:latin typeface="Courier New" panose="02070309020205020404"/>
                <a:cs typeface="Courier New" panose="02070309020205020404"/>
              </a:rPr>
              <a:t>/  </a:t>
            </a:r>
            <a:r>
              <a:rPr sz="2200" spc="-10" dirty="0">
                <a:latin typeface="Courier New" panose="02070309020205020404"/>
                <a:cs typeface="Courier New" panose="02070309020205020404"/>
              </a:rPr>
              <a:t>Rele</a:t>
            </a:r>
            <a:r>
              <a:rPr sz="2200" spc="15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2200" spc="-10" dirty="0">
                <a:latin typeface="Courier New" panose="02070309020205020404"/>
                <a:cs typeface="Courier New" panose="02070309020205020404"/>
              </a:rPr>
              <a:t>se(</a:t>
            </a:r>
            <a:r>
              <a:rPr sz="2200" spc="-5" dirty="0">
                <a:latin typeface="Courier New" panose="02070309020205020404"/>
                <a:cs typeface="Courier New" panose="02070309020205020404"/>
              </a:rPr>
              <a:t>)</a:t>
            </a:r>
            <a:endParaRPr sz="22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923032" y="4472940"/>
            <a:ext cx="6973570" cy="2771775"/>
            <a:chOff x="2923032" y="4472940"/>
            <a:chExt cx="6973570" cy="2771775"/>
          </a:xfrm>
        </p:grpSpPr>
        <p:sp>
          <p:nvSpPr>
            <p:cNvPr id="32" name="object 32"/>
            <p:cNvSpPr/>
            <p:nvPr/>
          </p:nvSpPr>
          <p:spPr>
            <a:xfrm>
              <a:off x="2923032" y="4472940"/>
              <a:ext cx="932815" cy="934719"/>
            </a:xfrm>
            <a:custGeom>
              <a:avLst/>
              <a:gdLst/>
              <a:ahLst/>
              <a:cxnLst/>
              <a:rect l="l" t="t" r="r" b="b"/>
              <a:pathLst>
                <a:path w="932814" h="934720">
                  <a:moveTo>
                    <a:pt x="22860" y="934212"/>
                  </a:moveTo>
                  <a:lnTo>
                    <a:pt x="0" y="911352"/>
                  </a:lnTo>
                  <a:lnTo>
                    <a:pt x="89916" y="822960"/>
                  </a:lnTo>
                  <a:lnTo>
                    <a:pt x="111252" y="844296"/>
                  </a:lnTo>
                  <a:lnTo>
                    <a:pt x="22860" y="934212"/>
                  </a:lnTo>
                  <a:close/>
                </a:path>
                <a:path w="932814" h="934720">
                  <a:moveTo>
                    <a:pt x="178308" y="778764"/>
                  </a:moveTo>
                  <a:lnTo>
                    <a:pt x="155448" y="755904"/>
                  </a:lnTo>
                  <a:lnTo>
                    <a:pt x="245364" y="667512"/>
                  </a:lnTo>
                  <a:lnTo>
                    <a:pt x="266700" y="688848"/>
                  </a:lnTo>
                  <a:lnTo>
                    <a:pt x="178308" y="778764"/>
                  </a:lnTo>
                  <a:close/>
                </a:path>
                <a:path w="932814" h="934720">
                  <a:moveTo>
                    <a:pt x="333756" y="623316"/>
                  </a:moveTo>
                  <a:lnTo>
                    <a:pt x="310896" y="600456"/>
                  </a:lnTo>
                  <a:lnTo>
                    <a:pt x="400812" y="512064"/>
                  </a:lnTo>
                  <a:lnTo>
                    <a:pt x="422148" y="533400"/>
                  </a:lnTo>
                  <a:lnTo>
                    <a:pt x="333756" y="623316"/>
                  </a:lnTo>
                  <a:close/>
                </a:path>
                <a:path w="932814" h="934720">
                  <a:moveTo>
                    <a:pt x="489204" y="466344"/>
                  </a:moveTo>
                  <a:lnTo>
                    <a:pt x="466344" y="445008"/>
                  </a:lnTo>
                  <a:lnTo>
                    <a:pt x="556260" y="356616"/>
                  </a:lnTo>
                  <a:lnTo>
                    <a:pt x="577596" y="377952"/>
                  </a:lnTo>
                  <a:lnTo>
                    <a:pt x="489204" y="466344"/>
                  </a:lnTo>
                  <a:close/>
                </a:path>
                <a:path w="932814" h="934720">
                  <a:moveTo>
                    <a:pt x="644652" y="310896"/>
                  </a:moveTo>
                  <a:lnTo>
                    <a:pt x="623316" y="289560"/>
                  </a:lnTo>
                  <a:lnTo>
                    <a:pt x="711708" y="199644"/>
                  </a:lnTo>
                  <a:lnTo>
                    <a:pt x="733044" y="222504"/>
                  </a:lnTo>
                  <a:lnTo>
                    <a:pt x="644652" y="310896"/>
                  </a:lnTo>
                  <a:close/>
                </a:path>
                <a:path w="932814" h="934720">
                  <a:moveTo>
                    <a:pt x="856488" y="56388"/>
                  </a:moveTo>
                  <a:lnTo>
                    <a:pt x="833628" y="33528"/>
                  </a:lnTo>
                  <a:lnTo>
                    <a:pt x="932688" y="0"/>
                  </a:lnTo>
                  <a:lnTo>
                    <a:pt x="918140" y="45720"/>
                  </a:lnTo>
                  <a:lnTo>
                    <a:pt x="867156" y="45720"/>
                  </a:lnTo>
                  <a:lnTo>
                    <a:pt x="856488" y="56388"/>
                  </a:lnTo>
                  <a:close/>
                </a:path>
                <a:path w="932814" h="934720">
                  <a:moveTo>
                    <a:pt x="877824" y="77724"/>
                  </a:moveTo>
                  <a:lnTo>
                    <a:pt x="856488" y="56388"/>
                  </a:lnTo>
                  <a:lnTo>
                    <a:pt x="867156" y="45720"/>
                  </a:lnTo>
                  <a:lnTo>
                    <a:pt x="888492" y="67056"/>
                  </a:lnTo>
                  <a:lnTo>
                    <a:pt x="877824" y="77724"/>
                  </a:lnTo>
                  <a:close/>
                </a:path>
                <a:path w="932814" h="934720">
                  <a:moveTo>
                    <a:pt x="900684" y="100584"/>
                  </a:moveTo>
                  <a:lnTo>
                    <a:pt x="877824" y="77724"/>
                  </a:lnTo>
                  <a:lnTo>
                    <a:pt x="888492" y="67056"/>
                  </a:lnTo>
                  <a:lnTo>
                    <a:pt x="867156" y="45720"/>
                  </a:lnTo>
                  <a:lnTo>
                    <a:pt x="918140" y="45720"/>
                  </a:lnTo>
                  <a:lnTo>
                    <a:pt x="900684" y="100584"/>
                  </a:lnTo>
                  <a:close/>
                </a:path>
                <a:path w="932814" h="934720">
                  <a:moveTo>
                    <a:pt x="800100" y="155448"/>
                  </a:moveTo>
                  <a:lnTo>
                    <a:pt x="778764" y="134112"/>
                  </a:lnTo>
                  <a:lnTo>
                    <a:pt x="856488" y="56388"/>
                  </a:lnTo>
                  <a:lnTo>
                    <a:pt x="877824" y="77724"/>
                  </a:lnTo>
                  <a:lnTo>
                    <a:pt x="800100" y="155448"/>
                  </a:lnTo>
                  <a:close/>
                </a:path>
              </a:pathLst>
            </a:custGeom>
            <a:solidFill>
              <a:srgbClr val="CC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705600" y="6400800"/>
              <a:ext cx="3185160" cy="838200"/>
            </a:xfrm>
            <a:custGeom>
              <a:avLst/>
              <a:gdLst/>
              <a:ahLst/>
              <a:cxnLst/>
              <a:rect l="l" t="t" r="r" b="b"/>
              <a:pathLst>
                <a:path w="3185159" h="838200">
                  <a:moveTo>
                    <a:pt x="3046476" y="838200"/>
                  </a:moveTo>
                  <a:lnTo>
                    <a:pt x="140208" y="838200"/>
                  </a:lnTo>
                  <a:lnTo>
                    <a:pt x="96365" y="831092"/>
                  </a:lnTo>
                  <a:lnTo>
                    <a:pt x="57936" y="811328"/>
                  </a:lnTo>
                  <a:lnTo>
                    <a:pt x="27407" y="781251"/>
                  </a:lnTo>
                  <a:lnTo>
                    <a:pt x="7266" y="743199"/>
                  </a:lnTo>
                  <a:lnTo>
                    <a:pt x="0" y="699516"/>
                  </a:lnTo>
                  <a:lnTo>
                    <a:pt x="0" y="140208"/>
                  </a:lnTo>
                  <a:lnTo>
                    <a:pt x="7266" y="96365"/>
                  </a:lnTo>
                  <a:lnTo>
                    <a:pt x="27407" y="57936"/>
                  </a:lnTo>
                  <a:lnTo>
                    <a:pt x="57936" y="27407"/>
                  </a:lnTo>
                  <a:lnTo>
                    <a:pt x="96365" y="7266"/>
                  </a:lnTo>
                  <a:lnTo>
                    <a:pt x="140208" y="0"/>
                  </a:lnTo>
                  <a:lnTo>
                    <a:pt x="3046476" y="0"/>
                  </a:lnTo>
                  <a:lnTo>
                    <a:pt x="3090160" y="7266"/>
                  </a:lnTo>
                  <a:lnTo>
                    <a:pt x="3128211" y="27407"/>
                  </a:lnTo>
                  <a:lnTo>
                    <a:pt x="3158288" y="57936"/>
                  </a:lnTo>
                  <a:lnTo>
                    <a:pt x="3178052" y="96365"/>
                  </a:lnTo>
                  <a:lnTo>
                    <a:pt x="3185160" y="140208"/>
                  </a:lnTo>
                  <a:lnTo>
                    <a:pt x="3185160" y="699516"/>
                  </a:lnTo>
                  <a:lnTo>
                    <a:pt x="3178052" y="743199"/>
                  </a:lnTo>
                  <a:lnTo>
                    <a:pt x="3158288" y="781251"/>
                  </a:lnTo>
                  <a:lnTo>
                    <a:pt x="3128211" y="811328"/>
                  </a:lnTo>
                  <a:lnTo>
                    <a:pt x="3090160" y="831092"/>
                  </a:lnTo>
                  <a:lnTo>
                    <a:pt x="3046476" y="8382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705600" y="6400800"/>
              <a:ext cx="3185160" cy="838200"/>
            </a:xfrm>
            <a:custGeom>
              <a:avLst/>
              <a:gdLst/>
              <a:ahLst/>
              <a:cxnLst/>
              <a:rect l="l" t="t" r="r" b="b"/>
              <a:pathLst>
                <a:path w="3185159" h="838200">
                  <a:moveTo>
                    <a:pt x="0" y="140208"/>
                  </a:moveTo>
                  <a:lnTo>
                    <a:pt x="7266" y="96365"/>
                  </a:lnTo>
                  <a:lnTo>
                    <a:pt x="27407" y="57936"/>
                  </a:lnTo>
                  <a:lnTo>
                    <a:pt x="57936" y="27407"/>
                  </a:lnTo>
                  <a:lnTo>
                    <a:pt x="96365" y="7266"/>
                  </a:lnTo>
                  <a:lnTo>
                    <a:pt x="140208" y="0"/>
                  </a:lnTo>
                  <a:lnTo>
                    <a:pt x="531876" y="0"/>
                  </a:lnTo>
                  <a:lnTo>
                    <a:pt x="1327404" y="0"/>
                  </a:lnTo>
                  <a:lnTo>
                    <a:pt x="3046476" y="0"/>
                  </a:lnTo>
                  <a:lnTo>
                    <a:pt x="3090159" y="7266"/>
                  </a:lnTo>
                  <a:lnTo>
                    <a:pt x="3128211" y="27407"/>
                  </a:lnTo>
                  <a:lnTo>
                    <a:pt x="3158288" y="57936"/>
                  </a:lnTo>
                  <a:lnTo>
                    <a:pt x="3178052" y="96365"/>
                  </a:lnTo>
                  <a:lnTo>
                    <a:pt x="3185160" y="140208"/>
                  </a:lnTo>
                  <a:lnTo>
                    <a:pt x="3185160" y="489204"/>
                  </a:lnTo>
                  <a:lnTo>
                    <a:pt x="3185160" y="699516"/>
                  </a:lnTo>
                  <a:lnTo>
                    <a:pt x="3178052" y="743199"/>
                  </a:lnTo>
                  <a:lnTo>
                    <a:pt x="3158288" y="781251"/>
                  </a:lnTo>
                  <a:lnTo>
                    <a:pt x="3128211" y="811328"/>
                  </a:lnTo>
                  <a:lnTo>
                    <a:pt x="3090159" y="831092"/>
                  </a:lnTo>
                  <a:lnTo>
                    <a:pt x="3046476" y="838200"/>
                  </a:lnTo>
                  <a:lnTo>
                    <a:pt x="1327404" y="838200"/>
                  </a:lnTo>
                  <a:lnTo>
                    <a:pt x="662940" y="838200"/>
                  </a:lnTo>
                  <a:lnTo>
                    <a:pt x="531876" y="838200"/>
                  </a:lnTo>
                  <a:lnTo>
                    <a:pt x="140208" y="838200"/>
                  </a:lnTo>
                  <a:lnTo>
                    <a:pt x="96365" y="831092"/>
                  </a:lnTo>
                  <a:lnTo>
                    <a:pt x="57936" y="811328"/>
                  </a:lnTo>
                  <a:lnTo>
                    <a:pt x="27407" y="781251"/>
                  </a:lnTo>
                  <a:lnTo>
                    <a:pt x="7266" y="743199"/>
                  </a:lnTo>
                  <a:lnTo>
                    <a:pt x="0" y="699516"/>
                  </a:lnTo>
                  <a:lnTo>
                    <a:pt x="0" y="489204"/>
                  </a:lnTo>
                  <a:lnTo>
                    <a:pt x="0" y="140208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7508220" y="6471913"/>
            <a:ext cx="1577340" cy="67754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35890" marR="5080" indent="-123825">
              <a:lnSpc>
                <a:spcPts val="2500"/>
              </a:lnSpc>
              <a:spcBef>
                <a:spcPts val="295"/>
              </a:spcBef>
            </a:pPr>
            <a:r>
              <a:rPr sz="220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4. 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A</a:t>
            </a:r>
            <a:r>
              <a:rPr sz="2200" spc="-33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Process  terminates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176516" y="3131819"/>
            <a:ext cx="551815" cy="3272154"/>
          </a:xfrm>
          <a:custGeom>
            <a:avLst/>
            <a:gdLst/>
            <a:ahLst/>
            <a:cxnLst/>
            <a:rect l="l" t="t" r="r" b="b"/>
            <a:pathLst>
              <a:path w="551815" h="3272154">
                <a:moveTo>
                  <a:pt x="519684" y="3272028"/>
                </a:moveTo>
                <a:lnTo>
                  <a:pt x="501396" y="3147060"/>
                </a:lnTo>
                <a:lnTo>
                  <a:pt x="531876" y="3142488"/>
                </a:lnTo>
                <a:lnTo>
                  <a:pt x="551688" y="3267456"/>
                </a:lnTo>
                <a:lnTo>
                  <a:pt x="519684" y="3272028"/>
                </a:lnTo>
                <a:close/>
              </a:path>
              <a:path w="551815" h="3272154">
                <a:moveTo>
                  <a:pt x="486156" y="3054096"/>
                </a:moveTo>
                <a:lnTo>
                  <a:pt x="467868" y="2930652"/>
                </a:lnTo>
                <a:lnTo>
                  <a:pt x="498348" y="2926080"/>
                </a:lnTo>
                <a:lnTo>
                  <a:pt x="518160" y="3049524"/>
                </a:lnTo>
                <a:lnTo>
                  <a:pt x="486156" y="3054096"/>
                </a:lnTo>
                <a:close/>
              </a:path>
              <a:path w="551815" h="3272154">
                <a:moveTo>
                  <a:pt x="452628" y="2837688"/>
                </a:moveTo>
                <a:lnTo>
                  <a:pt x="434340" y="2712720"/>
                </a:lnTo>
                <a:lnTo>
                  <a:pt x="464820" y="2708148"/>
                </a:lnTo>
                <a:lnTo>
                  <a:pt x="484632" y="2833116"/>
                </a:lnTo>
                <a:lnTo>
                  <a:pt x="452628" y="2837688"/>
                </a:lnTo>
                <a:close/>
              </a:path>
              <a:path w="551815" h="3272154">
                <a:moveTo>
                  <a:pt x="419100" y="2619756"/>
                </a:moveTo>
                <a:lnTo>
                  <a:pt x="400812" y="2494788"/>
                </a:lnTo>
                <a:lnTo>
                  <a:pt x="431292" y="2490216"/>
                </a:lnTo>
                <a:lnTo>
                  <a:pt x="451104" y="2615184"/>
                </a:lnTo>
                <a:lnTo>
                  <a:pt x="419100" y="2619756"/>
                </a:lnTo>
                <a:close/>
              </a:path>
              <a:path w="551815" h="3272154">
                <a:moveTo>
                  <a:pt x="385572" y="2401824"/>
                </a:moveTo>
                <a:lnTo>
                  <a:pt x="367284" y="2278380"/>
                </a:lnTo>
                <a:lnTo>
                  <a:pt x="397764" y="2273808"/>
                </a:lnTo>
                <a:lnTo>
                  <a:pt x="417576" y="2397252"/>
                </a:lnTo>
                <a:lnTo>
                  <a:pt x="385572" y="2401824"/>
                </a:lnTo>
                <a:close/>
              </a:path>
              <a:path w="551815" h="3272154">
                <a:moveTo>
                  <a:pt x="353568" y="2185416"/>
                </a:moveTo>
                <a:lnTo>
                  <a:pt x="333756" y="2060448"/>
                </a:lnTo>
                <a:lnTo>
                  <a:pt x="364236" y="2055876"/>
                </a:lnTo>
                <a:lnTo>
                  <a:pt x="384048" y="2179320"/>
                </a:lnTo>
                <a:lnTo>
                  <a:pt x="353568" y="2185416"/>
                </a:lnTo>
                <a:close/>
              </a:path>
              <a:path w="551815" h="3272154">
                <a:moveTo>
                  <a:pt x="320040" y="1967484"/>
                </a:moveTo>
                <a:lnTo>
                  <a:pt x="300228" y="1842516"/>
                </a:lnTo>
                <a:lnTo>
                  <a:pt x="330708" y="1837944"/>
                </a:lnTo>
                <a:lnTo>
                  <a:pt x="350520" y="1962912"/>
                </a:lnTo>
                <a:lnTo>
                  <a:pt x="320040" y="1967484"/>
                </a:lnTo>
                <a:close/>
              </a:path>
              <a:path w="551815" h="3272154">
                <a:moveTo>
                  <a:pt x="286512" y="1749552"/>
                </a:moveTo>
                <a:lnTo>
                  <a:pt x="266700" y="1626108"/>
                </a:lnTo>
                <a:lnTo>
                  <a:pt x="297180" y="1620012"/>
                </a:lnTo>
                <a:lnTo>
                  <a:pt x="316992" y="1744980"/>
                </a:lnTo>
                <a:lnTo>
                  <a:pt x="286512" y="1749552"/>
                </a:lnTo>
                <a:close/>
              </a:path>
              <a:path w="551815" h="3272154">
                <a:moveTo>
                  <a:pt x="252984" y="1531620"/>
                </a:moveTo>
                <a:lnTo>
                  <a:pt x="233172" y="1408176"/>
                </a:lnTo>
                <a:lnTo>
                  <a:pt x="263652" y="1403604"/>
                </a:lnTo>
                <a:lnTo>
                  <a:pt x="283464" y="1527048"/>
                </a:lnTo>
                <a:lnTo>
                  <a:pt x="252984" y="1531620"/>
                </a:lnTo>
                <a:close/>
              </a:path>
              <a:path w="551815" h="3272154">
                <a:moveTo>
                  <a:pt x="219456" y="1315212"/>
                </a:moveTo>
                <a:lnTo>
                  <a:pt x="199644" y="1190244"/>
                </a:lnTo>
                <a:lnTo>
                  <a:pt x="231648" y="1185672"/>
                </a:lnTo>
                <a:lnTo>
                  <a:pt x="249936" y="1310640"/>
                </a:lnTo>
                <a:lnTo>
                  <a:pt x="219456" y="1315212"/>
                </a:lnTo>
                <a:close/>
              </a:path>
              <a:path w="551815" h="3272154">
                <a:moveTo>
                  <a:pt x="185928" y="1097280"/>
                </a:moveTo>
                <a:lnTo>
                  <a:pt x="166116" y="973836"/>
                </a:lnTo>
                <a:lnTo>
                  <a:pt x="198120" y="967740"/>
                </a:lnTo>
                <a:lnTo>
                  <a:pt x="216408" y="1092708"/>
                </a:lnTo>
                <a:lnTo>
                  <a:pt x="185928" y="1097280"/>
                </a:lnTo>
                <a:close/>
              </a:path>
              <a:path w="551815" h="3272154">
                <a:moveTo>
                  <a:pt x="152400" y="879348"/>
                </a:moveTo>
                <a:lnTo>
                  <a:pt x="132588" y="755904"/>
                </a:lnTo>
                <a:lnTo>
                  <a:pt x="164592" y="751332"/>
                </a:lnTo>
                <a:lnTo>
                  <a:pt x="182880" y="874776"/>
                </a:lnTo>
                <a:lnTo>
                  <a:pt x="152400" y="879348"/>
                </a:lnTo>
                <a:close/>
              </a:path>
              <a:path w="551815" h="3272154">
                <a:moveTo>
                  <a:pt x="118872" y="662940"/>
                </a:moveTo>
                <a:lnTo>
                  <a:pt x="99060" y="537972"/>
                </a:lnTo>
                <a:lnTo>
                  <a:pt x="131064" y="533400"/>
                </a:lnTo>
                <a:lnTo>
                  <a:pt x="149352" y="658368"/>
                </a:lnTo>
                <a:lnTo>
                  <a:pt x="118872" y="662940"/>
                </a:lnTo>
                <a:close/>
              </a:path>
              <a:path w="551815" h="3272154">
                <a:moveTo>
                  <a:pt x="85344" y="445008"/>
                </a:moveTo>
                <a:lnTo>
                  <a:pt x="65532" y="320040"/>
                </a:lnTo>
                <a:lnTo>
                  <a:pt x="97536" y="315468"/>
                </a:lnTo>
                <a:lnTo>
                  <a:pt x="115824" y="440436"/>
                </a:lnTo>
                <a:lnTo>
                  <a:pt x="85344" y="445008"/>
                </a:lnTo>
                <a:close/>
              </a:path>
              <a:path w="551815" h="3272154">
                <a:moveTo>
                  <a:pt x="0" y="100584"/>
                </a:moveTo>
                <a:lnTo>
                  <a:pt x="32004" y="0"/>
                </a:lnTo>
                <a:lnTo>
                  <a:pt x="92964" y="86868"/>
                </a:lnTo>
                <a:lnTo>
                  <a:pt x="0" y="100584"/>
                </a:lnTo>
                <a:close/>
              </a:path>
              <a:path w="551815" h="3272154">
                <a:moveTo>
                  <a:pt x="51816" y="227076"/>
                </a:moveTo>
                <a:lnTo>
                  <a:pt x="32004" y="103632"/>
                </a:lnTo>
                <a:lnTo>
                  <a:pt x="64008" y="99060"/>
                </a:lnTo>
                <a:lnTo>
                  <a:pt x="82296" y="222504"/>
                </a:lnTo>
                <a:lnTo>
                  <a:pt x="51816" y="227076"/>
                </a:lnTo>
                <a:close/>
              </a:path>
            </a:pathLst>
          </a:custGeom>
          <a:solidFill>
            <a:srgbClr val="CC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38" name="object 38"/>
          <p:cNvSpPr txBox="1"/>
          <p:nvPr/>
        </p:nvSpPr>
        <p:spPr>
          <a:xfrm>
            <a:off x="280400" y="7095872"/>
            <a:ext cx="262255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55"/>
              </a:lnSpc>
            </a:pPr>
            <a:fld id="{81D60167-4931-47E6-BA6A-407CBD079E47}" type="slidenum">
              <a:rPr sz="1300" spc="10" dirty="0">
                <a:latin typeface="Arial" panose="020B0604020202020204"/>
                <a:cs typeface="Arial" panose="020B0604020202020204"/>
              </a:rPr>
            </a:fld>
            <a:endParaRPr sz="13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6884" y="732573"/>
            <a:ext cx="5575300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50" spc="-135" dirty="0"/>
              <a:t>Non </a:t>
            </a:r>
            <a:r>
              <a:rPr sz="3750" spc="-245" dirty="0"/>
              <a:t>Preemptive</a:t>
            </a:r>
            <a:r>
              <a:rPr sz="3750" spc="-300" dirty="0"/>
              <a:t> </a:t>
            </a:r>
            <a:r>
              <a:rPr sz="3750" spc="-145" dirty="0"/>
              <a:t>Scheduling</a:t>
            </a:r>
            <a:endParaRPr sz="375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5" name="object 5"/>
          <p:cNvSpPr txBox="1"/>
          <p:nvPr/>
        </p:nvSpPr>
        <p:spPr>
          <a:xfrm>
            <a:off x="280400" y="7095872"/>
            <a:ext cx="262255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55"/>
              </a:lnSpc>
            </a:pPr>
            <a:fld id="{81D60167-4931-47E6-BA6A-407CBD079E47}" type="slidenum">
              <a:rPr sz="1300" spc="10" dirty="0">
                <a:latin typeface="Arial" panose="020B0604020202020204"/>
                <a:cs typeface="Arial" panose="020B0604020202020204"/>
              </a:rPr>
            </a:fld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1055" y="1658168"/>
            <a:ext cx="7905750" cy="41681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13055" indent="-300355">
              <a:lnSpc>
                <a:spcPct val="100000"/>
              </a:lnSpc>
              <a:spcBef>
                <a:spcPts val="41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Once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CPU </a:t>
            </a:r>
            <a:r>
              <a:rPr sz="3050" spc="-215" dirty="0">
                <a:latin typeface="Times New Roman" panose="02020603050405020304"/>
                <a:cs typeface="Times New Roman" panose="02020603050405020304"/>
              </a:rPr>
              <a:t>has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been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allocated 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3050" spc="-229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process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3055" indent="-300355">
              <a:lnSpc>
                <a:spcPct val="100000"/>
              </a:lnSpc>
              <a:spcBef>
                <a:spcPts val="32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keeps </a:t>
            </a:r>
            <a:r>
              <a:rPr sz="3050" spc="-45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305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until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17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50" spc="-40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Terminates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11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15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2650" spc="-204" dirty="0">
                <a:latin typeface="Times New Roman" panose="02020603050405020304"/>
                <a:cs typeface="Times New Roman" panose="02020603050405020304"/>
              </a:rPr>
              <a:t>has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wait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for: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917575" lvl="2" indent="-252095">
              <a:lnSpc>
                <a:spcPct val="100000"/>
              </a:lnSpc>
              <a:spcBef>
                <a:spcPts val="220"/>
              </a:spcBef>
              <a:buClr>
                <a:srgbClr val="E6B1AA"/>
              </a:buClr>
              <a:buSzPct val="84000"/>
              <a:buFont typeface="Webdings" panose="05030102010509060703"/>
              <a:buChar char=""/>
              <a:tabLst>
                <a:tab pos="918210" algn="l"/>
              </a:tabLst>
            </a:pPr>
            <a:r>
              <a:rPr sz="2200" spc="110" dirty="0">
                <a:latin typeface="Times New Roman" panose="02020603050405020304"/>
                <a:cs typeface="Times New Roman" panose="02020603050405020304"/>
              </a:rPr>
              <a:t>I/O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917575" lvl="2" indent="-252095">
              <a:lnSpc>
                <a:spcPct val="100000"/>
              </a:lnSpc>
              <a:spcBef>
                <a:spcPts val="185"/>
              </a:spcBef>
              <a:buClr>
                <a:srgbClr val="E6B1AA"/>
              </a:buClr>
              <a:buSzPct val="84000"/>
              <a:buFont typeface="Webdings" panose="05030102010509060703"/>
              <a:buChar char=""/>
              <a:tabLst>
                <a:tab pos="918210" algn="l"/>
              </a:tabLst>
            </a:pP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Mutex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917575" lvl="2" indent="-252095">
              <a:lnSpc>
                <a:spcPct val="100000"/>
              </a:lnSpc>
              <a:spcBef>
                <a:spcPts val="175"/>
              </a:spcBef>
              <a:buClr>
                <a:srgbClr val="E6B1AA"/>
              </a:buClr>
              <a:buSzPct val="84000"/>
              <a:buFont typeface="Webdings" panose="05030102010509060703"/>
              <a:buChar char=""/>
              <a:tabLst>
                <a:tab pos="918210" algn="l"/>
              </a:tabLst>
            </a:pPr>
            <a:r>
              <a:rPr sz="2200" spc="-114" dirty="0">
                <a:latin typeface="Times New Roman" panose="02020603050405020304"/>
                <a:cs typeface="Times New Roman" panose="02020603050405020304"/>
              </a:rPr>
              <a:t>Child</a:t>
            </a:r>
            <a:r>
              <a:rPr sz="22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process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917575" lvl="2" indent="-252095">
              <a:lnSpc>
                <a:spcPct val="100000"/>
              </a:lnSpc>
              <a:spcBef>
                <a:spcPts val="170"/>
              </a:spcBef>
              <a:buClr>
                <a:srgbClr val="E6B1AA"/>
              </a:buClr>
              <a:buSzPct val="84000"/>
              <a:buFont typeface="Webdings" panose="05030102010509060703"/>
              <a:buChar char=""/>
              <a:tabLst>
                <a:tab pos="918210" algn="l"/>
              </a:tabLst>
            </a:pP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Semaphore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917575" lvl="2" indent="-252095">
              <a:lnSpc>
                <a:spcPct val="100000"/>
              </a:lnSpc>
              <a:spcBef>
                <a:spcPts val="180"/>
              </a:spcBef>
              <a:buClr>
                <a:srgbClr val="E6B1AA"/>
              </a:buClr>
              <a:buSzPct val="84000"/>
              <a:buFont typeface="Webdings" panose="05030102010509060703"/>
              <a:buChar char=""/>
              <a:tabLst>
                <a:tab pos="918210" algn="l"/>
              </a:tabLst>
            </a:pP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Conditional </a:t>
            </a:r>
            <a:r>
              <a:rPr sz="2200" spc="-150" dirty="0">
                <a:latin typeface="Times New Roman" panose="02020603050405020304"/>
                <a:cs typeface="Times New Roman" panose="02020603050405020304"/>
              </a:rPr>
              <a:t>Variables</a:t>
            </a:r>
            <a:r>
              <a:rPr sz="2200" spc="-3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etc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313055" indent="-300355">
              <a:lnSpc>
                <a:spcPct val="100000"/>
              </a:lnSpc>
              <a:spcBef>
                <a:spcPts val="21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00" dirty="0">
                <a:latin typeface="Times New Roman" panose="02020603050405020304"/>
                <a:cs typeface="Times New Roman" panose="02020603050405020304"/>
              </a:rPr>
              <a:t>There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no </a:t>
            </a:r>
            <a:r>
              <a:rPr sz="3050" spc="-235" dirty="0">
                <a:latin typeface="Times New Roman" panose="02020603050405020304"/>
                <a:cs typeface="Times New Roman" panose="02020603050405020304"/>
              </a:rPr>
              <a:t>way, 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get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CPU 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back,</a:t>
            </a: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265" dirty="0">
                <a:latin typeface="Times New Roman" panose="02020603050405020304"/>
                <a:cs typeface="Times New Roman" panose="02020603050405020304"/>
              </a:rPr>
              <a:t>FORCEFULLY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293" y="188213"/>
            <a:ext cx="9922764" cy="737006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1680" y="1110402"/>
            <a:ext cx="7150734" cy="99821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75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2420" algn="l"/>
                <a:tab pos="313055" algn="l"/>
              </a:tabLst>
            </a:pP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Only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75" dirty="0">
                <a:latin typeface="Times New Roman" panose="02020603050405020304"/>
                <a:cs typeface="Times New Roman" panose="02020603050405020304"/>
              </a:rPr>
              <a:t>case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1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5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4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4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2420" algn="l"/>
                <a:tab pos="313055" algn="l"/>
              </a:tabLst>
            </a:pP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Must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select 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new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process, </a:t>
            </a:r>
            <a:r>
              <a:rPr sz="2650" spc="-180" dirty="0">
                <a:latin typeface="Times New Roman" panose="02020603050405020304"/>
                <a:cs typeface="Times New Roman" panose="02020603050405020304"/>
              </a:rPr>
              <a:t>if </a:t>
            </a:r>
            <a:r>
              <a:rPr sz="2650" spc="-195" dirty="0">
                <a:latin typeface="Times New Roman" panose="02020603050405020304"/>
                <a:cs typeface="Times New Roman" panose="02020603050405020304"/>
              </a:rPr>
              <a:t>any,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from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Ready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Queue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9273" y="456752"/>
            <a:ext cx="5575300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50" spc="-135" dirty="0"/>
              <a:t>Non </a:t>
            </a:r>
            <a:r>
              <a:rPr sz="3750" spc="-245" dirty="0"/>
              <a:t>Preemptive</a:t>
            </a:r>
            <a:r>
              <a:rPr sz="3750" spc="-300" dirty="0"/>
              <a:t> </a:t>
            </a:r>
            <a:r>
              <a:rPr sz="3750" spc="-145" dirty="0"/>
              <a:t>Scheduling</a:t>
            </a:r>
            <a:endParaRPr sz="3750"/>
          </a:p>
        </p:txBody>
      </p:sp>
      <p:sp>
        <p:nvSpPr>
          <p:cNvPr id="5" name="object 5"/>
          <p:cNvSpPr txBox="1"/>
          <p:nvPr/>
        </p:nvSpPr>
        <p:spPr>
          <a:xfrm>
            <a:off x="1247647" y="3015487"/>
            <a:ext cx="41402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2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5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500" spc="2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w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61072" y="3015487"/>
            <a:ext cx="34925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500" spc="1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15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5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t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5245" y="2699993"/>
            <a:ext cx="4527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300" spc="1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300" spc="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mit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27577" y="2620757"/>
            <a:ext cx="63881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3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300" spc="-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1300" spc="1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3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3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se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58688" y="3015487"/>
            <a:ext cx="75057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2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5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1500" spc="2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5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5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500" spc="2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500" spc="2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g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39744" y="3015487"/>
            <a:ext cx="58737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2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5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500" spc="2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5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500" spc="1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y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36423" y="2523267"/>
            <a:ext cx="67691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Di</a:t>
            </a:r>
            <a:r>
              <a:rPr sz="13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3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300" spc="1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300" spc="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tch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36423" y="3420895"/>
            <a:ext cx="68389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Time-out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42208" y="5926328"/>
            <a:ext cx="71755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Blocked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26751" y="3483863"/>
            <a:ext cx="1986280" cy="2326005"/>
          </a:xfrm>
          <a:custGeom>
            <a:avLst/>
            <a:gdLst/>
            <a:ahLst/>
            <a:cxnLst/>
            <a:rect l="l" t="t" r="r" b="b"/>
            <a:pathLst>
              <a:path w="1986279" h="2326004">
                <a:moveTo>
                  <a:pt x="83832" y="83820"/>
                </a:moveTo>
                <a:lnTo>
                  <a:pt x="69088" y="54864"/>
                </a:lnTo>
                <a:lnTo>
                  <a:pt x="41148" y="0"/>
                </a:lnTo>
                <a:lnTo>
                  <a:pt x="0" y="83820"/>
                </a:lnTo>
                <a:lnTo>
                  <a:pt x="35052" y="59156"/>
                </a:lnTo>
                <a:lnTo>
                  <a:pt x="35052" y="2255520"/>
                </a:lnTo>
                <a:lnTo>
                  <a:pt x="48768" y="2255520"/>
                </a:lnTo>
                <a:lnTo>
                  <a:pt x="48768" y="60045"/>
                </a:lnTo>
                <a:lnTo>
                  <a:pt x="83832" y="83820"/>
                </a:lnTo>
                <a:close/>
              </a:path>
              <a:path w="1986279" h="2326004">
                <a:moveTo>
                  <a:pt x="1985784" y="15252"/>
                </a:moveTo>
                <a:lnTo>
                  <a:pt x="1973592" y="7620"/>
                </a:lnTo>
                <a:lnTo>
                  <a:pt x="593953" y="2262047"/>
                </a:lnTo>
                <a:lnTo>
                  <a:pt x="593953" y="2278316"/>
                </a:lnTo>
                <a:lnTo>
                  <a:pt x="592836" y="2278392"/>
                </a:lnTo>
                <a:lnTo>
                  <a:pt x="592340" y="2277313"/>
                </a:lnTo>
                <a:lnTo>
                  <a:pt x="593953" y="2278316"/>
                </a:lnTo>
                <a:lnTo>
                  <a:pt x="593953" y="2262047"/>
                </a:lnTo>
                <a:lnTo>
                  <a:pt x="589000" y="2270137"/>
                </a:lnTo>
                <a:lnTo>
                  <a:pt x="571500" y="2232672"/>
                </a:lnTo>
                <a:lnTo>
                  <a:pt x="563880" y="2325636"/>
                </a:lnTo>
                <a:lnTo>
                  <a:pt x="633526" y="2281440"/>
                </a:lnTo>
                <a:lnTo>
                  <a:pt x="643128" y="2275344"/>
                </a:lnTo>
                <a:lnTo>
                  <a:pt x="601116" y="2277884"/>
                </a:lnTo>
                <a:lnTo>
                  <a:pt x="1985784" y="152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517128" y="4111265"/>
            <a:ext cx="99441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Event</a:t>
            </a:r>
            <a:r>
              <a:rPr sz="1300" spc="-3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00" spc="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occurs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92359" y="4434349"/>
            <a:ext cx="79502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Event</a:t>
            </a:r>
            <a:r>
              <a:rPr sz="1300" spc="-4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00" spc="-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wait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13462" y="3461702"/>
            <a:ext cx="3112135" cy="1771014"/>
            <a:chOff x="6113462" y="3461702"/>
            <a:chExt cx="3112135" cy="1771014"/>
          </a:xfrm>
        </p:grpSpPr>
        <p:sp>
          <p:nvSpPr>
            <p:cNvPr id="18" name="object 18"/>
            <p:cNvSpPr/>
            <p:nvPr/>
          </p:nvSpPr>
          <p:spPr>
            <a:xfrm>
              <a:off x="6118860" y="3467100"/>
              <a:ext cx="3101340" cy="1760220"/>
            </a:xfrm>
            <a:custGeom>
              <a:avLst/>
              <a:gdLst/>
              <a:ahLst/>
              <a:cxnLst/>
              <a:rect l="l" t="t" r="r" b="b"/>
              <a:pathLst>
                <a:path w="3101340" h="1760220">
                  <a:moveTo>
                    <a:pt x="2808732" y="1760220"/>
                  </a:moveTo>
                  <a:lnTo>
                    <a:pt x="294132" y="1760220"/>
                  </a:lnTo>
                  <a:lnTo>
                    <a:pt x="246641" y="1756388"/>
                  </a:lnTo>
                  <a:lnTo>
                    <a:pt x="201509" y="1745297"/>
                  </a:lnTo>
                  <a:lnTo>
                    <a:pt x="159358" y="1727548"/>
                  </a:lnTo>
                  <a:lnTo>
                    <a:pt x="120810" y="1703746"/>
                  </a:lnTo>
                  <a:lnTo>
                    <a:pt x="86487" y="1674495"/>
                  </a:lnTo>
                  <a:lnTo>
                    <a:pt x="57009" y="1640397"/>
                  </a:lnTo>
                  <a:lnTo>
                    <a:pt x="33000" y="1602056"/>
                  </a:lnTo>
                  <a:lnTo>
                    <a:pt x="15081" y="1560076"/>
                  </a:lnTo>
                  <a:lnTo>
                    <a:pt x="3874" y="1515060"/>
                  </a:lnTo>
                  <a:lnTo>
                    <a:pt x="0" y="1467612"/>
                  </a:lnTo>
                  <a:lnTo>
                    <a:pt x="0" y="294132"/>
                  </a:lnTo>
                  <a:lnTo>
                    <a:pt x="3874" y="246641"/>
                  </a:lnTo>
                  <a:lnTo>
                    <a:pt x="15081" y="201509"/>
                  </a:lnTo>
                  <a:lnTo>
                    <a:pt x="33000" y="159358"/>
                  </a:lnTo>
                  <a:lnTo>
                    <a:pt x="57009" y="120810"/>
                  </a:lnTo>
                  <a:lnTo>
                    <a:pt x="86487" y="86487"/>
                  </a:lnTo>
                  <a:lnTo>
                    <a:pt x="120810" y="57009"/>
                  </a:lnTo>
                  <a:lnTo>
                    <a:pt x="159358" y="33000"/>
                  </a:lnTo>
                  <a:lnTo>
                    <a:pt x="201509" y="15081"/>
                  </a:lnTo>
                  <a:lnTo>
                    <a:pt x="246641" y="3874"/>
                  </a:lnTo>
                  <a:lnTo>
                    <a:pt x="294132" y="0"/>
                  </a:lnTo>
                  <a:lnTo>
                    <a:pt x="2808732" y="0"/>
                  </a:lnTo>
                  <a:lnTo>
                    <a:pt x="2856180" y="3874"/>
                  </a:lnTo>
                  <a:lnTo>
                    <a:pt x="2901196" y="15081"/>
                  </a:lnTo>
                  <a:lnTo>
                    <a:pt x="2943176" y="33000"/>
                  </a:lnTo>
                  <a:lnTo>
                    <a:pt x="2981517" y="57009"/>
                  </a:lnTo>
                  <a:lnTo>
                    <a:pt x="3015615" y="86487"/>
                  </a:lnTo>
                  <a:lnTo>
                    <a:pt x="3044866" y="120810"/>
                  </a:lnTo>
                  <a:lnTo>
                    <a:pt x="3068668" y="159358"/>
                  </a:lnTo>
                  <a:lnTo>
                    <a:pt x="3086417" y="201509"/>
                  </a:lnTo>
                  <a:lnTo>
                    <a:pt x="3097508" y="246641"/>
                  </a:lnTo>
                  <a:lnTo>
                    <a:pt x="3101340" y="294132"/>
                  </a:lnTo>
                  <a:lnTo>
                    <a:pt x="3101340" y="1467612"/>
                  </a:lnTo>
                  <a:lnTo>
                    <a:pt x="3097508" y="1515060"/>
                  </a:lnTo>
                  <a:lnTo>
                    <a:pt x="3086417" y="1560076"/>
                  </a:lnTo>
                  <a:lnTo>
                    <a:pt x="3068668" y="1602056"/>
                  </a:lnTo>
                  <a:lnTo>
                    <a:pt x="3044866" y="1640397"/>
                  </a:lnTo>
                  <a:lnTo>
                    <a:pt x="3015615" y="1674495"/>
                  </a:lnTo>
                  <a:lnTo>
                    <a:pt x="2981517" y="1703746"/>
                  </a:lnTo>
                  <a:lnTo>
                    <a:pt x="2943176" y="1727548"/>
                  </a:lnTo>
                  <a:lnTo>
                    <a:pt x="2901196" y="1745297"/>
                  </a:lnTo>
                  <a:lnTo>
                    <a:pt x="2856180" y="1756388"/>
                  </a:lnTo>
                  <a:lnTo>
                    <a:pt x="2808732" y="176022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118860" y="3467100"/>
              <a:ext cx="3101340" cy="1760220"/>
            </a:xfrm>
            <a:custGeom>
              <a:avLst/>
              <a:gdLst/>
              <a:ahLst/>
              <a:cxnLst/>
              <a:rect l="l" t="t" r="r" b="b"/>
              <a:pathLst>
                <a:path w="3101340" h="1760220">
                  <a:moveTo>
                    <a:pt x="0" y="294132"/>
                  </a:moveTo>
                  <a:lnTo>
                    <a:pt x="3874" y="246641"/>
                  </a:lnTo>
                  <a:lnTo>
                    <a:pt x="15081" y="201509"/>
                  </a:lnTo>
                  <a:lnTo>
                    <a:pt x="33000" y="159358"/>
                  </a:lnTo>
                  <a:lnTo>
                    <a:pt x="57009" y="120810"/>
                  </a:lnTo>
                  <a:lnTo>
                    <a:pt x="86487" y="86487"/>
                  </a:lnTo>
                  <a:lnTo>
                    <a:pt x="120810" y="57009"/>
                  </a:lnTo>
                  <a:lnTo>
                    <a:pt x="159358" y="33000"/>
                  </a:lnTo>
                  <a:lnTo>
                    <a:pt x="201509" y="15081"/>
                  </a:lnTo>
                  <a:lnTo>
                    <a:pt x="246641" y="3874"/>
                  </a:lnTo>
                  <a:lnTo>
                    <a:pt x="294132" y="0"/>
                  </a:lnTo>
                  <a:lnTo>
                    <a:pt x="518159" y="0"/>
                  </a:lnTo>
                  <a:lnTo>
                    <a:pt x="1292352" y="0"/>
                  </a:lnTo>
                  <a:lnTo>
                    <a:pt x="2808732" y="0"/>
                  </a:lnTo>
                  <a:lnTo>
                    <a:pt x="2856180" y="3874"/>
                  </a:lnTo>
                  <a:lnTo>
                    <a:pt x="2901196" y="15081"/>
                  </a:lnTo>
                  <a:lnTo>
                    <a:pt x="2943176" y="33000"/>
                  </a:lnTo>
                  <a:lnTo>
                    <a:pt x="2981517" y="57009"/>
                  </a:lnTo>
                  <a:lnTo>
                    <a:pt x="3015615" y="86487"/>
                  </a:lnTo>
                  <a:lnTo>
                    <a:pt x="3044866" y="120810"/>
                  </a:lnTo>
                  <a:lnTo>
                    <a:pt x="3068668" y="159358"/>
                  </a:lnTo>
                  <a:lnTo>
                    <a:pt x="3086416" y="201509"/>
                  </a:lnTo>
                  <a:lnTo>
                    <a:pt x="3097508" y="246641"/>
                  </a:lnTo>
                  <a:lnTo>
                    <a:pt x="3101340" y="294132"/>
                  </a:lnTo>
                  <a:lnTo>
                    <a:pt x="3101340" y="1027176"/>
                  </a:lnTo>
                  <a:lnTo>
                    <a:pt x="3101340" y="1467612"/>
                  </a:lnTo>
                  <a:lnTo>
                    <a:pt x="3097508" y="1515060"/>
                  </a:lnTo>
                  <a:lnTo>
                    <a:pt x="3086416" y="1560076"/>
                  </a:lnTo>
                  <a:lnTo>
                    <a:pt x="3068668" y="1602056"/>
                  </a:lnTo>
                  <a:lnTo>
                    <a:pt x="3044866" y="1640397"/>
                  </a:lnTo>
                  <a:lnTo>
                    <a:pt x="3015615" y="1674495"/>
                  </a:lnTo>
                  <a:lnTo>
                    <a:pt x="2981517" y="1703746"/>
                  </a:lnTo>
                  <a:lnTo>
                    <a:pt x="2943176" y="1727548"/>
                  </a:lnTo>
                  <a:lnTo>
                    <a:pt x="2901196" y="1745296"/>
                  </a:lnTo>
                  <a:lnTo>
                    <a:pt x="2856180" y="1756388"/>
                  </a:lnTo>
                  <a:lnTo>
                    <a:pt x="2808732" y="1760220"/>
                  </a:lnTo>
                  <a:lnTo>
                    <a:pt x="1292352" y="1760220"/>
                  </a:lnTo>
                  <a:lnTo>
                    <a:pt x="947928" y="1760220"/>
                  </a:lnTo>
                  <a:lnTo>
                    <a:pt x="518159" y="1760220"/>
                  </a:lnTo>
                  <a:lnTo>
                    <a:pt x="294132" y="1760220"/>
                  </a:lnTo>
                  <a:lnTo>
                    <a:pt x="246641" y="1756388"/>
                  </a:lnTo>
                  <a:lnTo>
                    <a:pt x="201509" y="1745296"/>
                  </a:lnTo>
                  <a:lnTo>
                    <a:pt x="159358" y="1727548"/>
                  </a:lnTo>
                  <a:lnTo>
                    <a:pt x="120810" y="1703746"/>
                  </a:lnTo>
                  <a:lnTo>
                    <a:pt x="86486" y="1674495"/>
                  </a:lnTo>
                  <a:lnTo>
                    <a:pt x="57009" y="1640397"/>
                  </a:lnTo>
                  <a:lnTo>
                    <a:pt x="33000" y="1602056"/>
                  </a:lnTo>
                  <a:lnTo>
                    <a:pt x="15081" y="1560076"/>
                  </a:lnTo>
                  <a:lnTo>
                    <a:pt x="3874" y="1515060"/>
                  </a:lnTo>
                  <a:lnTo>
                    <a:pt x="0" y="1467612"/>
                  </a:lnTo>
                  <a:lnTo>
                    <a:pt x="0" y="1027176"/>
                  </a:lnTo>
                  <a:lnTo>
                    <a:pt x="0" y="294132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484033" y="3582373"/>
            <a:ext cx="2371090" cy="1365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735">
              <a:lnSpc>
                <a:spcPts val="2545"/>
              </a:lnSpc>
              <a:spcBef>
                <a:spcPts val="95"/>
              </a:spcBef>
            </a:pPr>
            <a:r>
              <a:rPr sz="220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1.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Wait </a:t>
            </a:r>
            <a:r>
              <a:rPr sz="2200" dirty="0">
                <a:latin typeface="Arial" panose="020B0604020202020204"/>
                <a:cs typeface="Arial" panose="020B0604020202020204"/>
              </a:rPr>
              <a:t>for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I/O/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635" algn="ctr">
              <a:lnSpc>
                <a:spcPts val="2545"/>
              </a:lnSpc>
            </a:pPr>
            <a:r>
              <a:rPr sz="2200" spc="-5" dirty="0">
                <a:latin typeface="Courier New" panose="02070309020205020404"/>
                <a:cs typeface="Courier New" panose="02070309020205020404"/>
              </a:rPr>
              <a:t>waitpid()/</a:t>
            </a:r>
            <a:endParaRPr sz="2200">
              <a:latin typeface="Courier New" panose="02070309020205020404"/>
              <a:cs typeface="Courier New" panose="02070309020205020404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2200" spc="-10" dirty="0">
                <a:latin typeface="Courier New" panose="02070309020205020404"/>
                <a:cs typeface="Courier New" panose="02070309020205020404"/>
              </a:rPr>
              <a:t>P()/</a:t>
            </a:r>
            <a:r>
              <a:rPr sz="2200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200" spc="-10" dirty="0">
                <a:latin typeface="Courier New" panose="02070309020205020404"/>
                <a:cs typeface="Courier New" panose="02070309020205020404"/>
              </a:rPr>
              <a:t>Acquire()</a:t>
            </a:r>
            <a:endParaRPr sz="2200">
              <a:latin typeface="Courier New" panose="02070309020205020404"/>
              <a:cs typeface="Courier New" panose="02070309020205020404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2200" spc="-5" dirty="0">
                <a:latin typeface="Arial" panose="020B0604020202020204"/>
                <a:cs typeface="Arial" panose="020B0604020202020204"/>
              </a:rPr>
              <a:t>etc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777739" y="4960620"/>
            <a:ext cx="5034915" cy="1948814"/>
            <a:chOff x="4777739" y="4960620"/>
            <a:chExt cx="5034915" cy="1948814"/>
          </a:xfrm>
        </p:grpSpPr>
        <p:sp>
          <p:nvSpPr>
            <p:cNvPr id="22" name="object 22"/>
            <p:cNvSpPr/>
            <p:nvPr/>
          </p:nvSpPr>
          <p:spPr>
            <a:xfrm>
              <a:off x="4777739" y="4960620"/>
              <a:ext cx="1511935" cy="219710"/>
            </a:xfrm>
            <a:custGeom>
              <a:avLst/>
              <a:gdLst/>
              <a:ahLst/>
              <a:cxnLst/>
              <a:rect l="l" t="t" r="r" b="b"/>
              <a:pathLst>
                <a:path w="1511935" h="219710">
                  <a:moveTo>
                    <a:pt x="1386840" y="45720"/>
                  </a:moveTo>
                  <a:lnTo>
                    <a:pt x="1382268" y="13716"/>
                  </a:lnTo>
                  <a:lnTo>
                    <a:pt x="1507236" y="0"/>
                  </a:lnTo>
                  <a:lnTo>
                    <a:pt x="1511808" y="32004"/>
                  </a:lnTo>
                  <a:lnTo>
                    <a:pt x="1386840" y="45720"/>
                  </a:lnTo>
                  <a:close/>
                </a:path>
                <a:path w="1511935" h="219710">
                  <a:moveTo>
                    <a:pt x="1167384" y="70104"/>
                  </a:moveTo>
                  <a:lnTo>
                    <a:pt x="1164336" y="38100"/>
                  </a:lnTo>
                  <a:lnTo>
                    <a:pt x="1289304" y="24384"/>
                  </a:lnTo>
                  <a:lnTo>
                    <a:pt x="1292352" y="56388"/>
                  </a:lnTo>
                  <a:lnTo>
                    <a:pt x="1167384" y="70104"/>
                  </a:lnTo>
                  <a:close/>
                </a:path>
                <a:path w="1511935" h="219710">
                  <a:moveTo>
                    <a:pt x="949452" y="94488"/>
                  </a:moveTo>
                  <a:lnTo>
                    <a:pt x="944880" y="62484"/>
                  </a:lnTo>
                  <a:lnTo>
                    <a:pt x="1069848" y="48768"/>
                  </a:lnTo>
                  <a:lnTo>
                    <a:pt x="1074420" y="80772"/>
                  </a:lnTo>
                  <a:lnTo>
                    <a:pt x="949452" y="94488"/>
                  </a:lnTo>
                  <a:close/>
                </a:path>
                <a:path w="1511935" h="219710">
                  <a:moveTo>
                    <a:pt x="729996" y="118872"/>
                  </a:moveTo>
                  <a:lnTo>
                    <a:pt x="726948" y="86868"/>
                  </a:lnTo>
                  <a:lnTo>
                    <a:pt x="851916" y="73152"/>
                  </a:lnTo>
                  <a:lnTo>
                    <a:pt x="854964" y="105156"/>
                  </a:lnTo>
                  <a:lnTo>
                    <a:pt x="729996" y="118872"/>
                  </a:lnTo>
                  <a:close/>
                </a:path>
                <a:path w="1511935" h="219710">
                  <a:moveTo>
                    <a:pt x="512064" y="143256"/>
                  </a:moveTo>
                  <a:lnTo>
                    <a:pt x="507492" y="111252"/>
                  </a:lnTo>
                  <a:lnTo>
                    <a:pt x="632460" y="97536"/>
                  </a:lnTo>
                  <a:lnTo>
                    <a:pt x="637032" y="128016"/>
                  </a:lnTo>
                  <a:lnTo>
                    <a:pt x="512064" y="143256"/>
                  </a:lnTo>
                  <a:close/>
                </a:path>
                <a:path w="1511935" h="219710">
                  <a:moveTo>
                    <a:pt x="292608" y="167640"/>
                  </a:moveTo>
                  <a:lnTo>
                    <a:pt x="289560" y="135636"/>
                  </a:lnTo>
                  <a:lnTo>
                    <a:pt x="414528" y="121920"/>
                  </a:lnTo>
                  <a:lnTo>
                    <a:pt x="417576" y="152400"/>
                  </a:lnTo>
                  <a:lnTo>
                    <a:pt x="292608" y="167640"/>
                  </a:lnTo>
                  <a:close/>
                </a:path>
                <a:path w="1511935" h="219710">
                  <a:moveTo>
                    <a:pt x="99060" y="219456"/>
                  </a:moveTo>
                  <a:lnTo>
                    <a:pt x="0" y="182880"/>
                  </a:lnTo>
                  <a:lnTo>
                    <a:pt x="89916" y="126492"/>
                  </a:lnTo>
                  <a:lnTo>
                    <a:pt x="93037" y="158230"/>
                  </a:lnTo>
                  <a:lnTo>
                    <a:pt x="77724" y="160020"/>
                  </a:lnTo>
                  <a:lnTo>
                    <a:pt x="80772" y="190500"/>
                  </a:lnTo>
                  <a:lnTo>
                    <a:pt x="96211" y="190500"/>
                  </a:lnTo>
                  <a:lnTo>
                    <a:pt x="99060" y="219456"/>
                  </a:lnTo>
                  <a:close/>
                </a:path>
                <a:path w="1511935" h="219710">
                  <a:moveTo>
                    <a:pt x="96038" y="188738"/>
                  </a:moveTo>
                  <a:lnTo>
                    <a:pt x="93037" y="158230"/>
                  </a:lnTo>
                  <a:lnTo>
                    <a:pt x="195072" y="146304"/>
                  </a:lnTo>
                  <a:lnTo>
                    <a:pt x="199644" y="176784"/>
                  </a:lnTo>
                  <a:lnTo>
                    <a:pt x="96038" y="188738"/>
                  </a:lnTo>
                  <a:close/>
                </a:path>
                <a:path w="1511935" h="219710">
                  <a:moveTo>
                    <a:pt x="80772" y="190500"/>
                  </a:moveTo>
                  <a:lnTo>
                    <a:pt x="77724" y="160020"/>
                  </a:lnTo>
                  <a:lnTo>
                    <a:pt x="93037" y="158230"/>
                  </a:lnTo>
                  <a:lnTo>
                    <a:pt x="96038" y="188738"/>
                  </a:lnTo>
                  <a:lnTo>
                    <a:pt x="80772" y="190500"/>
                  </a:lnTo>
                  <a:close/>
                </a:path>
                <a:path w="1511935" h="219710">
                  <a:moveTo>
                    <a:pt x="96211" y="190500"/>
                  </a:moveTo>
                  <a:lnTo>
                    <a:pt x="80772" y="190500"/>
                  </a:lnTo>
                  <a:lnTo>
                    <a:pt x="96038" y="188738"/>
                  </a:lnTo>
                  <a:lnTo>
                    <a:pt x="96211" y="190500"/>
                  </a:lnTo>
                  <a:close/>
                </a:path>
              </a:pathLst>
            </a:custGeom>
            <a:solidFill>
              <a:srgbClr val="CC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621779" y="6065520"/>
              <a:ext cx="3185160" cy="838200"/>
            </a:xfrm>
            <a:custGeom>
              <a:avLst/>
              <a:gdLst/>
              <a:ahLst/>
              <a:cxnLst/>
              <a:rect l="l" t="t" r="r" b="b"/>
              <a:pathLst>
                <a:path w="3185159" h="838200">
                  <a:moveTo>
                    <a:pt x="3046476" y="838200"/>
                  </a:moveTo>
                  <a:lnTo>
                    <a:pt x="140208" y="838200"/>
                  </a:lnTo>
                  <a:lnTo>
                    <a:pt x="96365" y="831092"/>
                  </a:lnTo>
                  <a:lnTo>
                    <a:pt x="57936" y="811328"/>
                  </a:lnTo>
                  <a:lnTo>
                    <a:pt x="27407" y="781251"/>
                  </a:lnTo>
                  <a:lnTo>
                    <a:pt x="7266" y="743199"/>
                  </a:lnTo>
                  <a:lnTo>
                    <a:pt x="0" y="699516"/>
                  </a:lnTo>
                  <a:lnTo>
                    <a:pt x="0" y="140208"/>
                  </a:lnTo>
                  <a:lnTo>
                    <a:pt x="7266" y="96365"/>
                  </a:lnTo>
                  <a:lnTo>
                    <a:pt x="27407" y="57936"/>
                  </a:lnTo>
                  <a:lnTo>
                    <a:pt x="57936" y="27407"/>
                  </a:lnTo>
                  <a:lnTo>
                    <a:pt x="96365" y="7266"/>
                  </a:lnTo>
                  <a:lnTo>
                    <a:pt x="140208" y="0"/>
                  </a:lnTo>
                  <a:lnTo>
                    <a:pt x="3046476" y="0"/>
                  </a:lnTo>
                  <a:lnTo>
                    <a:pt x="3090160" y="7266"/>
                  </a:lnTo>
                  <a:lnTo>
                    <a:pt x="3128211" y="27407"/>
                  </a:lnTo>
                  <a:lnTo>
                    <a:pt x="3158288" y="57936"/>
                  </a:lnTo>
                  <a:lnTo>
                    <a:pt x="3178052" y="96365"/>
                  </a:lnTo>
                  <a:lnTo>
                    <a:pt x="3185160" y="140208"/>
                  </a:lnTo>
                  <a:lnTo>
                    <a:pt x="3185160" y="699516"/>
                  </a:lnTo>
                  <a:lnTo>
                    <a:pt x="3178052" y="743199"/>
                  </a:lnTo>
                  <a:lnTo>
                    <a:pt x="3158288" y="781251"/>
                  </a:lnTo>
                  <a:lnTo>
                    <a:pt x="3128211" y="811328"/>
                  </a:lnTo>
                  <a:lnTo>
                    <a:pt x="3090160" y="831092"/>
                  </a:lnTo>
                  <a:lnTo>
                    <a:pt x="3046476" y="8382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621779" y="6065520"/>
              <a:ext cx="3185160" cy="838200"/>
            </a:xfrm>
            <a:custGeom>
              <a:avLst/>
              <a:gdLst/>
              <a:ahLst/>
              <a:cxnLst/>
              <a:rect l="l" t="t" r="r" b="b"/>
              <a:pathLst>
                <a:path w="3185159" h="838200">
                  <a:moveTo>
                    <a:pt x="0" y="140207"/>
                  </a:moveTo>
                  <a:lnTo>
                    <a:pt x="7266" y="96365"/>
                  </a:lnTo>
                  <a:lnTo>
                    <a:pt x="27407" y="57936"/>
                  </a:lnTo>
                  <a:lnTo>
                    <a:pt x="57936" y="27407"/>
                  </a:lnTo>
                  <a:lnTo>
                    <a:pt x="96365" y="7266"/>
                  </a:lnTo>
                  <a:lnTo>
                    <a:pt x="140208" y="0"/>
                  </a:lnTo>
                  <a:lnTo>
                    <a:pt x="531876" y="0"/>
                  </a:lnTo>
                  <a:lnTo>
                    <a:pt x="1327404" y="0"/>
                  </a:lnTo>
                  <a:lnTo>
                    <a:pt x="3046476" y="0"/>
                  </a:lnTo>
                  <a:lnTo>
                    <a:pt x="3090159" y="7266"/>
                  </a:lnTo>
                  <a:lnTo>
                    <a:pt x="3128211" y="27407"/>
                  </a:lnTo>
                  <a:lnTo>
                    <a:pt x="3158288" y="57936"/>
                  </a:lnTo>
                  <a:lnTo>
                    <a:pt x="3178052" y="96365"/>
                  </a:lnTo>
                  <a:lnTo>
                    <a:pt x="3185160" y="140207"/>
                  </a:lnTo>
                  <a:lnTo>
                    <a:pt x="3185160" y="489203"/>
                  </a:lnTo>
                  <a:lnTo>
                    <a:pt x="3185160" y="699515"/>
                  </a:lnTo>
                  <a:lnTo>
                    <a:pt x="3178052" y="743199"/>
                  </a:lnTo>
                  <a:lnTo>
                    <a:pt x="3158288" y="781251"/>
                  </a:lnTo>
                  <a:lnTo>
                    <a:pt x="3128211" y="811328"/>
                  </a:lnTo>
                  <a:lnTo>
                    <a:pt x="3090159" y="831092"/>
                  </a:lnTo>
                  <a:lnTo>
                    <a:pt x="3046476" y="838199"/>
                  </a:lnTo>
                  <a:lnTo>
                    <a:pt x="1327404" y="838199"/>
                  </a:lnTo>
                  <a:lnTo>
                    <a:pt x="803147" y="838199"/>
                  </a:lnTo>
                  <a:lnTo>
                    <a:pt x="531876" y="838199"/>
                  </a:lnTo>
                  <a:lnTo>
                    <a:pt x="140208" y="838199"/>
                  </a:lnTo>
                  <a:lnTo>
                    <a:pt x="96365" y="831092"/>
                  </a:lnTo>
                  <a:lnTo>
                    <a:pt x="57936" y="811328"/>
                  </a:lnTo>
                  <a:lnTo>
                    <a:pt x="27407" y="781251"/>
                  </a:lnTo>
                  <a:lnTo>
                    <a:pt x="7266" y="743199"/>
                  </a:lnTo>
                  <a:lnTo>
                    <a:pt x="0" y="699515"/>
                  </a:lnTo>
                  <a:lnTo>
                    <a:pt x="0" y="489203"/>
                  </a:lnTo>
                  <a:lnTo>
                    <a:pt x="0" y="140207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7424335" y="6136645"/>
            <a:ext cx="1577340" cy="67754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35890" marR="5080" indent="-123825">
              <a:lnSpc>
                <a:spcPts val="2500"/>
              </a:lnSpc>
              <a:spcBef>
                <a:spcPts val="295"/>
              </a:spcBef>
            </a:pPr>
            <a:r>
              <a:rPr sz="220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4. 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A</a:t>
            </a:r>
            <a:r>
              <a:rPr sz="2200" spc="-33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Process  terminates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178040" y="3131819"/>
            <a:ext cx="550545" cy="2936875"/>
          </a:xfrm>
          <a:custGeom>
            <a:avLst/>
            <a:gdLst/>
            <a:ahLst/>
            <a:cxnLst/>
            <a:rect l="l" t="t" r="r" b="b"/>
            <a:pathLst>
              <a:path w="550545" h="2936875">
                <a:moveTo>
                  <a:pt x="518160" y="2936748"/>
                </a:moveTo>
                <a:lnTo>
                  <a:pt x="496824" y="2813304"/>
                </a:lnTo>
                <a:lnTo>
                  <a:pt x="528828" y="2807208"/>
                </a:lnTo>
                <a:lnTo>
                  <a:pt x="550164" y="2932176"/>
                </a:lnTo>
                <a:lnTo>
                  <a:pt x="518160" y="2936748"/>
                </a:lnTo>
                <a:close/>
              </a:path>
              <a:path w="550545" h="2936875">
                <a:moveTo>
                  <a:pt x="481584" y="2720340"/>
                </a:moveTo>
                <a:lnTo>
                  <a:pt x="460248" y="2596896"/>
                </a:lnTo>
                <a:lnTo>
                  <a:pt x="490728" y="2590800"/>
                </a:lnTo>
                <a:lnTo>
                  <a:pt x="512064" y="2714244"/>
                </a:lnTo>
                <a:lnTo>
                  <a:pt x="481584" y="2720340"/>
                </a:lnTo>
                <a:close/>
              </a:path>
              <a:path w="550545" h="2936875">
                <a:moveTo>
                  <a:pt x="445008" y="2503932"/>
                </a:moveTo>
                <a:lnTo>
                  <a:pt x="423672" y="2378964"/>
                </a:lnTo>
                <a:lnTo>
                  <a:pt x="454152" y="2374392"/>
                </a:lnTo>
                <a:lnTo>
                  <a:pt x="475488" y="2497836"/>
                </a:lnTo>
                <a:lnTo>
                  <a:pt x="445008" y="2503932"/>
                </a:lnTo>
                <a:close/>
              </a:path>
              <a:path w="550545" h="2936875">
                <a:moveTo>
                  <a:pt x="406908" y="2286000"/>
                </a:moveTo>
                <a:lnTo>
                  <a:pt x="385572" y="2162556"/>
                </a:lnTo>
                <a:lnTo>
                  <a:pt x="417576" y="2157984"/>
                </a:lnTo>
                <a:lnTo>
                  <a:pt x="437388" y="2281428"/>
                </a:lnTo>
                <a:lnTo>
                  <a:pt x="406908" y="2286000"/>
                </a:lnTo>
                <a:close/>
              </a:path>
              <a:path w="550545" h="2936875">
                <a:moveTo>
                  <a:pt x="370332" y="2069592"/>
                </a:moveTo>
                <a:lnTo>
                  <a:pt x="348996" y="1946148"/>
                </a:lnTo>
                <a:lnTo>
                  <a:pt x="379476" y="1940052"/>
                </a:lnTo>
                <a:lnTo>
                  <a:pt x="400812" y="2065020"/>
                </a:lnTo>
                <a:lnTo>
                  <a:pt x="370332" y="2069592"/>
                </a:lnTo>
                <a:close/>
              </a:path>
              <a:path w="550545" h="2936875">
                <a:moveTo>
                  <a:pt x="332232" y="1853184"/>
                </a:moveTo>
                <a:lnTo>
                  <a:pt x="310896" y="1728216"/>
                </a:lnTo>
                <a:lnTo>
                  <a:pt x="342900" y="1723644"/>
                </a:lnTo>
                <a:lnTo>
                  <a:pt x="364236" y="1847088"/>
                </a:lnTo>
                <a:lnTo>
                  <a:pt x="332232" y="1853184"/>
                </a:lnTo>
                <a:close/>
              </a:path>
              <a:path w="550545" h="2936875">
                <a:moveTo>
                  <a:pt x="295656" y="1635252"/>
                </a:moveTo>
                <a:lnTo>
                  <a:pt x="274320" y="1511808"/>
                </a:lnTo>
                <a:lnTo>
                  <a:pt x="304800" y="1507236"/>
                </a:lnTo>
                <a:lnTo>
                  <a:pt x="326136" y="1630680"/>
                </a:lnTo>
                <a:lnTo>
                  <a:pt x="295656" y="1635252"/>
                </a:lnTo>
                <a:close/>
              </a:path>
              <a:path w="550545" h="2936875">
                <a:moveTo>
                  <a:pt x="259080" y="1418844"/>
                </a:moveTo>
                <a:lnTo>
                  <a:pt x="237744" y="1295400"/>
                </a:lnTo>
                <a:lnTo>
                  <a:pt x="268224" y="1289304"/>
                </a:lnTo>
                <a:lnTo>
                  <a:pt x="289560" y="1414272"/>
                </a:lnTo>
                <a:lnTo>
                  <a:pt x="259080" y="1418844"/>
                </a:lnTo>
                <a:close/>
              </a:path>
              <a:path w="550545" h="2936875">
                <a:moveTo>
                  <a:pt x="220980" y="1202436"/>
                </a:moveTo>
                <a:lnTo>
                  <a:pt x="199644" y="1078992"/>
                </a:lnTo>
                <a:lnTo>
                  <a:pt x="231648" y="1072896"/>
                </a:lnTo>
                <a:lnTo>
                  <a:pt x="251460" y="1196340"/>
                </a:lnTo>
                <a:lnTo>
                  <a:pt x="220980" y="1202436"/>
                </a:lnTo>
                <a:close/>
              </a:path>
              <a:path w="550545" h="2936875">
                <a:moveTo>
                  <a:pt x="184404" y="986028"/>
                </a:moveTo>
                <a:lnTo>
                  <a:pt x="163068" y="861060"/>
                </a:lnTo>
                <a:lnTo>
                  <a:pt x="193548" y="856488"/>
                </a:lnTo>
                <a:lnTo>
                  <a:pt x="214884" y="979932"/>
                </a:lnTo>
                <a:lnTo>
                  <a:pt x="184404" y="986028"/>
                </a:lnTo>
                <a:close/>
              </a:path>
              <a:path w="550545" h="2936875">
                <a:moveTo>
                  <a:pt x="146304" y="768096"/>
                </a:moveTo>
                <a:lnTo>
                  <a:pt x="124968" y="644652"/>
                </a:lnTo>
                <a:lnTo>
                  <a:pt x="156972" y="638556"/>
                </a:lnTo>
                <a:lnTo>
                  <a:pt x="178308" y="763524"/>
                </a:lnTo>
                <a:lnTo>
                  <a:pt x="146304" y="768096"/>
                </a:lnTo>
                <a:close/>
              </a:path>
              <a:path w="550545" h="2936875">
                <a:moveTo>
                  <a:pt x="109728" y="551688"/>
                </a:moveTo>
                <a:lnTo>
                  <a:pt x="88392" y="428244"/>
                </a:lnTo>
                <a:lnTo>
                  <a:pt x="118872" y="422148"/>
                </a:lnTo>
                <a:lnTo>
                  <a:pt x="140208" y="545592"/>
                </a:lnTo>
                <a:lnTo>
                  <a:pt x="109728" y="551688"/>
                </a:lnTo>
                <a:close/>
              </a:path>
              <a:path w="550545" h="2936875">
                <a:moveTo>
                  <a:pt x="73152" y="335280"/>
                </a:moveTo>
                <a:lnTo>
                  <a:pt x="51816" y="210312"/>
                </a:lnTo>
                <a:lnTo>
                  <a:pt x="82296" y="205740"/>
                </a:lnTo>
                <a:lnTo>
                  <a:pt x="103632" y="329184"/>
                </a:lnTo>
                <a:lnTo>
                  <a:pt x="73152" y="335280"/>
                </a:lnTo>
                <a:close/>
              </a:path>
              <a:path w="550545" h="2936875">
                <a:moveTo>
                  <a:pt x="0" y="102108"/>
                </a:moveTo>
                <a:lnTo>
                  <a:pt x="30480" y="0"/>
                </a:lnTo>
                <a:lnTo>
                  <a:pt x="86269" y="76200"/>
                </a:lnTo>
                <a:lnTo>
                  <a:pt x="59436" y="76200"/>
                </a:lnTo>
                <a:lnTo>
                  <a:pt x="28956" y="80772"/>
                </a:lnTo>
                <a:lnTo>
                  <a:pt x="31563" y="96416"/>
                </a:lnTo>
                <a:lnTo>
                  <a:pt x="0" y="102108"/>
                </a:lnTo>
                <a:close/>
              </a:path>
              <a:path w="550545" h="2936875">
                <a:moveTo>
                  <a:pt x="31563" y="96416"/>
                </a:moveTo>
                <a:lnTo>
                  <a:pt x="28956" y="80772"/>
                </a:lnTo>
                <a:lnTo>
                  <a:pt x="59436" y="76200"/>
                </a:lnTo>
                <a:lnTo>
                  <a:pt x="62486" y="90840"/>
                </a:lnTo>
                <a:lnTo>
                  <a:pt x="31563" y="96416"/>
                </a:lnTo>
                <a:close/>
              </a:path>
              <a:path w="550545" h="2936875">
                <a:moveTo>
                  <a:pt x="62486" y="90840"/>
                </a:moveTo>
                <a:lnTo>
                  <a:pt x="59436" y="76200"/>
                </a:lnTo>
                <a:lnTo>
                  <a:pt x="86269" y="76200"/>
                </a:lnTo>
                <a:lnTo>
                  <a:pt x="92964" y="85344"/>
                </a:lnTo>
                <a:lnTo>
                  <a:pt x="62486" y="90840"/>
                </a:lnTo>
                <a:close/>
              </a:path>
              <a:path w="550545" h="2936875">
                <a:moveTo>
                  <a:pt x="35052" y="117348"/>
                </a:moveTo>
                <a:lnTo>
                  <a:pt x="31563" y="96416"/>
                </a:lnTo>
                <a:lnTo>
                  <a:pt x="62486" y="90840"/>
                </a:lnTo>
                <a:lnTo>
                  <a:pt x="67056" y="112776"/>
                </a:lnTo>
                <a:lnTo>
                  <a:pt x="35052" y="117348"/>
                </a:lnTo>
                <a:close/>
              </a:path>
            </a:pathLst>
          </a:custGeom>
          <a:solidFill>
            <a:srgbClr val="CC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28" name="object 28"/>
          <p:cNvSpPr txBox="1"/>
          <p:nvPr/>
        </p:nvSpPr>
        <p:spPr>
          <a:xfrm>
            <a:off x="280400" y="7095872"/>
            <a:ext cx="262255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55"/>
              </a:lnSpc>
            </a:pPr>
            <a:fld id="{81D60167-4931-47E6-BA6A-407CBD079E47}" type="slidenum">
              <a:rPr sz="1300" spc="10" dirty="0">
                <a:latin typeface="Arial" panose="020B0604020202020204"/>
                <a:cs typeface="Arial" panose="020B0604020202020204"/>
              </a:rPr>
            </a:fld>
            <a:endParaRPr sz="13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3832" y="653402"/>
            <a:ext cx="4638675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50" b="1" spc="-240" dirty="0">
                <a:solidFill>
                  <a:srgbClr val="00AF50"/>
                </a:solidFill>
                <a:latin typeface="Trebuchet MS" panose="020B0603020202020204"/>
                <a:cs typeface="Trebuchet MS" panose="020B0603020202020204"/>
              </a:rPr>
              <a:t>Preemptive</a:t>
            </a:r>
            <a:r>
              <a:rPr sz="3750" b="1" spc="-280" dirty="0">
                <a:solidFill>
                  <a:srgbClr val="00AF5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750" b="1" spc="-145" dirty="0">
                <a:solidFill>
                  <a:srgbClr val="00AF50"/>
                </a:solidFill>
                <a:latin typeface="Trebuchet MS" panose="020B0603020202020204"/>
                <a:cs typeface="Trebuchet MS" panose="020B0603020202020204"/>
              </a:rPr>
              <a:t>Scheduling</a:t>
            </a:r>
            <a:endParaRPr sz="37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5" name="object 5"/>
          <p:cNvSpPr txBox="1"/>
          <p:nvPr/>
        </p:nvSpPr>
        <p:spPr>
          <a:xfrm>
            <a:off x="280400" y="7095872"/>
            <a:ext cx="262255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55"/>
              </a:lnSpc>
            </a:pPr>
            <a:fld id="{81D60167-4931-47E6-BA6A-407CBD079E47}" type="slidenum">
              <a:rPr sz="1300" spc="10" dirty="0">
                <a:latin typeface="Arial" panose="020B0604020202020204"/>
                <a:cs typeface="Arial" panose="020B0604020202020204"/>
              </a:rPr>
            </a:fld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3655" y="1653096"/>
            <a:ext cx="8177530" cy="9175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12420" marR="5080" indent="-300355">
              <a:lnSpc>
                <a:spcPts val="3320"/>
              </a:lnSpc>
              <a:spcBef>
                <a:spcPts val="525"/>
              </a:spcBef>
            </a:pPr>
            <a:r>
              <a:rPr sz="2600" spc="-1155" dirty="0">
                <a:solidFill>
                  <a:srgbClr val="D34816"/>
                </a:solidFill>
                <a:latin typeface="Webdings" panose="05030102010509060703"/>
                <a:cs typeface="Webdings" panose="05030102010509060703"/>
              </a:rPr>
              <a:t></a:t>
            </a:r>
            <a:r>
              <a:rPr sz="2600" spc="260" dirty="0">
                <a:solidFill>
                  <a:srgbClr val="D3481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Possible 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get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CPU </a:t>
            </a: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back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from </a:t>
            </a:r>
            <a:r>
              <a:rPr sz="3050" spc="-229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process, </a:t>
            </a: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even </a:t>
            </a:r>
            <a:r>
              <a:rPr sz="3050" spc="-180" dirty="0">
                <a:latin typeface="Times New Roman" panose="02020603050405020304"/>
                <a:cs typeface="Times New Roman" panose="02020603050405020304"/>
              </a:rPr>
              <a:t>if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3050" spc="-215" dirty="0">
                <a:latin typeface="Times New Roman" panose="02020603050405020304"/>
                <a:cs typeface="Times New Roman" panose="02020603050405020304"/>
              </a:rPr>
              <a:t>has </a:t>
            </a:r>
            <a:r>
              <a:rPr sz="3050" spc="-65" dirty="0">
                <a:latin typeface="Times New Roman" panose="02020603050405020304"/>
                <a:cs typeface="Times New Roman" panose="02020603050405020304"/>
              </a:rPr>
              <a:t>not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completed its</a:t>
            </a:r>
            <a:r>
              <a:rPr sz="3050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execution.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293" y="188213"/>
            <a:ext cx="9922764" cy="737006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0715" y="849819"/>
            <a:ext cx="4638675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50" spc="-240" dirty="0">
                <a:solidFill>
                  <a:srgbClr val="696464"/>
                </a:solidFill>
              </a:rPr>
              <a:t>Preemptive</a:t>
            </a:r>
            <a:r>
              <a:rPr sz="3750" spc="-280" dirty="0">
                <a:solidFill>
                  <a:srgbClr val="696464"/>
                </a:solidFill>
              </a:rPr>
              <a:t> </a:t>
            </a:r>
            <a:r>
              <a:rPr sz="3750" spc="-145" dirty="0">
                <a:solidFill>
                  <a:srgbClr val="696464"/>
                </a:solidFill>
              </a:rPr>
              <a:t>Scheduling</a:t>
            </a:r>
            <a:endParaRPr sz="3750"/>
          </a:p>
        </p:txBody>
      </p:sp>
      <p:sp>
        <p:nvSpPr>
          <p:cNvPr id="4" name="object 4"/>
          <p:cNvSpPr txBox="1"/>
          <p:nvPr/>
        </p:nvSpPr>
        <p:spPr>
          <a:xfrm>
            <a:off x="1247647" y="3015487"/>
            <a:ext cx="41402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2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5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500" spc="2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w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61072" y="3015487"/>
            <a:ext cx="34925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500" spc="1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15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5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t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5245" y="2699993"/>
            <a:ext cx="4527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300" spc="1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300" spc="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mit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27577" y="2620757"/>
            <a:ext cx="63881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3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300" spc="-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1300" spc="1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3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3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se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58688" y="3015487"/>
            <a:ext cx="75057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2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5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1500" spc="2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5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5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500" spc="2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500" spc="2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g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39744" y="3015487"/>
            <a:ext cx="58737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2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5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500" spc="2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5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500" spc="1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y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36423" y="2523267"/>
            <a:ext cx="67691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Di</a:t>
            </a:r>
            <a:r>
              <a:rPr sz="13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3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300" spc="1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300" spc="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tch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36423" y="3420895"/>
            <a:ext cx="68389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Time-out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42208" y="5926328"/>
            <a:ext cx="71755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Blocked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826751" y="3483863"/>
            <a:ext cx="1986280" cy="2326005"/>
          </a:xfrm>
          <a:custGeom>
            <a:avLst/>
            <a:gdLst/>
            <a:ahLst/>
            <a:cxnLst/>
            <a:rect l="l" t="t" r="r" b="b"/>
            <a:pathLst>
              <a:path w="1986279" h="2326004">
                <a:moveTo>
                  <a:pt x="83832" y="83820"/>
                </a:moveTo>
                <a:lnTo>
                  <a:pt x="69088" y="54864"/>
                </a:lnTo>
                <a:lnTo>
                  <a:pt x="41148" y="0"/>
                </a:lnTo>
                <a:lnTo>
                  <a:pt x="0" y="83820"/>
                </a:lnTo>
                <a:lnTo>
                  <a:pt x="35052" y="59156"/>
                </a:lnTo>
                <a:lnTo>
                  <a:pt x="35052" y="2255520"/>
                </a:lnTo>
                <a:lnTo>
                  <a:pt x="48768" y="2255520"/>
                </a:lnTo>
                <a:lnTo>
                  <a:pt x="48768" y="60045"/>
                </a:lnTo>
                <a:lnTo>
                  <a:pt x="83832" y="83820"/>
                </a:lnTo>
                <a:close/>
              </a:path>
              <a:path w="1986279" h="2326004">
                <a:moveTo>
                  <a:pt x="1985784" y="15252"/>
                </a:moveTo>
                <a:lnTo>
                  <a:pt x="1973592" y="7620"/>
                </a:lnTo>
                <a:lnTo>
                  <a:pt x="593953" y="2262047"/>
                </a:lnTo>
                <a:lnTo>
                  <a:pt x="593953" y="2278316"/>
                </a:lnTo>
                <a:lnTo>
                  <a:pt x="592836" y="2278392"/>
                </a:lnTo>
                <a:lnTo>
                  <a:pt x="592340" y="2277313"/>
                </a:lnTo>
                <a:lnTo>
                  <a:pt x="593953" y="2278316"/>
                </a:lnTo>
                <a:lnTo>
                  <a:pt x="593953" y="2262047"/>
                </a:lnTo>
                <a:lnTo>
                  <a:pt x="589000" y="2270137"/>
                </a:lnTo>
                <a:lnTo>
                  <a:pt x="571500" y="2232672"/>
                </a:lnTo>
                <a:lnTo>
                  <a:pt x="563880" y="2325636"/>
                </a:lnTo>
                <a:lnTo>
                  <a:pt x="633526" y="2281440"/>
                </a:lnTo>
                <a:lnTo>
                  <a:pt x="643128" y="2275344"/>
                </a:lnTo>
                <a:lnTo>
                  <a:pt x="601116" y="2277884"/>
                </a:lnTo>
                <a:lnTo>
                  <a:pt x="1985784" y="152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292359" y="4434349"/>
            <a:ext cx="31369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300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ve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93400" y="4462929"/>
            <a:ext cx="481330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55"/>
              </a:lnSpc>
            </a:pPr>
            <a:r>
              <a:rPr sz="130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nt</a:t>
            </a:r>
            <a:r>
              <a:rPr sz="1300" spc="-6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00" spc="-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wait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16382" y="947102"/>
            <a:ext cx="3195955" cy="1687195"/>
            <a:chOff x="6616382" y="947102"/>
            <a:chExt cx="3195955" cy="1687195"/>
          </a:xfrm>
        </p:grpSpPr>
        <p:sp>
          <p:nvSpPr>
            <p:cNvPr id="17" name="object 17"/>
            <p:cNvSpPr/>
            <p:nvPr/>
          </p:nvSpPr>
          <p:spPr>
            <a:xfrm>
              <a:off x="6621779" y="952499"/>
              <a:ext cx="3185160" cy="1676400"/>
            </a:xfrm>
            <a:custGeom>
              <a:avLst/>
              <a:gdLst/>
              <a:ahLst/>
              <a:cxnLst/>
              <a:rect l="l" t="t" r="r" b="b"/>
              <a:pathLst>
                <a:path w="3185159" h="1676400">
                  <a:moveTo>
                    <a:pt x="2906268" y="1676400"/>
                  </a:moveTo>
                  <a:lnTo>
                    <a:pt x="280416" y="1676400"/>
                  </a:lnTo>
                  <a:lnTo>
                    <a:pt x="235160" y="1672747"/>
                  </a:lnTo>
                  <a:lnTo>
                    <a:pt x="192145" y="1662171"/>
                  </a:lnTo>
                  <a:lnTo>
                    <a:pt x="151965" y="1645251"/>
                  </a:lnTo>
                  <a:lnTo>
                    <a:pt x="115214" y="1622560"/>
                  </a:lnTo>
                  <a:lnTo>
                    <a:pt x="82486" y="1594675"/>
                  </a:lnTo>
                  <a:lnTo>
                    <a:pt x="54376" y="1562173"/>
                  </a:lnTo>
                  <a:lnTo>
                    <a:pt x="31478" y="1525629"/>
                  </a:lnTo>
                  <a:lnTo>
                    <a:pt x="14386" y="1485619"/>
                  </a:lnTo>
                  <a:lnTo>
                    <a:pt x="3695" y="1442720"/>
                  </a:lnTo>
                  <a:lnTo>
                    <a:pt x="0" y="1397508"/>
                  </a:lnTo>
                  <a:lnTo>
                    <a:pt x="0" y="280416"/>
                  </a:lnTo>
                  <a:lnTo>
                    <a:pt x="3695" y="235160"/>
                  </a:lnTo>
                  <a:lnTo>
                    <a:pt x="14386" y="192145"/>
                  </a:lnTo>
                  <a:lnTo>
                    <a:pt x="31478" y="151965"/>
                  </a:lnTo>
                  <a:lnTo>
                    <a:pt x="54376" y="115214"/>
                  </a:lnTo>
                  <a:lnTo>
                    <a:pt x="82486" y="82486"/>
                  </a:lnTo>
                  <a:lnTo>
                    <a:pt x="115214" y="54376"/>
                  </a:lnTo>
                  <a:lnTo>
                    <a:pt x="151965" y="31478"/>
                  </a:lnTo>
                  <a:lnTo>
                    <a:pt x="192145" y="14386"/>
                  </a:lnTo>
                  <a:lnTo>
                    <a:pt x="235160" y="3695"/>
                  </a:lnTo>
                  <a:lnTo>
                    <a:pt x="280416" y="0"/>
                  </a:lnTo>
                  <a:lnTo>
                    <a:pt x="2906268" y="0"/>
                  </a:lnTo>
                  <a:lnTo>
                    <a:pt x="2951480" y="3695"/>
                  </a:lnTo>
                  <a:lnTo>
                    <a:pt x="2994379" y="14386"/>
                  </a:lnTo>
                  <a:lnTo>
                    <a:pt x="3034389" y="31478"/>
                  </a:lnTo>
                  <a:lnTo>
                    <a:pt x="3070933" y="54376"/>
                  </a:lnTo>
                  <a:lnTo>
                    <a:pt x="3103435" y="82486"/>
                  </a:lnTo>
                  <a:lnTo>
                    <a:pt x="3131320" y="115214"/>
                  </a:lnTo>
                  <a:lnTo>
                    <a:pt x="3154011" y="151965"/>
                  </a:lnTo>
                  <a:lnTo>
                    <a:pt x="3170932" y="192145"/>
                  </a:lnTo>
                  <a:lnTo>
                    <a:pt x="3181507" y="235160"/>
                  </a:lnTo>
                  <a:lnTo>
                    <a:pt x="3185160" y="280416"/>
                  </a:lnTo>
                  <a:lnTo>
                    <a:pt x="3185160" y="1397508"/>
                  </a:lnTo>
                  <a:lnTo>
                    <a:pt x="3181507" y="1442720"/>
                  </a:lnTo>
                  <a:lnTo>
                    <a:pt x="3170932" y="1485619"/>
                  </a:lnTo>
                  <a:lnTo>
                    <a:pt x="3154011" y="1525629"/>
                  </a:lnTo>
                  <a:lnTo>
                    <a:pt x="3131320" y="1562173"/>
                  </a:lnTo>
                  <a:lnTo>
                    <a:pt x="3103435" y="1594675"/>
                  </a:lnTo>
                  <a:lnTo>
                    <a:pt x="3070933" y="1622560"/>
                  </a:lnTo>
                  <a:lnTo>
                    <a:pt x="3034389" y="1645251"/>
                  </a:lnTo>
                  <a:lnTo>
                    <a:pt x="2994379" y="1662171"/>
                  </a:lnTo>
                  <a:lnTo>
                    <a:pt x="2951480" y="1672747"/>
                  </a:lnTo>
                  <a:lnTo>
                    <a:pt x="2906268" y="16764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621779" y="952499"/>
              <a:ext cx="3185160" cy="1676400"/>
            </a:xfrm>
            <a:custGeom>
              <a:avLst/>
              <a:gdLst/>
              <a:ahLst/>
              <a:cxnLst/>
              <a:rect l="l" t="t" r="r" b="b"/>
              <a:pathLst>
                <a:path w="3185159" h="1676400">
                  <a:moveTo>
                    <a:pt x="0" y="280416"/>
                  </a:moveTo>
                  <a:lnTo>
                    <a:pt x="3695" y="235160"/>
                  </a:lnTo>
                  <a:lnTo>
                    <a:pt x="14386" y="192145"/>
                  </a:lnTo>
                  <a:lnTo>
                    <a:pt x="31478" y="151965"/>
                  </a:lnTo>
                  <a:lnTo>
                    <a:pt x="54376" y="115214"/>
                  </a:lnTo>
                  <a:lnTo>
                    <a:pt x="82486" y="82486"/>
                  </a:lnTo>
                  <a:lnTo>
                    <a:pt x="115214" y="54376"/>
                  </a:lnTo>
                  <a:lnTo>
                    <a:pt x="151965" y="31478"/>
                  </a:lnTo>
                  <a:lnTo>
                    <a:pt x="192145" y="14386"/>
                  </a:lnTo>
                  <a:lnTo>
                    <a:pt x="235160" y="3695"/>
                  </a:lnTo>
                  <a:lnTo>
                    <a:pt x="280416" y="0"/>
                  </a:lnTo>
                  <a:lnTo>
                    <a:pt x="531876" y="0"/>
                  </a:lnTo>
                  <a:lnTo>
                    <a:pt x="1327404" y="0"/>
                  </a:lnTo>
                  <a:lnTo>
                    <a:pt x="2906268" y="0"/>
                  </a:lnTo>
                  <a:lnTo>
                    <a:pt x="2951480" y="3695"/>
                  </a:lnTo>
                  <a:lnTo>
                    <a:pt x="2994379" y="14386"/>
                  </a:lnTo>
                  <a:lnTo>
                    <a:pt x="3034389" y="31478"/>
                  </a:lnTo>
                  <a:lnTo>
                    <a:pt x="3070933" y="54376"/>
                  </a:lnTo>
                  <a:lnTo>
                    <a:pt x="3103435" y="82486"/>
                  </a:lnTo>
                  <a:lnTo>
                    <a:pt x="3131320" y="115214"/>
                  </a:lnTo>
                  <a:lnTo>
                    <a:pt x="3154010" y="151965"/>
                  </a:lnTo>
                  <a:lnTo>
                    <a:pt x="3170931" y="192145"/>
                  </a:lnTo>
                  <a:lnTo>
                    <a:pt x="3181506" y="235160"/>
                  </a:lnTo>
                  <a:lnTo>
                    <a:pt x="3185160" y="280416"/>
                  </a:lnTo>
                  <a:lnTo>
                    <a:pt x="3185160" y="978408"/>
                  </a:lnTo>
                  <a:lnTo>
                    <a:pt x="3185160" y="1397508"/>
                  </a:lnTo>
                  <a:lnTo>
                    <a:pt x="3181506" y="1442720"/>
                  </a:lnTo>
                  <a:lnTo>
                    <a:pt x="3170931" y="1485619"/>
                  </a:lnTo>
                  <a:lnTo>
                    <a:pt x="3154010" y="1525629"/>
                  </a:lnTo>
                  <a:lnTo>
                    <a:pt x="3131320" y="1562173"/>
                  </a:lnTo>
                  <a:lnTo>
                    <a:pt x="3103435" y="1594675"/>
                  </a:lnTo>
                  <a:lnTo>
                    <a:pt x="3070933" y="1622560"/>
                  </a:lnTo>
                  <a:lnTo>
                    <a:pt x="3034389" y="1645250"/>
                  </a:lnTo>
                  <a:lnTo>
                    <a:pt x="2994379" y="1662171"/>
                  </a:lnTo>
                  <a:lnTo>
                    <a:pt x="2951480" y="1672746"/>
                  </a:lnTo>
                  <a:lnTo>
                    <a:pt x="2906268" y="1676400"/>
                  </a:lnTo>
                  <a:lnTo>
                    <a:pt x="1327404" y="1676400"/>
                  </a:lnTo>
                  <a:lnTo>
                    <a:pt x="620268" y="1676400"/>
                  </a:lnTo>
                  <a:lnTo>
                    <a:pt x="531876" y="1676400"/>
                  </a:lnTo>
                  <a:lnTo>
                    <a:pt x="280416" y="1676400"/>
                  </a:lnTo>
                  <a:lnTo>
                    <a:pt x="235160" y="1672746"/>
                  </a:lnTo>
                  <a:lnTo>
                    <a:pt x="192145" y="1662171"/>
                  </a:lnTo>
                  <a:lnTo>
                    <a:pt x="151965" y="1645250"/>
                  </a:lnTo>
                  <a:lnTo>
                    <a:pt x="115214" y="1622560"/>
                  </a:lnTo>
                  <a:lnTo>
                    <a:pt x="82486" y="1594675"/>
                  </a:lnTo>
                  <a:lnTo>
                    <a:pt x="54376" y="1562173"/>
                  </a:lnTo>
                  <a:lnTo>
                    <a:pt x="31478" y="1525629"/>
                  </a:lnTo>
                  <a:lnTo>
                    <a:pt x="14386" y="1485619"/>
                  </a:lnTo>
                  <a:lnTo>
                    <a:pt x="3695" y="1442720"/>
                  </a:lnTo>
                  <a:lnTo>
                    <a:pt x="0" y="1397508"/>
                  </a:lnTo>
                  <a:lnTo>
                    <a:pt x="0" y="978408"/>
                  </a:lnTo>
                  <a:lnTo>
                    <a:pt x="0" y="280416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828561" y="1064732"/>
            <a:ext cx="277177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0185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2. 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Interrupt </a:t>
            </a:r>
            <a:r>
              <a:rPr sz="2200" dirty="0">
                <a:latin typeface="Arial" panose="020B0604020202020204"/>
                <a:cs typeface="Arial" panose="020B0604020202020204"/>
              </a:rPr>
              <a:t>occurs,  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move from Running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to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982980">
              <a:lnSpc>
                <a:spcPct val="100000"/>
              </a:lnSpc>
            </a:pPr>
            <a:r>
              <a:rPr sz="2200" spc="-5" dirty="0">
                <a:latin typeface="Arial" panose="020B0604020202020204"/>
                <a:cs typeface="Arial" panose="020B0604020202020204"/>
              </a:rPr>
              <a:t>Ready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13702" y="3964622"/>
            <a:ext cx="3195955" cy="1771014"/>
            <a:chOff x="413702" y="3964622"/>
            <a:chExt cx="3195955" cy="1771014"/>
          </a:xfrm>
        </p:grpSpPr>
        <p:sp>
          <p:nvSpPr>
            <p:cNvPr id="21" name="object 21"/>
            <p:cNvSpPr/>
            <p:nvPr/>
          </p:nvSpPr>
          <p:spPr>
            <a:xfrm>
              <a:off x="419100" y="3970019"/>
              <a:ext cx="3185160" cy="1760220"/>
            </a:xfrm>
            <a:custGeom>
              <a:avLst/>
              <a:gdLst/>
              <a:ahLst/>
              <a:cxnLst/>
              <a:rect l="l" t="t" r="r" b="b"/>
              <a:pathLst>
                <a:path w="3185160" h="1760220">
                  <a:moveTo>
                    <a:pt x="2892552" y="1760220"/>
                  </a:moveTo>
                  <a:lnTo>
                    <a:pt x="294132" y="1760220"/>
                  </a:lnTo>
                  <a:lnTo>
                    <a:pt x="246641" y="1756388"/>
                  </a:lnTo>
                  <a:lnTo>
                    <a:pt x="201509" y="1745297"/>
                  </a:lnTo>
                  <a:lnTo>
                    <a:pt x="159358" y="1727548"/>
                  </a:lnTo>
                  <a:lnTo>
                    <a:pt x="120810" y="1703746"/>
                  </a:lnTo>
                  <a:lnTo>
                    <a:pt x="86487" y="1674495"/>
                  </a:lnTo>
                  <a:lnTo>
                    <a:pt x="57009" y="1640397"/>
                  </a:lnTo>
                  <a:lnTo>
                    <a:pt x="33000" y="1602056"/>
                  </a:lnTo>
                  <a:lnTo>
                    <a:pt x="15081" y="1560076"/>
                  </a:lnTo>
                  <a:lnTo>
                    <a:pt x="3874" y="1515060"/>
                  </a:lnTo>
                  <a:lnTo>
                    <a:pt x="0" y="1467612"/>
                  </a:lnTo>
                  <a:lnTo>
                    <a:pt x="0" y="294132"/>
                  </a:lnTo>
                  <a:lnTo>
                    <a:pt x="3874" y="246641"/>
                  </a:lnTo>
                  <a:lnTo>
                    <a:pt x="15081" y="201509"/>
                  </a:lnTo>
                  <a:lnTo>
                    <a:pt x="33000" y="159358"/>
                  </a:lnTo>
                  <a:lnTo>
                    <a:pt x="57009" y="120810"/>
                  </a:lnTo>
                  <a:lnTo>
                    <a:pt x="86487" y="86487"/>
                  </a:lnTo>
                  <a:lnTo>
                    <a:pt x="120810" y="57009"/>
                  </a:lnTo>
                  <a:lnTo>
                    <a:pt x="159358" y="33000"/>
                  </a:lnTo>
                  <a:lnTo>
                    <a:pt x="201509" y="15081"/>
                  </a:lnTo>
                  <a:lnTo>
                    <a:pt x="246641" y="3874"/>
                  </a:lnTo>
                  <a:lnTo>
                    <a:pt x="294132" y="0"/>
                  </a:lnTo>
                  <a:lnTo>
                    <a:pt x="2892552" y="0"/>
                  </a:lnTo>
                  <a:lnTo>
                    <a:pt x="2940000" y="3874"/>
                  </a:lnTo>
                  <a:lnTo>
                    <a:pt x="2985016" y="15081"/>
                  </a:lnTo>
                  <a:lnTo>
                    <a:pt x="3026996" y="33000"/>
                  </a:lnTo>
                  <a:lnTo>
                    <a:pt x="3065337" y="57009"/>
                  </a:lnTo>
                  <a:lnTo>
                    <a:pt x="3099435" y="86487"/>
                  </a:lnTo>
                  <a:lnTo>
                    <a:pt x="3128686" y="120810"/>
                  </a:lnTo>
                  <a:lnTo>
                    <a:pt x="3152488" y="159358"/>
                  </a:lnTo>
                  <a:lnTo>
                    <a:pt x="3170237" y="201509"/>
                  </a:lnTo>
                  <a:lnTo>
                    <a:pt x="3181328" y="246641"/>
                  </a:lnTo>
                  <a:lnTo>
                    <a:pt x="3185160" y="294132"/>
                  </a:lnTo>
                  <a:lnTo>
                    <a:pt x="3185160" y="1467612"/>
                  </a:lnTo>
                  <a:lnTo>
                    <a:pt x="3181328" y="1515060"/>
                  </a:lnTo>
                  <a:lnTo>
                    <a:pt x="3170237" y="1560076"/>
                  </a:lnTo>
                  <a:lnTo>
                    <a:pt x="3152488" y="1602056"/>
                  </a:lnTo>
                  <a:lnTo>
                    <a:pt x="3128686" y="1640397"/>
                  </a:lnTo>
                  <a:lnTo>
                    <a:pt x="3099435" y="1674495"/>
                  </a:lnTo>
                  <a:lnTo>
                    <a:pt x="3065337" y="1703746"/>
                  </a:lnTo>
                  <a:lnTo>
                    <a:pt x="3026996" y="1727548"/>
                  </a:lnTo>
                  <a:lnTo>
                    <a:pt x="2985016" y="1745297"/>
                  </a:lnTo>
                  <a:lnTo>
                    <a:pt x="2940000" y="1756388"/>
                  </a:lnTo>
                  <a:lnTo>
                    <a:pt x="2892552" y="176022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19100" y="3970019"/>
              <a:ext cx="3185160" cy="1760220"/>
            </a:xfrm>
            <a:custGeom>
              <a:avLst/>
              <a:gdLst/>
              <a:ahLst/>
              <a:cxnLst/>
              <a:rect l="l" t="t" r="r" b="b"/>
              <a:pathLst>
                <a:path w="3185160" h="1760220">
                  <a:moveTo>
                    <a:pt x="0" y="294132"/>
                  </a:moveTo>
                  <a:lnTo>
                    <a:pt x="3874" y="246641"/>
                  </a:lnTo>
                  <a:lnTo>
                    <a:pt x="15081" y="201509"/>
                  </a:lnTo>
                  <a:lnTo>
                    <a:pt x="33000" y="159358"/>
                  </a:lnTo>
                  <a:lnTo>
                    <a:pt x="57009" y="120810"/>
                  </a:lnTo>
                  <a:lnTo>
                    <a:pt x="86487" y="86487"/>
                  </a:lnTo>
                  <a:lnTo>
                    <a:pt x="120810" y="57009"/>
                  </a:lnTo>
                  <a:lnTo>
                    <a:pt x="159358" y="33000"/>
                  </a:lnTo>
                  <a:lnTo>
                    <a:pt x="201509" y="15081"/>
                  </a:lnTo>
                  <a:lnTo>
                    <a:pt x="246641" y="3874"/>
                  </a:lnTo>
                  <a:lnTo>
                    <a:pt x="294132" y="0"/>
                  </a:lnTo>
                  <a:lnTo>
                    <a:pt x="531876" y="0"/>
                  </a:lnTo>
                  <a:lnTo>
                    <a:pt x="1327404" y="0"/>
                  </a:lnTo>
                  <a:lnTo>
                    <a:pt x="2892552" y="0"/>
                  </a:lnTo>
                  <a:lnTo>
                    <a:pt x="2940000" y="3874"/>
                  </a:lnTo>
                  <a:lnTo>
                    <a:pt x="2985016" y="15081"/>
                  </a:lnTo>
                  <a:lnTo>
                    <a:pt x="3026996" y="33000"/>
                  </a:lnTo>
                  <a:lnTo>
                    <a:pt x="3065337" y="57009"/>
                  </a:lnTo>
                  <a:lnTo>
                    <a:pt x="3099434" y="86487"/>
                  </a:lnTo>
                  <a:lnTo>
                    <a:pt x="3128686" y="120810"/>
                  </a:lnTo>
                  <a:lnTo>
                    <a:pt x="3152488" y="159358"/>
                  </a:lnTo>
                  <a:lnTo>
                    <a:pt x="3170236" y="201509"/>
                  </a:lnTo>
                  <a:lnTo>
                    <a:pt x="3181328" y="246641"/>
                  </a:lnTo>
                  <a:lnTo>
                    <a:pt x="3185160" y="294132"/>
                  </a:lnTo>
                  <a:lnTo>
                    <a:pt x="3185160" y="1027176"/>
                  </a:lnTo>
                  <a:lnTo>
                    <a:pt x="3185160" y="1467612"/>
                  </a:lnTo>
                  <a:lnTo>
                    <a:pt x="3181328" y="1515060"/>
                  </a:lnTo>
                  <a:lnTo>
                    <a:pt x="3170236" y="1560076"/>
                  </a:lnTo>
                  <a:lnTo>
                    <a:pt x="3152488" y="1602056"/>
                  </a:lnTo>
                  <a:lnTo>
                    <a:pt x="3128686" y="1640397"/>
                  </a:lnTo>
                  <a:lnTo>
                    <a:pt x="3099435" y="1674495"/>
                  </a:lnTo>
                  <a:lnTo>
                    <a:pt x="3065337" y="1703746"/>
                  </a:lnTo>
                  <a:lnTo>
                    <a:pt x="3026996" y="1727548"/>
                  </a:lnTo>
                  <a:lnTo>
                    <a:pt x="2985016" y="1745296"/>
                  </a:lnTo>
                  <a:lnTo>
                    <a:pt x="2940000" y="1756388"/>
                  </a:lnTo>
                  <a:lnTo>
                    <a:pt x="2892552" y="1760220"/>
                  </a:lnTo>
                  <a:lnTo>
                    <a:pt x="1327404" y="1760220"/>
                  </a:lnTo>
                  <a:lnTo>
                    <a:pt x="742188" y="1760220"/>
                  </a:lnTo>
                  <a:lnTo>
                    <a:pt x="531876" y="1760220"/>
                  </a:lnTo>
                  <a:lnTo>
                    <a:pt x="294132" y="1760220"/>
                  </a:lnTo>
                  <a:lnTo>
                    <a:pt x="246641" y="1756388"/>
                  </a:lnTo>
                  <a:lnTo>
                    <a:pt x="201509" y="1745296"/>
                  </a:lnTo>
                  <a:lnTo>
                    <a:pt x="159358" y="1727548"/>
                  </a:lnTo>
                  <a:lnTo>
                    <a:pt x="120810" y="1703746"/>
                  </a:lnTo>
                  <a:lnTo>
                    <a:pt x="86486" y="1674495"/>
                  </a:lnTo>
                  <a:lnTo>
                    <a:pt x="57009" y="1640397"/>
                  </a:lnTo>
                  <a:lnTo>
                    <a:pt x="33000" y="1602056"/>
                  </a:lnTo>
                  <a:lnTo>
                    <a:pt x="15081" y="1560076"/>
                  </a:lnTo>
                  <a:lnTo>
                    <a:pt x="3874" y="1515060"/>
                  </a:lnTo>
                  <a:lnTo>
                    <a:pt x="0" y="1467612"/>
                  </a:lnTo>
                  <a:lnTo>
                    <a:pt x="0" y="1027176"/>
                  </a:lnTo>
                  <a:lnTo>
                    <a:pt x="0" y="294132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03566" y="3932403"/>
            <a:ext cx="2933700" cy="149479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671830">
              <a:lnSpc>
                <a:spcPct val="100000"/>
              </a:lnSpc>
              <a:spcBef>
                <a:spcPts val="625"/>
              </a:spcBef>
            </a:pPr>
            <a:r>
              <a:rPr sz="3300" baseline="-1600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3. </a:t>
            </a:r>
            <a:r>
              <a:rPr sz="3300" spc="-7" baseline="-16000" dirty="0">
                <a:latin typeface="Arial" panose="020B0604020202020204"/>
                <a:cs typeface="Arial" panose="020B0604020202020204"/>
              </a:rPr>
              <a:t>Event </a:t>
            </a:r>
            <a:r>
              <a:rPr sz="3300" spc="-322" baseline="-16000" dirty="0">
                <a:latin typeface="Arial" panose="020B0604020202020204"/>
                <a:cs typeface="Arial" panose="020B0604020202020204"/>
              </a:rPr>
              <a:t>I/</a:t>
            </a:r>
            <a:r>
              <a:rPr sz="1300" spc="-21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3300" spc="-322" baseline="-16000" dirty="0">
                <a:latin typeface="Arial" panose="020B0604020202020204"/>
                <a:cs typeface="Arial" panose="020B0604020202020204"/>
              </a:rPr>
              <a:t>O</a:t>
            </a:r>
            <a:r>
              <a:rPr sz="1300" spc="-21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vent</a:t>
            </a:r>
            <a:r>
              <a:rPr sz="1300" spc="-18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00" spc="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occurs</a:t>
            </a:r>
            <a:endParaRPr sz="1300">
              <a:latin typeface="Arial" panose="020B0604020202020204"/>
              <a:cs typeface="Arial" panose="020B0604020202020204"/>
            </a:endParaRPr>
          </a:p>
          <a:p>
            <a:pPr marR="106680" algn="ctr">
              <a:lnSpc>
                <a:spcPts val="2615"/>
              </a:lnSpc>
              <a:spcBef>
                <a:spcPts val="530"/>
              </a:spcBef>
            </a:pPr>
            <a:r>
              <a:rPr sz="2200" spc="-5" dirty="0">
                <a:latin typeface="Arial" panose="020B0604020202020204"/>
                <a:cs typeface="Arial" panose="020B0604020202020204"/>
              </a:rPr>
              <a:t>Completion/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5" dirty="0">
                <a:latin typeface="Courier New" panose="02070309020205020404"/>
                <a:cs typeface="Courier New" panose="02070309020205020404"/>
              </a:rPr>
              <a:t>exit(0)</a:t>
            </a:r>
            <a:endParaRPr sz="2200">
              <a:latin typeface="Courier New" panose="02070309020205020404"/>
              <a:cs typeface="Courier New" panose="02070309020205020404"/>
            </a:endParaRPr>
          </a:p>
          <a:p>
            <a:pPr marL="653415" marR="762635" algn="ctr">
              <a:lnSpc>
                <a:spcPts val="2640"/>
              </a:lnSpc>
              <a:spcBef>
                <a:spcPts val="65"/>
              </a:spcBef>
            </a:pPr>
            <a:r>
              <a:rPr sz="2200" spc="-5" dirty="0">
                <a:latin typeface="Courier New" panose="02070309020205020404"/>
                <a:cs typeface="Courier New" panose="02070309020205020404"/>
              </a:rPr>
              <a:t>/ </a:t>
            </a:r>
            <a:r>
              <a:rPr sz="2200" spc="-10" dirty="0">
                <a:latin typeface="Courier New" panose="02070309020205020404"/>
                <a:cs typeface="Courier New" panose="02070309020205020404"/>
              </a:rPr>
              <a:t>V() </a:t>
            </a:r>
            <a:r>
              <a:rPr sz="2200" spc="-5" dirty="0">
                <a:latin typeface="Courier New" panose="02070309020205020404"/>
                <a:cs typeface="Courier New" panose="02070309020205020404"/>
              </a:rPr>
              <a:t>/  </a:t>
            </a:r>
            <a:r>
              <a:rPr sz="2200" spc="-10" dirty="0">
                <a:latin typeface="Courier New" panose="02070309020205020404"/>
                <a:cs typeface="Courier New" panose="02070309020205020404"/>
              </a:rPr>
              <a:t>Rele</a:t>
            </a:r>
            <a:r>
              <a:rPr sz="2200" spc="15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2200" spc="-10" dirty="0">
                <a:latin typeface="Courier New" panose="02070309020205020404"/>
                <a:cs typeface="Courier New" panose="02070309020205020404"/>
              </a:rPr>
              <a:t>se(</a:t>
            </a:r>
            <a:r>
              <a:rPr sz="2200" spc="-5" dirty="0">
                <a:latin typeface="Courier New" panose="02070309020205020404"/>
                <a:cs typeface="Courier New" panose="02070309020205020404"/>
              </a:rPr>
              <a:t>)</a:t>
            </a:r>
            <a:endParaRPr sz="2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923032" y="4472940"/>
            <a:ext cx="932815" cy="934719"/>
          </a:xfrm>
          <a:custGeom>
            <a:avLst/>
            <a:gdLst/>
            <a:ahLst/>
            <a:cxnLst/>
            <a:rect l="l" t="t" r="r" b="b"/>
            <a:pathLst>
              <a:path w="932814" h="934720">
                <a:moveTo>
                  <a:pt x="22860" y="934212"/>
                </a:moveTo>
                <a:lnTo>
                  <a:pt x="0" y="911352"/>
                </a:lnTo>
                <a:lnTo>
                  <a:pt x="89916" y="822960"/>
                </a:lnTo>
                <a:lnTo>
                  <a:pt x="111252" y="844296"/>
                </a:lnTo>
                <a:lnTo>
                  <a:pt x="22860" y="934212"/>
                </a:lnTo>
                <a:close/>
              </a:path>
              <a:path w="932814" h="934720">
                <a:moveTo>
                  <a:pt x="178308" y="778764"/>
                </a:moveTo>
                <a:lnTo>
                  <a:pt x="155448" y="755904"/>
                </a:lnTo>
                <a:lnTo>
                  <a:pt x="245364" y="667512"/>
                </a:lnTo>
                <a:lnTo>
                  <a:pt x="266700" y="688848"/>
                </a:lnTo>
                <a:lnTo>
                  <a:pt x="178308" y="778764"/>
                </a:lnTo>
                <a:close/>
              </a:path>
              <a:path w="932814" h="934720">
                <a:moveTo>
                  <a:pt x="333756" y="623316"/>
                </a:moveTo>
                <a:lnTo>
                  <a:pt x="310896" y="600456"/>
                </a:lnTo>
                <a:lnTo>
                  <a:pt x="400812" y="512064"/>
                </a:lnTo>
                <a:lnTo>
                  <a:pt x="422148" y="533400"/>
                </a:lnTo>
                <a:lnTo>
                  <a:pt x="333756" y="623316"/>
                </a:lnTo>
                <a:close/>
              </a:path>
              <a:path w="932814" h="934720">
                <a:moveTo>
                  <a:pt x="489204" y="466344"/>
                </a:moveTo>
                <a:lnTo>
                  <a:pt x="466344" y="445008"/>
                </a:lnTo>
                <a:lnTo>
                  <a:pt x="556260" y="356616"/>
                </a:lnTo>
                <a:lnTo>
                  <a:pt x="577596" y="377952"/>
                </a:lnTo>
                <a:lnTo>
                  <a:pt x="489204" y="466344"/>
                </a:lnTo>
                <a:close/>
              </a:path>
              <a:path w="932814" h="934720">
                <a:moveTo>
                  <a:pt x="644652" y="310896"/>
                </a:moveTo>
                <a:lnTo>
                  <a:pt x="623316" y="289560"/>
                </a:lnTo>
                <a:lnTo>
                  <a:pt x="711708" y="199644"/>
                </a:lnTo>
                <a:lnTo>
                  <a:pt x="733044" y="222504"/>
                </a:lnTo>
                <a:lnTo>
                  <a:pt x="644652" y="310896"/>
                </a:lnTo>
                <a:close/>
              </a:path>
              <a:path w="932814" h="934720">
                <a:moveTo>
                  <a:pt x="856488" y="56388"/>
                </a:moveTo>
                <a:lnTo>
                  <a:pt x="833628" y="33528"/>
                </a:lnTo>
                <a:lnTo>
                  <a:pt x="932688" y="0"/>
                </a:lnTo>
                <a:lnTo>
                  <a:pt x="918140" y="45720"/>
                </a:lnTo>
                <a:lnTo>
                  <a:pt x="867156" y="45720"/>
                </a:lnTo>
                <a:lnTo>
                  <a:pt x="856488" y="56388"/>
                </a:lnTo>
                <a:close/>
              </a:path>
              <a:path w="932814" h="934720">
                <a:moveTo>
                  <a:pt x="877824" y="77724"/>
                </a:moveTo>
                <a:lnTo>
                  <a:pt x="856488" y="56388"/>
                </a:lnTo>
                <a:lnTo>
                  <a:pt x="867156" y="45720"/>
                </a:lnTo>
                <a:lnTo>
                  <a:pt x="888492" y="67056"/>
                </a:lnTo>
                <a:lnTo>
                  <a:pt x="877824" y="77724"/>
                </a:lnTo>
                <a:close/>
              </a:path>
              <a:path w="932814" h="934720">
                <a:moveTo>
                  <a:pt x="900684" y="100584"/>
                </a:moveTo>
                <a:lnTo>
                  <a:pt x="877824" y="77724"/>
                </a:lnTo>
                <a:lnTo>
                  <a:pt x="888492" y="67056"/>
                </a:lnTo>
                <a:lnTo>
                  <a:pt x="867156" y="45720"/>
                </a:lnTo>
                <a:lnTo>
                  <a:pt x="918140" y="45720"/>
                </a:lnTo>
                <a:lnTo>
                  <a:pt x="900684" y="100584"/>
                </a:lnTo>
                <a:close/>
              </a:path>
              <a:path w="932814" h="934720">
                <a:moveTo>
                  <a:pt x="800100" y="155448"/>
                </a:moveTo>
                <a:lnTo>
                  <a:pt x="778764" y="134112"/>
                </a:lnTo>
                <a:lnTo>
                  <a:pt x="856488" y="56388"/>
                </a:lnTo>
                <a:lnTo>
                  <a:pt x="877824" y="77724"/>
                </a:lnTo>
                <a:lnTo>
                  <a:pt x="800100" y="155448"/>
                </a:lnTo>
                <a:close/>
              </a:path>
            </a:pathLst>
          </a:custGeom>
          <a:solidFill>
            <a:srgbClr val="CC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615940" y="3634740"/>
            <a:ext cx="4023360" cy="2133600"/>
          </a:xfrm>
          <a:prstGeom prst="rect">
            <a:avLst/>
          </a:prstGeom>
          <a:solidFill>
            <a:srgbClr val="FBF9F7"/>
          </a:solidFill>
        </p:spPr>
        <p:txBody>
          <a:bodyPr vert="horz" wrap="square" lIns="0" tIns="41910" rIns="0" bIns="0" rtlCol="0">
            <a:spAutoFit/>
          </a:bodyPr>
          <a:lstStyle/>
          <a:p>
            <a:pPr marL="252730" marR="246380" algn="ctr">
              <a:lnSpc>
                <a:spcPct val="100000"/>
              </a:lnSpc>
              <a:spcBef>
                <a:spcPts val="330"/>
              </a:spcBef>
            </a:pPr>
            <a:r>
              <a:rPr sz="2200" spc="-5" dirty="0">
                <a:latin typeface="Arial" panose="020B0604020202020204"/>
                <a:cs typeface="Arial" panose="020B0604020202020204"/>
              </a:rPr>
              <a:t>In case </a:t>
            </a:r>
            <a:r>
              <a:rPr sz="2200" dirty="0">
                <a:latin typeface="Arial" panose="020B0604020202020204"/>
                <a:cs typeface="Arial" panose="020B0604020202020204"/>
              </a:rPr>
              <a:t>of 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2 </a:t>
            </a:r>
            <a:r>
              <a:rPr sz="2200" dirty="0">
                <a:latin typeface="Arial" panose="020B0604020202020204"/>
                <a:cs typeface="Arial" panose="020B0604020202020204"/>
              </a:rPr>
              <a:t>and 3,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there 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is</a:t>
            </a:r>
            <a:r>
              <a:rPr sz="22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a  choice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205740" marR="195580" algn="ctr">
              <a:lnSpc>
                <a:spcPct val="100000"/>
              </a:lnSpc>
            </a:pPr>
            <a:r>
              <a:rPr sz="2200" spc="-5" dirty="0">
                <a:latin typeface="Arial" panose="020B0604020202020204"/>
                <a:cs typeface="Arial" panose="020B0604020202020204"/>
              </a:rPr>
              <a:t>Whether to </a:t>
            </a:r>
            <a:r>
              <a:rPr sz="2200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continue, with</a:t>
            </a:r>
            <a:r>
              <a:rPr sz="2200" spc="-6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the  same</a:t>
            </a:r>
            <a:r>
              <a:rPr sz="2200" spc="-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process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288925" marR="204470" algn="ctr">
              <a:lnSpc>
                <a:spcPct val="100000"/>
              </a:lnSpc>
            </a:pPr>
            <a:r>
              <a:rPr sz="2200" dirty="0">
                <a:latin typeface="Arial" panose="020B0604020202020204"/>
                <a:cs typeface="Arial" panose="020B0604020202020204"/>
              </a:rPr>
              <a:t>or </a:t>
            </a:r>
            <a:r>
              <a:rPr sz="2200" spc="-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select a </a:t>
            </a:r>
            <a:r>
              <a:rPr sz="220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new one </a:t>
            </a:r>
            <a:r>
              <a:rPr sz="2200" spc="-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2200" spc="-10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the  ready</a:t>
            </a:r>
            <a:r>
              <a:rPr sz="2200" spc="-2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queue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27" name="object 27"/>
          <p:cNvSpPr txBox="1"/>
          <p:nvPr/>
        </p:nvSpPr>
        <p:spPr>
          <a:xfrm>
            <a:off x="280400" y="7095872"/>
            <a:ext cx="262255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55"/>
              </a:lnSpc>
            </a:pPr>
            <a:fld id="{81D60167-4931-47E6-BA6A-407CBD079E47}" type="slidenum">
              <a:rPr sz="1300" spc="10" dirty="0">
                <a:latin typeface="Arial" panose="020B0604020202020204"/>
                <a:cs typeface="Arial" panose="020B0604020202020204"/>
              </a:rPr>
            </a:fld>
            <a:endParaRPr sz="13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551249"/>
            <a:ext cx="25869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Dispatcher</a:t>
            </a:r>
            <a:endParaRPr spc="-185" dirty="0"/>
          </a:p>
        </p:txBody>
      </p:sp>
      <p:sp>
        <p:nvSpPr>
          <p:cNvPr id="3" name="object 3"/>
          <p:cNvSpPr txBox="1"/>
          <p:nvPr/>
        </p:nvSpPr>
        <p:spPr>
          <a:xfrm>
            <a:off x="1076946" y="1570687"/>
            <a:ext cx="8375650" cy="4234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420" marR="5080" indent="-300355" algn="just">
              <a:lnSpc>
                <a:spcPct val="101000"/>
              </a:lnSpc>
              <a:spcBef>
                <a:spcPts val="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Dispatcher module </a:t>
            </a:r>
            <a:r>
              <a:rPr sz="3050" spc="-200" dirty="0">
                <a:latin typeface="Times New Roman" panose="02020603050405020304"/>
                <a:cs typeface="Times New Roman" panose="02020603050405020304"/>
              </a:rPr>
              <a:t>gives </a:t>
            </a: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control </a:t>
            </a: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050" spc="4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CPU </a:t>
            </a:r>
            <a:r>
              <a:rPr sz="3050" spc="-2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selected </a:t>
            </a:r>
            <a:r>
              <a:rPr sz="3050" spc="-220" dirty="0">
                <a:latin typeface="Times New Roman" panose="02020603050405020304"/>
                <a:cs typeface="Times New Roman" panose="02020603050405020304"/>
              </a:rPr>
              <a:t>by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50" dirty="0">
                <a:latin typeface="Times New Roman" panose="02020603050405020304"/>
                <a:cs typeface="Times New Roman" panose="02020603050405020304"/>
              </a:rPr>
              <a:t>short-term 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scheduler;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this  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involves: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 algn="just">
              <a:lnSpc>
                <a:spcPct val="100000"/>
              </a:lnSpc>
              <a:spcBef>
                <a:spcPts val="51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Switching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context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 algn="just">
              <a:lnSpc>
                <a:spcPct val="100000"/>
              </a:lnSpc>
              <a:spcBef>
                <a:spcPts val="42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Switching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26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mode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marR="9525" lvl="1" indent="-251460" algn="just">
              <a:lnSpc>
                <a:spcPts val="3170"/>
              </a:lnSpc>
              <a:spcBef>
                <a:spcPts val="54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Jumping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proper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location in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user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program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restart 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program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marR="7620" indent="-300355" algn="just">
              <a:lnSpc>
                <a:spcPts val="3600"/>
              </a:lnSpc>
              <a:spcBef>
                <a:spcPts val="78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b="1" i="1" spc="-4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Dispatch </a:t>
            </a:r>
            <a:r>
              <a:rPr sz="3050" b="1" i="1" spc="-5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latency </a:t>
            </a:r>
            <a:r>
              <a:rPr sz="3050" spc="15" dirty="0">
                <a:latin typeface="Arial" panose="020B0604020202020204"/>
                <a:cs typeface="Arial" panose="020B0604020202020204"/>
              </a:rPr>
              <a:t>–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3050" spc="-45" dirty="0">
                <a:latin typeface="Times New Roman" panose="02020603050405020304"/>
                <a:cs typeface="Times New Roman" panose="02020603050405020304"/>
              </a:rPr>
              <a:t>it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takes 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dispatcher 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to  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stop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one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3050" spc="-40" dirty="0">
                <a:latin typeface="Times New Roman" panose="02020603050405020304"/>
                <a:cs typeface="Times New Roman" panose="02020603050405020304"/>
              </a:rPr>
              <a:t>start 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another</a:t>
            </a:r>
            <a:r>
              <a:rPr sz="305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00" dirty="0">
                <a:latin typeface="Times New Roman" panose="02020603050405020304"/>
                <a:cs typeface="Times New Roman" panose="02020603050405020304"/>
              </a:rPr>
              <a:t>running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object 6"/>
          <p:cNvSpPr txBox="1"/>
          <p:nvPr/>
        </p:nvSpPr>
        <p:spPr>
          <a:xfrm>
            <a:off x="286004" y="7077995"/>
            <a:ext cx="25146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8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</a:t>
            </a:r>
            <a:r>
              <a:rPr sz="1500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9</a:t>
            </a:r>
            <a:endParaRPr sz="15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823" y="619879"/>
            <a:ext cx="40335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spc="-150" dirty="0"/>
              <a:t>Scheduling</a:t>
            </a:r>
            <a:r>
              <a:rPr sz="3950" spc="-254" dirty="0"/>
              <a:t> Criteria</a:t>
            </a:r>
            <a:endParaRPr sz="395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5" name="object 5"/>
          <p:cNvSpPr txBox="1"/>
          <p:nvPr/>
        </p:nvSpPr>
        <p:spPr>
          <a:xfrm>
            <a:off x="305800" y="7095872"/>
            <a:ext cx="211454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sz="1300" dirty="0">
                <a:latin typeface="Arial" panose="020B0604020202020204"/>
                <a:cs typeface="Arial" panose="020B0604020202020204"/>
              </a:rPr>
              <a:t>2</a:t>
            </a:r>
            <a:r>
              <a:rPr sz="1300" spc="10" dirty="0">
                <a:latin typeface="Arial" panose="020B0604020202020204"/>
                <a:cs typeface="Arial" panose="020B0604020202020204"/>
              </a:rPr>
              <a:t>0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3655" y="1612312"/>
            <a:ext cx="6196965" cy="421386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73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u="heavy" spc="-145" dirty="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imes New Roman" panose="02020603050405020304"/>
                <a:cs typeface="Times New Roman" panose="02020603050405020304"/>
              </a:rPr>
              <a:t>CPU</a:t>
            </a:r>
            <a:r>
              <a:rPr sz="3050" u="heavy" spc="-114" dirty="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u="heavy" spc="-120" dirty="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imes New Roman" panose="02020603050405020304"/>
                <a:cs typeface="Times New Roman" panose="02020603050405020304"/>
              </a:rPr>
              <a:t>Utilization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50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75" dirty="0">
                <a:latin typeface="Times New Roman" panose="02020603050405020304"/>
                <a:cs typeface="Times New Roman" panose="02020603050405020304"/>
              </a:rPr>
              <a:t>Keep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CPU </a:t>
            </a:r>
            <a:r>
              <a:rPr sz="2650" spc="-220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2650" spc="-180" dirty="0">
                <a:latin typeface="Times New Roman" panose="02020603050405020304"/>
                <a:cs typeface="Times New Roman" panose="02020603050405020304"/>
              </a:rPr>
              <a:t>busy </a:t>
            </a:r>
            <a:r>
              <a:rPr sz="2650" spc="-220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650" spc="-2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possible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2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290" dirty="0">
                <a:latin typeface="Times New Roman" panose="02020603050405020304"/>
                <a:cs typeface="Times New Roman" panose="02020603050405020304"/>
              </a:rPr>
              <a:t>May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range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from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0%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100%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3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u="heavy" spc="-110" dirty="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imes New Roman" panose="02020603050405020304"/>
                <a:cs typeface="Times New Roman" panose="02020603050405020304"/>
              </a:rPr>
              <a:t>Throughput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9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Number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processes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completed 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per 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unit</a:t>
            </a:r>
            <a:r>
              <a:rPr sz="2650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time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3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E.g.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long processes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917575" lvl="2" indent="-252095">
              <a:lnSpc>
                <a:spcPct val="100000"/>
              </a:lnSpc>
              <a:spcBef>
                <a:spcPts val="500"/>
              </a:spcBef>
              <a:buClr>
                <a:srgbClr val="E6B1AA"/>
              </a:buClr>
              <a:buSzPct val="84000"/>
              <a:buFont typeface="Webdings" panose="05030102010509060703"/>
              <a:buChar char=""/>
              <a:tabLst>
                <a:tab pos="918210" algn="l"/>
              </a:tabLst>
            </a:pP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1 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2200" spc="484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2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70" dirty="0">
                <a:latin typeface="Times New Roman" panose="02020603050405020304"/>
                <a:cs typeface="Times New Roman" panose="02020603050405020304"/>
              </a:rPr>
              <a:t>hr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36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Short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processes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917575" lvl="2" indent="-252095">
              <a:lnSpc>
                <a:spcPct val="100000"/>
              </a:lnSpc>
              <a:spcBef>
                <a:spcPts val="500"/>
              </a:spcBef>
              <a:buClr>
                <a:srgbClr val="E6B1AA"/>
              </a:buClr>
              <a:buSzPct val="84000"/>
              <a:buFont typeface="Webdings" panose="05030102010509060703"/>
              <a:buChar char=""/>
              <a:tabLst>
                <a:tab pos="918210" algn="l"/>
              </a:tabLst>
            </a:pP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10 </a:t>
            </a:r>
            <a:r>
              <a:rPr sz="2200" spc="-114" dirty="0">
                <a:latin typeface="Times New Roman" panose="02020603050405020304"/>
                <a:cs typeface="Times New Roman" panose="02020603050405020304"/>
              </a:rPr>
              <a:t>processes </a:t>
            </a:r>
            <a:r>
              <a:rPr sz="2200" spc="484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60" dirty="0">
                <a:latin typeface="Times New Roman" panose="02020603050405020304"/>
                <a:cs typeface="Times New Roman" panose="02020603050405020304"/>
              </a:rPr>
              <a:t>hr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823" y="698952"/>
            <a:ext cx="40335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spc="-150" dirty="0"/>
              <a:t>Scheduling</a:t>
            </a:r>
            <a:r>
              <a:rPr sz="3950" spc="-254" dirty="0"/>
              <a:t> Criteria</a:t>
            </a:r>
            <a:endParaRPr sz="395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5" name="object 5"/>
          <p:cNvSpPr txBox="1"/>
          <p:nvPr/>
        </p:nvSpPr>
        <p:spPr>
          <a:xfrm>
            <a:off x="265175" y="7081734"/>
            <a:ext cx="29210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790"/>
              </a:lnSpc>
            </a:pPr>
            <a:fld id="{81D60167-4931-47E6-BA6A-407CBD079E47}" type="slidenum">
              <a:rPr sz="1500" spc="20" dirty="0">
                <a:latin typeface="Arial" panose="020B0604020202020204"/>
                <a:cs typeface="Arial" panose="020B0604020202020204"/>
              </a:rPr>
            </a:fld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4359" y="1779763"/>
            <a:ext cx="6592570" cy="471170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30"/>
              </a:spcBef>
            </a:pPr>
            <a:r>
              <a:rPr sz="2600" spc="-1155" dirty="0">
                <a:solidFill>
                  <a:srgbClr val="D34816"/>
                </a:solidFill>
                <a:latin typeface="Webdings" panose="05030102010509060703"/>
                <a:cs typeface="Webdings" panose="05030102010509060703"/>
              </a:rPr>
              <a:t></a:t>
            </a:r>
            <a:r>
              <a:rPr sz="2600" spc="254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u="heavy" spc="-120" dirty="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imes New Roman" panose="02020603050405020304"/>
                <a:cs typeface="Times New Roman" panose="02020603050405020304"/>
              </a:rPr>
              <a:t>Turnaround</a:t>
            </a:r>
            <a:r>
              <a:rPr sz="3050" spc="-45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u="heavy" spc="-130" dirty="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imes New Roman" panose="02020603050405020304"/>
                <a:cs typeface="Times New Roman" panose="02020603050405020304"/>
              </a:rPr>
              <a:t>Time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77190">
              <a:lnSpc>
                <a:spcPct val="100000"/>
              </a:lnSpc>
              <a:spcBef>
                <a:spcPts val="510"/>
              </a:spcBef>
            </a:pPr>
            <a:r>
              <a:rPr sz="2250" spc="-1010" dirty="0">
                <a:solidFill>
                  <a:srgbClr val="9A2D1F"/>
                </a:solidFill>
                <a:latin typeface="Webdings" panose="05030102010509060703"/>
                <a:cs typeface="Webdings" panose="05030102010509060703"/>
              </a:rPr>
              <a:t></a:t>
            </a:r>
            <a:r>
              <a:rPr sz="2250" spc="165" dirty="0">
                <a:solidFill>
                  <a:srgbClr val="9A2D1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How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long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it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take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execute 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Process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50">
              <a:latin typeface="Times New Roman" panose="02020603050405020304"/>
              <a:cs typeface="Times New Roman" panose="02020603050405020304"/>
            </a:endParaRPr>
          </a:p>
          <a:p>
            <a:pPr marL="377190">
              <a:lnSpc>
                <a:spcPct val="100000"/>
              </a:lnSpc>
            </a:pPr>
            <a:r>
              <a:rPr sz="2650" b="1" spc="-15" dirty="0">
                <a:latin typeface="Courier New" panose="02070309020205020404"/>
                <a:cs typeface="Courier New" panose="02070309020205020404"/>
              </a:rPr>
              <a:t>Turnaround </a:t>
            </a:r>
            <a:r>
              <a:rPr sz="2650" b="1" spc="-1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650" b="1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650" b="1" spc="-15" dirty="0">
                <a:latin typeface="Courier New" panose="02070309020205020404"/>
                <a:cs typeface="Courier New" panose="02070309020205020404"/>
              </a:rPr>
              <a:t>Completion_Time</a:t>
            </a:r>
            <a:endParaRPr sz="2650">
              <a:latin typeface="Courier New" panose="02070309020205020404"/>
              <a:cs typeface="Courier New" panose="02070309020205020404"/>
            </a:endParaRPr>
          </a:p>
          <a:p>
            <a:pPr marL="377190">
              <a:lnSpc>
                <a:spcPct val="100000"/>
              </a:lnSpc>
              <a:spcBef>
                <a:spcPts val="430"/>
              </a:spcBef>
            </a:pPr>
            <a:r>
              <a:rPr sz="2650" b="1" spc="-10" dirty="0">
                <a:solidFill>
                  <a:srgbClr val="CC3300"/>
                </a:solidFill>
                <a:latin typeface="Courier New" panose="02070309020205020404"/>
                <a:cs typeface="Courier New" panose="02070309020205020404"/>
              </a:rPr>
              <a:t>–</a:t>
            </a:r>
            <a:r>
              <a:rPr sz="2650" b="1" spc="-20" dirty="0">
                <a:solidFill>
                  <a:srgbClr val="CC33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50" b="1" spc="-15" dirty="0">
                <a:latin typeface="Courier New" panose="02070309020205020404"/>
                <a:cs typeface="Courier New" panose="02070309020205020404"/>
              </a:rPr>
              <a:t>Submission_Time</a:t>
            </a:r>
            <a:endParaRPr sz="265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50">
              <a:latin typeface="Courier New" panose="02070309020205020404"/>
              <a:cs typeface="Courier New" panose="02070309020205020404"/>
            </a:endParaRPr>
          </a:p>
          <a:p>
            <a:pPr marL="377190">
              <a:lnSpc>
                <a:spcPct val="100000"/>
              </a:lnSpc>
            </a:pPr>
            <a:r>
              <a:rPr sz="2650" b="1" spc="-15" dirty="0">
                <a:latin typeface="Courier New" panose="02070309020205020404"/>
                <a:cs typeface="Courier New" panose="02070309020205020404"/>
              </a:rPr>
              <a:t>Turnaround </a:t>
            </a:r>
            <a:r>
              <a:rPr sz="2650" b="1" spc="-1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65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650" b="1" spc="-5" dirty="0">
                <a:latin typeface="Courier New" panose="02070309020205020404"/>
                <a:cs typeface="Courier New" panose="02070309020205020404"/>
              </a:rPr>
              <a:t>Wait_Time</a:t>
            </a:r>
            <a:r>
              <a:rPr sz="2625" b="1" spc="-7" baseline="-21000" dirty="0">
                <a:latin typeface="Courier New" panose="02070309020205020404"/>
                <a:cs typeface="Courier New" panose="02070309020205020404"/>
              </a:rPr>
              <a:t>GetIntoMemory</a:t>
            </a:r>
            <a:endParaRPr sz="2625" baseline="-21000">
              <a:latin typeface="Courier New" panose="02070309020205020404"/>
              <a:cs typeface="Courier New" panose="02070309020205020404"/>
            </a:endParaRPr>
          </a:p>
          <a:p>
            <a:pPr marL="377190">
              <a:lnSpc>
                <a:spcPct val="100000"/>
              </a:lnSpc>
              <a:spcBef>
                <a:spcPts val="435"/>
              </a:spcBef>
            </a:pPr>
            <a:r>
              <a:rPr sz="2650" b="1" spc="-1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+</a:t>
            </a:r>
            <a:r>
              <a:rPr sz="2650" b="1" spc="-11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50" b="1" spc="-5" dirty="0">
                <a:latin typeface="Courier New" panose="02070309020205020404"/>
                <a:cs typeface="Courier New" panose="02070309020205020404"/>
              </a:rPr>
              <a:t>Wait_Time</a:t>
            </a:r>
            <a:r>
              <a:rPr sz="2625" b="1" spc="-7" baseline="-21000" dirty="0">
                <a:latin typeface="Courier New" panose="02070309020205020404"/>
                <a:cs typeface="Courier New" panose="02070309020205020404"/>
              </a:rPr>
              <a:t>ReadyQueue</a:t>
            </a:r>
            <a:endParaRPr sz="2625" baseline="-21000">
              <a:latin typeface="Courier New" panose="02070309020205020404"/>
              <a:cs typeface="Courier New" panose="02070309020205020404"/>
            </a:endParaRPr>
          </a:p>
          <a:p>
            <a:pPr marL="377190">
              <a:lnSpc>
                <a:spcPct val="100000"/>
              </a:lnSpc>
              <a:spcBef>
                <a:spcPts val="420"/>
              </a:spcBef>
            </a:pPr>
            <a:r>
              <a:rPr sz="2650" b="1" spc="-1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+</a:t>
            </a:r>
            <a:r>
              <a:rPr sz="2650" b="1" spc="-11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50" b="1" spc="-5" dirty="0">
                <a:latin typeface="Courier New" panose="02070309020205020404"/>
                <a:cs typeface="Courier New" panose="02070309020205020404"/>
              </a:rPr>
              <a:t>Wait_Time</a:t>
            </a:r>
            <a:r>
              <a:rPr sz="2625" b="1" spc="-7" baseline="-21000" dirty="0">
                <a:latin typeface="Courier New" panose="02070309020205020404"/>
                <a:cs typeface="Courier New" panose="02070309020205020404"/>
              </a:rPr>
              <a:t>BlockQueue</a:t>
            </a:r>
            <a:endParaRPr sz="2625" baseline="-21000">
              <a:latin typeface="Courier New" panose="02070309020205020404"/>
              <a:cs typeface="Courier New" panose="02070309020205020404"/>
            </a:endParaRPr>
          </a:p>
          <a:p>
            <a:pPr marL="377190">
              <a:lnSpc>
                <a:spcPct val="100000"/>
              </a:lnSpc>
              <a:spcBef>
                <a:spcPts val="430"/>
              </a:spcBef>
            </a:pPr>
            <a:r>
              <a:rPr sz="2650" b="1" spc="-1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+</a:t>
            </a:r>
            <a:r>
              <a:rPr sz="2650" b="1" spc="-2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50" b="1" spc="-15" dirty="0">
                <a:latin typeface="Courier New" panose="02070309020205020404"/>
                <a:cs typeface="Courier New" panose="02070309020205020404"/>
              </a:rPr>
              <a:t>CPU_Execution_Time</a:t>
            </a:r>
            <a:endParaRPr sz="265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823" y="778270"/>
            <a:ext cx="40335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spc="-150" dirty="0"/>
              <a:t>Scheduling</a:t>
            </a:r>
            <a:r>
              <a:rPr sz="3950" spc="-254" dirty="0"/>
              <a:t> Criteria</a:t>
            </a:r>
            <a:endParaRPr sz="395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5" name="object 5"/>
          <p:cNvSpPr txBox="1"/>
          <p:nvPr/>
        </p:nvSpPr>
        <p:spPr>
          <a:xfrm>
            <a:off x="265175" y="7081734"/>
            <a:ext cx="29210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790"/>
              </a:lnSpc>
            </a:pPr>
            <a:fld id="{81D60167-4931-47E6-BA6A-407CBD079E47}" type="slidenum">
              <a:rPr sz="1500" spc="20" dirty="0">
                <a:latin typeface="Arial" panose="020B0604020202020204"/>
                <a:cs typeface="Arial" panose="020B0604020202020204"/>
              </a:rPr>
            </a:fld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3655" y="1688136"/>
            <a:ext cx="8283575" cy="3454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420" marR="5080" indent="-300355">
              <a:lnSpc>
                <a:spcPct val="101000"/>
              </a:lnSpc>
              <a:spcBef>
                <a:spcPts val="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Scheduling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Algorithm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does </a:t>
            </a:r>
            <a:r>
              <a:rPr sz="3050" spc="-65" dirty="0">
                <a:latin typeface="Times New Roman" panose="02020603050405020304"/>
                <a:cs typeface="Times New Roman" panose="02020603050405020304"/>
              </a:rPr>
              <a:t>not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effect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waiting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in  </a:t>
            </a:r>
            <a:r>
              <a:rPr sz="3050" spc="-200" dirty="0">
                <a:latin typeface="Times New Roman" panose="02020603050405020304"/>
                <a:cs typeface="Times New Roman" panose="02020603050405020304"/>
              </a:rPr>
              <a:t>Block</a:t>
            </a: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Queue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It 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only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effect 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Waiting</a:t>
            </a:r>
            <a:r>
              <a:rPr sz="3050" spc="-6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Time in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90" dirty="0">
                <a:latin typeface="Times New Roman" panose="02020603050405020304"/>
                <a:cs typeface="Times New Roman" panose="02020603050405020304"/>
              </a:rPr>
              <a:t>Ready </a:t>
            </a: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Queue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70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u="heavy" spc="-170" dirty="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imes New Roman" panose="02020603050405020304"/>
                <a:cs typeface="Times New Roman" panose="02020603050405020304"/>
              </a:rPr>
              <a:t>Waiting</a:t>
            </a:r>
            <a:r>
              <a:rPr sz="3050" spc="-484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u="heavy" spc="-130" dirty="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imes New Roman" panose="02020603050405020304"/>
                <a:cs typeface="Times New Roman" panose="02020603050405020304"/>
              </a:rPr>
              <a:t>Time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64490">
              <a:lnSpc>
                <a:spcPct val="100000"/>
              </a:lnSpc>
              <a:spcBef>
                <a:spcPts val="505"/>
              </a:spcBef>
            </a:pPr>
            <a:r>
              <a:rPr sz="2250" spc="-1010" dirty="0">
                <a:solidFill>
                  <a:srgbClr val="9A2D1F"/>
                </a:solidFill>
                <a:latin typeface="Webdings" panose="05030102010509060703"/>
                <a:cs typeface="Webdings" panose="05030102010509060703"/>
              </a:rPr>
              <a:t></a:t>
            </a:r>
            <a:r>
              <a:rPr sz="2250" spc="170" dirty="0">
                <a:solidFill>
                  <a:srgbClr val="9A2D1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Sum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periods spent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waiting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Ready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Queue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Times New Roman" panose="02020603050405020304"/>
              <a:cs typeface="Times New Roman" panose="02020603050405020304"/>
            </a:endParaRPr>
          </a:p>
          <a:p>
            <a:pPr marL="1018540">
              <a:lnSpc>
                <a:spcPct val="100000"/>
              </a:lnSpc>
              <a:spcBef>
                <a:spcPts val="5"/>
              </a:spcBef>
            </a:pPr>
            <a:r>
              <a:rPr sz="2650" spc="-204" dirty="0">
                <a:latin typeface="Times New Roman" panose="02020603050405020304"/>
                <a:cs typeface="Times New Roman" panose="02020603050405020304"/>
              </a:rPr>
              <a:t>W.T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26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75" dirty="0">
                <a:latin typeface="Times New Roman" panose="02020603050405020304"/>
                <a:cs typeface="Times New Roman" panose="02020603050405020304"/>
              </a:rPr>
              <a:t>Finish</a:t>
            </a:r>
            <a:r>
              <a:rPr sz="2650" spc="-3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–Burst</a:t>
            </a:r>
            <a:r>
              <a:rPr sz="2650" spc="-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–Arrival</a:t>
            </a:r>
            <a:r>
              <a:rPr sz="2650" spc="-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Time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5800" y="7079992"/>
            <a:ext cx="211454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latin typeface="Arial" panose="020B0604020202020204"/>
                <a:cs typeface="Arial" panose="020B0604020202020204"/>
              </a:rPr>
              <a:t>2</a:t>
            </a:r>
            <a:r>
              <a:rPr sz="1300" spc="10" dirty="0">
                <a:latin typeface="Arial" panose="020B0604020202020204"/>
                <a:cs typeface="Arial" panose="020B0604020202020204"/>
              </a:rPr>
              <a:t>3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3823" y="540561"/>
            <a:ext cx="40335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spc="-150" dirty="0"/>
              <a:t>Scheduling</a:t>
            </a:r>
            <a:r>
              <a:rPr sz="3950" spc="-254" dirty="0"/>
              <a:t> Criteria</a:t>
            </a:r>
            <a:endParaRPr sz="3950"/>
          </a:p>
        </p:txBody>
      </p:sp>
      <p:sp>
        <p:nvSpPr>
          <p:cNvPr id="4" name="object 4"/>
          <p:cNvSpPr txBox="1"/>
          <p:nvPr/>
        </p:nvSpPr>
        <p:spPr>
          <a:xfrm>
            <a:off x="1093655" y="1688136"/>
            <a:ext cx="8225155" cy="4886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420" marR="346710" indent="-300355">
              <a:lnSpc>
                <a:spcPct val="101000"/>
              </a:lnSpc>
              <a:spcBef>
                <a:spcPts val="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Turnaround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3050" spc="-55" dirty="0">
                <a:latin typeface="Times New Roman" panose="02020603050405020304"/>
                <a:cs typeface="Times New Roman" panose="02020603050405020304"/>
              </a:rPr>
              <a:t>not </a:t>
            </a:r>
            <a:r>
              <a:rPr sz="3050" spc="-229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good 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criteria 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Interactive  </a:t>
            </a:r>
            <a:r>
              <a:rPr sz="3050" spc="-190" dirty="0">
                <a:latin typeface="Times New Roman" panose="02020603050405020304"/>
                <a:cs typeface="Times New Roman" panose="02020603050405020304"/>
              </a:rPr>
              <a:t>Systems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370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3050" spc="-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245" dirty="0">
                <a:latin typeface="Times New Roman" panose="02020603050405020304"/>
                <a:cs typeface="Times New Roman" panose="02020603050405020304"/>
              </a:rPr>
              <a:t>may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55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Produce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“Some”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output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marR="5080" lvl="1" indent="-252095">
              <a:lnSpc>
                <a:spcPts val="3170"/>
              </a:lnSpc>
              <a:spcBef>
                <a:spcPts val="49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Computes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new 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results,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while previous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results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are 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output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 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user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52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u="heavy" spc="-150" dirty="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imes New Roman" panose="02020603050405020304"/>
                <a:cs typeface="Times New Roman" panose="02020603050405020304"/>
              </a:rPr>
              <a:t>Response</a:t>
            </a:r>
            <a:r>
              <a:rPr sz="3050" spc="-45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u="heavy" spc="-135" dirty="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imes New Roman" panose="02020603050405020304"/>
                <a:cs typeface="Times New Roman" panose="02020603050405020304"/>
              </a:rPr>
              <a:t>Time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marR="2056765" indent="-300355">
              <a:lnSpc>
                <a:spcPct val="101000"/>
              </a:lnSpc>
              <a:spcBef>
                <a:spcPts val="73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b="1" spc="5" dirty="0">
                <a:latin typeface="Courier New" panose="02070309020205020404"/>
                <a:cs typeface="Courier New" panose="02070309020205020404"/>
              </a:rPr>
              <a:t>Response_Time </a:t>
            </a:r>
            <a:r>
              <a:rPr sz="3050" b="1" spc="20" dirty="0">
                <a:latin typeface="Courier New" panose="02070309020205020404"/>
                <a:cs typeface="Courier New" panose="02070309020205020404"/>
              </a:rPr>
              <a:t>=  </a:t>
            </a:r>
            <a:r>
              <a:rPr sz="3050" b="1" spc="5" dirty="0">
                <a:latin typeface="Courier New" panose="02070309020205020404"/>
                <a:cs typeface="Courier New" panose="02070309020205020404"/>
              </a:rPr>
              <a:t>First_Response_Start_Time</a:t>
            </a:r>
            <a:endParaRPr sz="3050">
              <a:latin typeface="Courier New" panose="02070309020205020404"/>
              <a:cs typeface="Courier New" panose="02070309020205020404"/>
            </a:endParaRPr>
          </a:p>
          <a:p>
            <a:pPr marL="364490">
              <a:lnSpc>
                <a:spcPct val="100000"/>
              </a:lnSpc>
              <a:spcBef>
                <a:spcPts val="485"/>
              </a:spcBef>
            </a:pPr>
            <a:r>
              <a:rPr sz="2650" b="1" spc="-10" dirty="0">
                <a:solidFill>
                  <a:srgbClr val="CC3300"/>
                </a:solidFill>
                <a:latin typeface="Courier New" panose="02070309020205020404"/>
                <a:cs typeface="Courier New" panose="02070309020205020404"/>
              </a:rPr>
              <a:t>–</a:t>
            </a:r>
            <a:r>
              <a:rPr sz="2650" b="1" spc="-15" dirty="0">
                <a:solidFill>
                  <a:srgbClr val="CC33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50" b="1" spc="-15" dirty="0">
                <a:latin typeface="Courier New" panose="02070309020205020404"/>
                <a:cs typeface="Courier New" panose="02070309020205020404"/>
              </a:rPr>
              <a:t>Submission_Time</a:t>
            </a:r>
            <a:endParaRPr sz="26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3724" y="7020572"/>
            <a:ext cx="250317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1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CS-2006 Operating</a:t>
            </a:r>
            <a:r>
              <a:rPr sz="1500" spc="-4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1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Systems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630448"/>
            <a:ext cx="69716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Additional </a:t>
            </a:r>
            <a:r>
              <a:rPr spc="-165" dirty="0"/>
              <a:t>Scheduling</a:t>
            </a:r>
            <a:r>
              <a:rPr spc="-295" dirty="0"/>
              <a:t> </a:t>
            </a:r>
            <a:r>
              <a:rPr spc="-290" dirty="0"/>
              <a:t>Criteria</a:t>
            </a:r>
            <a:endParaRPr spc="-290" dirty="0"/>
          </a:p>
        </p:txBody>
      </p:sp>
      <p:sp>
        <p:nvSpPr>
          <p:cNvPr id="3" name="object 3"/>
          <p:cNvSpPr txBox="1"/>
          <p:nvPr/>
        </p:nvSpPr>
        <p:spPr>
          <a:xfrm>
            <a:off x="523768" y="1574197"/>
            <a:ext cx="8388350" cy="434594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73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00" dirty="0">
                <a:latin typeface="Times New Roman" panose="02020603050405020304"/>
                <a:cs typeface="Times New Roman" panose="02020603050405020304"/>
              </a:rPr>
              <a:t>There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are 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also </a:t>
            </a:r>
            <a:r>
              <a:rPr sz="3050" spc="-65" dirty="0">
                <a:latin typeface="Times New Roman" panose="02020603050405020304"/>
                <a:cs typeface="Times New Roman" panose="02020603050405020304"/>
              </a:rPr>
              <a:t>other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elements </a:t>
            </a:r>
            <a:r>
              <a:rPr sz="3050" spc="-2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05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consider: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marR="18415" lvl="1" indent="-251460">
              <a:lnSpc>
                <a:spcPts val="3170"/>
              </a:lnSpc>
              <a:spcBef>
                <a:spcPts val="62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  <a:tab pos="3499485" algn="l"/>
                <a:tab pos="3908425" algn="l"/>
                <a:tab pos="4702810" algn="l"/>
                <a:tab pos="5034915" algn="l"/>
                <a:tab pos="6329045" algn="l"/>
                <a:tab pos="7136765" algn="l"/>
              </a:tabLst>
            </a:pPr>
            <a:r>
              <a:rPr sz="2650" b="1" i="1" spc="-120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50" b="1" i="1" spc="-10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b="1" i="1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b="1" i="1" spc="-195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b="1" i="1" spc="-35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b="1" i="1" spc="25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b="1" i="1" spc="130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b="1" i="1" spc="-125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50" b="1" i="1" spc="660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650" b="1" i="1" spc="-60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b="1" i="1" spc="-165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650" b="1" i="1" spc="-40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50" b="1" i="1" spc="-220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b="1" i="1" spc="20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b="1" i="1" spc="130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b="1" i="1" spc="-5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b="1" i="1" spc="-130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650" b="1" i="1" spc="-229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650" b="1" i="1" spc="-105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b="1" i="1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spc="-20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254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spc="1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5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op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-20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650" spc="-22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9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spc="1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po</a:t>
            </a:r>
            <a:r>
              <a:rPr sz="2650" spc="114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229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650" spc="30" dirty="0">
                <a:latin typeface="Times New Roman" panose="02020603050405020304"/>
                <a:cs typeface="Times New Roman" panose="02020603050405020304"/>
              </a:rPr>
              <a:t>t 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work 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done</a:t>
            </a:r>
            <a:r>
              <a:rPr sz="265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first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31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b="1" spc="-70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Fairness </a:t>
            </a:r>
            <a:r>
              <a:rPr sz="2650" spc="-5" dirty="0">
                <a:latin typeface="Times New Roman" panose="02020603050405020304"/>
                <a:cs typeface="Times New Roman" panose="02020603050405020304"/>
              </a:rPr>
              <a:t>–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hopefully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eventually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everybody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served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917575" marR="20320" indent="-252095">
              <a:lnSpc>
                <a:spcPct val="100000"/>
              </a:lnSpc>
              <a:spcBef>
                <a:spcPts val="500"/>
              </a:spcBef>
              <a:tabLst>
                <a:tab pos="2155825" algn="l"/>
                <a:tab pos="3048000" algn="l"/>
                <a:tab pos="3391535" algn="l"/>
                <a:tab pos="4337050" algn="l"/>
                <a:tab pos="5254625" algn="l"/>
                <a:tab pos="5580380" algn="l"/>
                <a:tab pos="6002020" algn="l"/>
                <a:tab pos="6567805" algn="l"/>
                <a:tab pos="7629525" algn="l"/>
                <a:tab pos="8207375" algn="l"/>
              </a:tabLst>
            </a:pPr>
            <a:r>
              <a:rPr sz="1850" spc="-815" dirty="0">
                <a:solidFill>
                  <a:srgbClr val="E6B1AA"/>
                </a:solidFill>
                <a:latin typeface="Webdings" panose="05030102010509060703"/>
                <a:cs typeface="Webdings" panose="05030102010509060703"/>
              </a:rPr>
              <a:t></a:t>
            </a:r>
            <a:r>
              <a:rPr sz="1850" spc="-815" dirty="0">
                <a:solidFill>
                  <a:srgbClr val="E6B1A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5" dirty="0">
                <a:solidFill>
                  <a:srgbClr val="E6B1A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6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200" spc="-13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200" spc="-13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200" spc="3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200" spc="-114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200" spc="-15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200" spc="-17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2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200" spc="-1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200" spc="-16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200" spc="-18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200" spc="5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200" spc="7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200" spc="2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200" spc="-18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-16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200" spc="-17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-21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-145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200" spc="-16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200" spc="3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200" spc="-204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200" spc="3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200" spc="-5" dirty="0">
                <a:latin typeface="Times New Roman" panose="02020603050405020304"/>
                <a:cs typeface="Times New Roman" panose="02020603050405020304"/>
              </a:rPr>
              <a:t>…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-6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200" spc="2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200" spc="-14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200" spc="-17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200" spc="-130" dirty="0">
                <a:latin typeface="Times New Roman" panose="02020603050405020304"/>
                <a:cs typeface="Times New Roman" panose="02020603050405020304"/>
              </a:rPr>
              <a:t>s  known </a:t>
            </a:r>
            <a:r>
              <a:rPr sz="2200" spc="-180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“priority</a:t>
            </a:r>
            <a:r>
              <a:rPr sz="22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55" dirty="0">
                <a:latin typeface="Times New Roman" panose="02020603050405020304"/>
                <a:cs typeface="Times New Roman" panose="02020603050405020304"/>
              </a:rPr>
              <a:t>aging”)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615950" marR="20320" lvl="1" indent="-251460">
              <a:lnSpc>
                <a:spcPts val="3170"/>
              </a:lnSpc>
              <a:spcBef>
                <a:spcPts val="49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b="1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Deadlines </a:t>
            </a:r>
            <a:r>
              <a:rPr sz="2650" spc="-5" dirty="0">
                <a:latin typeface="Times New Roman" panose="02020603050405020304"/>
                <a:cs typeface="Times New Roman" panose="02020603050405020304"/>
              </a:rPr>
              <a:t>–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some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processes </a:t>
            </a:r>
            <a:r>
              <a:rPr sz="2650" spc="-235" dirty="0">
                <a:latin typeface="Times New Roman" panose="02020603050405020304"/>
                <a:cs typeface="Times New Roman" panose="02020603050405020304"/>
              </a:rPr>
              <a:t>may </a:t>
            </a:r>
            <a:r>
              <a:rPr sz="2650" spc="-220" dirty="0">
                <a:latin typeface="Times New Roman" panose="02020603050405020304"/>
                <a:cs typeface="Times New Roman" panose="02020603050405020304"/>
              </a:rPr>
              <a:t>have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hard 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soft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deadlines 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must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6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met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marR="5080" lvl="1" indent="-251460">
              <a:lnSpc>
                <a:spcPts val="3170"/>
              </a:lnSpc>
              <a:spcBef>
                <a:spcPts val="43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  <a:tab pos="2251710" algn="l"/>
                <a:tab pos="3290570" algn="l"/>
                <a:tab pos="5068570" algn="l"/>
                <a:tab pos="5735320" algn="l"/>
                <a:tab pos="6195060" algn="l"/>
                <a:tab pos="6489700" algn="l"/>
                <a:tab pos="7371715" algn="l"/>
                <a:tab pos="7770495" algn="l"/>
              </a:tabLst>
            </a:pP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650" spc="-19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-19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650" spc="-22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204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650" spc="58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spc="2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50" spc="-1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229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22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650" spc="-31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-22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20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50" spc="-229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spc="2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229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-204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254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ll</a:t>
            </a:r>
            <a:r>
              <a:rPr sz="2650" spc="105" dirty="0">
                <a:latin typeface="Times New Roman" panose="02020603050405020304"/>
                <a:cs typeface="Times New Roman" panose="02020603050405020304"/>
              </a:rPr>
              <a:t>, 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especially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interactive</a:t>
            </a:r>
            <a:r>
              <a:rPr sz="265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systems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object 6"/>
          <p:cNvSpPr txBox="1"/>
          <p:nvPr/>
        </p:nvSpPr>
        <p:spPr>
          <a:xfrm>
            <a:off x="263652" y="7077995"/>
            <a:ext cx="296545" cy="2476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500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</a:fld>
            <a:endParaRPr sz="15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832" y="732573"/>
            <a:ext cx="4119245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50" spc="-240" dirty="0"/>
              <a:t>Optimization</a:t>
            </a:r>
            <a:r>
              <a:rPr sz="3750" spc="-270" dirty="0"/>
              <a:t> </a:t>
            </a:r>
            <a:r>
              <a:rPr sz="3750" spc="-245" dirty="0"/>
              <a:t>Criteria</a:t>
            </a:r>
            <a:endParaRPr sz="375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5" name="object 5"/>
          <p:cNvSpPr txBox="1"/>
          <p:nvPr/>
        </p:nvSpPr>
        <p:spPr>
          <a:xfrm>
            <a:off x="263652" y="7077995"/>
            <a:ext cx="296545" cy="2476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500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</a:fld>
            <a:endParaRPr sz="15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3655" y="1612312"/>
            <a:ext cx="4218940" cy="342392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73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245" dirty="0">
                <a:latin typeface="Times New Roman" panose="02020603050405020304"/>
                <a:cs typeface="Times New Roman" panose="02020603050405020304"/>
              </a:rPr>
              <a:t>We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would like 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05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8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Maximize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50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CPU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Utilization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2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Throughput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3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204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7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Minimize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9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Turnaround</a:t>
            </a:r>
            <a:r>
              <a:rPr sz="2650" spc="-4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Time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3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Waiting</a:t>
            </a:r>
            <a:r>
              <a:rPr sz="2650" spc="-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Time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2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Response</a:t>
            </a:r>
            <a:r>
              <a:rPr sz="2650" spc="-3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Time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832" y="653402"/>
            <a:ext cx="4497070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50" spc="-145" dirty="0"/>
              <a:t>Scheduling</a:t>
            </a:r>
            <a:r>
              <a:rPr sz="3750" spc="-240" dirty="0"/>
              <a:t> </a:t>
            </a:r>
            <a:r>
              <a:rPr sz="3750" spc="-204" dirty="0"/>
              <a:t>Algorithms</a:t>
            </a:r>
            <a:endParaRPr sz="375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5" name="object 5"/>
          <p:cNvSpPr txBox="1"/>
          <p:nvPr/>
        </p:nvSpPr>
        <p:spPr>
          <a:xfrm>
            <a:off x="263652" y="7077995"/>
            <a:ext cx="296545" cy="2476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500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</a:fld>
            <a:endParaRPr sz="15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3655" y="1604959"/>
            <a:ext cx="5937250" cy="3345179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78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0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First </a:t>
            </a:r>
            <a:r>
              <a:rPr sz="3050" spc="-9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come, </a:t>
            </a:r>
            <a:r>
              <a:rPr sz="3050" spc="-10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First </a:t>
            </a:r>
            <a:r>
              <a:rPr sz="3050" spc="-12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serve</a:t>
            </a:r>
            <a:r>
              <a:rPr sz="3050" spc="-14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21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(FCFS)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70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0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Shortest </a:t>
            </a:r>
            <a:r>
              <a:rPr sz="3050" spc="-17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Job </a:t>
            </a:r>
            <a:r>
              <a:rPr sz="3050" spc="-10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First</a:t>
            </a:r>
            <a:r>
              <a:rPr sz="3050" spc="-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20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(SJF)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7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Priority</a:t>
            </a:r>
            <a:r>
              <a:rPr sz="3050" spc="-114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6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Scheduling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3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Round-Robin</a:t>
            </a:r>
            <a:r>
              <a:rPr sz="3050" spc="-8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6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Scheduling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3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Multi-level </a:t>
            </a:r>
            <a:r>
              <a:rPr sz="3050" spc="-8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Queue</a:t>
            </a:r>
            <a:r>
              <a:rPr sz="3050" spc="-7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6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Scheduling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3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Multi-level </a:t>
            </a:r>
            <a:r>
              <a:rPr sz="3050" spc="-18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Feed </a:t>
            </a:r>
            <a:r>
              <a:rPr sz="3050" spc="-16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back </a:t>
            </a:r>
            <a:r>
              <a:rPr sz="3050" spc="-12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queue</a:t>
            </a:r>
            <a:r>
              <a:rPr sz="3050" spc="13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6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Scheduling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5800" y="7079992"/>
            <a:ext cx="211454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latin typeface="Arial" panose="020B0604020202020204"/>
                <a:cs typeface="Arial" panose="020B0604020202020204"/>
              </a:rPr>
              <a:t>2</a:t>
            </a:r>
            <a:r>
              <a:rPr sz="1300" spc="10" dirty="0">
                <a:latin typeface="Arial" panose="020B0604020202020204"/>
                <a:cs typeface="Arial" panose="020B0604020202020204"/>
              </a:rPr>
              <a:t>7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5909" y="778270"/>
            <a:ext cx="962215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spc="-245" dirty="0"/>
              <a:t>1. </a:t>
            </a:r>
            <a:r>
              <a:rPr sz="3950" spc="-250" dirty="0"/>
              <a:t>First-Come, </a:t>
            </a:r>
            <a:r>
              <a:rPr sz="3950" spc="-215" dirty="0"/>
              <a:t>First-Served </a:t>
            </a:r>
            <a:r>
              <a:rPr sz="3950" spc="-170" dirty="0"/>
              <a:t>(FCFS)</a:t>
            </a:r>
            <a:r>
              <a:rPr sz="3950" spc="-215" dirty="0"/>
              <a:t> </a:t>
            </a:r>
            <a:r>
              <a:rPr sz="3950" spc="-145" dirty="0"/>
              <a:t>Scheduling</a:t>
            </a:r>
            <a:endParaRPr sz="3950"/>
          </a:p>
        </p:txBody>
      </p:sp>
      <p:sp>
        <p:nvSpPr>
          <p:cNvPr id="4" name="object 4"/>
          <p:cNvSpPr txBox="1"/>
          <p:nvPr/>
        </p:nvSpPr>
        <p:spPr>
          <a:xfrm>
            <a:off x="839290" y="1589094"/>
            <a:ext cx="5460365" cy="464312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00355" marR="771525" indent="-300355" algn="r">
              <a:lnSpc>
                <a:spcPct val="100000"/>
              </a:lnSpc>
              <a:spcBef>
                <a:spcPts val="33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00355" algn="l"/>
              </a:tabLst>
            </a:pP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Simplest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scheduling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algorithm: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251460" marR="800735" lvl="1" indent="-251460" algn="r">
              <a:lnSpc>
                <a:spcPct val="100000"/>
              </a:lnSpc>
              <a:spcBef>
                <a:spcPts val="17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251460" algn="l"/>
              </a:tabLst>
            </a:pP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Run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jobs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order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they</a:t>
            </a:r>
            <a:r>
              <a:rPr sz="265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arrive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27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Uni-programming: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16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Run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until</a:t>
            </a:r>
            <a:r>
              <a:rPr sz="265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done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27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Multi-programming: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17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Run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until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done 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2650" spc="-190" dirty="0">
                <a:latin typeface="Times New Roman" panose="02020603050405020304"/>
                <a:cs typeface="Times New Roman" panose="02020603050405020304"/>
              </a:rPr>
              <a:t>Blocks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65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120" dirty="0">
                <a:latin typeface="Times New Roman" panose="02020603050405020304"/>
                <a:cs typeface="Times New Roman" panose="02020603050405020304"/>
              </a:rPr>
              <a:t>I/O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27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Nonpreemptive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16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34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keeps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CPU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until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done 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65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130" dirty="0">
                <a:latin typeface="Times New Roman" panose="02020603050405020304"/>
                <a:cs typeface="Times New Roman" panose="02020603050405020304"/>
              </a:rPr>
              <a:t>I/O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00355" marR="3559810" indent="-300355" algn="r">
              <a:lnSpc>
                <a:spcPct val="100000"/>
              </a:lnSpc>
              <a:spcBef>
                <a:spcPts val="27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00355" algn="l"/>
              </a:tabLst>
            </a:pPr>
            <a:r>
              <a:rPr sz="3050" spc="-35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3050" spc="-29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3050" spc="-22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spc="7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25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23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50" dirty="0">
                <a:latin typeface="Times New Roman" panose="02020603050405020304"/>
                <a:cs typeface="Times New Roman" panose="02020603050405020304"/>
              </a:rPr>
              <a:t>: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251460" marR="3623310" lvl="1" indent="-251460" algn="r">
              <a:lnSpc>
                <a:spcPct val="100000"/>
              </a:lnSpc>
              <a:spcBef>
                <a:spcPts val="17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251460" algn="l"/>
              </a:tabLst>
            </a:pPr>
            <a:r>
              <a:rPr sz="2650" spc="-37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-19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5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225" dirty="0">
                <a:latin typeface="Times New Roman" panose="02020603050405020304"/>
                <a:cs typeface="Times New Roman" panose="02020603050405020304"/>
              </a:rPr>
              <a:t>y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3724" y="7020572"/>
            <a:ext cx="250317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1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CS-2006 Operating</a:t>
            </a:r>
            <a:r>
              <a:rPr sz="1500" spc="-4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1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Systems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468" y="551249"/>
            <a:ext cx="39916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FCFS</a:t>
            </a:r>
            <a:r>
              <a:rPr spc="-320" dirty="0"/>
              <a:t> </a:t>
            </a:r>
            <a:r>
              <a:rPr spc="-165" dirty="0"/>
              <a:t>Scheduling</a:t>
            </a:r>
            <a:endParaRPr spc="-16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63752" y="1652991"/>
          <a:ext cx="4001770" cy="1889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3875"/>
                <a:gridCol w="2207260"/>
              </a:tblGrid>
              <a:tr h="435226">
                <a:tc>
                  <a:txBody>
                    <a:bodyPr/>
                    <a:lstStyle/>
                    <a:p>
                      <a:pPr marL="31750">
                        <a:lnSpc>
                          <a:spcPts val="2695"/>
                        </a:lnSpc>
                      </a:pPr>
                      <a:r>
                        <a:rPr sz="2650" u="heavy" spc="-13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Process</a:t>
                      </a:r>
                      <a:endParaRPr sz="2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2170">
                        <a:lnSpc>
                          <a:spcPts val="2695"/>
                        </a:lnSpc>
                      </a:pPr>
                      <a:r>
                        <a:rPr sz="2650" u="heavy" spc="-13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Burst</a:t>
                      </a:r>
                      <a:r>
                        <a:rPr sz="2650" spc="-434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650" u="heavy" spc="-14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Time</a:t>
                      </a:r>
                      <a:endParaRPr sz="2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509127">
                <a:tc>
                  <a:txBody>
                    <a:bodyPr/>
                    <a:lstStyle/>
                    <a:p>
                      <a:pPr marL="31750">
                        <a:lnSpc>
                          <a:spcPts val="3095"/>
                        </a:lnSpc>
                      </a:pPr>
                      <a:r>
                        <a:rPr sz="2650" i="1" spc="-310" dirty="0">
                          <a:latin typeface="Times New Roman" panose="02020603050405020304"/>
                          <a:cs typeface="Times New Roman" panose="02020603050405020304"/>
                        </a:rPr>
                        <a:t>P</a:t>
                      </a:r>
                      <a:r>
                        <a:rPr sz="2625" i="1" spc="-465" baseline="-2100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625" baseline="-2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1620" algn="r">
                        <a:lnSpc>
                          <a:spcPts val="3095"/>
                        </a:lnSpc>
                      </a:pPr>
                      <a:r>
                        <a:rPr sz="2650" spc="5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650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2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486171">
                <a:tc>
                  <a:txBody>
                    <a:bodyPr/>
                    <a:lstStyle/>
                    <a:p>
                      <a:pPr marL="31750">
                        <a:lnSpc>
                          <a:spcPts val="2915"/>
                        </a:lnSpc>
                      </a:pPr>
                      <a:r>
                        <a:rPr sz="2650" i="1" spc="-310" dirty="0">
                          <a:latin typeface="Times New Roman" panose="02020603050405020304"/>
                          <a:cs typeface="Times New Roman" panose="02020603050405020304"/>
                        </a:rPr>
                        <a:t>P</a:t>
                      </a:r>
                      <a:r>
                        <a:rPr sz="2625" i="1" spc="-465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625" baseline="-2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5925" algn="r">
                        <a:lnSpc>
                          <a:spcPts val="2915"/>
                        </a:lnSpc>
                      </a:pPr>
                      <a:r>
                        <a:rPr sz="265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458143">
                <a:tc>
                  <a:txBody>
                    <a:bodyPr/>
                    <a:lstStyle/>
                    <a:p>
                      <a:pPr marL="31750">
                        <a:lnSpc>
                          <a:spcPts val="2915"/>
                        </a:lnSpc>
                      </a:pPr>
                      <a:r>
                        <a:rPr sz="2650" i="1" spc="-310" dirty="0">
                          <a:latin typeface="Times New Roman" panose="02020603050405020304"/>
                          <a:cs typeface="Times New Roman" panose="02020603050405020304"/>
                        </a:rPr>
                        <a:t>P</a:t>
                      </a:r>
                      <a:r>
                        <a:rPr sz="2625" i="1" spc="-465" baseline="-2100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625" baseline="-2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5925" algn="r">
                        <a:lnSpc>
                          <a:spcPts val="2915"/>
                        </a:lnSpc>
                      </a:pPr>
                      <a:r>
                        <a:rPr sz="2650" i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51622" y="3524561"/>
            <a:ext cx="7213600" cy="8305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3175"/>
              </a:lnSpc>
              <a:spcBef>
                <a:spcPts val="90"/>
              </a:spcBef>
              <a:tabLst>
                <a:tab pos="337820" algn="l"/>
              </a:tabLst>
            </a:pPr>
            <a:r>
              <a:rPr sz="2250" spc="-1010" dirty="0">
                <a:solidFill>
                  <a:srgbClr val="D34816"/>
                </a:solidFill>
                <a:latin typeface="Webdings" panose="05030102010509060703"/>
                <a:cs typeface="Webdings" panose="05030102010509060703"/>
              </a:rPr>
              <a:t></a:t>
            </a:r>
            <a:r>
              <a:rPr sz="2250" spc="-1010" dirty="0">
                <a:solidFill>
                  <a:srgbClr val="D34816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Suppose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processes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arrive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order: </a:t>
            </a:r>
            <a:r>
              <a:rPr sz="2650" i="1" spc="-31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25" i="1" spc="-465" baseline="-21000" dirty="0">
                <a:latin typeface="Times New Roman" panose="02020603050405020304"/>
                <a:cs typeface="Times New Roman" panose="02020603050405020304"/>
              </a:rPr>
              <a:t>1 </a:t>
            </a:r>
            <a:r>
              <a:rPr sz="2650" spc="105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2650" i="1" spc="-31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25" i="1" spc="-465" baseline="-21000" dirty="0"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2650" spc="105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650" spc="-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i="1" spc="-31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25" i="1" spc="-465" baseline="-21000" dirty="0">
                <a:latin typeface="Times New Roman" panose="02020603050405020304"/>
                <a:cs typeface="Times New Roman" panose="02020603050405020304"/>
              </a:rPr>
              <a:t>3</a:t>
            </a:r>
            <a:endParaRPr sz="2625" baseline="-21000">
              <a:latin typeface="Times New Roman" panose="02020603050405020304"/>
              <a:cs typeface="Times New Roman" panose="02020603050405020304"/>
            </a:endParaRPr>
          </a:p>
          <a:p>
            <a:pPr marL="337820">
              <a:lnSpc>
                <a:spcPts val="3175"/>
              </a:lnSpc>
            </a:pP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Gantt 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Chart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schedule</a:t>
            </a:r>
            <a:r>
              <a:rPr sz="265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is: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00605" y="4514850"/>
          <a:ext cx="5800090" cy="870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88079"/>
                <a:gridCol w="1005839"/>
                <a:gridCol w="1089660"/>
              </a:tblGrid>
              <a:tr h="626363">
                <a:tc>
                  <a:txBody>
                    <a:bodyPr/>
                    <a:lstStyle/>
                    <a:p>
                      <a:pPr marR="368300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9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950" spc="15" baseline="-210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950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561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9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950" spc="15" baseline="-21000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950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9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950" spc="15" baseline="-21000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endParaRPr sz="1950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31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10" name="object 10"/>
          <p:cNvSpPr txBox="1"/>
          <p:nvPr/>
        </p:nvSpPr>
        <p:spPr>
          <a:xfrm>
            <a:off x="284479" y="7077995"/>
            <a:ext cx="2806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11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28</a:t>
            </a:r>
            <a:endParaRPr sz="15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42099" y="5318274"/>
            <a:ext cx="30607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20" dirty="0">
                <a:latin typeface="Arial" panose="020B0604020202020204"/>
                <a:cs typeface="Arial" panose="020B0604020202020204"/>
              </a:rPr>
              <a:t>3</a:t>
            </a:r>
            <a:r>
              <a:rPr sz="1950" spc="15" dirty="0">
                <a:latin typeface="Arial" panose="020B0604020202020204"/>
                <a:cs typeface="Arial" panose="020B0604020202020204"/>
              </a:rPr>
              <a:t>0</a:t>
            </a:r>
            <a:endParaRPr sz="1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8922" y="5318274"/>
            <a:ext cx="5920105" cy="12160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85800">
              <a:lnSpc>
                <a:spcPts val="2340"/>
              </a:lnSpc>
              <a:spcBef>
                <a:spcPts val="130"/>
              </a:spcBef>
              <a:tabLst>
                <a:tab pos="4304030" algn="l"/>
                <a:tab pos="5309870" algn="l"/>
              </a:tabLst>
            </a:pPr>
            <a:r>
              <a:rPr sz="1950" spc="15" dirty="0">
                <a:latin typeface="Arial" panose="020B0604020202020204"/>
                <a:cs typeface="Arial" panose="020B0604020202020204"/>
              </a:rPr>
              <a:t>0	24	27</a:t>
            </a:r>
            <a:endParaRPr sz="1950">
              <a:latin typeface="Arial" panose="020B0604020202020204"/>
              <a:cs typeface="Arial" panose="020B0604020202020204"/>
            </a:endParaRPr>
          </a:p>
          <a:p>
            <a:pPr marL="350520" indent="-300355">
              <a:lnSpc>
                <a:spcPts val="3180"/>
              </a:lnSpc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50520" algn="l"/>
                <a:tab pos="351155" algn="l"/>
                <a:tab pos="2814955" algn="l"/>
                <a:tab pos="3814445" algn="l"/>
              </a:tabLst>
            </a:pP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Waiting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26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i="1" spc="-31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25" i="1" spc="-465" baseline="-21000" dirty="0">
                <a:latin typeface="Times New Roman" panose="02020603050405020304"/>
                <a:cs typeface="Times New Roman" panose="02020603050405020304"/>
              </a:rPr>
              <a:t>1	</a:t>
            </a:r>
            <a:r>
              <a:rPr sz="2650" spc="26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0;</a:t>
            </a:r>
            <a:r>
              <a:rPr sz="2650" spc="-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i="1" spc="-31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25" i="1" spc="-465" baseline="-21000" dirty="0">
                <a:latin typeface="Times New Roman" panose="02020603050405020304"/>
                <a:cs typeface="Times New Roman" panose="02020603050405020304"/>
              </a:rPr>
              <a:t>2	</a:t>
            </a:r>
            <a:r>
              <a:rPr sz="2650" spc="26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24;</a:t>
            </a:r>
            <a:r>
              <a:rPr sz="2650" spc="-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i="1" spc="-31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25" i="1" spc="-465" baseline="-21000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625" i="1" spc="-442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26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27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50520" indent="-300355">
              <a:lnSpc>
                <a:spcPct val="100000"/>
              </a:lnSpc>
              <a:spcBef>
                <a:spcPts val="64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50520" algn="l"/>
                <a:tab pos="351155" algn="l"/>
                <a:tab pos="3140075" algn="l"/>
              </a:tabLst>
            </a:pPr>
            <a:r>
              <a:rPr sz="2650" spc="-200" dirty="0">
                <a:latin typeface="Times New Roman" panose="02020603050405020304"/>
                <a:cs typeface="Times New Roman" panose="02020603050405020304"/>
              </a:rPr>
              <a:t>Average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waiting</a:t>
            </a:r>
            <a:r>
              <a:rPr sz="26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time:	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(0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26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24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26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35" dirty="0">
                <a:latin typeface="Times New Roman" panose="02020603050405020304"/>
                <a:cs typeface="Times New Roman" panose="02020603050405020304"/>
              </a:rPr>
              <a:t>27)/3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26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17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551249"/>
            <a:ext cx="56876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FCFS </a:t>
            </a:r>
            <a:r>
              <a:rPr spc="-165" dirty="0"/>
              <a:t>Scheduling</a:t>
            </a:r>
            <a:r>
              <a:rPr spc="-409" dirty="0"/>
              <a:t> </a:t>
            </a:r>
            <a:r>
              <a:rPr spc="-305" dirty="0"/>
              <a:t>(Cont.)</a:t>
            </a:r>
            <a:endParaRPr spc="-305" dirty="0"/>
          </a:p>
        </p:txBody>
      </p:sp>
      <p:sp>
        <p:nvSpPr>
          <p:cNvPr id="3" name="object 3"/>
          <p:cNvSpPr txBox="1"/>
          <p:nvPr/>
        </p:nvSpPr>
        <p:spPr>
          <a:xfrm>
            <a:off x="1080955" y="1547990"/>
            <a:ext cx="8227695" cy="118872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35"/>
              </a:spcBef>
            </a:pPr>
            <a:r>
              <a:rPr sz="3550" spc="-1935" dirty="0">
                <a:solidFill>
                  <a:srgbClr val="D34816"/>
                </a:solidFill>
                <a:latin typeface="Georgia" panose="02040502050405020303"/>
                <a:cs typeface="Georgia" panose="02040502050405020303"/>
              </a:rPr>
              <a:t></a:t>
            </a:r>
            <a:r>
              <a:rPr sz="3550" spc="-110" dirty="0">
                <a:solidFill>
                  <a:srgbClr val="D34816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Suppose </a:t>
            </a: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processes 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arrive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55" dirty="0">
                <a:latin typeface="Times New Roman" panose="02020603050405020304"/>
                <a:cs typeface="Times New Roman" panose="02020603050405020304"/>
              </a:rPr>
              <a:t>order </a:t>
            </a:r>
            <a:r>
              <a:rPr sz="3050" i="1" spc="-35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075" i="1" spc="-532" baseline="-20000" dirty="0"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3050" spc="135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3050" i="1" spc="-35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075" i="1" spc="-532" baseline="-20000" dirty="0">
                <a:latin typeface="Times New Roman" panose="02020603050405020304"/>
                <a:cs typeface="Times New Roman" panose="02020603050405020304"/>
              </a:rPr>
              <a:t>3 </a:t>
            </a:r>
            <a:r>
              <a:rPr sz="3050" spc="135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3050" spc="-4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i="1" spc="-35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075" i="1" spc="-532" baseline="-20000" dirty="0">
                <a:latin typeface="Times New Roman" panose="02020603050405020304"/>
                <a:cs typeface="Times New Roman" panose="02020603050405020304"/>
              </a:rPr>
              <a:t>1</a:t>
            </a:r>
            <a:endParaRPr sz="3075" baseline="-20000">
              <a:latin typeface="Times New Roman" panose="02020603050405020304"/>
              <a:cs typeface="Times New Roman" panose="02020603050405020304"/>
            </a:endParaRPr>
          </a:p>
          <a:p>
            <a:pPr marL="25400">
              <a:lnSpc>
                <a:spcPct val="100000"/>
              </a:lnSpc>
              <a:spcBef>
                <a:spcPts val="595"/>
              </a:spcBef>
            </a:pPr>
            <a:r>
              <a:rPr sz="2600" spc="-1155" dirty="0">
                <a:solidFill>
                  <a:srgbClr val="D34816"/>
                </a:solidFill>
                <a:latin typeface="Webdings" panose="05030102010509060703"/>
                <a:cs typeface="Webdings" panose="05030102010509060703"/>
              </a:rPr>
              <a:t></a:t>
            </a:r>
            <a:r>
              <a:rPr sz="2600" spc="254" dirty="0">
                <a:solidFill>
                  <a:srgbClr val="D3481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Gantt </a:t>
            </a:r>
            <a:r>
              <a:rPr sz="3050" spc="-60" dirty="0">
                <a:latin typeface="Times New Roman" panose="02020603050405020304"/>
                <a:cs typeface="Times New Roman" panose="02020603050405020304"/>
              </a:rPr>
              <a:t>chart 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schedule</a:t>
            </a: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is: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707642" y="3089910"/>
          <a:ext cx="5800090" cy="932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9660"/>
                <a:gridCol w="1005840"/>
                <a:gridCol w="3688079"/>
              </a:tblGrid>
              <a:tr h="670560">
                <a:tc>
                  <a:txBody>
                    <a:bodyPr/>
                    <a:lstStyle/>
                    <a:p>
                      <a:pPr marR="37465" algn="ctr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9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950" spc="15" baseline="-21000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950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0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9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950" spc="15" baseline="-21000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endParaRPr sz="1950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0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3380" algn="ctr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9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950" spc="15" baseline="-210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950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0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9" name="object 9"/>
          <p:cNvSpPr txBox="1"/>
          <p:nvPr/>
        </p:nvSpPr>
        <p:spPr>
          <a:xfrm>
            <a:off x="284479" y="7077995"/>
            <a:ext cx="2806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11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29</a:t>
            </a:r>
            <a:endParaRPr sz="15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85344" y="3963368"/>
            <a:ext cx="30416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dirty="0">
                <a:latin typeface="Arial" panose="020B0604020202020204"/>
                <a:cs typeface="Arial" panose="020B0604020202020204"/>
              </a:rPr>
              <a:t>3</a:t>
            </a:r>
            <a:r>
              <a:rPr sz="1950" spc="15" dirty="0">
                <a:latin typeface="Arial" panose="020B0604020202020204"/>
                <a:cs typeface="Arial" panose="020B0604020202020204"/>
              </a:rPr>
              <a:t>0</a:t>
            </a:r>
            <a:endParaRPr sz="1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5555" y="3895828"/>
            <a:ext cx="6292215" cy="207645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589915">
              <a:lnSpc>
                <a:spcPct val="100000"/>
              </a:lnSpc>
              <a:spcBef>
                <a:spcPts val="660"/>
              </a:spcBef>
              <a:tabLst>
                <a:tab pos="1685925" algn="l"/>
                <a:tab pos="2691765" algn="l"/>
              </a:tabLst>
            </a:pPr>
            <a:r>
              <a:rPr sz="1950" spc="15" dirty="0">
                <a:latin typeface="Arial" panose="020B0604020202020204"/>
                <a:cs typeface="Arial" panose="020B0604020202020204"/>
              </a:rPr>
              <a:t>0	3	6</a:t>
            </a:r>
            <a:endParaRPr sz="1950">
              <a:latin typeface="Arial" panose="020B0604020202020204"/>
              <a:cs typeface="Arial" panose="020B0604020202020204"/>
            </a:endParaRPr>
          </a:p>
          <a:p>
            <a:pPr marL="350520" indent="-300355">
              <a:lnSpc>
                <a:spcPct val="100000"/>
              </a:lnSpc>
              <a:spcBef>
                <a:spcPts val="87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51155" algn="l"/>
              </a:tabLst>
            </a:pP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Waiting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3050" i="1" spc="-35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075" i="1" spc="-532" baseline="-20000" dirty="0">
                <a:latin typeface="Times New Roman" panose="02020603050405020304"/>
                <a:cs typeface="Times New Roman" panose="02020603050405020304"/>
              </a:rPr>
              <a:t>1 </a:t>
            </a:r>
            <a:r>
              <a:rPr sz="3050" i="1" spc="-5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3050" spc="-220" dirty="0">
                <a:latin typeface="Times New Roman" panose="02020603050405020304"/>
                <a:cs typeface="Times New Roman" panose="02020603050405020304"/>
              </a:rPr>
              <a:t>6</a:t>
            </a:r>
            <a:r>
              <a:rPr sz="3050" i="1" spc="-220" dirty="0">
                <a:latin typeface="Times New Roman" panose="02020603050405020304"/>
                <a:cs typeface="Times New Roman" panose="02020603050405020304"/>
              </a:rPr>
              <a:t>;P</a:t>
            </a:r>
            <a:r>
              <a:rPr sz="3075" i="1" spc="-330" baseline="-20000" dirty="0"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3050" spc="335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3075" i="1" spc="-209" baseline="-20000" dirty="0">
                <a:latin typeface="Times New Roman" panose="02020603050405020304"/>
                <a:cs typeface="Times New Roman" panose="02020603050405020304"/>
              </a:rPr>
              <a:t>; </a:t>
            </a:r>
            <a:r>
              <a:rPr sz="3050" i="1" spc="-35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075" i="1" spc="-532" baseline="-20000" dirty="0">
                <a:latin typeface="Times New Roman" panose="02020603050405020304"/>
                <a:cs typeface="Times New Roman" panose="02020603050405020304"/>
              </a:rPr>
              <a:t>3 </a:t>
            </a:r>
            <a:r>
              <a:rPr sz="3050" i="1" spc="-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3050" i="1" spc="-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3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505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51155" algn="l"/>
                <a:tab pos="3601720" algn="l"/>
              </a:tabLst>
            </a:pPr>
            <a:r>
              <a:rPr sz="3050" spc="-215" dirty="0">
                <a:latin typeface="Times New Roman" panose="02020603050405020304"/>
                <a:cs typeface="Times New Roman" panose="02020603050405020304"/>
              </a:rPr>
              <a:t>Average</a:t>
            </a:r>
            <a:r>
              <a:rPr sz="30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waiting</a:t>
            </a:r>
            <a:r>
              <a:rPr sz="30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65" dirty="0">
                <a:latin typeface="Times New Roman" panose="02020603050405020304"/>
                <a:cs typeface="Times New Roman" panose="02020603050405020304"/>
              </a:rPr>
              <a:t>time:	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(6 </a:t>
            </a:r>
            <a:r>
              <a:rPr sz="3050" spc="33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33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110" dirty="0">
                <a:latin typeface="Times New Roman" panose="02020603050405020304"/>
                <a:cs typeface="Times New Roman" panose="02020603050405020304"/>
              </a:rPr>
              <a:t>3)/3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33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3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505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51155" algn="l"/>
              </a:tabLst>
            </a:pPr>
            <a:r>
              <a:rPr sz="3050" spc="-190" dirty="0">
                <a:latin typeface="Times New Roman" panose="02020603050405020304"/>
                <a:cs typeface="Times New Roman" panose="02020603050405020304"/>
              </a:rPr>
              <a:t>Much </a:t>
            </a:r>
            <a:r>
              <a:rPr sz="3050" spc="-40" dirty="0">
                <a:latin typeface="Times New Roman" panose="02020603050405020304"/>
                <a:cs typeface="Times New Roman" panose="02020603050405020304"/>
              </a:rPr>
              <a:t>better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than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previous</a:t>
            </a:r>
            <a:r>
              <a:rPr sz="305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case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872687"/>
            <a:ext cx="31959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0" dirty="0"/>
              <a:t>Convoy</a:t>
            </a:r>
            <a:r>
              <a:rPr spc="-320" dirty="0"/>
              <a:t> </a:t>
            </a:r>
            <a:r>
              <a:rPr spc="-254" dirty="0"/>
              <a:t>Effect</a:t>
            </a:r>
            <a:endParaRPr spc="-254" dirty="0"/>
          </a:p>
        </p:txBody>
      </p:sp>
      <p:sp>
        <p:nvSpPr>
          <p:cNvPr id="3" name="object 3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45691" y="2947416"/>
            <a:ext cx="7344409" cy="3378835"/>
          </a:xfrm>
          <a:custGeom>
            <a:avLst/>
            <a:gdLst/>
            <a:ahLst/>
            <a:cxnLst/>
            <a:rect l="l" t="t" r="r" b="b"/>
            <a:pathLst>
              <a:path w="7344409" h="3378835">
                <a:moveTo>
                  <a:pt x="0" y="140208"/>
                </a:moveTo>
                <a:lnTo>
                  <a:pt x="41148" y="0"/>
                </a:lnTo>
                <a:lnTo>
                  <a:pt x="64339" y="76200"/>
                </a:lnTo>
                <a:lnTo>
                  <a:pt x="38100" y="76200"/>
                </a:lnTo>
                <a:lnTo>
                  <a:pt x="35052" y="79248"/>
                </a:lnTo>
                <a:lnTo>
                  <a:pt x="35052" y="92173"/>
                </a:lnTo>
                <a:lnTo>
                  <a:pt x="0" y="140208"/>
                </a:lnTo>
                <a:close/>
              </a:path>
              <a:path w="7344409" h="3378835">
                <a:moveTo>
                  <a:pt x="35052" y="92173"/>
                </a:moveTo>
                <a:lnTo>
                  <a:pt x="35052" y="79248"/>
                </a:lnTo>
                <a:lnTo>
                  <a:pt x="38100" y="76200"/>
                </a:lnTo>
                <a:lnTo>
                  <a:pt x="45720" y="76200"/>
                </a:lnTo>
                <a:lnTo>
                  <a:pt x="48768" y="79248"/>
                </a:lnTo>
                <a:lnTo>
                  <a:pt x="48768" y="83820"/>
                </a:lnTo>
                <a:lnTo>
                  <a:pt x="41148" y="83820"/>
                </a:lnTo>
                <a:lnTo>
                  <a:pt x="35052" y="92173"/>
                </a:lnTo>
                <a:close/>
              </a:path>
              <a:path w="7344409" h="3378835">
                <a:moveTo>
                  <a:pt x="83820" y="140208"/>
                </a:moveTo>
                <a:lnTo>
                  <a:pt x="48768" y="93889"/>
                </a:lnTo>
                <a:lnTo>
                  <a:pt x="48768" y="79248"/>
                </a:lnTo>
                <a:lnTo>
                  <a:pt x="45720" y="76200"/>
                </a:lnTo>
                <a:lnTo>
                  <a:pt x="64339" y="76200"/>
                </a:lnTo>
                <a:lnTo>
                  <a:pt x="83820" y="140208"/>
                </a:lnTo>
                <a:close/>
              </a:path>
              <a:path w="7344409" h="3378835">
                <a:moveTo>
                  <a:pt x="7251982" y="3343656"/>
                </a:moveTo>
                <a:lnTo>
                  <a:pt x="38100" y="3343656"/>
                </a:lnTo>
                <a:lnTo>
                  <a:pt x="35052" y="3340608"/>
                </a:lnTo>
                <a:lnTo>
                  <a:pt x="35052" y="92173"/>
                </a:lnTo>
                <a:lnTo>
                  <a:pt x="41148" y="83820"/>
                </a:lnTo>
                <a:lnTo>
                  <a:pt x="48768" y="93889"/>
                </a:lnTo>
                <a:lnTo>
                  <a:pt x="48768" y="3329940"/>
                </a:lnTo>
                <a:lnTo>
                  <a:pt x="41148" y="3329940"/>
                </a:lnTo>
                <a:lnTo>
                  <a:pt x="48768" y="3337560"/>
                </a:lnTo>
                <a:lnTo>
                  <a:pt x="7260336" y="3337560"/>
                </a:lnTo>
                <a:lnTo>
                  <a:pt x="7251982" y="3343656"/>
                </a:lnTo>
                <a:close/>
              </a:path>
              <a:path w="7344409" h="3378835">
                <a:moveTo>
                  <a:pt x="48768" y="93889"/>
                </a:moveTo>
                <a:lnTo>
                  <a:pt x="41148" y="83820"/>
                </a:lnTo>
                <a:lnTo>
                  <a:pt x="48768" y="83820"/>
                </a:lnTo>
                <a:lnTo>
                  <a:pt x="48768" y="93889"/>
                </a:lnTo>
                <a:close/>
              </a:path>
              <a:path w="7344409" h="3378835">
                <a:moveTo>
                  <a:pt x="7203948" y="3378708"/>
                </a:moveTo>
                <a:lnTo>
                  <a:pt x="7260336" y="3337560"/>
                </a:lnTo>
                <a:lnTo>
                  <a:pt x="7203948" y="3294888"/>
                </a:lnTo>
                <a:lnTo>
                  <a:pt x="7319119" y="3329940"/>
                </a:lnTo>
                <a:lnTo>
                  <a:pt x="7264908" y="3329940"/>
                </a:lnTo>
                <a:lnTo>
                  <a:pt x="7267956" y="3332988"/>
                </a:lnTo>
                <a:lnTo>
                  <a:pt x="7267956" y="3340608"/>
                </a:lnTo>
                <a:lnTo>
                  <a:pt x="7264908" y="3343656"/>
                </a:lnTo>
                <a:lnTo>
                  <a:pt x="7323384" y="3343656"/>
                </a:lnTo>
                <a:lnTo>
                  <a:pt x="7203948" y="3378708"/>
                </a:lnTo>
                <a:close/>
              </a:path>
              <a:path w="7344409" h="3378835">
                <a:moveTo>
                  <a:pt x="48768" y="3337560"/>
                </a:moveTo>
                <a:lnTo>
                  <a:pt x="41148" y="3329940"/>
                </a:lnTo>
                <a:lnTo>
                  <a:pt x="48768" y="3329940"/>
                </a:lnTo>
                <a:lnTo>
                  <a:pt x="48768" y="3337560"/>
                </a:lnTo>
                <a:close/>
              </a:path>
              <a:path w="7344409" h="3378835">
                <a:moveTo>
                  <a:pt x="7260336" y="3337560"/>
                </a:moveTo>
                <a:lnTo>
                  <a:pt x="48768" y="3337560"/>
                </a:lnTo>
                <a:lnTo>
                  <a:pt x="48768" y="3329940"/>
                </a:lnTo>
                <a:lnTo>
                  <a:pt x="7250266" y="3329940"/>
                </a:lnTo>
                <a:lnTo>
                  <a:pt x="7260336" y="3337560"/>
                </a:lnTo>
                <a:close/>
              </a:path>
              <a:path w="7344409" h="3378835">
                <a:moveTo>
                  <a:pt x="7323384" y="3343656"/>
                </a:moveTo>
                <a:lnTo>
                  <a:pt x="7264908" y="3343656"/>
                </a:lnTo>
                <a:lnTo>
                  <a:pt x="7267956" y="3340608"/>
                </a:lnTo>
                <a:lnTo>
                  <a:pt x="7267956" y="3332988"/>
                </a:lnTo>
                <a:lnTo>
                  <a:pt x="7264908" y="3329940"/>
                </a:lnTo>
                <a:lnTo>
                  <a:pt x="7319119" y="3329940"/>
                </a:lnTo>
                <a:lnTo>
                  <a:pt x="7344156" y="3337560"/>
                </a:lnTo>
                <a:lnTo>
                  <a:pt x="7323384" y="3343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503423" y="6305780"/>
            <a:ext cx="44132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i="1" spc="10" dirty="0">
                <a:latin typeface="URW Gothic"/>
                <a:cs typeface="URW Gothic"/>
              </a:rPr>
              <a:t>t</a:t>
            </a:r>
            <a:r>
              <a:rPr sz="1500" i="1" spc="20" dirty="0">
                <a:latin typeface="URW Gothic"/>
                <a:cs typeface="URW Gothic"/>
              </a:rPr>
              <a:t>i</a:t>
            </a:r>
            <a:r>
              <a:rPr sz="1500" i="1" spc="15" dirty="0">
                <a:latin typeface="URW Gothic"/>
                <a:cs typeface="URW Gothic"/>
              </a:rPr>
              <a:t>m</a:t>
            </a:r>
            <a:r>
              <a:rPr sz="1500" i="1" spc="20" dirty="0">
                <a:latin typeface="URW Gothic"/>
                <a:cs typeface="URW Gothic"/>
              </a:rPr>
              <a:t>e</a:t>
            </a:r>
            <a:endParaRPr sz="1500">
              <a:latin typeface="URW Gothic"/>
              <a:cs typeface="URW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30679" y="6144767"/>
            <a:ext cx="6484620" cy="289560"/>
          </a:xfrm>
          <a:custGeom>
            <a:avLst/>
            <a:gdLst/>
            <a:ahLst/>
            <a:cxnLst/>
            <a:rect l="l" t="t" r="r" b="b"/>
            <a:pathLst>
              <a:path w="6484620" h="289560">
                <a:moveTo>
                  <a:pt x="0" y="86867"/>
                </a:moveTo>
                <a:lnTo>
                  <a:pt x="0" y="204215"/>
                </a:lnTo>
              </a:path>
              <a:path w="6484620" h="289560">
                <a:moveTo>
                  <a:pt x="259080" y="86867"/>
                </a:moveTo>
                <a:lnTo>
                  <a:pt x="259080" y="204215"/>
                </a:lnTo>
              </a:path>
              <a:path w="6484620" h="289560">
                <a:moveTo>
                  <a:pt x="518160" y="86867"/>
                </a:moveTo>
                <a:lnTo>
                  <a:pt x="518160" y="204215"/>
                </a:lnTo>
              </a:path>
              <a:path w="6484620" h="289560">
                <a:moveTo>
                  <a:pt x="778764" y="86867"/>
                </a:moveTo>
                <a:lnTo>
                  <a:pt x="778764" y="204215"/>
                </a:lnTo>
              </a:path>
              <a:path w="6484620" h="289560">
                <a:moveTo>
                  <a:pt x="1030224" y="0"/>
                </a:moveTo>
                <a:lnTo>
                  <a:pt x="1030224" y="289559"/>
                </a:lnTo>
              </a:path>
              <a:path w="6484620" h="289560">
                <a:moveTo>
                  <a:pt x="1296924" y="86867"/>
                </a:moveTo>
                <a:lnTo>
                  <a:pt x="1296924" y="204215"/>
                </a:lnTo>
              </a:path>
              <a:path w="6484620" h="289560">
                <a:moveTo>
                  <a:pt x="1557528" y="86867"/>
                </a:moveTo>
                <a:lnTo>
                  <a:pt x="1557528" y="204215"/>
                </a:lnTo>
              </a:path>
              <a:path w="6484620" h="289560">
                <a:moveTo>
                  <a:pt x="1813560" y="86867"/>
                </a:moveTo>
                <a:lnTo>
                  <a:pt x="1813560" y="204215"/>
                </a:lnTo>
              </a:path>
              <a:path w="6484620" h="289560">
                <a:moveTo>
                  <a:pt x="2074164" y="86867"/>
                </a:moveTo>
                <a:lnTo>
                  <a:pt x="2074164" y="204215"/>
                </a:lnTo>
              </a:path>
              <a:path w="6484620" h="289560">
                <a:moveTo>
                  <a:pt x="2592324" y="86867"/>
                </a:moveTo>
                <a:lnTo>
                  <a:pt x="2592324" y="204215"/>
                </a:lnTo>
              </a:path>
              <a:path w="6484620" h="289560">
                <a:moveTo>
                  <a:pt x="2852928" y="86867"/>
                </a:moveTo>
                <a:lnTo>
                  <a:pt x="2852928" y="204215"/>
                </a:lnTo>
              </a:path>
              <a:path w="6484620" h="289560">
                <a:moveTo>
                  <a:pt x="3113532" y="86867"/>
                </a:moveTo>
                <a:lnTo>
                  <a:pt x="3113532" y="204215"/>
                </a:lnTo>
              </a:path>
              <a:path w="6484620" h="289560">
                <a:moveTo>
                  <a:pt x="3371088" y="86867"/>
                </a:moveTo>
                <a:lnTo>
                  <a:pt x="3371088" y="204215"/>
                </a:lnTo>
              </a:path>
              <a:path w="6484620" h="289560">
                <a:moveTo>
                  <a:pt x="3892296" y="86867"/>
                </a:moveTo>
                <a:lnTo>
                  <a:pt x="3892296" y="204215"/>
                </a:lnTo>
              </a:path>
              <a:path w="6484620" h="289560">
                <a:moveTo>
                  <a:pt x="4149852" y="86867"/>
                </a:moveTo>
                <a:lnTo>
                  <a:pt x="4149852" y="204215"/>
                </a:lnTo>
              </a:path>
              <a:path w="6484620" h="289560">
                <a:moveTo>
                  <a:pt x="4410456" y="86867"/>
                </a:moveTo>
                <a:lnTo>
                  <a:pt x="4410456" y="204215"/>
                </a:lnTo>
              </a:path>
              <a:path w="6484620" h="289560">
                <a:moveTo>
                  <a:pt x="4671060" y="86867"/>
                </a:moveTo>
                <a:lnTo>
                  <a:pt x="4671060" y="204215"/>
                </a:lnTo>
              </a:path>
              <a:path w="6484620" h="289560">
                <a:moveTo>
                  <a:pt x="5187696" y="86867"/>
                </a:moveTo>
                <a:lnTo>
                  <a:pt x="5187696" y="204215"/>
                </a:lnTo>
              </a:path>
              <a:path w="6484620" h="289560">
                <a:moveTo>
                  <a:pt x="5445252" y="86867"/>
                </a:moveTo>
                <a:lnTo>
                  <a:pt x="5445252" y="204215"/>
                </a:lnTo>
              </a:path>
              <a:path w="6484620" h="289560">
                <a:moveTo>
                  <a:pt x="5705856" y="86867"/>
                </a:moveTo>
                <a:lnTo>
                  <a:pt x="5705856" y="204215"/>
                </a:lnTo>
              </a:path>
              <a:path w="6484620" h="289560">
                <a:moveTo>
                  <a:pt x="5966460" y="86867"/>
                </a:moveTo>
                <a:lnTo>
                  <a:pt x="5966460" y="204215"/>
                </a:lnTo>
              </a:path>
              <a:path w="6484620" h="289560">
                <a:moveTo>
                  <a:pt x="6484620" y="86867"/>
                </a:moveTo>
                <a:lnTo>
                  <a:pt x="6484620" y="204215"/>
                </a:lnTo>
              </a:path>
            </a:pathLst>
          </a:custGeom>
          <a:ln w="137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605532" y="6455143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20" dirty="0">
                <a:latin typeface="URW Gothic"/>
                <a:cs typeface="URW Gothic"/>
              </a:rPr>
              <a:t>5</a:t>
            </a:r>
            <a:endParaRPr sz="1500">
              <a:latin typeface="URW Gothic"/>
              <a:cs typeface="URW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34485" y="6455143"/>
            <a:ext cx="243204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25" dirty="0">
                <a:latin typeface="URW Gothic"/>
                <a:cs typeface="URW Gothic"/>
              </a:rPr>
              <a:t>1</a:t>
            </a:r>
            <a:r>
              <a:rPr sz="1500" spc="20" dirty="0">
                <a:latin typeface="URW Gothic"/>
                <a:cs typeface="URW Gothic"/>
              </a:rPr>
              <a:t>0</a:t>
            </a:r>
            <a:endParaRPr sz="1500">
              <a:latin typeface="URW Gothic"/>
              <a:cs typeface="URW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43418" y="6455143"/>
            <a:ext cx="24130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10" dirty="0">
                <a:latin typeface="URW Gothic"/>
                <a:cs typeface="URW Gothic"/>
              </a:rPr>
              <a:t>1</a:t>
            </a:r>
            <a:r>
              <a:rPr sz="1500" spc="20" dirty="0">
                <a:latin typeface="URW Gothic"/>
                <a:cs typeface="URW Gothic"/>
              </a:rPr>
              <a:t>5</a:t>
            </a:r>
            <a:endParaRPr sz="1500">
              <a:latin typeface="URW Gothic"/>
              <a:cs typeface="URW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62105" y="6455143"/>
            <a:ext cx="243204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25" dirty="0">
                <a:latin typeface="URW Gothic"/>
                <a:cs typeface="URW Gothic"/>
              </a:rPr>
              <a:t>2</a:t>
            </a:r>
            <a:r>
              <a:rPr sz="1500" spc="20" dirty="0">
                <a:latin typeface="URW Gothic"/>
                <a:cs typeface="URW Gothic"/>
              </a:rPr>
              <a:t>0</a:t>
            </a:r>
            <a:endParaRPr sz="1500">
              <a:latin typeface="URW Gothic"/>
              <a:cs typeface="URW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35925" y="6455143"/>
            <a:ext cx="243204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25" dirty="0">
                <a:latin typeface="URW Gothic"/>
                <a:cs typeface="URW Gothic"/>
              </a:rPr>
              <a:t>2</a:t>
            </a:r>
            <a:r>
              <a:rPr sz="1500" spc="20" dirty="0">
                <a:latin typeface="URW Gothic"/>
                <a:cs typeface="URW Gothic"/>
              </a:rPr>
              <a:t>5</a:t>
            </a:r>
            <a:endParaRPr sz="1500">
              <a:latin typeface="URW Gothic"/>
              <a:cs typeface="URW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86839" y="3898391"/>
            <a:ext cx="2565400" cy="289560"/>
          </a:xfrm>
          <a:prstGeom prst="rect">
            <a:avLst/>
          </a:prstGeom>
          <a:ln w="13716">
            <a:solidFill>
              <a:srgbClr val="696464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6680" algn="ctr">
              <a:lnSpc>
                <a:spcPct val="100000"/>
              </a:lnSpc>
              <a:spcBef>
                <a:spcPts val="370"/>
              </a:spcBef>
            </a:pPr>
            <a:r>
              <a:rPr sz="1500" b="1" spc="15" dirty="0">
                <a:latin typeface="Gothic Uralic"/>
                <a:cs typeface="Gothic Uralic"/>
              </a:rPr>
              <a:t>10</a:t>
            </a:r>
            <a:endParaRPr sz="1500">
              <a:latin typeface="Gothic Uralic"/>
              <a:cs typeface="Gothic Ural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32147" y="4920996"/>
            <a:ext cx="775970" cy="288290"/>
          </a:xfrm>
          <a:prstGeom prst="rect">
            <a:avLst/>
          </a:prstGeom>
          <a:ln w="13716">
            <a:solidFill>
              <a:srgbClr val="696464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sz="1500" b="1" spc="20" dirty="0">
                <a:latin typeface="Gothic Uralic"/>
                <a:cs typeface="Gothic Uralic"/>
              </a:rPr>
              <a:t>3</a:t>
            </a:r>
            <a:endParaRPr sz="1500">
              <a:latin typeface="Gothic Uralic"/>
              <a:cs typeface="Gothic Ural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65447" y="4419600"/>
            <a:ext cx="251460" cy="288290"/>
          </a:xfrm>
          <a:custGeom>
            <a:avLst/>
            <a:gdLst/>
            <a:ahLst/>
            <a:cxnLst/>
            <a:rect l="l" t="t" r="r" b="b"/>
            <a:pathLst>
              <a:path w="251460" h="288289">
                <a:moveTo>
                  <a:pt x="0" y="0"/>
                </a:moveTo>
                <a:lnTo>
                  <a:pt x="251460" y="0"/>
                </a:lnTo>
                <a:lnTo>
                  <a:pt x="251460" y="288036"/>
                </a:lnTo>
                <a:lnTo>
                  <a:pt x="0" y="288036"/>
                </a:lnTo>
                <a:lnTo>
                  <a:pt x="0" y="0"/>
                </a:lnTo>
                <a:close/>
              </a:path>
            </a:pathLst>
          </a:custGeom>
          <a:ln w="13716">
            <a:solidFill>
              <a:srgbClr val="69646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025900" y="4429760"/>
            <a:ext cx="13525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20" dirty="0">
                <a:latin typeface="Gothic Uralic"/>
                <a:cs typeface="Gothic Uralic"/>
              </a:rPr>
              <a:t>1</a:t>
            </a:r>
            <a:endParaRPr sz="1500">
              <a:latin typeface="Gothic Uralic"/>
              <a:cs typeface="Gothic Ural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07864" y="5410200"/>
            <a:ext cx="1018540" cy="288290"/>
          </a:xfrm>
          <a:prstGeom prst="rect">
            <a:avLst/>
          </a:prstGeom>
          <a:ln w="13716">
            <a:solidFill>
              <a:srgbClr val="696464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500" b="1" spc="20" dirty="0">
                <a:latin typeface="Gothic Uralic"/>
                <a:cs typeface="Gothic Uralic"/>
              </a:rPr>
              <a:t>4</a:t>
            </a:r>
            <a:endParaRPr sz="1500">
              <a:latin typeface="Gothic Uralic"/>
              <a:cs typeface="Gothic Ural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83979" y="3703789"/>
            <a:ext cx="252729" cy="202183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 algn="just">
              <a:lnSpc>
                <a:spcPct val="149000"/>
              </a:lnSpc>
              <a:spcBef>
                <a:spcPts val="140"/>
              </a:spcBef>
            </a:pPr>
            <a:r>
              <a:rPr sz="2200" spc="-5" dirty="0">
                <a:latin typeface="URW Gothic"/>
                <a:cs typeface="URW Gothic"/>
              </a:rPr>
              <a:t>A  B  C  D</a:t>
            </a:r>
            <a:endParaRPr sz="2200">
              <a:latin typeface="URW Gothic"/>
              <a:cs typeface="URW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9280" y="2672587"/>
            <a:ext cx="75120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i="1" spc="15" dirty="0">
                <a:latin typeface="URW Gothic"/>
                <a:cs typeface="URW Gothic"/>
              </a:rPr>
              <a:t>process</a:t>
            </a:r>
            <a:endParaRPr sz="1500">
              <a:latin typeface="URW Gothic"/>
              <a:cs typeface="URW Goth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55541" y="1265682"/>
            <a:ext cx="5834380" cy="5173345"/>
            <a:chOff x="3955541" y="1265682"/>
            <a:chExt cx="5834380" cy="5173345"/>
          </a:xfrm>
        </p:grpSpPr>
        <p:sp>
          <p:nvSpPr>
            <p:cNvPr id="20" name="object 20"/>
            <p:cNvSpPr/>
            <p:nvPr/>
          </p:nvSpPr>
          <p:spPr>
            <a:xfrm>
              <a:off x="5522975" y="1272540"/>
              <a:ext cx="4259580" cy="2338070"/>
            </a:xfrm>
            <a:custGeom>
              <a:avLst/>
              <a:gdLst/>
              <a:ahLst/>
              <a:cxnLst/>
              <a:rect l="l" t="t" r="r" b="b"/>
              <a:pathLst>
                <a:path w="4259580" h="2338070">
                  <a:moveTo>
                    <a:pt x="0" y="0"/>
                  </a:moveTo>
                  <a:lnTo>
                    <a:pt x="4259580" y="0"/>
                  </a:lnTo>
                  <a:lnTo>
                    <a:pt x="4259580" y="2337816"/>
                  </a:lnTo>
                  <a:lnTo>
                    <a:pt x="0" y="2337816"/>
                  </a:lnTo>
                  <a:lnTo>
                    <a:pt x="0" y="0"/>
                  </a:lnTo>
                  <a:close/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962399" y="6143244"/>
              <a:ext cx="3900170" cy="295910"/>
            </a:xfrm>
            <a:custGeom>
              <a:avLst/>
              <a:gdLst/>
              <a:ahLst/>
              <a:cxnLst/>
              <a:rect l="l" t="t" r="r" b="b"/>
              <a:pathLst>
                <a:path w="3900170" h="295910">
                  <a:moveTo>
                    <a:pt x="0" y="0"/>
                  </a:moveTo>
                  <a:lnTo>
                    <a:pt x="0" y="295655"/>
                  </a:lnTo>
                </a:path>
                <a:path w="3900170" h="295910">
                  <a:moveTo>
                    <a:pt x="1303019" y="1524"/>
                  </a:moveTo>
                  <a:lnTo>
                    <a:pt x="1303019" y="291083"/>
                  </a:lnTo>
                </a:path>
                <a:path w="3900170" h="295910">
                  <a:moveTo>
                    <a:pt x="2598419" y="1524"/>
                  </a:moveTo>
                  <a:lnTo>
                    <a:pt x="2598419" y="291083"/>
                  </a:lnTo>
                </a:path>
                <a:path w="3900170" h="295910">
                  <a:moveTo>
                    <a:pt x="3899916" y="1524"/>
                  </a:moveTo>
                  <a:lnTo>
                    <a:pt x="3899916" y="291083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xfrm>
            <a:off x="5169535" y="533400"/>
            <a:ext cx="4760595" cy="3783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0145" marR="328295" indent="-1109980">
              <a:lnSpc>
                <a:spcPct val="101000"/>
              </a:lnSpc>
              <a:spcBef>
                <a:spcPts val="100"/>
              </a:spcBef>
              <a:tabLst>
                <a:tab pos="1067435" algn="l"/>
                <a:tab pos="2235835" algn="l"/>
                <a:tab pos="3277870" algn="l"/>
                <a:tab pos="3325495" algn="l"/>
              </a:tabLst>
            </a:pPr>
            <a:r>
              <a:rPr dirty="0"/>
              <a:t>p</a:t>
            </a:r>
            <a:r>
              <a:rPr spc="-5" dirty="0"/>
              <a:t>ro</a:t>
            </a:r>
            <a:r>
              <a:rPr spc="10" dirty="0"/>
              <a:t>c</a:t>
            </a:r>
            <a:r>
              <a:rPr spc="5" dirty="0"/>
              <a:t>ess</a:t>
            </a:r>
            <a:r>
              <a:rPr dirty="0"/>
              <a:t>	</a:t>
            </a:r>
            <a:r>
              <a:rPr spc="5" dirty="0"/>
              <a:t>se</a:t>
            </a:r>
            <a:r>
              <a:rPr spc="-5" dirty="0"/>
              <a:t>rvi</a:t>
            </a:r>
            <a:r>
              <a:rPr spc="10" dirty="0"/>
              <a:t>c</a:t>
            </a:r>
            <a:r>
              <a:rPr spc="5" dirty="0"/>
              <a:t>e</a:t>
            </a:r>
            <a:r>
              <a:rPr spc="-30" dirty="0"/>
              <a:t> </a:t>
            </a:r>
            <a:r>
              <a:rPr spc="15" dirty="0"/>
              <a:t>t</a:t>
            </a:r>
            <a:r>
              <a:rPr spc="5" dirty="0"/>
              <a:t>u</a:t>
            </a:r>
            <a:r>
              <a:rPr spc="-5" dirty="0"/>
              <a:t>r</a:t>
            </a:r>
            <a:r>
              <a:rPr spc="5" dirty="0"/>
              <a:t>n</a:t>
            </a:r>
            <a:r>
              <a:rPr spc="-5" dirty="0"/>
              <a:t>aro</a:t>
            </a:r>
            <a:r>
              <a:rPr spc="5" dirty="0"/>
              <a:t>und</a:t>
            </a:r>
            <a:r>
              <a:rPr dirty="0"/>
              <a:t>	</a:t>
            </a:r>
            <a:r>
              <a:rPr spc="-30" dirty="0"/>
              <a:t>w</a:t>
            </a:r>
            <a:r>
              <a:rPr spc="-5" dirty="0"/>
              <a:t>ai</a:t>
            </a:r>
            <a:r>
              <a:rPr spc="35" dirty="0"/>
              <a:t>t</a:t>
            </a:r>
            <a:r>
              <a:rPr spc="-5" dirty="0"/>
              <a:t>i</a:t>
            </a:r>
            <a:r>
              <a:rPr spc="5" dirty="0"/>
              <a:t>ng </a:t>
            </a:r>
            <a:r>
              <a:rPr i="1" dirty="0"/>
              <a:t> </a:t>
            </a:r>
            <a:r>
              <a:rPr i="1" spc="5" dirty="0"/>
              <a:t>time</a:t>
            </a:r>
            <a:r>
              <a:rPr i="1" spc="-30" dirty="0"/>
              <a:t> </a:t>
            </a:r>
            <a:r>
              <a:rPr i="1" spc="15" dirty="0"/>
              <a:t>t</a:t>
            </a:r>
            <a:r>
              <a:rPr sz="1725" i="1" spc="22" baseline="-22000" dirty="0"/>
              <a:t>s	</a:t>
            </a:r>
            <a:r>
              <a:rPr sz="1750" i="1" spc="10" dirty="0"/>
              <a:t>time</a:t>
            </a:r>
            <a:r>
              <a:rPr sz="1750" i="1" spc="-40" dirty="0"/>
              <a:t> </a:t>
            </a:r>
            <a:r>
              <a:rPr sz="1750" i="1" spc="20" dirty="0"/>
              <a:t>t</a:t>
            </a:r>
            <a:r>
              <a:rPr sz="1725" i="1" spc="30" baseline="-22000" dirty="0"/>
              <a:t>t		</a:t>
            </a:r>
            <a:r>
              <a:rPr sz="1750" i="1" spc="10" dirty="0"/>
              <a:t>time</a:t>
            </a:r>
            <a:r>
              <a:rPr sz="1750" i="1" spc="-130" dirty="0"/>
              <a:t> </a:t>
            </a:r>
            <a:r>
              <a:rPr sz="1750" i="1" spc="30" dirty="0"/>
              <a:t>t</a:t>
            </a:r>
            <a:r>
              <a:rPr sz="1725" i="1" spc="44" baseline="-22000" dirty="0"/>
              <a:t>w</a:t>
            </a:r>
            <a:endParaRPr sz="1725" baseline="-22000"/>
          </a:p>
          <a:p>
            <a:pPr marL="144780" algn="ctr">
              <a:lnSpc>
                <a:spcPct val="100000"/>
              </a:lnSpc>
              <a:spcBef>
                <a:spcPts val="540"/>
              </a:spcBef>
              <a:tabLst>
                <a:tab pos="982980" algn="l"/>
                <a:tab pos="1903730" algn="l"/>
                <a:tab pos="3312795" algn="l"/>
              </a:tabLst>
            </a:pPr>
            <a:endParaRPr i="0" spc="5" dirty="0">
              <a:latin typeface="URW Gothic"/>
              <a:cs typeface="URW Gothic"/>
            </a:endParaRPr>
          </a:p>
          <a:p>
            <a:pPr marL="144780" algn="ctr">
              <a:lnSpc>
                <a:spcPct val="100000"/>
              </a:lnSpc>
              <a:spcBef>
                <a:spcPts val="540"/>
              </a:spcBef>
              <a:tabLst>
                <a:tab pos="982980" algn="l"/>
                <a:tab pos="1903730" algn="l"/>
                <a:tab pos="3312795" algn="l"/>
              </a:tabLst>
            </a:pPr>
            <a:r>
              <a:rPr i="0" spc="5" dirty="0">
                <a:latin typeface="URW Gothic"/>
                <a:cs typeface="URW Gothic"/>
              </a:rPr>
              <a:t>A	</a:t>
            </a:r>
            <a:r>
              <a:rPr i="0" dirty="0">
                <a:latin typeface="URW Gothic"/>
                <a:cs typeface="URW Gothic"/>
              </a:rPr>
              <a:t>10	10	</a:t>
            </a:r>
            <a:r>
              <a:rPr i="0" spc="5" dirty="0">
                <a:latin typeface="URW Gothic"/>
                <a:cs typeface="URW Gothic"/>
              </a:rPr>
              <a:t>0</a:t>
            </a:r>
            <a:endParaRPr i="0" spc="5" dirty="0">
              <a:latin typeface="URW Gothic"/>
              <a:cs typeface="URW Gothic"/>
            </a:endParaRPr>
          </a:p>
          <a:p>
            <a:pPr marL="142240" algn="ctr">
              <a:lnSpc>
                <a:spcPct val="100000"/>
              </a:lnSpc>
              <a:spcBef>
                <a:spcPts val="10"/>
              </a:spcBef>
              <a:tabLst>
                <a:tab pos="1125855" algn="l"/>
                <a:tab pos="1922780" algn="l"/>
                <a:tab pos="3211195" algn="l"/>
              </a:tabLst>
            </a:pPr>
            <a:r>
              <a:rPr i="0" spc="5" dirty="0">
                <a:latin typeface="URW Gothic"/>
                <a:cs typeface="URW Gothic"/>
              </a:rPr>
              <a:t>B	1	</a:t>
            </a:r>
            <a:r>
              <a:rPr i="0" dirty="0">
                <a:latin typeface="URW Gothic"/>
                <a:cs typeface="URW Gothic"/>
              </a:rPr>
              <a:t>11	10</a:t>
            </a:r>
            <a:endParaRPr i="0" dirty="0">
              <a:latin typeface="URW Gothic"/>
              <a:cs typeface="URW Gothic"/>
            </a:endParaRPr>
          </a:p>
          <a:p>
            <a:pPr marL="143510" algn="ctr">
              <a:lnSpc>
                <a:spcPct val="100000"/>
              </a:lnSpc>
              <a:spcBef>
                <a:spcPts val="15"/>
              </a:spcBef>
              <a:tabLst>
                <a:tab pos="1117600" algn="l"/>
                <a:tab pos="1917700" algn="l"/>
                <a:tab pos="3201035" algn="l"/>
              </a:tabLst>
            </a:pPr>
            <a:r>
              <a:rPr i="0" spc="10" dirty="0">
                <a:latin typeface="URW Gothic"/>
                <a:cs typeface="URW Gothic"/>
              </a:rPr>
              <a:t>C	</a:t>
            </a:r>
            <a:r>
              <a:rPr i="0" spc="5" dirty="0">
                <a:latin typeface="URW Gothic"/>
                <a:cs typeface="URW Gothic"/>
              </a:rPr>
              <a:t>3	</a:t>
            </a:r>
            <a:r>
              <a:rPr i="0" dirty="0">
                <a:latin typeface="URW Gothic"/>
                <a:cs typeface="URW Gothic"/>
              </a:rPr>
              <a:t>14	11</a:t>
            </a:r>
            <a:endParaRPr i="0" dirty="0">
              <a:latin typeface="URW Gothic"/>
              <a:cs typeface="URW Gothic"/>
            </a:endParaRPr>
          </a:p>
          <a:p>
            <a:pPr marL="141605" algn="ctr">
              <a:lnSpc>
                <a:spcPct val="100000"/>
              </a:lnSpc>
              <a:spcBef>
                <a:spcPts val="10"/>
              </a:spcBef>
              <a:tabLst>
                <a:tab pos="1102995" algn="l"/>
                <a:tab pos="1897380" algn="l"/>
                <a:tab pos="3186430" algn="l"/>
              </a:tabLst>
            </a:pPr>
            <a:r>
              <a:rPr i="0" spc="10" dirty="0">
                <a:latin typeface="URW Gothic"/>
                <a:cs typeface="URW Gothic"/>
              </a:rPr>
              <a:t>D	</a:t>
            </a:r>
            <a:r>
              <a:rPr i="0" spc="5" dirty="0">
                <a:latin typeface="URW Gothic"/>
                <a:cs typeface="URW Gothic"/>
              </a:rPr>
              <a:t>4	</a:t>
            </a:r>
            <a:r>
              <a:rPr i="0" dirty="0">
                <a:latin typeface="URW Gothic"/>
                <a:cs typeface="URW Gothic"/>
              </a:rPr>
              <a:t>18	14</a:t>
            </a:r>
            <a:endParaRPr i="0" dirty="0">
              <a:latin typeface="URW Gothic"/>
              <a:cs typeface="URW Gothic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URW Gothic"/>
              <a:cs typeface="URW Gothic"/>
            </a:endParaRPr>
          </a:p>
          <a:p>
            <a:pPr marL="127000" indent="457200">
              <a:lnSpc>
                <a:spcPct val="100000"/>
              </a:lnSpc>
              <a:tabLst>
                <a:tab pos="2237105" algn="l"/>
                <a:tab pos="3556635" algn="l"/>
              </a:tabLst>
            </a:pPr>
            <a:r>
              <a:rPr b="1" i="0" spc="5" dirty="0">
                <a:latin typeface="Gothic Uralic"/>
                <a:cs typeface="Gothic Uralic"/>
              </a:rPr>
              <a:t>AVERAGE	</a:t>
            </a:r>
            <a:r>
              <a:rPr b="1" i="0" dirty="0">
                <a:latin typeface="Gothic Uralic"/>
                <a:cs typeface="Gothic Uralic"/>
              </a:rPr>
              <a:t>13.25	8.75</a:t>
            </a:r>
            <a:endParaRPr b="1" i="0" dirty="0">
              <a:latin typeface="Gothic Uralic"/>
              <a:cs typeface="Gothic Uralic"/>
            </a:endParaRPr>
          </a:p>
          <a:p>
            <a:pPr marL="695325" marR="30480">
              <a:lnSpc>
                <a:spcPct val="102000"/>
              </a:lnSpc>
              <a:spcBef>
                <a:spcPts val="1145"/>
              </a:spcBef>
              <a:tabLst>
                <a:tab pos="1190625" algn="l"/>
                <a:tab pos="1864360" algn="l"/>
                <a:tab pos="2430145" algn="l"/>
                <a:tab pos="3134360" algn="l"/>
                <a:tab pos="4058920" algn="l"/>
              </a:tabLst>
            </a:pPr>
            <a:endParaRPr sz="1950" i="0" spc="20" dirty="0">
              <a:latin typeface="Arial" panose="020B0604020202020204"/>
              <a:cs typeface="Arial" panose="020B0604020202020204"/>
            </a:endParaRPr>
          </a:p>
          <a:p>
            <a:pPr marL="695325" marR="30480">
              <a:lnSpc>
                <a:spcPct val="102000"/>
              </a:lnSpc>
              <a:spcBef>
                <a:spcPts val="1145"/>
              </a:spcBef>
              <a:tabLst>
                <a:tab pos="1190625" algn="l"/>
                <a:tab pos="1864360" algn="l"/>
                <a:tab pos="2430145" algn="l"/>
                <a:tab pos="3134360" algn="l"/>
                <a:tab pos="4058920" algn="l"/>
              </a:tabLst>
            </a:pPr>
            <a:r>
              <a:rPr sz="1950" i="0" spc="20" dirty="0">
                <a:latin typeface="Arial" panose="020B0604020202020204"/>
                <a:cs typeface="Arial" panose="020B0604020202020204"/>
              </a:rPr>
              <a:t>A </a:t>
            </a:r>
            <a:r>
              <a:rPr sz="1950" i="0" spc="15" dirty="0">
                <a:latin typeface="Arial" panose="020B0604020202020204"/>
                <a:cs typeface="Arial" panose="020B0604020202020204"/>
              </a:rPr>
              <a:t>long </a:t>
            </a:r>
            <a:r>
              <a:rPr sz="1950" i="0" spc="10" dirty="0">
                <a:latin typeface="Arial" panose="020B0604020202020204"/>
                <a:cs typeface="Arial" panose="020B0604020202020204"/>
              </a:rPr>
              <a:t>CPU-bound job </a:t>
            </a:r>
            <a:r>
              <a:rPr sz="1950" i="0" spc="15" dirty="0">
                <a:latin typeface="Arial" panose="020B0604020202020204"/>
                <a:cs typeface="Arial" panose="020B0604020202020204"/>
              </a:rPr>
              <a:t>may </a:t>
            </a:r>
            <a:r>
              <a:rPr sz="1950" i="0" spc="20" dirty="0">
                <a:latin typeface="Arial" panose="020B0604020202020204"/>
                <a:cs typeface="Arial" panose="020B0604020202020204"/>
              </a:rPr>
              <a:t>hog  </a:t>
            </a:r>
            <a:r>
              <a:rPr sz="1950" i="0" spc="5" dirty="0">
                <a:latin typeface="Arial" panose="020B0604020202020204"/>
                <a:cs typeface="Arial" panose="020B0604020202020204"/>
              </a:rPr>
              <a:t>t</a:t>
            </a:r>
            <a:r>
              <a:rPr sz="1950" i="0" spc="20" dirty="0">
                <a:latin typeface="Arial" panose="020B0604020202020204"/>
                <a:cs typeface="Arial" panose="020B0604020202020204"/>
              </a:rPr>
              <a:t>h</a:t>
            </a:r>
            <a:r>
              <a:rPr sz="1950" i="0" spc="15" dirty="0">
                <a:latin typeface="Arial" panose="020B0604020202020204"/>
                <a:cs typeface="Arial" panose="020B0604020202020204"/>
              </a:rPr>
              <a:t>e</a:t>
            </a:r>
            <a:r>
              <a:rPr sz="1950" i="0" dirty="0">
                <a:latin typeface="Arial" panose="020B0604020202020204"/>
                <a:cs typeface="Arial" panose="020B0604020202020204"/>
              </a:rPr>
              <a:t>	</a:t>
            </a:r>
            <a:r>
              <a:rPr sz="1950" i="0" spc="15" dirty="0">
                <a:latin typeface="Arial" panose="020B0604020202020204"/>
                <a:cs typeface="Arial" panose="020B0604020202020204"/>
              </a:rPr>
              <a:t>C</a:t>
            </a:r>
            <a:r>
              <a:rPr sz="1950" i="0" spc="25" dirty="0">
                <a:latin typeface="Arial" panose="020B0604020202020204"/>
                <a:cs typeface="Arial" panose="020B0604020202020204"/>
              </a:rPr>
              <a:t>P</a:t>
            </a:r>
            <a:r>
              <a:rPr sz="1950" i="0" spc="20" dirty="0">
                <a:latin typeface="Arial" panose="020B0604020202020204"/>
                <a:cs typeface="Arial" panose="020B0604020202020204"/>
              </a:rPr>
              <a:t>U</a:t>
            </a:r>
            <a:r>
              <a:rPr sz="1950" i="0" dirty="0">
                <a:latin typeface="Arial" panose="020B0604020202020204"/>
                <a:cs typeface="Arial" panose="020B0604020202020204"/>
              </a:rPr>
              <a:t>	</a:t>
            </a:r>
            <a:r>
              <a:rPr sz="1950" i="0" spc="20" dirty="0">
                <a:latin typeface="Arial" panose="020B0604020202020204"/>
                <a:cs typeface="Arial" panose="020B0604020202020204"/>
              </a:rPr>
              <a:t>a</a:t>
            </a:r>
            <a:r>
              <a:rPr sz="1950" i="0" dirty="0">
                <a:latin typeface="Arial" panose="020B0604020202020204"/>
                <a:cs typeface="Arial" panose="020B0604020202020204"/>
              </a:rPr>
              <a:t>n</a:t>
            </a:r>
            <a:r>
              <a:rPr sz="1950" i="0" spc="15" dirty="0">
                <a:latin typeface="Arial" panose="020B0604020202020204"/>
                <a:cs typeface="Arial" panose="020B0604020202020204"/>
              </a:rPr>
              <a:t>d</a:t>
            </a:r>
            <a:r>
              <a:rPr sz="1950" i="0" dirty="0">
                <a:latin typeface="Arial" panose="020B0604020202020204"/>
                <a:cs typeface="Arial" panose="020B0604020202020204"/>
              </a:rPr>
              <a:t>	</a:t>
            </a:r>
            <a:r>
              <a:rPr sz="1950" i="0" spc="5" dirty="0">
                <a:latin typeface="Arial" panose="020B0604020202020204"/>
                <a:cs typeface="Arial" panose="020B0604020202020204"/>
              </a:rPr>
              <a:t>f</a:t>
            </a:r>
            <a:r>
              <a:rPr sz="1950" i="0" dirty="0">
                <a:latin typeface="Arial" panose="020B0604020202020204"/>
                <a:cs typeface="Arial" panose="020B0604020202020204"/>
              </a:rPr>
              <a:t>o</a:t>
            </a:r>
            <a:r>
              <a:rPr sz="1950" i="0" spc="20" dirty="0">
                <a:latin typeface="Arial" panose="020B0604020202020204"/>
                <a:cs typeface="Arial" panose="020B0604020202020204"/>
              </a:rPr>
              <a:t>r</a:t>
            </a:r>
            <a:r>
              <a:rPr sz="1950" i="0" spc="-5" dirty="0">
                <a:latin typeface="Arial" panose="020B0604020202020204"/>
                <a:cs typeface="Arial" panose="020B0604020202020204"/>
              </a:rPr>
              <a:t>c</a:t>
            </a:r>
            <a:r>
              <a:rPr sz="1950" i="0" spc="15" dirty="0">
                <a:latin typeface="Arial" panose="020B0604020202020204"/>
                <a:cs typeface="Arial" panose="020B0604020202020204"/>
              </a:rPr>
              <a:t>e</a:t>
            </a:r>
            <a:r>
              <a:rPr sz="1950" i="0" dirty="0">
                <a:latin typeface="Arial" panose="020B0604020202020204"/>
                <a:cs typeface="Arial" panose="020B0604020202020204"/>
              </a:rPr>
              <a:t>	</a:t>
            </a:r>
            <a:r>
              <a:rPr sz="1950" i="0" spc="-5" dirty="0">
                <a:latin typeface="Arial" panose="020B0604020202020204"/>
                <a:cs typeface="Arial" panose="020B0604020202020204"/>
              </a:rPr>
              <a:t>s</a:t>
            </a:r>
            <a:r>
              <a:rPr sz="1950" i="0" spc="20" dirty="0">
                <a:latin typeface="Arial" panose="020B0604020202020204"/>
                <a:cs typeface="Arial" panose="020B0604020202020204"/>
              </a:rPr>
              <a:t>ho</a:t>
            </a:r>
            <a:r>
              <a:rPr sz="1950" i="0" dirty="0">
                <a:latin typeface="Arial" panose="020B0604020202020204"/>
                <a:cs typeface="Arial" panose="020B0604020202020204"/>
              </a:rPr>
              <a:t>r</a:t>
            </a:r>
            <a:r>
              <a:rPr sz="1950" i="0" spc="5" dirty="0">
                <a:latin typeface="Arial" panose="020B0604020202020204"/>
                <a:cs typeface="Arial" panose="020B0604020202020204"/>
              </a:rPr>
              <a:t>t</a:t>
            </a:r>
            <a:r>
              <a:rPr sz="1950" i="0" dirty="0">
                <a:latin typeface="Arial" panose="020B0604020202020204"/>
                <a:cs typeface="Arial" panose="020B0604020202020204"/>
              </a:rPr>
              <a:t>e</a:t>
            </a:r>
            <a:r>
              <a:rPr sz="1950" i="0" spc="10" dirty="0">
                <a:latin typeface="Arial" panose="020B0604020202020204"/>
                <a:cs typeface="Arial" panose="020B0604020202020204"/>
              </a:rPr>
              <a:t>r</a:t>
            </a:r>
            <a:r>
              <a:rPr sz="1950" i="0" dirty="0">
                <a:latin typeface="Arial" panose="020B0604020202020204"/>
                <a:cs typeface="Arial" panose="020B0604020202020204"/>
              </a:rPr>
              <a:t>	</a:t>
            </a:r>
            <a:r>
              <a:rPr sz="1950" i="0" spc="20" dirty="0">
                <a:latin typeface="Arial" panose="020B0604020202020204"/>
                <a:cs typeface="Arial" panose="020B0604020202020204"/>
              </a:rPr>
              <a:t>(</a:t>
            </a:r>
            <a:r>
              <a:rPr sz="1950" i="0" dirty="0">
                <a:latin typeface="Arial" panose="020B0604020202020204"/>
                <a:cs typeface="Arial" panose="020B0604020202020204"/>
              </a:rPr>
              <a:t>o</a:t>
            </a:r>
            <a:r>
              <a:rPr sz="1950" i="0" spc="10" dirty="0">
                <a:latin typeface="Arial" panose="020B0604020202020204"/>
                <a:cs typeface="Arial" panose="020B0604020202020204"/>
              </a:rPr>
              <a:t>r</a:t>
            </a:r>
            <a:endParaRPr sz="1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28" name="object 28"/>
          <p:cNvSpPr txBox="1"/>
          <p:nvPr/>
        </p:nvSpPr>
        <p:spPr>
          <a:xfrm>
            <a:off x="284479" y="7077995"/>
            <a:ext cx="2552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11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</a:t>
            </a:r>
            <a:r>
              <a:rPr sz="1500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0</a:t>
            </a:r>
            <a:endParaRPr sz="15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21368" y="4344437"/>
            <a:ext cx="3697604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480820" algn="l"/>
                <a:tab pos="2205355" algn="l"/>
                <a:tab pos="2680335" algn="l"/>
                <a:tab pos="3392170" algn="l"/>
              </a:tabLst>
            </a:pPr>
            <a:r>
              <a:rPr sz="1950" spc="5" dirty="0">
                <a:latin typeface="Arial" panose="020B0604020202020204"/>
                <a:cs typeface="Arial" panose="020B0604020202020204"/>
              </a:rPr>
              <a:t>I/</a:t>
            </a:r>
            <a:r>
              <a:rPr sz="1950" dirty="0">
                <a:latin typeface="Arial" panose="020B0604020202020204"/>
                <a:cs typeface="Arial" panose="020B0604020202020204"/>
              </a:rPr>
              <a:t>O</a:t>
            </a:r>
            <a:r>
              <a:rPr sz="1950" spc="20" dirty="0">
                <a:latin typeface="Arial" panose="020B0604020202020204"/>
                <a:cs typeface="Arial" panose="020B0604020202020204"/>
              </a:rPr>
              <a:t>-</a:t>
            </a:r>
            <a:r>
              <a:rPr sz="1950" dirty="0">
                <a:latin typeface="Arial" panose="020B0604020202020204"/>
                <a:cs typeface="Arial" panose="020B0604020202020204"/>
              </a:rPr>
              <a:t>b</a:t>
            </a:r>
            <a:r>
              <a:rPr sz="1950" spc="20" dirty="0">
                <a:latin typeface="Arial" panose="020B0604020202020204"/>
                <a:cs typeface="Arial" panose="020B0604020202020204"/>
              </a:rPr>
              <a:t>ou</a:t>
            </a:r>
            <a:r>
              <a:rPr sz="1950" dirty="0">
                <a:latin typeface="Arial" panose="020B0604020202020204"/>
                <a:cs typeface="Arial" panose="020B0604020202020204"/>
              </a:rPr>
              <a:t>n</a:t>
            </a:r>
            <a:r>
              <a:rPr sz="1950" spc="20" dirty="0">
                <a:latin typeface="Arial" panose="020B0604020202020204"/>
                <a:cs typeface="Arial" panose="020B0604020202020204"/>
              </a:rPr>
              <a:t>d</a:t>
            </a:r>
            <a:r>
              <a:rPr sz="1950" spc="10" dirty="0">
                <a:latin typeface="Arial" panose="020B0604020202020204"/>
                <a:cs typeface="Arial" panose="020B0604020202020204"/>
              </a:rPr>
              <a:t>)</a:t>
            </a:r>
            <a:r>
              <a:rPr sz="1950" dirty="0">
                <a:latin typeface="Arial" panose="020B0604020202020204"/>
                <a:cs typeface="Arial" panose="020B0604020202020204"/>
              </a:rPr>
              <a:t>	</a:t>
            </a:r>
            <a:r>
              <a:rPr sz="1950" spc="-20" dirty="0">
                <a:latin typeface="Arial" panose="020B0604020202020204"/>
                <a:cs typeface="Arial" panose="020B0604020202020204"/>
              </a:rPr>
              <a:t>j</a:t>
            </a:r>
            <a:r>
              <a:rPr sz="1950" spc="20" dirty="0">
                <a:latin typeface="Arial" panose="020B0604020202020204"/>
                <a:cs typeface="Arial" panose="020B0604020202020204"/>
              </a:rPr>
              <a:t>ob</a:t>
            </a:r>
            <a:r>
              <a:rPr sz="1950" spc="15" dirty="0">
                <a:latin typeface="Arial" panose="020B0604020202020204"/>
                <a:cs typeface="Arial" panose="020B0604020202020204"/>
              </a:rPr>
              <a:t>s</a:t>
            </a:r>
            <a:r>
              <a:rPr sz="1950" dirty="0">
                <a:latin typeface="Arial" panose="020B0604020202020204"/>
                <a:cs typeface="Arial" panose="020B0604020202020204"/>
              </a:rPr>
              <a:t>	</a:t>
            </a:r>
            <a:r>
              <a:rPr sz="1950" spc="10" dirty="0">
                <a:latin typeface="Arial" panose="020B0604020202020204"/>
                <a:cs typeface="Arial" panose="020B0604020202020204"/>
              </a:rPr>
              <a:t>to</a:t>
            </a:r>
            <a:r>
              <a:rPr sz="1950" dirty="0">
                <a:latin typeface="Arial" panose="020B0604020202020204"/>
                <a:cs typeface="Arial" panose="020B0604020202020204"/>
              </a:rPr>
              <a:t>	</a:t>
            </a:r>
            <a:r>
              <a:rPr sz="1950" spc="15" dirty="0">
                <a:latin typeface="Arial" panose="020B0604020202020204"/>
                <a:cs typeface="Arial" panose="020B0604020202020204"/>
              </a:rPr>
              <a:t>w</a:t>
            </a:r>
            <a:r>
              <a:rPr sz="1950" dirty="0">
                <a:latin typeface="Arial" panose="020B0604020202020204"/>
                <a:cs typeface="Arial" panose="020B0604020202020204"/>
              </a:rPr>
              <a:t>ai</a:t>
            </a:r>
            <a:r>
              <a:rPr sz="1950" spc="5" dirty="0">
                <a:latin typeface="Arial" panose="020B0604020202020204"/>
                <a:cs typeface="Arial" panose="020B0604020202020204"/>
              </a:rPr>
              <a:t>t</a:t>
            </a:r>
            <a:r>
              <a:rPr sz="1950" dirty="0">
                <a:latin typeface="Arial" panose="020B0604020202020204"/>
                <a:cs typeface="Arial" panose="020B0604020202020204"/>
              </a:rPr>
              <a:t>	</a:t>
            </a:r>
            <a:r>
              <a:rPr sz="1950" spc="5" dirty="0">
                <a:latin typeface="Arial" panose="020B0604020202020204"/>
                <a:cs typeface="Arial" panose="020B0604020202020204"/>
              </a:rPr>
              <a:t>f</a:t>
            </a:r>
            <a:r>
              <a:rPr sz="1950" dirty="0">
                <a:latin typeface="Arial" panose="020B0604020202020204"/>
                <a:cs typeface="Arial" panose="020B0604020202020204"/>
              </a:rPr>
              <a:t>o</a:t>
            </a:r>
            <a:r>
              <a:rPr sz="1950" spc="10" dirty="0">
                <a:latin typeface="Arial" panose="020B0604020202020204"/>
                <a:cs typeface="Arial" panose="020B0604020202020204"/>
              </a:rPr>
              <a:t>r</a:t>
            </a:r>
            <a:endParaRPr sz="1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21368" y="4722314"/>
            <a:ext cx="3698875" cy="629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90"/>
              </a:spcBef>
              <a:tabLst>
                <a:tab pos="1269365" algn="l"/>
                <a:tab pos="2303145" algn="l"/>
                <a:tab pos="2916555" algn="l"/>
                <a:tab pos="3251200" algn="l"/>
              </a:tabLst>
            </a:pPr>
            <a:r>
              <a:rPr sz="1950" spc="20" dirty="0">
                <a:latin typeface="Arial" panose="020B0604020202020204"/>
                <a:cs typeface="Arial" panose="020B0604020202020204"/>
              </a:rPr>
              <a:t>p</a:t>
            </a:r>
            <a:r>
              <a:rPr sz="1950" dirty="0">
                <a:latin typeface="Arial" panose="020B0604020202020204"/>
                <a:cs typeface="Arial" panose="020B0604020202020204"/>
              </a:rPr>
              <a:t>r</a:t>
            </a:r>
            <a:r>
              <a:rPr sz="1950" spc="20" dirty="0">
                <a:latin typeface="Arial" panose="020B0604020202020204"/>
                <a:cs typeface="Arial" panose="020B0604020202020204"/>
              </a:rPr>
              <a:t>o</a:t>
            </a:r>
            <a:r>
              <a:rPr sz="1950" dirty="0">
                <a:latin typeface="Arial" panose="020B0604020202020204"/>
                <a:cs typeface="Arial" panose="020B0604020202020204"/>
              </a:rPr>
              <a:t>lo</a:t>
            </a:r>
            <a:r>
              <a:rPr sz="1950" spc="20" dirty="0">
                <a:latin typeface="Arial" panose="020B0604020202020204"/>
                <a:cs typeface="Arial" panose="020B0604020202020204"/>
              </a:rPr>
              <a:t>ng</a:t>
            </a:r>
            <a:r>
              <a:rPr sz="1950" dirty="0">
                <a:latin typeface="Arial" panose="020B0604020202020204"/>
                <a:cs typeface="Arial" panose="020B0604020202020204"/>
              </a:rPr>
              <a:t>e</a:t>
            </a:r>
            <a:r>
              <a:rPr sz="1950" spc="15" dirty="0">
                <a:latin typeface="Arial" panose="020B0604020202020204"/>
                <a:cs typeface="Arial" panose="020B0604020202020204"/>
              </a:rPr>
              <a:t>d</a:t>
            </a:r>
            <a:r>
              <a:rPr sz="1950" dirty="0">
                <a:latin typeface="Arial" panose="020B0604020202020204"/>
                <a:cs typeface="Arial" panose="020B0604020202020204"/>
              </a:rPr>
              <a:t>	</a:t>
            </a:r>
            <a:r>
              <a:rPr sz="1950" spc="20" dirty="0">
                <a:latin typeface="Arial" panose="020B0604020202020204"/>
                <a:cs typeface="Arial" panose="020B0604020202020204"/>
              </a:rPr>
              <a:t>p</a:t>
            </a:r>
            <a:r>
              <a:rPr sz="1950" dirty="0">
                <a:latin typeface="Arial" panose="020B0604020202020204"/>
                <a:cs typeface="Arial" panose="020B0604020202020204"/>
              </a:rPr>
              <a:t>er</a:t>
            </a:r>
            <a:r>
              <a:rPr sz="1950" spc="20" dirty="0">
                <a:latin typeface="Arial" panose="020B0604020202020204"/>
                <a:cs typeface="Arial" panose="020B0604020202020204"/>
              </a:rPr>
              <a:t>i</a:t>
            </a:r>
            <a:r>
              <a:rPr sz="1950" dirty="0">
                <a:latin typeface="Arial" panose="020B0604020202020204"/>
                <a:cs typeface="Arial" panose="020B0604020202020204"/>
              </a:rPr>
              <a:t>o</a:t>
            </a:r>
            <a:r>
              <a:rPr sz="1950" spc="20" dirty="0">
                <a:latin typeface="Arial" panose="020B0604020202020204"/>
                <a:cs typeface="Arial" panose="020B0604020202020204"/>
              </a:rPr>
              <a:t>d</a:t>
            </a:r>
            <a:r>
              <a:rPr sz="1950" spc="10" dirty="0">
                <a:latin typeface="Arial" panose="020B0604020202020204"/>
                <a:cs typeface="Arial" panose="020B0604020202020204"/>
              </a:rPr>
              <a:t>s.</a:t>
            </a:r>
            <a:r>
              <a:rPr sz="1950" dirty="0">
                <a:latin typeface="Arial" panose="020B0604020202020204"/>
                <a:cs typeface="Arial" panose="020B0604020202020204"/>
              </a:rPr>
              <a:t>	</a:t>
            </a:r>
            <a:r>
              <a:rPr sz="1950" spc="10" dirty="0">
                <a:latin typeface="Arial" panose="020B0604020202020204"/>
                <a:cs typeface="Arial" panose="020B0604020202020204"/>
              </a:rPr>
              <a:t>T</a:t>
            </a:r>
            <a:r>
              <a:rPr sz="1950" spc="20" dirty="0">
                <a:latin typeface="Arial" panose="020B0604020202020204"/>
                <a:cs typeface="Arial" panose="020B0604020202020204"/>
              </a:rPr>
              <a:t>h</a:t>
            </a:r>
            <a:r>
              <a:rPr sz="1950" dirty="0">
                <a:latin typeface="Arial" panose="020B0604020202020204"/>
                <a:cs typeface="Arial" panose="020B0604020202020204"/>
              </a:rPr>
              <a:t>i</a:t>
            </a:r>
            <a:r>
              <a:rPr sz="1950" spc="15" dirty="0">
                <a:latin typeface="Arial" panose="020B0604020202020204"/>
                <a:cs typeface="Arial" panose="020B0604020202020204"/>
              </a:rPr>
              <a:t>s</a:t>
            </a:r>
            <a:r>
              <a:rPr sz="1950" dirty="0">
                <a:latin typeface="Arial" panose="020B0604020202020204"/>
                <a:cs typeface="Arial" panose="020B0604020202020204"/>
              </a:rPr>
              <a:t>	i</a:t>
            </a:r>
            <a:r>
              <a:rPr sz="1950" spc="15" dirty="0">
                <a:latin typeface="Arial" panose="020B0604020202020204"/>
                <a:cs typeface="Arial" panose="020B0604020202020204"/>
              </a:rPr>
              <a:t>n</a:t>
            </a:r>
            <a:r>
              <a:rPr sz="1950" dirty="0">
                <a:latin typeface="Arial" panose="020B0604020202020204"/>
                <a:cs typeface="Arial" panose="020B0604020202020204"/>
              </a:rPr>
              <a:t>	</a:t>
            </a:r>
            <a:r>
              <a:rPr sz="1950" spc="5" dirty="0">
                <a:latin typeface="Arial" panose="020B0604020202020204"/>
                <a:cs typeface="Arial" panose="020B0604020202020204"/>
              </a:rPr>
              <a:t>t</a:t>
            </a:r>
            <a:r>
              <a:rPr sz="1950" spc="20" dirty="0">
                <a:latin typeface="Arial" panose="020B0604020202020204"/>
                <a:cs typeface="Arial" panose="020B0604020202020204"/>
              </a:rPr>
              <a:t>u</a:t>
            </a:r>
            <a:r>
              <a:rPr sz="1950" dirty="0">
                <a:latin typeface="Arial" panose="020B0604020202020204"/>
                <a:cs typeface="Arial" panose="020B0604020202020204"/>
              </a:rPr>
              <a:t>r</a:t>
            </a:r>
            <a:r>
              <a:rPr sz="1950" spc="10" dirty="0">
                <a:latin typeface="Arial" panose="020B0604020202020204"/>
                <a:cs typeface="Arial" panose="020B0604020202020204"/>
              </a:rPr>
              <a:t>n  </a:t>
            </a:r>
            <a:r>
              <a:rPr sz="1950" spc="15" dirty="0">
                <a:latin typeface="Arial" panose="020B0604020202020204"/>
                <a:cs typeface="Arial" panose="020B0604020202020204"/>
              </a:rPr>
              <a:t>may</a:t>
            </a:r>
            <a:r>
              <a:rPr sz="1950" spc="295" dirty="0">
                <a:latin typeface="Arial" panose="020B0604020202020204"/>
                <a:cs typeface="Arial" panose="020B0604020202020204"/>
              </a:rPr>
              <a:t> </a:t>
            </a:r>
            <a:r>
              <a:rPr sz="1950" spc="15" dirty="0">
                <a:latin typeface="Arial" panose="020B0604020202020204"/>
                <a:cs typeface="Arial" panose="020B0604020202020204"/>
              </a:rPr>
              <a:t>lead</a:t>
            </a:r>
            <a:r>
              <a:rPr sz="1950" spc="305" dirty="0">
                <a:latin typeface="Arial" panose="020B0604020202020204"/>
                <a:cs typeface="Arial" panose="020B0604020202020204"/>
              </a:rPr>
              <a:t> </a:t>
            </a:r>
            <a:r>
              <a:rPr sz="1950" spc="10" dirty="0">
                <a:latin typeface="Arial" panose="020B0604020202020204"/>
                <a:cs typeface="Arial" panose="020B0604020202020204"/>
              </a:rPr>
              <a:t>to</a:t>
            </a:r>
            <a:r>
              <a:rPr sz="1950" spc="285" dirty="0">
                <a:latin typeface="Arial" panose="020B0604020202020204"/>
                <a:cs typeface="Arial" panose="020B0604020202020204"/>
              </a:rPr>
              <a:t> </a:t>
            </a:r>
            <a:r>
              <a:rPr sz="1950" spc="15" dirty="0">
                <a:latin typeface="Arial" panose="020B0604020202020204"/>
                <a:cs typeface="Arial" panose="020B0604020202020204"/>
              </a:rPr>
              <a:t>a</a:t>
            </a:r>
            <a:r>
              <a:rPr sz="1950" spc="305" dirty="0">
                <a:latin typeface="Arial" panose="020B0604020202020204"/>
                <a:cs typeface="Arial" panose="020B0604020202020204"/>
              </a:rPr>
              <a:t> </a:t>
            </a:r>
            <a:r>
              <a:rPr sz="1950" spc="10" dirty="0">
                <a:latin typeface="Arial" panose="020B0604020202020204"/>
                <a:cs typeface="Arial" panose="020B0604020202020204"/>
              </a:rPr>
              <a:t>lengthy</a:t>
            </a:r>
            <a:r>
              <a:rPr sz="1950" spc="315" dirty="0">
                <a:latin typeface="Arial" panose="020B0604020202020204"/>
                <a:cs typeface="Arial" panose="020B0604020202020204"/>
              </a:rPr>
              <a:t> </a:t>
            </a:r>
            <a:r>
              <a:rPr sz="1950" spc="10" dirty="0">
                <a:latin typeface="Arial" panose="020B0604020202020204"/>
                <a:cs typeface="Arial" panose="020B0604020202020204"/>
              </a:rPr>
              <a:t>queue</a:t>
            </a:r>
            <a:r>
              <a:rPr sz="1950" spc="305" dirty="0">
                <a:latin typeface="Arial" panose="020B0604020202020204"/>
                <a:cs typeface="Arial" panose="020B0604020202020204"/>
              </a:rPr>
              <a:t> </a:t>
            </a:r>
            <a:r>
              <a:rPr sz="1950" spc="15" dirty="0">
                <a:latin typeface="Arial" panose="020B0604020202020204"/>
                <a:cs typeface="Arial" panose="020B0604020202020204"/>
              </a:rPr>
              <a:t>of</a:t>
            </a:r>
            <a:endParaRPr sz="1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97568" y="5325790"/>
            <a:ext cx="369824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12165" algn="l"/>
                <a:tab pos="1511300" algn="l"/>
                <a:tab pos="2101850" algn="l"/>
                <a:tab pos="2957195" algn="l"/>
                <a:tab pos="3336925" algn="l"/>
              </a:tabLst>
            </a:pPr>
            <a:r>
              <a:rPr sz="1950" dirty="0">
                <a:latin typeface="Arial" panose="020B0604020202020204"/>
                <a:cs typeface="Arial" panose="020B0604020202020204"/>
              </a:rPr>
              <a:t>r</a:t>
            </a:r>
            <a:r>
              <a:rPr sz="1950" spc="20" dirty="0">
                <a:latin typeface="Arial" panose="020B0604020202020204"/>
                <a:cs typeface="Arial" panose="020B0604020202020204"/>
              </a:rPr>
              <a:t>ead</a:t>
            </a:r>
            <a:r>
              <a:rPr sz="1950" spc="15" dirty="0">
                <a:latin typeface="Arial" panose="020B0604020202020204"/>
                <a:cs typeface="Arial" panose="020B0604020202020204"/>
              </a:rPr>
              <a:t>y</a:t>
            </a:r>
            <a:r>
              <a:rPr sz="1950" dirty="0">
                <a:latin typeface="Arial" panose="020B0604020202020204"/>
                <a:cs typeface="Arial" panose="020B0604020202020204"/>
              </a:rPr>
              <a:t>	j</a:t>
            </a:r>
            <a:r>
              <a:rPr sz="1950" spc="20" dirty="0">
                <a:latin typeface="Arial" panose="020B0604020202020204"/>
                <a:cs typeface="Arial" panose="020B0604020202020204"/>
              </a:rPr>
              <a:t>o</a:t>
            </a:r>
            <a:r>
              <a:rPr sz="1950" dirty="0">
                <a:latin typeface="Arial" panose="020B0604020202020204"/>
                <a:cs typeface="Arial" panose="020B0604020202020204"/>
              </a:rPr>
              <a:t>b</a:t>
            </a:r>
            <a:r>
              <a:rPr sz="1950" spc="10" dirty="0">
                <a:latin typeface="Arial" panose="020B0604020202020204"/>
                <a:cs typeface="Arial" panose="020B0604020202020204"/>
              </a:rPr>
              <a:t>s,</a:t>
            </a:r>
            <a:r>
              <a:rPr sz="1950" dirty="0">
                <a:latin typeface="Arial" panose="020B0604020202020204"/>
                <a:cs typeface="Arial" panose="020B0604020202020204"/>
              </a:rPr>
              <a:t>	</a:t>
            </a:r>
            <a:r>
              <a:rPr sz="1950" spc="20" dirty="0">
                <a:latin typeface="Arial" panose="020B0604020202020204"/>
                <a:cs typeface="Arial" panose="020B0604020202020204"/>
              </a:rPr>
              <a:t>an</a:t>
            </a:r>
            <a:r>
              <a:rPr sz="1950" spc="15" dirty="0">
                <a:latin typeface="Arial" panose="020B0604020202020204"/>
                <a:cs typeface="Arial" panose="020B0604020202020204"/>
              </a:rPr>
              <a:t>d</a:t>
            </a:r>
            <a:r>
              <a:rPr sz="1950" dirty="0">
                <a:latin typeface="Arial" panose="020B0604020202020204"/>
                <a:cs typeface="Arial" panose="020B0604020202020204"/>
              </a:rPr>
              <a:t>	</a:t>
            </a:r>
            <a:r>
              <a:rPr sz="1950" spc="20" dirty="0">
                <a:latin typeface="Arial" panose="020B0604020202020204"/>
                <a:cs typeface="Arial" panose="020B0604020202020204"/>
              </a:rPr>
              <a:t>h</a:t>
            </a:r>
            <a:r>
              <a:rPr sz="1950" dirty="0">
                <a:latin typeface="Arial" panose="020B0604020202020204"/>
                <a:cs typeface="Arial" panose="020B0604020202020204"/>
              </a:rPr>
              <a:t>e</a:t>
            </a:r>
            <a:r>
              <a:rPr sz="1950" spc="20" dirty="0">
                <a:latin typeface="Arial" panose="020B0604020202020204"/>
                <a:cs typeface="Arial" panose="020B0604020202020204"/>
              </a:rPr>
              <a:t>n</a:t>
            </a:r>
            <a:r>
              <a:rPr sz="1950" spc="15" dirty="0">
                <a:latin typeface="Arial" panose="020B0604020202020204"/>
                <a:cs typeface="Arial" panose="020B0604020202020204"/>
              </a:rPr>
              <a:t>ce</a:t>
            </a:r>
            <a:r>
              <a:rPr sz="1950" dirty="0">
                <a:latin typeface="Arial" panose="020B0604020202020204"/>
                <a:cs typeface="Arial" panose="020B0604020202020204"/>
              </a:rPr>
              <a:t>	</a:t>
            </a:r>
            <a:r>
              <a:rPr sz="1950" spc="-15" dirty="0">
                <a:latin typeface="Arial" panose="020B0604020202020204"/>
                <a:cs typeface="Arial" panose="020B0604020202020204"/>
              </a:rPr>
              <a:t>t</a:t>
            </a:r>
            <a:r>
              <a:rPr sz="1950" spc="15" dirty="0">
                <a:latin typeface="Arial" panose="020B0604020202020204"/>
                <a:cs typeface="Arial" panose="020B0604020202020204"/>
              </a:rPr>
              <a:t>o</a:t>
            </a:r>
            <a:r>
              <a:rPr sz="1950" dirty="0">
                <a:latin typeface="Arial" panose="020B0604020202020204"/>
                <a:cs typeface="Arial" panose="020B0604020202020204"/>
              </a:rPr>
              <a:t>	</a:t>
            </a:r>
            <a:r>
              <a:rPr sz="1950" spc="5" dirty="0">
                <a:latin typeface="Arial" panose="020B0604020202020204"/>
                <a:cs typeface="Arial" panose="020B0604020202020204"/>
              </a:rPr>
              <a:t>t</a:t>
            </a:r>
            <a:r>
              <a:rPr sz="1950" dirty="0">
                <a:latin typeface="Arial" panose="020B0604020202020204"/>
                <a:cs typeface="Arial" panose="020B0604020202020204"/>
              </a:rPr>
              <a:t>h</a:t>
            </a:r>
            <a:r>
              <a:rPr sz="1950" spc="15" dirty="0">
                <a:latin typeface="Arial" panose="020B0604020202020204"/>
                <a:cs typeface="Arial" panose="020B0604020202020204"/>
              </a:rPr>
              <a:t>e</a:t>
            </a:r>
            <a:endParaRPr sz="1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49968" y="5551390"/>
            <a:ext cx="175450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5" dirty="0">
                <a:solidFill>
                  <a:srgbClr val="BF0000"/>
                </a:solidFill>
                <a:latin typeface="Arial" panose="020B0604020202020204"/>
                <a:cs typeface="Arial" panose="020B0604020202020204"/>
              </a:rPr>
              <a:t>'convoy</a:t>
            </a:r>
            <a:r>
              <a:rPr sz="1950" b="1" spc="-30" dirty="0">
                <a:solidFill>
                  <a:srgbClr val="B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b="1" spc="10" dirty="0">
                <a:solidFill>
                  <a:srgbClr val="BF0000"/>
                </a:solidFill>
                <a:latin typeface="Arial" panose="020B0604020202020204"/>
                <a:cs typeface="Arial" panose="020B0604020202020204"/>
              </a:rPr>
              <a:t>effect</a:t>
            </a:r>
            <a:r>
              <a:rPr sz="1950" spc="10" dirty="0">
                <a:solidFill>
                  <a:srgbClr val="BF0000"/>
                </a:solidFill>
                <a:latin typeface="Arial" panose="020B0604020202020204"/>
                <a:cs typeface="Arial" panose="020B0604020202020204"/>
              </a:rPr>
              <a:t>'</a:t>
            </a:r>
            <a:endParaRPr sz="19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630448"/>
            <a:ext cx="56876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FCFS </a:t>
            </a:r>
            <a:r>
              <a:rPr spc="-165" dirty="0"/>
              <a:t>Scheduling</a:t>
            </a:r>
            <a:r>
              <a:rPr spc="-409" dirty="0"/>
              <a:t> </a:t>
            </a:r>
            <a:r>
              <a:rPr spc="-305" dirty="0"/>
              <a:t>(Cont.)</a:t>
            </a:r>
            <a:endParaRPr spc="-305" dirty="0"/>
          </a:p>
        </p:txBody>
      </p:sp>
      <p:sp>
        <p:nvSpPr>
          <p:cNvPr id="3" name="object 3"/>
          <p:cNvSpPr txBox="1"/>
          <p:nvPr/>
        </p:nvSpPr>
        <p:spPr>
          <a:xfrm>
            <a:off x="1093655" y="1612312"/>
            <a:ext cx="8375015" cy="445008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12420" indent="-300355" algn="just">
              <a:lnSpc>
                <a:spcPct val="100000"/>
              </a:lnSpc>
              <a:spcBef>
                <a:spcPts val="73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285" dirty="0">
                <a:latin typeface="Times New Roman" panose="02020603050405020304"/>
                <a:cs typeface="Times New Roman" panose="02020603050405020304"/>
              </a:rPr>
              <a:t>FCFS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is: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50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Non-preemptive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2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Ready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queue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50" spc="-180" dirty="0">
                <a:latin typeface="Times New Roman" panose="02020603050405020304"/>
                <a:cs typeface="Times New Roman" panose="02020603050405020304"/>
              </a:rPr>
              <a:t>FIFO</a:t>
            </a:r>
            <a:r>
              <a:rPr sz="2650" spc="2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queue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3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75" dirty="0">
                <a:latin typeface="Times New Roman" panose="02020603050405020304"/>
                <a:cs typeface="Times New Roman" panose="02020603050405020304"/>
              </a:rPr>
              <a:t>Jobs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arriving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are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placed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at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end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ready</a:t>
            </a:r>
            <a:r>
              <a:rPr sz="2650" spc="3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queue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3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First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job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ready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queue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runs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completion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CPU</a:t>
            </a:r>
            <a:r>
              <a:rPr sz="2650" spc="3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burst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300355" algn="just">
              <a:lnSpc>
                <a:spcPct val="100000"/>
              </a:lnSpc>
              <a:spcBef>
                <a:spcPts val="62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b="1" spc="-4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Advantages: </a:t>
            </a:r>
            <a:r>
              <a:rPr sz="3050" spc="-110" dirty="0">
                <a:solidFill>
                  <a:srgbClr val="696464"/>
                </a:solidFill>
                <a:latin typeface="Times New Roman" panose="02020603050405020304"/>
                <a:cs typeface="Times New Roman" panose="02020603050405020304"/>
              </a:rPr>
              <a:t>simple, </a:t>
            </a:r>
            <a:r>
              <a:rPr sz="3050" spc="-155" dirty="0">
                <a:solidFill>
                  <a:srgbClr val="696464"/>
                </a:solidFill>
                <a:latin typeface="Times New Roman" panose="02020603050405020304"/>
                <a:cs typeface="Times New Roman" panose="02020603050405020304"/>
              </a:rPr>
              <a:t>low</a:t>
            </a:r>
            <a:r>
              <a:rPr sz="3050" spc="-409" dirty="0">
                <a:solidFill>
                  <a:srgbClr val="69646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50" dirty="0">
                <a:solidFill>
                  <a:srgbClr val="696464"/>
                </a:solidFill>
                <a:latin typeface="Times New Roman" panose="02020603050405020304"/>
                <a:cs typeface="Times New Roman" panose="02020603050405020304"/>
              </a:rPr>
              <a:t>overhead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marR="5080" indent="-300355" algn="just">
              <a:lnSpc>
                <a:spcPct val="101000"/>
              </a:lnSpc>
              <a:spcBef>
                <a:spcPts val="66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b="1" spc="-3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Disadvantages: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long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waiting </a:t>
            </a:r>
            <a:r>
              <a:rPr sz="3050" spc="-60" dirty="0">
                <a:latin typeface="Times New Roman" panose="02020603050405020304"/>
                <a:cs typeface="Times New Roman" panose="02020603050405020304"/>
              </a:rPr>
              <a:t>time, 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inappropriate 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for 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interactive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systems, large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fluctuations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3050" spc="-190" dirty="0">
                <a:latin typeface="Times New Roman" panose="02020603050405020304"/>
                <a:cs typeface="Times New Roman" panose="02020603050405020304"/>
              </a:rPr>
              <a:t>average  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turnaround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possible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object 6"/>
          <p:cNvSpPr txBox="1"/>
          <p:nvPr/>
        </p:nvSpPr>
        <p:spPr>
          <a:xfrm>
            <a:off x="289052" y="7077995"/>
            <a:ext cx="245745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</a:t>
            </a:r>
            <a:r>
              <a:rPr sz="1500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15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3625" y="709647"/>
            <a:ext cx="26898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50" dirty="0">
                <a:solidFill>
                  <a:srgbClr val="BF0000"/>
                </a:solidFill>
                <a:latin typeface="Trebuchet MS" panose="020B0603020202020204"/>
                <a:cs typeface="Trebuchet MS" panose="020B0603020202020204"/>
              </a:rPr>
              <a:t>R</a:t>
            </a:r>
            <a:r>
              <a:rPr sz="4400" b="1" spc="-245" dirty="0">
                <a:solidFill>
                  <a:srgbClr val="BF0000"/>
                </a:solidFill>
                <a:latin typeface="Trebuchet MS" panose="020B0603020202020204"/>
                <a:cs typeface="Trebuchet MS" panose="020B0603020202020204"/>
              </a:rPr>
              <a:t>e</a:t>
            </a:r>
            <a:r>
              <a:rPr sz="4400" b="1" spc="-400" dirty="0">
                <a:solidFill>
                  <a:srgbClr val="BF0000"/>
                </a:solidFill>
                <a:latin typeface="Trebuchet MS" panose="020B0603020202020204"/>
                <a:cs typeface="Trebuchet MS" panose="020B0603020202020204"/>
              </a:rPr>
              <a:t>f</a:t>
            </a:r>
            <a:r>
              <a:rPr sz="4400" b="1" spc="-245" dirty="0">
                <a:solidFill>
                  <a:srgbClr val="BF0000"/>
                </a:solidFill>
                <a:latin typeface="Trebuchet MS" panose="020B0603020202020204"/>
                <a:cs typeface="Trebuchet MS" panose="020B0603020202020204"/>
              </a:rPr>
              <a:t>e</a:t>
            </a:r>
            <a:r>
              <a:rPr sz="4400" b="1" spc="-430" dirty="0">
                <a:solidFill>
                  <a:srgbClr val="BF0000"/>
                </a:solidFill>
                <a:latin typeface="Trebuchet MS" panose="020B0603020202020204"/>
                <a:cs typeface="Trebuchet MS" panose="020B0603020202020204"/>
              </a:rPr>
              <a:t>r</a:t>
            </a:r>
            <a:r>
              <a:rPr sz="4400" b="1" spc="-245" dirty="0">
                <a:solidFill>
                  <a:srgbClr val="BF0000"/>
                </a:solidFill>
                <a:latin typeface="Trebuchet MS" panose="020B0603020202020204"/>
                <a:cs typeface="Trebuchet MS" panose="020B0603020202020204"/>
              </a:rPr>
              <a:t>e</a:t>
            </a:r>
            <a:r>
              <a:rPr sz="4400" b="1" spc="-180" dirty="0">
                <a:solidFill>
                  <a:srgbClr val="BF0000"/>
                </a:solidFill>
                <a:latin typeface="Trebuchet MS" panose="020B0603020202020204"/>
                <a:cs typeface="Trebuchet MS" panose="020B0603020202020204"/>
              </a:rPr>
              <a:t>n</a:t>
            </a:r>
            <a:r>
              <a:rPr sz="4400" b="1" spc="-235" dirty="0">
                <a:solidFill>
                  <a:srgbClr val="BF0000"/>
                </a:solidFill>
                <a:latin typeface="Trebuchet MS" panose="020B0603020202020204"/>
                <a:cs typeface="Trebuchet MS" panose="020B0603020202020204"/>
              </a:rPr>
              <a:t>c</a:t>
            </a:r>
            <a:r>
              <a:rPr sz="4400" b="1" spc="-245" dirty="0">
                <a:solidFill>
                  <a:srgbClr val="BF0000"/>
                </a:solidFill>
                <a:latin typeface="Trebuchet MS" panose="020B0603020202020204"/>
                <a:cs typeface="Trebuchet MS" panose="020B0603020202020204"/>
              </a:rPr>
              <a:t>e</a:t>
            </a:r>
            <a:r>
              <a:rPr sz="4400" b="1" spc="145" dirty="0">
                <a:solidFill>
                  <a:srgbClr val="BF0000"/>
                </a:solidFill>
                <a:latin typeface="Trebuchet MS" panose="020B0603020202020204"/>
                <a:cs typeface="Trebuchet MS" panose="020B0603020202020204"/>
              </a:rPr>
              <a:t>s</a:t>
            </a:r>
            <a:endParaRPr sz="4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0955" y="1688136"/>
            <a:ext cx="7927975" cy="965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5120" marR="17780" indent="-300355">
              <a:lnSpc>
                <a:spcPct val="101000"/>
              </a:lnSpc>
              <a:spcBef>
                <a:spcPts val="95"/>
              </a:spcBef>
            </a:pPr>
            <a:r>
              <a:rPr sz="2600" spc="-1155" dirty="0">
                <a:solidFill>
                  <a:srgbClr val="D34816"/>
                </a:solidFill>
                <a:latin typeface="Webdings" panose="05030102010509060703"/>
                <a:cs typeface="Webdings" panose="05030102010509060703"/>
              </a:rPr>
              <a:t></a:t>
            </a:r>
            <a:r>
              <a:rPr sz="2600" spc="265" dirty="0">
                <a:solidFill>
                  <a:srgbClr val="D3481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Operating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System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Concepts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(Silberschatz, 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9</a:t>
            </a:r>
            <a:r>
              <a:rPr sz="3075" spc="-104" baseline="24000" dirty="0">
                <a:latin typeface="Times New Roman" panose="02020603050405020304"/>
                <a:cs typeface="Times New Roman" panose="02020603050405020304"/>
              </a:rPr>
              <a:t>th 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edition)  Chapter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5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object 6"/>
          <p:cNvSpPr txBox="1"/>
          <p:nvPr/>
        </p:nvSpPr>
        <p:spPr>
          <a:xfrm>
            <a:off x="284479" y="7077995"/>
            <a:ext cx="2552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11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</a:t>
            </a:r>
            <a:r>
              <a:rPr sz="1500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15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8330</Words>
  <Application>WPS Presentation</Application>
  <PresentationFormat>Custom</PresentationFormat>
  <Paragraphs>553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8" baseType="lpstr">
      <vt:lpstr>Arial</vt:lpstr>
      <vt:lpstr>SimSun</vt:lpstr>
      <vt:lpstr>Wingdings</vt:lpstr>
      <vt:lpstr>Trebuchet MS</vt:lpstr>
      <vt:lpstr>URW Gothic</vt:lpstr>
      <vt:lpstr>Segoe Print</vt:lpstr>
      <vt:lpstr>Arial</vt:lpstr>
      <vt:lpstr>Times New Roman</vt:lpstr>
      <vt:lpstr>Webdings</vt:lpstr>
      <vt:lpstr>Calibri</vt:lpstr>
      <vt:lpstr>Microsoft YaHei</vt:lpstr>
      <vt:lpstr>Arial Unicode MS</vt:lpstr>
      <vt:lpstr>Courier New</vt:lpstr>
      <vt:lpstr>Georgia</vt:lpstr>
      <vt:lpstr>Gothic Uralic</vt:lpstr>
      <vt:lpstr>Office Theme</vt:lpstr>
      <vt:lpstr>Operating Systems  CS2006</vt:lpstr>
      <vt:lpstr>What’s in today’s lecture</vt:lpstr>
      <vt:lpstr>Basic Concepts</vt:lpstr>
      <vt:lpstr>Alternating Sequence of CPU And</vt:lpstr>
      <vt:lpstr>Nature of Process</vt:lpstr>
      <vt:lpstr>Schedulers</vt:lpstr>
      <vt:lpstr>Schedulers</vt:lpstr>
      <vt:lpstr>Schedulers</vt:lpstr>
      <vt:lpstr>Schedulers</vt:lpstr>
      <vt:lpstr>Addition of Medium Term  Scheduling</vt:lpstr>
      <vt:lpstr>Schedulers (Cont.)</vt:lpstr>
      <vt:lpstr>Scheduling</vt:lpstr>
      <vt:lpstr>Short term Scheduler</vt:lpstr>
      <vt:lpstr>When to select a new process to Run</vt:lpstr>
      <vt:lpstr>Non Preemptive Scheduling</vt:lpstr>
      <vt:lpstr>Non Preemptive Scheduling</vt:lpstr>
      <vt:lpstr>PowerPoint 演示文稿</vt:lpstr>
      <vt:lpstr>Preemptive Scheduling</vt:lpstr>
      <vt:lpstr>Dispatcher</vt:lpstr>
      <vt:lpstr>Scheduling Criteria</vt:lpstr>
      <vt:lpstr>Scheduling Criteria</vt:lpstr>
      <vt:lpstr>Scheduling Criteria</vt:lpstr>
      <vt:lpstr>Scheduling Criteria</vt:lpstr>
      <vt:lpstr>Additional Scheduling Criteria</vt:lpstr>
      <vt:lpstr>Optimization Criteria</vt:lpstr>
      <vt:lpstr>Scheduling Algorithms</vt:lpstr>
      <vt:lpstr>1. First-Come, First-Served (FCFS) Scheduling</vt:lpstr>
      <vt:lpstr>FCFS Scheduling</vt:lpstr>
      <vt:lpstr>FCFS Scheduling (Cont.)</vt:lpstr>
      <vt:lpstr>Convoy Effect</vt:lpstr>
      <vt:lpstr>FCFS Scheduling (Cont.)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Lecture-6 (CPU Scheduling).pptx</dc:title>
  <dc:creator>rana.asif</dc:creator>
  <cp:lastModifiedBy>Rubab Anam Janjua Ilyas janjua</cp:lastModifiedBy>
  <cp:revision>2</cp:revision>
  <dcterms:created xsi:type="dcterms:W3CDTF">2023-02-24T05:30:00Z</dcterms:created>
  <dcterms:modified xsi:type="dcterms:W3CDTF">2024-03-03T19:12:21Z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2022-03-25T05:00:00Z</vt:filetime>
  </property>
  <property fmtid="{D5CDD505-2E9C-101B-9397-08002B2CF9AE}" pid="3" name="LastSaved">
    <vt:filetime>2023-02-24T05:00:00Z</vt:filetime>
  </property>
  <property fmtid="{D5CDD505-2E9C-101B-9397-08002B2CF9AE}" pid="4" name="ICV">
    <vt:lpwstr>8E833AECA88B45439D196A1D3457D474_12</vt:lpwstr>
  </property>
  <property fmtid="{D5CDD505-2E9C-101B-9397-08002B2CF9AE}" pid="5" name="KSOProductBuildVer">
    <vt:lpwstr>1033-12.2.0.13431</vt:lpwstr>
  </property>
</Properties>
</file>