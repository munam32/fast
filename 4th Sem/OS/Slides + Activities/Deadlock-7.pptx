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6.webp" ContentType="image/webp"/>
  <Override PartName="/ppt/media/image77.webp" ContentType="image/webp"/>
  <Override PartName="/ppt/media/image79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11" r:id="rId56"/>
    <p:sldId id="312" r:id="rId57"/>
    <p:sldId id="313" r:id="rId58"/>
    <p:sldId id="314" r:id="rId59"/>
    <p:sldId id="309" r:id="rId60"/>
    <p:sldId id="310" r:id="rId61"/>
  </p:sldIdLst>
  <p:sldSz cx="9144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07847" y="442036"/>
            <a:ext cx="3942715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Arial" panose="020B0704020202020204"/>
                <a:cs typeface="Arial" panose="020B07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Arial" panose="020B0704020202020204"/>
                <a:cs typeface="Arial" panose="020B07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Arial" panose="020B0704020202020204"/>
                <a:cs typeface="Arial" panose="020B07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44055"/>
            <a:ext cx="9144000" cy="4905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95" y="6559296"/>
            <a:ext cx="9137650" cy="298450"/>
          </a:xfrm>
          <a:custGeom>
            <a:avLst/>
            <a:gdLst/>
            <a:ahLst/>
            <a:cxnLst/>
            <a:rect l="l" t="t" r="r" b="b"/>
            <a:pathLst>
              <a:path w="9137650" h="298450">
                <a:moveTo>
                  <a:pt x="9137523" y="0"/>
                </a:moveTo>
                <a:lnTo>
                  <a:pt x="0" y="0"/>
                </a:lnTo>
                <a:lnTo>
                  <a:pt x="0" y="298386"/>
                </a:lnTo>
                <a:lnTo>
                  <a:pt x="9137523" y="298386"/>
                </a:lnTo>
                <a:lnTo>
                  <a:pt x="9137523" y="0"/>
                </a:lnTo>
                <a:close/>
              </a:path>
            </a:pathLst>
          </a:custGeom>
          <a:solidFill>
            <a:srgbClr val="2340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620" y="6560820"/>
            <a:ext cx="9137650" cy="298450"/>
          </a:xfrm>
          <a:custGeom>
            <a:avLst/>
            <a:gdLst/>
            <a:ahLst/>
            <a:cxnLst/>
            <a:rect l="l" t="t" r="r" b="b"/>
            <a:pathLst>
              <a:path w="9137650" h="298450">
                <a:moveTo>
                  <a:pt x="9137523" y="0"/>
                </a:moveTo>
                <a:lnTo>
                  <a:pt x="0" y="0"/>
                </a:lnTo>
                <a:lnTo>
                  <a:pt x="0" y="298386"/>
                </a:lnTo>
              </a:path>
            </a:pathLst>
          </a:custGeom>
          <a:ln w="9144">
            <a:solidFill>
              <a:srgbClr val="96B8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Arial" panose="020B0704020202020204"/>
                <a:cs typeface="Arial" panose="020B07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2645" y="650494"/>
            <a:ext cx="7738109" cy="1406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Arial" panose="020B0704020202020204"/>
                <a:cs typeface="Arial" panose="020B07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7847" y="1735886"/>
            <a:ext cx="7489825" cy="2863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25840" y="6607971"/>
            <a:ext cx="25400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4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6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3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18.png"/><Relationship Id="rId7" Type="http://schemas.openxmlformats.org/officeDocument/2006/relationships/image" Target="../media/image24.png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23.png"/><Relationship Id="rId6" Type="http://schemas.openxmlformats.org/officeDocument/2006/relationships/image" Target="../media/image26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3.png"/><Relationship Id="rId2" Type="http://schemas.openxmlformats.org/officeDocument/2006/relationships/image" Target="../media/image28.jpeg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2.jpe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33.jpe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34.jpe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2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2.png"/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23.png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2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9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0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1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2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6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jpeg"/><Relationship Id="rId1" Type="http://schemas.openxmlformats.org/officeDocument/2006/relationships/image" Target="../media/image57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0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2.jpeg"/><Relationship Id="rId1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4.jpeg"/><Relationship Id="rId1" Type="http://schemas.openxmlformats.org/officeDocument/2006/relationships/image" Target="../media/image6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6.jpeg"/><Relationship Id="rId1" Type="http://schemas.openxmlformats.org/officeDocument/2006/relationships/image" Target="../media/image6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0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2.jpeg"/><Relationship Id="rId1" Type="http://schemas.openxmlformats.org/officeDocument/2006/relationships/image" Target="../media/image7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3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7.webp"/><Relationship Id="rId1" Type="http://schemas.openxmlformats.org/officeDocument/2006/relationships/image" Target="../media/image76.webp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0.png"/><Relationship Id="rId2" Type="http://schemas.openxmlformats.org/officeDocument/2006/relationships/image" Target="../media/image79.webp"/><Relationship Id="rId1" Type="http://schemas.openxmlformats.org/officeDocument/2006/relationships/image" Target="../media/image78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1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0" y="1121663"/>
            <a:ext cx="9144000" cy="94615"/>
            <a:chOff x="0" y="1121663"/>
            <a:chExt cx="9144000" cy="946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1663"/>
              <a:ext cx="9144000" cy="944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95" y="1133855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992882" y="1720976"/>
            <a:ext cx="3185795" cy="123571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142875">
              <a:lnSpc>
                <a:spcPct val="101000"/>
              </a:lnSpc>
              <a:spcBef>
                <a:spcPts val="70"/>
              </a:spcBef>
            </a:pPr>
            <a:r>
              <a:rPr sz="3950" dirty="0"/>
              <a:t>CHAPTER</a:t>
            </a:r>
            <a:r>
              <a:rPr sz="3950" spc="25" dirty="0"/>
              <a:t> </a:t>
            </a:r>
            <a:r>
              <a:rPr sz="3950" spc="-50" dirty="0"/>
              <a:t>7 </a:t>
            </a:r>
            <a:r>
              <a:rPr sz="3950" spc="-25" dirty="0"/>
              <a:t>DEADLOCKS</a:t>
            </a:r>
            <a:endParaRPr sz="3950"/>
          </a:p>
        </p:txBody>
      </p:sp>
      <p:sp>
        <p:nvSpPr>
          <p:cNvPr id="10" name="object 10"/>
          <p:cNvSpPr txBox="1"/>
          <p:nvPr/>
        </p:nvSpPr>
        <p:spPr>
          <a:xfrm>
            <a:off x="186029" y="6593535"/>
            <a:ext cx="698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07/04/202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25661" y="659353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0" y="1121663"/>
            <a:ext cx="9144000" cy="94615"/>
            <a:chOff x="0" y="1121663"/>
            <a:chExt cx="9144000" cy="946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1663"/>
              <a:ext cx="9144000" cy="944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95" y="1133855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904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10"/>
              </a:spcBef>
            </a:pPr>
            <a:r>
              <a:rPr sz="3950" dirty="0"/>
              <a:t>Chapter</a:t>
            </a:r>
            <a:r>
              <a:rPr sz="3950" spc="5" dirty="0"/>
              <a:t> </a:t>
            </a:r>
            <a:r>
              <a:rPr sz="3950" spc="-10" dirty="0"/>
              <a:t>Contents</a:t>
            </a:r>
            <a:endParaRPr sz="3950"/>
          </a:p>
        </p:txBody>
      </p:sp>
      <p:sp>
        <p:nvSpPr>
          <p:cNvPr id="11" name="object 11"/>
          <p:cNvSpPr txBox="1"/>
          <p:nvPr/>
        </p:nvSpPr>
        <p:spPr>
          <a:xfrm>
            <a:off x="150063" y="6580844"/>
            <a:ext cx="6127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4/7/2023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20226" y="6609495"/>
            <a:ext cx="1739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200" spc="-50" dirty="0">
                <a:latin typeface="Arial MT"/>
                <a:cs typeface="Arial MT"/>
              </a:rPr>
            </a:fld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9181" y="2505913"/>
            <a:ext cx="6345555" cy="2454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0850" indent="-43815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"/>
              <a:tabLst>
                <a:tab pos="450850" algn="l"/>
              </a:tabLst>
            </a:pPr>
            <a:r>
              <a:rPr sz="3200" spc="-10" dirty="0">
                <a:latin typeface="Arial MT"/>
                <a:cs typeface="Arial MT"/>
              </a:rPr>
              <a:t>Resources</a:t>
            </a:r>
            <a:endParaRPr sz="3200">
              <a:latin typeface="Arial MT"/>
              <a:cs typeface="Arial MT"/>
            </a:endParaRPr>
          </a:p>
          <a:p>
            <a:pPr marL="451485" indent="-438785">
              <a:lnSpc>
                <a:spcPts val="3815"/>
              </a:lnSpc>
              <a:spcBef>
                <a:spcPts val="50"/>
              </a:spcBef>
              <a:buFont typeface="Wingdings" panose="05000000000000000000"/>
              <a:buChar char=""/>
              <a:tabLst>
                <a:tab pos="450850" algn="l"/>
              </a:tabLst>
            </a:pPr>
            <a:r>
              <a:rPr sz="3200" spc="-20" dirty="0">
                <a:latin typeface="Arial MT"/>
                <a:cs typeface="Arial MT"/>
              </a:rPr>
              <a:t>Introduction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9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deadlocks</a:t>
            </a:r>
            <a:endParaRPr sz="3200">
              <a:latin typeface="Arial MT"/>
              <a:cs typeface="Arial MT"/>
            </a:endParaRPr>
          </a:p>
          <a:p>
            <a:pPr marL="450850" indent="-438150">
              <a:lnSpc>
                <a:spcPts val="3805"/>
              </a:lnSpc>
              <a:buFont typeface="Wingdings" panose="05000000000000000000"/>
              <a:buChar char=""/>
              <a:tabLst>
                <a:tab pos="450850" algn="l"/>
              </a:tabLst>
            </a:pPr>
            <a:r>
              <a:rPr sz="3200" spc="-20" dirty="0">
                <a:latin typeface="Arial MT"/>
                <a:cs typeface="Arial MT"/>
              </a:rPr>
              <a:t>Deadlock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detection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recovery</a:t>
            </a:r>
            <a:endParaRPr sz="3200">
              <a:latin typeface="Arial MT"/>
              <a:cs typeface="Arial MT"/>
            </a:endParaRPr>
          </a:p>
          <a:p>
            <a:pPr marL="450850" indent="-438150">
              <a:lnSpc>
                <a:spcPts val="3805"/>
              </a:lnSpc>
              <a:buFont typeface="Wingdings" panose="05000000000000000000"/>
              <a:buChar char=""/>
              <a:tabLst>
                <a:tab pos="450850" algn="l"/>
              </a:tabLst>
            </a:pPr>
            <a:r>
              <a:rPr sz="3200" spc="-20" dirty="0">
                <a:latin typeface="Arial MT"/>
                <a:cs typeface="Arial MT"/>
              </a:rPr>
              <a:t>Deadlock</a:t>
            </a:r>
            <a:r>
              <a:rPr sz="3200" spc="-21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Avoidance</a:t>
            </a:r>
            <a:endParaRPr sz="3200">
              <a:latin typeface="Arial MT"/>
              <a:cs typeface="Arial MT"/>
            </a:endParaRPr>
          </a:p>
          <a:p>
            <a:pPr marL="450850" indent="-438150">
              <a:lnSpc>
                <a:spcPts val="3820"/>
              </a:lnSpc>
              <a:buFont typeface="Wingdings" panose="05000000000000000000"/>
              <a:buChar char=""/>
              <a:tabLst>
                <a:tab pos="450850" algn="l"/>
              </a:tabLst>
            </a:pPr>
            <a:r>
              <a:rPr sz="3200" dirty="0">
                <a:latin typeface="Arial MT"/>
                <a:cs typeface="Arial MT"/>
              </a:rPr>
              <a:t>Deadlock</a:t>
            </a:r>
            <a:r>
              <a:rPr sz="3200" spc="-204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Prevention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0" y="1121663"/>
            <a:ext cx="9144000" cy="429895"/>
            <a:chOff x="0" y="1121663"/>
            <a:chExt cx="9144000" cy="4298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1663"/>
              <a:ext cx="9144000" cy="944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95" y="1133867"/>
              <a:ext cx="9137650" cy="18415"/>
            </a:xfrm>
            <a:custGeom>
              <a:avLst/>
              <a:gdLst/>
              <a:ahLst/>
              <a:cxnLst/>
              <a:rect l="l" t="t" r="r" b="b"/>
              <a:pathLst>
                <a:path w="9137650" h="18415">
                  <a:moveTo>
                    <a:pt x="9137523" y="0"/>
                  </a:moveTo>
                  <a:lnTo>
                    <a:pt x="0" y="0"/>
                  </a:lnTo>
                  <a:lnTo>
                    <a:pt x="0" y="17895"/>
                  </a:lnTo>
                  <a:lnTo>
                    <a:pt x="9137523" y="17895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1152143"/>
              <a:ext cx="9144000" cy="399415"/>
            </a:xfrm>
            <a:custGeom>
              <a:avLst/>
              <a:gdLst/>
              <a:ahLst/>
              <a:cxnLst/>
              <a:rect l="l" t="t" r="r" b="b"/>
              <a:pathLst>
                <a:path w="9144000" h="399415">
                  <a:moveTo>
                    <a:pt x="9144000" y="0"/>
                  </a:moveTo>
                  <a:lnTo>
                    <a:pt x="0" y="0"/>
                  </a:lnTo>
                  <a:lnTo>
                    <a:pt x="0" y="399288"/>
                  </a:lnTo>
                  <a:lnTo>
                    <a:pt x="9144000" y="39928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23417" y="1179398"/>
            <a:ext cx="7754620" cy="1259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 algn="ctr">
              <a:lnSpc>
                <a:spcPct val="100000"/>
              </a:lnSpc>
              <a:spcBef>
                <a:spcPts val="95"/>
              </a:spcBef>
            </a:pPr>
            <a:r>
              <a:rPr sz="2000" spc="-160" dirty="0">
                <a:latin typeface="Georgia" panose="02040502050405020303"/>
                <a:cs typeface="Georgia" panose="02040502050405020303"/>
              </a:rPr>
              <a:t>Deadlock-</a:t>
            </a:r>
            <a:r>
              <a:rPr sz="2000" spc="-20" dirty="0">
                <a:latin typeface="Georgia" panose="02040502050405020303"/>
                <a:cs typeface="Georgia" panose="02040502050405020303"/>
              </a:rPr>
              <a:t>Example</a:t>
            </a:r>
            <a:endParaRPr sz="20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2040"/>
              </a:spcBef>
            </a:pPr>
            <a:r>
              <a:rPr sz="2000" spc="-135" dirty="0">
                <a:latin typeface="Georgia" panose="02040502050405020303"/>
                <a:cs typeface="Georgia" panose="02040502050405020303"/>
              </a:rPr>
              <a:t>Two</a:t>
            </a:r>
            <a:r>
              <a:rPr sz="2000" spc="-27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95" dirty="0">
                <a:latin typeface="Georgia" panose="02040502050405020303"/>
                <a:cs typeface="Georgia" panose="02040502050405020303"/>
              </a:rPr>
              <a:t>or</a:t>
            </a:r>
            <a:r>
              <a:rPr sz="2000" spc="-31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140" dirty="0">
                <a:latin typeface="Georgia" panose="02040502050405020303"/>
                <a:cs typeface="Georgia" panose="02040502050405020303"/>
              </a:rPr>
              <a:t>more</a:t>
            </a:r>
            <a:r>
              <a:rPr sz="2000" spc="-275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160" dirty="0">
                <a:latin typeface="Georgia" panose="02040502050405020303"/>
                <a:cs typeface="Georgia" panose="02040502050405020303"/>
              </a:rPr>
              <a:t>busses</a:t>
            </a:r>
            <a:r>
              <a:rPr sz="2000" spc="-30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125" dirty="0">
                <a:latin typeface="Georgia" panose="02040502050405020303"/>
                <a:cs typeface="Georgia" panose="02040502050405020303"/>
              </a:rPr>
              <a:t>are</a:t>
            </a:r>
            <a:r>
              <a:rPr sz="2000" spc="-275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170" dirty="0">
                <a:latin typeface="Georgia" panose="02040502050405020303"/>
                <a:cs typeface="Georgia" panose="02040502050405020303"/>
              </a:rPr>
              <a:t>interacting,</a:t>
            </a:r>
            <a:r>
              <a:rPr sz="2000" spc="-28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140" dirty="0">
                <a:latin typeface="Georgia" panose="02040502050405020303"/>
                <a:cs typeface="Georgia" panose="02040502050405020303"/>
              </a:rPr>
              <a:t>they</a:t>
            </a:r>
            <a:r>
              <a:rPr sz="2000" spc="-27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125" dirty="0">
                <a:latin typeface="Georgia" panose="02040502050405020303"/>
                <a:cs typeface="Georgia" panose="02040502050405020303"/>
              </a:rPr>
              <a:t>get</a:t>
            </a:r>
            <a:r>
              <a:rPr sz="2000" spc="-295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170" dirty="0">
                <a:latin typeface="Georgia" panose="02040502050405020303"/>
                <a:cs typeface="Georgia" panose="02040502050405020303"/>
              </a:rPr>
              <a:t>themselves</a:t>
            </a:r>
            <a:r>
              <a:rPr sz="2000" spc="-30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140" dirty="0">
                <a:latin typeface="Georgia" panose="02040502050405020303"/>
                <a:cs typeface="Georgia" panose="02040502050405020303"/>
              </a:rPr>
              <a:t>into</a:t>
            </a:r>
            <a:r>
              <a:rPr sz="2000" spc="-29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20" dirty="0">
                <a:latin typeface="Georgia" panose="02040502050405020303"/>
                <a:cs typeface="Georgia" panose="02040502050405020303"/>
              </a:rPr>
              <a:t>a</a:t>
            </a:r>
            <a:r>
              <a:rPr sz="2000" spc="-305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165" dirty="0">
                <a:latin typeface="Georgia" panose="02040502050405020303"/>
                <a:cs typeface="Georgia" panose="02040502050405020303"/>
              </a:rPr>
              <a:t>stalemate</a:t>
            </a:r>
            <a:r>
              <a:rPr sz="2000" spc="-265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165" dirty="0">
                <a:latin typeface="Times New Roman" panose="02020803070505020304"/>
                <a:cs typeface="Times New Roman" panose="02020803070505020304"/>
              </a:rPr>
              <a:t>situation</a:t>
            </a:r>
            <a:r>
              <a:rPr sz="2000" spc="-3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000" spc="-30" dirty="0">
                <a:latin typeface="Georgia" panose="02040502050405020303"/>
                <a:cs typeface="Georgia" panose="02040502050405020303"/>
              </a:rPr>
              <a:t>they</a:t>
            </a:r>
            <a:endParaRPr sz="20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155" dirty="0">
                <a:latin typeface="Georgia" panose="02040502050405020303"/>
                <a:cs typeface="Georgia" panose="02040502050405020303"/>
              </a:rPr>
              <a:t>cannot</a:t>
            </a:r>
            <a:r>
              <a:rPr sz="2000" spc="-305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125" dirty="0">
                <a:latin typeface="Georgia" panose="02040502050405020303"/>
                <a:cs typeface="Georgia" panose="02040502050405020303"/>
              </a:rPr>
              <a:t>get</a:t>
            </a:r>
            <a:r>
              <a:rPr sz="2000" spc="-30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125" dirty="0">
                <a:latin typeface="Georgia" panose="02040502050405020303"/>
                <a:cs typeface="Georgia" panose="02040502050405020303"/>
              </a:rPr>
              <a:t>out</a:t>
            </a:r>
            <a:r>
              <a:rPr sz="2000" spc="-30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20" dirty="0">
                <a:latin typeface="Georgia" panose="02040502050405020303"/>
                <a:cs typeface="Georgia" panose="02040502050405020303"/>
              </a:rPr>
              <a:t>off.</a:t>
            </a:r>
            <a:endParaRPr sz="20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5968" y="2447544"/>
            <a:ext cx="8220456" cy="387830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50063" y="6580844"/>
            <a:ext cx="6127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4/7/2023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20226" y="6609495"/>
            <a:ext cx="1739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200" spc="-50" dirty="0">
                <a:latin typeface="Arial MT"/>
                <a:cs typeface="Arial MT"/>
              </a:rPr>
            </a:fld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95527"/>
            <a:ext cx="9149715" cy="6068695"/>
            <a:chOff x="0" y="795527"/>
            <a:chExt cx="9149715" cy="606869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5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19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95527"/>
              <a:ext cx="9144000" cy="575767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0063" y="6580844"/>
            <a:ext cx="6127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4/7/2023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20226" y="6609495"/>
            <a:ext cx="1739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200" spc="-50" dirty="0">
                <a:latin typeface="Arial MT"/>
                <a:cs typeface="Arial MT"/>
              </a:rPr>
            </a:fld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0" y="1121663"/>
            <a:ext cx="9144000" cy="478790"/>
            <a:chOff x="0" y="1121663"/>
            <a:chExt cx="9144000" cy="4787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1663"/>
              <a:ext cx="9144000" cy="944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95" y="1133855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1200911"/>
              <a:ext cx="9144000" cy="399415"/>
            </a:xfrm>
            <a:custGeom>
              <a:avLst/>
              <a:gdLst/>
              <a:ahLst/>
              <a:cxnLst/>
              <a:rect l="l" t="t" r="r" b="b"/>
              <a:pathLst>
                <a:path w="9144000" h="399415">
                  <a:moveTo>
                    <a:pt x="9144000" y="0"/>
                  </a:moveTo>
                  <a:lnTo>
                    <a:pt x="0" y="0"/>
                  </a:lnTo>
                  <a:lnTo>
                    <a:pt x="0" y="399288"/>
                  </a:lnTo>
                  <a:lnTo>
                    <a:pt x="9144000" y="39928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587498" y="1219962"/>
            <a:ext cx="3992879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0" spc="-160" dirty="0">
                <a:latin typeface="Georgia" panose="02040502050405020303"/>
                <a:cs typeface="Georgia" panose="02040502050405020303"/>
              </a:rPr>
              <a:t>Deadlock-</a:t>
            </a:r>
            <a:r>
              <a:rPr sz="2000" b="0" spc="-180" dirty="0">
                <a:latin typeface="Georgia" panose="02040502050405020303"/>
                <a:cs typeface="Georgia" panose="02040502050405020303"/>
              </a:rPr>
              <a:t>Example</a:t>
            </a:r>
            <a:r>
              <a:rPr sz="2000" b="0" spc="-8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b="0" spc="-145" dirty="0">
                <a:latin typeface="Georgia" panose="02040502050405020303"/>
                <a:cs typeface="Georgia" panose="02040502050405020303"/>
              </a:rPr>
              <a:t>(Processes</a:t>
            </a:r>
            <a:r>
              <a:rPr sz="2000" b="0" spc="-17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b="0" dirty="0">
                <a:latin typeface="Georgia" panose="02040502050405020303"/>
                <a:cs typeface="Georgia" panose="02040502050405020303"/>
              </a:rPr>
              <a:t>&amp;</a:t>
            </a:r>
            <a:r>
              <a:rPr sz="2000" b="0" spc="2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b="0" spc="-110" dirty="0">
                <a:latin typeface="Georgia" panose="02040502050405020303"/>
                <a:cs typeface="Georgia" panose="02040502050405020303"/>
              </a:rPr>
              <a:t>Devices)</a:t>
            </a:r>
            <a:endParaRPr sz="200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53121" y="1630489"/>
            <a:ext cx="2027555" cy="1167765"/>
            <a:chOff x="1353121" y="1630489"/>
            <a:chExt cx="2027555" cy="1167765"/>
          </a:xfrm>
        </p:grpSpPr>
        <p:sp>
          <p:nvSpPr>
            <p:cNvPr id="12" name="object 12"/>
            <p:cNvSpPr/>
            <p:nvPr/>
          </p:nvSpPr>
          <p:spPr>
            <a:xfrm>
              <a:off x="1365503" y="1642871"/>
              <a:ext cx="2002789" cy="1143000"/>
            </a:xfrm>
            <a:custGeom>
              <a:avLst/>
              <a:gdLst/>
              <a:ahLst/>
              <a:cxnLst/>
              <a:rect l="l" t="t" r="r" b="b"/>
              <a:pathLst>
                <a:path w="2002789" h="1143000">
                  <a:moveTo>
                    <a:pt x="1001268" y="0"/>
                  </a:moveTo>
                  <a:lnTo>
                    <a:pt x="940308" y="1015"/>
                  </a:lnTo>
                  <a:lnTo>
                    <a:pt x="880237" y="4190"/>
                  </a:lnTo>
                  <a:lnTo>
                    <a:pt x="821309" y="9143"/>
                  </a:lnTo>
                  <a:lnTo>
                    <a:pt x="763523" y="16255"/>
                  </a:lnTo>
                  <a:lnTo>
                    <a:pt x="707009" y="25018"/>
                  </a:lnTo>
                  <a:lnTo>
                    <a:pt x="651891" y="35687"/>
                  </a:lnTo>
                  <a:lnTo>
                    <a:pt x="598170" y="48132"/>
                  </a:lnTo>
                  <a:lnTo>
                    <a:pt x="546227" y="62229"/>
                  </a:lnTo>
                  <a:lnTo>
                    <a:pt x="495808" y="77977"/>
                  </a:lnTo>
                  <a:lnTo>
                    <a:pt x="447294" y="95250"/>
                  </a:lnTo>
                  <a:lnTo>
                    <a:pt x="400684" y="114173"/>
                  </a:lnTo>
                  <a:lnTo>
                    <a:pt x="356108" y="134365"/>
                  </a:lnTo>
                  <a:lnTo>
                    <a:pt x="313690" y="156082"/>
                  </a:lnTo>
                  <a:lnTo>
                    <a:pt x="273431" y="178942"/>
                  </a:lnTo>
                  <a:lnTo>
                    <a:pt x="235458" y="203200"/>
                  </a:lnTo>
                  <a:lnTo>
                    <a:pt x="199898" y="228726"/>
                  </a:lnTo>
                  <a:lnTo>
                    <a:pt x="167005" y="255269"/>
                  </a:lnTo>
                  <a:lnTo>
                    <a:pt x="136652" y="282955"/>
                  </a:lnTo>
                  <a:lnTo>
                    <a:pt x="109093" y="311785"/>
                  </a:lnTo>
                  <a:lnTo>
                    <a:pt x="84455" y="341375"/>
                  </a:lnTo>
                  <a:lnTo>
                    <a:pt x="43942" y="403478"/>
                  </a:lnTo>
                  <a:lnTo>
                    <a:pt x="16129" y="468756"/>
                  </a:lnTo>
                  <a:lnTo>
                    <a:pt x="1778" y="536701"/>
                  </a:lnTo>
                  <a:lnTo>
                    <a:pt x="0" y="571500"/>
                  </a:lnTo>
                  <a:lnTo>
                    <a:pt x="1778" y="606298"/>
                  </a:lnTo>
                  <a:lnTo>
                    <a:pt x="16129" y="674242"/>
                  </a:lnTo>
                  <a:lnTo>
                    <a:pt x="43942" y="739393"/>
                  </a:lnTo>
                  <a:lnTo>
                    <a:pt x="84455" y="801497"/>
                  </a:lnTo>
                  <a:lnTo>
                    <a:pt x="109093" y="831214"/>
                  </a:lnTo>
                  <a:lnTo>
                    <a:pt x="136652" y="859916"/>
                  </a:lnTo>
                  <a:lnTo>
                    <a:pt x="167005" y="887602"/>
                  </a:lnTo>
                  <a:lnTo>
                    <a:pt x="199898" y="914273"/>
                  </a:lnTo>
                  <a:lnTo>
                    <a:pt x="235458" y="939673"/>
                  </a:lnTo>
                  <a:lnTo>
                    <a:pt x="273431" y="963929"/>
                  </a:lnTo>
                  <a:lnTo>
                    <a:pt x="313690" y="986916"/>
                  </a:lnTo>
                  <a:lnTo>
                    <a:pt x="356108" y="1008633"/>
                  </a:lnTo>
                  <a:lnTo>
                    <a:pt x="400684" y="1028826"/>
                  </a:lnTo>
                  <a:lnTo>
                    <a:pt x="447294" y="1047623"/>
                  </a:lnTo>
                  <a:lnTo>
                    <a:pt x="495808" y="1065022"/>
                  </a:lnTo>
                  <a:lnTo>
                    <a:pt x="546227" y="1080642"/>
                  </a:lnTo>
                  <a:lnTo>
                    <a:pt x="598170" y="1094866"/>
                  </a:lnTo>
                  <a:lnTo>
                    <a:pt x="651891" y="1107186"/>
                  </a:lnTo>
                  <a:lnTo>
                    <a:pt x="707009" y="1117980"/>
                  </a:lnTo>
                  <a:lnTo>
                    <a:pt x="763523" y="1126743"/>
                  </a:lnTo>
                  <a:lnTo>
                    <a:pt x="821309" y="1133728"/>
                  </a:lnTo>
                  <a:lnTo>
                    <a:pt x="880237" y="1138808"/>
                  </a:lnTo>
                  <a:lnTo>
                    <a:pt x="940308" y="1141983"/>
                  </a:lnTo>
                  <a:lnTo>
                    <a:pt x="1001268" y="1143000"/>
                  </a:lnTo>
                  <a:lnTo>
                    <a:pt x="1062228" y="1141983"/>
                  </a:lnTo>
                  <a:lnTo>
                    <a:pt x="1122298" y="1138808"/>
                  </a:lnTo>
                  <a:lnTo>
                    <a:pt x="1181227" y="1133728"/>
                  </a:lnTo>
                  <a:lnTo>
                    <a:pt x="1239012" y="1126743"/>
                  </a:lnTo>
                  <a:lnTo>
                    <a:pt x="1295527" y="1117980"/>
                  </a:lnTo>
                  <a:lnTo>
                    <a:pt x="1350645" y="1107186"/>
                  </a:lnTo>
                  <a:lnTo>
                    <a:pt x="1404239" y="1094866"/>
                  </a:lnTo>
                  <a:lnTo>
                    <a:pt x="1456309" y="1080642"/>
                  </a:lnTo>
                  <a:lnTo>
                    <a:pt x="1506601" y="1065022"/>
                  </a:lnTo>
                  <a:lnTo>
                    <a:pt x="1555115" y="1047623"/>
                  </a:lnTo>
                  <a:lnTo>
                    <a:pt x="1601723" y="1028826"/>
                  </a:lnTo>
                  <a:lnTo>
                    <a:pt x="1646301" y="1008633"/>
                  </a:lnTo>
                  <a:lnTo>
                    <a:pt x="1688846" y="986916"/>
                  </a:lnTo>
                  <a:lnTo>
                    <a:pt x="1729104" y="963929"/>
                  </a:lnTo>
                  <a:lnTo>
                    <a:pt x="1767077" y="939673"/>
                  </a:lnTo>
                  <a:lnTo>
                    <a:pt x="1802511" y="914273"/>
                  </a:lnTo>
                  <a:lnTo>
                    <a:pt x="1835531" y="887602"/>
                  </a:lnTo>
                  <a:lnTo>
                    <a:pt x="1865884" y="859916"/>
                  </a:lnTo>
                  <a:lnTo>
                    <a:pt x="1893443" y="831214"/>
                  </a:lnTo>
                  <a:lnTo>
                    <a:pt x="1918081" y="801497"/>
                  </a:lnTo>
                  <a:lnTo>
                    <a:pt x="1958594" y="739393"/>
                  </a:lnTo>
                  <a:lnTo>
                    <a:pt x="1986407" y="674242"/>
                  </a:lnTo>
                  <a:lnTo>
                    <a:pt x="2000758" y="606298"/>
                  </a:lnTo>
                  <a:lnTo>
                    <a:pt x="2002536" y="571500"/>
                  </a:lnTo>
                  <a:lnTo>
                    <a:pt x="2000758" y="536701"/>
                  </a:lnTo>
                  <a:lnTo>
                    <a:pt x="1986407" y="468756"/>
                  </a:lnTo>
                  <a:lnTo>
                    <a:pt x="1958594" y="403478"/>
                  </a:lnTo>
                  <a:lnTo>
                    <a:pt x="1918081" y="341375"/>
                  </a:lnTo>
                  <a:lnTo>
                    <a:pt x="1893443" y="311785"/>
                  </a:lnTo>
                  <a:lnTo>
                    <a:pt x="1865884" y="282955"/>
                  </a:lnTo>
                  <a:lnTo>
                    <a:pt x="1835531" y="255269"/>
                  </a:lnTo>
                  <a:lnTo>
                    <a:pt x="1802511" y="228726"/>
                  </a:lnTo>
                  <a:lnTo>
                    <a:pt x="1767077" y="203200"/>
                  </a:lnTo>
                  <a:lnTo>
                    <a:pt x="1729104" y="178942"/>
                  </a:lnTo>
                  <a:lnTo>
                    <a:pt x="1688846" y="156082"/>
                  </a:lnTo>
                  <a:lnTo>
                    <a:pt x="1646301" y="134365"/>
                  </a:lnTo>
                  <a:lnTo>
                    <a:pt x="1601723" y="114173"/>
                  </a:lnTo>
                  <a:lnTo>
                    <a:pt x="1555115" y="95250"/>
                  </a:lnTo>
                  <a:lnTo>
                    <a:pt x="1506601" y="77977"/>
                  </a:lnTo>
                  <a:lnTo>
                    <a:pt x="1456309" y="62229"/>
                  </a:lnTo>
                  <a:lnTo>
                    <a:pt x="1404239" y="48132"/>
                  </a:lnTo>
                  <a:lnTo>
                    <a:pt x="1350645" y="35687"/>
                  </a:lnTo>
                  <a:lnTo>
                    <a:pt x="1295527" y="25018"/>
                  </a:lnTo>
                  <a:lnTo>
                    <a:pt x="1239012" y="16255"/>
                  </a:lnTo>
                  <a:lnTo>
                    <a:pt x="1181227" y="9143"/>
                  </a:lnTo>
                  <a:lnTo>
                    <a:pt x="1122298" y="4190"/>
                  </a:lnTo>
                  <a:lnTo>
                    <a:pt x="1062228" y="1015"/>
                  </a:lnTo>
                  <a:lnTo>
                    <a:pt x="10012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365503" y="1642871"/>
              <a:ext cx="2002789" cy="1143000"/>
            </a:xfrm>
            <a:custGeom>
              <a:avLst/>
              <a:gdLst/>
              <a:ahLst/>
              <a:cxnLst/>
              <a:rect l="l" t="t" r="r" b="b"/>
              <a:pathLst>
                <a:path w="2002789" h="1143000">
                  <a:moveTo>
                    <a:pt x="0" y="571500"/>
                  </a:moveTo>
                  <a:lnTo>
                    <a:pt x="7239" y="502412"/>
                  </a:lnTo>
                  <a:lnTo>
                    <a:pt x="28448" y="435737"/>
                  </a:lnTo>
                  <a:lnTo>
                    <a:pt x="62611" y="372110"/>
                  </a:lnTo>
                  <a:lnTo>
                    <a:pt x="109093" y="311785"/>
                  </a:lnTo>
                  <a:lnTo>
                    <a:pt x="136652" y="282955"/>
                  </a:lnTo>
                  <a:lnTo>
                    <a:pt x="167005" y="255269"/>
                  </a:lnTo>
                  <a:lnTo>
                    <a:pt x="199898" y="228726"/>
                  </a:lnTo>
                  <a:lnTo>
                    <a:pt x="235458" y="203200"/>
                  </a:lnTo>
                  <a:lnTo>
                    <a:pt x="273431" y="178942"/>
                  </a:lnTo>
                  <a:lnTo>
                    <a:pt x="313690" y="156082"/>
                  </a:lnTo>
                  <a:lnTo>
                    <a:pt x="356108" y="134365"/>
                  </a:lnTo>
                  <a:lnTo>
                    <a:pt x="400684" y="114173"/>
                  </a:lnTo>
                  <a:lnTo>
                    <a:pt x="447294" y="95250"/>
                  </a:lnTo>
                  <a:lnTo>
                    <a:pt x="495808" y="77977"/>
                  </a:lnTo>
                  <a:lnTo>
                    <a:pt x="546227" y="62229"/>
                  </a:lnTo>
                  <a:lnTo>
                    <a:pt x="598170" y="48132"/>
                  </a:lnTo>
                  <a:lnTo>
                    <a:pt x="651891" y="35687"/>
                  </a:lnTo>
                  <a:lnTo>
                    <a:pt x="707009" y="25018"/>
                  </a:lnTo>
                  <a:lnTo>
                    <a:pt x="763523" y="16255"/>
                  </a:lnTo>
                  <a:lnTo>
                    <a:pt x="821309" y="9143"/>
                  </a:lnTo>
                  <a:lnTo>
                    <a:pt x="880237" y="4190"/>
                  </a:lnTo>
                  <a:lnTo>
                    <a:pt x="940308" y="1015"/>
                  </a:lnTo>
                  <a:lnTo>
                    <a:pt x="1001268" y="0"/>
                  </a:lnTo>
                  <a:lnTo>
                    <a:pt x="1062228" y="1015"/>
                  </a:lnTo>
                  <a:lnTo>
                    <a:pt x="1122298" y="4190"/>
                  </a:lnTo>
                  <a:lnTo>
                    <a:pt x="1181227" y="9143"/>
                  </a:lnTo>
                  <a:lnTo>
                    <a:pt x="1239012" y="16255"/>
                  </a:lnTo>
                  <a:lnTo>
                    <a:pt x="1295527" y="25018"/>
                  </a:lnTo>
                  <a:lnTo>
                    <a:pt x="1350645" y="35687"/>
                  </a:lnTo>
                  <a:lnTo>
                    <a:pt x="1404239" y="48132"/>
                  </a:lnTo>
                  <a:lnTo>
                    <a:pt x="1456309" y="62229"/>
                  </a:lnTo>
                  <a:lnTo>
                    <a:pt x="1506601" y="77977"/>
                  </a:lnTo>
                  <a:lnTo>
                    <a:pt x="1555115" y="95250"/>
                  </a:lnTo>
                  <a:lnTo>
                    <a:pt x="1601723" y="114173"/>
                  </a:lnTo>
                  <a:lnTo>
                    <a:pt x="1646301" y="134365"/>
                  </a:lnTo>
                  <a:lnTo>
                    <a:pt x="1688846" y="156082"/>
                  </a:lnTo>
                  <a:lnTo>
                    <a:pt x="1729104" y="178942"/>
                  </a:lnTo>
                  <a:lnTo>
                    <a:pt x="1767077" y="203200"/>
                  </a:lnTo>
                  <a:lnTo>
                    <a:pt x="1802511" y="228726"/>
                  </a:lnTo>
                  <a:lnTo>
                    <a:pt x="1835531" y="255269"/>
                  </a:lnTo>
                  <a:lnTo>
                    <a:pt x="1865884" y="282955"/>
                  </a:lnTo>
                  <a:lnTo>
                    <a:pt x="1893443" y="311785"/>
                  </a:lnTo>
                  <a:lnTo>
                    <a:pt x="1918081" y="341375"/>
                  </a:lnTo>
                  <a:lnTo>
                    <a:pt x="1958594" y="403478"/>
                  </a:lnTo>
                  <a:lnTo>
                    <a:pt x="1986407" y="468756"/>
                  </a:lnTo>
                  <a:lnTo>
                    <a:pt x="2000758" y="536701"/>
                  </a:lnTo>
                  <a:lnTo>
                    <a:pt x="2002536" y="571500"/>
                  </a:lnTo>
                  <a:lnTo>
                    <a:pt x="2000758" y="606298"/>
                  </a:lnTo>
                  <a:lnTo>
                    <a:pt x="1986407" y="674242"/>
                  </a:lnTo>
                  <a:lnTo>
                    <a:pt x="1958594" y="739393"/>
                  </a:lnTo>
                  <a:lnTo>
                    <a:pt x="1918081" y="801497"/>
                  </a:lnTo>
                  <a:lnTo>
                    <a:pt x="1893443" y="831214"/>
                  </a:lnTo>
                  <a:lnTo>
                    <a:pt x="1865884" y="859916"/>
                  </a:lnTo>
                  <a:lnTo>
                    <a:pt x="1835531" y="887602"/>
                  </a:lnTo>
                  <a:lnTo>
                    <a:pt x="1802511" y="914273"/>
                  </a:lnTo>
                  <a:lnTo>
                    <a:pt x="1767077" y="939673"/>
                  </a:lnTo>
                  <a:lnTo>
                    <a:pt x="1729104" y="963929"/>
                  </a:lnTo>
                  <a:lnTo>
                    <a:pt x="1688846" y="986916"/>
                  </a:lnTo>
                  <a:lnTo>
                    <a:pt x="1646301" y="1008633"/>
                  </a:lnTo>
                  <a:lnTo>
                    <a:pt x="1601723" y="1028826"/>
                  </a:lnTo>
                  <a:lnTo>
                    <a:pt x="1555115" y="1047623"/>
                  </a:lnTo>
                  <a:lnTo>
                    <a:pt x="1506601" y="1065022"/>
                  </a:lnTo>
                  <a:lnTo>
                    <a:pt x="1456309" y="1080642"/>
                  </a:lnTo>
                  <a:lnTo>
                    <a:pt x="1404239" y="1094866"/>
                  </a:lnTo>
                  <a:lnTo>
                    <a:pt x="1350645" y="1107186"/>
                  </a:lnTo>
                  <a:lnTo>
                    <a:pt x="1295527" y="1117980"/>
                  </a:lnTo>
                  <a:lnTo>
                    <a:pt x="1239012" y="1126743"/>
                  </a:lnTo>
                  <a:lnTo>
                    <a:pt x="1181227" y="1133728"/>
                  </a:lnTo>
                  <a:lnTo>
                    <a:pt x="1122298" y="1138808"/>
                  </a:lnTo>
                  <a:lnTo>
                    <a:pt x="1062228" y="1141983"/>
                  </a:lnTo>
                  <a:lnTo>
                    <a:pt x="1001268" y="1143000"/>
                  </a:lnTo>
                  <a:lnTo>
                    <a:pt x="940308" y="1141983"/>
                  </a:lnTo>
                  <a:lnTo>
                    <a:pt x="880237" y="1138808"/>
                  </a:lnTo>
                  <a:lnTo>
                    <a:pt x="821309" y="1133728"/>
                  </a:lnTo>
                  <a:lnTo>
                    <a:pt x="763523" y="1126743"/>
                  </a:lnTo>
                  <a:lnTo>
                    <a:pt x="707009" y="1117980"/>
                  </a:lnTo>
                  <a:lnTo>
                    <a:pt x="651891" y="1107186"/>
                  </a:lnTo>
                  <a:lnTo>
                    <a:pt x="598170" y="1094866"/>
                  </a:lnTo>
                  <a:lnTo>
                    <a:pt x="546227" y="1080642"/>
                  </a:lnTo>
                  <a:lnTo>
                    <a:pt x="495808" y="1065022"/>
                  </a:lnTo>
                  <a:lnTo>
                    <a:pt x="447294" y="1047623"/>
                  </a:lnTo>
                  <a:lnTo>
                    <a:pt x="400684" y="1028826"/>
                  </a:lnTo>
                  <a:lnTo>
                    <a:pt x="356108" y="1008633"/>
                  </a:lnTo>
                  <a:lnTo>
                    <a:pt x="313690" y="986916"/>
                  </a:lnTo>
                  <a:lnTo>
                    <a:pt x="273431" y="963929"/>
                  </a:lnTo>
                  <a:lnTo>
                    <a:pt x="235458" y="939673"/>
                  </a:lnTo>
                  <a:lnTo>
                    <a:pt x="199898" y="914273"/>
                  </a:lnTo>
                  <a:lnTo>
                    <a:pt x="167005" y="887602"/>
                  </a:lnTo>
                  <a:lnTo>
                    <a:pt x="136652" y="859916"/>
                  </a:lnTo>
                  <a:lnTo>
                    <a:pt x="109093" y="831214"/>
                  </a:lnTo>
                  <a:lnTo>
                    <a:pt x="84455" y="801497"/>
                  </a:lnTo>
                  <a:lnTo>
                    <a:pt x="43942" y="739393"/>
                  </a:lnTo>
                  <a:lnTo>
                    <a:pt x="16129" y="674242"/>
                  </a:lnTo>
                  <a:lnTo>
                    <a:pt x="1778" y="606298"/>
                  </a:lnTo>
                  <a:lnTo>
                    <a:pt x="0" y="57150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903222" y="2038350"/>
            <a:ext cx="85534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135689" y="1706689"/>
            <a:ext cx="2024380" cy="1167765"/>
            <a:chOff x="5135689" y="1706689"/>
            <a:chExt cx="2024380" cy="1167765"/>
          </a:xfrm>
        </p:grpSpPr>
        <p:sp>
          <p:nvSpPr>
            <p:cNvPr id="16" name="object 16"/>
            <p:cNvSpPr/>
            <p:nvPr/>
          </p:nvSpPr>
          <p:spPr>
            <a:xfrm>
              <a:off x="5148072" y="1719071"/>
              <a:ext cx="1999614" cy="1143000"/>
            </a:xfrm>
            <a:custGeom>
              <a:avLst/>
              <a:gdLst/>
              <a:ahLst/>
              <a:cxnLst/>
              <a:rect l="l" t="t" r="r" b="b"/>
              <a:pathLst>
                <a:path w="1999615" h="1143000">
                  <a:moveTo>
                    <a:pt x="999743" y="0"/>
                  </a:moveTo>
                  <a:lnTo>
                    <a:pt x="938783" y="1015"/>
                  </a:lnTo>
                  <a:lnTo>
                    <a:pt x="878839" y="4190"/>
                  </a:lnTo>
                  <a:lnTo>
                    <a:pt x="820038" y="9143"/>
                  </a:lnTo>
                  <a:lnTo>
                    <a:pt x="762253" y="16255"/>
                  </a:lnTo>
                  <a:lnTo>
                    <a:pt x="705865" y="25018"/>
                  </a:lnTo>
                  <a:lnTo>
                    <a:pt x="650875" y="35687"/>
                  </a:lnTo>
                  <a:lnTo>
                    <a:pt x="597280" y="48132"/>
                  </a:lnTo>
                  <a:lnTo>
                    <a:pt x="545338" y="62229"/>
                  </a:lnTo>
                  <a:lnTo>
                    <a:pt x="495173" y="77977"/>
                  </a:lnTo>
                  <a:lnTo>
                    <a:pt x="446658" y="95250"/>
                  </a:lnTo>
                  <a:lnTo>
                    <a:pt x="400176" y="114173"/>
                  </a:lnTo>
                  <a:lnTo>
                    <a:pt x="355600" y="134365"/>
                  </a:lnTo>
                  <a:lnTo>
                    <a:pt x="313181" y="156082"/>
                  </a:lnTo>
                  <a:lnTo>
                    <a:pt x="272923" y="178942"/>
                  </a:lnTo>
                  <a:lnTo>
                    <a:pt x="235076" y="203200"/>
                  </a:lnTo>
                  <a:lnTo>
                    <a:pt x="199643" y="228726"/>
                  </a:lnTo>
                  <a:lnTo>
                    <a:pt x="166750" y="255269"/>
                  </a:lnTo>
                  <a:lnTo>
                    <a:pt x="136525" y="282955"/>
                  </a:lnTo>
                  <a:lnTo>
                    <a:pt x="108965" y="311785"/>
                  </a:lnTo>
                  <a:lnTo>
                    <a:pt x="84200" y="341375"/>
                  </a:lnTo>
                  <a:lnTo>
                    <a:pt x="43814" y="403478"/>
                  </a:lnTo>
                  <a:lnTo>
                    <a:pt x="16128" y="468756"/>
                  </a:lnTo>
                  <a:lnTo>
                    <a:pt x="1777" y="536701"/>
                  </a:lnTo>
                  <a:lnTo>
                    <a:pt x="0" y="571500"/>
                  </a:lnTo>
                  <a:lnTo>
                    <a:pt x="1777" y="606298"/>
                  </a:lnTo>
                  <a:lnTo>
                    <a:pt x="16128" y="674242"/>
                  </a:lnTo>
                  <a:lnTo>
                    <a:pt x="43814" y="739393"/>
                  </a:lnTo>
                  <a:lnTo>
                    <a:pt x="84200" y="801497"/>
                  </a:lnTo>
                  <a:lnTo>
                    <a:pt x="108965" y="831214"/>
                  </a:lnTo>
                  <a:lnTo>
                    <a:pt x="136525" y="859916"/>
                  </a:lnTo>
                  <a:lnTo>
                    <a:pt x="166750" y="887602"/>
                  </a:lnTo>
                  <a:lnTo>
                    <a:pt x="199643" y="914273"/>
                  </a:lnTo>
                  <a:lnTo>
                    <a:pt x="235076" y="939673"/>
                  </a:lnTo>
                  <a:lnTo>
                    <a:pt x="272923" y="963929"/>
                  </a:lnTo>
                  <a:lnTo>
                    <a:pt x="313181" y="986916"/>
                  </a:lnTo>
                  <a:lnTo>
                    <a:pt x="355600" y="1008633"/>
                  </a:lnTo>
                  <a:lnTo>
                    <a:pt x="400176" y="1028826"/>
                  </a:lnTo>
                  <a:lnTo>
                    <a:pt x="446658" y="1047623"/>
                  </a:lnTo>
                  <a:lnTo>
                    <a:pt x="495173" y="1065022"/>
                  </a:lnTo>
                  <a:lnTo>
                    <a:pt x="545338" y="1080642"/>
                  </a:lnTo>
                  <a:lnTo>
                    <a:pt x="597280" y="1094866"/>
                  </a:lnTo>
                  <a:lnTo>
                    <a:pt x="650875" y="1107186"/>
                  </a:lnTo>
                  <a:lnTo>
                    <a:pt x="705865" y="1117980"/>
                  </a:lnTo>
                  <a:lnTo>
                    <a:pt x="762253" y="1126743"/>
                  </a:lnTo>
                  <a:lnTo>
                    <a:pt x="820038" y="1133728"/>
                  </a:lnTo>
                  <a:lnTo>
                    <a:pt x="878839" y="1138808"/>
                  </a:lnTo>
                  <a:lnTo>
                    <a:pt x="938783" y="1141983"/>
                  </a:lnTo>
                  <a:lnTo>
                    <a:pt x="999743" y="1143000"/>
                  </a:lnTo>
                  <a:lnTo>
                    <a:pt x="1060703" y="1141983"/>
                  </a:lnTo>
                  <a:lnTo>
                    <a:pt x="1120520" y="1138808"/>
                  </a:lnTo>
                  <a:lnTo>
                    <a:pt x="1179449" y="1133728"/>
                  </a:lnTo>
                  <a:lnTo>
                    <a:pt x="1237106" y="1126743"/>
                  </a:lnTo>
                  <a:lnTo>
                    <a:pt x="1293494" y="1117980"/>
                  </a:lnTo>
                  <a:lnTo>
                    <a:pt x="1348613" y="1107186"/>
                  </a:lnTo>
                  <a:lnTo>
                    <a:pt x="1402079" y="1094866"/>
                  </a:lnTo>
                  <a:lnTo>
                    <a:pt x="1454023" y="1080642"/>
                  </a:lnTo>
                  <a:lnTo>
                    <a:pt x="1504314" y="1065022"/>
                  </a:lnTo>
                  <a:lnTo>
                    <a:pt x="1552828" y="1047623"/>
                  </a:lnTo>
                  <a:lnTo>
                    <a:pt x="1599310" y="1028826"/>
                  </a:lnTo>
                  <a:lnTo>
                    <a:pt x="1643887" y="1008633"/>
                  </a:lnTo>
                  <a:lnTo>
                    <a:pt x="1686305" y="986916"/>
                  </a:lnTo>
                  <a:lnTo>
                    <a:pt x="1726437" y="963929"/>
                  </a:lnTo>
                  <a:lnTo>
                    <a:pt x="1764410" y="939673"/>
                  </a:lnTo>
                  <a:lnTo>
                    <a:pt x="1799844" y="914273"/>
                  </a:lnTo>
                  <a:lnTo>
                    <a:pt x="1832736" y="887602"/>
                  </a:lnTo>
                  <a:lnTo>
                    <a:pt x="1862962" y="859916"/>
                  </a:lnTo>
                  <a:lnTo>
                    <a:pt x="1890522" y="831214"/>
                  </a:lnTo>
                  <a:lnTo>
                    <a:pt x="1915159" y="801497"/>
                  </a:lnTo>
                  <a:lnTo>
                    <a:pt x="1955673" y="739393"/>
                  </a:lnTo>
                  <a:lnTo>
                    <a:pt x="1983358" y="674242"/>
                  </a:lnTo>
                  <a:lnTo>
                    <a:pt x="1997709" y="606298"/>
                  </a:lnTo>
                  <a:lnTo>
                    <a:pt x="1999487" y="571500"/>
                  </a:lnTo>
                  <a:lnTo>
                    <a:pt x="1997709" y="536701"/>
                  </a:lnTo>
                  <a:lnTo>
                    <a:pt x="1983358" y="468756"/>
                  </a:lnTo>
                  <a:lnTo>
                    <a:pt x="1955673" y="403478"/>
                  </a:lnTo>
                  <a:lnTo>
                    <a:pt x="1915159" y="341375"/>
                  </a:lnTo>
                  <a:lnTo>
                    <a:pt x="1890522" y="311785"/>
                  </a:lnTo>
                  <a:lnTo>
                    <a:pt x="1862962" y="282955"/>
                  </a:lnTo>
                  <a:lnTo>
                    <a:pt x="1832736" y="255269"/>
                  </a:lnTo>
                  <a:lnTo>
                    <a:pt x="1799844" y="228726"/>
                  </a:lnTo>
                  <a:lnTo>
                    <a:pt x="1764410" y="203200"/>
                  </a:lnTo>
                  <a:lnTo>
                    <a:pt x="1726437" y="178942"/>
                  </a:lnTo>
                  <a:lnTo>
                    <a:pt x="1686305" y="156082"/>
                  </a:lnTo>
                  <a:lnTo>
                    <a:pt x="1643887" y="134365"/>
                  </a:lnTo>
                  <a:lnTo>
                    <a:pt x="1599310" y="114173"/>
                  </a:lnTo>
                  <a:lnTo>
                    <a:pt x="1552828" y="95250"/>
                  </a:lnTo>
                  <a:lnTo>
                    <a:pt x="1504314" y="77977"/>
                  </a:lnTo>
                  <a:lnTo>
                    <a:pt x="1454023" y="62229"/>
                  </a:lnTo>
                  <a:lnTo>
                    <a:pt x="1402079" y="48132"/>
                  </a:lnTo>
                  <a:lnTo>
                    <a:pt x="1348613" y="35687"/>
                  </a:lnTo>
                  <a:lnTo>
                    <a:pt x="1293494" y="25018"/>
                  </a:lnTo>
                  <a:lnTo>
                    <a:pt x="1237106" y="16255"/>
                  </a:lnTo>
                  <a:lnTo>
                    <a:pt x="1179449" y="9143"/>
                  </a:lnTo>
                  <a:lnTo>
                    <a:pt x="1120520" y="4190"/>
                  </a:lnTo>
                  <a:lnTo>
                    <a:pt x="1060703" y="1015"/>
                  </a:lnTo>
                  <a:lnTo>
                    <a:pt x="9997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148072" y="1719071"/>
              <a:ext cx="1999614" cy="1143000"/>
            </a:xfrm>
            <a:custGeom>
              <a:avLst/>
              <a:gdLst/>
              <a:ahLst/>
              <a:cxnLst/>
              <a:rect l="l" t="t" r="r" b="b"/>
              <a:pathLst>
                <a:path w="1999615" h="1143000">
                  <a:moveTo>
                    <a:pt x="0" y="571500"/>
                  </a:moveTo>
                  <a:lnTo>
                    <a:pt x="7238" y="502412"/>
                  </a:lnTo>
                  <a:lnTo>
                    <a:pt x="28320" y="435737"/>
                  </a:lnTo>
                  <a:lnTo>
                    <a:pt x="62483" y="372110"/>
                  </a:lnTo>
                  <a:lnTo>
                    <a:pt x="108965" y="311785"/>
                  </a:lnTo>
                  <a:lnTo>
                    <a:pt x="136525" y="282955"/>
                  </a:lnTo>
                  <a:lnTo>
                    <a:pt x="166750" y="255269"/>
                  </a:lnTo>
                  <a:lnTo>
                    <a:pt x="199643" y="228726"/>
                  </a:lnTo>
                  <a:lnTo>
                    <a:pt x="235076" y="203200"/>
                  </a:lnTo>
                  <a:lnTo>
                    <a:pt x="272923" y="178942"/>
                  </a:lnTo>
                  <a:lnTo>
                    <a:pt x="313181" y="156082"/>
                  </a:lnTo>
                  <a:lnTo>
                    <a:pt x="355600" y="134365"/>
                  </a:lnTo>
                  <a:lnTo>
                    <a:pt x="400176" y="114173"/>
                  </a:lnTo>
                  <a:lnTo>
                    <a:pt x="446658" y="95250"/>
                  </a:lnTo>
                  <a:lnTo>
                    <a:pt x="495173" y="77977"/>
                  </a:lnTo>
                  <a:lnTo>
                    <a:pt x="545338" y="62229"/>
                  </a:lnTo>
                  <a:lnTo>
                    <a:pt x="597280" y="48132"/>
                  </a:lnTo>
                  <a:lnTo>
                    <a:pt x="650875" y="35687"/>
                  </a:lnTo>
                  <a:lnTo>
                    <a:pt x="705865" y="25018"/>
                  </a:lnTo>
                  <a:lnTo>
                    <a:pt x="762253" y="16255"/>
                  </a:lnTo>
                  <a:lnTo>
                    <a:pt x="820038" y="9143"/>
                  </a:lnTo>
                  <a:lnTo>
                    <a:pt x="878839" y="4190"/>
                  </a:lnTo>
                  <a:lnTo>
                    <a:pt x="938783" y="1015"/>
                  </a:lnTo>
                  <a:lnTo>
                    <a:pt x="999743" y="0"/>
                  </a:lnTo>
                  <a:lnTo>
                    <a:pt x="1060703" y="1015"/>
                  </a:lnTo>
                  <a:lnTo>
                    <a:pt x="1120520" y="4190"/>
                  </a:lnTo>
                  <a:lnTo>
                    <a:pt x="1179449" y="9143"/>
                  </a:lnTo>
                  <a:lnTo>
                    <a:pt x="1237106" y="16255"/>
                  </a:lnTo>
                  <a:lnTo>
                    <a:pt x="1293494" y="25018"/>
                  </a:lnTo>
                  <a:lnTo>
                    <a:pt x="1348613" y="35687"/>
                  </a:lnTo>
                  <a:lnTo>
                    <a:pt x="1402079" y="48132"/>
                  </a:lnTo>
                  <a:lnTo>
                    <a:pt x="1454023" y="62229"/>
                  </a:lnTo>
                  <a:lnTo>
                    <a:pt x="1504314" y="77977"/>
                  </a:lnTo>
                  <a:lnTo>
                    <a:pt x="1552828" y="95250"/>
                  </a:lnTo>
                  <a:lnTo>
                    <a:pt x="1599310" y="114173"/>
                  </a:lnTo>
                  <a:lnTo>
                    <a:pt x="1643887" y="134365"/>
                  </a:lnTo>
                  <a:lnTo>
                    <a:pt x="1686305" y="156082"/>
                  </a:lnTo>
                  <a:lnTo>
                    <a:pt x="1726437" y="178942"/>
                  </a:lnTo>
                  <a:lnTo>
                    <a:pt x="1764410" y="203200"/>
                  </a:lnTo>
                  <a:lnTo>
                    <a:pt x="1799844" y="228726"/>
                  </a:lnTo>
                  <a:lnTo>
                    <a:pt x="1832736" y="255269"/>
                  </a:lnTo>
                  <a:lnTo>
                    <a:pt x="1862962" y="282955"/>
                  </a:lnTo>
                  <a:lnTo>
                    <a:pt x="1890522" y="311785"/>
                  </a:lnTo>
                  <a:lnTo>
                    <a:pt x="1915159" y="341375"/>
                  </a:lnTo>
                  <a:lnTo>
                    <a:pt x="1955673" y="403478"/>
                  </a:lnTo>
                  <a:lnTo>
                    <a:pt x="1983358" y="468756"/>
                  </a:lnTo>
                  <a:lnTo>
                    <a:pt x="1997709" y="536701"/>
                  </a:lnTo>
                  <a:lnTo>
                    <a:pt x="1999487" y="571500"/>
                  </a:lnTo>
                  <a:lnTo>
                    <a:pt x="1997709" y="606298"/>
                  </a:lnTo>
                  <a:lnTo>
                    <a:pt x="1983358" y="674242"/>
                  </a:lnTo>
                  <a:lnTo>
                    <a:pt x="1955673" y="739393"/>
                  </a:lnTo>
                  <a:lnTo>
                    <a:pt x="1915159" y="801497"/>
                  </a:lnTo>
                  <a:lnTo>
                    <a:pt x="1890522" y="831214"/>
                  </a:lnTo>
                  <a:lnTo>
                    <a:pt x="1862962" y="859916"/>
                  </a:lnTo>
                  <a:lnTo>
                    <a:pt x="1832736" y="887602"/>
                  </a:lnTo>
                  <a:lnTo>
                    <a:pt x="1799844" y="914273"/>
                  </a:lnTo>
                  <a:lnTo>
                    <a:pt x="1764410" y="939673"/>
                  </a:lnTo>
                  <a:lnTo>
                    <a:pt x="1726437" y="963929"/>
                  </a:lnTo>
                  <a:lnTo>
                    <a:pt x="1686305" y="986916"/>
                  </a:lnTo>
                  <a:lnTo>
                    <a:pt x="1643887" y="1008633"/>
                  </a:lnTo>
                  <a:lnTo>
                    <a:pt x="1599310" y="1028826"/>
                  </a:lnTo>
                  <a:lnTo>
                    <a:pt x="1552828" y="1047623"/>
                  </a:lnTo>
                  <a:lnTo>
                    <a:pt x="1504314" y="1065022"/>
                  </a:lnTo>
                  <a:lnTo>
                    <a:pt x="1454023" y="1080642"/>
                  </a:lnTo>
                  <a:lnTo>
                    <a:pt x="1402079" y="1094866"/>
                  </a:lnTo>
                  <a:lnTo>
                    <a:pt x="1348613" y="1107186"/>
                  </a:lnTo>
                  <a:lnTo>
                    <a:pt x="1293494" y="1117980"/>
                  </a:lnTo>
                  <a:lnTo>
                    <a:pt x="1237106" y="1126743"/>
                  </a:lnTo>
                  <a:lnTo>
                    <a:pt x="1179449" y="1133728"/>
                  </a:lnTo>
                  <a:lnTo>
                    <a:pt x="1120520" y="1138808"/>
                  </a:lnTo>
                  <a:lnTo>
                    <a:pt x="1060703" y="1141983"/>
                  </a:lnTo>
                  <a:lnTo>
                    <a:pt x="999743" y="1143000"/>
                  </a:lnTo>
                  <a:lnTo>
                    <a:pt x="938783" y="1141983"/>
                  </a:lnTo>
                  <a:lnTo>
                    <a:pt x="878839" y="1138808"/>
                  </a:lnTo>
                  <a:lnTo>
                    <a:pt x="820038" y="1133728"/>
                  </a:lnTo>
                  <a:lnTo>
                    <a:pt x="762253" y="1126743"/>
                  </a:lnTo>
                  <a:lnTo>
                    <a:pt x="705865" y="1117980"/>
                  </a:lnTo>
                  <a:lnTo>
                    <a:pt x="650875" y="1107186"/>
                  </a:lnTo>
                  <a:lnTo>
                    <a:pt x="597280" y="1094866"/>
                  </a:lnTo>
                  <a:lnTo>
                    <a:pt x="545338" y="1080642"/>
                  </a:lnTo>
                  <a:lnTo>
                    <a:pt x="495173" y="1065022"/>
                  </a:lnTo>
                  <a:lnTo>
                    <a:pt x="446658" y="1047623"/>
                  </a:lnTo>
                  <a:lnTo>
                    <a:pt x="400176" y="1028826"/>
                  </a:lnTo>
                  <a:lnTo>
                    <a:pt x="355600" y="1008633"/>
                  </a:lnTo>
                  <a:lnTo>
                    <a:pt x="313181" y="986916"/>
                  </a:lnTo>
                  <a:lnTo>
                    <a:pt x="272923" y="963929"/>
                  </a:lnTo>
                  <a:lnTo>
                    <a:pt x="235076" y="939673"/>
                  </a:lnTo>
                  <a:lnTo>
                    <a:pt x="199643" y="914273"/>
                  </a:lnTo>
                  <a:lnTo>
                    <a:pt x="166750" y="887602"/>
                  </a:lnTo>
                  <a:lnTo>
                    <a:pt x="136525" y="859916"/>
                  </a:lnTo>
                  <a:lnTo>
                    <a:pt x="108965" y="831214"/>
                  </a:lnTo>
                  <a:lnTo>
                    <a:pt x="84200" y="801497"/>
                  </a:lnTo>
                  <a:lnTo>
                    <a:pt x="43814" y="739393"/>
                  </a:lnTo>
                  <a:lnTo>
                    <a:pt x="16128" y="674242"/>
                  </a:lnTo>
                  <a:lnTo>
                    <a:pt x="1777" y="606298"/>
                  </a:lnTo>
                  <a:lnTo>
                    <a:pt x="0" y="57150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694426" y="2110485"/>
            <a:ext cx="8566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75944" y="2743200"/>
            <a:ext cx="6200140" cy="3691254"/>
            <a:chOff x="1075944" y="2743200"/>
            <a:chExt cx="6200140" cy="3691254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5944" y="4194047"/>
              <a:ext cx="2633472" cy="224027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5023" y="4757927"/>
              <a:ext cx="2130552" cy="144170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24455" y="2743200"/>
              <a:ext cx="451104" cy="164287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67711" y="3970655"/>
              <a:ext cx="170433" cy="17106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333879" y="2782823"/>
              <a:ext cx="40005" cy="1283335"/>
            </a:xfrm>
            <a:custGeom>
              <a:avLst/>
              <a:gdLst/>
              <a:ahLst/>
              <a:cxnLst/>
              <a:rect l="l" t="t" r="r" b="b"/>
              <a:pathLst>
                <a:path w="40005" h="1283335">
                  <a:moveTo>
                    <a:pt x="39496" y="0"/>
                  </a:moveTo>
                  <a:lnTo>
                    <a:pt x="1523" y="0"/>
                  </a:lnTo>
                  <a:lnTo>
                    <a:pt x="0" y="1250695"/>
                  </a:lnTo>
                  <a:lnTo>
                    <a:pt x="18922" y="1283334"/>
                  </a:lnTo>
                  <a:lnTo>
                    <a:pt x="37845" y="1250695"/>
                  </a:lnTo>
                  <a:lnTo>
                    <a:pt x="39496" y="0"/>
                  </a:lnTo>
                  <a:close/>
                </a:path>
              </a:pathLst>
            </a:custGeom>
            <a:solidFill>
              <a:srgbClr val="6E2E9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16167" y="2819400"/>
              <a:ext cx="451103" cy="192938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59423" y="4330572"/>
              <a:ext cx="170306" cy="17081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125590" y="2859023"/>
              <a:ext cx="40005" cy="1567180"/>
            </a:xfrm>
            <a:custGeom>
              <a:avLst/>
              <a:gdLst/>
              <a:ahLst/>
              <a:cxnLst/>
              <a:rect l="l" t="t" r="r" b="b"/>
              <a:pathLst>
                <a:path w="40004" h="1567179">
                  <a:moveTo>
                    <a:pt x="39497" y="0"/>
                  </a:moveTo>
                  <a:lnTo>
                    <a:pt x="1524" y="0"/>
                  </a:lnTo>
                  <a:lnTo>
                    <a:pt x="0" y="1471549"/>
                  </a:lnTo>
                  <a:lnTo>
                    <a:pt x="126" y="1534287"/>
                  </a:lnTo>
                  <a:lnTo>
                    <a:pt x="18923" y="1566799"/>
                  </a:lnTo>
                  <a:lnTo>
                    <a:pt x="37846" y="1534287"/>
                  </a:lnTo>
                  <a:lnTo>
                    <a:pt x="39497" y="0"/>
                  </a:lnTo>
                  <a:close/>
                </a:path>
              </a:pathLst>
            </a:custGeom>
            <a:solidFill>
              <a:srgbClr val="6E2E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080008" y="3178555"/>
            <a:ext cx="1204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R1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Granted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78023" y="3333953"/>
            <a:ext cx="11036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R2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Denied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30492" y="3263010"/>
            <a:ext cx="1203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R1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Granted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352800" y="2465832"/>
            <a:ext cx="1929764" cy="1871980"/>
            <a:chOff x="3352800" y="2465832"/>
            <a:chExt cx="1929764" cy="1871980"/>
          </a:xfrm>
        </p:grpSpPr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52800" y="2465832"/>
              <a:ext cx="1929383" cy="187147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81400" y="4004437"/>
              <a:ext cx="172847" cy="17094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628263" y="2505455"/>
              <a:ext cx="1595755" cy="1600200"/>
            </a:xfrm>
            <a:custGeom>
              <a:avLst/>
              <a:gdLst/>
              <a:ahLst/>
              <a:cxnLst/>
              <a:rect l="l" t="t" r="r" b="b"/>
              <a:pathLst>
                <a:path w="1595754" h="1600200">
                  <a:moveTo>
                    <a:pt x="1595628" y="38100"/>
                  </a:moveTo>
                  <a:lnTo>
                    <a:pt x="1594993" y="0"/>
                  </a:lnTo>
                  <a:lnTo>
                    <a:pt x="1556004" y="1143"/>
                  </a:lnTo>
                  <a:lnTo>
                    <a:pt x="1516761" y="4572"/>
                  </a:lnTo>
                  <a:lnTo>
                    <a:pt x="1477518" y="10160"/>
                  </a:lnTo>
                  <a:lnTo>
                    <a:pt x="1438402" y="18034"/>
                  </a:lnTo>
                  <a:lnTo>
                    <a:pt x="1399794" y="27813"/>
                  </a:lnTo>
                  <a:lnTo>
                    <a:pt x="1361440" y="39751"/>
                  </a:lnTo>
                  <a:lnTo>
                    <a:pt x="1323721" y="53467"/>
                  </a:lnTo>
                  <a:lnTo>
                    <a:pt x="1286510" y="68834"/>
                  </a:lnTo>
                  <a:lnTo>
                    <a:pt x="1249934" y="86233"/>
                  </a:lnTo>
                  <a:lnTo>
                    <a:pt x="1214120" y="105283"/>
                  </a:lnTo>
                  <a:lnTo>
                    <a:pt x="1179068" y="125857"/>
                  </a:lnTo>
                  <a:lnTo>
                    <a:pt x="1144778" y="147955"/>
                  </a:lnTo>
                  <a:lnTo>
                    <a:pt x="1111631" y="171577"/>
                  </a:lnTo>
                  <a:lnTo>
                    <a:pt x="1079246" y="196469"/>
                  </a:lnTo>
                  <a:lnTo>
                    <a:pt x="1048004" y="222758"/>
                  </a:lnTo>
                  <a:lnTo>
                    <a:pt x="1018032" y="250317"/>
                  </a:lnTo>
                  <a:lnTo>
                    <a:pt x="989076" y="279019"/>
                  </a:lnTo>
                  <a:lnTo>
                    <a:pt x="961644" y="308864"/>
                  </a:lnTo>
                  <a:lnTo>
                    <a:pt x="935482" y="339598"/>
                  </a:lnTo>
                  <a:lnTo>
                    <a:pt x="910844" y="371348"/>
                  </a:lnTo>
                  <a:lnTo>
                    <a:pt x="887476" y="404114"/>
                  </a:lnTo>
                  <a:lnTo>
                    <a:pt x="865886" y="437769"/>
                  </a:lnTo>
                  <a:lnTo>
                    <a:pt x="845947" y="471932"/>
                  </a:lnTo>
                  <a:lnTo>
                    <a:pt x="827786" y="506857"/>
                  </a:lnTo>
                  <a:lnTo>
                    <a:pt x="811403" y="542544"/>
                  </a:lnTo>
                  <a:lnTo>
                    <a:pt x="796925" y="578612"/>
                  </a:lnTo>
                  <a:lnTo>
                    <a:pt x="784479" y="615188"/>
                  </a:lnTo>
                  <a:lnTo>
                    <a:pt x="774192" y="652272"/>
                  </a:lnTo>
                  <a:lnTo>
                    <a:pt x="766064" y="689737"/>
                  </a:lnTo>
                  <a:lnTo>
                    <a:pt x="756158" y="765429"/>
                  </a:lnTo>
                  <a:lnTo>
                    <a:pt x="754888" y="803402"/>
                  </a:lnTo>
                  <a:lnTo>
                    <a:pt x="755142" y="822706"/>
                  </a:lnTo>
                  <a:lnTo>
                    <a:pt x="754126" y="839851"/>
                  </a:lnTo>
                  <a:lnTo>
                    <a:pt x="745109" y="911225"/>
                  </a:lnTo>
                  <a:lnTo>
                    <a:pt x="727583" y="981456"/>
                  </a:lnTo>
                  <a:lnTo>
                    <a:pt x="702056" y="1050544"/>
                  </a:lnTo>
                  <a:lnTo>
                    <a:pt x="669163" y="1117727"/>
                  </a:lnTo>
                  <a:lnTo>
                    <a:pt x="629412" y="1182624"/>
                  </a:lnTo>
                  <a:lnTo>
                    <a:pt x="607187" y="1213993"/>
                  </a:lnTo>
                  <a:lnTo>
                    <a:pt x="583692" y="1244473"/>
                  </a:lnTo>
                  <a:lnTo>
                    <a:pt x="558546" y="1273937"/>
                  </a:lnTo>
                  <a:lnTo>
                    <a:pt x="532003" y="1302766"/>
                  </a:lnTo>
                  <a:lnTo>
                    <a:pt x="504317" y="1330325"/>
                  </a:lnTo>
                  <a:lnTo>
                    <a:pt x="475488" y="1356614"/>
                  </a:lnTo>
                  <a:lnTo>
                    <a:pt x="445389" y="1381887"/>
                  </a:lnTo>
                  <a:lnTo>
                    <a:pt x="414401" y="1406017"/>
                  </a:lnTo>
                  <a:lnTo>
                    <a:pt x="382524" y="1428623"/>
                  </a:lnTo>
                  <a:lnTo>
                    <a:pt x="349758" y="1449832"/>
                  </a:lnTo>
                  <a:lnTo>
                    <a:pt x="315976" y="1469644"/>
                  </a:lnTo>
                  <a:lnTo>
                    <a:pt x="281559" y="1487805"/>
                  </a:lnTo>
                  <a:lnTo>
                    <a:pt x="246634" y="1504315"/>
                  </a:lnTo>
                  <a:lnTo>
                    <a:pt x="211074" y="1519174"/>
                  </a:lnTo>
                  <a:lnTo>
                    <a:pt x="175006" y="1532255"/>
                  </a:lnTo>
                  <a:lnTo>
                    <a:pt x="138557" y="1543558"/>
                  </a:lnTo>
                  <a:lnTo>
                    <a:pt x="74041" y="1558290"/>
                  </a:lnTo>
                  <a:lnTo>
                    <a:pt x="53644" y="1570990"/>
                  </a:lnTo>
                  <a:lnTo>
                    <a:pt x="0" y="1570990"/>
                  </a:lnTo>
                  <a:lnTo>
                    <a:pt x="28575" y="1586611"/>
                  </a:lnTo>
                  <a:lnTo>
                    <a:pt x="53594" y="1600200"/>
                  </a:lnTo>
                  <a:lnTo>
                    <a:pt x="111125" y="1589786"/>
                  </a:lnTo>
                  <a:lnTo>
                    <a:pt x="149733" y="1579880"/>
                  </a:lnTo>
                  <a:lnTo>
                    <a:pt x="188087" y="1568069"/>
                  </a:lnTo>
                  <a:lnTo>
                    <a:pt x="225679" y="1554353"/>
                  </a:lnTo>
                  <a:lnTo>
                    <a:pt x="263017" y="1538732"/>
                  </a:lnTo>
                  <a:lnTo>
                    <a:pt x="299466" y="1521333"/>
                  </a:lnTo>
                  <a:lnTo>
                    <a:pt x="335280" y="1502283"/>
                  </a:lnTo>
                  <a:lnTo>
                    <a:pt x="370332" y="1481709"/>
                  </a:lnTo>
                  <a:lnTo>
                    <a:pt x="404622" y="1459738"/>
                  </a:lnTo>
                  <a:lnTo>
                    <a:pt x="437769" y="1436116"/>
                  </a:lnTo>
                  <a:lnTo>
                    <a:pt x="470027" y="1411097"/>
                  </a:lnTo>
                  <a:lnTo>
                    <a:pt x="501142" y="1384808"/>
                  </a:lnTo>
                  <a:lnTo>
                    <a:pt x="531368" y="1357249"/>
                  </a:lnTo>
                  <a:lnTo>
                    <a:pt x="560070" y="1328547"/>
                  </a:lnTo>
                  <a:lnTo>
                    <a:pt x="587629" y="1298702"/>
                  </a:lnTo>
                  <a:lnTo>
                    <a:pt x="613664" y="1267841"/>
                  </a:lnTo>
                  <a:lnTo>
                    <a:pt x="638302" y="1235837"/>
                  </a:lnTo>
                  <a:lnTo>
                    <a:pt x="661416" y="1203198"/>
                  </a:lnTo>
                  <a:lnTo>
                    <a:pt x="683006" y="1169670"/>
                  </a:lnTo>
                  <a:lnTo>
                    <a:pt x="703072" y="1135253"/>
                  </a:lnTo>
                  <a:lnTo>
                    <a:pt x="721106" y="1100213"/>
                  </a:lnTo>
                  <a:lnTo>
                    <a:pt x="737489" y="1064641"/>
                  </a:lnTo>
                  <a:lnTo>
                    <a:pt x="751840" y="1028319"/>
                  </a:lnTo>
                  <a:lnTo>
                    <a:pt x="764286" y="991616"/>
                  </a:lnTo>
                  <a:lnTo>
                    <a:pt x="774446" y="954659"/>
                  </a:lnTo>
                  <a:lnTo>
                    <a:pt x="782574" y="917194"/>
                  </a:lnTo>
                  <a:lnTo>
                    <a:pt x="790575" y="860679"/>
                  </a:lnTo>
                  <a:lnTo>
                    <a:pt x="792988" y="822325"/>
                  </a:lnTo>
                  <a:lnTo>
                    <a:pt x="792988" y="803402"/>
                  </a:lnTo>
                  <a:lnTo>
                    <a:pt x="793242" y="786257"/>
                  </a:lnTo>
                  <a:lnTo>
                    <a:pt x="797433" y="733298"/>
                  </a:lnTo>
                  <a:lnTo>
                    <a:pt x="810768" y="662559"/>
                  </a:lnTo>
                  <a:lnTo>
                    <a:pt x="832358" y="592709"/>
                  </a:lnTo>
                  <a:lnTo>
                    <a:pt x="861568" y="524510"/>
                  </a:lnTo>
                  <a:lnTo>
                    <a:pt x="897890" y="458216"/>
                  </a:lnTo>
                  <a:lnTo>
                    <a:pt x="918591" y="426212"/>
                  </a:lnTo>
                  <a:lnTo>
                    <a:pt x="940816" y="394843"/>
                  </a:lnTo>
                  <a:lnTo>
                    <a:pt x="964438" y="364236"/>
                  </a:lnTo>
                  <a:lnTo>
                    <a:pt x="989584" y="334518"/>
                  </a:lnTo>
                  <a:lnTo>
                    <a:pt x="1016000" y="306070"/>
                  </a:lnTo>
                  <a:lnTo>
                    <a:pt x="1043813" y="278384"/>
                  </a:lnTo>
                  <a:lnTo>
                    <a:pt x="1072515" y="251841"/>
                  </a:lnTo>
                  <a:lnTo>
                    <a:pt x="1102614" y="226568"/>
                  </a:lnTo>
                  <a:lnTo>
                    <a:pt x="1133602" y="202565"/>
                  </a:lnTo>
                  <a:lnTo>
                    <a:pt x="1165479" y="179959"/>
                  </a:lnTo>
                  <a:lnTo>
                    <a:pt x="1198245" y="158750"/>
                  </a:lnTo>
                  <a:lnTo>
                    <a:pt x="1232027" y="138938"/>
                  </a:lnTo>
                  <a:lnTo>
                    <a:pt x="1266190" y="120650"/>
                  </a:lnTo>
                  <a:lnTo>
                    <a:pt x="1301242" y="104013"/>
                  </a:lnTo>
                  <a:lnTo>
                    <a:pt x="1336675" y="89154"/>
                  </a:lnTo>
                  <a:lnTo>
                    <a:pt x="1372743" y="75946"/>
                  </a:lnTo>
                  <a:lnTo>
                    <a:pt x="1409192" y="64643"/>
                  </a:lnTo>
                  <a:lnTo>
                    <a:pt x="1482979" y="47879"/>
                  </a:lnTo>
                  <a:lnTo>
                    <a:pt x="1557655" y="39243"/>
                  </a:lnTo>
                  <a:lnTo>
                    <a:pt x="1595628" y="38100"/>
                  </a:lnTo>
                  <a:close/>
                </a:path>
              </a:pathLst>
            </a:custGeom>
            <a:solidFill>
              <a:srgbClr val="8062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4728209" y="2904871"/>
            <a:ext cx="110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R2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Denied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163823" y="2465832"/>
            <a:ext cx="2280285" cy="2158365"/>
            <a:chOff x="3163823" y="2465832"/>
            <a:chExt cx="2280285" cy="2158365"/>
          </a:xfrm>
        </p:grpSpPr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63823" y="2465832"/>
              <a:ext cx="2279904" cy="215798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45709" y="4290822"/>
              <a:ext cx="172465" cy="17094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218688" y="2505455"/>
              <a:ext cx="1962785" cy="1887855"/>
            </a:xfrm>
            <a:custGeom>
              <a:avLst/>
              <a:gdLst/>
              <a:ahLst/>
              <a:cxnLst/>
              <a:rect l="l" t="t" r="r" b="b"/>
              <a:pathLst>
                <a:path w="1962785" h="1887854">
                  <a:moveTo>
                    <a:pt x="1962658" y="1854581"/>
                  </a:moveTo>
                  <a:lnTo>
                    <a:pt x="1908175" y="1850390"/>
                  </a:lnTo>
                  <a:lnTo>
                    <a:pt x="1882267" y="1846961"/>
                  </a:lnTo>
                  <a:lnTo>
                    <a:pt x="1862582" y="1844040"/>
                  </a:lnTo>
                  <a:lnTo>
                    <a:pt x="1794891" y="1829943"/>
                  </a:lnTo>
                  <a:lnTo>
                    <a:pt x="1750187" y="1817751"/>
                  </a:lnTo>
                  <a:lnTo>
                    <a:pt x="1683893" y="1795399"/>
                  </a:lnTo>
                  <a:lnTo>
                    <a:pt x="1640459" y="1777746"/>
                  </a:lnTo>
                  <a:lnTo>
                    <a:pt x="1597660" y="1758061"/>
                  </a:lnTo>
                  <a:lnTo>
                    <a:pt x="1555623" y="1736471"/>
                  </a:lnTo>
                  <a:lnTo>
                    <a:pt x="1514475" y="1712976"/>
                  </a:lnTo>
                  <a:lnTo>
                    <a:pt x="1474597" y="1687957"/>
                  </a:lnTo>
                  <a:lnTo>
                    <a:pt x="1435481" y="1661033"/>
                  </a:lnTo>
                  <a:lnTo>
                    <a:pt x="1397508" y="1632585"/>
                  </a:lnTo>
                  <a:lnTo>
                    <a:pt x="1360932" y="1602613"/>
                  </a:lnTo>
                  <a:lnTo>
                    <a:pt x="1325626" y="1571244"/>
                  </a:lnTo>
                  <a:lnTo>
                    <a:pt x="1291844" y="1538605"/>
                  </a:lnTo>
                  <a:lnTo>
                    <a:pt x="1259459" y="1504569"/>
                  </a:lnTo>
                  <a:lnTo>
                    <a:pt x="1228725" y="1469390"/>
                  </a:lnTo>
                  <a:lnTo>
                    <a:pt x="1199896" y="1433195"/>
                  </a:lnTo>
                  <a:lnTo>
                    <a:pt x="1172718" y="1395984"/>
                  </a:lnTo>
                  <a:lnTo>
                    <a:pt x="1147572" y="1358011"/>
                  </a:lnTo>
                  <a:lnTo>
                    <a:pt x="1124331" y="1319276"/>
                  </a:lnTo>
                  <a:lnTo>
                    <a:pt x="1103122" y="1279398"/>
                  </a:lnTo>
                  <a:lnTo>
                    <a:pt x="1084072" y="1239139"/>
                  </a:lnTo>
                  <a:lnTo>
                    <a:pt x="1067308" y="1198499"/>
                  </a:lnTo>
                  <a:lnTo>
                    <a:pt x="1052957" y="1157351"/>
                  </a:lnTo>
                  <a:lnTo>
                    <a:pt x="1041019" y="1115695"/>
                  </a:lnTo>
                  <a:lnTo>
                    <a:pt x="1031494" y="1073785"/>
                  </a:lnTo>
                  <a:lnTo>
                    <a:pt x="1024636" y="1031748"/>
                  </a:lnTo>
                  <a:lnTo>
                    <a:pt x="1020445" y="989584"/>
                  </a:lnTo>
                  <a:lnTo>
                    <a:pt x="1018794" y="946150"/>
                  </a:lnTo>
                  <a:lnTo>
                    <a:pt x="1018413" y="923925"/>
                  </a:lnTo>
                  <a:lnTo>
                    <a:pt x="1017270" y="901446"/>
                  </a:lnTo>
                  <a:lnTo>
                    <a:pt x="1012825" y="856996"/>
                  </a:lnTo>
                  <a:lnTo>
                    <a:pt x="1005586" y="812673"/>
                  </a:lnTo>
                  <a:lnTo>
                    <a:pt x="995680" y="768604"/>
                  </a:lnTo>
                  <a:lnTo>
                    <a:pt x="983234" y="725043"/>
                  </a:lnTo>
                  <a:lnTo>
                    <a:pt x="968121" y="681736"/>
                  </a:lnTo>
                  <a:lnTo>
                    <a:pt x="950595" y="639191"/>
                  </a:lnTo>
                  <a:lnTo>
                    <a:pt x="930656" y="597154"/>
                  </a:lnTo>
                  <a:lnTo>
                    <a:pt x="908685" y="555879"/>
                  </a:lnTo>
                  <a:lnTo>
                    <a:pt x="884555" y="515493"/>
                  </a:lnTo>
                  <a:lnTo>
                    <a:pt x="858266" y="475996"/>
                  </a:lnTo>
                  <a:lnTo>
                    <a:pt x="830326" y="437388"/>
                  </a:lnTo>
                  <a:lnTo>
                    <a:pt x="800354" y="400050"/>
                  </a:lnTo>
                  <a:lnTo>
                    <a:pt x="768604" y="363728"/>
                  </a:lnTo>
                  <a:lnTo>
                    <a:pt x="735203" y="328549"/>
                  </a:lnTo>
                  <a:lnTo>
                    <a:pt x="700151" y="294767"/>
                  </a:lnTo>
                  <a:lnTo>
                    <a:pt x="663702" y="262255"/>
                  </a:lnTo>
                  <a:lnTo>
                    <a:pt x="625856" y="231394"/>
                  </a:lnTo>
                  <a:lnTo>
                    <a:pt x="586740" y="202057"/>
                  </a:lnTo>
                  <a:lnTo>
                    <a:pt x="546354" y="174117"/>
                  </a:lnTo>
                  <a:lnTo>
                    <a:pt x="504825" y="148082"/>
                  </a:lnTo>
                  <a:lnTo>
                    <a:pt x="462407" y="123825"/>
                  </a:lnTo>
                  <a:lnTo>
                    <a:pt x="418846" y="101473"/>
                  </a:lnTo>
                  <a:lnTo>
                    <a:pt x="374523" y="81153"/>
                  </a:lnTo>
                  <a:lnTo>
                    <a:pt x="329438" y="62865"/>
                  </a:lnTo>
                  <a:lnTo>
                    <a:pt x="283845" y="46736"/>
                  </a:lnTo>
                  <a:lnTo>
                    <a:pt x="237363" y="32766"/>
                  </a:lnTo>
                  <a:lnTo>
                    <a:pt x="190500" y="21209"/>
                  </a:lnTo>
                  <a:lnTo>
                    <a:pt x="143383" y="12192"/>
                  </a:lnTo>
                  <a:lnTo>
                    <a:pt x="95758" y="5461"/>
                  </a:lnTo>
                  <a:lnTo>
                    <a:pt x="47866" y="1397"/>
                  </a:lnTo>
                  <a:lnTo>
                    <a:pt x="508" y="0"/>
                  </a:lnTo>
                  <a:lnTo>
                    <a:pt x="0" y="38100"/>
                  </a:lnTo>
                  <a:lnTo>
                    <a:pt x="23368" y="38481"/>
                  </a:lnTo>
                  <a:lnTo>
                    <a:pt x="46342" y="39370"/>
                  </a:lnTo>
                  <a:lnTo>
                    <a:pt x="92075" y="43307"/>
                  </a:lnTo>
                  <a:lnTo>
                    <a:pt x="137541" y="49784"/>
                  </a:lnTo>
                  <a:lnTo>
                    <a:pt x="182753" y="58547"/>
                  </a:lnTo>
                  <a:lnTo>
                    <a:pt x="227838" y="69723"/>
                  </a:lnTo>
                  <a:lnTo>
                    <a:pt x="272415" y="83058"/>
                  </a:lnTo>
                  <a:lnTo>
                    <a:pt x="316611" y="98679"/>
                  </a:lnTo>
                  <a:lnTo>
                    <a:pt x="360172" y="116332"/>
                  </a:lnTo>
                  <a:lnTo>
                    <a:pt x="402971" y="136017"/>
                  </a:lnTo>
                  <a:lnTo>
                    <a:pt x="445008" y="157734"/>
                  </a:lnTo>
                  <a:lnTo>
                    <a:pt x="486029" y="181229"/>
                  </a:lnTo>
                  <a:lnTo>
                    <a:pt x="526034" y="206375"/>
                  </a:lnTo>
                  <a:lnTo>
                    <a:pt x="565023" y="233426"/>
                  </a:lnTo>
                  <a:lnTo>
                    <a:pt x="602996" y="261747"/>
                  </a:lnTo>
                  <a:lnTo>
                    <a:pt x="639572" y="291719"/>
                  </a:lnTo>
                  <a:lnTo>
                    <a:pt x="674878" y="323088"/>
                  </a:lnTo>
                  <a:lnTo>
                    <a:pt x="708787" y="355981"/>
                  </a:lnTo>
                  <a:lnTo>
                    <a:pt x="740918" y="389890"/>
                  </a:lnTo>
                  <a:lnTo>
                    <a:pt x="771652" y="424942"/>
                  </a:lnTo>
                  <a:lnTo>
                    <a:pt x="800608" y="461137"/>
                  </a:lnTo>
                  <a:lnTo>
                    <a:pt x="827659" y="498475"/>
                  </a:lnTo>
                  <a:lnTo>
                    <a:pt x="852805" y="536575"/>
                  </a:lnTo>
                  <a:lnTo>
                    <a:pt x="876046" y="575310"/>
                  </a:lnTo>
                  <a:lnTo>
                    <a:pt x="897128" y="614934"/>
                  </a:lnTo>
                  <a:lnTo>
                    <a:pt x="916051" y="655066"/>
                  </a:lnTo>
                  <a:lnTo>
                    <a:pt x="932688" y="695833"/>
                  </a:lnTo>
                  <a:lnTo>
                    <a:pt x="947039" y="736854"/>
                  </a:lnTo>
                  <a:lnTo>
                    <a:pt x="958977" y="778510"/>
                  </a:lnTo>
                  <a:lnTo>
                    <a:pt x="968248" y="820420"/>
                  </a:lnTo>
                  <a:lnTo>
                    <a:pt x="975106" y="862457"/>
                  </a:lnTo>
                  <a:lnTo>
                    <a:pt x="979297" y="904621"/>
                  </a:lnTo>
                  <a:lnTo>
                    <a:pt x="981329" y="969264"/>
                  </a:lnTo>
                  <a:lnTo>
                    <a:pt x="984250" y="1013841"/>
                  </a:lnTo>
                  <a:lnTo>
                    <a:pt x="990092" y="1058418"/>
                  </a:lnTo>
                  <a:lnTo>
                    <a:pt x="998728" y="1102487"/>
                  </a:lnTo>
                  <a:lnTo>
                    <a:pt x="1009904" y="1146429"/>
                  </a:lnTo>
                  <a:lnTo>
                    <a:pt x="1023747" y="1189990"/>
                  </a:lnTo>
                  <a:lnTo>
                    <a:pt x="1040003" y="1232789"/>
                  </a:lnTo>
                  <a:lnTo>
                    <a:pt x="1058672" y="1275207"/>
                  </a:lnTo>
                  <a:lnTo>
                    <a:pt x="1090676" y="1337183"/>
                  </a:lnTo>
                  <a:lnTo>
                    <a:pt x="1114933" y="1377569"/>
                  </a:lnTo>
                  <a:lnTo>
                    <a:pt x="1141095" y="1417066"/>
                  </a:lnTo>
                  <a:lnTo>
                    <a:pt x="1169035" y="1455674"/>
                  </a:lnTo>
                  <a:lnTo>
                    <a:pt x="1199007" y="1493266"/>
                  </a:lnTo>
                  <a:lnTo>
                    <a:pt x="1230757" y="1529715"/>
                  </a:lnTo>
                  <a:lnTo>
                    <a:pt x="1264158" y="1564767"/>
                  </a:lnTo>
                  <a:lnTo>
                    <a:pt x="1299083" y="1598549"/>
                  </a:lnTo>
                  <a:lnTo>
                    <a:pt x="1335532" y="1631061"/>
                  </a:lnTo>
                  <a:lnTo>
                    <a:pt x="1373378" y="1662049"/>
                  </a:lnTo>
                  <a:lnTo>
                    <a:pt x="1412621" y="1691513"/>
                  </a:lnTo>
                  <a:lnTo>
                    <a:pt x="1452880" y="1719199"/>
                  </a:lnTo>
                  <a:lnTo>
                    <a:pt x="1494409" y="1745234"/>
                  </a:lnTo>
                  <a:lnTo>
                    <a:pt x="1536700" y="1769491"/>
                  </a:lnTo>
                  <a:lnTo>
                    <a:pt x="1580261" y="1791970"/>
                  </a:lnTo>
                  <a:lnTo>
                    <a:pt x="1624584" y="1812290"/>
                  </a:lnTo>
                  <a:lnTo>
                    <a:pt x="1669669" y="1830705"/>
                  </a:lnTo>
                  <a:lnTo>
                    <a:pt x="1715389" y="1846834"/>
                  </a:lnTo>
                  <a:lnTo>
                    <a:pt x="1761871" y="1860804"/>
                  </a:lnTo>
                  <a:lnTo>
                    <a:pt x="1808734" y="1872361"/>
                  </a:lnTo>
                  <a:lnTo>
                    <a:pt x="1855851" y="1881505"/>
                  </a:lnTo>
                  <a:lnTo>
                    <a:pt x="1897253" y="1887347"/>
                  </a:lnTo>
                  <a:lnTo>
                    <a:pt x="1923923" y="1872615"/>
                  </a:lnTo>
                  <a:lnTo>
                    <a:pt x="1952498" y="1856994"/>
                  </a:lnTo>
                  <a:lnTo>
                    <a:pt x="1962531" y="1856994"/>
                  </a:lnTo>
                  <a:lnTo>
                    <a:pt x="1962658" y="1854581"/>
                  </a:lnTo>
                  <a:close/>
                </a:path>
              </a:pathLst>
            </a:custGeom>
            <a:solidFill>
              <a:srgbClr val="8062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3774440" y="5335015"/>
            <a:ext cx="12782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Deadlock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136135" y="4020311"/>
            <a:ext cx="243840" cy="1377950"/>
            <a:chOff x="4136135" y="4020311"/>
            <a:chExt cx="243840" cy="1377950"/>
          </a:xfrm>
        </p:grpSpPr>
        <p:sp>
          <p:nvSpPr>
            <p:cNvPr id="42" name="object 42"/>
            <p:cNvSpPr/>
            <p:nvPr/>
          </p:nvSpPr>
          <p:spPr>
            <a:xfrm>
              <a:off x="4148327" y="4032503"/>
              <a:ext cx="219710" cy="1353820"/>
            </a:xfrm>
            <a:custGeom>
              <a:avLst/>
              <a:gdLst/>
              <a:ahLst/>
              <a:cxnLst/>
              <a:rect l="l" t="t" r="r" b="b"/>
              <a:pathLst>
                <a:path w="219710" h="1353820">
                  <a:moveTo>
                    <a:pt x="164464" y="0"/>
                  </a:moveTo>
                  <a:lnTo>
                    <a:pt x="54863" y="0"/>
                  </a:lnTo>
                  <a:lnTo>
                    <a:pt x="54863" y="1243711"/>
                  </a:lnTo>
                  <a:lnTo>
                    <a:pt x="0" y="1243711"/>
                  </a:lnTo>
                  <a:lnTo>
                    <a:pt x="109600" y="1353312"/>
                  </a:lnTo>
                  <a:lnTo>
                    <a:pt x="219456" y="1243711"/>
                  </a:lnTo>
                  <a:lnTo>
                    <a:pt x="164464" y="1243711"/>
                  </a:lnTo>
                  <a:lnTo>
                    <a:pt x="164464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148327" y="4032503"/>
              <a:ext cx="219710" cy="1353820"/>
            </a:xfrm>
            <a:custGeom>
              <a:avLst/>
              <a:gdLst/>
              <a:ahLst/>
              <a:cxnLst/>
              <a:rect l="l" t="t" r="r" b="b"/>
              <a:pathLst>
                <a:path w="219710" h="1353820">
                  <a:moveTo>
                    <a:pt x="0" y="1243711"/>
                  </a:moveTo>
                  <a:lnTo>
                    <a:pt x="54863" y="1243711"/>
                  </a:lnTo>
                  <a:lnTo>
                    <a:pt x="54863" y="0"/>
                  </a:lnTo>
                  <a:lnTo>
                    <a:pt x="164464" y="0"/>
                  </a:lnTo>
                  <a:lnTo>
                    <a:pt x="164464" y="1243711"/>
                  </a:lnTo>
                  <a:lnTo>
                    <a:pt x="219456" y="1243711"/>
                  </a:lnTo>
                  <a:lnTo>
                    <a:pt x="109600" y="1353312"/>
                  </a:lnTo>
                  <a:lnTo>
                    <a:pt x="0" y="1243711"/>
                  </a:lnTo>
                  <a:close/>
                </a:path>
              </a:pathLst>
            </a:custGeom>
            <a:ln w="24384">
              <a:solidFill>
                <a:srgbClr val="6123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150063" y="6580844"/>
            <a:ext cx="6127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4/7/2023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920226" y="6609495"/>
            <a:ext cx="1739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200" spc="-50" dirty="0">
                <a:latin typeface="Arial MT"/>
                <a:cs typeface="Arial MT"/>
              </a:rPr>
            </a:fld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6576" y="937402"/>
            <a:ext cx="9089136" cy="53750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44880"/>
            <a:ext cx="9107424" cy="51297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0" y="1121663"/>
            <a:ext cx="9144000" cy="478790"/>
            <a:chOff x="0" y="1121663"/>
            <a:chExt cx="9144000" cy="4787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1663"/>
              <a:ext cx="9144000" cy="944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95" y="1133855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1200911"/>
              <a:ext cx="9144000" cy="399415"/>
            </a:xfrm>
            <a:custGeom>
              <a:avLst/>
              <a:gdLst/>
              <a:ahLst/>
              <a:cxnLst/>
              <a:rect l="l" t="t" r="r" b="b"/>
              <a:pathLst>
                <a:path w="9144000" h="399415">
                  <a:moveTo>
                    <a:pt x="9144000" y="0"/>
                  </a:moveTo>
                  <a:lnTo>
                    <a:pt x="0" y="0"/>
                  </a:lnTo>
                  <a:lnTo>
                    <a:pt x="0" y="399288"/>
                  </a:lnTo>
                  <a:lnTo>
                    <a:pt x="9144000" y="39928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150235" y="1219962"/>
            <a:ext cx="285750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60" dirty="0">
                <a:latin typeface="Georgia" panose="02040502050405020303"/>
                <a:cs typeface="Georgia" panose="02040502050405020303"/>
              </a:rPr>
              <a:t>Deadlock-</a:t>
            </a:r>
            <a:r>
              <a:rPr sz="2000" spc="-155" dirty="0">
                <a:latin typeface="Georgia" panose="02040502050405020303"/>
                <a:cs typeface="Georgia" panose="02040502050405020303"/>
              </a:rPr>
              <a:t>Types</a:t>
            </a:r>
            <a:r>
              <a:rPr sz="2000" spc="-145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75" dirty="0">
                <a:latin typeface="Georgia" panose="02040502050405020303"/>
                <a:cs typeface="Georgia" panose="02040502050405020303"/>
              </a:rPr>
              <a:t>of</a:t>
            </a:r>
            <a:r>
              <a:rPr sz="2000" spc="-35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120" dirty="0">
                <a:latin typeface="Georgia" panose="02040502050405020303"/>
                <a:cs typeface="Georgia" panose="02040502050405020303"/>
              </a:rPr>
              <a:t>Resources</a:t>
            </a:r>
            <a:endParaRPr sz="20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063" y="6580844"/>
            <a:ext cx="6127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4/7/2023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20226" y="6609495"/>
            <a:ext cx="1739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200" spc="-50" dirty="0">
                <a:latin typeface="Arial MT"/>
                <a:cs typeface="Arial MT"/>
              </a:rPr>
            </a:fld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07593" y="1869439"/>
            <a:ext cx="7151370" cy="1000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3200" dirty="0"/>
              <a:t>Sequence</a:t>
            </a:r>
            <a:r>
              <a:rPr sz="3200" spc="-105" dirty="0"/>
              <a:t> </a:t>
            </a:r>
            <a:r>
              <a:rPr sz="3200" dirty="0"/>
              <a:t>of</a:t>
            </a:r>
            <a:r>
              <a:rPr sz="3200" spc="-30" dirty="0"/>
              <a:t> </a:t>
            </a:r>
            <a:r>
              <a:rPr sz="3200" dirty="0"/>
              <a:t>events</a:t>
            </a:r>
            <a:r>
              <a:rPr sz="3200" spc="-135" dirty="0"/>
              <a:t> </a:t>
            </a:r>
            <a:r>
              <a:rPr sz="3200" spc="-20" dirty="0"/>
              <a:t>required</a:t>
            </a:r>
            <a:r>
              <a:rPr sz="3200" spc="-185" dirty="0"/>
              <a:t> </a:t>
            </a:r>
            <a:r>
              <a:rPr sz="3200" dirty="0"/>
              <a:t>to</a:t>
            </a:r>
            <a:r>
              <a:rPr sz="3200" spc="-30" dirty="0"/>
              <a:t> </a:t>
            </a:r>
            <a:r>
              <a:rPr sz="3200" dirty="0"/>
              <a:t>use</a:t>
            </a:r>
            <a:r>
              <a:rPr sz="3200" spc="-50" dirty="0"/>
              <a:t> a </a:t>
            </a:r>
            <a:r>
              <a:rPr sz="3200" spc="-10" dirty="0"/>
              <a:t>resource</a:t>
            </a:r>
            <a:endParaRPr sz="3200"/>
          </a:p>
        </p:txBody>
      </p:sp>
      <p:sp>
        <p:nvSpPr>
          <p:cNvPr id="12" name="object 12"/>
          <p:cNvSpPr txBox="1"/>
          <p:nvPr/>
        </p:nvSpPr>
        <p:spPr>
          <a:xfrm>
            <a:off x="507593" y="2880598"/>
            <a:ext cx="4302760" cy="157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0" indent="-914400">
              <a:lnSpc>
                <a:spcPts val="4310"/>
              </a:lnSpc>
              <a:buSzPct val="113000"/>
              <a:buAutoNum type="arabicPlain"/>
              <a:tabLst>
                <a:tab pos="927100" algn="l"/>
              </a:tabLst>
            </a:pPr>
            <a:r>
              <a:rPr sz="3200" spc="-10" dirty="0">
                <a:latin typeface="Times New Roman" panose="02020803070505020304"/>
                <a:cs typeface="Times New Roman" panose="02020803070505020304"/>
              </a:rPr>
              <a:t>Request</a:t>
            </a:r>
            <a:r>
              <a:rPr sz="3200" spc="-1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3200" spc="-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spc="-10" dirty="0">
                <a:latin typeface="Times New Roman" panose="02020803070505020304"/>
                <a:cs typeface="Times New Roman" panose="02020803070505020304"/>
              </a:rPr>
              <a:t>resource</a:t>
            </a:r>
            <a:endParaRPr sz="3200">
              <a:latin typeface="Times New Roman" panose="02020803070505020304"/>
              <a:cs typeface="Times New Roman" panose="02020803070505020304"/>
            </a:endParaRPr>
          </a:p>
          <a:p>
            <a:pPr marL="927100" indent="-914400">
              <a:lnSpc>
                <a:spcPct val="100000"/>
              </a:lnSpc>
              <a:spcBef>
                <a:spcPts val="210"/>
              </a:spcBef>
              <a:buAutoNum type="arabicPlain"/>
              <a:tabLst>
                <a:tab pos="927100" algn="l"/>
              </a:tabLst>
            </a:pPr>
            <a:r>
              <a:rPr sz="3200" dirty="0">
                <a:latin typeface="Times New Roman" panose="02020803070505020304"/>
                <a:cs typeface="Times New Roman" panose="02020803070505020304"/>
              </a:rPr>
              <a:t>Use</a:t>
            </a:r>
            <a:r>
              <a:rPr sz="3200" spc="-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3200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spc="-10" dirty="0">
                <a:latin typeface="Times New Roman" panose="02020803070505020304"/>
                <a:cs typeface="Times New Roman" panose="02020803070505020304"/>
              </a:rPr>
              <a:t>resource</a:t>
            </a:r>
            <a:endParaRPr sz="3200">
              <a:latin typeface="Times New Roman" panose="02020803070505020304"/>
              <a:cs typeface="Times New Roman" panose="02020803070505020304"/>
            </a:endParaRPr>
          </a:p>
          <a:p>
            <a:pPr marL="927100" indent="-914400">
              <a:lnSpc>
                <a:spcPct val="100000"/>
              </a:lnSpc>
              <a:spcBef>
                <a:spcPts val="95"/>
              </a:spcBef>
              <a:buAutoNum type="arabicPlain"/>
              <a:tabLst>
                <a:tab pos="927100" algn="l"/>
              </a:tabLst>
            </a:pPr>
            <a:r>
              <a:rPr sz="3200" dirty="0">
                <a:latin typeface="Times New Roman" panose="02020803070505020304"/>
                <a:cs typeface="Times New Roman" panose="02020803070505020304"/>
              </a:rPr>
              <a:t>Release</a:t>
            </a:r>
            <a:r>
              <a:rPr sz="3200" spc="-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3200" spc="-1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spc="-10" dirty="0">
                <a:latin typeface="Times New Roman" panose="02020803070505020304"/>
                <a:cs typeface="Times New Roman" panose="02020803070505020304"/>
              </a:rPr>
              <a:t>resource</a:t>
            </a:r>
            <a:endParaRPr sz="3200">
              <a:latin typeface="Times New Roman" panose="02020803070505020304"/>
              <a:cs typeface="Times New Roman" panose="020208030705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0" y="1121663"/>
            <a:ext cx="9144000" cy="478790"/>
            <a:chOff x="0" y="1121663"/>
            <a:chExt cx="9144000" cy="4787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1663"/>
              <a:ext cx="9144000" cy="944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95" y="1133855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1200911"/>
              <a:ext cx="9144000" cy="399415"/>
            </a:xfrm>
            <a:custGeom>
              <a:avLst/>
              <a:gdLst/>
              <a:ahLst/>
              <a:cxnLst/>
              <a:rect l="l" t="t" r="r" b="b"/>
              <a:pathLst>
                <a:path w="9144000" h="399415">
                  <a:moveTo>
                    <a:pt x="9144000" y="0"/>
                  </a:moveTo>
                  <a:lnTo>
                    <a:pt x="0" y="0"/>
                  </a:lnTo>
                  <a:lnTo>
                    <a:pt x="0" y="399288"/>
                  </a:lnTo>
                  <a:lnTo>
                    <a:pt x="9144000" y="39928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072510" y="1219962"/>
            <a:ext cx="301053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0" spc="-160" dirty="0">
                <a:latin typeface="Georgia" panose="02040502050405020303"/>
                <a:cs typeface="Georgia" panose="02040502050405020303"/>
              </a:rPr>
              <a:t>Deadlock-</a:t>
            </a:r>
            <a:r>
              <a:rPr sz="2000" b="0" spc="-165" dirty="0">
                <a:latin typeface="Georgia" panose="02040502050405020303"/>
                <a:cs typeface="Georgia" panose="02040502050405020303"/>
              </a:rPr>
              <a:t>Resource</a:t>
            </a:r>
            <a:r>
              <a:rPr sz="2000" b="0" spc="105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b="0" spc="-150" dirty="0">
                <a:latin typeface="Georgia" panose="02040502050405020303"/>
                <a:cs typeface="Georgia" panose="02040502050405020303"/>
              </a:rPr>
              <a:t>Acquisition</a:t>
            </a:r>
            <a:endParaRPr sz="200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53121" y="1621345"/>
            <a:ext cx="2027555" cy="1167765"/>
            <a:chOff x="1353121" y="1621345"/>
            <a:chExt cx="2027555" cy="1167765"/>
          </a:xfrm>
        </p:grpSpPr>
        <p:sp>
          <p:nvSpPr>
            <p:cNvPr id="12" name="object 12"/>
            <p:cNvSpPr/>
            <p:nvPr/>
          </p:nvSpPr>
          <p:spPr>
            <a:xfrm>
              <a:off x="1365503" y="1633728"/>
              <a:ext cx="2002789" cy="1143000"/>
            </a:xfrm>
            <a:custGeom>
              <a:avLst/>
              <a:gdLst/>
              <a:ahLst/>
              <a:cxnLst/>
              <a:rect l="l" t="t" r="r" b="b"/>
              <a:pathLst>
                <a:path w="2002789" h="1143000">
                  <a:moveTo>
                    <a:pt x="1001268" y="0"/>
                  </a:moveTo>
                  <a:lnTo>
                    <a:pt x="940308" y="1016"/>
                  </a:lnTo>
                  <a:lnTo>
                    <a:pt x="880237" y="4191"/>
                  </a:lnTo>
                  <a:lnTo>
                    <a:pt x="821309" y="9144"/>
                  </a:lnTo>
                  <a:lnTo>
                    <a:pt x="763523" y="16256"/>
                  </a:lnTo>
                  <a:lnTo>
                    <a:pt x="707009" y="25019"/>
                  </a:lnTo>
                  <a:lnTo>
                    <a:pt x="651891" y="35687"/>
                  </a:lnTo>
                  <a:lnTo>
                    <a:pt x="598170" y="48133"/>
                  </a:lnTo>
                  <a:lnTo>
                    <a:pt x="546227" y="62230"/>
                  </a:lnTo>
                  <a:lnTo>
                    <a:pt x="495808" y="77977"/>
                  </a:lnTo>
                  <a:lnTo>
                    <a:pt x="447294" y="95250"/>
                  </a:lnTo>
                  <a:lnTo>
                    <a:pt x="400684" y="114173"/>
                  </a:lnTo>
                  <a:lnTo>
                    <a:pt x="356108" y="134366"/>
                  </a:lnTo>
                  <a:lnTo>
                    <a:pt x="313690" y="156083"/>
                  </a:lnTo>
                  <a:lnTo>
                    <a:pt x="273431" y="178943"/>
                  </a:lnTo>
                  <a:lnTo>
                    <a:pt x="235458" y="203200"/>
                  </a:lnTo>
                  <a:lnTo>
                    <a:pt x="199898" y="228726"/>
                  </a:lnTo>
                  <a:lnTo>
                    <a:pt x="167005" y="255270"/>
                  </a:lnTo>
                  <a:lnTo>
                    <a:pt x="136652" y="282956"/>
                  </a:lnTo>
                  <a:lnTo>
                    <a:pt x="109093" y="311785"/>
                  </a:lnTo>
                  <a:lnTo>
                    <a:pt x="84455" y="341375"/>
                  </a:lnTo>
                  <a:lnTo>
                    <a:pt x="43942" y="403479"/>
                  </a:lnTo>
                  <a:lnTo>
                    <a:pt x="16129" y="468757"/>
                  </a:lnTo>
                  <a:lnTo>
                    <a:pt x="1778" y="536701"/>
                  </a:lnTo>
                  <a:lnTo>
                    <a:pt x="0" y="571500"/>
                  </a:lnTo>
                  <a:lnTo>
                    <a:pt x="1778" y="606298"/>
                  </a:lnTo>
                  <a:lnTo>
                    <a:pt x="16129" y="674243"/>
                  </a:lnTo>
                  <a:lnTo>
                    <a:pt x="43942" y="739394"/>
                  </a:lnTo>
                  <a:lnTo>
                    <a:pt x="84455" y="801497"/>
                  </a:lnTo>
                  <a:lnTo>
                    <a:pt x="109093" y="831214"/>
                  </a:lnTo>
                  <a:lnTo>
                    <a:pt x="136652" y="859917"/>
                  </a:lnTo>
                  <a:lnTo>
                    <a:pt x="167005" y="887602"/>
                  </a:lnTo>
                  <a:lnTo>
                    <a:pt x="199898" y="914273"/>
                  </a:lnTo>
                  <a:lnTo>
                    <a:pt x="235458" y="939673"/>
                  </a:lnTo>
                  <a:lnTo>
                    <a:pt x="273431" y="963930"/>
                  </a:lnTo>
                  <a:lnTo>
                    <a:pt x="313690" y="986917"/>
                  </a:lnTo>
                  <a:lnTo>
                    <a:pt x="356108" y="1008634"/>
                  </a:lnTo>
                  <a:lnTo>
                    <a:pt x="400684" y="1028826"/>
                  </a:lnTo>
                  <a:lnTo>
                    <a:pt x="447294" y="1047623"/>
                  </a:lnTo>
                  <a:lnTo>
                    <a:pt x="495808" y="1065022"/>
                  </a:lnTo>
                  <a:lnTo>
                    <a:pt x="546227" y="1080643"/>
                  </a:lnTo>
                  <a:lnTo>
                    <a:pt x="598170" y="1094867"/>
                  </a:lnTo>
                  <a:lnTo>
                    <a:pt x="651891" y="1107186"/>
                  </a:lnTo>
                  <a:lnTo>
                    <a:pt x="707009" y="1117981"/>
                  </a:lnTo>
                  <a:lnTo>
                    <a:pt x="763523" y="1126744"/>
                  </a:lnTo>
                  <a:lnTo>
                    <a:pt x="821309" y="1133729"/>
                  </a:lnTo>
                  <a:lnTo>
                    <a:pt x="880237" y="1138809"/>
                  </a:lnTo>
                  <a:lnTo>
                    <a:pt x="940308" y="1141984"/>
                  </a:lnTo>
                  <a:lnTo>
                    <a:pt x="1001268" y="1143000"/>
                  </a:lnTo>
                  <a:lnTo>
                    <a:pt x="1062228" y="1141984"/>
                  </a:lnTo>
                  <a:lnTo>
                    <a:pt x="1122298" y="1138809"/>
                  </a:lnTo>
                  <a:lnTo>
                    <a:pt x="1181227" y="1133729"/>
                  </a:lnTo>
                  <a:lnTo>
                    <a:pt x="1239012" y="1126744"/>
                  </a:lnTo>
                  <a:lnTo>
                    <a:pt x="1295527" y="1117981"/>
                  </a:lnTo>
                  <a:lnTo>
                    <a:pt x="1350645" y="1107186"/>
                  </a:lnTo>
                  <a:lnTo>
                    <a:pt x="1404239" y="1094867"/>
                  </a:lnTo>
                  <a:lnTo>
                    <a:pt x="1456309" y="1080643"/>
                  </a:lnTo>
                  <a:lnTo>
                    <a:pt x="1506601" y="1065022"/>
                  </a:lnTo>
                  <a:lnTo>
                    <a:pt x="1555115" y="1047623"/>
                  </a:lnTo>
                  <a:lnTo>
                    <a:pt x="1601723" y="1028826"/>
                  </a:lnTo>
                  <a:lnTo>
                    <a:pt x="1646301" y="1008634"/>
                  </a:lnTo>
                  <a:lnTo>
                    <a:pt x="1688846" y="986917"/>
                  </a:lnTo>
                  <a:lnTo>
                    <a:pt x="1729104" y="963930"/>
                  </a:lnTo>
                  <a:lnTo>
                    <a:pt x="1767077" y="939673"/>
                  </a:lnTo>
                  <a:lnTo>
                    <a:pt x="1802511" y="914273"/>
                  </a:lnTo>
                  <a:lnTo>
                    <a:pt x="1835531" y="887602"/>
                  </a:lnTo>
                  <a:lnTo>
                    <a:pt x="1865884" y="859917"/>
                  </a:lnTo>
                  <a:lnTo>
                    <a:pt x="1893443" y="831214"/>
                  </a:lnTo>
                  <a:lnTo>
                    <a:pt x="1918081" y="801497"/>
                  </a:lnTo>
                  <a:lnTo>
                    <a:pt x="1958594" y="739394"/>
                  </a:lnTo>
                  <a:lnTo>
                    <a:pt x="1986407" y="674243"/>
                  </a:lnTo>
                  <a:lnTo>
                    <a:pt x="2000758" y="606298"/>
                  </a:lnTo>
                  <a:lnTo>
                    <a:pt x="2002536" y="571500"/>
                  </a:lnTo>
                  <a:lnTo>
                    <a:pt x="2000758" y="536701"/>
                  </a:lnTo>
                  <a:lnTo>
                    <a:pt x="1986407" y="468757"/>
                  </a:lnTo>
                  <a:lnTo>
                    <a:pt x="1958594" y="403479"/>
                  </a:lnTo>
                  <a:lnTo>
                    <a:pt x="1918081" y="341375"/>
                  </a:lnTo>
                  <a:lnTo>
                    <a:pt x="1893443" y="311785"/>
                  </a:lnTo>
                  <a:lnTo>
                    <a:pt x="1865884" y="282956"/>
                  </a:lnTo>
                  <a:lnTo>
                    <a:pt x="1835531" y="255270"/>
                  </a:lnTo>
                  <a:lnTo>
                    <a:pt x="1802511" y="228726"/>
                  </a:lnTo>
                  <a:lnTo>
                    <a:pt x="1767077" y="203200"/>
                  </a:lnTo>
                  <a:lnTo>
                    <a:pt x="1729104" y="178943"/>
                  </a:lnTo>
                  <a:lnTo>
                    <a:pt x="1688846" y="156083"/>
                  </a:lnTo>
                  <a:lnTo>
                    <a:pt x="1646301" y="134366"/>
                  </a:lnTo>
                  <a:lnTo>
                    <a:pt x="1601723" y="114173"/>
                  </a:lnTo>
                  <a:lnTo>
                    <a:pt x="1555115" y="95250"/>
                  </a:lnTo>
                  <a:lnTo>
                    <a:pt x="1506601" y="77977"/>
                  </a:lnTo>
                  <a:lnTo>
                    <a:pt x="1456309" y="62230"/>
                  </a:lnTo>
                  <a:lnTo>
                    <a:pt x="1404239" y="48133"/>
                  </a:lnTo>
                  <a:lnTo>
                    <a:pt x="1350645" y="35687"/>
                  </a:lnTo>
                  <a:lnTo>
                    <a:pt x="1295527" y="25019"/>
                  </a:lnTo>
                  <a:lnTo>
                    <a:pt x="1239012" y="16256"/>
                  </a:lnTo>
                  <a:lnTo>
                    <a:pt x="1181227" y="9144"/>
                  </a:lnTo>
                  <a:lnTo>
                    <a:pt x="1122298" y="4191"/>
                  </a:lnTo>
                  <a:lnTo>
                    <a:pt x="1062228" y="1016"/>
                  </a:lnTo>
                  <a:lnTo>
                    <a:pt x="10012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365503" y="1633728"/>
              <a:ext cx="2002789" cy="1143000"/>
            </a:xfrm>
            <a:custGeom>
              <a:avLst/>
              <a:gdLst/>
              <a:ahLst/>
              <a:cxnLst/>
              <a:rect l="l" t="t" r="r" b="b"/>
              <a:pathLst>
                <a:path w="2002789" h="1143000">
                  <a:moveTo>
                    <a:pt x="0" y="571500"/>
                  </a:moveTo>
                  <a:lnTo>
                    <a:pt x="7239" y="502412"/>
                  </a:lnTo>
                  <a:lnTo>
                    <a:pt x="28448" y="435737"/>
                  </a:lnTo>
                  <a:lnTo>
                    <a:pt x="62611" y="372110"/>
                  </a:lnTo>
                  <a:lnTo>
                    <a:pt x="109093" y="311785"/>
                  </a:lnTo>
                  <a:lnTo>
                    <a:pt x="136652" y="282956"/>
                  </a:lnTo>
                  <a:lnTo>
                    <a:pt x="167005" y="255270"/>
                  </a:lnTo>
                  <a:lnTo>
                    <a:pt x="199898" y="228726"/>
                  </a:lnTo>
                  <a:lnTo>
                    <a:pt x="235458" y="203200"/>
                  </a:lnTo>
                  <a:lnTo>
                    <a:pt x="273431" y="178943"/>
                  </a:lnTo>
                  <a:lnTo>
                    <a:pt x="313690" y="156083"/>
                  </a:lnTo>
                  <a:lnTo>
                    <a:pt x="356108" y="134366"/>
                  </a:lnTo>
                  <a:lnTo>
                    <a:pt x="400684" y="114173"/>
                  </a:lnTo>
                  <a:lnTo>
                    <a:pt x="447294" y="95250"/>
                  </a:lnTo>
                  <a:lnTo>
                    <a:pt x="495808" y="77977"/>
                  </a:lnTo>
                  <a:lnTo>
                    <a:pt x="546227" y="62230"/>
                  </a:lnTo>
                  <a:lnTo>
                    <a:pt x="598170" y="48133"/>
                  </a:lnTo>
                  <a:lnTo>
                    <a:pt x="651891" y="35687"/>
                  </a:lnTo>
                  <a:lnTo>
                    <a:pt x="707009" y="25019"/>
                  </a:lnTo>
                  <a:lnTo>
                    <a:pt x="763523" y="16256"/>
                  </a:lnTo>
                  <a:lnTo>
                    <a:pt x="821309" y="9144"/>
                  </a:lnTo>
                  <a:lnTo>
                    <a:pt x="880237" y="4191"/>
                  </a:lnTo>
                  <a:lnTo>
                    <a:pt x="940308" y="1016"/>
                  </a:lnTo>
                  <a:lnTo>
                    <a:pt x="1001268" y="0"/>
                  </a:lnTo>
                  <a:lnTo>
                    <a:pt x="1062228" y="1016"/>
                  </a:lnTo>
                  <a:lnTo>
                    <a:pt x="1122298" y="4191"/>
                  </a:lnTo>
                  <a:lnTo>
                    <a:pt x="1181227" y="9144"/>
                  </a:lnTo>
                  <a:lnTo>
                    <a:pt x="1239012" y="16256"/>
                  </a:lnTo>
                  <a:lnTo>
                    <a:pt x="1295527" y="25019"/>
                  </a:lnTo>
                  <a:lnTo>
                    <a:pt x="1350645" y="35687"/>
                  </a:lnTo>
                  <a:lnTo>
                    <a:pt x="1404239" y="48133"/>
                  </a:lnTo>
                  <a:lnTo>
                    <a:pt x="1456309" y="62230"/>
                  </a:lnTo>
                  <a:lnTo>
                    <a:pt x="1506601" y="77977"/>
                  </a:lnTo>
                  <a:lnTo>
                    <a:pt x="1555115" y="95250"/>
                  </a:lnTo>
                  <a:lnTo>
                    <a:pt x="1601723" y="114173"/>
                  </a:lnTo>
                  <a:lnTo>
                    <a:pt x="1646301" y="134366"/>
                  </a:lnTo>
                  <a:lnTo>
                    <a:pt x="1688846" y="156083"/>
                  </a:lnTo>
                  <a:lnTo>
                    <a:pt x="1729104" y="178943"/>
                  </a:lnTo>
                  <a:lnTo>
                    <a:pt x="1767077" y="203200"/>
                  </a:lnTo>
                  <a:lnTo>
                    <a:pt x="1802511" y="228726"/>
                  </a:lnTo>
                  <a:lnTo>
                    <a:pt x="1835531" y="255270"/>
                  </a:lnTo>
                  <a:lnTo>
                    <a:pt x="1865884" y="282956"/>
                  </a:lnTo>
                  <a:lnTo>
                    <a:pt x="1893443" y="311785"/>
                  </a:lnTo>
                  <a:lnTo>
                    <a:pt x="1918081" y="341375"/>
                  </a:lnTo>
                  <a:lnTo>
                    <a:pt x="1958594" y="403479"/>
                  </a:lnTo>
                  <a:lnTo>
                    <a:pt x="1986407" y="468757"/>
                  </a:lnTo>
                  <a:lnTo>
                    <a:pt x="2000758" y="536701"/>
                  </a:lnTo>
                  <a:lnTo>
                    <a:pt x="2002536" y="571500"/>
                  </a:lnTo>
                  <a:lnTo>
                    <a:pt x="2000758" y="606298"/>
                  </a:lnTo>
                  <a:lnTo>
                    <a:pt x="1986407" y="674243"/>
                  </a:lnTo>
                  <a:lnTo>
                    <a:pt x="1958594" y="739394"/>
                  </a:lnTo>
                  <a:lnTo>
                    <a:pt x="1918081" y="801497"/>
                  </a:lnTo>
                  <a:lnTo>
                    <a:pt x="1893443" y="831214"/>
                  </a:lnTo>
                  <a:lnTo>
                    <a:pt x="1865884" y="859917"/>
                  </a:lnTo>
                  <a:lnTo>
                    <a:pt x="1835531" y="887602"/>
                  </a:lnTo>
                  <a:lnTo>
                    <a:pt x="1802511" y="914273"/>
                  </a:lnTo>
                  <a:lnTo>
                    <a:pt x="1767077" y="939673"/>
                  </a:lnTo>
                  <a:lnTo>
                    <a:pt x="1729104" y="963930"/>
                  </a:lnTo>
                  <a:lnTo>
                    <a:pt x="1688846" y="986917"/>
                  </a:lnTo>
                  <a:lnTo>
                    <a:pt x="1646301" y="1008634"/>
                  </a:lnTo>
                  <a:lnTo>
                    <a:pt x="1601723" y="1028826"/>
                  </a:lnTo>
                  <a:lnTo>
                    <a:pt x="1555115" y="1047623"/>
                  </a:lnTo>
                  <a:lnTo>
                    <a:pt x="1506601" y="1065022"/>
                  </a:lnTo>
                  <a:lnTo>
                    <a:pt x="1456309" y="1080643"/>
                  </a:lnTo>
                  <a:lnTo>
                    <a:pt x="1404239" y="1094867"/>
                  </a:lnTo>
                  <a:lnTo>
                    <a:pt x="1350645" y="1107186"/>
                  </a:lnTo>
                  <a:lnTo>
                    <a:pt x="1295527" y="1117981"/>
                  </a:lnTo>
                  <a:lnTo>
                    <a:pt x="1239012" y="1126744"/>
                  </a:lnTo>
                  <a:lnTo>
                    <a:pt x="1181227" y="1133729"/>
                  </a:lnTo>
                  <a:lnTo>
                    <a:pt x="1122298" y="1138809"/>
                  </a:lnTo>
                  <a:lnTo>
                    <a:pt x="1062228" y="1141984"/>
                  </a:lnTo>
                  <a:lnTo>
                    <a:pt x="1001268" y="1143000"/>
                  </a:lnTo>
                  <a:lnTo>
                    <a:pt x="940308" y="1141984"/>
                  </a:lnTo>
                  <a:lnTo>
                    <a:pt x="880237" y="1138809"/>
                  </a:lnTo>
                  <a:lnTo>
                    <a:pt x="821309" y="1133729"/>
                  </a:lnTo>
                  <a:lnTo>
                    <a:pt x="763523" y="1126744"/>
                  </a:lnTo>
                  <a:lnTo>
                    <a:pt x="707009" y="1117981"/>
                  </a:lnTo>
                  <a:lnTo>
                    <a:pt x="651891" y="1107186"/>
                  </a:lnTo>
                  <a:lnTo>
                    <a:pt x="598170" y="1094867"/>
                  </a:lnTo>
                  <a:lnTo>
                    <a:pt x="546227" y="1080643"/>
                  </a:lnTo>
                  <a:lnTo>
                    <a:pt x="495808" y="1065022"/>
                  </a:lnTo>
                  <a:lnTo>
                    <a:pt x="447294" y="1047623"/>
                  </a:lnTo>
                  <a:lnTo>
                    <a:pt x="400684" y="1028826"/>
                  </a:lnTo>
                  <a:lnTo>
                    <a:pt x="356108" y="1008634"/>
                  </a:lnTo>
                  <a:lnTo>
                    <a:pt x="313690" y="986917"/>
                  </a:lnTo>
                  <a:lnTo>
                    <a:pt x="273431" y="963930"/>
                  </a:lnTo>
                  <a:lnTo>
                    <a:pt x="235458" y="939673"/>
                  </a:lnTo>
                  <a:lnTo>
                    <a:pt x="199898" y="914273"/>
                  </a:lnTo>
                  <a:lnTo>
                    <a:pt x="167005" y="887602"/>
                  </a:lnTo>
                  <a:lnTo>
                    <a:pt x="136652" y="859917"/>
                  </a:lnTo>
                  <a:lnTo>
                    <a:pt x="109093" y="831214"/>
                  </a:lnTo>
                  <a:lnTo>
                    <a:pt x="84455" y="801497"/>
                  </a:lnTo>
                  <a:lnTo>
                    <a:pt x="43942" y="739394"/>
                  </a:lnTo>
                  <a:lnTo>
                    <a:pt x="16129" y="674243"/>
                  </a:lnTo>
                  <a:lnTo>
                    <a:pt x="1778" y="606298"/>
                  </a:lnTo>
                  <a:lnTo>
                    <a:pt x="0" y="57150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903222" y="2029205"/>
            <a:ext cx="85534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135689" y="1630489"/>
            <a:ext cx="2024380" cy="1167765"/>
            <a:chOff x="5135689" y="1630489"/>
            <a:chExt cx="2024380" cy="1167765"/>
          </a:xfrm>
        </p:grpSpPr>
        <p:sp>
          <p:nvSpPr>
            <p:cNvPr id="16" name="object 16"/>
            <p:cNvSpPr/>
            <p:nvPr/>
          </p:nvSpPr>
          <p:spPr>
            <a:xfrm>
              <a:off x="5148072" y="1642871"/>
              <a:ext cx="1999614" cy="1143000"/>
            </a:xfrm>
            <a:custGeom>
              <a:avLst/>
              <a:gdLst/>
              <a:ahLst/>
              <a:cxnLst/>
              <a:rect l="l" t="t" r="r" b="b"/>
              <a:pathLst>
                <a:path w="1999615" h="1143000">
                  <a:moveTo>
                    <a:pt x="999743" y="0"/>
                  </a:moveTo>
                  <a:lnTo>
                    <a:pt x="938783" y="1015"/>
                  </a:lnTo>
                  <a:lnTo>
                    <a:pt x="878839" y="4190"/>
                  </a:lnTo>
                  <a:lnTo>
                    <a:pt x="820038" y="9143"/>
                  </a:lnTo>
                  <a:lnTo>
                    <a:pt x="762253" y="16255"/>
                  </a:lnTo>
                  <a:lnTo>
                    <a:pt x="705865" y="25018"/>
                  </a:lnTo>
                  <a:lnTo>
                    <a:pt x="650875" y="35687"/>
                  </a:lnTo>
                  <a:lnTo>
                    <a:pt x="597280" y="48132"/>
                  </a:lnTo>
                  <a:lnTo>
                    <a:pt x="545338" y="62229"/>
                  </a:lnTo>
                  <a:lnTo>
                    <a:pt x="495173" y="77977"/>
                  </a:lnTo>
                  <a:lnTo>
                    <a:pt x="446658" y="95250"/>
                  </a:lnTo>
                  <a:lnTo>
                    <a:pt x="400176" y="114173"/>
                  </a:lnTo>
                  <a:lnTo>
                    <a:pt x="355600" y="134365"/>
                  </a:lnTo>
                  <a:lnTo>
                    <a:pt x="313181" y="156082"/>
                  </a:lnTo>
                  <a:lnTo>
                    <a:pt x="272923" y="178942"/>
                  </a:lnTo>
                  <a:lnTo>
                    <a:pt x="235076" y="203200"/>
                  </a:lnTo>
                  <a:lnTo>
                    <a:pt x="199643" y="228726"/>
                  </a:lnTo>
                  <a:lnTo>
                    <a:pt x="166750" y="255269"/>
                  </a:lnTo>
                  <a:lnTo>
                    <a:pt x="136525" y="282955"/>
                  </a:lnTo>
                  <a:lnTo>
                    <a:pt x="108965" y="311785"/>
                  </a:lnTo>
                  <a:lnTo>
                    <a:pt x="84200" y="341375"/>
                  </a:lnTo>
                  <a:lnTo>
                    <a:pt x="43814" y="403478"/>
                  </a:lnTo>
                  <a:lnTo>
                    <a:pt x="16128" y="468756"/>
                  </a:lnTo>
                  <a:lnTo>
                    <a:pt x="1777" y="536701"/>
                  </a:lnTo>
                  <a:lnTo>
                    <a:pt x="0" y="571500"/>
                  </a:lnTo>
                  <a:lnTo>
                    <a:pt x="1777" y="606298"/>
                  </a:lnTo>
                  <a:lnTo>
                    <a:pt x="16128" y="674242"/>
                  </a:lnTo>
                  <a:lnTo>
                    <a:pt x="43814" y="739393"/>
                  </a:lnTo>
                  <a:lnTo>
                    <a:pt x="84200" y="801497"/>
                  </a:lnTo>
                  <a:lnTo>
                    <a:pt x="108965" y="831214"/>
                  </a:lnTo>
                  <a:lnTo>
                    <a:pt x="136525" y="859916"/>
                  </a:lnTo>
                  <a:lnTo>
                    <a:pt x="166750" y="887602"/>
                  </a:lnTo>
                  <a:lnTo>
                    <a:pt x="199643" y="914273"/>
                  </a:lnTo>
                  <a:lnTo>
                    <a:pt x="235076" y="939673"/>
                  </a:lnTo>
                  <a:lnTo>
                    <a:pt x="272923" y="963929"/>
                  </a:lnTo>
                  <a:lnTo>
                    <a:pt x="313181" y="986916"/>
                  </a:lnTo>
                  <a:lnTo>
                    <a:pt x="355600" y="1008633"/>
                  </a:lnTo>
                  <a:lnTo>
                    <a:pt x="400176" y="1028826"/>
                  </a:lnTo>
                  <a:lnTo>
                    <a:pt x="446658" y="1047623"/>
                  </a:lnTo>
                  <a:lnTo>
                    <a:pt x="495173" y="1065022"/>
                  </a:lnTo>
                  <a:lnTo>
                    <a:pt x="545338" y="1080642"/>
                  </a:lnTo>
                  <a:lnTo>
                    <a:pt x="597280" y="1094866"/>
                  </a:lnTo>
                  <a:lnTo>
                    <a:pt x="650875" y="1107186"/>
                  </a:lnTo>
                  <a:lnTo>
                    <a:pt x="705865" y="1117980"/>
                  </a:lnTo>
                  <a:lnTo>
                    <a:pt x="762253" y="1126743"/>
                  </a:lnTo>
                  <a:lnTo>
                    <a:pt x="820038" y="1133728"/>
                  </a:lnTo>
                  <a:lnTo>
                    <a:pt x="878839" y="1138808"/>
                  </a:lnTo>
                  <a:lnTo>
                    <a:pt x="938783" y="1141983"/>
                  </a:lnTo>
                  <a:lnTo>
                    <a:pt x="999743" y="1143000"/>
                  </a:lnTo>
                  <a:lnTo>
                    <a:pt x="1060703" y="1141983"/>
                  </a:lnTo>
                  <a:lnTo>
                    <a:pt x="1120520" y="1138808"/>
                  </a:lnTo>
                  <a:lnTo>
                    <a:pt x="1179449" y="1133728"/>
                  </a:lnTo>
                  <a:lnTo>
                    <a:pt x="1237106" y="1126743"/>
                  </a:lnTo>
                  <a:lnTo>
                    <a:pt x="1293494" y="1117980"/>
                  </a:lnTo>
                  <a:lnTo>
                    <a:pt x="1348613" y="1107186"/>
                  </a:lnTo>
                  <a:lnTo>
                    <a:pt x="1402079" y="1094866"/>
                  </a:lnTo>
                  <a:lnTo>
                    <a:pt x="1454023" y="1080642"/>
                  </a:lnTo>
                  <a:lnTo>
                    <a:pt x="1504314" y="1065022"/>
                  </a:lnTo>
                  <a:lnTo>
                    <a:pt x="1552828" y="1047623"/>
                  </a:lnTo>
                  <a:lnTo>
                    <a:pt x="1599310" y="1028826"/>
                  </a:lnTo>
                  <a:lnTo>
                    <a:pt x="1643887" y="1008633"/>
                  </a:lnTo>
                  <a:lnTo>
                    <a:pt x="1686305" y="986916"/>
                  </a:lnTo>
                  <a:lnTo>
                    <a:pt x="1726437" y="963929"/>
                  </a:lnTo>
                  <a:lnTo>
                    <a:pt x="1764410" y="939673"/>
                  </a:lnTo>
                  <a:lnTo>
                    <a:pt x="1799844" y="914273"/>
                  </a:lnTo>
                  <a:lnTo>
                    <a:pt x="1832736" y="887602"/>
                  </a:lnTo>
                  <a:lnTo>
                    <a:pt x="1862962" y="859916"/>
                  </a:lnTo>
                  <a:lnTo>
                    <a:pt x="1890522" y="831214"/>
                  </a:lnTo>
                  <a:lnTo>
                    <a:pt x="1915159" y="801497"/>
                  </a:lnTo>
                  <a:lnTo>
                    <a:pt x="1955673" y="739393"/>
                  </a:lnTo>
                  <a:lnTo>
                    <a:pt x="1983358" y="674242"/>
                  </a:lnTo>
                  <a:lnTo>
                    <a:pt x="1997709" y="606298"/>
                  </a:lnTo>
                  <a:lnTo>
                    <a:pt x="1999487" y="571500"/>
                  </a:lnTo>
                  <a:lnTo>
                    <a:pt x="1997709" y="536701"/>
                  </a:lnTo>
                  <a:lnTo>
                    <a:pt x="1983358" y="468756"/>
                  </a:lnTo>
                  <a:lnTo>
                    <a:pt x="1955673" y="403478"/>
                  </a:lnTo>
                  <a:lnTo>
                    <a:pt x="1915159" y="341375"/>
                  </a:lnTo>
                  <a:lnTo>
                    <a:pt x="1890522" y="311785"/>
                  </a:lnTo>
                  <a:lnTo>
                    <a:pt x="1862962" y="282955"/>
                  </a:lnTo>
                  <a:lnTo>
                    <a:pt x="1832736" y="255269"/>
                  </a:lnTo>
                  <a:lnTo>
                    <a:pt x="1799844" y="228726"/>
                  </a:lnTo>
                  <a:lnTo>
                    <a:pt x="1764410" y="203200"/>
                  </a:lnTo>
                  <a:lnTo>
                    <a:pt x="1726437" y="178942"/>
                  </a:lnTo>
                  <a:lnTo>
                    <a:pt x="1686305" y="156082"/>
                  </a:lnTo>
                  <a:lnTo>
                    <a:pt x="1643887" y="134365"/>
                  </a:lnTo>
                  <a:lnTo>
                    <a:pt x="1599310" y="114173"/>
                  </a:lnTo>
                  <a:lnTo>
                    <a:pt x="1552828" y="95250"/>
                  </a:lnTo>
                  <a:lnTo>
                    <a:pt x="1504314" y="77977"/>
                  </a:lnTo>
                  <a:lnTo>
                    <a:pt x="1454023" y="62229"/>
                  </a:lnTo>
                  <a:lnTo>
                    <a:pt x="1402079" y="48132"/>
                  </a:lnTo>
                  <a:lnTo>
                    <a:pt x="1348613" y="35687"/>
                  </a:lnTo>
                  <a:lnTo>
                    <a:pt x="1293494" y="25018"/>
                  </a:lnTo>
                  <a:lnTo>
                    <a:pt x="1237106" y="16255"/>
                  </a:lnTo>
                  <a:lnTo>
                    <a:pt x="1179449" y="9143"/>
                  </a:lnTo>
                  <a:lnTo>
                    <a:pt x="1120520" y="4190"/>
                  </a:lnTo>
                  <a:lnTo>
                    <a:pt x="1060703" y="1015"/>
                  </a:lnTo>
                  <a:lnTo>
                    <a:pt x="9997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148072" y="1642871"/>
              <a:ext cx="1999614" cy="1143000"/>
            </a:xfrm>
            <a:custGeom>
              <a:avLst/>
              <a:gdLst/>
              <a:ahLst/>
              <a:cxnLst/>
              <a:rect l="l" t="t" r="r" b="b"/>
              <a:pathLst>
                <a:path w="1999615" h="1143000">
                  <a:moveTo>
                    <a:pt x="0" y="571500"/>
                  </a:moveTo>
                  <a:lnTo>
                    <a:pt x="7238" y="502412"/>
                  </a:lnTo>
                  <a:lnTo>
                    <a:pt x="28320" y="435737"/>
                  </a:lnTo>
                  <a:lnTo>
                    <a:pt x="62483" y="372110"/>
                  </a:lnTo>
                  <a:lnTo>
                    <a:pt x="108965" y="311785"/>
                  </a:lnTo>
                  <a:lnTo>
                    <a:pt x="136525" y="282955"/>
                  </a:lnTo>
                  <a:lnTo>
                    <a:pt x="166750" y="255269"/>
                  </a:lnTo>
                  <a:lnTo>
                    <a:pt x="199643" y="228726"/>
                  </a:lnTo>
                  <a:lnTo>
                    <a:pt x="235076" y="203200"/>
                  </a:lnTo>
                  <a:lnTo>
                    <a:pt x="272923" y="178942"/>
                  </a:lnTo>
                  <a:lnTo>
                    <a:pt x="313181" y="156082"/>
                  </a:lnTo>
                  <a:lnTo>
                    <a:pt x="355600" y="134365"/>
                  </a:lnTo>
                  <a:lnTo>
                    <a:pt x="400176" y="114173"/>
                  </a:lnTo>
                  <a:lnTo>
                    <a:pt x="446658" y="95250"/>
                  </a:lnTo>
                  <a:lnTo>
                    <a:pt x="495173" y="77977"/>
                  </a:lnTo>
                  <a:lnTo>
                    <a:pt x="545338" y="62229"/>
                  </a:lnTo>
                  <a:lnTo>
                    <a:pt x="597280" y="48132"/>
                  </a:lnTo>
                  <a:lnTo>
                    <a:pt x="650875" y="35687"/>
                  </a:lnTo>
                  <a:lnTo>
                    <a:pt x="705865" y="25018"/>
                  </a:lnTo>
                  <a:lnTo>
                    <a:pt x="762253" y="16255"/>
                  </a:lnTo>
                  <a:lnTo>
                    <a:pt x="820038" y="9143"/>
                  </a:lnTo>
                  <a:lnTo>
                    <a:pt x="878839" y="4190"/>
                  </a:lnTo>
                  <a:lnTo>
                    <a:pt x="938783" y="1015"/>
                  </a:lnTo>
                  <a:lnTo>
                    <a:pt x="999743" y="0"/>
                  </a:lnTo>
                  <a:lnTo>
                    <a:pt x="1060703" y="1015"/>
                  </a:lnTo>
                  <a:lnTo>
                    <a:pt x="1120520" y="4190"/>
                  </a:lnTo>
                  <a:lnTo>
                    <a:pt x="1179449" y="9143"/>
                  </a:lnTo>
                  <a:lnTo>
                    <a:pt x="1237106" y="16255"/>
                  </a:lnTo>
                  <a:lnTo>
                    <a:pt x="1293494" y="25018"/>
                  </a:lnTo>
                  <a:lnTo>
                    <a:pt x="1348613" y="35687"/>
                  </a:lnTo>
                  <a:lnTo>
                    <a:pt x="1402079" y="48132"/>
                  </a:lnTo>
                  <a:lnTo>
                    <a:pt x="1454023" y="62229"/>
                  </a:lnTo>
                  <a:lnTo>
                    <a:pt x="1504314" y="77977"/>
                  </a:lnTo>
                  <a:lnTo>
                    <a:pt x="1552828" y="95250"/>
                  </a:lnTo>
                  <a:lnTo>
                    <a:pt x="1599310" y="114173"/>
                  </a:lnTo>
                  <a:lnTo>
                    <a:pt x="1643887" y="134365"/>
                  </a:lnTo>
                  <a:lnTo>
                    <a:pt x="1686305" y="156082"/>
                  </a:lnTo>
                  <a:lnTo>
                    <a:pt x="1726437" y="178942"/>
                  </a:lnTo>
                  <a:lnTo>
                    <a:pt x="1764410" y="203200"/>
                  </a:lnTo>
                  <a:lnTo>
                    <a:pt x="1799844" y="228726"/>
                  </a:lnTo>
                  <a:lnTo>
                    <a:pt x="1832736" y="255269"/>
                  </a:lnTo>
                  <a:lnTo>
                    <a:pt x="1862962" y="282955"/>
                  </a:lnTo>
                  <a:lnTo>
                    <a:pt x="1890522" y="311785"/>
                  </a:lnTo>
                  <a:lnTo>
                    <a:pt x="1915159" y="341375"/>
                  </a:lnTo>
                  <a:lnTo>
                    <a:pt x="1955673" y="403478"/>
                  </a:lnTo>
                  <a:lnTo>
                    <a:pt x="1983358" y="468756"/>
                  </a:lnTo>
                  <a:lnTo>
                    <a:pt x="1997709" y="536701"/>
                  </a:lnTo>
                  <a:lnTo>
                    <a:pt x="1999487" y="571500"/>
                  </a:lnTo>
                  <a:lnTo>
                    <a:pt x="1997709" y="606298"/>
                  </a:lnTo>
                  <a:lnTo>
                    <a:pt x="1983358" y="674242"/>
                  </a:lnTo>
                  <a:lnTo>
                    <a:pt x="1955673" y="739393"/>
                  </a:lnTo>
                  <a:lnTo>
                    <a:pt x="1915159" y="801497"/>
                  </a:lnTo>
                  <a:lnTo>
                    <a:pt x="1890522" y="831214"/>
                  </a:lnTo>
                  <a:lnTo>
                    <a:pt x="1862962" y="859916"/>
                  </a:lnTo>
                  <a:lnTo>
                    <a:pt x="1832736" y="887602"/>
                  </a:lnTo>
                  <a:lnTo>
                    <a:pt x="1799844" y="914273"/>
                  </a:lnTo>
                  <a:lnTo>
                    <a:pt x="1764410" y="939673"/>
                  </a:lnTo>
                  <a:lnTo>
                    <a:pt x="1726437" y="963929"/>
                  </a:lnTo>
                  <a:lnTo>
                    <a:pt x="1686305" y="986916"/>
                  </a:lnTo>
                  <a:lnTo>
                    <a:pt x="1643887" y="1008633"/>
                  </a:lnTo>
                  <a:lnTo>
                    <a:pt x="1599310" y="1028826"/>
                  </a:lnTo>
                  <a:lnTo>
                    <a:pt x="1552828" y="1047623"/>
                  </a:lnTo>
                  <a:lnTo>
                    <a:pt x="1504314" y="1065022"/>
                  </a:lnTo>
                  <a:lnTo>
                    <a:pt x="1454023" y="1080642"/>
                  </a:lnTo>
                  <a:lnTo>
                    <a:pt x="1402079" y="1094866"/>
                  </a:lnTo>
                  <a:lnTo>
                    <a:pt x="1348613" y="1107186"/>
                  </a:lnTo>
                  <a:lnTo>
                    <a:pt x="1293494" y="1117980"/>
                  </a:lnTo>
                  <a:lnTo>
                    <a:pt x="1237106" y="1126743"/>
                  </a:lnTo>
                  <a:lnTo>
                    <a:pt x="1179449" y="1133728"/>
                  </a:lnTo>
                  <a:lnTo>
                    <a:pt x="1120520" y="1138808"/>
                  </a:lnTo>
                  <a:lnTo>
                    <a:pt x="1060703" y="1141983"/>
                  </a:lnTo>
                  <a:lnTo>
                    <a:pt x="999743" y="1143000"/>
                  </a:lnTo>
                  <a:lnTo>
                    <a:pt x="938783" y="1141983"/>
                  </a:lnTo>
                  <a:lnTo>
                    <a:pt x="878839" y="1138808"/>
                  </a:lnTo>
                  <a:lnTo>
                    <a:pt x="820038" y="1133728"/>
                  </a:lnTo>
                  <a:lnTo>
                    <a:pt x="762253" y="1126743"/>
                  </a:lnTo>
                  <a:lnTo>
                    <a:pt x="705865" y="1117980"/>
                  </a:lnTo>
                  <a:lnTo>
                    <a:pt x="650875" y="1107186"/>
                  </a:lnTo>
                  <a:lnTo>
                    <a:pt x="597280" y="1094866"/>
                  </a:lnTo>
                  <a:lnTo>
                    <a:pt x="545338" y="1080642"/>
                  </a:lnTo>
                  <a:lnTo>
                    <a:pt x="495173" y="1065022"/>
                  </a:lnTo>
                  <a:lnTo>
                    <a:pt x="446658" y="1047623"/>
                  </a:lnTo>
                  <a:lnTo>
                    <a:pt x="400176" y="1028826"/>
                  </a:lnTo>
                  <a:lnTo>
                    <a:pt x="355600" y="1008633"/>
                  </a:lnTo>
                  <a:lnTo>
                    <a:pt x="313181" y="986916"/>
                  </a:lnTo>
                  <a:lnTo>
                    <a:pt x="272923" y="963929"/>
                  </a:lnTo>
                  <a:lnTo>
                    <a:pt x="235076" y="939673"/>
                  </a:lnTo>
                  <a:lnTo>
                    <a:pt x="199643" y="914273"/>
                  </a:lnTo>
                  <a:lnTo>
                    <a:pt x="166750" y="887602"/>
                  </a:lnTo>
                  <a:lnTo>
                    <a:pt x="136525" y="859916"/>
                  </a:lnTo>
                  <a:lnTo>
                    <a:pt x="108965" y="831214"/>
                  </a:lnTo>
                  <a:lnTo>
                    <a:pt x="84200" y="801497"/>
                  </a:lnTo>
                  <a:lnTo>
                    <a:pt x="43814" y="739393"/>
                  </a:lnTo>
                  <a:lnTo>
                    <a:pt x="16128" y="674242"/>
                  </a:lnTo>
                  <a:lnTo>
                    <a:pt x="1777" y="606298"/>
                  </a:lnTo>
                  <a:lnTo>
                    <a:pt x="0" y="57150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694426" y="2038350"/>
            <a:ext cx="8566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362455" y="2734055"/>
            <a:ext cx="5562600" cy="3313429"/>
            <a:chOff x="1362455" y="2734055"/>
            <a:chExt cx="5562600" cy="3313429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2455" y="4139183"/>
              <a:ext cx="2243327" cy="190804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5023" y="4437888"/>
              <a:ext cx="1780031" cy="12039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24455" y="2734055"/>
              <a:ext cx="451104" cy="164287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67711" y="3958463"/>
              <a:ext cx="170433" cy="17106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333878" y="2770631"/>
              <a:ext cx="40005" cy="1283335"/>
            </a:xfrm>
            <a:custGeom>
              <a:avLst/>
              <a:gdLst/>
              <a:ahLst/>
              <a:cxnLst/>
              <a:rect l="l" t="t" r="r" b="b"/>
              <a:pathLst>
                <a:path w="40005" h="1283335">
                  <a:moveTo>
                    <a:pt x="39496" y="0"/>
                  </a:moveTo>
                  <a:lnTo>
                    <a:pt x="1523" y="0"/>
                  </a:lnTo>
                  <a:lnTo>
                    <a:pt x="0" y="1250695"/>
                  </a:lnTo>
                  <a:lnTo>
                    <a:pt x="18922" y="1283334"/>
                  </a:lnTo>
                  <a:lnTo>
                    <a:pt x="37845" y="1250695"/>
                  </a:lnTo>
                  <a:lnTo>
                    <a:pt x="39496" y="0"/>
                  </a:lnTo>
                  <a:close/>
                </a:path>
              </a:pathLst>
            </a:custGeom>
            <a:solidFill>
              <a:srgbClr val="6E2E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080008" y="3134995"/>
            <a:ext cx="1204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R1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Granted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68295" y="3290392"/>
            <a:ext cx="12039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R2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Granted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218688" y="2429255"/>
            <a:ext cx="2996565" cy="2243455"/>
            <a:chOff x="3218688" y="2429255"/>
            <a:chExt cx="2996565" cy="2243455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18688" y="2429255"/>
              <a:ext cx="2282952" cy="215798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3622" y="4253991"/>
              <a:ext cx="172465" cy="17119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276600" y="2465831"/>
              <a:ext cx="1962785" cy="1890395"/>
            </a:xfrm>
            <a:custGeom>
              <a:avLst/>
              <a:gdLst/>
              <a:ahLst/>
              <a:cxnLst/>
              <a:rect l="l" t="t" r="r" b="b"/>
              <a:pathLst>
                <a:path w="1962785" h="1890395">
                  <a:moveTo>
                    <a:pt x="1962658" y="1857375"/>
                  </a:moveTo>
                  <a:lnTo>
                    <a:pt x="1908175" y="1853184"/>
                  </a:lnTo>
                  <a:lnTo>
                    <a:pt x="1862582" y="1846834"/>
                  </a:lnTo>
                  <a:lnTo>
                    <a:pt x="1794891" y="1832737"/>
                  </a:lnTo>
                  <a:lnTo>
                    <a:pt x="1750187" y="1820545"/>
                  </a:lnTo>
                  <a:lnTo>
                    <a:pt x="1683893" y="1798193"/>
                  </a:lnTo>
                  <a:lnTo>
                    <a:pt x="1640459" y="1780540"/>
                  </a:lnTo>
                  <a:lnTo>
                    <a:pt x="1597660" y="1760855"/>
                  </a:lnTo>
                  <a:lnTo>
                    <a:pt x="1555623" y="1739265"/>
                  </a:lnTo>
                  <a:lnTo>
                    <a:pt x="1514475" y="1715770"/>
                  </a:lnTo>
                  <a:lnTo>
                    <a:pt x="1474597" y="1690497"/>
                  </a:lnTo>
                  <a:lnTo>
                    <a:pt x="1435481" y="1663573"/>
                  </a:lnTo>
                  <a:lnTo>
                    <a:pt x="1397508" y="1635125"/>
                  </a:lnTo>
                  <a:lnTo>
                    <a:pt x="1360932" y="1605153"/>
                  </a:lnTo>
                  <a:lnTo>
                    <a:pt x="1325626" y="1573784"/>
                  </a:lnTo>
                  <a:lnTo>
                    <a:pt x="1291844" y="1540891"/>
                  </a:lnTo>
                  <a:lnTo>
                    <a:pt x="1259459" y="1506855"/>
                  </a:lnTo>
                  <a:lnTo>
                    <a:pt x="1228725" y="1471676"/>
                  </a:lnTo>
                  <a:lnTo>
                    <a:pt x="1199896" y="1435481"/>
                  </a:lnTo>
                  <a:lnTo>
                    <a:pt x="1172718" y="1398270"/>
                  </a:lnTo>
                  <a:lnTo>
                    <a:pt x="1147572" y="1360043"/>
                  </a:lnTo>
                  <a:lnTo>
                    <a:pt x="1124331" y="1321308"/>
                  </a:lnTo>
                  <a:lnTo>
                    <a:pt x="1103122" y="1281430"/>
                  </a:lnTo>
                  <a:lnTo>
                    <a:pt x="1084072" y="1241171"/>
                  </a:lnTo>
                  <a:lnTo>
                    <a:pt x="1067308" y="1200277"/>
                  </a:lnTo>
                  <a:lnTo>
                    <a:pt x="1052957" y="1159129"/>
                  </a:lnTo>
                  <a:lnTo>
                    <a:pt x="1041019" y="1117473"/>
                  </a:lnTo>
                  <a:lnTo>
                    <a:pt x="1031494" y="1075575"/>
                  </a:lnTo>
                  <a:lnTo>
                    <a:pt x="1024636" y="1033272"/>
                  </a:lnTo>
                  <a:lnTo>
                    <a:pt x="1020445" y="991108"/>
                  </a:lnTo>
                  <a:lnTo>
                    <a:pt x="1018794" y="947674"/>
                  </a:lnTo>
                  <a:lnTo>
                    <a:pt x="1018413" y="925449"/>
                  </a:lnTo>
                  <a:lnTo>
                    <a:pt x="1017270" y="902970"/>
                  </a:lnTo>
                  <a:lnTo>
                    <a:pt x="1012825" y="858266"/>
                  </a:lnTo>
                  <a:lnTo>
                    <a:pt x="1005586" y="813943"/>
                  </a:lnTo>
                  <a:lnTo>
                    <a:pt x="995680" y="769874"/>
                  </a:lnTo>
                  <a:lnTo>
                    <a:pt x="983234" y="726059"/>
                  </a:lnTo>
                  <a:lnTo>
                    <a:pt x="968121" y="682752"/>
                  </a:lnTo>
                  <a:lnTo>
                    <a:pt x="950595" y="640207"/>
                  </a:lnTo>
                  <a:lnTo>
                    <a:pt x="930656" y="598170"/>
                  </a:lnTo>
                  <a:lnTo>
                    <a:pt x="908685" y="556641"/>
                  </a:lnTo>
                  <a:lnTo>
                    <a:pt x="884555" y="516255"/>
                  </a:lnTo>
                  <a:lnTo>
                    <a:pt x="858266" y="476758"/>
                  </a:lnTo>
                  <a:lnTo>
                    <a:pt x="830199" y="438150"/>
                  </a:lnTo>
                  <a:lnTo>
                    <a:pt x="800354" y="400558"/>
                  </a:lnTo>
                  <a:lnTo>
                    <a:pt x="768604" y="364236"/>
                  </a:lnTo>
                  <a:lnTo>
                    <a:pt x="735203" y="329057"/>
                  </a:lnTo>
                  <a:lnTo>
                    <a:pt x="700151" y="295275"/>
                  </a:lnTo>
                  <a:lnTo>
                    <a:pt x="663702" y="262763"/>
                  </a:lnTo>
                  <a:lnTo>
                    <a:pt x="625856" y="231648"/>
                  </a:lnTo>
                  <a:lnTo>
                    <a:pt x="586740" y="202311"/>
                  </a:lnTo>
                  <a:lnTo>
                    <a:pt x="546354" y="174371"/>
                  </a:lnTo>
                  <a:lnTo>
                    <a:pt x="504825" y="148336"/>
                  </a:lnTo>
                  <a:lnTo>
                    <a:pt x="462407" y="124079"/>
                  </a:lnTo>
                  <a:lnTo>
                    <a:pt x="418846" y="101727"/>
                  </a:lnTo>
                  <a:lnTo>
                    <a:pt x="374523" y="81280"/>
                  </a:lnTo>
                  <a:lnTo>
                    <a:pt x="329438" y="62865"/>
                  </a:lnTo>
                  <a:lnTo>
                    <a:pt x="283845" y="46736"/>
                  </a:lnTo>
                  <a:lnTo>
                    <a:pt x="237363" y="32766"/>
                  </a:lnTo>
                  <a:lnTo>
                    <a:pt x="190500" y="21209"/>
                  </a:lnTo>
                  <a:lnTo>
                    <a:pt x="143383" y="12192"/>
                  </a:lnTo>
                  <a:lnTo>
                    <a:pt x="95758" y="5461"/>
                  </a:lnTo>
                  <a:lnTo>
                    <a:pt x="47866" y="1397"/>
                  </a:lnTo>
                  <a:lnTo>
                    <a:pt x="508" y="0"/>
                  </a:lnTo>
                  <a:lnTo>
                    <a:pt x="0" y="38100"/>
                  </a:lnTo>
                  <a:lnTo>
                    <a:pt x="23355" y="38481"/>
                  </a:lnTo>
                  <a:lnTo>
                    <a:pt x="46342" y="39370"/>
                  </a:lnTo>
                  <a:lnTo>
                    <a:pt x="92075" y="43307"/>
                  </a:lnTo>
                  <a:lnTo>
                    <a:pt x="137541" y="49784"/>
                  </a:lnTo>
                  <a:lnTo>
                    <a:pt x="182753" y="58547"/>
                  </a:lnTo>
                  <a:lnTo>
                    <a:pt x="227838" y="69723"/>
                  </a:lnTo>
                  <a:lnTo>
                    <a:pt x="272415" y="83312"/>
                  </a:lnTo>
                  <a:lnTo>
                    <a:pt x="316611" y="98933"/>
                  </a:lnTo>
                  <a:lnTo>
                    <a:pt x="360172" y="116586"/>
                  </a:lnTo>
                  <a:lnTo>
                    <a:pt x="402971" y="136271"/>
                  </a:lnTo>
                  <a:lnTo>
                    <a:pt x="445008" y="157988"/>
                  </a:lnTo>
                  <a:lnTo>
                    <a:pt x="486029" y="181483"/>
                  </a:lnTo>
                  <a:lnTo>
                    <a:pt x="526034" y="206629"/>
                  </a:lnTo>
                  <a:lnTo>
                    <a:pt x="565023" y="233680"/>
                  </a:lnTo>
                  <a:lnTo>
                    <a:pt x="602996" y="262255"/>
                  </a:lnTo>
                  <a:lnTo>
                    <a:pt x="639572" y="292227"/>
                  </a:lnTo>
                  <a:lnTo>
                    <a:pt x="674878" y="323596"/>
                  </a:lnTo>
                  <a:lnTo>
                    <a:pt x="708787" y="356489"/>
                  </a:lnTo>
                  <a:lnTo>
                    <a:pt x="740918" y="390398"/>
                  </a:lnTo>
                  <a:lnTo>
                    <a:pt x="771652" y="425704"/>
                  </a:lnTo>
                  <a:lnTo>
                    <a:pt x="800608" y="461899"/>
                  </a:lnTo>
                  <a:lnTo>
                    <a:pt x="827659" y="499237"/>
                  </a:lnTo>
                  <a:lnTo>
                    <a:pt x="852805" y="537337"/>
                  </a:lnTo>
                  <a:lnTo>
                    <a:pt x="876046" y="576326"/>
                  </a:lnTo>
                  <a:lnTo>
                    <a:pt x="897128" y="615950"/>
                  </a:lnTo>
                  <a:lnTo>
                    <a:pt x="916051" y="656082"/>
                  </a:lnTo>
                  <a:lnTo>
                    <a:pt x="932688" y="696849"/>
                  </a:lnTo>
                  <a:lnTo>
                    <a:pt x="947039" y="738124"/>
                  </a:lnTo>
                  <a:lnTo>
                    <a:pt x="958977" y="779780"/>
                  </a:lnTo>
                  <a:lnTo>
                    <a:pt x="968248" y="821690"/>
                  </a:lnTo>
                  <a:lnTo>
                    <a:pt x="975106" y="863727"/>
                  </a:lnTo>
                  <a:lnTo>
                    <a:pt x="979297" y="906145"/>
                  </a:lnTo>
                  <a:lnTo>
                    <a:pt x="981329" y="970788"/>
                  </a:lnTo>
                  <a:lnTo>
                    <a:pt x="984250" y="1015365"/>
                  </a:lnTo>
                  <a:lnTo>
                    <a:pt x="990092" y="1059942"/>
                  </a:lnTo>
                  <a:lnTo>
                    <a:pt x="998728" y="1104265"/>
                  </a:lnTo>
                  <a:lnTo>
                    <a:pt x="1009904" y="1148207"/>
                  </a:lnTo>
                  <a:lnTo>
                    <a:pt x="1023747" y="1191768"/>
                  </a:lnTo>
                  <a:lnTo>
                    <a:pt x="1040003" y="1234821"/>
                  </a:lnTo>
                  <a:lnTo>
                    <a:pt x="1058672" y="1277239"/>
                  </a:lnTo>
                  <a:lnTo>
                    <a:pt x="1090676" y="1339215"/>
                  </a:lnTo>
                  <a:lnTo>
                    <a:pt x="1114933" y="1379601"/>
                  </a:lnTo>
                  <a:lnTo>
                    <a:pt x="1141095" y="1419352"/>
                  </a:lnTo>
                  <a:lnTo>
                    <a:pt x="1169035" y="1457960"/>
                  </a:lnTo>
                  <a:lnTo>
                    <a:pt x="1199007" y="1495552"/>
                  </a:lnTo>
                  <a:lnTo>
                    <a:pt x="1230757" y="1532001"/>
                  </a:lnTo>
                  <a:lnTo>
                    <a:pt x="1264158" y="1567307"/>
                  </a:lnTo>
                  <a:lnTo>
                    <a:pt x="1299083" y="1601089"/>
                  </a:lnTo>
                  <a:lnTo>
                    <a:pt x="1335532" y="1633601"/>
                  </a:lnTo>
                  <a:lnTo>
                    <a:pt x="1373378" y="1664589"/>
                  </a:lnTo>
                  <a:lnTo>
                    <a:pt x="1412621" y="1694053"/>
                  </a:lnTo>
                  <a:lnTo>
                    <a:pt x="1452880" y="1721993"/>
                  </a:lnTo>
                  <a:lnTo>
                    <a:pt x="1494409" y="1748028"/>
                  </a:lnTo>
                  <a:lnTo>
                    <a:pt x="1536700" y="1772285"/>
                  </a:lnTo>
                  <a:lnTo>
                    <a:pt x="1580261" y="1794764"/>
                  </a:lnTo>
                  <a:lnTo>
                    <a:pt x="1624584" y="1815084"/>
                  </a:lnTo>
                  <a:lnTo>
                    <a:pt x="1669669" y="1833499"/>
                  </a:lnTo>
                  <a:lnTo>
                    <a:pt x="1715389" y="1849628"/>
                  </a:lnTo>
                  <a:lnTo>
                    <a:pt x="1761871" y="1863598"/>
                  </a:lnTo>
                  <a:lnTo>
                    <a:pt x="1808734" y="1875155"/>
                  </a:lnTo>
                  <a:lnTo>
                    <a:pt x="1855851" y="1884553"/>
                  </a:lnTo>
                  <a:lnTo>
                    <a:pt x="1897253" y="1890268"/>
                  </a:lnTo>
                  <a:lnTo>
                    <a:pt x="1923923" y="1875536"/>
                  </a:lnTo>
                  <a:lnTo>
                    <a:pt x="1952498" y="1859788"/>
                  </a:lnTo>
                  <a:lnTo>
                    <a:pt x="1962531" y="1859788"/>
                  </a:lnTo>
                  <a:lnTo>
                    <a:pt x="1962658" y="1857375"/>
                  </a:lnTo>
                  <a:close/>
                </a:path>
              </a:pathLst>
            </a:custGeom>
            <a:solidFill>
              <a:srgbClr val="8062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43656" y="2743199"/>
              <a:ext cx="2871216" cy="192938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72256" y="4336288"/>
              <a:ext cx="172339" cy="17132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619373" y="2779775"/>
              <a:ext cx="2543175" cy="1662430"/>
            </a:xfrm>
            <a:custGeom>
              <a:avLst/>
              <a:gdLst/>
              <a:ahLst/>
              <a:cxnLst/>
              <a:rect l="l" t="t" r="r" b="b"/>
              <a:pathLst>
                <a:path w="2543175" h="1662429">
                  <a:moveTo>
                    <a:pt x="2543175" y="1016"/>
                  </a:moveTo>
                  <a:lnTo>
                    <a:pt x="2505075" y="0"/>
                  </a:lnTo>
                  <a:lnTo>
                    <a:pt x="2504186" y="38481"/>
                  </a:lnTo>
                  <a:lnTo>
                    <a:pt x="2496820" y="113792"/>
                  </a:lnTo>
                  <a:lnTo>
                    <a:pt x="2490597" y="151384"/>
                  </a:lnTo>
                  <a:lnTo>
                    <a:pt x="2482596" y="188722"/>
                  </a:lnTo>
                  <a:lnTo>
                    <a:pt x="2472817" y="226441"/>
                  </a:lnTo>
                  <a:lnTo>
                    <a:pt x="2461387" y="263652"/>
                  </a:lnTo>
                  <a:lnTo>
                    <a:pt x="2448433" y="300990"/>
                  </a:lnTo>
                  <a:lnTo>
                    <a:pt x="2433701" y="338201"/>
                  </a:lnTo>
                  <a:lnTo>
                    <a:pt x="2417445" y="375158"/>
                  </a:lnTo>
                  <a:lnTo>
                    <a:pt x="2399538" y="411988"/>
                  </a:lnTo>
                  <a:lnTo>
                    <a:pt x="2380107" y="448691"/>
                  </a:lnTo>
                  <a:lnTo>
                    <a:pt x="2359152" y="485267"/>
                  </a:lnTo>
                  <a:lnTo>
                    <a:pt x="2336800" y="521589"/>
                  </a:lnTo>
                  <a:lnTo>
                    <a:pt x="2287397" y="593598"/>
                  </a:lnTo>
                  <a:lnTo>
                    <a:pt x="2232660" y="664337"/>
                  </a:lnTo>
                  <a:lnTo>
                    <a:pt x="2172335" y="733933"/>
                  </a:lnTo>
                  <a:lnTo>
                    <a:pt x="2106930" y="801878"/>
                  </a:lnTo>
                  <a:lnTo>
                    <a:pt x="2036572" y="868426"/>
                  </a:lnTo>
                  <a:lnTo>
                    <a:pt x="1961388" y="933069"/>
                  </a:lnTo>
                  <a:lnTo>
                    <a:pt x="1881759" y="995934"/>
                  </a:lnTo>
                  <a:lnTo>
                    <a:pt x="1797939" y="1056767"/>
                  </a:lnTo>
                  <a:lnTo>
                    <a:pt x="1710182" y="1115187"/>
                  </a:lnTo>
                  <a:lnTo>
                    <a:pt x="1618488" y="1171575"/>
                  </a:lnTo>
                  <a:lnTo>
                    <a:pt x="1523238" y="1225169"/>
                  </a:lnTo>
                  <a:lnTo>
                    <a:pt x="1424813" y="1276223"/>
                  </a:lnTo>
                  <a:lnTo>
                    <a:pt x="1323340" y="1324356"/>
                  </a:lnTo>
                  <a:lnTo>
                    <a:pt x="1219073" y="1369568"/>
                  </a:lnTo>
                  <a:lnTo>
                    <a:pt x="1112012" y="1411605"/>
                  </a:lnTo>
                  <a:lnTo>
                    <a:pt x="1002665" y="1450340"/>
                  </a:lnTo>
                  <a:lnTo>
                    <a:pt x="891286" y="1485646"/>
                  </a:lnTo>
                  <a:lnTo>
                    <a:pt x="778002" y="1517269"/>
                  </a:lnTo>
                  <a:lnTo>
                    <a:pt x="663194" y="1545336"/>
                  </a:lnTo>
                  <a:lnTo>
                    <a:pt x="546862" y="1569339"/>
                  </a:lnTo>
                  <a:lnTo>
                    <a:pt x="429387" y="1589405"/>
                  </a:lnTo>
                  <a:lnTo>
                    <a:pt x="311023" y="1605280"/>
                  </a:lnTo>
                  <a:lnTo>
                    <a:pt x="192024" y="1616710"/>
                  </a:lnTo>
                  <a:lnTo>
                    <a:pt x="72390" y="1623695"/>
                  </a:lnTo>
                  <a:lnTo>
                    <a:pt x="60833" y="1623949"/>
                  </a:lnTo>
                  <a:lnTo>
                    <a:pt x="28448" y="1643634"/>
                  </a:lnTo>
                  <a:lnTo>
                    <a:pt x="54483" y="1627759"/>
                  </a:lnTo>
                  <a:lnTo>
                    <a:pt x="0" y="1627759"/>
                  </a:lnTo>
                  <a:lnTo>
                    <a:pt x="635" y="1660652"/>
                  </a:lnTo>
                  <a:lnTo>
                    <a:pt x="58839" y="1660652"/>
                  </a:lnTo>
                  <a:lnTo>
                    <a:pt x="61341" y="1662049"/>
                  </a:lnTo>
                  <a:lnTo>
                    <a:pt x="195580" y="1654683"/>
                  </a:lnTo>
                  <a:lnTo>
                    <a:pt x="315976" y="1642999"/>
                  </a:lnTo>
                  <a:lnTo>
                    <a:pt x="435737" y="1626997"/>
                  </a:lnTo>
                  <a:lnTo>
                    <a:pt x="554609" y="1606677"/>
                  </a:lnTo>
                  <a:lnTo>
                    <a:pt x="672211" y="1582293"/>
                  </a:lnTo>
                  <a:lnTo>
                    <a:pt x="788289" y="1554099"/>
                  </a:lnTo>
                  <a:lnTo>
                    <a:pt x="902843" y="1521968"/>
                  </a:lnTo>
                  <a:lnTo>
                    <a:pt x="1015492" y="1486281"/>
                  </a:lnTo>
                  <a:lnTo>
                    <a:pt x="1125982" y="1447038"/>
                  </a:lnTo>
                  <a:lnTo>
                    <a:pt x="1234186" y="1404620"/>
                  </a:lnTo>
                  <a:lnTo>
                    <a:pt x="1339596" y="1358773"/>
                  </a:lnTo>
                  <a:lnTo>
                    <a:pt x="1442339" y="1310132"/>
                  </a:lnTo>
                  <a:lnTo>
                    <a:pt x="1542034" y="1258443"/>
                  </a:lnTo>
                  <a:lnTo>
                    <a:pt x="1638427" y="1204087"/>
                  </a:lnTo>
                  <a:lnTo>
                    <a:pt x="1731264" y="1147064"/>
                  </a:lnTo>
                  <a:lnTo>
                    <a:pt x="1820291" y="1087628"/>
                  </a:lnTo>
                  <a:lnTo>
                    <a:pt x="1905381" y="1025906"/>
                  </a:lnTo>
                  <a:lnTo>
                    <a:pt x="1986280" y="961898"/>
                  </a:lnTo>
                  <a:lnTo>
                    <a:pt x="2062734" y="896112"/>
                  </a:lnTo>
                  <a:lnTo>
                    <a:pt x="2134362" y="828294"/>
                  </a:lnTo>
                  <a:lnTo>
                    <a:pt x="2201164" y="758952"/>
                  </a:lnTo>
                  <a:lnTo>
                    <a:pt x="2262759" y="687705"/>
                  </a:lnTo>
                  <a:lnTo>
                    <a:pt x="2318893" y="615188"/>
                  </a:lnTo>
                  <a:lnTo>
                    <a:pt x="2369185" y="541528"/>
                  </a:lnTo>
                  <a:lnTo>
                    <a:pt x="2392299" y="504317"/>
                  </a:lnTo>
                  <a:lnTo>
                    <a:pt x="2413762" y="466598"/>
                  </a:lnTo>
                  <a:lnTo>
                    <a:pt x="2433828" y="428625"/>
                  </a:lnTo>
                  <a:lnTo>
                    <a:pt x="2452370" y="390525"/>
                  </a:lnTo>
                  <a:lnTo>
                    <a:pt x="2469134" y="352171"/>
                  </a:lnTo>
                  <a:lnTo>
                    <a:pt x="2484374" y="313563"/>
                  </a:lnTo>
                  <a:lnTo>
                    <a:pt x="2497836" y="274828"/>
                  </a:lnTo>
                  <a:lnTo>
                    <a:pt x="2509647" y="235966"/>
                  </a:lnTo>
                  <a:lnTo>
                    <a:pt x="2519807" y="196723"/>
                  </a:lnTo>
                  <a:lnTo>
                    <a:pt x="2528189" y="157607"/>
                  </a:lnTo>
                  <a:lnTo>
                    <a:pt x="2534666" y="118364"/>
                  </a:lnTo>
                  <a:lnTo>
                    <a:pt x="2539365" y="78994"/>
                  </a:lnTo>
                  <a:lnTo>
                    <a:pt x="2542159" y="39497"/>
                  </a:lnTo>
                  <a:lnTo>
                    <a:pt x="2543175" y="10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910333" y="6084823"/>
            <a:ext cx="132207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Arial MT"/>
                <a:cs typeface="Arial MT"/>
              </a:rPr>
              <a:t>Resource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1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0063" y="6580844"/>
            <a:ext cx="6127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4/7/2023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920226" y="6609495"/>
            <a:ext cx="1739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200" spc="-50" dirty="0">
                <a:latin typeface="Arial MT"/>
                <a:cs typeface="Arial MT"/>
              </a:rPr>
            </a:fld>
            <a:endParaRPr sz="12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415788" y="5907125"/>
            <a:ext cx="132207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Arial MT"/>
                <a:cs typeface="Arial MT"/>
              </a:rPr>
              <a:t>Resource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2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93078" y="3059048"/>
            <a:ext cx="2094230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65760" marR="5080" indent="-353695">
              <a:lnSpc>
                <a:spcPct val="101000"/>
              </a:lnSpc>
              <a:spcBef>
                <a:spcPts val="75"/>
              </a:spcBef>
            </a:pPr>
            <a:r>
              <a:rPr sz="1800" dirty="0">
                <a:latin typeface="Arial MT"/>
                <a:cs typeface="Arial MT"/>
              </a:rPr>
              <a:t>R1, process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blocked </a:t>
            </a:r>
            <a:r>
              <a:rPr sz="1800" dirty="0">
                <a:latin typeface="Arial MT"/>
                <a:cs typeface="Arial MT"/>
              </a:rPr>
              <a:t>until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available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34910"/>
            <a:ext cx="9149715" cy="323215"/>
            <a:chOff x="0" y="6534910"/>
            <a:chExt cx="9149715" cy="32321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34910"/>
              <a:ext cx="9144000" cy="489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47103"/>
              <a:ext cx="9137650" cy="304800"/>
            </a:xfrm>
            <a:custGeom>
              <a:avLst/>
              <a:gdLst/>
              <a:ahLst/>
              <a:cxnLst/>
              <a:rect l="l" t="t" r="r" b="b"/>
              <a:pathLst>
                <a:path w="9137650" h="304800">
                  <a:moveTo>
                    <a:pt x="9137523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9137523" y="304800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48627"/>
              <a:ext cx="9137650" cy="304800"/>
            </a:xfrm>
            <a:custGeom>
              <a:avLst/>
              <a:gdLst/>
              <a:ahLst/>
              <a:cxnLst/>
              <a:rect l="l" t="t" r="r" b="b"/>
              <a:pathLst>
                <a:path w="9137650" h="304800">
                  <a:moveTo>
                    <a:pt x="0" y="304799"/>
                  </a:moveTo>
                  <a:lnTo>
                    <a:pt x="9137523" y="304799"/>
                  </a:lnTo>
                </a:path>
                <a:path w="9137650" h="304800">
                  <a:moveTo>
                    <a:pt x="9137523" y="0"/>
                  </a:moveTo>
                  <a:lnTo>
                    <a:pt x="0" y="0"/>
                  </a:lnTo>
                  <a:lnTo>
                    <a:pt x="0" y="304799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353121" y="1276921"/>
            <a:ext cx="2027555" cy="1167765"/>
            <a:chOff x="1353121" y="1276921"/>
            <a:chExt cx="2027555" cy="1167765"/>
          </a:xfrm>
        </p:grpSpPr>
        <p:sp>
          <p:nvSpPr>
            <p:cNvPr id="7" name="object 7"/>
            <p:cNvSpPr/>
            <p:nvPr/>
          </p:nvSpPr>
          <p:spPr>
            <a:xfrm>
              <a:off x="1365503" y="1289303"/>
              <a:ext cx="2002789" cy="1143000"/>
            </a:xfrm>
            <a:custGeom>
              <a:avLst/>
              <a:gdLst/>
              <a:ahLst/>
              <a:cxnLst/>
              <a:rect l="l" t="t" r="r" b="b"/>
              <a:pathLst>
                <a:path w="2002789" h="1143000">
                  <a:moveTo>
                    <a:pt x="1001268" y="0"/>
                  </a:moveTo>
                  <a:lnTo>
                    <a:pt x="940308" y="1016"/>
                  </a:lnTo>
                  <a:lnTo>
                    <a:pt x="880237" y="4191"/>
                  </a:lnTo>
                  <a:lnTo>
                    <a:pt x="821309" y="9144"/>
                  </a:lnTo>
                  <a:lnTo>
                    <a:pt x="763523" y="16256"/>
                  </a:lnTo>
                  <a:lnTo>
                    <a:pt x="707009" y="25019"/>
                  </a:lnTo>
                  <a:lnTo>
                    <a:pt x="651891" y="35687"/>
                  </a:lnTo>
                  <a:lnTo>
                    <a:pt x="598170" y="48133"/>
                  </a:lnTo>
                  <a:lnTo>
                    <a:pt x="546227" y="62230"/>
                  </a:lnTo>
                  <a:lnTo>
                    <a:pt x="495808" y="77978"/>
                  </a:lnTo>
                  <a:lnTo>
                    <a:pt x="447294" y="95250"/>
                  </a:lnTo>
                  <a:lnTo>
                    <a:pt x="400684" y="114173"/>
                  </a:lnTo>
                  <a:lnTo>
                    <a:pt x="356108" y="134366"/>
                  </a:lnTo>
                  <a:lnTo>
                    <a:pt x="313690" y="156083"/>
                  </a:lnTo>
                  <a:lnTo>
                    <a:pt x="273431" y="178943"/>
                  </a:lnTo>
                  <a:lnTo>
                    <a:pt x="235458" y="203200"/>
                  </a:lnTo>
                  <a:lnTo>
                    <a:pt x="199898" y="228726"/>
                  </a:lnTo>
                  <a:lnTo>
                    <a:pt x="167005" y="255270"/>
                  </a:lnTo>
                  <a:lnTo>
                    <a:pt x="136652" y="282956"/>
                  </a:lnTo>
                  <a:lnTo>
                    <a:pt x="109093" y="311785"/>
                  </a:lnTo>
                  <a:lnTo>
                    <a:pt x="84455" y="341375"/>
                  </a:lnTo>
                  <a:lnTo>
                    <a:pt x="43942" y="403479"/>
                  </a:lnTo>
                  <a:lnTo>
                    <a:pt x="16129" y="468757"/>
                  </a:lnTo>
                  <a:lnTo>
                    <a:pt x="1778" y="536701"/>
                  </a:lnTo>
                  <a:lnTo>
                    <a:pt x="0" y="571500"/>
                  </a:lnTo>
                  <a:lnTo>
                    <a:pt x="1778" y="606298"/>
                  </a:lnTo>
                  <a:lnTo>
                    <a:pt x="16129" y="674243"/>
                  </a:lnTo>
                  <a:lnTo>
                    <a:pt x="43942" y="739394"/>
                  </a:lnTo>
                  <a:lnTo>
                    <a:pt x="84455" y="801497"/>
                  </a:lnTo>
                  <a:lnTo>
                    <a:pt x="109093" y="831215"/>
                  </a:lnTo>
                  <a:lnTo>
                    <a:pt x="136652" y="859917"/>
                  </a:lnTo>
                  <a:lnTo>
                    <a:pt x="167005" y="887603"/>
                  </a:lnTo>
                  <a:lnTo>
                    <a:pt x="199898" y="914273"/>
                  </a:lnTo>
                  <a:lnTo>
                    <a:pt x="235458" y="939673"/>
                  </a:lnTo>
                  <a:lnTo>
                    <a:pt x="273431" y="963930"/>
                  </a:lnTo>
                  <a:lnTo>
                    <a:pt x="313690" y="986917"/>
                  </a:lnTo>
                  <a:lnTo>
                    <a:pt x="356108" y="1008634"/>
                  </a:lnTo>
                  <a:lnTo>
                    <a:pt x="400684" y="1028826"/>
                  </a:lnTo>
                  <a:lnTo>
                    <a:pt x="447294" y="1047623"/>
                  </a:lnTo>
                  <a:lnTo>
                    <a:pt x="495808" y="1065022"/>
                  </a:lnTo>
                  <a:lnTo>
                    <a:pt x="546227" y="1080643"/>
                  </a:lnTo>
                  <a:lnTo>
                    <a:pt x="598170" y="1094867"/>
                  </a:lnTo>
                  <a:lnTo>
                    <a:pt x="651891" y="1107186"/>
                  </a:lnTo>
                  <a:lnTo>
                    <a:pt x="707009" y="1117981"/>
                  </a:lnTo>
                  <a:lnTo>
                    <a:pt x="763523" y="1126744"/>
                  </a:lnTo>
                  <a:lnTo>
                    <a:pt x="821309" y="1133729"/>
                  </a:lnTo>
                  <a:lnTo>
                    <a:pt x="880237" y="1138809"/>
                  </a:lnTo>
                  <a:lnTo>
                    <a:pt x="940308" y="1141984"/>
                  </a:lnTo>
                  <a:lnTo>
                    <a:pt x="1001268" y="1143000"/>
                  </a:lnTo>
                  <a:lnTo>
                    <a:pt x="1062228" y="1141984"/>
                  </a:lnTo>
                  <a:lnTo>
                    <a:pt x="1122298" y="1138809"/>
                  </a:lnTo>
                  <a:lnTo>
                    <a:pt x="1181227" y="1133729"/>
                  </a:lnTo>
                  <a:lnTo>
                    <a:pt x="1239012" y="1126744"/>
                  </a:lnTo>
                  <a:lnTo>
                    <a:pt x="1295527" y="1117981"/>
                  </a:lnTo>
                  <a:lnTo>
                    <a:pt x="1350645" y="1107186"/>
                  </a:lnTo>
                  <a:lnTo>
                    <a:pt x="1404239" y="1094867"/>
                  </a:lnTo>
                  <a:lnTo>
                    <a:pt x="1456309" y="1080643"/>
                  </a:lnTo>
                  <a:lnTo>
                    <a:pt x="1506601" y="1065022"/>
                  </a:lnTo>
                  <a:lnTo>
                    <a:pt x="1555115" y="1047623"/>
                  </a:lnTo>
                  <a:lnTo>
                    <a:pt x="1601723" y="1028826"/>
                  </a:lnTo>
                  <a:lnTo>
                    <a:pt x="1646301" y="1008634"/>
                  </a:lnTo>
                  <a:lnTo>
                    <a:pt x="1688846" y="986917"/>
                  </a:lnTo>
                  <a:lnTo>
                    <a:pt x="1729104" y="963930"/>
                  </a:lnTo>
                  <a:lnTo>
                    <a:pt x="1767077" y="939673"/>
                  </a:lnTo>
                  <a:lnTo>
                    <a:pt x="1802511" y="914273"/>
                  </a:lnTo>
                  <a:lnTo>
                    <a:pt x="1835531" y="887603"/>
                  </a:lnTo>
                  <a:lnTo>
                    <a:pt x="1865884" y="859917"/>
                  </a:lnTo>
                  <a:lnTo>
                    <a:pt x="1893443" y="831215"/>
                  </a:lnTo>
                  <a:lnTo>
                    <a:pt x="1918081" y="801497"/>
                  </a:lnTo>
                  <a:lnTo>
                    <a:pt x="1958594" y="739394"/>
                  </a:lnTo>
                  <a:lnTo>
                    <a:pt x="1986407" y="674243"/>
                  </a:lnTo>
                  <a:lnTo>
                    <a:pt x="2000758" y="606298"/>
                  </a:lnTo>
                  <a:lnTo>
                    <a:pt x="2002536" y="571500"/>
                  </a:lnTo>
                  <a:lnTo>
                    <a:pt x="2000758" y="536701"/>
                  </a:lnTo>
                  <a:lnTo>
                    <a:pt x="1986407" y="468757"/>
                  </a:lnTo>
                  <a:lnTo>
                    <a:pt x="1958594" y="403479"/>
                  </a:lnTo>
                  <a:lnTo>
                    <a:pt x="1918081" y="341375"/>
                  </a:lnTo>
                  <a:lnTo>
                    <a:pt x="1893443" y="311785"/>
                  </a:lnTo>
                  <a:lnTo>
                    <a:pt x="1865884" y="282956"/>
                  </a:lnTo>
                  <a:lnTo>
                    <a:pt x="1835531" y="255270"/>
                  </a:lnTo>
                  <a:lnTo>
                    <a:pt x="1802511" y="228726"/>
                  </a:lnTo>
                  <a:lnTo>
                    <a:pt x="1767077" y="203200"/>
                  </a:lnTo>
                  <a:lnTo>
                    <a:pt x="1729104" y="178943"/>
                  </a:lnTo>
                  <a:lnTo>
                    <a:pt x="1688846" y="156083"/>
                  </a:lnTo>
                  <a:lnTo>
                    <a:pt x="1646301" y="134366"/>
                  </a:lnTo>
                  <a:lnTo>
                    <a:pt x="1601723" y="114173"/>
                  </a:lnTo>
                  <a:lnTo>
                    <a:pt x="1555115" y="95250"/>
                  </a:lnTo>
                  <a:lnTo>
                    <a:pt x="1506601" y="77978"/>
                  </a:lnTo>
                  <a:lnTo>
                    <a:pt x="1456309" y="62230"/>
                  </a:lnTo>
                  <a:lnTo>
                    <a:pt x="1404239" y="48133"/>
                  </a:lnTo>
                  <a:lnTo>
                    <a:pt x="1350645" y="35687"/>
                  </a:lnTo>
                  <a:lnTo>
                    <a:pt x="1295527" y="25019"/>
                  </a:lnTo>
                  <a:lnTo>
                    <a:pt x="1239012" y="16256"/>
                  </a:lnTo>
                  <a:lnTo>
                    <a:pt x="1181227" y="9144"/>
                  </a:lnTo>
                  <a:lnTo>
                    <a:pt x="1122298" y="4191"/>
                  </a:lnTo>
                  <a:lnTo>
                    <a:pt x="1062228" y="1016"/>
                  </a:lnTo>
                  <a:lnTo>
                    <a:pt x="10012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65503" y="1289303"/>
              <a:ext cx="2002789" cy="1143000"/>
            </a:xfrm>
            <a:custGeom>
              <a:avLst/>
              <a:gdLst/>
              <a:ahLst/>
              <a:cxnLst/>
              <a:rect l="l" t="t" r="r" b="b"/>
              <a:pathLst>
                <a:path w="2002789" h="1143000">
                  <a:moveTo>
                    <a:pt x="0" y="571500"/>
                  </a:moveTo>
                  <a:lnTo>
                    <a:pt x="7239" y="502412"/>
                  </a:lnTo>
                  <a:lnTo>
                    <a:pt x="28448" y="435737"/>
                  </a:lnTo>
                  <a:lnTo>
                    <a:pt x="62611" y="372110"/>
                  </a:lnTo>
                  <a:lnTo>
                    <a:pt x="109093" y="311785"/>
                  </a:lnTo>
                  <a:lnTo>
                    <a:pt x="136652" y="282956"/>
                  </a:lnTo>
                  <a:lnTo>
                    <a:pt x="167005" y="255270"/>
                  </a:lnTo>
                  <a:lnTo>
                    <a:pt x="199898" y="228726"/>
                  </a:lnTo>
                  <a:lnTo>
                    <a:pt x="235458" y="203200"/>
                  </a:lnTo>
                  <a:lnTo>
                    <a:pt x="273431" y="178943"/>
                  </a:lnTo>
                  <a:lnTo>
                    <a:pt x="313690" y="156083"/>
                  </a:lnTo>
                  <a:lnTo>
                    <a:pt x="356108" y="134366"/>
                  </a:lnTo>
                  <a:lnTo>
                    <a:pt x="400684" y="114173"/>
                  </a:lnTo>
                  <a:lnTo>
                    <a:pt x="447294" y="95250"/>
                  </a:lnTo>
                  <a:lnTo>
                    <a:pt x="495808" y="77978"/>
                  </a:lnTo>
                  <a:lnTo>
                    <a:pt x="546227" y="62230"/>
                  </a:lnTo>
                  <a:lnTo>
                    <a:pt x="598170" y="48133"/>
                  </a:lnTo>
                  <a:lnTo>
                    <a:pt x="651891" y="35687"/>
                  </a:lnTo>
                  <a:lnTo>
                    <a:pt x="707009" y="25019"/>
                  </a:lnTo>
                  <a:lnTo>
                    <a:pt x="763523" y="16256"/>
                  </a:lnTo>
                  <a:lnTo>
                    <a:pt x="821309" y="9144"/>
                  </a:lnTo>
                  <a:lnTo>
                    <a:pt x="880237" y="4191"/>
                  </a:lnTo>
                  <a:lnTo>
                    <a:pt x="940308" y="1016"/>
                  </a:lnTo>
                  <a:lnTo>
                    <a:pt x="1001268" y="0"/>
                  </a:lnTo>
                  <a:lnTo>
                    <a:pt x="1062228" y="1016"/>
                  </a:lnTo>
                  <a:lnTo>
                    <a:pt x="1122298" y="4191"/>
                  </a:lnTo>
                  <a:lnTo>
                    <a:pt x="1181227" y="9144"/>
                  </a:lnTo>
                  <a:lnTo>
                    <a:pt x="1239012" y="16256"/>
                  </a:lnTo>
                  <a:lnTo>
                    <a:pt x="1295527" y="25019"/>
                  </a:lnTo>
                  <a:lnTo>
                    <a:pt x="1350645" y="35687"/>
                  </a:lnTo>
                  <a:lnTo>
                    <a:pt x="1404239" y="48133"/>
                  </a:lnTo>
                  <a:lnTo>
                    <a:pt x="1456309" y="62230"/>
                  </a:lnTo>
                  <a:lnTo>
                    <a:pt x="1506601" y="77978"/>
                  </a:lnTo>
                  <a:lnTo>
                    <a:pt x="1555115" y="95250"/>
                  </a:lnTo>
                  <a:lnTo>
                    <a:pt x="1601723" y="114173"/>
                  </a:lnTo>
                  <a:lnTo>
                    <a:pt x="1646301" y="134366"/>
                  </a:lnTo>
                  <a:lnTo>
                    <a:pt x="1688846" y="156083"/>
                  </a:lnTo>
                  <a:lnTo>
                    <a:pt x="1729104" y="178943"/>
                  </a:lnTo>
                  <a:lnTo>
                    <a:pt x="1767077" y="203200"/>
                  </a:lnTo>
                  <a:lnTo>
                    <a:pt x="1802511" y="228726"/>
                  </a:lnTo>
                  <a:lnTo>
                    <a:pt x="1835531" y="255270"/>
                  </a:lnTo>
                  <a:lnTo>
                    <a:pt x="1865884" y="282956"/>
                  </a:lnTo>
                  <a:lnTo>
                    <a:pt x="1893443" y="311785"/>
                  </a:lnTo>
                  <a:lnTo>
                    <a:pt x="1918081" y="341375"/>
                  </a:lnTo>
                  <a:lnTo>
                    <a:pt x="1958594" y="403479"/>
                  </a:lnTo>
                  <a:lnTo>
                    <a:pt x="1986407" y="468757"/>
                  </a:lnTo>
                  <a:lnTo>
                    <a:pt x="2000758" y="536701"/>
                  </a:lnTo>
                  <a:lnTo>
                    <a:pt x="2002536" y="571500"/>
                  </a:lnTo>
                  <a:lnTo>
                    <a:pt x="2000758" y="606298"/>
                  </a:lnTo>
                  <a:lnTo>
                    <a:pt x="1986407" y="674243"/>
                  </a:lnTo>
                  <a:lnTo>
                    <a:pt x="1958594" y="739394"/>
                  </a:lnTo>
                  <a:lnTo>
                    <a:pt x="1918081" y="801497"/>
                  </a:lnTo>
                  <a:lnTo>
                    <a:pt x="1893443" y="831215"/>
                  </a:lnTo>
                  <a:lnTo>
                    <a:pt x="1865884" y="859917"/>
                  </a:lnTo>
                  <a:lnTo>
                    <a:pt x="1835531" y="887603"/>
                  </a:lnTo>
                  <a:lnTo>
                    <a:pt x="1802511" y="914273"/>
                  </a:lnTo>
                  <a:lnTo>
                    <a:pt x="1767077" y="939673"/>
                  </a:lnTo>
                  <a:lnTo>
                    <a:pt x="1729104" y="963930"/>
                  </a:lnTo>
                  <a:lnTo>
                    <a:pt x="1688846" y="986917"/>
                  </a:lnTo>
                  <a:lnTo>
                    <a:pt x="1646301" y="1008634"/>
                  </a:lnTo>
                  <a:lnTo>
                    <a:pt x="1601723" y="1028826"/>
                  </a:lnTo>
                  <a:lnTo>
                    <a:pt x="1555115" y="1047623"/>
                  </a:lnTo>
                  <a:lnTo>
                    <a:pt x="1506601" y="1065022"/>
                  </a:lnTo>
                  <a:lnTo>
                    <a:pt x="1456309" y="1080643"/>
                  </a:lnTo>
                  <a:lnTo>
                    <a:pt x="1404239" y="1094867"/>
                  </a:lnTo>
                  <a:lnTo>
                    <a:pt x="1350645" y="1107186"/>
                  </a:lnTo>
                  <a:lnTo>
                    <a:pt x="1295527" y="1117981"/>
                  </a:lnTo>
                  <a:lnTo>
                    <a:pt x="1239012" y="1126744"/>
                  </a:lnTo>
                  <a:lnTo>
                    <a:pt x="1181227" y="1133729"/>
                  </a:lnTo>
                  <a:lnTo>
                    <a:pt x="1122298" y="1138809"/>
                  </a:lnTo>
                  <a:lnTo>
                    <a:pt x="1062228" y="1141984"/>
                  </a:lnTo>
                  <a:lnTo>
                    <a:pt x="1001268" y="1143000"/>
                  </a:lnTo>
                  <a:lnTo>
                    <a:pt x="940308" y="1141984"/>
                  </a:lnTo>
                  <a:lnTo>
                    <a:pt x="880237" y="1138809"/>
                  </a:lnTo>
                  <a:lnTo>
                    <a:pt x="821309" y="1133729"/>
                  </a:lnTo>
                  <a:lnTo>
                    <a:pt x="763523" y="1126744"/>
                  </a:lnTo>
                  <a:lnTo>
                    <a:pt x="707009" y="1117981"/>
                  </a:lnTo>
                  <a:lnTo>
                    <a:pt x="651891" y="1107186"/>
                  </a:lnTo>
                  <a:lnTo>
                    <a:pt x="598170" y="1094867"/>
                  </a:lnTo>
                  <a:lnTo>
                    <a:pt x="546227" y="1080643"/>
                  </a:lnTo>
                  <a:lnTo>
                    <a:pt x="495808" y="1065022"/>
                  </a:lnTo>
                  <a:lnTo>
                    <a:pt x="447294" y="1047623"/>
                  </a:lnTo>
                  <a:lnTo>
                    <a:pt x="400684" y="1028826"/>
                  </a:lnTo>
                  <a:lnTo>
                    <a:pt x="356108" y="1008634"/>
                  </a:lnTo>
                  <a:lnTo>
                    <a:pt x="313690" y="986917"/>
                  </a:lnTo>
                  <a:lnTo>
                    <a:pt x="273431" y="963930"/>
                  </a:lnTo>
                  <a:lnTo>
                    <a:pt x="235458" y="939673"/>
                  </a:lnTo>
                  <a:lnTo>
                    <a:pt x="199898" y="914273"/>
                  </a:lnTo>
                  <a:lnTo>
                    <a:pt x="167005" y="887603"/>
                  </a:lnTo>
                  <a:lnTo>
                    <a:pt x="136652" y="859917"/>
                  </a:lnTo>
                  <a:lnTo>
                    <a:pt x="109093" y="831215"/>
                  </a:lnTo>
                  <a:lnTo>
                    <a:pt x="84455" y="801497"/>
                  </a:lnTo>
                  <a:lnTo>
                    <a:pt x="43942" y="739394"/>
                  </a:lnTo>
                  <a:lnTo>
                    <a:pt x="16129" y="674243"/>
                  </a:lnTo>
                  <a:lnTo>
                    <a:pt x="1778" y="606298"/>
                  </a:lnTo>
                  <a:lnTo>
                    <a:pt x="0" y="57150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903222" y="1684985"/>
            <a:ext cx="85598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5689" y="1276921"/>
            <a:ext cx="2024380" cy="1167765"/>
            <a:chOff x="5135689" y="1276921"/>
            <a:chExt cx="2024380" cy="1167765"/>
          </a:xfrm>
        </p:grpSpPr>
        <p:sp>
          <p:nvSpPr>
            <p:cNvPr id="11" name="object 11"/>
            <p:cNvSpPr/>
            <p:nvPr/>
          </p:nvSpPr>
          <p:spPr>
            <a:xfrm>
              <a:off x="5148072" y="1289303"/>
              <a:ext cx="1999614" cy="1143000"/>
            </a:xfrm>
            <a:custGeom>
              <a:avLst/>
              <a:gdLst/>
              <a:ahLst/>
              <a:cxnLst/>
              <a:rect l="l" t="t" r="r" b="b"/>
              <a:pathLst>
                <a:path w="1999615" h="1143000">
                  <a:moveTo>
                    <a:pt x="999743" y="0"/>
                  </a:moveTo>
                  <a:lnTo>
                    <a:pt x="938783" y="1016"/>
                  </a:lnTo>
                  <a:lnTo>
                    <a:pt x="878839" y="4191"/>
                  </a:lnTo>
                  <a:lnTo>
                    <a:pt x="820038" y="9144"/>
                  </a:lnTo>
                  <a:lnTo>
                    <a:pt x="762253" y="16256"/>
                  </a:lnTo>
                  <a:lnTo>
                    <a:pt x="705865" y="25019"/>
                  </a:lnTo>
                  <a:lnTo>
                    <a:pt x="650875" y="35687"/>
                  </a:lnTo>
                  <a:lnTo>
                    <a:pt x="597280" y="48133"/>
                  </a:lnTo>
                  <a:lnTo>
                    <a:pt x="545338" y="62230"/>
                  </a:lnTo>
                  <a:lnTo>
                    <a:pt x="495173" y="77978"/>
                  </a:lnTo>
                  <a:lnTo>
                    <a:pt x="446658" y="95250"/>
                  </a:lnTo>
                  <a:lnTo>
                    <a:pt x="400176" y="114173"/>
                  </a:lnTo>
                  <a:lnTo>
                    <a:pt x="355600" y="134366"/>
                  </a:lnTo>
                  <a:lnTo>
                    <a:pt x="313181" y="156083"/>
                  </a:lnTo>
                  <a:lnTo>
                    <a:pt x="272923" y="178943"/>
                  </a:lnTo>
                  <a:lnTo>
                    <a:pt x="235076" y="203200"/>
                  </a:lnTo>
                  <a:lnTo>
                    <a:pt x="199643" y="228726"/>
                  </a:lnTo>
                  <a:lnTo>
                    <a:pt x="166750" y="255270"/>
                  </a:lnTo>
                  <a:lnTo>
                    <a:pt x="136525" y="282956"/>
                  </a:lnTo>
                  <a:lnTo>
                    <a:pt x="108965" y="311785"/>
                  </a:lnTo>
                  <a:lnTo>
                    <a:pt x="84200" y="341375"/>
                  </a:lnTo>
                  <a:lnTo>
                    <a:pt x="43814" y="403479"/>
                  </a:lnTo>
                  <a:lnTo>
                    <a:pt x="16128" y="468757"/>
                  </a:lnTo>
                  <a:lnTo>
                    <a:pt x="1777" y="536701"/>
                  </a:lnTo>
                  <a:lnTo>
                    <a:pt x="0" y="571500"/>
                  </a:lnTo>
                  <a:lnTo>
                    <a:pt x="1777" y="606298"/>
                  </a:lnTo>
                  <a:lnTo>
                    <a:pt x="16128" y="674243"/>
                  </a:lnTo>
                  <a:lnTo>
                    <a:pt x="43814" y="739394"/>
                  </a:lnTo>
                  <a:lnTo>
                    <a:pt x="84200" y="801497"/>
                  </a:lnTo>
                  <a:lnTo>
                    <a:pt x="108965" y="831215"/>
                  </a:lnTo>
                  <a:lnTo>
                    <a:pt x="136525" y="859917"/>
                  </a:lnTo>
                  <a:lnTo>
                    <a:pt x="166750" y="887603"/>
                  </a:lnTo>
                  <a:lnTo>
                    <a:pt x="199643" y="914273"/>
                  </a:lnTo>
                  <a:lnTo>
                    <a:pt x="235076" y="939673"/>
                  </a:lnTo>
                  <a:lnTo>
                    <a:pt x="272923" y="963930"/>
                  </a:lnTo>
                  <a:lnTo>
                    <a:pt x="313181" y="986917"/>
                  </a:lnTo>
                  <a:lnTo>
                    <a:pt x="355600" y="1008634"/>
                  </a:lnTo>
                  <a:lnTo>
                    <a:pt x="400176" y="1028826"/>
                  </a:lnTo>
                  <a:lnTo>
                    <a:pt x="446658" y="1047623"/>
                  </a:lnTo>
                  <a:lnTo>
                    <a:pt x="495173" y="1065022"/>
                  </a:lnTo>
                  <a:lnTo>
                    <a:pt x="545338" y="1080643"/>
                  </a:lnTo>
                  <a:lnTo>
                    <a:pt x="597280" y="1094867"/>
                  </a:lnTo>
                  <a:lnTo>
                    <a:pt x="650875" y="1107186"/>
                  </a:lnTo>
                  <a:lnTo>
                    <a:pt x="705865" y="1117981"/>
                  </a:lnTo>
                  <a:lnTo>
                    <a:pt x="762253" y="1126744"/>
                  </a:lnTo>
                  <a:lnTo>
                    <a:pt x="820038" y="1133729"/>
                  </a:lnTo>
                  <a:lnTo>
                    <a:pt x="878839" y="1138809"/>
                  </a:lnTo>
                  <a:lnTo>
                    <a:pt x="938783" y="1141984"/>
                  </a:lnTo>
                  <a:lnTo>
                    <a:pt x="999743" y="1143000"/>
                  </a:lnTo>
                  <a:lnTo>
                    <a:pt x="1060703" y="1141984"/>
                  </a:lnTo>
                  <a:lnTo>
                    <a:pt x="1120520" y="1138809"/>
                  </a:lnTo>
                  <a:lnTo>
                    <a:pt x="1179449" y="1133729"/>
                  </a:lnTo>
                  <a:lnTo>
                    <a:pt x="1237106" y="1126744"/>
                  </a:lnTo>
                  <a:lnTo>
                    <a:pt x="1293494" y="1117981"/>
                  </a:lnTo>
                  <a:lnTo>
                    <a:pt x="1348613" y="1107186"/>
                  </a:lnTo>
                  <a:lnTo>
                    <a:pt x="1402079" y="1094867"/>
                  </a:lnTo>
                  <a:lnTo>
                    <a:pt x="1454023" y="1080643"/>
                  </a:lnTo>
                  <a:lnTo>
                    <a:pt x="1504314" y="1065022"/>
                  </a:lnTo>
                  <a:lnTo>
                    <a:pt x="1552828" y="1047623"/>
                  </a:lnTo>
                  <a:lnTo>
                    <a:pt x="1599310" y="1028826"/>
                  </a:lnTo>
                  <a:lnTo>
                    <a:pt x="1643887" y="1008634"/>
                  </a:lnTo>
                  <a:lnTo>
                    <a:pt x="1686305" y="986917"/>
                  </a:lnTo>
                  <a:lnTo>
                    <a:pt x="1726437" y="963930"/>
                  </a:lnTo>
                  <a:lnTo>
                    <a:pt x="1764410" y="939673"/>
                  </a:lnTo>
                  <a:lnTo>
                    <a:pt x="1799844" y="914273"/>
                  </a:lnTo>
                  <a:lnTo>
                    <a:pt x="1832736" y="887603"/>
                  </a:lnTo>
                  <a:lnTo>
                    <a:pt x="1862962" y="859917"/>
                  </a:lnTo>
                  <a:lnTo>
                    <a:pt x="1890522" y="831215"/>
                  </a:lnTo>
                  <a:lnTo>
                    <a:pt x="1915159" y="801497"/>
                  </a:lnTo>
                  <a:lnTo>
                    <a:pt x="1955673" y="739394"/>
                  </a:lnTo>
                  <a:lnTo>
                    <a:pt x="1983358" y="674243"/>
                  </a:lnTo>
                  <a:lnTo>
                    <a:pt x="1997709" y="606298"/>
                  </a:lnTo>
                  <a:lnTo>
                    <a:pt x="1999487" y="571500"/>
                  </a:lnTo>
                  <a:lnTo>
                    <a:pt x="1997709" y="536701"/>
                  </a:lnTo>
                  <a:lnTo>
                    <a:pt x="1983358" y="468757"/>
                  </a:lnTo>
                  <a:lnTo>
                    <a:pt x="1955673" y="403479"/>
                  </a:lnTo>
                  <a:lnTo>
                    <a:pt x="1915159" y="341375"/>
                  </a:lnTo>
                  <a:lnTo>
                    <a:pt x="1890522" y="311785"/>
                  </a:lnTo>
                  <a:lnTo>
                    <a:pt x="1862962" y="282956"/>
                  </a:lnTo>
                  <a:lnTo>
                    <a:pt x="1832736" y="255270"/>
                  </a:lnTo>
                  <a:lnTo>
                    <a:pt x="1799844" y="228726"/>
                  </a:lnTo>
                  <a:lnTo>
                    <a:pt x="1764410" y="203200"/>
                  </a:lnTo>
                  <a:lnTo>
                    <a:pt x="1726437" y="178943"/>
                  </a:lnTo>
                  <a:lnTo>
                    <a:pt x="1686305" y="156083"/>
                  </a:lnTo>
                  <a:lnTo>
                    <a:pt x="1643887" y="134366"/>
                  </a:lnTo>
                  <a:lnTo>
                    <a:pt x="1599310" y="114173"/>
                  </a:lnTo>
                  <a:lnTo>
                    <a:pt x="1552828" y="95250"/>
                  </a:lnTo>
                  <a:lnTo>
                    <a:pt x="1504314" y="77978"/>
                  </a:lnTo>
                  <a:lnTo>
                    <a:pt x="1454023" y="62230"/>
                  </a:lnTo>
                  <a:lnTo>
                    <a:pt x="1402079" y="48133"/>
                  </a:lnTo>
                  <a:lnTo>
                    <a:pt x="1348613" y="35687"/>
                  </a:lnTo>
                  <a:lnTo>
                    <a:pt x="1293494" y="25019"/>
                  </a:lnTo>
                  <a:lnTo>
                    <a:pt x="1237106" y="16256"/>
                  </a:lnTo>
                  <a:lnTo>
                    <a:pt x="1179449" y="9144"/>
                  </a:lnTo>
                  <a:lnTo>
                    <a:pt x="1120520" y="4191"/>
                  </a:lnTo>
                  <a:lnTo>
                    <a:pt x="1060703" y="1016"/>
                  </a:lnTo>
                  <a:lnTo>
                    <a:pt x="9997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148072" y="1289303"/>
              <a:ext cx="1999614" cy="1143000"/>
            </a:xfrm>
            <a:custGeom>
              <a:avLst/>
              <a:gdLst/>
              <a:ahLst/>
              <a:cxnLst/>
              <a:rect l="l" t="t" r="r" b="b"/>
              <a:pathLst>
                <a:path w="1999615" h="1143000">
                  <a:moveTo>
                    <a:pt x="0" y="571500"/>
                  </a:moveTo>
                  <a:lnTo>
                    <a:pt x="7238" y="502412"/>
                  </a:lnTo>
                  <a:lnTo>
                    <a:pt x="28320" y="435737"/>
                  </a:lnTo>
                  <a:lnTo>
                    <a:pt x="62483" y="372110"/>
                  </a:lnTo>
                  <a:lnTo>
                    <a:pt x="108965" y="311785"/>
                  </a:lnTo>
                  <a:lnTo>
                    <a:pt x="136525" y="282956"/>
                  </a:lnTo>
                  <a:lnTo>
                    <a:pt x="166750" y="255270"/>
                  </a:lnTo>
                  <a:lnTo>
                    <a:pt x="199643" y="228726"/>
                  </a:lnTo>
                  <a:lnTo>
                    <a:pt x="235076" y="203200"/>
                  </a:lnTo>
                  <a:lnTo>
                    <a:pt x="272923" y="178943"/>
                  </a:lnTo>
                  <a:lnTo>
                    <a:pt x="313181" y="156083"/>
                  </a:lnTo>
                  <a:lnTo>
                    <a:pt x="355600" y="134366"/>
                  </a:lnTo>
                  <a:lnTo>
                    <a:pt x="400176" y="114173"/>
                  </a:lnTo>
                  <a:lnTo>
                    <a:pt x="446658" y="95250"/>
                  </a:lnTo>
                  <a:lnTo>
                    <a:pt x="495173" y="77978"/>
                  </a:lnTo>
                  <a:lnTo>
                    <a:pt x="545338" y="62230"/>
                  </a:lnTo>
                  <a:lnTo>
                    <a:pt x="597280" y="48133"/>
                  </a:lnTo>
                  <a:lnTo>
                    <a:pt x="650875" y="35687"/>
                  </a:lnTo>
                  <a:lnTo>
                    <a:pt x="705865" y="25019"/>
                  </a:lnTo>
                  <a:lnTo>
                    <a:pt x="762253" y="16256"/>
                  </a:lnTo>
                  <a:lnTo>
                    <a:pt x="820038" y="9144"/>
                  </a:lnTo>
                  <a:lnTo>
                    <a:pt x="878839" y="4191"/>
                  </a:lnTo>
                  <a:lnTo>
                    <a:pt x="938783" y="1016"/>
                  </a:lnTo>
                  <a:lnTo>
                    <a:pt x="999743" y="0"/>
                  </a:lnTo>
                  <a:lnTo>
                    <a:pt x="1060703" y="1016"/>
                  </a:lnTo>
                  <a:lnTo>
                    <a:pt x="1120520" y="4191"/>
                  </a:lnTo>
                  <a:lnTo>
                    <a:pt x="1179449" y="9144"/>
                  </a:lnTo>
                  <a:lnTo>
                    <a:pt x="1237106" y="16256"/>
                  </a:lnTo>
                  <a:lnTo>
                    <a:pt x="1293494" y="25019"/>
                  </a:lnTo>
                  <a:lnTo>
                    <a:pt x="1348613" y="35687"/>
                  </a:lnTo>
                  <a:lnTo>
                    <a:pt x="1402079" y="48133"/>
                  </a:lnTo>
                  <a:lnTo>
                    <a:pt x="1454023" y="62230"/>
                  </a:lnTo>
                  <a:lnTo>
                    <a:pt x="1504314" y="77978"/>
                  </a:lnTo>
                  <a:lnTo>
                    <a:pt x="1552828" y="95250"/>
                  </a:lnTo>
                  <a:lnTo>
                    <a:pt x="1599310" y="114173"/>
                  </a:lnTo>
                  <a:lnTo>
                    <a:pt x="1643887" y="134366"/>
                  </a:lnTo>
                  <a:lnTo>
                    <a:pt x="1686305" y="156083"/>
                  </a:lnTo>
                  <a:lnTo>
                    <a:pt x="1726437" y="178943"/>
                  </a:lnTo>
                  <a:lnTo>
                    <a:pt x="1764410" y="203200"/>
                  </a:lnTo>
                  <a:lnTo>
                    <a:pt x="1799844" y="228726"/>
                  </a:lnTo>
                  <a:lnTo>
                    <a:pt x="1832736" y="255270"/>
                  </a:lnTo>
                  <a:lnTo>
                    <a:pt x="1862962" y="282956"/>
                  </a:lnTo>
                  <a:lnTo>
                    <a:pt x="1890522" y="311785"/>
                  </a:lnTo>
                  <a:lnTo>
                    <a:pt x="1915159" y="341375"/>
                  </a:lnTo>
                  <a:lnTo>
                    <a:pt x="1955673" y="403479"/>
                  </a:lnTo>
                  <a:lnTo>
                    <a:pt x="1983358" y="468757"/>
                  </a:lnTo>
                  <a:lnTo>
                    <a:pt x="1997709" y="536701"/>
                  </a:lnTo>
                  <a:lnTo>
                    <a:pt x="1999487" y="571500"/>
                  </a:lnTo>
                  <a:lnTo>
                    <a:pt x="1997709" y="606298"/>
                  </a:lnTo>
                  <a:lnTo>
                    <a:pt x="1983358" y="674243"/>
                  </a:lnTo>
                  <a:lnTo>
                    <a:pt x="1955673" y="739394"/>
                  </a:lnTo>
                  <a:lnTo>
                    <a:pt x="1915159" y="801497"/>
                  </a:lnTo>
                  <a:lnTo>
                    <a:pt x="1890522" y="831215"/>
                  </a:lnTo>
                  <a:lnTo>
                    <a:pt x="1862962" y="859917"/>
                  </a:lnTo>
                  <a:lnTo>
                    <a:pt x="1832736" y="887603"/>
                  </a:lnTo>
                  <a:lnTo>
                    <a:pt x="1799844" y="914273"/>
                  </a:lnTo>
                  <a:lnTo>
                    <a:pt x="1764410" y="939673"/>
                  </a:lnTo>
                  <a:lnTo>
                    <a:pt x="1726437" y="963930"/>
                  </a:lnTo>
                  <a:lnTo>
                    <a:pt x="1686305" y="986917"/>
                  </a:lnTo>
                  <a:lnTo>
                    <a:pt x="1643887" y="1008634"/>
                  </a:lnTo>
                  <a:lnTo>
                    <a:pt x="1599310" y="1028826"/>
                  </a:lnTo>
                  <a:lnTo>
                    <a:pt x="1552828" y="1047623"/>
                  </a:lnTo>
                  <a:lnTo>
                    <a:pt x="1504314" y="1065022"/>
                  </a:lnTo>
                  <a:lnTo>
                    <a:pt x="1454023" y="1080643"/>
                  </a:lnTo>
                  <a:lnTo>
                    <a:pt x="1402079" y="1094867"/>
                  </a:lnTo>
                  <a:lnTo>
                    <a:pt x="1348613" y="1107186"/>
                  </a:lnTo>
                  <a:lnTo>
                    <a:pt x="1293494" y="1117981"/>
                  </a:lnTo>
                  <a:lnTo>
                    <a:pt x="1237106" y="1126744"/>
                  </a:lnTo>
                  <a:lnTo>
                    <a:pt x="1179449" y="1133729"/>
                  </a:lnTo>
                  <a:lnTo>
                    <a:pt x="1120520" y="1138809"/>
                  </a:lnTo>
                  <a:lnTo>
                    <a:pt x="1060703" y="1141984"/>
                  </a:lnTo>
                  <a:lnTo>
                    <a:pt x="999743" y="1143000"/>
                  </a:lnTo>
                  <a:lnTo>
                    <a:pt x="938783" y="1141984"/>
                  </a:lnTo>
                  <a:lnTo>
                    <a:pt x="878839" y="1138809"/>
                  </a:lnTo>
                  <a:lnTo>
                    <a:pt x="820038" y="1133729"/>
                  </a:lnTo>
                  <a:lnTo>
                    <a:pt x="762253" y="1126744"/>
                  </a:lnTo>
                  <a:lnTo>
                    <a:pt x="705865" y="1117981"/>
                  </a:lnTo>
                  <a:lnTo>
                    <a:pt x="650875" y="1107186"/>
                  </a:lnTo>
                  <a:lnTo>
                    <a:pt x="597280" y="1094867"/>
                  </a:lnTo>
                  <a:lnTo>
                    <a:pt x="545338" y="1080643"/>
                  </a:lnTo>
                  <a:lnTo>
                    <a:pt x="495173" y="1065022"/>
                  </a:lnTo>
                  <a:lnTo>
                    <a:pt x="446658" y="1047623"/>
                  </a:lnTo>
                  <a:lnTo>
                    <a:pt x="400176" y="1028826"/>
                  </a:lnTo>
                  <a:lnTo>
                    <a:pt x="355600" y="1008634"/>
                  </a:lnTo>
                  <a:lnTo>
                    <a:pt x="313181" y="986917"/>
                  </a:lnTo>
                  <a:lnTo>
                    <a:pt x="272923" y="963930"/>
                  </a:lnTo>
                  <a:lnTo>
                    <a:pt x="235076" y="939673"/>
                  </a:lnTo>
                  <a:lnTo>
                    <a:pt x="199643" y="914273"/>
                  </a:lnTo>
                  <a:lnTo>
                    <a:pt x="166750" y="887603"/>
                  </a:lnTo>
                  <a:lnTo>
                    <a:pt x="136525" y="859917"/>
                  </a:lnTo>
                  <a:lnTo>
                    <a:pt x="108965" y="831215"/>
                  </a:lnTo>
                  <a:lnTo>
                    <a:pt x="84200" y="801497"/>
                  </a:lnTo>
                  <a:lnTo>
                    <a:pt x="43814" y="739394"/>
                  </a:lnTo>
                  <a:lnTo>
                    <a:pt x="16128" y="674243"/>
                  </a:lnTo>
                  <a:lnTo>
                    <a:pt x="1777" y="606298"/>
                  </a:lnTo>
                  <a:lnTo>
                    <a:pt x="0" y="57150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694426" y="1684985"/>
            <a:ext cx="85725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62455" y="2389632"/>
            <a:ext cx="5629910" cy="3389629"/>
            <a:chOff x="1362455" y="2389632"/>
            <a:chExt cx="5629910" cy="3389629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2455" y="3874008"/>
              <a:ext cx="2243327" cy="19050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1223" y="4102608"/>
              <a:ext cx="1770887" cy="11978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24455" y="2389632"/>
              <a:ext cx="451104" cy="16428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67711" y="3617087"/>
              <a:ext cx="170433" cy="17106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333878" y="2429256"/>
              <a:ext cx="40005" cy="1283335"/>
            </a:xfrm>
            <a:custGeom>
              <a:avLst/>
              <a:gdLst/>
              <a:ahLst/>
              <a:cxnLst/>
              <a:rect l="l" t="t" r="r" b="b"/>
              <a:pathLst>
                <a:path w="40005" h="1283335">
                  <a:moveTo>
                    <a:pt x="39496" y="0"/>
                  </a:moveTo>
                  <a:lnTo>
                    <a:pt x="1523" y="0"/>
                  </a:lnTo>
                  <a:lnTo>
                    <a:pt x="0" y="1250696"/>
                  </a:lnTo>
                  <a:lnTo>
                    <a:pt x="18922" y="1283335"/>
                  </a:lnTo>
                  <a:lnTo>
                    <a:pt x="37845" y="1250696"/>
                  </a:lnTo>
                  <a:lnTo>
                    <a:pt x="39496" y="0"/>
                  </a:lnTo>
                  <a:close/>
                </a:path>
              </a:pathLst>
            </a:custGeom>
            <a:solidFill>
              <a:srgbClr val="6E2E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080008" y="2867355"/>
            <a:ext cx="12052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R1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Granted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10333" y="5818123"/>
            <a:ext cx="132207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Arial MT"/>
                <a:cs typeface="Arial MT"/>
              </a:rPr>
              <a:t>Resource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1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58790" y="5602935"/>
            <a:ext cx="132207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Arial MT"/>
                <a:cs typeface="Arial MT"/>
              </a:rPr>
              <a:t>Resource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2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916167" y="2389632"/>
            <a:ext cx="451484" cy="1643380"/>
            <a:chOff x="5916167" y="2389632"/>
            <a:chExt cx="451484" cy="164338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6167" y="2389632"/>
              <a:ext cx="451103" cy="164287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59423" y="3617087"/>
              <a:ext cx="170434" cy="17106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125590" y="2429256"/>
              <a:ext cx="40005" cy="1283335"/>
            </a:xfrm>
            <a:custGeom>
              <a:avLst/>
              <a:gdLst/>
              <a:ahLst/>
              <a:cxnLst/>
              <a:rect l="l" t="t" r="r" b="b"/>
              <a:pathLst>
                <a:path w="40004" h="1283335">
                  <a:moveTo>
                    <a:pt x="39497" y="0"/>
                  </a:moveTo>
                  <a:lnTo>
                    <a:pt x="1524" y="0"/>
                  </a:lnTo>
                  <a:lnTo>
                    <a:pt x="0" y="1250696"/>
                  </a:lnTo>
                  <a:lnTo>
                    <a:pt x="18923" y="1283335"/>
                  </a:lnTo>
                  <a:lnTo>
                    <a:pt x="37846" y="1250696"/>
                  </a:lnTo>
                  <a:lnTo>
                    <a:pt x="39497" y="0"/>
                  </a:lnTo>
                  <a:close/>
                </a:path>
              </a:pathLst>
            </a:custGeom>
            <a:solidFill>
              <a:srgbClr val="6E2E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230492" y="2880486"/>
            <a:ext cx="1203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R2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Granted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78023" y="3023361"/>
            <a:ext cx="110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R2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Denied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486911" y="2161032"/>
            <a:ext cx="1929764" cy="1871980"/>
            <a:chOff x="3486911" y="2161032"/>
            <a:chExt cx="1929764" cy="1871980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86911" y="2161032"/>
              <a:ext cx="1929384" cy="187147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15511" y="3699637"/>
              <a:ext cx="172847" cy="17094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762375" y="2200655"/>
              <a:ext cx="1595755" cy="1600200"/>
            </a:xfrm>
            <a:custGeom>
              <a:avLst/>
              <a:gdLst/>
              <a:ahLst/>
              <a:cxnLst/>
              <a:rect l="l" t="t" r="r" b="b"/>
              <a:pathLst>
                <a:path w="1595754" h="1600200">
                  <a:moveTo>
                    <a:pt x="1595628" y="38100"/>
                  </a:moveTo>
                  <a:lnTo>
                    <a:pt x="1594993" y="0"/>
                  </a:lnTo>
                  <a:lnTo>
                    <a:pt x="1556004" y="1143"/>
                  </a:lnTo>
                  <a:lnTo>
                    <a:pt x="1516761" y="4572"/>
                  </a:lnTo>
                  <a:lnTo>
                    <a:pt x="1477518" y="10160"/>
                  </a:lnTo>
                  <a:lnTo>
                    <a:pt x="1438402" y="18034"/>
                  </a:lnTo>
                  <a:lnTo>
                    <a:pt x="1399794" y="27813"/>
                  </a:lnTo>
                  <a:lnTo>
                    <a:pt x="1361440" y="39751"/>
                  </a:lnTo>
                  <a:lnTo>
                    <a:pt x="1323721" y="53467"/>
                  </a:lnTo>
                  <a:lnTo>
                    <a:pt x="1286510" y="68834"/>
                  </a:lnTo>
                  <a:lnTo>
                    <a:pt x="1249934" y="86233"/>
                  </a:lnTo>
                  <a:lnTo>
                    <a:pt x="1214120" y="105283"/>
                  </a:lnTo>
                  <a:lnTo>
                    <a:pt x="1179068" y="125857"/>
                  </a:lnTo>
                  <a:lnTo>
                    <a:pt x="1144778" y="147955"/>
                  </a:lnTo>
                  <a:lnTo>
                    <a:pt x="1111631" y="171577"/>
                  </a:lnTo>
                  <a:lnTo>
                    <a:pt x="1079246" y="196469"/>
                  </a:lnTo>
                  <a:lnTo>
                    <a:pt x="1048004" y="222758"/>
                  </a:lnTo>
                  <a:lnTo>
                    <a:pt x="1018032" y="250317"/>
                  </a:lnTo>
                  <a:lnTo>
                    <a:pt x="989076" y="279019"/>
                  </a:lnTo>
                  <a:lnTo>
                    <a:pt x="961644" y="308864"/>
                  </a:lnTo>
                  <a:lnTo>
                    <a:pt x="935482" y="339598"/>
                  </a:lnTo>
                  <a:lnTo>
                    <a:pt x="910844" y="371348"/>
                  </a:lnTo>
                  <a:lnTo>
                    <a:pt x="887476" y="404114"/>
                  </a:lnTo>
                  <a:lnTo>
                    <a:pt x="865886" y="437769"/>
                  </a:lnTo>
                  <a:lnTo>
                    <a:pt x="845947" y="471932"/>
                  </a:lnTo>
                  <a:lnTo>
                    <a:pt x="827786" y="506857"/>
                  </a:lnTo>
                  <a:lnTo>
                    <a:pt x="811403" y="542544"/>
                  </a:lnTo>
                  <a:lnTo>
                    <a:pt x="796925" y="578612"/>
                  </a:lnTo>
                  <a:lnTo>
                    <a:pt x="784479" y="615188"/>
                  </a:lnTo>
                  <a:lnTo>
                    <a:pt x="774192" y="652272"/>
                  </a:lnTo>
                  <a:lnTo>
                    <a:pt x="766064" y="689737"/>
                  </a:lnTo>
                  <a:lnTo>
                    <a:pt x="756158" y="765429"/>
                  </a:lnTo>
                  <a:lnTo>
                    <a:pt x="754888" y="803402"/>
                  </a:lnTo>
                  <a:lnTo>
                    <a:pt x="755142" y="822706"/>
                  </a:lnTo>
                  <a:lnTo>
                    <a:pt x="754126" y="839851"/>
                  </a:lnTo>
                  <a:lnTo>
                    <a:pt x="745109" y="911225"/>
                  </a:lnTo>
                  <a:lnTo>
                    <a:pt x="727583" y="981456"/>
                  </a:lnTo>
                  <a:lnTo>
                    <a:pt x="702056" y="1050544"/>
                  </a:lnTo>
                  <a:lnTo>
                    <a:pt x="669163" y="1117727"/>
                  </a:lnTo>
                  <a:lnTo>
                    <a:pt x="629412" y="1182624"/>
                  </a:lnTo>
                  <a:lnTo>
                    <a:pt x="607187" y="1213993"/>
                  </a:lnTo>
                  <a:lnTo>
                    <a:pt x="583692" y="1244473"/>
                  </a:lnTo>
                  <a:lnTo>
                    <a:pt x="558546" y="1273937"/>
                  </a:lnTo>
                  <a:lnTo>
                    <a:pt x="532003" y="1302766"/>
                  </a:lnTo>
                  <a:lnTo>
                    <a:pt x="504317" y="1330325"/>
                  </a:lnTo>
                  <a:lnTo>
                    <a:pt x="475488" y="1356626"/>
                  </a:lnTo>
                  <a:lnTo>
                    <a:pt x="445389" y="1381887"/>
                  </a:lnTo>
                  <a:lnTo>
                    <a:pt x="414401" y="1406017"/>
                  </a:lnTo>
                  <a:lnTo>
                    <a:pt x="382524" y="1428623"/>
                  </a:lnTo>
                  <a:lnTo>
                    <a:pt x="349758" y="1449832"/>
                  </a:lnTo>
                  <a:lnTo>
                    <a:pt x="315976" y="1469644"/>
                  </a:lnTo>
                  <a:lnTo>
                    <a:pt x="281559" y="1487805"/>
                  </a:lnTo>
                  <a:lnTo>
                    <a:pt x="246634" y="1504315"/>
                  </a:lnTo>
                  <a:lnTo>
                    <a:pt x="211074" y="1519174"/>
                  </a:lnTo>
                  <a:lnTo>
                    <a:pt x="175006" y="1532255"/>
                  </a:lnTo>
                  <a:lnTo>
                    <a:pt x="138557" y="1543558"/>
                  </a:lnTo>
                  <a:lnTo>
                    <a:pt x="74041" y="1558290"/>
                  </a:lnTo>
                  <a:lnTo>
                    <a:pt x="53644" y="1570990"/>
                  </a:lnTo>
                  <a:lnTo>
                    <a:pt x="0" y="1570990"/>
                  </a:lnTo>
                  <a:lnTo>
                    <a:pt x="28575" y="1586611"/>
                  </a:lnTo>
                  <a:lnTo>
                    <a:pt x="53594" y="1600200"/>
                  </a:lnTo>
                  <a:lnTo>
                    <a:pt x="111125" y="1589786"/>
                  </a:lnTo>
                  <a:lnTo>
                    <a:pt x="149733" y="1579880"/>
                  </a:lnTo>
                  <a:lnTo>
                    <a:pt x="188087" y="1568069"/>
                  </a:lnTo>
                  <a:lnTo>
                    <a:pt x="225679" y="1554353"/>
                  </a:lnTo>
                  <a:lnTo>
                    <a:pt x="263017" y="1538732"/>
                  </a:lnTo>
                  <a:lnTo>
                    <a:pt x="299466" y="1521333"/>
                  </a:lnTo>
                  <a:lnTo>
                    <a:pt x="335280" y="1502283"/>
                  </a:lnTo>
                  <a:lnTo>
                    <a:pt x="370332" y="1481709"/>
                  </a:lnTo>
                  <a:lnTo>
                    <a:pt x="404622" y="1459738"/>
                  </a:lnTo>
                  <a:lnTo>
                    <a:pt x="437769" y="1436116"/>
                  </a:lnTo>
                  <a:lnTo>
                    <a:pt x="470027" y="1411097"/>
                  </a:lnTo>
                  <a:lnTo>
                    <a:pt x="501142" y="1384808"/>
                  </a:lnTo>
                  <a:lnTo>
                    <a:pt x="531368" y="1357249"/>
                  </a:lnTo>
                  <a:lnTo>
                    <a:pt x="560070" y="1328547"/>
                  </a:lnTo>
                  <a:lnTo>
                    <a:pt x="587629" y="1298702"/>
                  </a:lnTo>
                  <a:lnTo>
                    <a:pt x="613664" y="1267841"/>
                  </a:lnTo>
                  <a:lnTo>
                    <a:pt x="638302" y="1235837"/>
                  </a:lnTo>
                  <a:lnTo>
                    <a:pt x="661416" y="1203198"/>
                  </a:lnTo>
                  <a:lnTo>
                    <a:pt x="683006" y="1169670"/>
                  </a:lnTo>
                  <a:lnTo>
                    <a:pt x="703072" y="1135253"/>
                  </a:lnTo>
                  <a:lnTo>
                    <a:pt x="721106" y="1100201"/>
                  </a:lnTo>
                  <a:lnTo>
                    <a:pt x="737489" y="1064641"/>
                  </a:lnTo>
                  <a:lnTo>
                    <a:pt x="751840" y="1028319"/>
                  </a:lnTo>
                  <a:lnTo>
                    <a:pt x="764286" y="991616"/>
                  </a:lnTo>
                  <a:lnTo>
                    <a:pt x="774446" y="954659"/>
                  </a:lnTo>
                  <a:lnTo>
                    <a:pt x="782574" y="917194"/>
                  </a:lnTo>
                  <a:lnTo>
                    <a:pt x="790575" y="860679"/>
                  </a:lnTo>
                  <a:lnTo>
                    <a:pt x="793115" y="822325"/>
                  </a:lnTo>
                  <a:lnTo>
                    <a:pt x="792861" y="804164"/>
                  </a:lnTo>
                  <a:lnTo>
                    <a:pt x="793242" y="786257"/>
                  </a:lnTo>
                  <a:lnTo>
                    <a:pt x="797433" y="733298"/>
                  </a:lnTo>
                  <a:lnTo>
                    <a:pt x="810768" y="662559"/>
                  </a:lnTo>
                  <a:lnTo>
                    <a:pt x="832358" y="592709"/>
                  </a:lnTo>
                  <a:lnTo>
                    <a:pt x="861568" y="524510"/>
                  </a:lnTo>
                  <a:lnTo>
                    <a:pt x="897890" y="458216"/>
                  </a:lnTo>
                  <a:lnTo>
                    <a:pt x="918591" y="426212"/>
                  </a:lnTo>
                  <a:lnTo>
                    <a:pt x="940816" y="394843"/>
                  </a:lnTo>
                  <a:lnTo>
                    <a:pt x="964438" y="364236"/>
                  </a:lnTo>
                  <a:lnTo>
                    <a:pt x="989584" y="334518"/>
                  </a:lnTo>
                  <a:lnTo>
                    <a:pt x="1016000" y="306070"/>
                  </a:lnTo>
                  <a:lnTo>
                    <a:pt x="1043813" y="278384"/>
                  </a:lnTo>
                  <a:lnTo>
                    <a:pt x="1072515" y="251841"/>
                  </a:lnTo>
                  <a:lnTo>
                    <a:pt x="1102614" y="226568"/>
                  </a:lnTo>
                  <a:lnTo>
                    <a:pt x="1133602" y="202565"/>
                  </a:lnTo>
                  <a:lnTo>
                    <a:pt x="1165479" y="179959"/>
                  </a:lnTo>
                  <a:lnTo>
                    <a:pt x="1198245" y="158750"/>
                  </a:lnTo>
                  <a:lnTo>
                    <a:pt x="1232027" y="138938"/>
                  </a:lnTo>
                  <a:lnTo>
                    <a:pt x="1266190" y="120650"/>
                  </a:lnTo>
                  <a:lnTo>
                    <a:pt x="1301242" y="104013"/>
                  </a:lnTo>
                  <a:lnTo>
                    <a:pt x="1336675" y="89154"/>
                  </a:lnTo>
                  <a:lnTo>
                    <a:pt x="1372743" y="75946"/>
                  </a:lnTo>
                  <a:lnTo>
                    <a:pt x="1409192" y="64643"/>
                  </a:lnTo>
                  <a:lnTo>
                    <a:pt x="1482979" y="47879"/>
                  </a:lnTo>
                  <a:lnTo>
                    <a:pt x="1557655" y="39243"/>
                  </a:lnTo>
                  <a:lnTo>
                    <a:pt x="1595628" y="38100"/>
                  </a:lnTo>
                  <a:close/>
                </a:path>
              </a:pathLst>
            </a:custGeom>
            <a:solidFill>
              <a:srgbClr val="8062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4728209" y="2593975"/>
            <a:ext cx="110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R1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Denied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087623" y="2161032"/>
            <a:ext cx="2280285" cy="2158365"/>
            <a:chOff x="3087623" y="2161032"/>
            <a:chExt cx="2280285" cy="2158365"/>
          </a:xfrm>
        </p:grpSpPr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87623" y="2161032"/>
              <a:ext cx="2279904" cy="215798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69509" y="3986022"/>
              <a:ext cx="172465" cy="17094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142488" y="2200655"/>
              <a:ext cx="1962785" cy="1887855"/>
            </a:xfrm>
            <a:custGeom>
              <a:avLst/>
              <a:gdLst/>
              <a:ahLst/>
              <a:cxnLst/>
              <a:rect l="l" t="t" r="r" b="b"/>
              <a:pathLst>
                <a:path w="1962785" h="1887854">
                  <a:moveTo>
                    <a:pt x="1962658" y="1854581"/>
                  </a:moveTo>
                  <a:lnTo>
                    <a:pt x="1908175" y="1850390"/>
                  </a:lnTo>
                  <a:lnTo>
                    <a:pt x="1882267" y="1846961"/>
                  </a:lnTo>
                  <a:lnTo>
                    <a:pt x="1862582" y="1844040"/>
                  </a:lnTo>
                  <a:lnTo>
                    <a:pt x="1794891" y="1829943"/>
                  </a:lnTo>
                  <a:lnTo>
                    <a:pt x="1750187" y="1817751"/>
                  </a:lnTo>
                  <a:lnTo>
                    <a:pt x="1683893" y="1795399"/>
                  </a:lnTo>
                  <a:lnTo>
                    <a:pt x="1640459" y="1777746"/>
                  </a:lnTo>
                  <a:lnTo>
                    <a:pt x="1597660" y="1758061"/>
                  </a:lnTo>
                  <a:lnTo>
                    <a:pt x="1555623" y="1736471"/>
                  </a:lnTo>
                  <a:lnTo>
                    <a:pt x="1514475" y="1712976"/>
                  </a:lnTo>
                  <a:lnTo>
                    <a:pt x="1474597" y="1687957"/>
                  </a:lnTo>
                  <a:lnTo>
                    <a:pt x="1435481" y="1661033"/>
                  </a:lnTo>
                  <a:lnTo>
                    <a:pt x="1397508" y="1632585"/>
                  </a:lnTo>
                  <a:lnTo>
                    <a:pt x="1360932" y="1602613"/>
                  </a:lnTo>
                  <a:lnTo>
                    <a:pt x="1325626" y="1571244"/>
                  </a:lnTo>
                  <a:lnTo>
                    <a:pt x="1291844" y="1538605"/>
                  </a:lnTo>
                  <a:lnTo>
                    <a:pt x="1259459" y="1504569"/>
                  </a:lnTo>
                  <a:lnTo>
                    <a:pt x="1228725" y="1469390"/>
                  </a:lnTo>
                  <a:lnTo>
                    <a:pt x="1199896" y="1433195"/>
                  </a:lnTo>
                  <a:lnTo>
                    <a:pt x="1172718" y="1395984"/>
                  </a:lnTo>
                  <a:lnTo>
                    <a:pt x="1147572" y="1358011"/>
                  </a:lnTo>
                  <a:lnTo>
                    <a:pt x="1124331" y="1319276"/>
                  </a:lnTo>
                  <a:lnTo>
                    <a:pt x="1103122" y="1279398"/>
                  </a:lnTo>
                  <a:lnTo>
                    <a:pt x="1084072" y="1239139"/>
                  </a:lnTo>
                  <a:lnTo>
                    <a:pt x="1067308" y="1198499"/>
                  </a:lnTo>
                  <a:lnTo>
                    <a:pt x="1052957" y="1157351"/>
                  </a:lnTo>
                  <a:lnTo>
                    <a:pt x="1041019" y="1115695"/>
                  </a:lnTo>
                  <a:lnTo>
                    <a:pt x="1031494" y="1073785"/>
                  </a:lnTo>
                  <a:lnTo>
                    <a:pt x="1024636" y="1031748"/>
                  </a:lnTo>
                  <a:lnTo>
                    <a:pt x="1020445" y="989584"/>
                  </a:lnTo>
                  <a:lnTo>
                    <a:pt x="1018794" y="946150"/>
                  </a:lnTo>
                  <a:lnTo>
                    <a:pt x="1018413" y="923925"/>
                  </a:lnTo>
                  <a:lnTo>
                    <a:pt x="1017270" y="901446"/>
                  </a:lnTo>
                  <a:lnTo>
                    <a:pt x="1012825" y="856996"/>
                  </a:lnTo>
                  <a:lnTo>
                    <a:pt x="1005586" y="812673"/>
                  </a:lnTo>
                  <a:lnTo>
                    <a:pt x="995680" y="768604"/>
                  </a:lnTo>
                  <a:lnTo>
                    <a:pt x="983234" y="725043"/>
                  </a:lnTo>
                  <a:lnTo>
                    <a:pt x="968121" y="681736"/>
                  </a:lnTo>
                  <a:lnTo>
                    <a:pt x="950595" y="639191"/>
                  </a:lnTo>
                  <a:lnTo>
                    <a:pt x="930656" y="597154"/>
                  </a:lnTo>
                  <a:lnTo>
                    <a:pt x="908685" y="555879"/>
                  </a:lnTo>
                  <a:lnTo>
                    <a:pt x="884555" y="515493"/>
                  </a:lnTo>
                  <a:lnTo>
                    <a:pt x="858266" y="475996"/>
                  </a:lnTo>
                  <a:lnTo>
                    <a:pt x="830326" y="437388"/>
                  </a:lnTo>
                  <a:lnTo>
                    <a:pt x="800354" y="400050"/>
                  </a:lnTo>
                  <a:lnTo>
                    <a:pt x="768604" y="363728"/>
                  </a:lnTo>
                  <a:lnTo>
                    <a:pt x="735203" y="328549"/>
                  </a:lnTo>
                  <a:lnTo>
                    <a:pt x="700151" y="294767"/>
                  </a:lnTo>
                  <a:lnTo>
                    <a:pt x="663702" y="262255"/>
                  </a:lnTo>
                  <a:lnTo>
                    <a:pt x="625856" y="231394"/>
                  </a:lnTo>
                  <a:lnTo>
                    <a:pt x="586740" y="202057"/>
                  </a:lnTo>
                  <a:lnTo>
                    <a:pt x="546354" y="174117"/>
                  </a:lnTo>
                  <a:lnTo>
                    <a:pt x="504825" y="148082"/>
                  </a:lnTo>
                  <a:lnTo>
                    <a:pt x="462407" y="123825"/>
                  </a:lnTo>
                  <a:lnTo>
                    <a:pt x="418846" y="101473"/>
                  </a:lnTo>
                  <a:lnTo>
                    <a:pt x="374523" y="81153"/>
                  </a:lnTo>
                  <a:lnTo>
                    <a:pt x="329438" y="62865"/>
                  </a:lnTo>
                  <a:lnTo>
                    <a:pt x="283845" y="46736"/>
                  </a:lnTo>
                  <a:lnTo>
                    <a:pt x="237363" y="32766"/>
                  </a:lnTo>
                  <a:lnTo>
                    <a:pt x="190500" y="21209"/>
                  </a:lnTo>
                  <a:lnTo>
                    <a:pt x="143383" y="12192"/>
                  </a:lnTo>
                  <a:lnTo>
                    <a:pt x="95758" y="5461"/>
                  </a:lnTo>
                  <a:lnTo>
                    <a:pt x="47879" y="1397"/>
                  </a:lnTo>
                  <a:lnTo>
                    <a:pt x="508" y="0"/>
                  </a:lnTo>
                  <a:lnTo>
                    <a:pt x="0" y="38100"/>
                  </a:lnTo>
                  <a:lnTo>
                    <a:pt x="23368" y="38481"/>
                  </a:lnTo>
                  <a:lnTo>
                    <a:pt x="46355" y="39370"/>
                  </a:lnTo>
                  <a:lnTo>
                    <a:pt x="92075" y="43307"/>
                  </a:lnTo>
                  <a:lnTo>
                    <a:pt x="137528" y="49784"/>
                  </a:lnTo>
                  <a:lnTo>
                    <a:pt x="182740" y="58547"/>
                  </a:lnTo>
                  <a:lnTo>
                    <a:pt x="227838" y="69723"/>
                  </a:lnTo>
                  <a:lnTo>
                    <a:pt x="272415" y="83058"/>
                  </a:lnTo>
                  <a:lnTo>
                    <a:pt x="316611" y="98679"/>
                  </a:lnTo>
                  <a:lnTo>
                    <a:pt x="360172" y="116332"/>
                  </a:lnTo>
                  <a:lnTo>
                    <a:pt x="402971" y="136017"/>
                  </a:lnTo>
                  <a:lnTo>
                    <a:pt x="445008" y="157734"/>
                  </a:lnTo>
                  <a:lnTo>
                    <a:pt x="486029" y="181229"/>
                  </a:lnTo>
                  <a:lnTo>
                    <a:pt x="526034" y="206375"/>
                  </a:lnTo>
                  <a:lnTo>
                    <a:pt x="565023" y="233426"/>
                  </a:lnTo>
                  <a:lnTo>
                    <a:pt x="602996" y="261747"/>
                  </a:lnTo>
                  <a:lnTo>
                    <a:pt x="639572" y="291719"/>
                  </a:lnTo>
                  <a:lnTo>
                    <a:pt x="674878" y="323088"/>
                  </a:lnTo>
                  <a:lnTo>
                    <a:pt x="708787" y="355981"/>
                  </a:lnTo>
                  <a:lnTo>
                    <a:pt x="740918" y="389890"/>
                  </a:lnTo>
                  <a:lnTo>
                    <a:pt x="771652" y="424942"/>
                  </a:lnTo>
                  <a:lnTo>
                    <a:pt x="800608" y="461137"/>
                  </a:lnTo>
                  <a:lnTo>
                    <a:pt x="827659" y="498475"/>
                  </a:lnTo>
                  <a:lnTo>
                    <a:pt x="852805" y="536575"/>
                  </a:lnTo>
                  <a:lnTo>
                    <a:pt x="876046" y="575310"/>
                  </a:lnTo>
                  <a:lnTo>
                    <a:pt x="897128" y="614934"/>
                  </a:lnTo>
                  <a:lnTo>
                    <a:pt x="916051" y="655066"/>
                  </a:lnTo>
                  <a:lnTo>
                    <a:pt x="932688" y="695833"/>
                  </a:lnTo>
                  <a:lnTo>
                    <a:pt x="947039" y="736854"/>
                  </a:lnTo>
                  <a:lnTo>
                    <a:pt x="958977" y="778510"/>
                  </a:lnTo>
                  <a:lnTo>
                    <a:pt x="968248" y="820420"/>
                  </a:lnTo>
                  <a:lnTo>
                    <a:pt x="975106" y="862457"/>
                  </a:lnTo>
                  <a:lnTo>
                    <a:pt x="979297" y="904621"/>
                  </a:lnTo>
                  <a:lnTo>
                    <a:pt x="981329" y="969264"/>
                  </a:lnTo>
                  <a:lnTo>
                    <a:pt x="984250" y="1013841"/>
                  </a:lnTo>
                  <a:lnTo>
                    <a:pt x="990092" y="1058418"/>
                  </a:lnTo>
                  <a:lnTo>
                    <a:pt x="998728" y="1102487"/>
                  </a:lnTo>
                  <a:lnTo>
                    <a:pt x="1009904" y="1146429"/>
                  </a:lnTo>
                  <a:lnTo>
                    <a:pt x="1023747" y="1189990"/>
                  </a:lnTo>
                  <a:lnTo>
                    <a:pt x="1040003" y="1232789"/>
                  </a:lnTo>
                  <a:lnTo>
                    <a:pt x="1058672" y="1275207"/>
                  </a:lnTo>
                  <a:lnTo>
                    <a:pt x="1090676" y="1337183"/>
                  </a:lnTo>
                  <a:lnTo>
                    <a:pt x="1114933" y="1377569"/>
                  </a:lnTo>
                  <a:lnTo>
                    <a:pt x="1141095" y="1417066"/>
                  </a:lnTo>
                  <a:lnTo>
                    <a:pt x="1169035" y="1455674"/>
                  </a:lnTo>
                  <a:lnTo>
                    <a:pt x="1199007" y="1493266"/>
                  </a:lnTo>
                  <a:lnTo>
                    <a:pt x="1230757" y="1529715"/>
                  </a:lnTo>
                  <a:lnTo>
                    <a:pt x="1264158" y="1564767"/>
                  </a:lnTo>
                  <a:lnTo>
                    <a:pt x="1299083" y="1598549"/>
                  </a:lnTo>
                  <a:lnTo>
                    <a:pt x="1335532" y="1631061"/>
                  </a:lnTo>
                  <a:lnTo>
                    <a:pt x="1373378" y="1662049"/>
                  </a:lnTo>
                  <a:lnTo>
                    <a:pt x="1412621" y="1691513"/>
                  </a:lnTo>
                  <a:lnTo>
                    <a:pt x="1452880" y="1719199"/>
                  </a:lnTo>
                  <a:lnTo>
                    <a:pt x="1494409" y="1745234"/>
                  </a:lnTo>
                  <a:lnTo>
                    <a:pt x="1536700" y="1769491"/>
                  </a:lnTo>
                  <a:lnTo>
                    <a:pt x="1580261" y="1791970"/>
                  </a:lnTo>
                  <a:lnTo>
                    <a:pt x="1624584" y="1812290"/>
                  </a:lnTo>
                  <a:lnTo>
                    <a:pt x="1669669" y="1830705"/>
                  </a:lnTo>
                  <a:lnTo>
                    <a:pt x="1715389" y="1846834"/>
                  </a:lnTo>
                  <a:lnTo>
                    <a:pt x="1761871" y="1860804"/>
                  </a:lnTo>
                  <a:lnTo>
                    <a:pt x="1808734" y="1872361"/>
                  </a:lnTo>
                  <a:lnTo>
                    <a:pt x="1855851" y="1881505"/>
                  </a:lnTo>
                  <a:lnTo>
                    <a:pt x="1897253" y="1887347"/>
                  </a:lnTo>
                  <a:lnTo>
                    <a:pt x="1923923" y="1872615"/>
                  </a:lnTo>
                  <a:lnTo>
                    <a:pt x="1952498" y="1856994"/>
                  </a:lnTo>
                  <a:lnTo>
                    <a:pt x="1962531" y="1856994"/>
                  </a:lnTo>
                  <a:lnTo>
                    <a:pt x="1962658" y="1854581"/>
                  </a:lnTo>
                  <a:close/>
                </a:path>
              </a:pathLst>
            </a:custGeom>
            <a:solidFill>
              <a:srgbClr val="8062A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0" y="1121663"/>
            <a:ext cx="9144000" cy="94615"/>
            <a:chOff x="0" y="1121663"/>
            <a:chExt cx="9144000" cy="94615"/>
          </a:xfrm>
        </p:grpSpPr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121663"/>
              <a:ext cx="9144000" cy="9448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095" y="1133855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186029" y="6607971"/>
            <a:ext cx="69850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07/04/202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200911"/>
            <a:ext cx="9144000" cy="399415"/>
          </a:xfrm>
          <a:custGeom>
            <a:avLst/>
            <a:gdLst/>
            <a:ahLst/>
            <a:cxnLst/>
            <a:rect l="l" t="t" r="r" b="b"/>
            <a:pathLst>
              <a:path w="9144000" h="399415">
                <a:moveTo>
                  <a:pt x="9144000" y="0"/>
                </a:moveTo>
                <a:lnTo>
                  <a:pt x="0" y="0"/>
                </a:lnTo>
                <a:lnTo>
                  <a:pt x="0" y="399288"/>
                </a:lnTo>
                <a:lnTo>
                  <a:pt x="9144000" y="399288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302889" y="1219962"/>
            <a:ext cx="256222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70" dirty="0">
                <a:latin typeface="Georgia" panose="02040502050405020303"/>
                <a:cs typeface="Georgia" panose="02040502050405020303"/>
              </a:rPr>
              <a:t>Introduction</a:t>
            </a:r>
            <a:r>
              <a:rPr sz="2000" spc="4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85" dirty="0">
                <a:latin typeface="Georgia" panose="02040502050405020303"/>
                <a:cs typeface="Georgia" panose="02040502050405020303"/>
              </a:rPr>
              <a:t>to</a:t>
            </a:r>
            <a:r>
              <a:rPr sz="2000" spc="-12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100" dirty="0">
                <a:latin typeface="Georgia" panose="02040502050405020303"/>
                <a:cs typeface="Georgia" panose="02040502050405020303"/>
              </a:rPr>
              <a:t>Deadlocks</a:t>
            </a:r>
            <a:endParaRPr sz="20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6244" y="2588463"/>
            <a:ext cx="8271509" cy="1478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99000"/>
              </a:lnSpc>
              <a:spcBef>
                <a:spcPts val="125"/>
              </a:spcBef>
            </a:pPr>
            <a:r>
              <a:rPr sz="3200" i="1" dirty="0">
                <a:latin typeface="Times New Roman" panose="02020803070505020304"/>
                <a:cs typeface="Times New Roman" panose="02020803070505020304"/>
              </a:rPr>
              <a:t>“Two</a:t>
            </a:r>
            <a:r>
              <a:rPr sz="3200" i="1" spc="204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i="1" dirty="0">
                <a:latin typeface="Times New Roman" panose="02020803070505020304"/>
                <a:cs typeface="Times New Roman" panose="02020803070505020304"/>
              </a:rPr>
              <a:t>or</a:t>
            </a:r>
            <a:r>
              <a:rPr sz="3200" i="1" spc="1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i="1" dirty="0">
                <a:latin typeface="Times New Roman" panose="02020803070505020304"/>
                <a:cs typeface="Times New Roman" panose="02020803070505020304"/>
              </a:rPr>
              <a:t>more</a:t>
            </a:r>
            <a:r>
              <a:rPr sz="3200" i="1" spc="2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i="1" dirty="0">
                <a:latin typeface="Times New Roman" panose="02020803070505020304"/>
                <a:cs typeface="Times New Roman" panose="02020803070505020304"/>
              </a:rPr>
              <a:t>processes</a:t>
            </a:r>
            <a:r>
              <a:rPr sz="3200" i="1" spc="2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i="1" dirty="0">
                <a:latin typeface="Times New Roman" panose="02020803070505020304"/>
                <a:cs typeface="Times New Roman" panose="02020803070505020304"/>
              </a:rPr>
              <a:t>are</a:t>
            </a:r>
            <a:r>
              <a:rPr sz="3200" i="1" spc="2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i="1" dirty="0">
                <a:latin typeface="Times New Roman" panose="02020803070505020304"/>
                <a:cs typeface="Times New Roman" panose="02020803070505020304"/>
              </a:rPr>
              <a:t>interacting,</a:t>
            </a:r>
            <a:r>
              <a:rPr sz="3200" i="1" spc="1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i="1" dirty="0">
                <a:latin typeface="Times New Roman" panose="02020803070505020304"/>
                <a:cs typeface="Times New Roman" panose="02020803070505020304"/>
              </a:rPr>
              <a:t>they</a:t>
            </a:r>
            <a:r>
              <a:rPr sz="3200" i="1" spc="1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i="1" spc="-25" dirty="0">
                <a:latin typeface="Times New Roman" panose="02020803070505020304"/>
                <a:cs typeface="Times New Roman" panose="02020803070505020304"/>
              </a:rPr>
              <a:t>get </a:t>
            </a:r>
            <a:r>
              <a:rPr sz="3200" i="1" dirty="0">
                <a:latin typeface="Times New Roman" panose="02020803070505020304"/>
                <a:cs typeface="Times New Roman" panose="02020803070505020304"/>
              </a:rPr>
              <a:t>themselves</a:t>
            </a:r>
            <a:r>
              <a:rPr sz="3200" i="1" spc="3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i="1" dirty="0">
                <a:latin typeface="Times New Roman" panose="02020803070505020304"/>
                <a:cs typeface="Times New Roman" panose="02020803070505020304"/>
              </a:rPr>
              <a:t>into</a:t>
            </a:r>
            <a:r>
              <a:rPr sz="3200" i="1" spc="30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i="1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3200" i="1" spc="3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i="1" dirty="0">
                <a:latin typeface="Times New Roman" panose="02020803070505020304"/>
                <a:cs typeface="Times New Roman" panose="02020803070505020304"/>
              </a:rPr>
              <a:t>stalemate</a:t>
            </a:r>
            <a:r>
              <a:rPr sz="3200" i="1" spc="2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i="1" dirty="0">
                <a:latin typeface="Times New Roman" panose="02020803070505020304"/>
                <a:cs typeface="Times New Roman" panose="02020803070505020304"/>
              </a:rPr>
              <a:t>situation</a:t>
            </a:r>
            <a:r>
              <a:rPr sz="3200" i="1" spc="2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i="1" dirty="0">
                <a:latin typeface="Times New Roman" panose="02020803070505020304"/>
                <a:cs typeface="Times New Roman" panose="02020803070505020304"/>
              </a:rPr>
              <a:t>they</a:t>
            </a:r>
            <a:r>
              <a:rPr sz="3200" i="1" spc="2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i="1" spc="-10" dirty="0">
                <a:latin typeface="Times New Roman" panose="02020803070505020304"/>
                <a:cs typeface="Times New Roman" panose="02020803070505020304"/>
              </a:rPr>
              <a:t>cannot </a:t>
            </a:r>
            <a:r>
              <a:rPr sz="3200" i="1" dirty="0">
                <a:latin typeface="Times New Roman" panose="02020803070505020304"/>
                <a:cs typeface="Times New Roman" panose="02020803070505020304"/>
              </a:rPr>
              <a:t>get</a:t>
            </a:r>
            <a:r>
              <a:rPr sz="3200" i="1" spc="-114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i="1" dirty="0">
                <a:latin typeface="Times New Roman" panose="02020803070505020304"/>
                <a:cs typeface="Times New Roman" panose="02020803070505020304"/>
              </a:rPr>
              <a:t>out</a:t>
            </a:r>
            <a:r>
              <a:rPr sz="3200" i="1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3200" i="1" spc="-10" dirty="0">
                <a:latin typeface="Times New Roman" panose="02020803070505020304"/>
                <a:cs typeface="Times New Roman" panose="02020803070505020304"/>
              </a:rPr>
              <a:t>off.”</a:t>
            </a:r>
            <a:endParaRPr sz="3200">
              <a:latin typeface="Times New Roman" panose="02020803070505020304"/>
              <a:cs typeface="Times New Roman" panose="020208030705050203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87367" y="3514344"/>
            <a:ext cx="2499360" cy="2444750"/>
            <a:chOff x="4087367" y="3514344"/>
            <a:chExt cx="2499360" cy="244475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7367" y="3514344"/>
              <a:ext cx="2499360" cy="24444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8075" y="5623064"/>
              <a:ext cx="172592" cy="17090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142232" y="3553967"/>
              <a:ext cx="2181860" cy="2171700"/>
            </a:xfrm>
            <a:custGeom>
              <a:avLst/>
              <a:gdLst/>
              <a:ahLst/>
              <a:cxnLst/>
              <a:rect l="l" t="t" r="r" b="b"/>
              <a:pathLst>
                <a:path w="2181860" h="2171700">
                  <a:moveTo>
                    <a:pt x="2181479" y="2138197"/>
                  </a:moveTo>
                  <a:lnTo>
                    <a:pt x="2167890" y="2137600"/>
                  </a:lnTo>
                  <a:lnTo>
                    <a:pt x="2142363" y="2135746"/>
                  </a:lnTo>
                  <a:lnTo>
                    <a:pt x="2117090" y="2133244"/>
                  </a:lnTo>
                  <a:lnTo>
                    <a:pt x="2102231" y="2131276"/>
                  </a:lnTo>
                  <a:lnTo>
                    <a:pt x="2091690" y="2129891"/>
                  </a:lnTo>
                  <a:lnTo>
                    <a:pt x="2016125" y="2115731"/>
                  </a:lnTo>
                  <a:lnTo>
                    <a:pt x="1966087" y="2102954"/>
                  </a:lnTo>
                  <a:lnTo>
                    <a:pt x="1916557" y="2087562"/>
                  </a:lnTo>
                  <a:lnTo>
                    <a:pt x="1867535" y="2069617"/>
                  </a:lnTo>
                  <a:lnTo>
                    <a:pt x="1819275" y="2049221"/>
                  </a:lnTo>
                  <a:lnTo>
                    <a:pt x="1771904" y="2026539"/>
                  </a:lnTo>
                  <a:lnTo>
                    <a:pt x="1725295" y="2001647"/>
                  </a:lnTo>
                  <a:lnTo>
                    <a:pt x="1679575" y="1974596"/>
                  </a:lnTo>
                  <a:lnTo>
                    <a:pt x="1634871" y="1945640"/>
                  </a:lnTo>
                  <a:lnTo>
                    <a:pt x="1591437" y="1914525"/>
                  </a:lnTo>
                  <a:lnTo>
                    <a:pt x="1549400" y="1881632"/>
                  </a:lnTo>
                  <a:lnTo>
                    <a:pt x="1508633" y="1847088"/>
                  </a:lnTo>
                  <a:lnTo>
                    <a:pt x="1469517" y="1810893"/>
                  </a:lnTo>
                  <a:lnTo>
                    <a:pt x="1431798" y="1772920"/>
                  </a:lnTo>
                  <a:lnTo>
                    <a:pt x="1395857" y="1733931"/>
                  </a:lnTo>
                  <a:lnTo>
                    <a:pt x="1361821" y="1693291"/>
                  </a:lnTo>
                  <a:lnTo>
                    <a:pt x="1329690" y="1651381"/>
                  </a:lnTo>
                  <a:lnTo>
                    <a:pt x="1299464" y="1608455"/>
                  </a:lnTo>
                  <a:lnTo>
                    <a:pt x="1271270" y="1564259"/>
                  </a:lnTo>
                  <a:lnTo>
                    <a:pt x="1245489" y="1519174"/>
                  </a:lnTo>
                  <a:lnTo>
                    <a:pt x="1221994" y="1473581"/>
                  </a:lnTo>
                  <a:lnTo>
                    <a:pt x="1200785" y="1426972"/>
                  </a:lnTo>
                  <a:lnTo>
                    <a:pt x="1182243" y="1379855"/>
                  </a:lnTo>
                  <a:lnTo>
                    <a:pt x="1166114" y="1332230"/>
                  </a:lnTo>
                  <a:lnTo>
                    <a:pt x="1152906" y="1283970"/>
                  </a:lnTo>
                  <a:lnTo>
                    <a:pt x="1142365" y="1235583"/>
                  </a:lnTo>
                  <a:lnTo>
                    <a:pt x="1134745" y="1186815"/>
                  </a:lnTo>
                  <a:lnTo>
                    <a:pt x="1130046" y="1138047"/>
                  </a:lnTo>
                  <a:lnTo>
                    <a:pt x="1128014" y="1088009"/>
                  </a:lnTo>
                  <a:lnTo>
                    <a:pt x="1127633" y="1062482"/>
                  </a:lnTo>
                  <a:lnTo>
                    <a:pt x="1126363" y="1036828"/>
                  </a:lnTo>
                  <a:lnTo>
                    <a:pt x="1121537" y="985520"/>
                  </a:lnTo>
                  <a:lnTo>
                    <a:pt x="1113536" y="934847"/>
                  </a:lnTo>
                  <a:lnTo>
                    <a:pt x="1102614" y="884174"/>
                  </a:lnTo>
                  <a:lnTo>
                    <a:pt x="1088771" y="834009"/>
                  </a:lnTo>
                  <a:lnTo>
                    <a:pt x="1072134" y="784479"/>
                  </a:lnTo>
                  <a:lnTo>
                    <a:pt x="1052830" y="735457"/>
                  </a:lnTo>
                  <a:lnTo>
                    <a:pt x="1030986" y="687324"/>
                  </a:lnTo>
                  <a:lnTo>
                    <a:pt x="1006602" y="639953"/>
                  </a:lnTo>
                  <a:lnTo>
                    <a:pt x="979805" y="593344"/>
                  </a:lnTo>
                  <a:lnTo>
                    <a:pt x="950849" y="547751"/>
                  </a:lnTo>
                  <a:lnTo>
                    <a:pt x="919734" y="503555"/>
                  </a:lnTo>
                  <a:lnTo>
                    <a:pt x="886460" y="460502"/>
                  </a:lnTo>
                  <a:lnTo>
                    <a:pt x="851408" y="418592"/>
                  </a:lnTo>
                  <a:lnTo>
                    <a:pt x="814451" y="378206"/>
                  </a:lnTo>
                  <a:lnTo>
                    <a:pt x="775716" y="339344"/>
                  </a:lnTo>
                  <a:lnTo>
                    <a:pt x="735330" y="301879"/>
                  </a:lnTo>
                  <a:lnTo>
                    <a:pt x="693420" y="266446"/>
                  </a:lnTo>
                  <a:lnTo>
                    <a:pt x="650113" y="232410"/>
                  </a:lnTo>
                  <a:lnTo>
                    <a:pt x="605409" y="200533"/>
                  </a:lnTo>
                  <a:lnTo>
                    <a:pt x="559308" y="170434"/>
                  </a:lnTo>
                  <a:lnTo>
                    <a:pt x="512191" y="142621"/>
                  </a:lnTo>
                  <a:lnTo>
                    <a:pt x="464185" y="116967"/>
                  </a:lnTo>
                  <a:lnTo>
                    <a:pt x="415036" y="93472"/>
                  </a:lnTo>
                  <a:lnTo>
                    <a:pt x="365125" y="72390"/>
                  </a:lnTo>
                  <a:lnTo>
                    <a:pt x="314325" y="53848"/>
                  </a:lnTo>
                  <a:lnTo>
                    <a:pt x="263017" y="37846"/>
                  </a:lnTo>
                  <a:lnTo>
                    <a:pt x="211201" y="24511"/>
                  </a:lnTo>
                  <a:lnTo>
                    <a:pt x="158877" y="13970"/>
                  </a:lnTo>
                  <a:lnTo>
                    <a:pt x="106045" y="6350"/>
                  </a:lnTo>
                  <a:lnTo>
                    <a:pt x="53086" y="1524"/>
                  </a:lnTo>
                  <a:lnTo>
                    <a:pt x="508" y="0"/>
                  </a:lnTo>
                  <a:lnTo>
                    <a:pt x="0" y="38100"/>
                  </a:lnTo>
                  <a:lnTo>
                    <a:pt x="26035" y="38481"/>
                  </a:lnTo>
                  <a:lnTo>
                    <a:pt x="51435" y="39624"/>
                  </a:lnTo>
                  <a:lnTo>
                    <a:pt x="102108" y="44196"/>
                  </a:lnTo>
                  <a:lnTo>
                    <a:pt x="152781" y="51562"/>
                  </a:lnTo>
                  <a:lnTo>
                    <a:pt x="203073" y="61595"/>
                  </a:lnTo>
                  <a:lnTo>
                    <a:pt x="253111" y="74422"/>
                  </a:lnTo>
                  <a:lnTo>
                    <a:pt x="302641" y="90043"/>
                  </a:lnTo>
                  <a:lnTo>
                    <a:pt x="351663" y="107950"/>
                  </a:lnTo>
                  <a:lnTo>
                    <a:pt x="399796" y="128397"/>
                  </a:lnTo>
                  <a:lnTo>
                    <a:pt x="447294" y="151130"/>
                  </a:lnTo>
                  <a:lnTo>
                    <a:pt x="494157" y="176149"/>
                  </a:lnTo>
                  <a:lnTo>
                    <a:pt x="539877" y="203200"/>
                  </a:lnTo>
                  <a:lnTo>
                    <a:pt x="584454" y="232410"/>
                  </a:lnTo>
                  <a:lnTo>
                    <a:pt x="628015" y="263525"/>
                  </a:lnTo>
                  <a:lnTo>
                    <a:pt x="669925" y="296291"/>
                  </a:lnTo>
                  <a:lnTo>
                    <a:pt x="710692" y="330962"/>
                  </a:lnTo>
                  <a:lnTo>
                    <a:pt x="749808" y="367284"/>
                  </a:lnTo>
                  <a:lnTo>
                    <a:pt x="787400" y="405003"/>
                  </a:lnTo>
                  <a:lnTo>
                    <a:pt x="823214" y="444246"/>
                  </a:lnTo>
                  <a:lnTo>
                    <a:pt x="857377" y="484886"/>
                  </a:lnTo>
                  <a:lnTo>
                    <a:pt x="889508" y="526796"/>
                  </a:lnTo>
                  <a:lnTo>
                    <a:pt x="919734" y="569722"/>
                  </a:lnTo>
                  <a:lnTo>
                    <a:pt x="947674" y="613791"/>
                  </a:lnTo>
                  <a:lnTo>
                    <a:pt x="973328" y="658495"/>
                  </a:lnTo>
                  <a:lnTo>
                    <a:pt x="996950" y="704342"/>
                  </a:lnTo>
                  <a:lnTo>
                    <a:pt x="1017905" y="750697"/>
                  </a:lnTo>
                  <a:lnTo>
                    <a:pt x="1036574" y="797941"/>
                  </a:lnTo>
                  <a:lnTo>
                    <a:pt x="1052449" y="845566"/>
                  </a:lnTo>
                  <a:lnTo>
                    <a:pt x="1065784" y="893826"/>
                  </a:lnTo>
                  <a:lnTo>
                    <a:pt x="1076198" y="942213"/>
                  </a:lnTo>
                  <a:lnTo>
                    <a:pt x="1083818" y="990854"/>
                  </a:lnTo>
                  <a:lnTo>
                    <a:pt x="1088390" y="1039749"/>
                  </a:lnTo>
                  <a:lnTo>
                    <a:pt x="1090676" y="1114425"/>
                  </a:lnTo>
                  <a:lnTo>
                    <a:pt x="1093978" y="1165479"/>
                  </a:lnTo>
                  <a:lnTo>
                    <a:pt x="1100455" y="1216533"/>
                  </a:lnTo>
                  <a:lnTo>
                    <a:pt x="1109853" y="1267333"/>
                  </a:lnTo>
                  <a:lnTo>
                    <a:pt x="1122299" y="1317752"/>
                  </a:lnTo>
                  <a:lnTo>
                    <a:pt x="1137539" y="1367663"/>
                  </a:lnTo>
                  <a:lnTo>
                    <a:pt x="1155573" y="1416939"/>
                  </a:lnTo>
                  <a:lnTo>
                    <a:pt x="1176147" y="1465707"/>
                  </a:lnTo>
                  <a:lnTo>
                    <a:pt x="1199261" y="1513459"/>
                  </a:lnTo>
                  <a:lnTo>
                    <a:pt x="1224788" y="1560449"/>
                  </a:lnTo>
                  <a:lnTo>
                    <a:pt x="1267333" y="1628775"/>
                  </a:lnTo>
                  <a:lnTo>
                    <a:pt x="1298448" y="1673225"/>
                  </a:lnTo>
                  <a:lnTo>
                    <a:pt x="1331595" y="1716532"/>
                  </a:lnTo>
                  <a:lnTo>
                    <a:pt x="1366774" y="1758188"/>
                  </a:lnTo>
                  <a:lnTo>
                    <a:pt x="1403731" y="1798701"/>
                  </a:lnTo>
                  <a:lnTo>
                    <a:pt x="1442466" y="1837690"/>
                  </a:lnTo>
                  <a:lnTo>
                    <a:pt x="1482725" y="1874901"/>
                  </a:lnTo>
                  <a:lnTo>
                    <a:pt x="1524635" y="1910715"/>
                  </a:lnTo>
                  <a:lnTo>
                    <a:pt x="1567942" y="1944497"/>
                  </a:lnTo>
                  <a:lnTo>
                    <a:pt x="1612773" y="1976501"/>
                  </a:lnTo>
                  <a:lnTo>
                    <a:pt x="1658620" y="2006473"/>
                  </a:lnTo>
                  <a:lnTo>
                    <a:pt x="1705864" y="2034413"/>
                  </a:lnTo>
                  <a:lnTo>
                    <a:pt x="1753870" y="2060143"/>
                  </a:lnTo>
                  <a:lnTo>
                    <a:pt x="1803273" y="2083752"/>
                  </a:lnTo>
                  <a:lnTo>
                    <a:pt x="1853184" y="2104834"/>
                  </a:lnTo>
                  <a:lnTo>
                    <a:pt x="1903857" y="2123427"/>
                  </a:lnTo>
                  <a:lnTo>
                    <a:pt x="1955292" y="2139429"/>
                  </a:lnTo>
                  <a:lnTo>
                    <a:pt x="2007108" y="2152726"/>
                  </a:lnTo>
                  <a:lnTo>
                    <a:pt x="2059432" y="2163292"/>
                  </a:lnTo>
                  <a:lnTo>
                    <a:pt x="2112010" y="2170976"/>
                  </a:lnTo>
                  <a:lnTo>
                    <a:pt x="2115566" y="2171331"/>
                  </a:lnTo>
                  <a:lnTo>
                    <a:pt x="2142871" y="2156307"/>
                  </a:lnTo>
                  <a:lnTo>
                    <a:pt x="2171446" y="2140547"/>
                  </a:lnTo>
                  <a:lnTo>
                    <a:pt x="2181352" y="2140547"/>
                  </a:lnTo>
                  <a:lnTo>
                    <a:pt x="2181479" y="2138197"/>
                  </a:lnTo>
                  <a:close/>
                </a:path>
              </a:pathLst>
            </a:custGeom>
            <a:solidFill>
              <a:srgbClr val="8062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384797" y="5564530"/>
            <a:ext cx="23514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No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action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taken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1094232"/>
            <a:ext cx="9144000" cy="140335"/>
            <a:chOff x="0" y="1094232"/>
            <a:chExt cx="9144000" cy="1403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094232"/>
              <a:ext cx="9144000" cy="14020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095" y="1133856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90473" y="1840814"/>
            <a:ext cx="21329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Definition</a:t>
            </a:r>
            <a:endParaRPr sz="3600"/>
          </a:p>
        </p:txBody>
      </p:sp>
      <p:sp>
        <p:nvSpPr>
          <p:cNvPr id="18" name="object 18"/>
          <p:cNvSpPr txBox="1"/>
          <p:nvPr/>
        </p:nvSpPr>
        <p:spPr>
          <a:xfrm>
            <a:off x="186029" y="6607971"/>
            <a:ext cx="69850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07/04/202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200911"/>
            <a:ext cx="9144000" cy="399415"/>
          </a:xfrm>
          <a:custGeom>
            <a:avLst/>
            <a:gdLst/>
            <a:ahLst/>
            <a:cxnLst/>
            <a:rect l="l" t="t" r="r" b="b"/>
            <a:pathLst>
              <a:path w="9144000" h="399415">
                <a:moveTo>
                  <a:pt x="9144000" y="0"/>
                </a:moveTo>
                <a:lnTo>
                  <a:pt x="0" y="0"/>
                </a:lnTo>
                <a:lnTo>
                  <a:pt x="0" y="399288"/>
                </a:lnTo>
                <a:lnTo>
                  <a:pt x="9144000" y="399288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101088" y="1219962"/>
            <a:ext cx="496062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65" dirty="0">
                <a:latin typeface="Georgia" panose="02040502050405020303"/>
                <a:cs typeface="Georgia" panose="02040502050405020303"/>
              </a:rPr>
              <a:t>Introduction</a:t>
            </a:r>
            <a:r>
              <a:rPr sz="2000" spc="-5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85" dirty="0">
                <a:latin typeface="Georgia" panose="02040502050405020303"/>
                <a:cs typeface="Georgia" panose="02040502050405020303"/>
              </a:rPr>
              <a:t>to</a:t>
            </a:r>
            <a:r>
              <a:rPr sz="2000" spc="-13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160" dirty="0">
                <a:latin typeface="Georgia" panose="02040502050405020303"/>
                <a:cs typeface="Georgia" panose="02040502050405020303"/>
              </a:rPr>
              <a:t>Deadlocks-</a:t>
            </a:r>
            <a:r>
              <a:rPr sz="2000" spc="-190" dirty="0">
                <a:latin typeface="Georgia" panose="02040502050405020303"/>
                <a:cs typeface="Georgia" panose="02040502050405020303"/>
              </a:rPr>
              <a:t>Conditions</a:t>
            </a:r>
            <a:r>
              <a:rPr sz="2000" spc="-85" dirty="0">
                <a:latin typeface="Georgia" panose="02040502050405020303"/>
                <a:cs typeface="Georgia" panose="02040502050405020303"/>
              </a:rPr>
              <a:t> for</a:t>
            </a:r>
            <a:r>
              <a:rPr sz="2000" spc="45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60" dirty="0">
                <a:latin typeface="Georgia" panose="02040502050405020303"/>
                <a:cs typeface="Georgia" panose="02040502050405020303"/>
              </a:rPr>
              <a:t>Deadlock</a:t>
            </a:r>
            <a:endParaRPr sz="20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93014" y="1874341"/>
            <a:ext cx="49256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7100" algn="l"/>
              </a:tabLst>
            </a:pPr>
            <a:r>
              <a:rPr sz="2400" spc="-25" dirty="0"/>
              <a:t>1-</a:t>
            </a:r>
            <a:r>
              <a:rPr sz="2400" dirty="0"/>
              <a:t>	Mutual</a:t>
            </a:r>
            <a:r>
              <a:rPr sz="2400" spc="-95" dirty="0"/>
              <a:t> </a:t>
            </a:r>
            <a:r>
              <a:rPr sz="2400" dirty="0"/>
              <a:t>Exclusion</a:t>
            </a:r>
            <a:r>
              <a:rPr sz="2400" spc="-140" dirty="0"/>
              <a:t> </a:t>
            </a:r>
            <a:r>
              <a:rPr sz="2400" spc="-10" dirty="0"/>
              <a:t>Condition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293014" y="2243708"/>
            <a:ext cx="8305165" cy="35953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Arial MT"/>
                <a:cs typeface="Arial MT"/>
              </a:rPr>
              <a:t>“Only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 at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resource.”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If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requests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resource,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requesting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be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320"/>
              </a:lnSpc>
              <a:spcBef>
                <a:spcPts val="5"/>
              </a:spcBef>
            </a:pPr>
            <a:r>
              <a:rPr sz="2000" spc="-10" dirty="0">
                <a:latin typeface="Arial MT"/>
                <a:cs typeface="Arial MT"/>
              </a:rPr>
              <a:t>blocked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until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resource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been</a:t>
            </a:r>
            <a:r>
              <a:rPr sz="2000" spc="-10" dirty="0">
                <a:latin typeface="Arial MT"/>
                <a:cs typeface="Arial MT"/>
              </a:rPr>
              <a:t> released.</a:t>
            </a:r>
            <a:endParaRPr sz="2000">
              <a:latin typeface="Arial MT"/>
              <a:cs typeface="Arial MT"/>
            </a:endParaRPr>
          </a:p>
          <a:p>
            <a:pPr marL="927100" indent="-914400">
              <a:lnSpc>
                <a:spcPts val="2800"/>
              </a:lnSpc>
              <a:buAutoNum type="arabicPlain" startAt="2"/>
              <a:tabLst>
                <a:tab pos="927100" algn="l"/>
              </a:tabLst>
            </a:pPr>
            <a:r>
              <a:rPr sz="2400" b="1" dirty="0">
                <a:latin typeface="Arial" panose="020B0704020202020204"/>
                <a:cs typeface="Arial" panose="020B0704020202020204"/>
              </a:rPr>
              <a:t>Hold</a:t>
            </a:r>
            <a:r>
              <a:rPr sz="2400" b="1" spc="-100" dirty="0">
                <a:latin typeface="Arial" panose="020B0704020202020204"/>
                <a:cs typeface="Arial" panose="020B0704020202020204"/>
              </a:rPr>
              <a:t> </a:t>
            </a:r>
            <a:r>
              <a:rPr sz="2400" b="1" dirty="0">
                <a:latin typeface="Arial" panose="020B0704020202020204"/>
                <a:cs typeface="Arial" panose="020B0704020202020204"/>
              </a:rPr>
              <a:t>and</a:t>
            </a:r>
            <a:r>
              <a:rPr sz="2400" b="1" spc="-30" dirty="0">
                <a:latin typeface="Arial" panose="020B0704020202020204"/>
                <a:cs typeface="Arial" panose="020B0704020202020204"/>
              </a:rPr>
              <a:t> </a:t>
            </a:r>
            <a:r>
              <a:rPr sz="2400" b="1" dirty="0">
                <a:latin typeface="Arial" panose="020B0704020202020204"/>
                <a:cs typeface="Arial" panose="020B0704020202020204"/>
              </a:rPr>
              <a:t>Wait</a:t>
            </a:r>
            <a:r>
              <a:rPr sz="2400" b="1" spc="-105" dirty="0">
                <a:latin typeface="Arial" panose="020B0704020202020204"/>
                <a:cs typeface="Arial" panose="020B0704020202020204"/>
              </a:rPr>
              <a:t> </a:t>
            </a:r>
            <a:r>
              <a:rPr sz="2400" b="1" spc="-10" dirty="0">
                <a:latin typeface="Arial" panose="020B0704020202020204"/>
                <a:cs typeface="Arial" panose="020B0704020202020204"/>
              </a:rPr>
              <a:t>Condition</a:t>
            </a:r>
            <a:endParaRPr sz="2400">
              <a:latin typeface="Arial" panose="020B0704020202020204"/>
              <a:cs typeface="Arial" panose="020B0704020202020204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000" dirty="0">
                <a:latin typeface="Arial MT"/>
                <a:cs typeface="Arial MT"/>
              </a:rPr>
              <a:t>“Processes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currently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holding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resources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request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new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resources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while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320"/>
              </a:lnSpc>
            </a:pPr>
            <a:r>
              <a:rPr sz="2000" spc="-10" dirty="0">
                <a:latin typeface="Arial MT"/>
                <a:cs typeface="Arial MT"/>
              </a:rPr>
              <a:t>waiting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resource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which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held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by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process.”</a:t>
            </a:r>
            <a:endParaRPr sz="2000">
              <a:latin typeface="Arial MT"/>
              <a:cs typeface="Arial MT"/>
            </a:endParaRPr>
          </a:p>
          <a:p>
            <a:pPr marL="927100" indent="-914400">
              <a:lnSpc>
                <a:spcPts val="2800"/>
              </a:lnSpc>
              <a:buAutoNum type="arabicPlain" startAt="3"/>
              <a:tabLst>
                <a:tab pos="927100" algn="l"/>
              </a:tabLst>
            </a:pPr>
            <a:r>
              <a:rPr sz="2400" b="1" spc="-15" dirty="0">
                <a:latin typeface="Arial" panose="020B0704020202020204"/>
                <a:cs typeface="Arial" panose="020B0704020202020204"/>
              </a:rPr>
              <a:t>Non-</a:t>
            </a:r>
            <a:r>
              <a:rPr sz="2400" b="1" spc="-10" dirty="0">
                <a:latin typeface="Arial" panose="020B0704020202020204"/>
                <a:cs typeface="Arial" panose="020B0704020202020204"/>
              </a:rPr>
              <a:t>Preemptive</a:t>
            </a:r>
            <a:r>
              <a:rPr sz="2400" b="1" spc="-80" dirty="0">
                <a:latin typeface="Arial" panose="020B0704020202020204"/>
                <a:cs typeface="Arial" panose="020B0704020202020204"/>
              </a:rPr>
              <a:t> </a:t>
            </a:r>
            <a:r>
              <a:rPr sz="2400" b="1" spc="-10" dirty="0">
                <a:latin typeface="Arial" panose="020B0704020202020204"/>
                <a:cs typeface="Arial" panose="020B0704020202020204"/>
              </a:rPr>
              <a:t>Condition</a:t>
            </a:r>
            <a:endParaRPr sz="2400">
              <a:latin typeface="Arial" panose="020B0704020202020204"/>
              <a:cs typeface="Arial" panose="020B0704020202020204"/>
            </a:endParaRPr>
          </a:p>
          <a:p>
            <a:pPr marL="12700">
              <a:lnSpc>
                <a:spcPts val="2310"/>
              </a:lnSpc>
              <a:spcBef>
                <a:spcPts val="185"/>
              </a:spcBef>
            </a:pPr>
            <a:r>
              <a:rPr sz="2000" spc="-10" dirty="0">
                <a:latin typeface="Arial MT"/>
                <a:cs typeface="Arial MT"/>
              </a:rPr>
              <a:t>“Resources</a:t>
            </a:r>
            <a:r>
              <a:rPr sz="2000" spc="-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already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allocated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cannot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taken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away.”</a:t>
            </a:r>
            <a:endParaRPr sz="2000">
              <a:latin typeface="Arial MT"/>
              <a:cs typeface="Arial MT"/>
            </a:endParaRPr>
          </a:p>
          <a:p>
            <a:pPr marL="927100" indent="-914400">
              <a:lnSpc>
                <a:spcPts val="2790"/>
              </a:lnSpc>
              <a:buAutoNum type="arabicPlain" startAt="4"/>
              <a:tabLst>
                <a:tab pos="927100" algn="l"/>
              </a:tabLst>
            </a:pPr>
            <a:r>
              <a:rPr sz="2400" b="1" spc="-10" dirty="0">
                <a:latin typeface="Arial" panose="020B0704020202020204"/>
                <a:cs typeface="Arial" panose="020B0704020202020204"/>
              </a:rPr>
              <a:t>Circular</a:t>
            </a:r>
            <a:r>
              <a:rPr sz="2400" b="1" spc="-114" dirty="0">
                <a:latin typeface="Arial" panose="020B0704020202020204"/>
                <a:cs typeface="Arial" panose="020B0704020202020204"/>
              </a:rPr>
              <a:t> </a:t>
            </a:r>
            <a:r>
              <a:rPr sz="2400" b="1" dirty="0">
                <a:latin typeface="Arial" panose="020B0704020202020204"/>
                <a:cs typeface="Arial" panose="020B0704020202020204"/>
              </a:rPr>
              <a:t>Wait</a:t>
            </a:r>
            <a:r>
              <a:rPr sz="2400" b="1" spc="-120" dirty="0">
                <a:latin typeface="Arial" panose="020B0704020202020204"/>
                <a:cs typeface="Arial" panose="020B0704020202020204"/>
              </a:rPr>
              <a:t> </a:t>
            </a:r>
            <a:r>
              <a:rPr sz="2400" b="1" spc="-10" dirty="0">
                <a:latin typeface="Arial" panose="020B0704020202020204"/>
                <a:cs typeface="Arial" panose="020B0704020202020204"/>
              </a:rPr>
              <a:t>Condition</a:t>
            </a:r>
            <a:endParaRPr sz="2400">
              <a:latin typeface="Arial" panose="020B0704020202020204"/>
              <a:cs typeface="Arial" panose="020B0704020202020204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latin typeface="Arial MT"/>
                <a:cs typeface="Arial MT"/>
              </a:rPr>
              <a:t>“There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circular</a:t>
            </a:r>
            <a:r>
              <a:rPr sz="2000" spc="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chain of two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more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processes,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 is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waiting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resource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held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next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process.”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1094232"/>
            <a:ext cx="9144000" cy="140335"/>
            <a:chOff x="0" y="1094232"/>
            <a:chExt cx="9144000" cy="14033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94232"/>
              <a:ext cx="9144000" cy="14020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095" y="1133856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86029" y="6607971"/>
            <a:ext cx="69850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07/04/202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353121" y="1679257"/>
            <a:ext cx="2027555" cy="1167765"/>
            <a:chOff x="1353121" y="1679257"/>
            <a:chExt cx="2027555" cy="1167765"/>
          </a:xfrm>
        </p:grpSpPr>
        <p:sp>
          <p:nvSpPr>
            <p:cNvPr id="7" name="object 7"/>
            <p:cNvSpPr/>
            <p:nvPr/>
          </p:nvSpPr>
          <p:spPr>
            <a:xfrm>
              <a:off x="1365503" y="1691640"/>
              <a:ext cx="2002789" cy="1143000"/>
            </a:xfrm>
            <a:custGeom>
              <a:avLst/>
              <a:gdLst/>
              <a:ahLst/>
              <a:cxnLst/>
              <a:rect l="l" t="t" r="r" b="b"/>
              <a:pathLst>
                <a:path w="2002789" h="1143000">
                  <a:moveTo>
                    <a:pt x="1001268" y="0"/>
                  </a:moveTo>
                  <a:lnTo>
                    <a:pt x="940308" y="1015"/>
                  </a:lnTo>
                  <a:lnTo>
                    <a:pt x="880237" y="4190"/>
                  </a:lnTo>
                  <a:lnTo>
                    <a:pt x="821309" y="9144"/>
                  </a:lnTo>
                  <a:lnTo>
                    <a:pt x="763523" y="16256"/>
                  </a:lnTo>
                  <a:lnTo>
                    <a:pt x="707009" y="25019"/>
                  </a:lnTo>
                  <a:lnTo>
                    <a:pt x="651891" y="35687"/>
                  </a:lnTo>
                  <a:lnTo>
                    <a:pt x="598170" y="48133"/>
                  </a:lnTo>
                  <a:lnTo>
                    <a:pt x="546227" y="62230"/>
                  </a:lnTo>
                  <a:lnTo>
                    <a:pt x="495808" y="77977"/>
                  </a:lnTo>
                  <a:lnTo>
                    <a:pt x="447294" y="95250"/>
                  </a:lnTo>
                  <a:lnTo>
                    <a:pt x="400684" y="114173"/>
                  </a:lnTo>
                  <a:lnTo>
                    <a:pt x="356108" y="134365"/>
                  </a:lnTo>
                  <a:lnTo>
                    <a:pt x="313690" y="156083"/>
                  </a:lnTo>
                  <a:lnTo>
                    <a:pt x="273431" y="178943"/>
                  </a:lnTo>
                  <a:lnTo>
                    <a:pt x="235458" y="203200"/>
                  </a:lnTo>
                  <a:lnTo>
                    <a:pt x="199898" y="228726"/>
                  </a:lnTo>
                  <a:lnTo>
                    <a:pt x="167005" y="255270"/>
                  </a:lnTo>
                  <a:lnTo>
                    <a:pt x="136652" y="282956"/>
                  </a:lnTo>
                  <a:lnTo>
                    <a:pt x="109093" y="311785"/>
                  </a:lnTo>
                  <a:lnTo>
                    <a:pt x="84455" y="341375"/>
                  </a:lnTo>
                  <a:lnTo>
                    <a:pt x="43942" y="403479"/>
                  </a:lnTo>
                  <a:lnTo>
                    <a:pt x="16129" y="468757"/>
                  </a:lnTo>
                  <a:lnTo>
                    <a:pt x="1778" y="536701"/>
                  </a:lnTo>
                  <a:lnTo>
                    <a:pt x="0" y="571500"/>
                  </a:lnTo>
                  <a:lnTo>
                    <a:pt x="1778" y="606298"/>
                  </a:lnTo>
                  <a:lnTo>
                    <a:pt x="16129" y="674243"/>
                  </a:lnTo>
                  <a:lnTo>
                    <a:pt x="43942" y="739394"/>
                  </a:lnTo>
                  <a:lnTo>
                    <a:pt x="84455" y="801497"/>
                  </a:lnTo>
                  <a:lnTo>
                    <a:pt x="109093" y="831214"/>
                  </a:lnTo>
                  <a:lnTo>
                    <a:pt x="136652" y="859917"/>
                  </a:lnTo>
                  <a:lnTo>
                    <a:pt x="167005" y="887602"/>
                  </a:lnTo>
                  <a:lnTo>
                    <a:pt x="199898" y="914273"/>
                  </a:lnTo>
                  <a:lnTo>
                    <a:pt x="235458" y="939673"/>
                  </a:lnTo>
                  <a:lnTo>
                    <a:pt x="273431" y="963930"/>
                  </a:lnTo>
                  <a:lnTo>
                    <a:pt x="313690" y="986917"/>
                  </a:lnTo>
                  <a:lnTo>
                    <a:pt x="356108" y="1008634"/>
                  </a:lnTo>
                  <a:lnTo>
                    <a:pt x="400684" y="1028826"/>
                  </a:lnTo>
                  <a:lnTo>
                    <a:pt x="447294" y="1047623"/>
                  </a:lnTo>
                  <a:lnTo>
                    <a:pt x="495808" y="1065022"/>
                  </a:lnTo>
                  <a:lnTo>
                    <a:pt x="546227" y="1080643"/>
                  </a:lnTo>
                  <a:lnTo>
                    <a:pt x="598170" y="1094867"/>
                  </a:lnTo>
                  <a:lnTo>
                    <a:pt x="651891" y="1107186"/>
                  </a:lnTo>
                  <a:lnTo>
                    <a:pt x="707009" y="1117981"/>
                  </a:lnTo>
                  <a:lnTo>
                    <a:pt x="763523" y="1126744"/>
                  </a:lnTo>
                  <a:lnTo>
                    <a:pt x="821309" y="1133729"/>
                  </a:lnTo>
                  <a:lnTo>
                    <a:pt x="880237" y="1138809"/>
                  </a:lnTo>
                  <a:lnTo>
                    <a:pt x="940308" y="1141984"/>
                  </a:lnTo>
                  <a:lnTo>
                    <a:pt x="1001268" y="1143000"/>
                  </a:lnTo>
                  <a:lnTo>
                    <a:pt x="1062228" y="1141984"/>
                  </a:lnTo>
                  <a:lnTo>
                    <a:pt x="1122298" y="1138809"/>
                  </a:lnTo>
                  <a:lnTo>
                    <a:pt x="1181227" y="1133729"/>
                  </a:lnTo>
                  <a:lnTo>
                    <a:pt x="1239012" y="1126744"/>
                  </a:lnTo>
                  <a:lnTo>
                    <a:pt x="1295527" y="1117981"/>
                  </a:lnTo>
                  <a:lnTo>
                    <a:pt x="1350645" y="1107186"/>
                  </a:lnTo>
                  <a:lnTo>
                    <a:pt x="1404239" y="1094867"/>
                  </a:lnTo>
                  <a:lnTo>
                    <a:pt x="1456309" y="1080643"/>
                  </a:lnTo>
                  <a:lnTo>
                    <a:pt x="1506601" y="1065022"/>
                  </a:lnTo>
                  <a:lnTo>
                    <a:pt x="1555115" y="1047623"/>
                  </a:lnTo>
                  <a:lnTo>
                    <a:pt x="1601723" y="1028826"/>
                  </a:lnTo>
                  <a:lnTo>
                    <a:pt x="1646301" y="1008634"/>
                  </a:lnTo>
                  <a:lnTo>
                    <a:pt x="1688846" y="986917"/>
                  </a:lnTo>
                  <a:lnTo>
                    <a:pt x="1729104" y="963930"/>
                  </a:lnTo>
                  <a:lnTo>
                    <a:pt x="1767077" y="939673"/>
                  </a:lnTo>
                  <a:lnTo>
                    <a:pt x="1802511" y="914273"/>
                  </a:lnTo>
                  <a:lnTo>
                    <a:pt x="1835531" y="887602"/>
                  </a:lnTo>
                  <a:lnTo>
                    <a:pt x="1865884" y="859917"/>
                  </a:lnTo>
                  <a:lnTo>
                    <a:pt x="1893443" y="831214"/>
                  </a:lnTo>
                  <a:lnTo>
                    <a:pt x="1918081" y="801497"/>
                  </a:lnTo>
                  <a:lnTo>
                    <a:pt x="1958594" y="739394"/>
                  </a:lnTo>
                  <a:lnTo>
                    <a:pt x="1986407" y="674243"/>
                  </a:lnTo>
                  <a:lnTo>
                    <a:pt x="2000758" y="606298"/>
                  </a:lnTo>
                  <a:lnTo>
                    <a:pt x="2002536" y="571500"/>
                  </a:lnTo>
                  <a:lnTo>
                    <a:pt x="2000758" y="536701"/>
                  </a:lnTo>
                  <a:lnTo>
                    <a:pt x="1986407" y="468757"/>
                  </a:lnTo>
                  <a:lnTo>
                    <a:pt x="1958594" y="403479"/>
                  </a:lnTo>
                  <a:lnTo>
                    <a:pt x="1918081" y="341375"/>
                  </a:lnTo>
                  <a:lnTo>
                    <a:pt x="1893443" y="311785"/>
                  </a:lnTo>
                  <a:lnTo>
                    <a:pt x="1865884" y="282956"/>
                  </a:lnTo>
                  <a:lnTo>
                    <a:pt x="1835531" y="255270"/>
                  </a:lnTo>
                  <a:lnTo>
                    <a:pt x="1802511" y="228726"/>
                  </a:lnTo>
                  <a:lnTo>
                    <a:pt x="1767077" y="203200"/>
                  </a:lnTo>
                  <a:lnTo>
                    <a:pt x="1729104" y="178943"/>
                  </a:lnTo>
                  <a:lnTo>
                    <a:pt x="1688846" y="156083"/>
                  </a:lnTo>
                  <a:lnTo>
                    <a:pt x="1646301" y="134365"/>
                  </a:lnTo>
                  <a:lnTo>
                    <a:pt x="1601723" y="114173"/>
                  </a:lnTo>
                  <a:lnTo>
                    <a:pt x="1555115" y="95250"/>
                  </a:lnTo>
                  <a:lnTo>
                    <a:pt x="1506601" y="77977"/>
                  </a:lnTo>
                  <a:lnTo>
                    <a:pt x="1456309" y="62230"/>
                  </a:lnTo>
                  <a:lnTo>
                    <a:pt x="1404239" y="48133"/>
                  </a:lnTo>
                  <a:lnTo>
                    <a:pt x="1350645" y="35687"/>
                  </a:lnTo>
                  <a:lnTo>
                    <a:pt x="1295527" y="25019"/>
                  </a:lnTo>
                  <a:lnTo>
                    <a:pt x="1239012" y="16256"/>
                  </a:lnTo>
                  <a:lnTo>
                    <a:pt x="1181227" y="9144"/>
                  </a:lnTo>
                  <a:lnTo>
                    <a:pt x="1122298" y="4190"/>
                  </a:lnTo>
                  <a:lnTo>
                    <a:pt x="1062228" y="1015"/>
                  </a:lnTo>
                  <a:lnTo>
                    <a:pt x="10012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65503" y="1691640"/>
              <a:ext cx="2002789" cy="1143000"/>
            </a:xfrm>
            <a:custGeom>
              <a:avLst/>
              <a:gdLst/>
              <a:ahLst/>
              <a:cxnLst/>
              <a:rect l="l" t="t" r="r" b="b"/>
              <a:pathLst>
                <a:path w="2002789" h="1143000">
                  <a:moveTo>
                    <a:pt x="0" y="571500"/>
                  </a:moveTo>
                  <a:lnTo>
                    <a:pt x="7239" y="502412"/>
                  </a:lnTo>
                  <a:lnTo>
                    <a:pt x="28448" y="435737"/>
                  </a:lnTo>
                  <a:lnTo>
                    <a:pt x="62611" y="372110"/>
                  </a:lnTo>
                  <a:lnTo>
                    <a:pt x="109093" y="311785"/>
                  </a:lnTo>
                  <a:lnTo>
                    <a:pt x="136652" y="282956"/>
                  </a:lnTo>
                  <a:lnTo>
                    <a:pt x="167005" y="255270"/>
                  </a:lnTo>
                  <a:lnTo>
                    <a:pt x="199898" y="228726"/>
                  </a:lnTo>
                  <a:lnTo>
                    <a:pt x="235458" y="203200"/>
                  </a:lnTo>
                  <a:lnTo>
                    <a:pt x="273431" y="178943"/>
                  </a:lnTo>
                  <a:lnTo>
                    <a:pt x="313690" y="156083"/>
                  </a:lnTo>
                  <a:lnTo>
                    <a:pt x="356108" y="134365"/>
                  </a:lnTo>
                  <a:lnTo>
                    <a:pt x="400684" y="114173"/>
                  </a:lnTo>
                  <a:lnTo>
                    <a:pt x="447294" y="95250"/>
                  </a:lnTo>
                  <a:lnTo>
                    <a:pt x="495808" y="77977"/>
                  </a:lnTo>
                  <a:lnTo>
                    <a:pt x="546227" y="62230"/>
                  </a:lnTo>
                  <a:lnTo>
                    <a:pt x="598170" y="48133"/>
                  </a:lnTo>
                  <a:lnTo>
                    <a:pt x="651891" y="35687"/>
                  </a:lnTo>
                  <a:lnTo>
                    <a:pt x="707009" y="25019"/>
                  </a:lnTo>
                  <a:lnTo>
                    <a:pt x="763523" y="16256"/>
                  </a:lnTo>
                  <a:lnTo>
                    <a:pt x="821309" y="9144"/>
                  </a:lnTo>
                  <a:lnTo>
                    <a:pt x="880237" y="4190"/>
                  </a:lnTo>
                  <a:lnTo>
                    <a:pt x="940308" y="1015"/>
                  </a:lnTo>
                  <a:lnTo>
                    <a:pt x="1001268" y="0"/>
                  </a:lnTo>
                  <a:lnTo>
                    <a:pt x="1062228" y="1015"/>
                  </a:lnTo>
                  <a:lnTo>
                    <a:pt x="1122298" y="4190"/>
                  </a:lnTo>
                  <a:lnTo>
                    <a:pt x="1181227" y="9144"/>
                  </a:lnTo>
                  <a:lnTo>
                    <a:pt x="1239012" y="16256"/>
                  </a:lnTo>
                  <a:lnTo>
                    <a:pt x="1295527" y="25019"/>
                  </a:lnTo>
                  <a:lnTo>
                    <a:pt x="1350645" y="35687"/>
                  </a:lnTo>
                  <a:lnTo>
                    <a:pt x="1404239" y="48133"/>
                  </a:lnTo>
                  <a:lnTo>
                    <a:pt x="1456309" y="62230"/>
                  </a:lnTo>
                  <a:lnTo>
                    <a:pt x="1506601" y="77977"/>
                  </a:lnTo>
                  <a:lnTo>
                    <a:pt x="1555115" y="95250"/>
                  </a:lnTo>
                  <a:lnTo>
                    <a:pt x="1601723" y="114173"/>
                  </a:lnTo>
                  <a:lnTo>
                    <a:pt x="1646301" y="134365"/>
                  </a:lnTo>
                  <a:lnTo>
                    <a:pt x="1688846" y="156083"/>
                  </a:lnTo>
                  <a:lnTo>
                    <a:pt x="1729104" y="178943"/>
                  </a:lnTo>
                  <a:lnTo>
                    <a:pt x="1767077" y="203200"/>
                  </a:lnTo>
                  <a:lnTo>
                    <a:pt x="1802511" y="228726"/>
                  </a:lnTo>
                  <a:lnTo>
                    <a:pt x="1835531" y="255270"/>
                  </a:lnTo>
                  <a:lnTo>
                    <a:pt x="1865884" y="282956"/>
                  </a:lnTo>
                  <a:lnTo>
                    <a:pt x="1893443" y="311785"/>
                  </a:lnTo>
                  <a:lnTo>
                    <a:pt x="1918081" y="341375"/>
                  </a:lnTo>
                  <a:lnTo>
                    <a:pt x="1958594" y="403479"/>
                  </a:lnTo>
                  <a:lnTo>
                    <a:pt x="1986407" y="468757"/>
                  </a:lnTo>
                  <a:lnTo>
                    <a:pt x="2000758" y="536701"/>
                  </a:lnTo>
                  <a:lnTo>
                    <a:pt x="2002536" y="571500"/>
                  </a:lnTo>
                  <a:lnTo>
                    <a:pt x="2000758" y="606298"/>
                  </a:lnTo>
                  <a:lnTo>
                    <a:pt x="1986407" y="674243"/>
                  </a:lnTo>
                  <a:lnTo>
                    <a:pt x="1958594" y="739394"/>
                  </a:lnTo>
                  <a:lnTo>
                    <a:pt x="1918081" y="801497"/>
                  </a:lnTo>
                  <a:lnTo>
                    <a:pt x="1893443" y="831214"/>
                  </a:lnTo>
                  <a:lnTo>
                    <a:pt x="1865884" y="859917"/>
                  </a:lnTo>
                  <a:lnTo>
                    <a:pt x="1835531" y="887602"/>
                  </a:lnTo>
                  <a:lnTo>
                    <a:pt x="1802511" y="914273"/>
                  </a:lnTo>
                  <a:lnTo>
                    <a:pt x="1767077" y="939673"/>
                  </a:lnTo>
                  <a:lnTo>
                    <a:pt x="1729104" y="963930"/>
                  </a:lnTo>
                  <a:lnTo>
                    <a:pt x="1688846" y="986917"/>
                  </a:lnTo>
                  <a:lnTo>
                    <a:pt x="1646301" y="1008634"/>
                  </a:lnTo>
                  <a:lnTo>
                    <a:pt x="1601723" y="1028826"/>
                  </a:lnTo>
                  <a:lnTo>
                    <a:pt x="1555115" y="1047623"/>
                  </a:lnTo>
                  <a:lnTo>
                    <a:pt x="1506601" y="1065022"/>
                  </a:lnTo>
                  <a:lnTo>
                    <a:pt x="1456309" y="1080643"/>
                  </a:lnTo>
                  <a:lnTo>
                    <a:pt x="1404239" y="1094867"/>
                  </a:lnTo>
                  <a:lnTo>
                    <a:pt x="1350645" y="1107186"/>
                  </a:lnTo>
                  <a:lnTo>
                    <a:pt x="1295527" y="1117981"/>
                  </a:lnTo>
                  <a:lnTo>
                    <a:pt x="1239012" y="1126744"/>
                  </a:lnTo>
                  <a:lnTo>
                    <a:pt x="1181227" y="1133729"/>
                  </a:lnTo>
                  <a:lnTo>
                    <a:pt x="1122298" y="1138809"/>
                  </a:lnTo>
                  <a:lnTo>
                    <a:pt x="1062228" y="1141984"/>
                  </a:lnTo>
                  <a:lnTo>
                    <a:pt x="1001268" y="1143000"/>
                  </a:lnTo>
                  <a:lnTo>
                    <a:pt x="940308" y="1141984"/>
                  </a:lnTo>
                  <a:lnTo>
                    <a:pt x="880237" y="1138809"/>
                  </a:lnTo>
                  <a:lnTo>
                    <a:pt x="821309" y="1133729"/>
                  </a:lnTo>
                  <a:lnTo>
                    <a:pt x="763523" y="1126744"/>
                  </a:lnTo>
                  <a:lnTo>
                    <a:pt x="707009" y="1117981"/>
                  </a:lnTo>
                  <a:lnTo>
                    <a:pt x="651891" y="1107186"/>
                  </a:lnTo>
                  <a:lnTo>
                    <a:pt x="598170" y="1094867"/>
                  </a:lnTo>
                  <a:lnTo>
                    <a:pt x="546227" y="1080643"/>
                  </a:lnTo>
                  <a:lnTo>
                    <a:pt x="495808" y="1065022"/>
                  </a:lnTo>
                  <a:lnTo>
                    <a:pt x="447294" y="1047623"/>
                  </a:lnTo>
                  <a:lnTo>
                    <a:pt x="400684" y="1028826"/>
                  </a:lnTo>
                  <a:lnTo>
                    <a:pt x="356108" y="1008634"/>
                  </a:lnTo>
                  <a:lnTo>
                    <a:pt x="313690" y="986917"/>
                  </a:lnTo>
                  <a:lnTo>
                    <a:pt x="273431" y="963930"/>
                  </a:lnTo>
                  <a:lnTo>
                    <a:pt x="235458" y="939673"/>
                  </a:lnTo>
                  <a:lnTo>
                    <a:pt x="199898" y="914273"/>
                  </a:lnTo>
                  <a:lnTo>
                    <a:pt x="167005" y="887602"/>
                  </a:lnTo>
                  <a:lnTo>
                    <a:pt x="136652" y="859917"/>
                  </a:lnTo>
                  <a:lnTo>
                    <a:pt x="109093" y="831214"/>
                  </a:lnTo>
                  <a:lnTo>
                    <a:pt x="84455" y="801497"/>
                  </a:lnTo>
                  <a:lnTo>
                    <a:pt x="43942" y="739394"/>
                  </a:lnTo>
                  <a:lnTo>
                    <a:pt x="16129" y="674243"/>
                  </a:lnTo>
                  <a:lnTo>
                    <a:pt x="1778" y="606298"/>
                  </a:lnTo>
                  <a:lnTo>
                    <a:pt x="0" y="57150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903222" y="2089150"/>
            <a:ext cx="85534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5689" y="1545145"/>
            <a:ext cx="2024380" cy="1167765"/>
            <a:chOff x="5135689" y="1545145"/>
            <a:chExt cx="2024380" cy="1167765"/>
          </a:xfrm>
        </p:grpSpPr>
        <p:sp>
          <p:nvSpPr>
            <p:cNvPr id="11" name="object 11"/>
            <p:cNvSpPr/>
            <p:nvPr/>
          </p:nvSpPr>
          <p:spPr>
            <a:xfrm>
              <a:off x="5148072" y="1557528"/>
              <a:ext cx="1999614" cy="1143000"/>
            </a:xfrm>
            <a:custGeom>
              <a:avLst/>
              <a:gdLst/>
              <a:ahLst/>
              <a:cxnLst/>
              <a:rect l="l" t="t" r="r" b="b"/>
              <a:pathLst>
                <a:path w="1999615" h="1143000">
                  <a:moveTo>
                    <a:pt x="999743" y="0"/>
                  </a:moveTo>
                  <a:lnTo>
                    <a:pt x="938783" y="1016"/>
                  </a:lnTo>
                  <a:lnTo>
                    <a:pt x="878839" y="4191"/>
                  </a:lnTo>
                  <a:lnTo>
                    <a:pt x="820038" y="9144"/>
                  </a:lnTo>
                  <a:lnTo>
                    <a:pt x="762253" y="16256"/>
                  </a:lnTo>
                  <a:lnTo>
                    <a:pt x="705865" y="25019"/>
                  </a:lnTo>
                  <a:lnTo>
                    <a:pt x="650875" y="35687"/>
                  </a:lnTo>
                  <a:lnTo>
                    <a:pt x="597280" y="48133"/>
                  </a:lnTo>
                  <a:lnTo>
                    <a:pt x="545338" y="62230"/>
                  </a:lnTo>
                  <a:lnTo>
                    <a:pt x="495173" y="77977"/>
                  </a:lnTo>
                  <a:lnTo>
                    <a:pt x="446658" y="95250"/>
                  </a:lnTo>
                  <a:lnTo>
                    <a:pt x="400176" y="114173"/>
                  </a:lnTo>
                  <a:lnTo>
                    <a:pt x="355600" y="134366"/>
                  </a:lnTo>
                  <a:lnTo>
                    <a:pt x="313181" y="156083"/>
                  </a:lnTo>
                  <a:lnTo>
                    <a:pt x="272923" y="178943"/>
                  </a:lnTo>
                  <a:lnTo>
                    <a:pt x="235076" y="203200"/>
                  </a:lnTo>
                  <a:lnTo>
                    <a:pt x="199643" y="228726"/>
                  </a:lnTo>
                  <a:lnTo>
                    <a:pt x="166750" y="255270"/>
                  </a:lnTo>
                  <a:lnTo>
                    <a:pt x="136525" y="282956"/>
                  </a:lnTo>
                  <a:lnTo>
                    <a:pt x="108965" y="311785"/>
                  </a:lnTo>
                  <a:lnTo>
                    <a:pt x="84200" y="341375"/>
                  </a:lnTo>
                  <a:lnTo>
                    <a:pt x="43814" y="403479"/>
                  </a:lnTo>
                  <a:lnTo>
                    <a:pt x="16128" y="468757"/>
                  </a:lnTo>
                  <a:lnTo>
                    <a:pt x="1777" y="536701"/>
                  </a:lnTo>
                  <a:lnTo>
                    <a:pt x="0" y="571500"/>
                  </a:lnTo>
                  <a:lnTo>
                    <a:pt x="1777" y="606298"/>
                  </a:lnTo>
                  <a:lnTo>
                    <a:pt x="16128" y="674243"/>
                  </a:lnTo>
                  <a:lnTo>
                    <a:pt x="43814" y="739394"/>
                  </a:lnTo>
                  <a:lnTo>
                    <a:pt x="84200" y="801497"/>
                  </a:lnTo>
                  <a:lnTo>
                    <a:pt x="108965" y="831214"/>
                  </a:lnTo>
                  <a:lnTo>
                    <a:pt x="136525" y="859917"/>
                  </a:lnTo>
                  <a:lnTo>
                    <a:pt x="166750" y="887602"/>
                  </a:lnTo>
                  <a:lnTo>
                    <a:pt x="199643" y="914273"/>
                  </a:lnTo>
                  <a:lnTo>
                    <a:pt x="235076" y="939673"/>
                  </a:lnTo>
                  <a:lnTo>
                    <a:pt x="272923" y="963930"/>
                  </a:lnTo>
                  <a:lnTo>
                    <a:pt x="313181" y="986917"/>
                  </a:lnTo>
                  <a:lnTo>
                    <a:pt x="355600" y="1008634"/>
                  </a:lnTo>
                  <a:lnTo>
                    <a:pt x="400176" y="1028826"/>
                  </a:lnTo>
                  <a:lnTo>
                    <a:pt x="446658" y="1047623"/>
                  </a:lnTo>
                  <a:lnTo>
                    <a:pt x="495173" y="1065022"/>
                  </a:lnTo>
                  <a:lnTo>
                    <a:pt x="545338" y="1080643"/>
                  </a:lnTo>
                  <a:lnTo>
                    <a:pt x="597280" y="1094867"/>
                  </a:lnTo>
                  <a:lnTo>
                    <a:pt x="650875" y="1107186"/>
                  </a:lnTo>
                  <a:lnTo>
                    <a:pt x="705865" y="1117981"/>
                  </a:lnTo>
                  <a:lnTo>
                    <a:pt x="762253" y="1126744"/>
                  </a:lnTo>
                  <a:lnTo>
                    <a:pt x="820038" y="1133729"/>
                  </a:lnTo>
                  <a:lnTo>
                    <a:pt x="878839" y="1138809"/>
                  </a:lnTo>
                  <a:lnTo>
                    <a:pt x="938783" y="1141984"/>
                  </a:lnTo>
                  <a:lnTo>
                    <a:pt x="999743" y="1143000"/>
                  </a:lnTo>
                  <a:lnTo>
                    <a:pt x="1060703" y="1141984"/>
                  </a:lnTo>
                  <a:lnTo>
                    <a:pt x="1120520" y="1138809"/>
                  </a:lnTo>
                  <a:lnTo>
                    <a:pt x="1179449" y="1133729"/>
                  </a:lnTo>
                  <a:lnTo>
                    <a:pt x="1237106" y="1126744"/>
                  </a:lnTo>
                  <a:lnTo>
                    <a:pt x="1293494" y="1117981"/>
                  </a:lnTo>
                  <a:lnTo>
                    <a:pt x="1348613" y="1107186"/>
                  </a:lnTo>
                  <a:lnTo>
                    <a:pt x="1402079" y="1094867"/>
                  </a:lnTo>
                  <a:lnTo>
                    <a:pt x="1454023" y="1080643"/>
                  </a:lnTo>
                  <a:lnTo>
                    <a:pt x="1504314" y="1065022"/>
                  </a:lnTo>
                  <a:lnTo>
                    <a:pt x="1552828" y="1047623"/>
                  </a:lnTo>
                  <a:lnTo>
                    <a:pt x="1599310" y="1028826"/>
                  </a:lnTo>
                  <a:lnTo>
                    <a:pt x="1643887" y="1008634"/>
                  </a:lnTo>
                  <a:lnTo>
                    <a:pt x="1686305" y="986917"/>
                  </a:lnTo>
                  <a:lnTo>
                    <a:pt x="1726437" y="963930"/>
                  </a:lnTo>
                  <a:lnTo>
                    <a:pt x="1764410" y="939673"/>
                  </a:lnTo>
                  <a:lnTo>
                    <a:pt x="1799844" y="914273"/>
                  </a:lnTo>
                  <a:lnTo>
                    <a:pt x="1832736" y="887602"/>
                  </a:lnTo>
                  <a:lnTo>
                    <a:pt x="1862962" y="859917"/>
                  </a:lnTo>
                  <a:lnTo>
                    <a:pt x="1890522" y="831214"/>
                  </a:lnTo>
                  <a:lnTo>
                    <a:pt x="1915159" y="801497"/>
                  </a:lnTo>
                  <a:lnTo>
                    <a:pt x="1955673" y="739394"/>
                  </a:lnTo>
                  <a:lnTo>
                    <a:pt x="1983358" y="674243"/>
                  </a:lnTo>
                  <a:lnTo>
                    <a:pt x="1997709" y="606298"/>
                  </a:lnTo>
                  <a:lnTo>
                    <a:pt x="1999487" y="571500"/>
                  </a:lnTo>
                  <a:lnTo>
                    <a:pt x="1997709" y="536701"/>
                  </a:lnTo>
                  <a:lnTo>
                    <a:pt x="1983358" y="468757"/>
                  </a:lnTo>
                  <a:lnTo>
                    <a:pt x="1955673" y="403479"/>
                  </a:lnTo>
                  <a:lnTo>
                    <a:pt x="1915159" y="341375"/>
                  </a:lnTo>
                  <a:lnTo>
                    <a:pt x="1890522" y="311785"/>
                  </a:lnTo>
                  <a:lnTo>
                    <a:pt x="1862962" y="282956"/>
                  </a:lnTo>
                  <a:lnTo>
                    <a:pt x="1832736" y="255270"/>
                  </a:lnTo>
                  <a:lnTo>
                    <a:pt x="1799844" y="228726"/>
                  </a:lnTo>
                  <a:lnTo>
                    <a:pt x="1764410" y="203200"/>
                  </a:lnTo>
                  <a:lnTo>
                    <a:pt x="1726437" y="178943"/>
                  </a:lnTo>
                  <a:lnTo>
                    <a:pt x="1686305" y="156083"/>
                  </a:lnTo>
                  <a:lnTo>
                    <a:pt x="1643887" y="134366"/>
                  </a:lnTo>
                  <a:lnTo>
                    <a:pt x="1599310" y="114173"/>
                  </a:lnTo>
                  <a:lnTo>
                    <a:pt x="1552828" y="95250"/>
                  </a:lnTo>
                  <a:lnTo>
                    <a:pt x="1504314" y="77977"/>
                  </a:lnTo>
                  <a:lnTo>
                    <a:pt x="1454023" y="62230"/>
                  </a:lnTo>
                  <a:lnTo>
                    <a:pt x="1402079" y="48133"/>
                  </a:lnTo>
                  <a:lnTo>
                    <a:pt x="1348613" y="35687"/>
                  </a:lnTo>
                  <a:lnTo>
                    <a:pt x="1293494" y="25019"/>
                  </a:lnTo>
                  <a:lnTo>
                    <a:pt x="1237106" y="16256"/>
                  </a:lnTo>
                  <a:lnTo>
                    <a:pt x="1179449" y="9144"/>
                  </a:lnTo>
                  <a:lnTo>
                    <a:pt x="1120520" y="4191"/>
                  </a:lnTo>
                  <a:lnTo>
                    <a:pt x="1060703" y="1016"/>
                  </a:lnTo>
                  <a:lnTo>
                    <a:pt x="9997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148072" y="1557528"/>
              <a:ext cx="1999614" cy="1143000"/>
            </a:xfrm>
            <a:custGeom>
              <a:avLst/>
              <a:gdLst/>
              <a:ahLst/>
              <a:cxnLst/>
              <a:rect l="l" t="t" r="r" b="b"/>
              <a:pathLst>
                <a:path w="1999615" h="1143000">
                  <a:moveTo>
                    <a:pt x="0" y="571500"/>
                  </a:moveTo>
                  <a:lnTo>
                    <a:pt x="7238" y="502412"/>
                  </a:lnTo>
                  <a:lnTo>
                    <a:pt x="28320" y="435737"/>
                  </a:lnTo>
                  <a:lnTo>
                    <a:pt x="62483" y="372110"/>
                  </a:lnTo>
                  <a:lnTo>
                    <a:pt x="108965" y="311785"/>
                  </a:lnTo>
                  <a:lnTo>
                    <a:pt x="136525" y="282956"/>
                  </a:lnTo>
                  <a:lnTo>
                    <a:pt x="166750" y="255270"/>
                  </a:lnTo>
                  <a:lnTo>
                    <a:pt x="199643" y="228726"/>
                  </a:lnTo>
                  <a:lnTo>
                    <a:pt x="235076" y="203200"/>
                  </a:lnTo>
                  <a:lnTo>
                    <a:pt x="272923" y="178943"/>
                  </a:lnTo>
                  <a:lnTo>
                    <a:pt x="313181" y="156083"/>
                  </a:lnTo>
                  <a:lnTo>
                    <a:pt x="355600" y="134366"/>
                  </a:lnTo>
                  <a:lnTo>
                    <a:pt x="400176" y="114173"/>
                  </a:lnTo>
                  <a:lnTo>
                    <a:pt x="446658" y="95250"/>
                  </a:lnTo>
                  <a:lnTo>
                    <a:pt x="495173" y="77977"/>
                  </a:lnTo>
                  <a:lnTo>
                    <a:pt x="545338" y="62230"/>
                  </a:lnTo>
                  <a:lnTo>
                    <a:pt x="597280" y="48133"/>
                  </a:lnTo>
                  <a:lnTo>
                    <a:pt x="650875" y="35687"/>
                  </a:lnTo>
                  <a:lnTo>
                    <a:pt x="705865" y="25019"/>
                  </a:lnTo>
                  <a:lnTo>
                    <a:pt x="762253" y="16256"/>
                  </a:lnTo>
                  <a:lnTo>
                    <a:pt x="820038" y="9144"/>
                  </a:lnTo>
                  <a:lnTo>
                    <a:pt x="878839" y="4191"/>
                  </a:lnTo>
                  <a:lnTo>
                    <a:pt x="938783" y="1016"/>
                  </a:lnTo>
                  <a:lnTo>
                    <a:pt x="999743" y="0"/>
                  </a:lnTo>
                  <a:lnTo>
                    <a:pt x="1060703" y="1016"/>
                  </a:lnTo>
                  <a:lnTo>
                    <a:pt x="1120520" y="4191"/>
                  </a:lnTo>
                  <a:lnTo>
                    <a:pt x="1179449" y="9144"/>
                  </a:lnTo>
                  <a:lnTo>
                    <a:pt x="1237106" y="16256"/>
                  </a:lnTo>
                  <a:lnTo>
                    <a:pt x="1293494" y="25019"/>
                  </a:lnTo>
                  <a:lnTo>
                    <a:pt x="1348613" y="35687"/>
                  </a:lnTo>
                  <a:lnTo>
                    <a:pt x="1402079" y="48133"/>
                  </a:lnTo>
                  <a:lnTo>
                    <a:pt x="1454023" y="62230"/>
                  </a:lnTo>
                  <a:lnTo>
                    <a:pt x="1504314" y="77977"/>
                  </a:lnTo>
                  <a:lnTo>
                    <a:pt x="1552828" y="95250"/>
                  </a:lnTo>
                  <a:lnTo>
                    <a:pt x="1599310" y="114173"/>
                  </a:lnTo>
                  <a:lnTo>
                    <a:pt x="1643887" y="134366"/>
                  </a:lnTo>
                  <a:lnTo>
                    <a:pt x="1686305" y="156083"/>
                  </a:lnTo>
                  <a:lnTo>
                    <a:pt x="1726437" y="178943"/>
                  </a:lnTo>
                  <a:lnTo>
                    <a:pt x="1764410" y="203200"/>
                  </a:lnTo>
                  <a:lnTo>
                    <a:pt x="1799844" y="228726"/>
                  </a:lnTo>
                  <a:lnTo>
                    <a:pt x="1832736" y="255270"/>
                  </a:lnTo>
                  <a:lnTo>
                    <a:pt x="1862962" y="282956"/>
                  </a:lnTo>
                  <a:lnTo>
                    <a:pt x="1890522" y="311785"/>
                  </a:lnTo>
                  <a:lnTo>
                    <a:pt x="1915159" y="341375"/>
                  </a:lnTo>
                  <a:lnTo>
                    <a:pt x="1955673" y="403479"/>
                  </a:lnTo>
                  <a:lnTo>
                    <a:pt x="1983358" y="468757"/>
                  </a:lnTo>
                  <a:lnTo>
                    <a:pt x="1997709" y="536701"/>
                  </a:lnTo>
                  <a:lnTo>
                    <a:pt x="1999487" y="571500"/>
                  </a:lnTo>
                  <a:lnTo>
                    <a:pt x="1997709" y="606298"/>
                  </a:lnTo>
                  <a:lnTo>
                    <a:pt x="1983358" y="674243"/>
                  </a:lnTo>
                  <a:lnTo>
                    <a:pt x="1955673" y="739394"/>
                  </a:lnTo>
                  <a:lnTo>
                    <a:pt x="1915159" y="801497"/>
                  </a:lnTo>
                  <a:lnTo>
                    <a:pt x="1890522" y="831214"/>
                  </a:lnTo>
                  <a:lnTo>
                    <a:pt x="1862962" y="859917"/>
                  </a:lnTo>
                  <a:lnTo>
                    <a:pt x="1832736" y="887602"/>
                  </a:lnTo>
                  <a:lnTo>
                    <a:pt x="1799844" y="914273"/>
                  </a:lnTo>
                  <a:lnTo>
                    <a:pt x="1764410" y="939673"/>
                  </a:lnTo>
                  <a:lnTo>
                    <a:pt x="1726437" y="963930"/>
                  </a:lnTo>
                  <a:lnTo>
                    <a:pt x="1686305" y="986917"/>
                  </a:lnTo>
                  <a:lnTo>
                    <a:pt x="1643887" y="1008634"/>
                  </a:lnTo>
                  <a:lnTo>
                    <a:pt x="1599310" y="1028826"/>
                  </a:lnTo>
                  <a:lnTo>
                    <a:pt x="1552828" y="1047623"/>
                  </a:lnTo>
                  <a:lnTo>
                    <a:pt x="1504314" y="1065022"/>
                  </a:lnTo>
                  <a:lnTo>
                    <a:pt x="1454023" y="1080643"/>
                  </a:lnTo>
                  <a:lnTo>
                    <a:pt x="1402079" y="1094867"/>
                  </a:lnTo>
                  <a:lnTo>
                    <a:pt x="1348613" y="1107186"/>
                  </a:lnTo>
                  <a:lnTo>
                    <a:pt x="1293494" y="1117981"/>
                  </a:lnTo>
                  <a:lnTo>
                    <a:pt x="1237106" y="1126744"/>
                  </a:lnTo>
                  <a:lnTo>
                    <a:pt x="1179449" y="1133729"/>
                  </a:lnTo>
                  <a:lnTo>
                    <a:pt x="1120520" y="1138809"/>
                  </a:lnTo>
                  <a:lnTo>
                    <a:pt x="1060703" y="1141984"/>
                  </a:lnTo>
                  <a:lnTo>
                    <a:pt x="999743" y="1143000"/>
                  </a:lnTo>
                  <a:lnTo>
                    <a:pt x="938783" y="1141984"/>
                  </a:lnTo>
                  <a:lnTo>
                    <a:pt x="878839" y="1138809"/>
                  </a:lnTo>
                  <a:lnTo>
                    <a:pt x="820038" y="1133729"/>
                  </a:lnTo>
                  <a:lnTo>
                    <a:pt x="762253" y="1126744"/>
                  </a:lnTo>
                  <a:lnTo>
                    <a:pt x="705865" y="1117981"/>
                  </a:lnTo>
                  <a:lnTo>
                    <a:pt x="650875" y="1107186"/>
                  </a:lnTo>
                  <a:lnTo>
                    <a:pt x="597280" y="1094867"/>
                  </a:lnTo>
                  <a:lnTo>
                    <a:pt x="545338" y="1080643"/>
                  </a:lnTo>
                  <a:lnTo>
                    <a:pt x="495173" y="1065022"/>
                  </a:lnTo>
                  <a:lnTo>
                    <a:pt x="446658" y="1047623"/>
                  </a:lnTo>
                  <a:lnTo>
                    <a:pt x="400176" y="1028826"/>
                  </a:lnTo>
                  <a:lnTo>
                    <a:pt x="355600" y="1008634"/>
                  </a:lnTo>
                  <a:lnTo>
                    <a:pt x="313181" y="986917"/>
                  </a:lnTo>
                  <a:lnTo>
                    <a:pt x="272923" y="963930"/>
                  </a:lnTo>
                  <a:lnTo>
                    <a:pt x="235076" y="939673"/>
                  </a:lnTo>
                  <a:lnTo>
                    <a:pt x="199643" y="914273"/>
                  </a:lnTo>
                  <a:lnTo>
                    <a:pt x="166750" y="887602"/>
                  </a:lnTo>
                  <a:lnTo>
                    <a:pt x="136525" y="859917"/>
                  </a:lnTo>
                  <a:lnTo>
                    <a:pt x="108965" y="831214"/>
                  </a:lnTo>
                  <a:lnTo>
                    <a:pt x="84200" y="801497"/>
                  </a:lnTo>
                  <a:lnTo>
                    <a:pt x="43814" y="739394"/>
                  </a:lnTo>
                  <a:lnTo>
                    <a:pt x="16128" y="674243"/>
                  </a:lnTo>
                  <a:lnTo>
                    <a:pt x="1777" y="606298"/>
                  </a:lnTo>
                  <a:lnTo>
                    <a:pt x="0" y="57150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694426" y="1953005"/>
            <a:ext cx="8566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62455" y="2791967"/>
            <a:ext cx="5562600" cy="3255645"/>
            <a:chOff x="1362455" y="2791967"/>
            <a:chExt cx="5562600" cy="325564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2455" y="4139183"/>
              <a:ext cx="2243327" cy="19080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5023" y="4437888"/>
              <a:ext cx="1780031" cy="12039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24455" y="2791967"/>
              <a:ext cx="451104" cy="16428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67711" y="4016375"/>
              <a:ext cx="170433" cy="17106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333878" y="2828543"/>
              <a:ext cx="40005" cy="1283335"/>
            </a:xfrm>
            <a:custGeom>
              <a:avLst/>
              <a:gdLst/>
              <a:ahLst/>
              <a:cxnLst/>
              <a:rect l="l" t="t" r="r" b="b"/>
              <a:pathLst>
                <a:path w="40005" h="1283335">
                  <a:moveTo>
                    <a:pt x="39496" y="0"/>
                  </a:moveTo>
                  <a:lnTo>
                    <a:pt x="1523" y="0"/>
                  </a:lnTo>
                  <a:lnTo>
                    <a:pt x="0" y="1250695"/>
                  </a:lnTo>
                  <a:lnTo>
                    <a:pt x="18922" y="1283334"/>
                  </a:lnTo>
                  <a:lnTo>
                    <a:pt x="37845" y="1250695"/>
                  </a:lnTo>
                  <a:lnTo>
                    <a:pt x="39496" y="0"/>
                  </a:lnTo>
                  <a:close/>
                </a:path>
              </a:pathLst>
            </a:custGeom>
            <a:solidFill>
              <a:srgbClr val="6E2E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080008" y="3134995"/>
            <a:ext cx="1204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R1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Granted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68295" y="3290392"/>
            <a:ext cx="12039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R2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Granted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85744" y="2429255"/>
            <a:ext cx="2929255" cy="2158365"/>
            <a:chOff x="3285744" y="2429255"/>
            <a:chExt cx="2929255" cy="2158365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85744" y="2429255"/>
              <a:ext cx="2282952" cy="215798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70677" y="4253991"/>
              <a:ext cx="172466" cy="17119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343656" y="2465831"/>
              <a:ext cx="1962785" cy="1890395"/>
            </a:xfrm>
            <a:custGeom>
              <a:avLst/>
              <a:gdLst/>
              <a:ahLst/>
              <a:cxnLst/>
              <a:rect l="l" t="t" r="r" b="b"/>
              <a:pathLst>
                <a:path w="1962785" h="1890395">
                  <a:moveTo>
                    <a:pt x="1962658" y="1857375"/>
                  </a:moveTo>
                  <a:lnTo>
                    <a:pt x="1908175" y="1853184"/>
                  </a:lnTo>
                  <a:lnTo>
                    <a:pt x="1862582" y="1846834"/>
                  </a:lnTo>
                  <a:lnTo>
                    <a:pt x="1794891" y="1832737"/>
                  </a:lnTo>
                  <a:lnTo>
                    <a:pt x="1750187" y="1820545"/>
                  </a:lnTo>
                  <a:lnTo>
                    <a:pt x="1683893" y="1798193"/>
                  </a:lnTo>
                  <a:lnTo>
                    <a:pt x="1640459" y="1780540"/>
                  </a:lnTo>
                  <a:lnTo>
                    <a:pt x="1597660" y="1760855"/>
                  </a:lnTo>
                  <a:lnTo>
                    <a:pt x="1555623" y="1739265"/>
                  </a:lnTo>
                  <a:lnTo>
                    <a:pt x="1514475" y="1715770"/>
                  </a:lnTo>
                  <a:lnTo>
                    <a:pt x="1474597" y="1690497"/>
                  </a:lnTo>
                  <a:lnTo>
                    <a:pt x="1435481" y="1663573"/>
                  </a:lnTo>
                  <a:lnTo>
                    <a:pt x="1397508" y="1635125"/>
                  </a:lnTo>
                  <a:lnTo>
                    <a:pt x="1360932" y="1605153"/>
                  </a:lnTo>
                  <a:lnTo>
                    <a:pt x="1325626" y="1573784"/>
                  </a:lnTo>
                  <a:lnTo>
                    <a:pt x="1291844" y="1540891"/>
                  </a:lnTo>
                  <a:lnTo>
                    <a:pt x="1259459" y="1506855"/>
                  </a:lnTo>
                  <a:lnTo>
                    <a:pt x="1228725" y="1471676"/>
                  </a:lnTo>
                  <a:lnTo>
                    <a:pt x="1199896" y="1435481"/>
                  </a:lnTo>
                  <a:lnTo>
                    <a:pt x="1172718" y="1398270"/>
                  </a:lnTo>
                  <a:lnTo>
                    <a:pt x="1147572" y="1360043"/>
                  </a:lnTo>
                  <a:lnTo>
                    <a:pt x="1124331" y="1321308"/>
                  </a:lnTo>
                  <a:lnTo>
                    <a:pt x="1103122" y="1281430"/>
                  </a:lnTo>
                  <a:lnTo>
                    <a:pt x="1084072" y="1241171"/>
                  </a:lnTo>
                  <a:lnTo>
                    <a:pt x="1067308" y="1200277"/>
                  </a:lnTo>
                  <a:lnTo>
                    <a:pt x="1052957" y="1159129"/>
                  </a:lnTo>
                  <a:lnTo>
                    <a:pt x="1041019" y="1117473"/>
                  </a:lnTo>
                  <a:lnTo>
                    <a:pt x="1031494" y="1075575"/>
                  </a:lnTo>
                  <a:lnTo>
                    <a:pt x="1024636" y="1033272"/>
                  </a:lnTo>
                  <a:lnTo>
                    <a:pt x="1020445" y="991108"/>
                  </a:lnTo>
                  <a:lnTo>
                    <a:pt x="1018794" y="947674"/>
                  </a:lnTo>
                  <a:lnTo>
                    <a:pt x="1018413" y="925449"/>
                  </a:lnTo>
                  <a:lnTo>
                    <a:pt x="1017270" y="902970"/>
                  </a:lnTo>
                  <a:lnTo>
                    <a:pt x="1012825" y="858266"/>
                  </a:lnTo>
                  <a:lnTo>
                    <a:pt x="1005586" y="813943"/>
                  </a:lnTo>
                  <a:lnTo>
                    <a:pt x="995680" y="769874"/>
                  </a:lnTo>
                  <a:lnTo>
                    <a:pt x="983234" y="726059"/>
                  </a:lnTo>
                  <a:lnTo>
                    <a:pt x="968121" y="682752"/>
                  </a:lnTo>
                  <a:lnTo>
                    <a:pt x="950595" y="640207"/>
                  </a:lnTo>
                  <a:lnTo>
                    <a:pt x="930656" y="598170"/>
                  </a:lnTo>
                  <a:lnTo>
                    <a:pt x="908685" y="556641"/>
                  </a:lnTo>
                  <a:lnTo>
                    <a:pt x="884555" y="516255"/>
                  </a:lnTo>
                  <a:lnTo>
                    <a:pt x="858266" y="476758"/>
                  </a:lnTo>
                  <a:lnTo>
                    <a:pt x="830199" y="438150"/>
                  </a:lnTo>
                  <a:lnTo>
                    <a:pt x="800354" y="400558"/>
                  </a:lnTo>
                  <a:lnTo>
                    <a:pt x="768604" y="364236"/>
                  </a:lnTo>
                  <a:lnTo>
                    <a:pt x="735203" y="329057"/>
                  </a:lnTo>
                  <a:lnTo>
                    <a:pt x="700151" y="295275"/>
                  </a:lnTo>
                  <a:lnTo>
                    <a:pt x="663702" y="262763"/>
                  </a:lnTo>
                  <a:lnTo>
                    <a:pt x="625856" y="231648"/>
                  </a:lnTo>
                  <a:lnTo>
                    <a:pt x="586740" y="202311"/>
                  </a:lnTo>
                  <a:lnTo>
                    <a:pt x="546354" y="174371"/>
                  </a:lnTo>
                  <a:lnTo>
                    <a:pt x="504825" y="148336"/>
                  </a:lnTo>
                  <a:lnTo>
                    <a:pt x="462407" y="124079"/>
                  </a:lnTo>
                  <a:lnTo>
                    <a:pt x="418846" y="101727"/>
                  </a:lnTo>
                  <a:lnTo>
                    <a:pt x="374523" y="81280"/>
                  </a:lnTo>
                  <a:lnTo>
                    <a:pt x="329438" y="62865"/>
                  </a:lnTo>
                  <a:lnTo>
                    <a:pt x="283845" y="46736"/>
                  </a:lnTo>
                  <a:lnTo>
                    <a:pt x="237363" y="32766"/>
                  </a:lnTo>
                  <a:lnTo>
                    <a:pt x="190500" y="21209"/>
                  </a:lnTo>
                  <a:lnTo>
                    <a:pt x="143383" y="12192"/>
                  </a:lnTo>
                  <a:lnTo>
                    <a:pt x="95758" y="5461"/>
                  </a:lnTo>
                  <a:lnTo>
                    <a:pt x="47879" y="1397"/>
                  </a:lnTo>
                  <a:lnTo>
                    <a:pt x="508" y="0"/>
                  </a:lnTo>
                  <a:lnTo>
                    <a:pt x="0" y="38100"/>
                  </a:lnTo>
                  <a:lnTo>
                    <a:pt x="23368" y="38481"/>
                  </a:lnTo>
                  <a:lnTo>
                    <a:pt x="46355" y="39370"/>
                  </a:lnTo>
                  <a:lnTo>
                    <a:pt x="92075" y="43307"/>
                  </a:lnTo>
                  <a:lnTo>
                    <a:pt x="137541" y="49784"/>
                  </a:lnTo>
                  <a:lnTo>
                    <a:pt x="182753" y="58547"/>
                  </a:lnTo>
                  <a:lnTo>
                    <a:pt x="227838" y="69723"/>
                  </a:lnTo>
                  <a:lnTo>
                    <a:pt x="272415" y="83312"/>
                  </a:lnTo>
                  <a:lnTo>
                    <a:pt x="316611" y="98933"/>
                  </a:lnTo>
                  <a:lnTo>
                    <a:pt x="360172" y="116586"/>
                  </a:lnTo>
                  <a:lnTo>
                    <a:pt x="402971" y="136271"/>
                  </a:lnTo>
                  <a:lnTo>
                    <a:pt x="445008" y="157988"/>
                  </a:lnTo>
                  <a:lnTo>
                    <a:pt x="486029" y="181483"/>
                  </a:lnTo>
                  <a:lnTo>
                    <a:pt x="526034" y="206629"/>
                  </a:lnTo>
                  <a:lnTo>
                    <a:pt x="565023" y="233680"/>
                  </a:lnTo>
                  <a:lnTo>
                    <a:pt x="602996" y="262255"/>
                  </a:lnTo>
                  <a:lnTo>
                    <a:pt x="639572" y="292227"/>
                  </a:lnTo>
                  <a:lnTo>
                    <a:pt x="674878" y="323596"/>
                  </a:lnTo>
                  <a:lnTo>
                    <a:pt x="708787" y="356489"/>
                  </a:lnTo>
                  <a:lnTo>
                    <a:pt x="740918" y="390398"/>
                  </a:lnTo>
                  <a:lnTo>
                    <a:pt x="771652" y="425704"/>
                  </a:lnTo>
                  <a:lnTo>
                    <a:pt x="800608" y="461899"/>
                  </a:lnTo>
                  <a:lnTo>
                    <a:pt x="827659" y="499237"/>
                  </a:lnTo>
                  <a:lnTo>
                    <a:pt x="852805" y="537337"/>
                  </a:lnTo>
                  <a:lnTo>
                    <a:pt x="876046" y="576326"/>
                  </a:lnTo>
                  <a:lnTo>
                    <a:pt x="897128" y="615950"/>
                  </a:lnTo>
                  <a:lnTo>
                    <a:pt x="916051" y="656082"/>
                  </a:lnTo>
                  <a:lnTo>
                    <a:pt x="932688" y="696849"/>
                  </a:lnTo>
                  <a:lnTo>
                    <a:pt x="947039" y="738124"/>
                  </a:lnTo>
                  <a:lnTo>
                    <a:pt x="958977" y="779780"/>
                  </a:lnTo>
                  <a:lnTo>
                    <a:pt x="968248" y="821690"/>
                  </a:lnTo>
                  <a:lnTo>
                    <a:pt x="975106" y="863727"/>
                  </a:lnTo>
                  <a:lnTo>
                    <a:pt x="979297" y="906145"/>
                  </a:lnTo>
                  <a:lnTo>
                    <a:pt x="981329" y="970788"/>
                  </a:lnTo>
                  <a:lnTo>
                    <a:pt x="984250" y="1015365"/>
                  </a:lnTo>
                  <a:lnTo>
                    <a:pt x="990092" y="1059942"/>
                  </a:lnTo>
                  <a:lnTo>
                    <a:pt x="998728" y="1104265"/>
                  </a:lnTo>
                  <a:lnTo>
                    <a:pt x="1009904" y="1148207"/>
                  </a:lnTo>
                  <a:lnTo>
                    <a:pt x="1023747" y="1191768"/>
                  </a:lnTo>
                  <a:lnTo>
                    <a:pt x="1040003" y="1234821"/>
                  </a:lnTo>
                  <a:lnTo>
                    <a:pt x="1058672" y="1277239"/>
                  </a:lnTo>
                  <a:lnTo>
                    <a:pt x="1090676" y="1339215"/>
                  </a:lnTo>
                  <a:lnTo>
                    <a:pt x="1114933" y="1379601"/>
                  </a:lnTo>
                  <a:lnTo>
                    <a:pt x="1141095" y="1419352"/>
                  </a:lnTo>
                  <a:lnTo>
                    <a:pt x="1169035" y="1457960"/>
                  </a:lnTo>
                  <a:lnTo>
                    <a:pt x="1199007" y="1495552"/>
                  </a:lnTo>
                  <a:lnTo>
                    <a:pt x="1230757" y="1532001"/>
                  </a:lnTo>
                  <a:lnTo>
                    <a:pt x="1264158" y="1567307"/>
                  </a:lnTo>
                  <a:lnTo>
                    <a:pt x="1299083" y="1601089"/>
                  </a:lnTo>
                  <a:lnTo>
                    <a:pt x="1335532" y="1633601"/>
                  </a:lnTo>
                  <a:lnTo>
                    <a:pt x="1373378" y="1664589"/>
                  </a:lnTo>
                  <a:lnTo>
                    <a:pt x="1412621" y="1694053"/>
                  </a:lnTo>
                  <a:lnTo>
                    <a:pt x="1452880" y="1721993"/>
                  </a:lnTo>
                  <a:lnTo>
                    <a:pt x="1494409" y="1748028"/>
                  </a:lnTo>
                  <a:lnTo>
                    <a:pt x="1536700" y="1772285"/>
                  </a:lnTo>
                  <a:lnTo>
                    <a:pt x="1580261" y="1794764"/>
                  </a:lnTo>
                  <a:lnTo>
                    <a:pt x="1624584" y="1815084"/>
                  </a:lnTo>
                  <a:lnTo>
                    <a:pt x="1669669" y="1833499"/>
                  </a:lnTo>
                  <a:lnTo>
                    <a:pt x="1715389" y="1849628"/>
                  </a:lnTo>
                  <a:lnTo>
                    <a:pt x="1761871" y="1863598"/>
                  </a:lnTo>
                  <a:lnTo>
                    <a:pt x="1808734" y="1875155"/>
                  </a:lnTo>
                  <a:lnTo>
                    <a:pt x="1855851" y="1884553"/>
                  </a:lnTo>
                  <a:lnTo>
                    <a:pt x="1897253" y="1890268"/>
                  </a:lnTo>
                  <a:lnTo>
                    <a:pt x="1923923" y="1875536"/>
                  </a:lnTo>
                  <a:lnTo>
                    <a:pt x="1952498" y="1859788"/>
                  </a:lnTo>
                  <a:lnTo>
                    <a:pt x="1962531" y="1859788"/>
                  </a:lnTo>
                  <a:lnTo>
                    <a:pt x="1962658" y="1857375"/>
                  </a:lnTo>
                  <a:close/>
                </a:path>
              </a:pathLst>
            </a:custGeom>
            <a:solidFill>
              <a:srgbClr val="8062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43656" y="2657855"/>
              <a:ext cx="2871216" cy="192938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72256" y="4250944"/>
              <a:ext cx="172339" cy="17132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619373" y="2694431"/>
              <a:ext cx="2543175" cy="1662430"/>
            </a:xfrm>
            <a:custGeom>
              <a:avLst/>
              <a:gdLst/>
              <a:ahLst/>
              <a:cxnLst/>
              <a:rect l="l" t="t" r="r" b="b"/>
              <a:pathLst>
                <a:path w="2543175" h="1662429">
                  <a:moveTo>
                    <a:pt x="2543175" y="1016"/>
                  </a:moveTo>
                  <a:lnTo>
                    <a:pt x="2505075" y="0"/>
                  </a:lnTo>
                  <a:lnTo>
                    <a:pt x="2504186" y="38481"/>
                  </a:lnTo>
                  <a:lnTo>
                    <a:pt x="2496820" y="113792"/>
                  </a:lnTo>
                  <a:lnTo>
                    <a:pt x="2490597" y="151384"/>
                  </a:lnTo>
                  <a:lnTo>
                    <a:pt x="2482596" y="188722"/>
                  </a:lnTo>
                  <a:lnTo>
                    <a:pt x="2472817" y="226441"/>
                  </a:lnTo>
                  <a:lnTo>
                    <a:pt x="2461387" y="263652"/>
                  </a:lnTo>
                  <a:lnTo>
                    <a:pt x="2448433" y="300990"/>
                  </a:lnTo>
                  <a:lnTo>
                    <a:pt x="2433701" y="338201"/>
                  </a:lnTo>
                  <a:lnTo>
                    <a:pt x="2417445" y="375158"/>
                  </a:lnTo>
                  <a:lnTo>
                    <a:pt x="2399538" y="411988"/>
                  </a:lnTo>
                  <a:lnTo>
                    <a:pt x="2380107" y="448691"/>
                  </a:lnTo>
                  <a:lnTo>
                    <a:pt x="2359152" y="485267"/>
                  </a:lnTo>
                  <a:lnTo>
                    <a:pt x="2336800" y="521589"/>
                  </a:lnTo>
                  <a:lnTo>
                    <a:pt x="2287397" y="593598"/>
                  </a:lnTo>
                  <a:lnTo>
                    <a:pt x="2232660" y="664337"/>
                  </a:lnTo>
                  <a:lnTo>
                    <a:pt x="2172335" y="733933"/>
                  </a:lnTo>
                  <a:lnTo>
                    <a:pt x="2106930" y="801878"/>
                  </a:lnTo>
                  <a:lnTo>
                    <a:pt x="2036572" y="868438"/>
                  </a:lnTo>
                  <a:lnTo>
                    <a:pt x="1961388" y="933069"/>
                  </a:lnTo>
                  <a:lnTo>
                    <a:pt x="1881759" y="995934"/>
                  </a:lnTo>
                  <a:lnTo>
                    <a:pt x="1797939" y="1056767"/>
                  </a:lnTo>
                  <a:lnTo>
                    <a:pt x="1710182" y="1115187"/>
                  </a:lnTo>
                  <a:lnTo>
                    <a:pt x="1618488" y="1171575"/>
                  </a:lnTo>
                  <a:lnTo>
                    <a:pt x="1523238" y="1225169"/>
                  </a:lnTo>
                  <a:lnTo>
                    <a:pt x="1424813" y="1276223"/>
                  </a:lnTo>
                  <a:lnTo>
                    <a:pt x="1323340" y="1324356"/>
                  </a:lnTo>
                  <a:lnTo>
                    <a:pt x="1219073" y="1369568"/>
                  </a:lnTo>
                  <a:lnTo>
                    <a:pt x="1112012" y="1411605"/>
                  </a:lnTo>
                  <a:lnTo>
                    <a:pt x="1002665" y="1450340"/>
                  </a:lnTo>
                  <a:lnTo>
                    <a:pt x="891286" y="1485646"/>
                  </a:lnTo>
                  <a:lnTo>
                    <a:pt x="778002" y="1517269"/>
                  </a:lnTo>
                  <a:lnTo>
                    <a:pt x="663194" y="1545336"/>
                  </a:lnTo>
                  <a:lnTo>
                    <a:pt x="546862" y="1569339"/>
                  </a:lnTo>
                  <a:lnTo>
                    <a:pt x="429387" y="1589405"/>
                  </a:lnTo>
                  <a:lnTo>
                    <a:pt x="311023" y="1605280"/>
                  </a:lnTo>
                  <a:lnTo>
                    <a:pt x="192024" y="1616710"/>
                  </a:lnTo>
                  <a:lnTo>
                    <a:pt x="72390" y="1623695"/>
                  </a:lnTo>
                  <a:lnTo>
                    <a:pt x="60833" y="1623949"/>
                  </a:lnTo>
                  <a:lnTo>
                    <a:pt x="28448" y="1643634"/>
                  </a:lnTo>
                  <a:lnTo>
                    <a:pt x="54483" y="1627759"/>
                  </a:lnTo>
                  <a:lnTo>
                    <a:pt x="0" y="1627759"/>
                  </a:lnTo>
                  <a:lnTo>
                    <a:pt x="635" y="1660652"/>
                  </a:lnTo>
                  <a:lnTo>
                    <a:pt x="58839" y="1660652"/>
                  </a:lnTo>
                  <a:lnTo>
                    <a:pt x="61341" y="1662049"/>
                  </a:lnTo>
                  <a:lnTo>
                    <a:pt x="195580" y="1654683"/>
                  </a:lnTo>
                  <a:lnTo>
                    <a:pt x="315976" y="1642999"/>
                  </a:lnTo>
                  <a:lnTo>
                    <a:pt x="435737" y="1626997"/>
                  </a:lnTo>
                  <a:lnTo>
                    <a:pt x="554609" y="1606677"/>
                  </a:lnTo>
                  <a:lnTo>
                    <a:pt x="672211" y="1582293"/>
                  </a:lnTo>
                  <a:lnTo>
                    <a:pt x="788289" y="1554099"/>
                  </a:lnTo>
                  <a:lnTo>
                    <a:pt x="902843" y="1521968"/>
                  </a:lnTo>
                  <a:lnTo>
                    <a:pt x="1015492" y="1486281"/>
                  </a:lnTo>
                  <a:lnTo>
                    <a:pt x="1125982" y="1447038"/>
                  </a:lnTo>
                  <a:lnTo>
                    <a:pt x="1234186" y="1404620"/>
                  </a:lnTo>
                  <a:lnTo>
                    <a:pt x="1339596" y="1358773"/>
                  </a:lnTo>
                  <a:lnTo>
                    <a:pt x="1442339" y="1310132"/>
                  </a:lnTo>
                  <a:lnTo>
                    <a:pt x="1542034" y="1258443"/>
                  </a:lnTo>
                  <a:lnTo>
                    <a:pt x="1638427" y="1204087"/>
                  </a:lnTo>
                  <a:lnTo>
                    <a:pt x="1731264" y="1147064"/>
                  </a:lnTo>
                  <a:lnTo>
                    <a:pt x="1820291" y="1087628"/>
                  </a:lnTo>
                  <a:lnTo>
                    <a:pt x="1905381" y="1025906"/>
                  </a:lnTo>
                  <a:lnTo>
                    <a:pt x="1986280" y="961898"/>
                  </a:lnTo>
                  <a:lnTo>
                    <a:pt x="2062734" y="896124"/>
                  </a:lnTo>
                  <a:lnTo>
                    <a:pt x="2134362" y="828294"/>
                  </a:lnTo>
                  <a:lnTo>
                    <a:pt x="2201164" y="758952"/>
                  </a:lnTo>
                  <a:lnTo>
                    <a:pt x="2262759" y="687705"/>
                  </a:lnTo>
                  <a:lnTo>
                    <a:pt x="2318893" y="615188"/>
                  </a:lnTo>
                  <a:lnTo>
                    <a:pt x="2369185" y="541528"/>
                  </a:lnTo>
                  <a:lnTo>
                    <a:pt x="2392299" y="504317"/>
                  </a:lnTo>
                  <a:lnTo>
                    <a:pt x="2413762" y="466598"/>
                  </a:lnTo>
                  <a:lnTo>
                    <a:pt x="2433828" y="428625"/>
                  </a:lnTo>
                  <a:lnTo>
                    <a:pt x="2452370" y="390525"/>
                  </a:lnTo>
                  <a:lnTo>
                    <a:pt x="2469134" y="352171"/>
                  </a:lnTo>
                  <a:lnTo>
                    <a:pt x="2484374" y="313563"/>
                  </a:lnTo>
                  <a:lnTo>
                    <a:pt x="2497836" y="274828"/>
                  </a:lnTo>
                  <a:lnTo>
                    <a:pt x="2509647" y="235966"/>
                  </a:lnTo>
                  <a:lnTo>
                    <a:pt x="2519807" y="196723"/>
                  </a:lnTo>
                  <a:lnTo>
                    <a:pt x="2528189" y="157607"/>
                  </a:lnTo>
                  <a:lnTo>
                    <a:pt x="2534666" y="118364"/>
                  </a:lnTo>
                  <a:lnTo>
                    <a:pt x="2539365" y="78994"/>
                  </a:lnTo>
                  <a:lnTo>
                    <a:pt x="2542159" y="39497"/>
                  </a:lnTo>
                  <a:lnTo>
                    <a:pt x="2543175" y="10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910333" y="6084823"/>
            <a:ext cx="132207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Arial MT"/>
                <a:cs typeface="Arial MT"/>
              </a:rPr>
              <a:t>Resource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1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15788" y="5907125"/>
            <a:ext cx="132207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Arial MT"/>
                <a:cs typeface="Arial MT"/>
              </a:rPr>
              <a:t>Resource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2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93078" y="3059048"/>
            <a:ext cx="2094230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65760" marR="5080" indent="-353695">
              <a:lnSpc>
                <a:spcPct val="101000"/>
              </a:lnSpc>
              <a:spcBef>
                <a:spcPts val="75"/>
              </a:spcBef>
            </a:pPr>
            <a:r>
              <a:rPr sz="1800" dirty="0">
                <a:latin typeface="Arial MT"/>
                <a:cs typeface="Arial MT"/>
              </a:rPr>
              <a:t>R1, process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blocked </a:t>
            </a:r>
            <a:r>
              <a:rPr sz="1800" dirty="0">
                <a:latin typeface="Arial MT"/>
                <a:cs typeface="Arial MT"/>
              </a:rPr>
              <a:t>until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available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185724" y="253060"/>
            <a:ext cx="5622925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b="0" dirty="0">
                <a:latin typeface="Arial MT"/>
                <a:cs typeface="Arial MT"/>
              </a:rPr>
              <a:t>Which</a:t>
            </a:r>
            <a:r>
              <a:rPr sz="2750" b="0" spc="-5" dirty="0">
                <a:latin typeface="Arial MT"/>
                <a:cs typeface="Arial MT"/>
              </a:rPr>
              <a:t> </a:t>
            </a:r>
            <a:r>
              <a:rPr sz="2750" b="0" dirty="0">
                <a:latin typeface="Arial MT"/>
                <a:cs typeface="Arial MT"/>
              </a:rPr>
              <a:t>condition</a:t>
            </a:r>
            <a:r>
              <a:rPr sz="2750" b="0" spc="85" dirty="0">
                <a:latin typeface="Arial MT"/>
                <a:cs typeface="Arial MT"/>
              </a:rPr>
              <a:t> </a:t>
            </a:r>
            <a:r>
              <a:rPr sz="2750" b="0" dirty="0">
                <a:latin typeface="Arial MT"/>
                <a:cs typeface="Arial MT"/>
              </a:rPr>
              <a:t>of</a:t>
            </a:r>
            <a:r>
              <a:rPr sz="2750" b="0" spc="20" dirty="0">
                <a:latin typeface="Arial MT"/>
                <a:cs typeface="Arial MT"/>
              </a:rPr>
              <a:t> </a:t>
            </a:r>
            <a:r>
              <a:rPr sz="2750" b="0" dirty="0">
                <a:latin typeface="Arial MT"/>
                <a:cs typeface="Arial MT"/>
              </a:rPr>
              <a:t>deadlock</a:t>
            </a:r>
            <a:r>
              <a:rPr sz="2750" b="0" spc="70" dirty="0">
                <a:latin typeface="Arial MT"/>
                <a:cs typeface="Arial MT"/>
              </a:rPr>
              <a:t> </a:t>
            </a:r>
            <a:r>
              <a:rPr sz="2750" b="0" dirty="0">
                <a:latin typeface="Arial MT"/>
                <a:cs typeface="Arial MT"/>
              </a:rPr>
              <a:t>is</a:t>
            </a:r>
            <a:r>
              <a:rPr sz="2750" b="0" spc="80" dirty="0">
                <a:latin typeface="Arial MT"/>
                <a:cs typeface="Arial MT"/>
              </a:rPr>
              <a:t> </a:t>
            </a:r>
            <a:r>
              <a:rPr sz="2750" b="0" spc="-10" dirty="0">
                <a:latin typeface="Arial MT"/>
                <a:cs typeface="Arial MT"/>
              </a:rPr>
              <a:t>this?</a:t>
            </a:r>
            <a:endParaRPr sz="275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1122273"/>
            <a:ext cx="9144000" cy="93980"/>
            <a:chOff x="0" y="1122273"/>
            <a:chExt cx="9144000" cy="93980"/>
          </a:xfrm>
        </p:grpSpPr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122273"/>
              <a:ext cx="9144000" cy="9347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095" y="1133855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86029" y="6607971"/>
            <a:ext cx="69850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07/04/202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706689" y="1782889"/>
            <a:ext cx="2024380" cy="1167765"/>
            <a:chOff x="1706689" y="1782889"/>
            <a:chExt cx="2024380" cy="1167765"/>
          </a:xfrm>
        </p:grpSpPr>
        <p:sp>
          <p:nvSpPr>
            <p:cNvPr id="7" name="object 7"/>
            <p:cNvSpPr/>
            <p:nvPr/>
          </p:nvSpPr>
          <p:spPr>
            <a:xfrm>
              <a:off x="1719071" y="1795271"/>
              <a:ext cx="1999614" cy="1143000"/>
            </a:xfrm>
            <a:custGeom>
              <a:avLst/>
              <a:gdLst/>
              <a:ahLst/>
              <a:cxnLst/>
              <a:rect l="l" t="t" r="r" b="b"/>
              <a:pathLst>
                <a:path w="1999614" h="1143000">
                  <a:moveTo>
                    <a:pt x="999744" y="0"/>
                  </a:moveTo>
                  <a:lnTo>
                    <a:pt x="938783" y="1015"/>
                  </a:lnTo>
                  <a:lnTo>
                    <a:pt x="878839" y="4190"/>
                  </a:lnTo>
                  <a:lnTo>
                    <a:pt x="820038" y="9143"/>
                  </a:lnTo>
                  <a:lnTo>
                    <a:pt x="762253" y="16255"/>
                  </a:lnTo>
                  <a:lnTo>
                    <a:pt x="705865" y="25018"/>
                  </a:lnTo>
                  <a:lnTo>
                    <a:pt x="650875" y="35687"/>
                  </a:lnTo>
                  <a:lnTo>
                    <a:pt x="597280" y="48132"/>
                  </a:lnTo>
                  <a:lnTo>
                    <a:pt x="545338" y="62229"/>
                  </a:lnTo>
                  <a:lnTo>
                    <a:pt x="495172" y="77977"/>
                  </a:lnTo>
                  <a:lnTo>
                    <a:pt x="446658" y="95250"/>
                  </a:lnTo>
                  <a:lnTo>
                    <a:pt x="400176" y="114173"/>
                  </a:lnTo>
                  <a:lnTo>
                    <a:pt x="355600" y="134365"/>
                  </a:lnTo>
                  <a:lnTo>
                    <a:pt x="313181" y="156082"/>
                  </a:lnTo>
                  <a:lnTo>
                    <a:pt x="272922" y="178942"/>
                  </a:lnTo>
                  <a:lnTo>
                    <a:pt x="235076" y="203200"/>
                  </a:lnTo>
                  <a:lnTo>
                    <a:pt x="199644" y="228726"/>
                  </a:lnTo>
                  <a:lnTo>
                    <a:pt x="166750" y="255269"/>
                  </a:lnTo>
                  <a:lnTo>
                    <a:pt x="136525" y="282955"/>
                  </a:lnTo>
                  <a:lnTo>
                    <a:pt x="108965" y="311785"/>
                  </a:lnTo>
                  <a:lnTo>
                    <a:pt x="84200" y="341375"/>
                  </a:lnTo>
                  <a:lnTo>
                    <a:pt x="43814" y="403478"/>
                  </a:lnTo>
                  <a:lnTo>
                    <a:pt x="16128" y="468756"/>
                  </a:lnTo>
                  <a:lnTo>
                    <a:pt x="1777" y="536701"/>
                  </a:lnTo>
                  <a:lnTo>
                    <a:pt x="0" y="571500"/>
                  </a:lnTo>
                  <a:lnTo>
                    <a:pt x="1777" y="606298"/>
                  </a:lnTo>
                  <a:lnTo>
                    <a:pt x="16128" y="674242"/>
                  </a:lnTo>
                  <a:lnTo>
                    <a:pt x="43814" y="739393"/>
                  </a:lnTo>
                  <a:lnTo>
                    <a:pt x="84200" y="801497"/>
                  </a:lnTo>
                  <a:lnTo>
                    <a:pt x="108965" y="831214"/>
                  </a:lnTo>
                  <a:lnTo>
                    <a:pt x="136525" y="859916"/>
                  </a:lnTo>
                  <a:lnTo>
                    <a:pt x="166750" y="887602"/>
                  </a:lnTo>
                  <a:lnTo>
                    <a:pt x="199644" y="914273"/>
                  </a:lnTo>
                  <a:lnTo>
                    <a:pt x="235076" y="939673"/>
                  </a:lnTo>
                  <a:lnTo>
                    <a:pt x="272922" y="963929"/>
                  </a:lnTo>
                  <a:lnTo>
                    <a:pt x="313181" y="986916"/>
                  </a:lnTo>
                  <a:lnTo>
                    <a:pt x="355600" y="1008633"/>
                  </a:lnTo>
                  <a:lnTo>
                    <a:pt x="400176" y="1028826"/>
                  </a:lnTo>
                  <a:lnTo>
                    <a:pt x="446658" y="1047623"/>
                  </a:lnTo>
                  <a:lnTo>
                    <a:pt x="495172" y="1065022"/>
                  </a:lnTo>
                  <a:lnTo>
                    <a:pt x="545338" y="1080642"/>
                  </a:lnTo>
                  <a:lnTo>
                    <a:pt x="597280" y="1094866"/>
                  </a:lnTo>
                  <a:lnTo>
                    <a:pt x="650875" y="1107186"/>
                  </a:lnTo>
                  <a:lnTo>
                    <a:pt x="705865" y="1117980"/>
                  </a:lnTo>
                  <a:lnTo>
                    <a:pt x="762253" y="1126743"/>
                  </a:lnTo>
                  <a:lnTo>
                    <a:pt x="820038" y="1133728"/>
                  </a:lnTo>
                  <a:lnTo>
                    <a:pt x="878839" y="1138808"/>
                  </a:lnTo>
                  <a:lnTo>
                    <a:pt x="938783" y="1141983"/>
                  </a:lnTo>
                  <a:lnTo>
                    <a:pt x="999744" y="1143000"/>
                  </a:lnTo>
                  <a:lnTo>
                    <a:pt x="1060703" y="1141983"/>
                  </a:lnTo>
                  <a:lnTo>
                    <a:pt x="1120520" y="1138808"/>
                  </a:lnTo>
                  <a:lnTo>
                    <a:pt x="1179448" y="1133728"/>
                  </a:lnTo>
                  <a:lnTo>
                    <a:pt x="1237107" y="1126743"/>
                  </a:lnTo>
                  <a:lnTo>
                    <a:pt x="1293495" y="1117980"/>
                  </a:lnTo>
                  <a:lnTo>
                    <a:pt x="1348613" y="1107186"/>
                  </a:lnTo>
                  <a:lnTo>
                    <a:pt x="1402079" y="1094866"/>
                  </a:lnTo>
                  <a:lnTo>
                    <a:pt x="1454022" y="1080642"/>
                  </a:lnTo>
                  <a:lnTo>
                    <a:pt x="1504314" y="1065022"/>
                  </a:lnTo>
                  <a:lnTo>
                    <a:pt x="1552828" y="1047623"/>
                  </a:lnTo>
                  <a:lnTo>
                    <a:pt x="1599311" y="1028826"/>
                  </a:lnTo>
                  <a:lnTo>
                    <a:pt x="1643888" y="1008633"/>
                  </a:lnTo>
                  <a:lnTo>
                    <a:pt x="1686305" y="986916"/>
                  </a:lnTo>
                  <a:lnTo>
                    <a:pt x="1726438" y="963929"/>
                  </a:lnTo>
                  <a:lnTo>
                    <a:pt x="1764411" y="939673"/>
                  </a:lnTo>
                  <a:lnTo>
                    <a:pt x="1799843" y="914273"/>
                  </a:lnTo>
                  <a:lnTo>
                    <a:pt x="1832737" y="887602"/>
                  </a:lnTo>
                  <a:lnTo>
                    <a:pt x="1862963" y="859916"/>
                  </a:lnTo>
                  <a:lnTo>
                    <a:pt x="1890522" y="831214"/>
                  </a:lnTo>
                  <a:lnTo>
                    <a:pt x="1915160" y="801497"/>
                  </a:lnTo>
                  <a:lnTo>
                    <a:pt x="1955673" y="739393"/>
                  </a:lnTo>
                  <a:lnTo>
                    <a:pt x="1983358" y="674242"/>
                  </a:lnTo>
                  <a:lnTo>
                    <a:pt x="1997710" y="606298"/>
                  </a:lnTo>
                  <a:lnTo>
                    <a:pt x="1999488" y="571500"/>
                  </a:lnTo>
                  <a:lnTo>
                    <a:pt x="1997710" y="536701"/>
                  </a:lnTo>
                  <a:lnTo>
                    <a:pt x="1983358" y="468756"/>
                  </a:lnTo>
                  <a:lnTo>
                    <a:pt x="1955673" y="403478"/>
                  </a:lnTo>
                  <a:lnTo>
                    <a:pt x="1915160" y="341375"/>
                  </a:lnTo>
                  <a:lnTo>
                    <a:pt x="1890522" y="311785"/>
                  </a:lnTo>
                  <a:lnTo>
                    <a:pt x="1862963" y="282955"/>
                  </a:lnTo>
                  <a:lnTo>
                    <a:pt x="1832737" y="255269"/>
                  </a:lnTo>
                  <a:lnTo>
                    <a:pt x="1799843" y="228726"/>
                  </a:lnTo>
                  <a:lnTo>
                    <a:pt x="1764411" y="203200"/>
                  </a:lnTo>
                  <a:lnTo>
                    <a:pt x="1726438" y="178942"/>
                  </a:lnTo>
                  <a:lnTo>
                    <a:pt x="1686305" y="156082"/>
                  </a:lnTo>
                  <a:lnTo>
                    <a:pt x="1643888" y="134365"/>
                  </a:lnTo>
                  <a:lnTo>
                    <a:pt x="1599311" y="114173"/>
                  </a:lnTo>
                  <a:lnTo>
                    <a:pt x="1552828" y="95250"/>
                  </a:lnTo>
                  <a:lnTo>
                    <a:pt x="1504314" y="77977"/>
                  </a:lnTo>
                  <a:lnTo>
                    <a:pt x="1454022" y="62229"/>
                  </a:lnTo>
                  <a:lnTo>
                    <a:pt x="1402079" y="48132"/>
                  </a:lnTo>
                  <a:lnTo>
                    <a:pt x="1348613" y="35687"/>
                  </a:lnTo>
                  <a:lnTo>
                    <a:pt x="1293495" y="25018"/>
                  </a:lnTo>
                  <a:lnTo>
                    <a:pt x="1237107" y="16255"/>
                  </a:lnTo>
                  <a:lnTo>
                    <a:pt x="1179448" y="9143"/>
                  </a:lnTo>
                  <a:lnTo>
                    <a:pt x="1120520" y="4190"/>
                  </a:lnTo>
                  <a:lnTo>
                    <a:pt x="1060703" y="1015"/>
                  </a:lnTo>
                  <a:lnTo>
                    <a:pt x="9997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719071" y="1795271"/>
              <a:ext cx="1999614" cy="1143000"/>
            </a:xfrm>
            <a:custGeom>
              <a:avLst/>
              <a:gdLst/>
              <a:ahLst/>
              <a:cxnLst/>
              <a:rect l="l" t="t" r="r" b="b"/>
              <a:pathLst>
                <a:path w="1999614" h="1143000">
                  <a:moveTo>
                    <a:pt x="0" y="571500"/>
                  </a:moveTo>
                  <a:lnTo>
                    <a:pt x="7238" y="502412"/>
                  </a:lnTo>
                  <a:lnTo>
                    <a:pt x="28320" y="435737"/>
                  </a:lnTo>
                  <a:lnTo>
                    <a:pt x="62483" y="372110"/>
                  </a:lnTo>
                  <a:lnTo>
                    <a:pt x="108965" y="311785"/>
                  </a:lnTo>
                  <a:lnTo>
                    <a:pt x="136525" y="282955"/>
                  </a:lnTo>
                  <a:lnTo>
                    <a:pt x="166750" y="255269"/>
                  </a:lnTo>
                  <a:lnTo>
                    <a:pt x="199644" y="228726"/>
                  </a:lnTo>
                  <a:lnTo>
                    <a:pt x="235076" y="203200"/>
                  </a:lnTo>
                  <a:lnTo>
                    <a:pt x="272922" y="178942"/>
                  </a:lnTo>
                  <a:lnTo>
                    <a:pt x="313181" y="156082"/>
                  </a:lnTo>
                  <a:lnTo>
                    <a:pt x="355600" y="134365"/>
                  </a:lnTo>
                  <a:lnTo>
                    <a:pt x="400176" y="114173"/>
                  </a:lnTo>
                  <a:lnTo>
                    <a:pt x="446658" y="95250"/>
                  </a:lnTo>
                  <a:lnTo>
                    <a:pt x="495172" y="77977"/>
                  </a:lnTo>
                  <a:lnTo>
                    <a:pt x="545338" y="62229"/>
                  </a:lnTo>
                  <a:lnTo>
                    <a:pt x="597280" y="48132"/>
                  </a:lnTo>
                  <a:lnTo>
                    <a:pt x="650875" y="35687"/>
                  </a:lnTo>
                  <a:lnTo>
                    <a:pt x="705865" y="25018"/>
                  </a:lnTo>
                  <a:lnTo>
                    <a:pt x="762253" y="16255"/>
                  </a:lnTo>
                  <a:lnTo>
                    <a:pt x="820038" y="9143"/>
                  </a:lnTo>
                  <a:lnTo>
                    <a:pt x="878839" y="4190"/>
                  </a:lnTo>
                  <a:lnTo>
                    <a:pt x="938783" y="1015"/>
                  </a:lnTo>
                  <a:lnTo>
                    <a:pt x="999744" y="0"/>
                  </a:lnTo>
                  <a:lnTo>
                    <a:pt x="1060703" y="1015"/>
                  </a:lnTo>
                  <a:lnTo>
                    <a:pt x="1120520" y="4190"/>
                  </a:lnTo>
                  <a:lnTo>
                    <a:pt x="1179448" y="9143"/>
                  </a:lnTo>
                  <a:lnTo>
                    <a:pt x="1237107" y="16255"/>
                  </a:lnTo>
                  <a:lnTo>
                    <a:pt x="1293495" y="25018"/>
                  </a:lnTo>
                  <a:lnTo>
                    <a:pt x="1348613" y="35687"/>
                  </a:lnTo>
                  <a:lnTo>
                    <a:pt x="1402079" y="48132"/>
                  </a:lnTo>
                  <a:lnTo>
                    <a:pt x="1454022" y="62229"/>
                  </a:lnTo>
                  <a:lnTo>
                    <a:pt x="1504314" y="77977"/>
                  </a:lnTo>
                  <a:lnTo>
                    <a:pt x="1552828" y="95250"/>
                  </a:lnTo>
                  <a:lnTo>
                    <a:pt x="1599311" y="114173"/>
                  </a:lnTo>
                  <a:lnTo>
                    <a:pt x="1643888" y="134365"/>
                  </a:lnTo>
                  <a:lnTo>
                    <a:pt x="1686305" y="156082"/>
                  </a:lnTo>
                  <a:lnTo>
                    <a:pt x="1726438" y="178942"/>
                  </a:lnTo>
                  <a:lnTo>
                    <a:pt x="1764411" y="203200"/>
                  </a:lnTo>
                  <a:lnTo>
                    <a:pt x="1799843" y="228726"/>
                  </a:lnTo>
                  <a:lnTo>
                    <a:pt x="1832737" y="255269"/>
                  </a:lnTo>
                  <a:lnTo>
                    <a:pt x="1862963" y="282955"/>
                  </a:lnTo>
                  <a:lnTo>
                    <a:pt x="1890522" y="311785"/>
                  </a:lnTo>
                  <a:lnTo>
                    <a:pt x="1915160" y="341375"/>
                  </a:lnTo>
                  <a:lnTo>
                    <a:pt x="1955673" y="403478"/>
                  </a:lnTo>
                  <a:lnTo>
                    <a:pt x="1983358" y="468756"/>
                  </a:lnTo>
                  <a:lnTo>
                    <a:pt x="1997710" y="536701"/>
                  </a:lnTo>
                  <a:lnTo>
                    <a:pt x="1999488" y="571500"/>
                  </a:lnTo>
                  <a:lnTo>
                    <a:pt x="1997710" y="606298"/>
                  </a:lnTo>
                  <a:lnTo>
                    <a:pt x="1983358" y="674242"/>
                  </a:lnTo>
                  <a:lnTo>
                    <a:pt x="1955673" y="739393"/>
                  </a:lnTo>
                  <a:lnTo>
                    <a:pt x="1915160" y="801497"/>
                  </a:lnTo>
                  <a:lnTo>
                    <a:pt x="1890522" y="831214"/>
                  </a:lnTo>
                  <a:lnTo>
                    <a:pt x="1862963" y="859916"/>
                  </a:lnTo>
                  <a:lnTo>
                    <a:pt x="1832737" y="887602"/>
                  </a:lnTo>
                  <a:lnTo>
                    <a:pt x="1799843" y="914273"/>
                  </a:lnTo>
                  <a:lnTo>
                    <a:pt x="1764411" y="939673"/>
                  </a:lnTo>
                  <a:lnTo>
                    <a:pt x="1726438" y="963929"/>
                  </a:lnTo>
                  <a:lnTo>
                    <a:pt x="1686305" y="986916"/>
                  </a:lnTo>
                  <a:lnTo>
                    <a:pt x="1643888" y="1008633"/>
                  </a:lnTo>
                  <a:lnTo>
                    <a:pt x="1599311" y="1028826"/>
                  </a:lnTo>
                  <a:lnTo>
                    <a:pt x="1552828" y="1047623"/>
                  </a:lnTo>
                  <a:lnTo>
                    <a:pt x="1504314" y="1065022"/>
                  </a:lnTo>
                  <a:lnTo>
                    <a:pt x="1454022" y="1080642"/>
                  </a:lnTo>
                  <a:lnTo>
                    <a:pt x="1402079" y="1094866"/>
                  </a:lnTo>
                  <a:lnTo>
                    <a:pt x="1348613" y="1107186"/>
                  </a:lnTo>
                  <a:lnTo>
                    <a:pt x="1293495" y="1117980"/>
                  </a:lnTo>
                  <a:lnTo>
                    <a:pt x="1237107" y="1126743"/>
                  </a:lnTo>
                  <a:lnTo>
                    <a:pt x="1179448" y="1133728"/>
                  </a:lnTo>
                  <a:lnTo>
                    <a:pt x="1120520" y="1138808"/>
                  </a:lnTo>
                  <a:lnTo>
                    <a:pt x="1060703" y="1141983"/>
                  </a:lnTo>
                  <a:lnTo>
                    <a:pt x="999744" y="1143000"/>
                  </a:lnTo>
                  <a:lnTo>
                    <a:pt x="938783" y="1141983"/>
                  </a:lnTo>
                  <a:lnTo>
                    <a:pt x="878839" y="1138808"/>
                  </a:lnTo>
                  <a:lnTo>
                    <a:pt x="820038" y="1133728"/>
                  </a:lnTo>
                  <a:lnTo>
                    <a:pt x="762253" y="1126743"/>
                  </a:lnTo>
                  <a:lnTo>
                    <a:pt x="705865" y="1117980"/>
                  </a:lnTo>
                  <a:lnTo>
                    <a:pt x="650875" y="1107186"/>
                  </a:lnTo>
                  <a:lnTo>
                    <a:pt x="597280" y="1094866"/>
                  </a:lnTo>
                  <a:lnTo>
                    <a:pt x="545338" y="1080642"/>
                  </a:lnTo>
                  <a:lnTo>
                    <a:pt x="495172" y="1065022"/>
                  </a:lnTo>
                  <a:lnTo>
                    <a:pt x="446658" y="1047623"/>
                  </a:lnTo>
                  <a:lnTo>
                    <a:pt x="400176" y="1028826"/>
                  </a:lnTo>
                  <a:lnTo>
                    <a:pt x="355600" y="1008633"/>
                  </a:lnTo>
                  <a:lnTo>
                    <a:pt x="313181" y="986916"/>
                  </a:lnTo>
                  <a:lnTo>
                    <a:pt x="272922" y="963929"/>
                  </a:lnTo>
                  <a:lnTo>
                    <a:pt x="235076" y="939673"/>
                  </a:lnTo>
                  <a:lnTo>
                    <a:pt x="199644" y="914273"/>
                  </a:lnTo>
                  <a:lnTo>
                    <a:pt x="166750" y="887602"/>
                  </a:lnTo>
                  <a:lnTo>
                    <a:pt x="136525" y="859916"/>
                  </a:lnTo>
                  <a:lnTo>
                    <a:pt x="108965" y="831214"/>
                  </a:lnTo>
                  <a:lnTo>
                    <a:pt x="84200" y="801497"/>
                  </a:lnTo>
                  <a:lnTo>
                    <a:pt x="43814" y="739393"/>
                  </a:lnTo>
                  <a:lnTo>
                    <a:pt x="16128" y="674242"/>
                  </a:lnTo>
                  <a:lnTo>
                    <a:pt x="1777" y="606298"/>
                  </a:lnTo>
                  <a:lnTo>
                    <a:pt x="0" y="571500"/>
                  </a:lnTo>
                  <a:close/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260854" y="2190953"/>
            <a:ext cx="85598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98401" y="1782889"/>
            <a:ext cx="2024380" cy="1167765"/>
            <a:chOff x="5498401" y="1782889"/>
            <a:chExt cx="2024380" cy="1167765"/>
          </a:xfrm>
        </p:grpSpPr>
        <p:sp>
          <p:nvSpPr>
            <p:cNvPr id="11" name="object 11"/>
            <p:cNvSpPr/>
            <p:nvPr/>
          </p:nvSpPr>
          <p:spPr>
            <a:xfrm>
              <a:off x="5510784" y="1795271"/>
              <a:ext cx="1999614" cy="1143000"/>
            </a:xfrm>
            <a:custGeom>
              <a:avLst/>
              <a:gdLst/>
              <a:ahLst/>
              <a:cxnLst/>
              <a:rect l="l" t="t" r="r" b="b"/>
              <a:pathLst>
                <a:path w="1999615" h="1143000">
                  <a:moveTo>
                    <a:pt x="999743" y="0"/>
                  </a:moveTo>
                  <a:lnTo>
                    <a:pt x="938783" y="1015"/>
                  </a:lnTo>
                  <a:lnTo>
                    <a:pt x="878839" y="4190"/>
                  </a:lnTo>
                  <a:lnTo>
                    <a:pt x="820038" y="9143"/>
                  </a:lnTo>
                  <a:lnTo>
                    <a:pt x="762253" y="16255"/>
                  </a:lnTo>
                  <a:lnTo>
                    <a:pt x="705865" y="25018"/>
                  </a:lnTo>
                  <a:lnTo>
                    <a:pt x="650875" y="35687"/>
                  </a:lnTo>
                  <a:lnTo>
                    <a:pt x="597280" y="48132"/>
                  </a:lnTo>
                  <a:lnTo>
                    <a:pt x="545338" y="62229"/>
                  </a:lnTo>
                  <a:lnTo>
                    <a:pt x="495173" y="77977"/>
                  </a:lnTo>
                  <a:lnTo>
                    <a:pt x="446658" y="95250"/>
                  </a:lnTo>
                  <a:lnTo>
                    <a:pt x="400176" y="114173"/>
                  </a:lnTo>
                  <a:lnTo>
                    <a:pt x="355600" y="134365"/>
                  </a:lnTo>
                  <a:lnTo>
                    <a:pt x="313181" y="156082"/>
                  </a:lnTo>
                  <a:lnTo>
                    <a:pt x="272923" y="178942"/>
                  </a:lnTo>
                  <a:lnTo>
                    <a:pt x="235076" y="203200"/>
                  </a:lnTo>
                  <a:lnTo>
                    <a:pt x="199643" y="228726"/>
                  </a:lnTo>
                  <a:lnTo>
                    <a:pt x="166750" y="255269"/>
                  </a:lnTo>
                  <a:lnTo>
                    <a:pt x="136525" y="282955"/>
                  </a:lnTo>
                  <a:lnTo>
                    <a:pt x="108965" y="311785"/>
                  </a:lnTo>
                  <a:lnTo>
                    <a:pt x="84200" y="341375"/>
                  </a:lnTo>
                  <a:lnTo>
                    <a:pt x="43814" y="403478"/>
                  </a:lnTo>
                  <a:lnTo>
                    <a:pt x="16128" y="468756"/>
                  </a:lnTo>
                  <a:lnTo>
                    <a:pt x="1777" y="536701"/>
                  </a:lnTo>
                  <a:lnTo>
                    <a:pt x="0" y="571500"/>
                  </a:lnTo>
                  <a:lnTo>
                    <a:pt x="1777" y="606298"/>
                  </a:lnTo>
                  <a:lnTo>
                    <a:pt x="16128" y="674242"/>
                  </a:lnTo>
                  <a:lnTo>
                    <a:pt x="43814" y="739393"/>
                  </a:lnTo>
                  <a:lnTo>
                    <a:pt x="84200" y="801497"/>
                  </a:lnTo>
                  <a:lnTo>
                    <a:pt x="108965" y="831214"/>
                  </a:lnTo>
                  <a:lnTo>
                    <a:pt x="136525" y="859916"/>
                  </a:lnTo>
                  <a:lnTo>
                    <a:pt x="166750" y="887602"/>
                  </a:lnTo>
                  <a:lnTo>
                    <a:pt x="199643" y="914273"/>
                  </a:lnTo>
                  <a:lnTo>
                    <a:pt x="235076" y="939673"/>
                  </a:lnTo>
                  <a:lnTo>
                    <a:pt x="272923" y="963929"/>
                  </a:lnTo>
                  <a:lnTo>
                    <a:pt x="313181" y="986916"/>
                  </a:lnTo>
                  <a:lnTo>
                    <a:pt x="355600" y="1008633"/>
                  </a:lnTo>
                  <a:lnTo>
                    <a:pt x="400176" y="1028826"/>
                  </a:lnTo>
                  <a:lnTo>
                    <a:pt x="446658" y="1047623"/>
                  </a:lnTo>
                  <a:lnTo>
                    <a:pt x="495173" y="1065022"/>
                  </a:lnTo>
                  <a:lnTo>
                    <a:pt x="545338" y="1080642"/>
                  </a:lnTo>
                  <a:lnTo>
                    <a:pt x="597280" y="1094866"/>
                  </a:lnTo>
                  <a:lnTo>
                    <a:pt x="650875" y="1107186"/>
                  </a:lnTo>
                  <a:lnTo>
                    <a:pt x="705865" y="1117980"/>
                  </a:lnTo>
                  <a:lnTo>
                    <a:pt x="762253" y="1126743"/>
                  </a:lnTo>
                  <a:lnTo>
                    <a:pt x="820038" y="1133728"/>
                  </a:lnTo>
                  <a:lnTo>
                    <a:pt x="878839" y="1138808"/>
                  </a:lnTo>
                  <a:lnTo>
                    <a:pt x="938783" y="1141983"/>
                  </a:lnTo>
                  <a:lnTo>
                    <a:pt x="999743" y="1143000"/>
                  </a:lnTo>
                  <a:lnTo>
                    <a:pt x="1060704" y="1141983"/>
                  </a:lnTo>
                  <a:lnTo>
                    <a:pt x="1120520" y="1138808"/>
                  </a:lnTo>
                  <a:lnTo>
                    <a:pt x="1179448" y="1133728"/>
                  </a:lnTo>
                  <a:lnTo>
                    <a:pt x="1237107" y="1126743"/>
                  </a:lnTo>
                  <a:lnTo>
                    <a:pt x="1293494" y="1117980"/>
                  </a:lnTo>
                  <a:lnTo>
                    <a:pt x="1348613" y="1107186"/>
                  </a:lnTo>
                  <a:lnTo>
                    <a:pt x="1402080" y="1094866"/>
                  </a:lnTo>
                  <a:lnTo>
                    <a:pt x="1454022" y="1080642"/>
                  </a:lnTo>
                  <a:lnTo>
                    <a:pt x="1504314" y="1065022"/>
                  </a:lnTo>
                  <a:lnTo>
                    <a:pt x="1552829" y="1047623"/>
                  </a:lnTo>
                  <a:lnTo>
                    <a:pt x="1599311" y="1028826"/>
                  </a:lnTo>
                  <a:lnTo>
                    <a:pt x="1643888" y="1008633"/>
                  </a:lnTo>
                  <a:lnTo>
                    <a:pt x="1686306" y="986916"/>
                  </a:lnTo>
                  <a:lnTo>
                    <a:pt x="1726438" y="963929"/>
                  </a:lnTo>
                  <a:lnTo>
                    <a:pt x="1764411" y="939673"/>
                  </a:lnTo>
                  <a:lnTo>
                    <a:pt x="1799843" y="914273"/>
                  </a:lnTo>
                  <a:lnTo>
                    <a:pt x="1832737" y="887602"/>
                  </a:lnTo>
                  <a:lnTo>
                    <a:pt x="1862963" y="859916"/>
                  </a:lnTo>
                  <a:lnTo>
                    <a:pt x="1890521" y="831214"/>
                  </a:lnTo>
                  <a:lnTo>
                    <a:pt x="1915160" y="801497"/>
                  </a:lnTo>
                  <a:lnTo>
                    <a:pt x="1955672" y="739393"/>
                  </a:lnTo>
                  <a:lnTo>
                    <a:pt x="1983359" y="674242"/>
                  </a:lnTo>
                  <a:lnTo>
                    <a:pt x="1997710" y="606298"/>
                  </a:lnTo>
                  <a:lnTo>
                    <a:pt x="1999488" y="571500"/>
                  </a:lnTo>
                  <a:lnTo>
                    <a:pt x="1997710" y="536701"/>
                  </a:lnTo>
                  <a:lnTo>
                    <a:pt x="1983359" y="468756"/>
                  </a:lnTo>
                  <a:lnTo>
                    <a:pt x="1955672" y="403478"/>
                  </a:lnTo>
                  <a:lnTo>
                    <a:pt x="1915160" y="341375"/>
                  </a:lnTo>
                  <a:lnTo>
                    <a:pt x="1890521" y="311785"/>
                  </a:lnTo>
                  <a:lnTo>
                    <a:pt x="1862963" y="282955"/>
                  </a:lnTo>
                  <a:lnTo>
                    <a:pt x="1832737" y="255269"/>
                  </a:lnTo>
                  <a:lnTo>
                    <a:pt x="1799843" y="228726"/>
                  </a:lnTo>
                  <a:lnTo>
                    <a:pt x="1764411" y="203200"/>
                  </a:lnTo>
                  <a:lnTo>
                    <a:pt x="1726438" y="178942"/>
                  </a:lnTo>
                  <a:lnTo>
                    <a:pt x="1686306" y="156082"/>
                  </a:lnTo>
                  <a:lnTo>
                    <a:pt x="1643888" y="134365"/>
                  </a:lnTo>
                  <a:lnTo>
                    <a:pt x="1599311" y="114173"/>
                  </a:lnTo>
                  <a:lnTo>
                    <a:pt x="1552829" y="95250"/>
                  </a:lnTo>
                  <a:lnTo>
                    <a:pt x="1504314" y="77977"/>
                  </a:lnTo>
                  <a:lnTo>
                    <a:pt x="1454022" y="62229"/>
                  </a:lnTo>
                  <a:lnTo>
                    <a:pt x="1402080" y="48132"/>
                  </a:lnTo>
                  <a:lnTo>
                    <a:pt x="1348613" y="35687"/>
                  </a:lnTo>
                  <a:lnTo>
                    <a:pt x="1293494" y="25018"/>
                  </a:lnTo>
                  <a:lnTo>
                    <a:pt x="1237107" y="16255"/>
                  </a:lnTo>
                  <a:lnTo>
                    <a:pt x="1179448" y="9143"/>
                  </a:lnTo>
                  <a:lnTo>
                    <a:pt x="1120520" y="4190"/>
                  </a:lnTo>
                  <a:lnTo>
                    <a:pt x="1060704" y="1015"/>
                  </a:lnTo>
                  <a:lnTo>
                    <a:pt x="9997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510784" y="1795271"/>
              <a:ext cx="1999614" cy="1143000"/>
            </a:xfrm>
            <a:custGeom>
              <a:avLst/>
              <a:gdLst/>
              <a:ahLst/>
              <a:cxnLst/>
              <a:rect l="l" t="t" r="r" b="b"/>
              <a:pathLst>
                <a:path w="1999615" h="1143000">
                  <a:moveTo>
                    <a:pt x="0" y="571500"/>
                  </a:moveTo>
                  <a:lnTo>
                    <a:pt x="7238" y="502412"/>
                  </a:lnTo>
                  <a:lnTo>
                    <a:pt x="28320" y="435737"/>
                  </a:lnTo>
                  <a:lnTo>
                    <a:pt x="62483" y="372110"/>
                  </a:lnTo>
                  <a:lnTo>
                    <a:pt x="108965" y="311785"/>
                  </a:lnTo>
                  <a:lnTo>
                    <a:pt x="136525" y="282955"/>
                  </a:lnTo>
                  <a:lnTo>
                    <a:pt x="166750" y="255269"/>
                  </a:lnTo>
                  <a:lnTo>
                    <a:pt x="199643" y="228726"/>
                  </a:lnTo>
                  <a:lnTo>
                    <a:pt x="235076" y="203200"/>
                  </a:lnTo>
                  <a:lnTo>
                    <a:pt x="272923" y="178942"/>
                  </a:lnTo>
                  <a:lnTo>
                    <a:pt x="313181" y="156082"/>
                  </a:lnTo>
                  <a:lnTo>
                    <a:pt x="355600" y="134365"/>
                  </a:lnTo>
                  <a:lnTo>
                    <a:pt x="400176" y="114173"/>
                  </a:lnTo>
                  <a:lnTo>
                    <a:pt x="446658" y="95250"/>
                  </a:lnTo>
                  <a:lnTo>
                    <a:pt x="495173" y="77977"/>
                  </a:lnTo>
                  <a:lnTo>
                    <a:pt x="545338" y="62229"/>
                  </a:lnTo>
                  <a:lnTo>
                    <a:pt x="597280" y="48132"/>
                  </a:lnTo>
                  <a:lnTo>
                    <a:pt x="650875" y="35687"/>
                  </a:lnTo>
                  <a:lnTo>
                    <a:pt x="705865" y="25018"/>
                  </a:lnTo>
                  <a:lnTo>
                    <a:pt x="762253" y="16255"/>
                  </a:lnTo>
                  <a:lnTo>
                    <a:pt x="820038" y="9143"/>
                  </a:lnTo>
                  <a:lnTo>
                    <a:pt x="878839" y="4190"/>
                  </a:lnTo>
                  <a:lnTo>
                    <a:pt x="938783" y="1015"/>
                  </a:lnTo>
                  <a:lnTo>
                    <a:pt x="999743" y="0"/>
                  </a:lnTo>
                  <a:lnTo>
                    <a:pt x="1060704" y="1015"/>
                  </a:lnTo>
                  <a:lnTo>
                    <a:pt x="1120520" y="4190"/>
                  </a:lnTo>
                  <a:lnTo>
                    <a:pt x="1179448" y="9143"/>
                  </a:lnTo>
                  <a:lnTo>
                    <a:pt x="1237107" y="16255"/>
                  </a:lnTo>
                  <a:lnTo>
                    <a:pt x="1293494" y="25018"/>
                  </a:lnTo>
                  <a:lnTo>
                    <a:pt x="1348613" y="35687"/>
                  </a:lnTo>
                  <a:lnTo>
                    <a:pt x="1402080" y="48132"/>
                  </a:lnTo>
                  <a:lnTo>
                    <a:pt x="1454022" y="62229"/>
                  </a:lnTo>
                  <a:lnTo>
                    <a:pt x="1504314" y="77977"/>
                  </a:lnTo>
                  <a:lnTo>
                    <a:pt x="1552829" y="95250"/>
                  </a:lnTo>
                  <a:lnTo>
                    <a:pt x="1599311" y="114173"/>
                  </a:lnTo>
                  <a:lnTo>
                    <a:pt x="1643888" y="134365"/>
                  </a:lnTo>
                  <a:lnTo>
                    <a:pt x="1686306" y="156082"/>
                  </a:lnTo>
                  <a:lnTo>
                    <a:pt x="1726438" y="178942"/>
                  </a:lnTo>
                  <a:lnTo>
                    <a:pt x="1764411" y="203200"/>
                  </a:lnTo>
                  <a:lnTo>
                    <a:pt x="1799843" y="228726"/>
                  </a:lnTo>
                  <a:lnTo>
                    <a:pt x="1832737" y="255269"/>
                  </a:lnTo>
                  <a:lnTo>
                    <a:pt x="1862963" y="282955"/>
                  </a:lnTo>
                  <a:lnTo>
                    <a:pt x="1890521" y="311785"/>
                  </a:lnTo>
                  <a:lnTo>
                    <a:pt x="1915160" y="341375"/>
                  </a:lnTo>
                  <a:lnTo>
                    <a:pt x="1955672" y="403478"/>
                  </a:lnTo>
                  <a:lnTo>
                    <a:pt x="1983359" y="468756"/>
                  </a:lnTo>
                  <a:lnTo>
                    <a:pt x="1997710" y="536701"/>
                  </a:lnTo>
                  <a:lnTo>
                    <a:pt x="1999488" y="571500"/>
                  </a:lnTo>
                  <a:lnTo>
                    <a:pt x="1997710" y="606298"/>
                  </a:lnTo>
                  <a:lnTo>
                    <a:pt x="1983359" y="674242"/>
                  </a:lnTo>
                  <a:lnTo>
                    <a:pt x="1955672" y="739393"/>
                  </a:lnTo>
                  <a:lnTo>
                    <a:pt x="1915160" y="801497"/>
                  </a:lnTo>
                  <a:lnTo>
                    <a:pt x="1890521" y="831214"/>
                  </a:lnTo>
                  <a:lnTo>
                    <a:pt x="1862963" y="859916"/>
                  </a:lnTo>
                  <a:lnTo>
                    <a:pt x="1832737" y="887602"/>
                  </a:lnTo>
                  <a:lnTo>
                    <a:pt x="1799843" y="914273"/>
                  </a:lnTo>
                  <a:lnTo>
                    <a:pt x="1764411" y="939673"/>
                  </a:lnTo>
                  <a:lnTo>
                    <a:pt x="1726438" y="963929"/>
                  </a:lnTo>
                  <a:lnTo>
                    <a:pt x="1686306" y="986916"/>
                  </a:lnTo>
                  <a:lnTo>
                    <a:pt x="1643888" y="1008633"/>
                  </a:lnTo>
                  <a:lnTo>
                    <a:pt x="1599311" y="1028826"/>
                  </a:lnTo>
                  <a:lnTo>
                    <a:pt x="1552829" y="1047623"/>
                  </a:lnTo>
                  <a:lnTo>
                    <a:pt x="1504314" y="1065022"/>
                  </a:lnTo>
                  <a:lnTo>
                    <a:pt x="1454022" y="1080642"/>
                  </a:lnTo>
                  <a:lnTo>
                    <a:pt x="1402080" y="1094866"/>
                  </a:lnTo>
                  <a:lnTo>
                    <a:pt x="1348613" y="1107186"/>
                  </a:lnTo>
                  <a:lnTo>
                    <a:pt x="1293494" y="1117980"/>
                  </a:lnTo>
                  <a:lnTo>
                    <a:pt x="1237107" y="1126743"/>
                  </a:lnTo>
                  <a:lnTo>
                    <a:pt x="1179448" y="1133728"/>
                  </a:lnTo>
                  <a:lnTo>
                    <a:pt x="1120520" y="1138808"/>
                  </a:lnTo>
                  <a:lnTo>
                    <a:pt x="1060704" y="1141983"/>
                  </a:lnTo>
                  <a:lnTo>
                    <a:pt x="999743" y="1143000"/>
                  </a:lnTo>
                  <a:lnTo>
                    <a:pt x="938783" y="1141983"/>
                  </a:lnTo>
                  <a:lnTo>
                    <a:pt x="878839" y="1138808"/>
                  </a:lnTo>
                  <a:lnTo>
                    <a:pt x="820038" y="1133728"/>
                  </a:lnTo>
                  <a:lnTo>
                    <a:pt x="762253" y="1126743"/>
                  </a:lnTo>
                  <a:lnTo>
                    <a:pt x="705865" y="1117980"/>
                  </a:lnTo>
                  <a:lnTo>
                    <a:pt x="650875" y="1107186"/>
                  </a:lnTo>
                  <a:lnTo>
                    <a:pt x="597280" y="1094866"/>
                  </a:lnTo>
                  <a:lnTo>
                    <a:pt x="545338" y="1080642"/>
                  </a:lnTo>
                  <a:lnTo>
                    <a:pt x="495173" y="1065022"/>
                  </a:lnTo>
                  <a:lnTo>
                    <a:pt x="446658" y="1047623"/>
                  </a:lnTo>
                  <a:lnTo>
                    <a:pt x="400176" y="1028826"/>
                  </a:lnTo>
                  <a:lnTo>
                    <a:pt x="355600" y="1008633"/>
                  </a:lnTo>
                  <a:lnTo>
                    <a:pt x="313181" y="986916"/>
                  </a:lnTo>
                  <a:lnTo>
                    <a:pt x="272923" y="963929"/>
                  </a:lnTo>
                  <a:lnTo>
                    <a:pt x="235076" y="939673"/>
                  </a:lnTo>
                  <a:lnTo>
                    <a:pt x="199643" y="914273"/>
                  </a:lnTo>
                  <a:lnTo>
                    <a:pt x="166750" y="887602"/>
                  </a:lnTo>
                  <a:lnTo>
                    <a:pt x="136525" y="859916"/>
                  </a:lnTo>
                  <a:lnTo>
                    <a:pt x="108965" y="831214"/>
                  </a:lnTo>
                  <a:lnTo>
                    <a:pt x="84200" y="801497"/>
                  </a:lnTo>
                  <a:lnTo>
                    <a:pt x="43814" y="739393"/>
                  </a:lnTo>
                  <a:lnTo>
                    <a:pt x="16128" y="674242"/>
                  </a:lnTo>
                  <a:lnTo>
                    <a:pt x="1777" y="606298"/>
                  </a:lnTo>
                  <a:lnTo>
                    <a:pt x="0" y="571500"/>
                  </a:lnTo>
                  <a:close/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052184" y="2190953"/>
            <a:ext cx="85598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1744" y="4608576"/>
            <a:ext cx="1780031" cy="1197864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52855" y="1008888"/>
            <a:ext cx="7299959" cy="5276215"/>
            <a:chOff x="752855" y="1008888"/>
            <a:chExt cx="7299959" cy="527621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6023" y="4379976"/>
              <a:ext cx="2249424" cy="19050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7167" y="2895600"/>
              <a:ext cx="451104" cy="16428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0423" y="4123055"/>
              <a:ext cx="170433" cy="17106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696591" y="2935223"/>
              <a:ext cx="40005" cy="1283335"/>
            </a:xfrm>
            <a:custGeom>
              <a:avLst/>
              <a:gdLst/>
              <a:ahLst/>
              <a:cxnLst/>
              <a:rect l="l" t="t" r="r" b="b"/>
              <a:pathLst>
                <a:path w="40005" h="1283335">
                  <a:moveTo>
                    <a:pt x="39496" y="0"/>
                  </a:moveTo>
                  <a:lnTo>
                    <a:pt x="1523" y="0"/>
                  </a:lnTo>
                  <a:lnTo>
                    <a:pt x="0" y="1250695"/>
                  </a:lnTo>
                  <a:lnTo>
                    <a:pt x="18922" y="1283334"/>
                  </a:lnTo>
                  <a:lnTo>
                    <a:pt x="37845" y="1250695"/>
                  </a:lnTo>
                  <a:lnTo>
                    <a:pt x="39496" y="0"/>
                  </a:lnTo>
                  <a:close/>
                </a:path>
              </a:pathLst>
            </a:custGeom>
            <a:solidFill>
              <a:srgbClr val="6E2E9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66688" y="2895600"/>
              <a:ext cx="454152" cy="164287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9944" y="4123055"/>
              <a:ext cx="170433" cy="17106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476110" y="2935223"/>
              <a:ext cx="40005" cy="1283335"/>
            </a:xfrm>
            <a:custGeom>
              <a:avLst/>
              <a:gdLst/>
              <a:ahLst/>
              <a:cxnLst/>
              <a:rect l="l" t="t" r="r" b="b"/>
              <a:pathLst>
                <a:path w="40004" h="1283335">
                  <a:moveTo>
                    <a:pt x="39496" y="0"/>
                  </a:moveTo>
                  <a:lnTo>
                    <a:pt x="1524" y="0"/>
                  </a:lnTo>
                  <a:lnTo>
                    <a:pt x="0" y="1250695"/>
                  </a:lnTo>
                  <a:lnTo>
                    <a:pt x="18923" y="1283334"/>
                  </a:lnTo>
                  <a:lnTo>
                    <a:pt x="37845" y="1250695"/>
                  </a:lnTo>
                  <a:lnTo>
                    <a:pt x="39496" y="0"/>
                  </a:lnTo>
                  <a:close/>
                </a:path>
              </a:pathLst>
            </a:custGeom>
            <a:solidFill>
              <a:srgbClr val="6E2E9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2855" y="1008888"/>
              <a:ext cx="7299959" cy="1042415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866038" y="3291966"/>
            <a:ext cx="1746885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Resource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cannot</a:t>
            </a:r>
            <a:endParaRPr sz="1800">
              <a:latin typeface="Arial MT"/>
              <a:cs typeface="Arial MT"/>
            </a:endParaRPr>
          </a:p>
          <a:p>
            <a:pPr marL="8890" algn="ctr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Arial MT"/>
                <a:cs typeface="Arial MT"/>
              </a:rPr>
              <a:t>taken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away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89014" y="3220669"/>
            <a:ext cx="174688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Resource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cannot</a:t>
            </a:r>
            <a:endParaRPr sz="1800">
              <a:latin typeface="Arial MT"/>
              <a:cs typeface="Arial MT"/>
            </a:endParaRPr>
          </a:p>
          <a:p>
            <a:pPr marL="8890" algn="ctr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Arial MT"/>
                <a:cs typeface="Arial MT"/>
              </a:rPr>
              <a:t>taken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away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1094232"/>
            <a:ext cx="9144000" cy="140335"/>
            <a:chOff x="0" y="1094232"/>
            <a:chExt cx="9144000" cy="140335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1094232"/>
              <a:ext cx="9144000" cy="14020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095" y="1133856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86029" y="6607971"/>
            <a:ext cx="69850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07/04/202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00911"/>
            <a:ext cx="9144000" cy="399415"/>
          </a:xfrm>
          <a:custGeom>
            <a:avLst/>
            <a:gdLst/>
            <a:ahLst/>
            <a:cxnLst/>
            <a:rect l="l" t="t" r="r" b="b"/>
            <a:pathLst>
              <a:path w="9144000" h="399415">
                <a:moveTo>
                  <a:pt x="9144000" y="0"/>
                </a:moveTo>
                <a:lnTo>
                  <a:pt x="0" y="0"/>
                </a:lnTo>
                <a:lnTo>
                  <a:pt x="0" y="399288"/>
                </a:lnTo>
                <a:lnTo>
                  <a:pt x="9144000" y="399288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0897" rIns="0" bIns="0" rtlCol="0">
            <a:spAutoFit/>
          </a:bodyPr>
          <a:lstStyle/>
          <a:p>
            <a:pPr marL="1570355">
              <a:lnSpc>
                <a:spcPct val="100000"/>
              </a:lnSpc>
              <a:spcBef>
                <a:spcPts val="90"/>
              </a:spcBef>
            </a:pPr>
            <a:r>
              <a:rPr sz="2000" b="0" spc="-165" dirty="0">
                <a:latin typeface="Georgia" panose="02040502050405020303"/>
                <a:cs typeface="Georgia" panose="02040502050405020303"/>
              </a:rPr>
              <a:t>Introduction</a:t>
            </a:r>
            <a:r>
              <a:rPr sz="2000" b="0" spc="-5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b="0" spc="-85" dirty="0">
                <a:latin typeface="Georgia" panose="02040502050405020303"/>
                <a:cs typeface="Georgia" panose="02040502050405020303"/>
              </a:rPr>
              <a:t>to</a:t>
            </a:r>
            <a:r>
              <a:rPr sz="2000" b="0" spc="-13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b="0" spc="-160" dirty="0">
                <a:latin typeface="Georgia" panose="02040502050405020303"/>
                <a:cs typeface="Georgia" panose="02040502050405020303"/>
              </a:rPr>
              <a:t>Deadlocks-</a:t>
            </a:r>
            <a:r>
              <a:rPr sz="2000" b="0" spc="-190" dirty="0">
                <a:latin typeface="Georgia" panose="02040502050405020303"/>
                <a:cs typeface="Georgia" panose="02040502050405020303"/>
              </a:rPr>
              <a:t>Conditions</a:t>
            </a:r>
            <a:r>
              <a:rPr sz="2000" b="0" spc="-85" dirty="0">
                <a:latin typeface="Georgia" panose="02040502050405020303"/>
                <a:cs typeface="Georgia" panose="02040502050405020303"/>
              </a:rPr>
              <a:t> for</a:t>
            </a:r>
            <a:r>
              <a:rPr sz="2000" b="0" spc="45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b="0" spc="-60" dirty="0">
                <a:latin typeface="Georgia" panose="02040502050405020303"/>
                <a:cs typeface="Georgia" panose="02040502050405020303"/>
              </a:rPr>
              <a:t>Deadlock</a:t>
            </a:r>
            <a:endParaRPr sz="200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094232"/>
            <a:ext cx="9144000" cy="5163820"/>
            <a:chOff x="0" y="1094232"/>
            <a:chExt cx="9144000" cy="516382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52855" y="1591056"/>
              <a:ext cx="7299959" cy="10332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0423" y="2563367"/>
              <a:ext cx="3721608" cy="36941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94232"/>
              <a:ext cx="9144000" cy="14020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95" y="1133856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86029" y="6607971"/>
            <a:ext cx="69850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07/04/202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0" y="1179575"/>
            <a:ext cx="9144000" cy="588645"/>
            <a:chOff x="0" y="1179575"/>
            <a:chExt cx="9144000" cy="588645"/>
          </a:xfrm>
        </p:grpSpPr>
        <p:sp>
          <p:nvSpPr>
            <p:cNvPr id="7" name="object 7"/>
            <p:cNvSpPr/>
            <p:nvPr/>
          </p:nvSpPr>
          <p:spPr>
            <a:xfrm>
              <a:off x="0" y="1228343"/>
              <a:ext cx="9144000" cy="399415"/>
            </a:xfrm>
            <a:custGeom>
              <a:avLst/>
              <a:gdLst/>
              <a:ahLst/>
              <a:cxnLst/>
              <a:rect l="l" t="t" r="r" b="b"/>
              <a:pathLst>
                <a:path w="9144000" h="399414">
                  <a:moveTo>
                    <a:pt x="9144000" y="0"/>
                  </a:moveTo>
                  <a:lnTo>
                    <a:pt x="0" y="0"/>
                  </a:lnTo>
                  <a:lnTo>
                    <a:pt x="0" y="399288"/>
                  </a:lnTo>
                  <a:lnTo>
                    <a:pt x="9144000" y="39928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2367" y="1179575"/>
              <a:ext cx="2871216" cy="5882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6967" y="1179575"/>
              <a:ext cx="432815" cy="5882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3167" y="1179575"/>
              <a:ext cx="2203704" cy="588263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6488" y="2624327"/>
            <a:ext cx="7363967" cy="2243328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856232" y="1761744"/>
            <a:ext cx="5288280" cy="5918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6670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210"/>
              </a:spcBef>
            </a:pPr>
            <a:r>
              <a:rPr sz="3200" b="0" spc="-20" dirty="0">
                <a:latin typeface="Arial MT"/>
                <a:cs typeface="Arial MT"/>
              </a:rPr>
              <a:t>Resource</a:t>
            </a:r>
            <a:r>
              <a:rPr sz="3200" b="0" spc="-245" dirty="0">
                <a:latin typeface="Arial MT"/>
                <a:cs typeface="Arial MT"/>
              </a:rPr>
              <a:t> </a:t>
            </a:r>
            <a:r>
              <a:rPr sz="3200" b="0" spc="-10" dirty="0">
                <a:latin typeface="Arial MT"/>
                <a:cs typeface="Arial MT"/>
              </a:rPr>
              <a:t>Allocation</a:t>
            </a:r>
            <a:r>
              <a:rPr sz="3200" b="0" spc="-125" dirty="0">
                <a:latin typeface="Arial MT"/>
                <a:cs typeface="Arial MT"/>
              </a:rPr>
              <a:t> </a:t>
            </a:r>
            <a:r>
              <a:rPr sz="3200" b="0" spc="-10" dirty="0">
                <a:latin typeface="Arial MT"/>
                <a:cs typeface="Arial MT"/>
              </a:rPr>
              <a:t>Graph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3775" y="5104841"/>
            <a:ext cx="7676515" cy="1160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Resource</a:t>
            </a:r>
            <a:r>
              <a:rPr sz="2400" spc="-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assigned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requesting/waiting</a:t>
            </a:r>
            <a:r>
              <a:rPr sz="2400" spc="-1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resource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400" spc="-10" dirty="0">
                <a:latin typeface="Arial MT"/>
                <a:cs typeface="Arial MT"/>
              </a:rPr>
              <a:t>Process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deadlock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resources</a:t>
            </a:r>
            <a:r>
              <a:rPr sz="2400" spc="-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U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1094232"/>
            <a:ext cx="9144000" cy="140335"/>
            <a:chOff x="0" y="1094232"/>
            <a:chExt cx="9144000" cy="14033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1094232"/>
              <a:ext cx="9144000" cy="14020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095" y="1133856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8651240" y="6593535"/>
            <a:ext cx="190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 MT"/>
                <a:cs typeface="Arial MT"/>
              </a:rPr>
              <a:t>16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200911"/>
            <a:ext cx="9144000" cy="399415"/>
          </a:xfrm>
          <a:custGeom>
            <a:avLst/>
            <a:gdLst/>
            <a:ahLst/>
            <a:cxnLst/>
            <a:rect l="l" t="t" r="r" b="b"/>
            <a:pathLst>
              <a:path w="9144000" h="399415">
                <a:moveTo>
                  <a:pt x="9144000" y="0"/>
                </a:moveTo>
                <a:lnTo>
                  <a:pt x="0" y="0"/>
                </a:lnTo>
                <a:lnTo>
                  <a:pt x="0" y="399288"/>
                </a:lnTo>
                <a:lnTo>
                  <a:pt x="9144000" y="399288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0897" rIns="0" bIns="0" rtlCol="0">
            <a:spAutoFit/>
          </a:bodyPr>
          <a:lstStyle/>
          <a:p>
            <a:pPr marL="1809750">
              <a:lnSpc>
                <a:spcPct val="100000"/>
              </a:lnSpc>
              <a:spcBef>
                <a:spcPts val="90"/>
              </a:spcBef>
            </a:pPr>
            <a:r>
              <a:rPr sz="2000" b="0" spc="-170" dirty="0">
                <a:latin typeface="Georgia" panose="02040502050405020303"/>
                <a:cs typeface="Georgia" panose="02040502050405020303"/>
              </a:rPr>
              <a:t>Introduction</a:t>
            </a:r>
            <a:r>
              <a:rPr sz="2000" b="0" spc="9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b="0" spc="-85" dirty="0">
                <a:latin typeface="Georgia" panose="02040502050405020303"/>
                <a:cs typeface="Georgia" panose="02040502050405020303"/>
              </a:rPr>
              <a:t>to</a:t>
            </a:r>
            <a:r>
              <a:rPr sz="2000" b="0" spc="-8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b="0" spc="-160" dirty="0">
                <a:latin typeface="Georgia" panose="02040502050405020303"/>
                <a:cs typeface="Georgia" panose="02040502050405020303"/>
              </a:rPr>
              <a:t>Deadlocks-</a:t>
            </a:r>
            <a:r>
              <a:rPr sz="2000" b="0" spc="-140" dirty="0">
                <a:latin typeface="Georgia" panose="02040502050405020303"/>
                <a:cs typeface="Georgia" panose="02040502050405020303"/>
              </a:rPr>
              <a:t>Deadlock</a:t>
            </a:r>
            <a:r>
              <a:rPr sz="2000" b="0" spc="-65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b="0" spc="-125" dirty="0">
                <a:latin typeface="Georgia" panose="02040502050405020303"/>
                <a:cs typeface="Georgia" panose="02040502050405020303"/>
              </a:rPr>
              <a:t>Modeling</a:t>
            </a:r>
            <a:endParaRPr sz="20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5832" y="1770888"/>
            <a:ext cx="6010656" cy="434644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3014" y="2632913"/>
            <a:ext cx="1930400" cy="21151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sz="2750" b="1" dirty="0">
                <a:latin typeface="Arial" panose="020B0704020202020204"/>
                <a:cs typeface="Arial" panose="020B0704020202020204"/>
              </a:rPr>
              <a:t>Class</a:t>
            </a:r>
            <a:r>
              <a:rPr sz="2750" b="1" spc="25" dirty="0">
                <a:latin typeface="Arial" panose="020B0704020202020204"/>
                <a:cs typeface="Arial" panose="020B0704020202020204"/>
              </a:rPr>
              <a:t> </a:t>
            </a:r>
            <a:r>
              <a:rPr sz="2750" b="1" spc="-20" dirty="0">
                <a:latin typeface="Arial" panose="020B0704020202020204"/>
                <a:cs typeface="Arial" panose="020B0704020202020204"/>
              </a:rPr>
              <a:t>Work </a:t>
            </a:r>
            <a:r>
              <a:rPr sz="2750" spc="-10" dirty="0">
                <a:latin typeface="Arial MT"/>
                <a:cs typeface="Arial MT"/>
              </a:rPr>
              <a:t>1-</a:t>
            </a:r>
            <a:r>
              <a:rPr sz="2750" dirty="0">
                <a:latin typeface="Arial MT"/>
                <a:cs typeface="Arial MT"/>
              </a:rPr>
              <a:t>Draw</a:t>
            </a:r>
            <a:r>
              <a:rPr sz="2750" spc="-35" dirty="0">
                <a:latin typeface="Arial MT"/>
                <a:cs typeface="Arial MT"/>
              </a:rPr>
              <a:t> </a:t>
            </a:r>
            <a:r>
              <a:rPr sz="2750" spc="-50" dirty="0">
                <a:latin typeface="Arial MT"/>
                <a:cs typeface="Arial MT"/>
              </a:rPr>
              <a:t>a </a:t>
            </a:r>
            <a:r>
              <a:rPr sz="2750" spc="-10" dirty="0">
                <a:latin typeface="Arial MT"/>
                <a:cs typeface="Arial MT"/>
              </a:rPr>
              <a:t>circular </a:t>
            </a:r>
            <a:r>
              <a:rPr sz="2750" dirty="0">
                <a:latin typeface="Arial MT"/>
                <a:cs typeface="Arial MT"/>
              </a:rPr>
              <a:t>chain</a:t>
            </a:r>
            <a:r>
              <a:rPr sz="2750" spc="-190" dirty="0">
                <a:latin typeface="Arial MT"/>
                <a:cs typeface="Arial MT"/>
              </a:rPr>
              <a:t> </a:t>
            </a:r>
            <a:r>
              <a:rPr sz="2750" spc="-25" dirty="0">
                <a:latin typeface="Arial MT"/>
                <a:cs typeface="Arial MT"/>
              </a:rPr>
              <a:t>of </a:t>
            </a:r>
            <a:r>
              <a:rPr sz="2750" dirty="0">
                <a:latin typeface="Arial MT"/>
                <a:cs typeface="Arial MT"/>
              </a:rPr>
              <a:t>picture</a:t>
            </a:r>
            <a:r>
              <a:rPr sz="2750" spc="90" dirty="0">
                <a:latin typeface="Arial MT"/>
                <a:cs typeface="Arial MT"/>
              </a:rPr>
              <a:t> </a:t>
            </a:r>
            <a:r>
              <a:rPr sz="2750" spc="-20" dirty="0">
                <a:latin typeface="Arial MT"/>
                <a:cs typeface="Arial MT"/>
              </a:rPr>
              <a:t>(j).</a:t>
            </a:r>
            <a:endParaRPr sz="27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1094232"/>
            <a:ext cx="9144000" cy="140335"/>
            <a:chOff x="0" y="1094232"/>
            <a:chExt cx="9144000" cy="14033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94232"/>
              <a:ext cx="9144000" cy="14020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095" y="1133856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86029" y="6607971"/>
            <a:ext cx="69850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07/04/202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79575"/>
            <a:ext cx="9144000" cy="588645"/>
            <a:chOff x="0" y="1179575"/>
            <a:chExt cx="9144000" cy="588645"/>
          </a:xfrm>
        </p:grpSpPr>
        <p:sp>
          <p:nvSpPr>
            <p:cNvPr id="3" name="object 3"/>
            <p:cNvSpPr/>
            <p:nvPr/>
          </p:nvSpPr>
          <p:spPr>
            <a:xfrm>
              <a:off x="0" y="1228343"/>
              <a:ext cx="9144000" cy="399415"/>
            </a:xfrm>
            <a:custGeom>
              <a:avLst/>
              <a:gdLst/>
              <a:ahLst/>
              <a:cxnLst/>
              <a:rect l="l" t="t" r="r" b="b"/>
              <a:pathLst>
                <a:path w="9144000" h="399414">
                  <a:moveTo>
                    <a:pt x="9144000" y="0"/>
                  </a:moveTo>
                  <a:lnTo>
                    <a:pt x="0" y="0"/>
                  </a:lnTo>
                  <a:lnTo>
                    <a:pt x="0" y="399288"/>
                  </a:lnTo>
                  <a:lnTo>
                    <a:pt x="9144000" y="39928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182367" y="1179575"/>
              <a:ext cx="2871216" cy="5882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96967" y="1179575"/>
              <a:ext cx="432815" cy="5882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3167" y="1179575"/>
              <a:ext cx="2203704" cy="588263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2901" rIns="0" bIns="0" rtlCol="0">
            <a:spAutoFit/>
          </a:bodyPr>
          <a:lstStyle/>
          <a:p>
            <a:pPr marL="1810385">
              <a:lnSpc>
                <a:spcPct val="100000"/>
              </a:lnSpc>
              <a:spcBef>
                <a:spcPts val="90"/>
              </a:spcBef>
            </a:pPr>
            <a:r>
              <a:rPr sz="2000" b="0" spc="-170" dirty="0">
                <a:latin typeface="Georgia" panose="02040502050405020303"/>
                <a:cs typeface="Georgia" panose="02040502050405020303"/>
              </a:rPr>
              <a:t>Introduction</a:t>
            </a:r>
            <a:r>
              <a:rPr sz="2000" b="0" spc="9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b="0" spc="-85" dirty="0">
                <a:latin typeface="Georgia" panose="02040502050405020303"/>
                <a:cs typeface="Georgia" panose="02040502050405020303"/>
              </a:rPr>
              <a:t>to</a:t>
            </a:r>
            <a:r>
              <a:rPr sz="2000" b="0" spc="-8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b="0" spc="-160" dirty="0">
                <a:latin typeface="Georgia" panose="02040502050405020303"/>
                <a:cs typeface="Georgia" panose="02040502050405020303"/>
              </a:rPr>
              <a:t>Deadlocks-</a:t>
            </a:r>
            <a:r>
              <a:rPr sz="2000" b="0" spc="-140" dirty="0">
                <a:latin typeface="Georgia" panose="02040502050405020303"/>
                <a:cs typeface="Georgia" panose="02040502050405020303"/>
              </a:rPr>
              <a:t>Deadlock</a:t>
            </a:r>
            <a:r>
              <a:rPr sz="2000" b="0" spc="-65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b="0" spc="-125" dirty="0">
                <a:latin typeface="Georgia" panose="02040502050405020303"/>
                <a:cs typeface="Georgia" panose="02040502050405020303"/>
              </a:rPr>
              <a:t>Modeling</a:t>
            </a:r>
            <a:endParaRPr sz="20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800" y="2087879"/>
            <a:ext cx="7010400" cy="392277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1094232"/>
            <a:ext cx="9144000" cy="140335"/>
            <a:chOff x="0" y="1094232"/>
            <a:chExt cx="9144000" cy="14033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094232"/>
              <a:ext cx="9144000" cy="14020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95" y="1133856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86029" y="6607971"/>
            <a:ext cx="69850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07/04/202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02437" y="1375613"/>
            <a:ext cx="8440420" cy="4054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Arial MT"/>
                <a:cs typeface="Arial MT"/>
              </a:rPr>
              <a:t>A</a:t>
            </a:r>
            <a:r>
              <a:rPr sz="1550" spc="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visual</a:t>
            </a:r>
            <a:r>
              <a:rPr sz="1550" spc="1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( mathematical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)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way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to</a:t>
            </a:r>
            <a:r>
              <a:rPr sz="1550" spc="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determine</a:t>
            </a:r>
            <a:r>
              <a:rPr sz="1550" spc="19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if</a:t>
            </a:r>
            <a:r>
              <a:rPr sz="1550" spc="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</a:t>
            </a:r>
            <a:r>
              <a:rPr sz="1550" spc="-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deadlock</a:t>
            </a:r>
            <a:r>
              <a:rPr sz="1550" spc="15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has,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or</a:t>
            </a:r>
            <a:r>
              <a:rPr sz="1550" spc="-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may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occur.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55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tabLst>
                <a:tab pos="1844675" algn="l"/>
              </a:tabLst>
            </a:pPr>
            <a:r>
              <a:rPr sz="1550" b="1" dirty="0">
                <a:latin typeface="Arial" panose="020B0704020202020204"/>
                <a:cs typeface="Arial" panose="020B0704020202020204"/>
              </a:rPr>
              <a:t>G</a:t>
            </a:r>
            <a:r>
              <a:rPr sz="1550" b="1" spc="-15" dirty="0">
                <a:latin typeface="Arial" panose="020B0704020202020204"/>
                <a:cs typeface="Arial" panose="020B0704020202020204"/>
              </a:rPr>
              <a:t> </a:t>
            </a:r>
            <a:r>
              <a:rPr sz="1550" b="1" dirty="0">
                <a:latin typeface="Arial" panose="020B0704020202020204"/>
                <a:cs typeface="Arial" panose="020B0704020202020204"/>
              </a:rPr>
              <a:t>=</a:t>
            </a:r>
            <a:r>
              <a:rPr sz="1550" b="1" spc="55" dirty="0">
                <a:latin typeface="Arial" panose="020B0704020202020204"/>
                <a:cs typeface="Arial" panose="020B0704020202020204"/>
              </a:rPr>
              <a:t> </a:t>
            </a:r>
            <a:r>
              <a:rPr sz="1550" b="1" dirty="0">
                <a:latin typeface="Arial" panose="020B0704020202020204"/>
                <a:cs typeface="Arial" panose="020B0704020202020204"/>
              </a:rPr>
              <a:t>(</a:t>
            </a:r>
            <a:r>
              <a:rPr sz="1550" b="1" spc="-40" dirty="0">
                <a:latin typeface="Arial" panose="020B0704020202020204"/>
                <a:cs typeface="Arial" panose="020B0704020202020204"/>
              </a:rPr>
              <a:t> </a:t>
            </a:r>
            <a:r>
              <a:rPr sz="1550" b="1" dirty="0">
                <a:latin typeface="Arial" panose="020B0704020202020204"/>
                <a:cs typeface="Arial" panose="020B0704020202020204"/>
              </a:rPr>
              <a:t>V,</a:t>
            </a:r>
            <a:r>
              <a:rPr sz="1550" b="1" spc="75" dirty="0">
                <a:latin typeface="Arial" panose="020B0704020202020204"/>
                <a:cs typeface="Arial" panose="020B0704020202020204"/>
              </a:rPr>
              <a:t> </a:t>
            </a:r>
            <a:r>
              <a:rPr sz="1550" b="1" dirty="0">
                <a:latin typeface="Arial" panose="020B0704020202020204"/>
                <a:cs typeface="Arial" panose="020B0704020202020204"/>
              </a:rPr>
              <a:t>E</a:t>
            </a:r>
            <a:r>
              <a:rPr sz="1550" b="1" spc="65" dirty="0">
                <a:latin typeface="Arial" panose="020B0704020202020204"/>
                <a:cs typeface="Arial" panose="020B0704020202020204"/>
              </a:rPr>
              <a:t> </a:t>
            </a:r>
            <a:r>
              <a:rPr sz="1550" b="1" spc="-50" dirty="0">
                <a:latin typeface="Arial" panose="020B0704020202020204"/>
                <a:cs typeface="Arial" panose="020B0704020202020204"/>
              </a:rPr>
              <a:t>)</a:t>
            </a:r>
            <a:r>
              <a:rPr sz="1550" b="1" dirty="0">
                <a:latin typeface="Arial" panose="020B0704020202020204"/>
                <a:cs typeface="Arial" panose="020B0704020202020204"/>
              </a:rPr>
              <a:t>	</a:t>
            </a:r>
            <a:r>
              <a:rPr sz="1550" dirty="0">
                <a:latin typeface="Arial MT"/>
                <a:cs typeface="Arial MT"/>
              </a:rPr>
              <a:t>The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graph</a:t>
            </a:r>
            <a:r>
              <a:rPr sz="1550" spc="8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contains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nodes</a:t>
            </a:r>
            <a:r>
              <a:rPr sz="1550" spc="8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and</a:t>
            </a:r>
            <a:r>
              <a:rPr sz="1550" spc="10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edges.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55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tabLst>
                <a:tab pos="927100" algn="l"/>
              </a:tabLst>
            </a:pPr>
            <a:r>
              <a:rPr sz="1550" b="1" spc="-50" dirty="0">
                <a:latin typeface="Arial" panose="020B0704020202020204"/>
                <a:cs typeface="Arial" panose="020B0704020202020204"/>
              </a:rPr>
              <a:t>V</a:t>
            </a:r>
            <a:r>
              <a:rPr sz="1550" b="1" dirty="0">
                <a:latin typeface="Arial" panose="020B0704020202020204"/>
                <a:cs typeface="Arial" panose="020B0704020202020204"/>
              </a:rPr>
              <a:t>	</a:t>
            </a:r>
            <a:r>
              <a:rPr sz="1550" dirty="0">
                <a:latin typeface="Arial MT"/>
                <a:cs typeface="Arial MT"/>
              </a:rPr>
              <a:t>Nodes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consist</a:t>
            </a:r>
            <a:r>
              <a:rPr sz="1550" spc="8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processes</a:t>
            </a:r>
            <a:r>
              <a:rPr sz="1550" spc="18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=</a:t>
            </a:r>
            <a:r>
              <a:rPr sz="1550" spc="-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{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P1,</a:t>
            </a:r>
            <a:r>
              <a:rPr sz="1550" spc="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P2, P3, ...}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and</a:t>
            </a:r>
            <a:r>
              <a:rPr sz="1550" spc="10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resource</a:t>
            </a:r>
            <a:r>
              <a:rPr sz="1550" spc="17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types</a:t>
            </a:r>
            <a:endParaRPr sz="155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205"/>
              </a:spcBef>
            </a:pPr>
            <a:r>
              <a:rPr sz="1550" dirty="0">
                <a:latin typeface="Arial MT"/>
                <a:cs typeface="Arial MT"/>
              </a:rPr>
              <a:t>{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R1,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R2,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spc="-20" dirty="0">
                <a:latin typeface="Arial MT"/>
                <a:cs typeface="Arial MT"/>
              </a:rPr>
              <a:t>...}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55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tabLst>
                <a:tab pos="927100" algn="l"/>
              </a:tabLst>
            </a:pPr>
            <a:r>
              <a:rPr sz="1550" b="1" spc="-50" dirty="0">
                <a:latin typeface="Arial" panose="020B0704020202020204"/>
                <a:cs typeface="Arial" panose="020B0704020202020204"/>
              </a:rPr>
              <a:t>E</a:t>
            </a:r>
            <a:r>
              <a:rPr sz="1550" b="1" dirty="0">
                <a:latin typeface="Arial" panose="020B0704020202020204"/>
                <a:cs typeface="Arial" panose="020B0704020202020204"/>
              </a:rPr>
              <a:t>	</a:t>
            </a:r>
            <a:r>
              <a:rPr sz="1550" dirty="0">
                <a:latin typeface="Arial MT"/>
                <a:cs typeface="Arial MT"/>
              </a:rPr>
              <a:t>Edges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are</a:t>
            </a:r>
            <a:r>
              <a:rPr sz="1550" spc="13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(</a:t>
            </a:r>
            <a:r>
              <a:rPr sz="1550" spc="-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Pi,</a:t>
            </a:r>
            <a:r>
              <a:rPr sz="1550" spc="-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Rj</a:t>
            </a:r>
            <a:r>
              <a:rPr sz="1550" spc="10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)</a:t>
            </a:r>
            <a:r>
              <a:rPr sz="1550" spc="-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or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(</a:t>
            </a:r>
            <a:r>
              <a:rPr sz="1550" spc="-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Ri,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Pj</a:t>
            </a:r>
            <a:r>
              <a:rPr sz="1550" spc="25" dirty="0">
                <a:latin typeface="Arial MT"/>
                <a:cs typeface="Arial MT"/>
              </a:rPr>
              <a:t> </a:t>
            </a:r>
            <a:r>
              <a:rPr sz="1550" spc="-50" dirty="0">
                <a:latin typeface="Arial MT"/>
                <a:cs typeface="Arial MT"/>
              </a:rPr>
              <a:t>)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10"/>
              </a:spcBef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ts val="1780"/>
              </a:lnSpc>
            </a:pPr>
            <a:r>
              <a:rPr sz="1550" dirty="0">
                <a:latin typeface="Arial MT"/>
                <a:cs typeface="Arial MT"/>
              </a:rPr>
              <a:t>An</a:t>
            </a:r>
            <a:r>
              <a:rPr sz="1550" spc="2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arrow</a:t>
            </a:r>
            <a:r>
              <a:rPr sz="1550" spc="19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from</a:t>
            </a:r>
            <a:r>
              <a:rPr sz="1550" spc="2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the</a:t>
            </a:r>
            <a:r>
              <a:rPr sz="1550" spc="180" dirty="0">
                <a:latin typeface="Arial MT"/>
                <a:cs typeface="Arial MT"/>
              </a:rPr>
              <a:t> </a:t>
            </a:r>
            <a:r>
              <a:rPr sz="1550" b="1" dirty="0">
                <a:latin typeface="Arial" panose="020B0704020202020204"/>
                <a:cs typeface="Arial" panose="020B0704020202020204"/>
              </a:rPr>
              <a:t>process</a:t>
            </a:r>
            <a:r>
              <a:rPr sz="1550" b="1" spc="185" dirty="0">
                <a:latin typeface="Arial" panose="020B0704020202020204"/>
                <a:cs typeface="Arial" panose="020B0704020202020204"/>
              </a:rPr>
              <a:t> </a:t>
            </a:r>
            <a:r>
              <a:rPr sz="1550" dirty="0">
                <a:latin typeface="Arial MT"/>
                <a:cs typeface="Arial MT"/>
              </a:rPr>
              <a:t>to</a:t>
            </a:r>
            <a:r>
              <a:rPr sz="1550" spc="300" dirty="0">
                <a:latin typeface="Arial MT"/>
                <a:cs typeface="Arial MT"/>
              </a:rPr>
              <a:t> </a:t>
            </a:r>
            <a:r>
              <a:rPr sz="1550" b="1" dirty="0">
                <a:latin typeface="Arial" panose="020B0704020202020204"/>
                <a:cs typeface="Arial" panose="020B0704020202020204"/>
              </a:rPr>
              <a:t>resource</a:t>
            </a:r>
            <a:r>
              <a:rPr sz="1550" b="1" spc="275" dirty="0">
                <a:latin typeface="Arial" panose="020B0704020202020204"/>
                <a:cs typeface="Arial" panose="020B0704020202020204"/>
              </a:rPr>
              <a:t> </a:t>
            </a:r>
            <a:r>
              <a:rPr sz="1550" dirty="0">
                <a:latin typeface="Arial MT"/>
                <a:cs typeface="Arial MT"/>
              </a:rPr>
              <a:t>indicates</a:t>
            </a:r>
            <a:r>
              <a:rPr sz="1550" spc="17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the</a:t>
            </a:r>
            <a:r>
              <a:rPr sz="1550" spc="204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process</a:t>
            </a:r>
            <a:r>
              <a:rPr sz="1550" spc="15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is</a:t>
            </a:r>
            <a:r>
              <a:rPr sz="1550" spc="310" dirty="0">
                <a:latin typeface="Arial MT"/>
                <a:cs typeface="Arial MT"/>
              </a:rPr>
              <a:t> </a:t>
            </a:r>
            <a:r>
              <a:rPr sz="1550" b="1" dirty="0">
                <a:latin typeface="Arial" panose="020B0704020202020204"/>
                <a:cs typeface="Arial" panose="020B0704020202020204"/>
              </a:rPr>
              <a:t>requesting</a:t>
            </a:r>
            <a:r>
              <a:rPr sz="1550" b="1" spc="200" dirty="0">
                <a:latin typeface="Arial" panose="020B0704020202020204"/>
                <a:cs typeface="Arial" panose="020B0704020202020204"/>
              </a:rPr>
              <a:t> </a:t>
            </a:r>
            <a:r>
              <a:rPr sz="1550" dirty="0">
                <a:latin typeface="Arial MT"/>
                <a:cs typeface="Arial MT"/>
              </a:rPr>
              <a:t>the</a:t>
            </a:r>
            <a:r>
              <a:rPr sz="1550" spc="204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resource.</a:t>
            </a:r>
            <a:endParaRPr sz="1550">
              <a:latin typeface="Arial MT"/>
              <a:cs typeface="Arial MT"/>
            </a:endParaRPr>
          </a:p>
          <a:p>
            <a:pPr marL="12700" marR="34290" indent="7649845">
              <a:lnSpc>
                <a:spcPts val="1710"/>
              </a:lnSpc>
              <a:spcBef>
                <a:spcPts val="105"/>
              </a:spcBef>
            </a:pPr>
            <a:r>
              <a:rPr sz="1550" spc="-25" dirty="0">
                <a:latin typeface="Arial MT"/>
                <a:cs typeface="Arial MT"/>
              </a:rPr>
              <a:t>An </a:t>
            </a:r>
            <a:r>
              <a:rPr sz="1550" dirty="0">
                <a:latin typeface="Arial MT"/>
                <a:cs typeface="Arial MT"/>
              </a:rPr>
              <a:t>arrow</a:t>
            </a:r>
            <a:r>
              <a:rPr sz="1550" spc="-10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from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b="1" dirty="0">
                <a:latin typeface="Arial" panose="020B0704020202020204"/>
                <a:cs typeface="Arial" panose="020B0704020202020204"/>
              </a:rPr>
              <a:t>resource</a:t>
            </a:r>
            <a:r>
              <a:rPr sz="1550" b="1" spc="165" dirty="0">
                <a:latin typeface="Arial" panose="020B0704020202020204"/>
                <a:cs typeface="Arial" panose="020B0704020202020204"/>
              </a:rPr>
              <a:t> </a:t>
            </a:r>
            <a:r>
              <a:rPr sz="1550" dirty="0">
                <a:latin typeface="Arial MT"/>
                <a:cs typeface="Arial MT"/>
              </a:rPr>
              <a:t>to</a:t>
            </a:r>
            <a:r>
              <a:rPr sz="1550" spc="-5" dirty="0">
                <a:latin typeface="Arial MT"/>
                <a:cs typeface="Arial MT"/>
              </a:rPr>
              <a:t> </a:t>
            </a:r>
            <a:r>
              <a:rPr sz="1550" b="1" dirty="0">
                <a:latin typeface="Arial" panose="020B0704020202020204"/>
                <a:cs typeface="Arial" panose="020B0704020202020204"/>
              </a:rPr>
              <a:t>process</a:t>
            </a:r>
            <a:r>
              <a:rPr sz="1550" b="1" spc="190" dirty="0">
                <a:latin typeface="Arial" panose="020B0704020202020204"/>
                <a:cs typeface="Arial" panose="020B0704020202020204"/>
              </a:rPr>
              <a:t> </a:t>
            </a:r>
            <a:r>
              <a:rPr sz="1550" dirty="0">
                <a:latin typeface="Arial MT"/>
                <a:cs typeface="Arial MT"/>
              </a:rPr>
              <a:t>shows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</a:t>
            </a:r>
            <a:r>
              <a:rPr sz="1550" spc="-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instance</a:t>
            </a:r>
            <a:r>
              <a:rPr sz="1550" spc="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the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resource</a:t>
            </a:r>
            <a:r>
              <a:rPr sz="1550" spc="15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has</a:t>
            </a:r>
            <a:r>
              <a:rPr sz="1550" spc="-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been</a:t>
            </a:r>
            <a:r>
              <a:rPr sz="1550" spc="165" dirty="0">
                <a:latin typeface="Arial MT"/>
                <a:cs typeface="Arial MT"/>
              </a:rPr>
              <a:t> </a:t>
            </a:r>
            <a:r>
              <a:rPr sz="1550" b="1" dirty="0">
                <a:latin typeface="Arial" panose="020B0704020202020204"/>
                <a:cs typeface="Arial" panose="020B0704020202020204"/>
              </a:rPr>
              <a:t>allocated</a:t>
            </a:r>
            <a:r>
              <a:rPr sz="1550" b="1" spc="105" dirty="0">
                <a:latin typeface="Arial" panose="020B0704020202020204"/>
                <a:cs typeface="Arial" panose="020B0704020202020204"/>
              </a:rPr>
              <a:t> </a:t>
            </a:r>
            <a:r>
              <a:rPr sz="1550" dirty="0">
                <a:latin typeface="Arial MT"/>
                <a:cs typeface="Arial MT"/>
              </a:rPr>
              <a:t>to </a:t>
            </a:r>
            <a:r>
              <a:rPr sz="1550" spc="-25" dirty="0">
                <a:latin typeface="Arial MT"/>
                <a:cs typeface="Arial MT"/>
              </a:rPr>
              <a:t>the </a:t>
            </a:r>
            <a:r>
              <a:rPr sz="1550" spc="-10" dirty="0">
                <a:latin typeface="Arial MT"/>
                <a:cs typeface="Arial MT"/>
              </a:rPr>
              <a:t>process.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550">
              <a:latin typeface="Arial MT"/>
              <a:cs typeface="Arial MT"/>
            </a:endParaRPr>
          </a:p>
          <a:p>
            <a:pPr marL="12700" marR="5080">
              <a:lnSpc>
                <a:spcPts val="1700"/>
              </a:lnSpc>
            </a:pPr>
            <a:r>
              <a:rPr sz="1550" dirty="0">
                <a:latin typeface="Arial MT"/>
                <a:cs typeface="Arial MT"/>
              </a:rPr>
              <a:t>Process</a:t>
            </a:r>
            <a:r>
              <a:rPr sz="1550" spc="18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is</a:t>
            </a:r>
            <a:r>
              <a:rPr sz="1550" spc="2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</a:t>
            </a:r>
            <a:r>
              <a:rPr sz="1550" spc="229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circle,</a:t>
            </a:r>
            <a:r>
              <a:rPr sz="1550" spc="2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resource</a:t>
            </a:r>
            <a:r>
              <a:rPr sz="1550" spc="16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type</a:t>
            </a:r>
            <a:r>
              <a:rPr sz="1550" spc="2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is</a:t>
            </a:r>
            <a:r>
              <a:rPr sz="1550" spc="2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square;</a:t>
            </a:r>
            <a:r>
              <a:rPr sz="1550" spc="2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dots</a:t>
            </a:r>
            <a:r>
              <a:rPr sz="1550" spc="2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represent</a:t>
            </a:r>
            <a:r>
              <a:rPr sz="1550" spc="19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number</a:t>
            </a:r>
            <a:r>
              <a:rPr sz="1550" spc="17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</a:t>
            </a:r>
            <a:r>
              <a:rPr sz="1550" spc="2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instances</a:t>
            </a:r>
            <a:r>
              <a:rPr sz="1550" spc="204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</a:t>
            </a:r>
            <a:r>
              <a:rPr sz="1550" spc="28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resource </a:t>
            </a:r>
            <a:r>
              <a:rPr sz="1550" dirty="0">
                <a:latin typeface="Arial MT"/>
                <a:cs typeface="Arial MT"/>
              </a:rPr>
              <a:t>in</a:t>
            </a:r>
            <a:r>
              <a:rPr sz="1550" spc="2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type.</a:t>
            </a:r>
            <a:r>
              <a:rPr sz="1550" spc="-5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Request</a:t>
            </a:r>
            <a:r>
              <a:rPr sz="1550" spc="19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points to</a:t>
            </a:r>
            <a:r>
              <a:rPr sz="1550" spc="8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square,</a:t>
            </a:r>
            <a:r>
              <a:rPr sz="1550" spc="9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assignment</a:t>
            </a:r>
            <a:r>
              <a:rPr sz="1550" spc="9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comes</a:t>
            </a:r>
            <a:r>
              <a:rPr sz="1550" spc="3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from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-20" dirty="0">
                <a:latin typeface="Arial MT"/>
                <a:cs typeface="Arial MT"/>
              </a:rPr>
              <a:t>dot.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08048" y="5879591"/>
            <a:ext cx="445134" cy="426720"/>
            <a:chOff x="1908048" y="5879591"/>
            <a:chExt cx="445134" cy="426720"/>
          </a:xfrm>
        </p:grpSpPr>
        <p:sp>
          <p:nvSpPr>
            <p:cNvPr id="8" name="object 8"/>
            <p:cNvSpPr/>
            <p:nvPr/>
          </p:nvSpPr>
          <p:spPr>
            <a:xfrm>
              <a:off x="1911096" y="5882639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4" h="417829">
                  <a:moveTo>
                    <a:pt x="435863" y="0"/>
                  </a:moveTo>
                  <a:lnTo>
                    <a:pt x="0" y="0"/>
                  </a:lnTo>
                  <a:lnTo>
                    <a:pt x="0" y="417576"/>
                  </a:lnTo>
                  <a:lnTo>
                    <a:pt x="435863" y="417576"/>
                  </a:lnTo>
                  <a:lnTo>
                    <a:pt x="435863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912620" y="5884163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4" h="417829">
                  <a:moveTo>
                    <a:pt x="0" y="417576"/>
                  </a:moveTo>
                  <a:lnTo>
                    <a:pt x="435863" y="417576"/>
                  </a:lnTo>
                  <a:lnTo>
                    <a:pt x="435863" y="0"/>
                  </a:lnTo>
                  <a:lnTo>
                    <a:pt x="0" y="0"/>
                  </a:lnTo>
                  <a:lnTo>
                    <a:pt x="0" y="417576"/>
                  </a:lnTo>
                  <a:close/>
                </a:path>
                <a:path w="436244" h="417829">
                  <a:moveTo>
                    <a:pt x="113665" y="170827"/>
                  </a:moveTo>
                  <a:lnTo>
                    <a:pt x="189467" y="170827"/>
                  </a:lnTo>
                  <a:lnTo>
                    <a:pt x="189467" y="94904"/>
                  </a:lnTo>
                  <a:lnTo>
                    <a:pt x="113665" y="94904"/>
                  </a:lnTo>
                  <a:lnTo>
                    <a:pt x="113665" y="170827"/>
                  </a:lnTo>
                  <a:close/>
                </a:path>
                <a:path w="436244" h="417829">
                  <a:moveTo>
                    <a:pt x="265303" y="170827"/>
                  </a:moveTo>
                  <a:lnTo>
                    <a:pt x="341105" y="170827"/>
                  </a:lnTo>
                  <a:lnTo>
                    <a:pt x="341105" y="94904"/>
                  </a:lnTo>
                  <a:lnTo>
                    <a:pt x="265303" y="94904"/>
                  </a:lnTo>
                  <a:lnTo>
                    <a:pt x="265303" y="170827"/>
                  </a:lnTo>
                  <a:close/>
                </a:path>
                <a:path w="436244" h="417829">
                  <a:moveTo>
                    <a:pt x="113665" y="303695"/>
                  </a:moveTo>
                  <a:lnTo>
                    <a:pt x="189467" y="303695"/>
                  </a:lnTo>
                  <a:lnTo>
                    <a:pt x="189467" y="227771"/>
                  </a:lnTo>
                  <a:lnTo>
                    <a:pt x="113665" y="227771"/>
                  </a:lnTo>
                  <a:lnTo>
                    <a:pt x="113665" y="303695"/>
                  </a:lnTo>
                  <a:close/>
                </a:path>
                <a:path w="436244" h="417829">
                  <a:moveTo>
                    <a:pt x="265303" y="303695"/>
                  </a:moveTo>
                  <a:lnTo>
                    <a:pt x="341105" y="303695"/>
                  </a:lnTo>
                  <a:lnTo>
                    <a:pt x="341105" y="227771"/>
                  </a:lnTo>
                  <a:lnTo>
                    <a:pt x="265303" y="227771"/>
                  </a:lnTo>
                  <a:lnTo>
                    <a:pt x="265303" y="30369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4745545" y="5772721"/>
            <a:ext cx="503555" cy="506730"/>
            <a:chOff x="4745545" y="5772721"/>
            <a:chExt cx="503555" cy="506730"/>
          </a:xfrm>
        </p:grpSpPr>
        <p:sp>
          <p:nvSpPr>
            <p:cNvPr id="11" name="object 11"/>
            <p:cNvSpPr/>
            <p:nvPr/>
          </p:nvSpPr>
          <p:spPr>
            <a:xfrm>
              <a:off x="4748784" y="5775960"/>
              <a:ext cx="494030" cy="497205"/>
            </a:xfrm>
            <a:custGeom>
              <a:avLst/>
              <a:gdLst/>
              <a:ahLst/>
              <a:cxnLst/>
              <a:rect l="l" t="t" r="r" b="b"/>
              <a:pathLst>
                <a:path w="494029" h="497204">
                  <a:moveTo>
                    <a:pt x="246887" y="0"/>
                  </a:moveTo>
                  <a:lnTo>
                    <a:pt x="197103" y="5041"/>
                  </a:lnTo>
                  <a:lnTo>
                    <a:pt x="150749" y="19519"/>
                  </a:lnTo>
                  <a:lnTo>
                    <a:pt x="108838" y="42417"/>
                  </a:lnTo>
                  <a:lnTo>
                    <a:pt x="72262" y="72758"/>
                  </a:lnTo>
                  <a:lnTo>
                    <a:pt x="42163" y="109524"/>
                  </a:lnTo>
                  <a:lnTo>
                    <a:pt x="19430" y="151714"/>
                  </a:lnTo>
                  <a:lnTo>
                    <a:pt x="4952" y="198348"/>
                  </a:lnTo>
                  <a:lnTo>
                    <a:pt x="0" y="248411"/>
                  </a:lnTo>
                  <a:lnTo>
                    <a:pt x="4952" y="298475"/>
                  </a:lnTo>
                  <a:lnTo>
                    <a:pt x="19430" y="345109"/>
                  </a:lnTo>
                  <a:lnTo>
                    <a:pt x="42163" y="387299"/>
                  </a:lnTo>
                  <a:lnTo>
                    <a:pt x="72262" y="424065"/>
                  </a:lnTo>
                  <a:lnTo>
                    <a:pt x="108838" y="454393"/>
                  </a:lnTo>
                  <a:lnTo>
                    <a:pt x="150749" y="477304"/>
                  </a:lnTo>
                  <a:lnTo>
                    <a:pt x="197103" y="491782"/>
                  </a:lnTo>
                  <a:lnTo>
                    <a:pt x="246887" y="496823"/>
                  </a:lnTo>
                  <a:lnTo>
                    <a:pt x="296671" y="491782"/>
                  </a:lnTo>
                  <a:lnTo>
                    <a:pt x="342900" y="477304"/>
                  </a:lnTo>
                  <a:lnTo>
                    <a:pt x="384810" y="454393"/>
                  </a:lnTo>
                  <a:lnTo>
                    <a:pt x="421386" y="424065"/>
                  </a:lnTo>
                  <a:lnTo>
                    <a:pt x="451612" y="387299"/>
                  </a:lnTo>
                  <a:lnTo>
                    <a:pt x="474344" y="345109"/>
                  </a:lnTo>
                  <a:lnTo>
                    <a:pt x="488695" y="298475"/>
                  </a:lnTo>
                  <a:lnTo>
                    <a:pt x="493775" y="248411"/>
                  </a:lnTo>
                  <a:lnTo>
                    <a:pt x="488695" y="198348"/>
                  </a:lnTo>
                  <a:lnTo>
                    <a:pt x="474344" y="151714"/>
                  </a:lnTo>
                  <a:lnTo>
                    <a:pt x="451612" y="109524"/>
                  </a:lnTo>
                  <a:lnTo>
                    <a:pt x="421386" y="72758"/>
                  </a:lnTo>
                  <a:lnTo>
                    <a:pt x="384810" y="42417"/>
                  </a:lnTo>
                  <a:lnTo>
                    <a:pt x="342900" y="19519"/>
                  </a:lnTo>
                  <a:lnTo>
                    <a:pt x="296671" y="5041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750308" y="5777484"/>
              <a:ext cx="494030" cy="497205"/>
            </a:xfrm>
            <a:custGeom>
              <a:avLst/>
              <a:gdLst/>
              <a:ahLst/>
              <a:cxnLst/>
              <a:rect l="l" t="t" r="r" b="b"/>
              <a:pathLst>
                <a:path w="494029" h="497204">
                  <a:moveTo>
                    <a:pt x="0" y="248411"/>
                  </a:moveTo>
                  <a:lnTo>
                    <a:pt x="4952" y="198348"/>
                  </a:lnTo>
                  <a:lnTo>
                    <a:pt x="19430" y="151714"/>
                  </a:lnTo>
                  <a:lnTo>
                    <a:pt x="42163" y="109524"/>
                  </a:lnTo>
                  <a:lnTo>
                    <a:pt x="72262" y="72758"/>
                  </a:lnTo>
                  <a:lnTo>
                    <a:pt x="108838" y="42417"/>
                  </a:lnTo>
                  <a:lnTo>
                    <a:pt x="150749" y="19519"/>
                  </a:lnTo>
                  <a:lnTo>
                    <a:pt x="197103" y="5041"/>
                  </a:lnTo>
                  <a:lnTo>
                    <a:pt x="246887" y="0"/>
                  </a:lnTo>
                  <a:lnTo>
                    <a:pt x="296671" y="5041"/>
                  </a:lnTo>
                  <a:lnTo>
                    <a:pt x="342900" y="19519"/>
                  </a:lnTo>
                  <a:lnTo>
                    <a:pt x="384809" y="42417"/>
                  </a:lnTo>
                  <a:lnTo>
                    <a:pt x="421386" y="72758"/>
                  </a:lnTo>
                  <a:lnTo>
                    <a:pt x="451612" y="109524"/>
                  </a:lnTo>
                  <a:lnTo>
                    <a:pt x="474344" y="151714"/>
                  </a:lnTo>
                  <a:lnTo>
                    <a:pt x="488695" y="198348"/>
                  </a:lnTo>
                  <a:lnTo>
                    <a:pt x="493775" y="248411"/>
                  </a:lnTo>
                  <a:lnTo>
                    <a:pt x="488695" y="298475"/>
                  </a:lnTo>
                  <a:lnTo>
                    <a:pt x="474344" y="345109"/>
                  </a:lnTo>
                  <a:lnTo>
                    <a:pt x="451612" y="387299"/>
                  </a:lnTo>
                  <a:lnTo>
                    <a:pt x="421386" y="424065"/>
                  </a:lnTo>
                  <a:lnTo>
                    <a:pt x="384809" y="454393"/>
                  </a:lnTo>
                  <a:lnTo>
                    <a:pt x="342900" y="477304"/>
                  </a:lnTo>
                  <a:lnTo>
                    <a:pt x="296671" y="491782"/>
                  </a:lnTo>
                  <a:lnTo>
                    <a:pt x="246887" y="496823"/>
                  </a:lnTo>
                  <a:lnTo>
                    <a:pt x="197103" y="491782"/>
                  </a:lnTo>
                  <a:lnTo>
                    <a:pt x="150749" y="477304"/>
                  </a:lnTo>
                  <a:lnTo>
                    <a:pt x="108838" y="454393"/>
                  </a:lnTo>
                  <a:lnTo>
                    <a:pt x="72262" y="424065"/>
                  </a:lnTo>
                  <a:lnTo>
                    <a:pt x="42163" y="387299"/>
                  </a:lnTo>
                  <a:lnTo>
                    <a:pt x="19430" y="345109"/>
                  </a:lnTo>
                  <a:lnTo>
                    <a:pt x="4952" y="298475"/>
                  </a:lnTo>
                  <a:lnTo>
                    <a:pt x="0" y="24841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871339" y="5860186"/>
            <a:ext cx="2597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spc="-25" dirty="0">
                <a:latin typeface="Arial" panose="020B0704020202020204"/>
                <a:cs typeface="Arial" panose="020B0704020202020204"/>
              </a:rPr>
              <a:t>P</a:t>
            </a:r>
            <a:r>
              <a:rPr sz="1800" i="1" spc="-37" baseline="-14000" dirty="0">
                <a:latin typeface="Arial" panose="020B0704020202020204"/>
                <a:cs typeface="Arial" panose="020B0704020202020204"/>
              </a:rPr>
              <a:t>i</a:t>
            </a:r>
            <a:endParaRPr sz="1800" baseline="-14000">
              <a:latin typeface="Arial" panose="020B0704020202020204"/>
              <a:cs typeface="Arial" panose="020B070402020202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583935" y="5830823"/>
            <a:ext cx="448309" cy="429895"/>
            <a:chOff x="5583935" y="5830823"/>
            <a:chExt cx="448309" cy="429895"/>
          </a:xfrm>
        </p:grpSpPr>
        <p:sp>
          <p:nvSpPr>
            <p:cNvPr id="15" name="object 15"/>
            <p:cNvSpPr/>
            <p:nvPr/>
          </p:nvSpPr>
          <p:spPr>
            <a:xfrm>
              <a:off x="5586983" y="5833871"/>
              <a:ext cx="439420" cy="421005"/>
            </a:xfrm>
            <a:custGeom>
              <a:avLst/>
              <a:gdLst/>
              <a:ahLst/>
              <a:cxnLst/>
              <a:rect l="l" t="t" r="r" b="b"/>
              <a:pathLst>
                <a:path w="439420" h="421004">
                  <a:moveTo>
                    <a:pt x="438912" y="0"/>
                  </a:moveTo>
                  <a:lnTo>
                    <a:pt x="0" y="0"/>
                  </a:lnTo>
                  <a:lnTo>
                    <a:pt x="0" y="420623"/>
                  </a:lnTo>
                  <a:lnTo>
                    <a:pt x="438912" y="420623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588507" y="5835395"/>
              <a:ext cx="439420" cy="421005"/>
            </a:xfrm>
            <a:custGeom>
              <a:avLst/>
              <a:gdLst/>
              <a:ahLst/>
              <a:cxnLst/>
              <a:rect l="l" t="t" r="r" b="b"/>
              <a:pathLst>
                <a:path w="439420" h="421004">
                  <a:moveTo>
                    <a:pt x="0" y="420623"/>
                  </a:moveTo>
                  <a:lnTo>
                    <a:pt x="438912" y="420623"/>
                  </a:lnTo>
                  <a:lnTo>
                    <a:pt x="438912" y="0"/>
                  </a:lnTo>
                  <a:lnTo>
                    <a:pt x="0" y="0"/>
                  </a:lnTo>
                  <a:lnTo>
                    <a:pt x="0" y="420623"/>
                  </a:lnTo>
                  <a:close/>
                </a:path>
                <a:path w="439420" h="421004">
                  <a:moveTo>
                    <a:pt x="104901" y="172072"/>
                  </a:moveTo>
                  <a:lnTo>
                    <a:pt x="181234" y="172072"/>
                  </a:lnTo>
                  <a:lnTo>
                    <a:pt x="181234" y="95595"/>
                  </a:lnTo>
                  <a:lnTo>
                    <a:pt x="104901" y="95595"/>
                  </a:lnTo>
                  <a:lnTo>
                    <a:pt x="104901" y="172072"/>
                  </a:lnTo>
                  <a:close/>
                </a:path>
                <a:path w="439420" h="421004">
                  <a:moveTo>
                    <a:pt x="257682" y="172072"/>
                  </a:moveTo>
                  <a:lnTo>
                    <a:pt x="334015" y="172072"/>
                  </a:lnTo>
                  <a:lnTo>
                    <a:pt x="334015" y="95595"/>
                  </a:lnTo>
                  <a:lnTo>
                    <a:pt x="257682" y="95595"/>
                  </a:lnTo>
                  <a:lnTo>
                    <a:pt x="257682" y="172072"/>
                  </a:lnTo>
                  <a:close/>
                </a:path>
                <a:path w="439420" h="421004">
                  <a:moveTo>
                    <a:pt x="104901" y="305904"/>
                  </a:moveTo>
                  <a:lnTo>
                    <a:pt x="181234" y="305904"/>
                  </a:lnTo>
                  <a:lnTo>
                    <a:pt x="181234" y="229428"/>
                  </a:lnTo>
                  <a:lnTo>
                    <a:pt x="104901" y="229428"/>
                  </a:lnTo>
                  <a:lnTo>
                    <a:pt x="104901" y="305904"/>
                  </a:lnTo>
                  <a:close/>
                </a:path>
                <a:path w="439420" h="421004">
                  <a:moveTo>
                    <a:pt x="257682" y="305904"/>
                  </a:moveTo>
                  <a:lnTo>
                    <a:pt x="334015" y="305904"/>
                  </a:lnTo>
                  <a:lnTo>
                    <a:pt x="334015" y="229428"/>
                  </a:lnTo>
                  <a:lnTo>
                    <a:pt x="257682" y="229428"/>
                  </a:lnTo>
                  <a:lnTo>
                    <a:pt x="257682" y="30590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1703" y="6004559"/>
            <a:ext cx="304800" cy="7620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6556057" y="5794057"/>
            <a:ext cx="503555" cy="503555"/>
            <a:chOff x="6556057" y="5794057"/>
            <a:chExt cx="503555" cy="503555"/>
          </a:xfrm>
        </p:grpSpPr>
        <p:sp>
          <p:nvSpPr>
            <p:cNvPr id="19" name="object 19"/>
            <p:cNvSpPr/>
            <p:nvPr/>
          </p:nvSpPr>
          <p:spPr>
            <a:xfrm>
              <a:off x="6559295" y="5797296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03" y="5016"/>
                  </a:lnTo>
                  <a:lnTo>
                    <a:pt x="150749" y="19405"/>
                  </a:lnTo>
                  <a:lnTo>
                    <a:pt x="108838" y="42163"/>
                  </a:lnTo>
                  <a:lnTo>
                    <a:pt x="72262" y="72313"/>
                  </a:lnTo>
                  <a:lnTo>
                    <a:pt x="42163" y="108851"/>
                  </a:lnTo>
                  <a:lnTo>
                    <a:pt x="19430" y="150787"/>
                  </a:lnTo>
                  <a:lnTo>
                    <a:pt x="4952" y="197129"/>
                  </a:lnTo>
                  <a:lnTo>
                    <a:pt x="0" y="246887"/>
                  </a:lnTo>
                  <a:lnTo>
                    <a:pt x="4952" y="296646"/>
                  </a:lnTo>
                  <a:lnTo>
                    <a:pt x="19430" y="342988"/>
                  </a:lnTo>
                  <a:lnTo>
                    <a:pt x="42163" y="384924"/>
                  </a:lnTo>
                  <a:lnTo>
                    <a:pt x="72262" y="421462"/>
                  </a:lnTo>
                  <a:lnTo>
                    <a:pt x="108838" y="451611"/>
                  </a:lnTo>
                  <a:lnTo>
                    <a:pt x="150749" y="474370"/>
                  </a:lnTo>
                  <a:lnTo>
                    <a:pt x="197103" y="488759"/>
                  </a:lnTo>
                  <a:lnTo>
                    <a:pt x="246887" y="493775"/>
                  </a:lnTo>
                  <a:lnTo>
                    <a:pt x="296672" y="488759"/>
                  </a:lnTo>
                  <a:lnTo>
                    <a:pt x="342900" y="474370"/>
                  </a:lnTo>
                  <a:lnTo>
                    <a:pt x="384809" y="451611"/>
                  </a:lnTo>
                  <a:lnTo>
                    <a:pt x="421385" y="421462"/>
                  </a:lnTo>
                  <a:lnTo>
                    <a:pt x="451611" y="384924"/>
                  </a:lnTo>
                  <a:lnTo>
                    <a:pt x="474345" y="342988"/>
                  </a:lnTo>
                  <a:lnTo>
                    <a:pt x="488696" y="296646"/>
                  </a:lnTo>
                  <a:lnTo>
                    <a:pt x="493775" y="246887"/>
                  </a:lnTo>
                  <a:lnTo>
                    <a:pt x="488696" y="197129"/>
                  </a:lnTo>
                  <a:lnTo>
                    <a:pt x="474345" y="150787"/>
                  </a:lnTo>
                  <a:lnTo>
                    <a:pt x="451611" y="108851"/>
                  </a:lnTo>
                  <a:lnTo>
                    <a:pt x="421385" y="72313"/>
                  </a:lnTo>
                  <a:lnTo>
                    <a:pt x="384809" y="42163"/>
                  </a:lnTo>
                  <a:lnTo>
                    <a:pt x="342900" y="19405"/>
                  </a:lnTo>
                  <a:lnTo>
                    <a:pt x="296672" y="5016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560819" y="5798820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4952" y="197129"/>
                  </a:lnTo>
                  <a:lnTo>
                    <a:pt x="19430" y="150787"/>
                  </a:lnTo>
                  <a:lnTo>
                    <a:pt x="42163" y="108851"/>
                  </a:lnTo>
                  <a:lnTo>
                    <a:pt x="72262" y="72313"/>
                  </a:lnTo>
                  <a:lnTo>
                    <a:pt x="108838" y="42163"/>
                  </a:lnTo>
                  <a:lnTo>
                    <a:pt x="150749" y="19405"/>
                  </a:lnTo>
                  <a:lnTo>
                    <a:pt x="197103" y="5016"/>
                  </a:lnTo>
                  <a:lnTo>
                    <a:pt x="246887" y="0"/>
                  </a:lnTo>
                  <a:lnTo>
                    <a:pt x="296672" y="5016"/>
                  </a:lnTo>
                  <a:lnTo>
                    <a:pt x="342900" y="19405"/>
                  </a:lnTo>
                  <a:lnTo>
                    <a:pt x="384809" y="42163"/>
                  </a:lnTo>
                  <a:lnTo>
                    <a:pt x="421385" y="72313"/>
                  </a:lnTo>
                  <a:lnTo>
                    <a:pt x="451611" y="108851"/>
                  </a:lnTo>
                  <a:lnTo>
                    <a:pt x="474345" y="150787"/>
                  </a:lnTo>
                  <a:lnTo>
                    <a:pt x="488696" y="197129"/>
                  </a:lnTo>
                  <a:lnTo>
                    <a:pt x="493775" y="246887"/>
                  </a:lnTo>
                  <a:lnTo>
                    <a:pt x="488696" y="296646"/>
                  </a:lnTo>
                  <a:lnTo>
                    <a:pt x="474345" y="342988"/>
                  </a:lnTo>
                  <a:lnTo>
                    <a:pt x="451611" y="384924"/>
                  </a:lnTo>
                  <a:lnTo>
                    <a:pt x="421385" y="421462"/>
                  </a:lnTo>
                  <a:lnTo>
                    <a:pt x="384809" y="451611"/>
                  </a:lnTo>
                  <a:lnTo>
                    <a:pt x="342900" y="474370"/>
                  </a:lnTo>
                  <a:lnTo>
                    <a:pt x="296672" y="488759"/>
                  </a:lnTo>
                  <a:lnTo>
                    <a:pt x="246887" y="493775"/>
                  </a:lnTo>
                  <a:lnTo>
                    <a:pt x="197103" y="488759"/>
                  </a:lnTo>
                  <a:lnTo>
                    <a:pt x="150749" y="474370"/>
                  </a:lnTo>
                  <a:lnTo>
                    <a:pt x="108838" y="451611"/>
                  </a:lnTo>
                  <a:lnTo>
                    <a:pt x="72262" y="421462"/>
                  </a:lnTo>
                  <a:lnTo>
                    <a:pt x="42163" y="384924"/>
                  </a:lnTo>
                  <a:lnTo>
                    <a:pt x="19430" y="342988"/>
                  </a:lnTo>
                  <a:lnTo>
                    <a:pt x="4952" y="296646"/>
                  </a:lnTo>
                  <a:lnTo>
                    <a:pt x="0" y="24688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680581" y="5884570"/>
            <a:ext cx="259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spc="-25" dirty="0">
                <a:latin typeface="Arial" panose="020B0704020202020204"/>
                <a:cs typeface="Arial" panose="020B0704020202020204"/>
              </a:rPr>
              <a:t>P</a:t>
            </a:r>
            <a:r>
              <a:rPr sz="1800" i="1" spc="-37" baseline="-14000" dirty="0">
                <a:latin typeface="Arial" panose="020B0704020202020204"/>
                <a:cs typeface="Arial" panose="020B0704020202020204"/>
              </a:rPr>
              <a:t>i</a:t>
            </a:r>
            <a:endParaRPr sz="1800" baseline="-14000">
              <a:latin typeface="Arial" panose="020B0704020202020204"/>
              <a:cs typeface="Arial" panose="020B07040202020202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025640" y="6001511"/>
            <a:ext cx="475615" cy="130810"/>
            <a:chOff x="7025640" y="6001511"/>
            <a:chExt cx="475615" cy="13081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25640" y="6057455"/>
              <a:ext cx="82168" cy="745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098665" y="6001511"/>
              <a:ext cx="402590" cy="98425"/>
            </a:xfrm>
            <a:custGeom>
              <a:avLst/>
              <a:gdLst/>
              <a:ahLst/>
              <a:cxnLst/>
              <a:rect l="l" t="t" r="r" b="b"/>
              <a:pathLst>
                <a:path w="402590" h="98425">
                  <a:moveTo>
                    <a:pt x="400050" y="0"/>
                  </a:moveTo>
                  <a:lnTo>
                    <a:pt x="0" y="88569"/>
                  </a:lnTo>
                  <a:lnTo>
                    <a:pt x="2031" y="97891"/>
                  </a:lnTo>
                  <a:lnTo>
                    <a:pt x="402208" y="9309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7463281" y="6278372"/>
            <a:ext cx="22796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i="1" spc="-25" dirty="0">
                <a:latin typeface="Arial" panose="020B0704020202020204"/>
                <a:cs typeface="Arial" panose="020B0704020202020204"/>
              </a:rPr>
              <a:t>R</a:t>
            </a:r>
            <a:r>
              <a:rPr sz="1350" i="1" spc="-37" baseline="-15000" dirty="0">
                <a:latin typeface="Arial" panose="020B0704020202020204"/>
                <a:cs typeface="Arial" panose="020B0704020202020204"/>
              </a:rPr>
              <a:t>j</a:t>
            </a:r>
            <a:endParaRPr sz="1350" baseline="-15000">
              <a:latin typeface="Arial" panose="020B0704020202020204"/>
              <a:cs typeface="Arial" panose="020B070402020202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52855" y="5812535"/>
            <a:ext cx="506095" cy="502920"/>
            <a:chOff x="752855" y="5812535"/>
            <a:chExt cx="506095" cy="502920"/>
          </a:xfrm>
        </p:grpSpPr>
        <p:sp>
          <p:nvSpPr>
            <p:cNvPr id="27" name="object 27"/>
            <p:cNvSpPr/>
            <p:nvPr/>
          </p:nvSpPr>
          <p:spPr>
            <a:xfrm>
              <a:off x="755903" y="5815583"/>
              <a:ext cx="497205" cy="494030"/>
            </a:xfrm>
            <a:custGeom>
              <a:avLst/>
              <a:gdLst/>
              <a:ahLst/>
              <a:cxnLst/>
              <a:rect l="l" t="t" r="r" b="b"/>
              <a:pathLst>
                <a:path w="497205" h="494029">
                  <a:moveTo>
                    <a:pt x="248411" y="0"/>
                  </a:moveTo>
                  <a:lnTo>
                    <a:pt x="198348" y="5016"/>
                  </a:lnTo>
                  <a:lnTo>
                    <a:pt x="151714" y="19405"/>
                  </a:lnTo>
                  <a:lnTo>
                    <a:pt x="109524" y="42163"/>
                  </a:lnTo>
                  <a:lnTo>
                    <a:pt x="72758" y="72313"/>
                  </a:lnTo>
                  <a:lnTo>
                    <a:pt x="42417" y="108851"/>
                  </a:lnTo>
                  <a:lnTo>
                    <a:pt x="19519" y="150787"/>
                  </a:lnTo>
                  <a:lnTo>
                    <a:pt x="5041" y="197129"/>
                  </a:lnTo>
                  <a:lnTo>
                    <a:pt x="0" y="246887"/>
                  </a:lnTo>
                  <a:lnTo>
                    <a:pt x="5041" y="296646"/>
                  </a:lnTo>
                  <a:lnTo>
                    <a:pt x="19519" y="342988"/>
                  </a:lnTo>
                  <a:lnTo>
                    <a:pt x="42417" y="384924"/>
                  </a:lnTo>
                  <a:lnTo>
                    <a:pt x="72758" y="421462"/>
                  </a:lnTo>
                  <a:lnTo>
                    <a:pt x="109524" y="451611"/>
                  </a:lnTo>
                  <a:lnTo>
                    <a:pt x="151714" y="474370"/>
                  </a:lnTo>
                  <a:lnTo>
                    <a:pt x="198348" y="488759"/>
                  </a:lnTo>
                  <a:lnTo>
                    <a:pt x="248411" y="493775"/>
                  </a:lnTo>
                  <a:lnTo>
                    <a:pt x="298475" y="488759"/>
                  </a:lnTo>
                  <a:lnTo>
                    <a:pt x="345109" y="474370"/>
                  </a:lnTo>
                  <a:lnTo>
                    <a:pt x="387299" y="451611"/>
                  </a:lnTo>
                  <a:lnTo>
                    <a:pt x="424065" y="421462"/>
                  </a:lnTo>
                  <a:lnTo>
                    <a:pt x="454405" y="384924"/>
                  </a:lnTo>
                  <a:lnTo>
                    <a:pt x="477304" y="342988"/>
                  </a:lnTo>
                  <a:lnTo>
                    <a:pt x="491782" y="296646"/>
                  </a:lnTo>
                  <a:lnTo>
                    <a:pt x="496823" y="246887"/>
                  </a:lnTo>
                  <a:lnTo>
                    <a:pt x="491782" y="197129"/>
                  </a:lnTo>
                  <a:lnTo>
                    <a:pt x="477304" y="150787"/>
                  </a:lnTo>
                  <a:lnTo>
                    <a:pt x="454405" y="108851"/>
                  </a:lnTo>
                  <a:lnTo>
                    <a:pt x="424065" y="72313"/>
                  </a:lnTo>
                  <a:lnTo>
                    <a:pt x="387299" y="42163"/>
                  </a:lnTo>
                  <a:lnTo>
                    <a:pt x="345109" y="19405"/>
                  </a:lnTo>
                  <a:lnTo>
                    <a:pt x="298475" y="5016"/>
                  </a:lnTo>
                  <a:lnTo>
                    <a:pt x="248411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57427" y="5817107"/>
              <a:ext cx="497205" cy="494030"/>
            </a:xfrm>
            <a:custGeom>
              <a:avLst/>
              <a:gdLst/>
              <a:ahLst/>
              <a:cxnLst/>
              <a:rect l="l" t="t" r="r" b="b"/>
              <a:pathLst>
                <a:path w="497205" h="494029">
                  <a:moveTo>
                    <a:pt x="0" y="246887"/>
                  </a:moveTo>
                  <a:lnTo>
                    <a:pt x="5041" y="197129"/>
                  </a:lnTo>
                  <a:lnTo>
                    <a:pt x="19519" y="150787"/>
                  </a:lnTo>
                  <a:lnTo>
                    <a:pt x="42417" y="108851"/>
                  </a:lnTo>
                  <a:lnTo>
                    <a:pt x="72758" y="72313"/>
                  </a:lnTo>
                  <a:lnTo>
                    <a:pt x="109524" y="42163"/>
                  </a:lnTo>
                  <a:lnTo>
                    <a:pt x="151714" y="19405"/>
                  </a:lnTo>
                  <a:lnTo>
                    <a:pt x="198348" y="5016"/>
                  </a:lnTo>
                  <a:lnTo>
                    <a:pt x="248412" y="0"/>
                  </a:lnTo>
                  <a:lnTo>
                    <a:pt x="298475" y="5016"/>
                  </a:lnTo>
                  <a:lnTo>
                    <a:pt x="345109" y="19405"/>
                  </a:lnTo>
                  <a:lnTo>
                    <a:pt x="387299" y="42163"/>
                  </a:lnTo>
                  <a:lnTo>
                    <a:pt x="424065" y="72313"/>
                  </a:lnTo>
                  <a:lnTo>
                    <a:pt x="454406" y="108851"/>
                  </a:lnTo>
                  <a:lnTo>
                    <a:pt x="477304" y="150787"/>
                  </a:lnTo>
                  <a:lnTo>
                    <a:pt x="491782" y="197129"/>
                  </a:lnTo>
                  <a:lnTo>
                    <a:pt x="496824" y="246887"/>
                  </a:lnTo>
                  <a:lnTo>
                    <a:pt x="491782" y="296646"/>
                  </a:lnTo>
                  <a:lnTo>
                    <a:pt x="477304" y="342988"/>
                  </a:lnTo>
                  <a:lnTo>
                    <a:pt x="454406" y="384924"/>
                  </a:lnTo>
                  <a:lnTo>
                    <a:pt x="424065" y="421462"/>
                  </a:lnTo>
                  <a:lnTo>
                    <a:pt x="387299" y="451611"/>
                  </a:lnTo>
                  <a:lnTo>
                    <a:pt x="345109" y="474370"/>
                  </a:lnTo>
                  <a:lnTo>
                    <a:pt x="298475" y="488759"/>
                  </a:lnTo>
                  <a:lnTo>
                    <a:pt x="248412" y="493775"/>
                  </a:lnTo>
                  <a:lnTo>
                    <a:pt x="198348" y="488759"/>
                  </a:lnTo>
                  <a:lnTo>
                    <a:pt x="151714" y="474370"/>
                  </a:lnTo>
                  <a:lnTo>
                    <a:pt x="109524" y="451611"/>
                  </a:lnTo>
                  <a:lnTo>
                    <a:pt x="72758" y="421462"/>
                  </a:lnTo>
                  <a:lnTo>
                    <a:pt x="42417" y="384924"/>
                  </a:lnTo>
                  <a:lnTo>
                    <a:pt x="19519" y="342988"/>
                  </a:lnTo>
                  <a:lnTo>
                    <a:pt x="5041" y="296646"/>
                  </a:lnTo>
                  <a:lnTo>
                    <a:pt x="0" y="24688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875080" y="5898286"/>
            <a:ext cx="2597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spc="-25" dirty="0">
                <a:latin typeface="Arial" panose="020B0704020202020204"/>
                <a:cs typeface="Arial" panose="020B0704020202020204"/>
              </a:rPr>
              <a:t>P</a:t>
            </a:r>
            <a:r>
              <a:rPr sz="1800" i="1" spc="-37" baseline="-14000" dirty="0">
                <a:latin typeface="Arial" panose="020B0704020202020204"/>
                <a:cs typeface="Arial" panose="020B0704020202020204"/>
              </a:rPr>
              <a:t>i</a:t>
            </a:r>
            <a:endParaRPr sz="1800" baseline="-14000">
              <a:latin typeface="Arial" panose="020B0704020202020204"/>
              <a:cs typeface="Arial" panose="020B07040202020202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382256" y="5812535"/>
            <a:ext cx="448309" cy="426720"/>
            <a:chOff x="7382256" y="5812535"/>
            <a:chExt cx="448309" cy="426720"/>
          </a:xfrm>
        </p:grpSpPr>
        <p:sp>
          <p:nvSpPr>
            <p:cNvPr id="31" name="object 31"/>
            <p:cNvSpPr/>
            <p:nvPr/>
          </p:nvSpPr>
          <p:spPr>
            <a:xfrm>
              <a:off x="7385304" y="5815583"/>
              <a:ext cx="439420" cy="417830"/>
            </a:xfrm>
            <a:custGeom>
              <a:avLst/>
              <a:gdLst/>
              <a:ahLst/>
              <a:cxnLst/>
              <a:rect l="l" t="t" r="r" b="b"/>
              <a:pathLst>
                <a:path w="439420" h="417829">
                  <a:moveTo>
                    <a:pt x="438911" y="0"/>
                  </a:moveTo>
                  <a:lnTo>
                    <a:pt x="0" y="0"/>
                  </a:lnTo>
                  <a:lnTo>
                    <a:pt x="0" y="417576"/>
                  </a:lnTo>
                  <a:lnTo>
                    <a:pt x="438911" y="417576"/>
                  </a:lnTo>
                  <a:lnTo>
                    <a:pt x="438911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386828" y="5817107"/>
              <a:ext cx="439420" cy="417830"/>
            </a:xfrm>
            <a:custGeom>
              <a:avLst/>
              <a:gdLst/>
              <a:ahLst/>
              <a:cxnLst/>
              <a:rect l="l" t="t" r="r" b="b"/>
              <a:pathLst>
                <a:path w="439420" h="417829">
                  <a:moveTo>
                    <a:pt x="0" y="417576"/>
                  </a:moveTo>
                  <a:lnTo>
                    <a:pt x="438912" y="417576"/>
                  </a:lnTo>
                  <a:lnTo>
                    <a:pt x="438912" y="0"/>
                  </a:lnTo>
                  <a:lnTo>
                    <a:pt x="0" y="0"/>
                  </a:lnTo>
                  <a:lnTo>
                    <a:pt x="0" y="417576"/>
                  </a:lnTo>
                  <a:close/>
                </a:path>
                <a:path w="439420" h="417829">
                  <a:moveTo>
                    <a:pt x="114553" y="161340"/>
                  </a:moveTo>
                  <a:lnTo>
                    <a:pt x="181345" y="161340"/>
                  </a:lnTo>
                  <a:lnTo>
                    <a:pt x="181345" y="94908"/>
                  </a:lnTo>
                  <a:lnTo>
                    <a:pt x="114553" y="94908"/>
                  </a:lnTo>
                  <a:lnTo>
                    <a:pt x="114553" y="161340"/>
                  </a:lnTo>
                  <a:close/>
                </a:path>
                <a:path w="439420" h="417829">
                  <a:moveTo>
                    <a:pt x="267207" y="161340"/>
                  </a:moveTo>
                  <a:lnTo>
                    <a:pt x="333999" y="161340"/>
                  </a:lnTo>
                  <a:lnTo>
                    <a:pt x="333999" y="94908"/>
                  </a:lnTo>
                  <a:lnTo>
                    <a:pt x="267207" y="94908"/>
                  </a:lnTo>
                  <a:lnTo>
                    <a:pt x="267207" y="161340"/>
                  </a:lnTo>
                  <a:close/>
                </a:path>
                <a:path w="439420" h="417829">
                  <a:moveTo>
                    <a:pt x="114553" y="294195"/>
                  </a:moveTo>
                  <a:lnTo>
                    <a:pt x="181345" y="294195"/>
                  </a:lnTo>
                  <a:lnTo>
                    <a:pt x="181345" y="218272"/>
                  </a:lnTo>
                  <a:lnTo>
                    <a:pt x="114553" y="218272"/>
                  </a:lnTo>
                  <a:lnTo>
                    <a:pt x="114553" y="294195"/>
                  </a:lnTo>
                  <a:close/>
                </a:path>
                <a:path w="439420" h="417829">
                  <a:moveTo>
                    <a:pt x="267207" y="294195"/>
                  </a:moveTo>
                  <a:lnTo>
                    <a:pt x="333999" y="294195"/>
                  </a:lnTo>
                  <a:lnTo>
                    <a:pt x="333999" y="218272"/>
                  </a:lnTo>
                  <a:lnTo>
                    <a:pt x="267207" y="218272"/>
                  </a:lnTo>
                  <a:lnTo>
                    <a:pt x="267207" y="29419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0" y="1121663"/>
            <a:ext cx="9144000" cy="94615"/>
            <a:chOff x="0" y="1121663"/>
            <a:chExt cx="9144000" cy="94615"/>
          </a:xfrm>
        </p:grpSpPr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121663"/>
              <a:ext cx="9144000" cy="9448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095" y="1133855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86029" y="6607971"/>
            <a:ext cx="69850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07/04/202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0520" y="2660904"/>
            <a:ext cx="2331720" cy="337108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163823" y="3675888"/>
            <a:ext cx="838200" cy="116205"/>
            <a:chOff x="3163823" y="3675888"/>
            <a:chExt cx="838200" cy="1162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7723" y="3675888"/>
              <a:ext cx="76200" cy="1158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63824" y="3714495"/>
              <a:ext cx="838200" cy="38735"/>
            </a:xfrm>
            <a:custGeom>
              <a:avLst/>
              <a:gdLst/>
              <a:ahLst/>
              <a:cxnLst/>
              <a:rect l="l" t="t" r="r" b="b"/>
              <a:pathLst>
                <a:path w="838200" h="38735">
                  <a:moveTo>
                    <a:pt x="723900" y="12"/>
                  </a:moveTo>
                  <a:lnTo>
                    <a:pt x="0" y="12"/>
                  </a:lnTo>
                  <a:lnTo>
                    <a:pt x="0" y="38608"/>
                  </a:lnTo>
                  <a:lnTo>
                    <a:pt x="723900" y="38608"/>
                  </a:lnTo>
                  <a:lnTo>
                    <a:pt x="723900" y="12"/>
                  </a:lnTo>
                  <a:close/>
                </a:path>
                <a:path w="838200" h="38735">
                  <a:moveTo>
                    <a:pt x="838200" y="19304"/>
                  </a:moveTo>
                  <a:lnTo>
                    <a:pt x="800100" y="0"/>
                  </a:lnTo>
                  <a:lnTo>
                    <a:pt x="742950" y="0"/>
                  </a:lnTo>
                  <a:lnTo>
                    <a:pt x="742950" y="38608"/>
                  </a:lnTo>
                  <a:lnTo>
                    <a:pt x="800100" y="38608"/>
                  </a:lnTo>
                  <a:lnTo>
                    <a:pt x="838200" y="193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47015" y="1183771"/>
            <a:ext cx="8906510" cy="3592829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graph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contains</a:t>
            </a:r>
            <a:r>
              <a:rPr sz="1800" spc="-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cycles,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 no process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800" spc="-10" dirty="0">
                <a:latin typeface="Arial MT"/>
                <a:cs typeface="Arial MT"/>
              </a:rPr>
              <a:t>deadlocked.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there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then:</a:t>
            </a:r>
            <a:endParaRPr sz="1800">
              <a:latin typeface="Arial MT"/>
              <a:cs typeface="Arial MT"/>
            </a:endParaRPr>
          </a:p>
          <a:p>
            <a:pPr marL="593725" indent="-227965">
              <a:lnSpc>
                <a:spcPct val="100000"/>
              </a:lnSpc>
              <a:spcBef>
                <a:spcPts val="745"/>
              </a:spcBef>
              <a:buAutoNum type="alphaLcParenR"/>
              <a:tabLst>
                <a:tab pos="593725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resource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types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multiple</a:t>
            </a:r>
            <a:r>
              <a:rPr sz="1800" spc="-1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instances,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deadlock</a:t>
            </a:r>
            <a:r>
              <a:rPr sz="1800" spc="-2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MAY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exist.</a:t>
            </a:r>
            <a:endParaRPr sz="1800">
              <a:latin typeface="Arial MT"/>
              <a:cs typeface="Arial MT"/>
            </a:endParaRPr>
          </a:p>
          <a:p>
            <a:pPr marL="602615" indent="-236855">
              <a:lnSpc>
                <a:spcPct val="100000"/>
              </a:lnSpc>
              <a:spcBef>
                <a:spcPts val="410"/>
              </a:spcBef>
              <a:buAutoNum type="alphaLcParenR"/>
              <a:tabLst>
                <a:tab pos="602615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resource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type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instance,</a:t>
            </a:r>
            <a:r>
              <a:rPr sz="1800" spc="-1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deadlock</a:t>
            </a:r>
            <a:r>
              <a:rPr sz="1800" spc="-20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occurred.</a:t>
            </a:r>
            <a:endParaRPr sz="1800">
              <a:latin typeface="Arial MT"/>
              <a:cs typeface="Arial MT"/>
            </a:endParaRPr>
          </a:p>
          <a:p>
            <a:pPr marL="6911975">
              <a:lnSpc>
                <a:spcPct val="100000"/>
              </a:lnSpc>
              <a:spcBef>
                <a:spcPts val="1610"/>
              </a:spcBef>
            </a:pPr>
            <a:r>
              <a:rPr sz="1800" b="1" dirty="0">
                <a:solidFill>
                  <a:srgbClr val="C0504D"/>
                </a:solidFill>
                <a:latin typeface="Arial" panose="020B0704020202020204"/>
                <a:cs typeface="Arial" panose="020B0704020202020204"/>
              </a:rPr>
              <a:t>R3</a:t>
            </a:r>
            <a:r>
              <a:rPr sz="1800" b="1" spc="-125" dirty="0">
                <a:solidFill>
                  <a:srgbClr val="C0504D"/>
                </a:solidFill>
                <a:latin typeface="Arial" panose="020B0704020202020204"/>
                <a:cs typeface="Arial" panose="020B0704020202020204"/>
              </a:rPr>
              <a:t> </a:t>
            </a:r>
            <a:r>
              <a:rPr sz="1800" b="1" dirty="0">
                <a:solidFill>
                  <a:srgbClr val="C0504D"/>
                </a:solidFill>
                <a:latin typeface="Arial" panose="020B0704020202020204"/>
                <a:cs typeface="Arial" panose="020B0704020202020204"/>
              </a:rPr>
              <a:t>Assigned</a:t>
            </a:r>
            <a:r>
              <a:rPr sz="1800" b="1" spc="-10" dirty="0">
                <a:solidFill>
                  <a:srgbClr val="C0504D"/>
                </a:solidFill>
                <a:latin typeface="Arial" panose="020B0704020202020204"/>
                <a:cs typeface="Arial" panose="020B0704020202020204"/>
              </a:rPr>
              <a:t> </a:t>
            </a:r>
            <a:r>
              <a:rPr sz="1800" b="1" dirty="0">
                <a:solidFill>
                  <a:srgbClr val="C0504D"/>
                </a:solidFill>
                <a:latin typeface="Arial" panose="020B0704020202020204"/>
                <a:cs typeface="Arial" panose="020B0704020202020204"/>
              </a:rPr>
              <a:t>to</a:t>
            </a:r>
            <a:r>
              <a:rPr sz="1800" b="1" spc="-85" dirty="0">
                <a:solidFill>
                  <a:srgbClr val="C0504D"/>
                </a:solidFill>
                <a:latin typeface="Arial" panose="020B0704020202020204"/>
                <a:cs typeface="Arial" panose="020B0704020202020204"/>
              </a:rPr>
              <a:t> </a:t>
            </a:r>
            <a:r>
              <a:rPr sz="1800" b="1" spc="-25" dirty="0">
                <a:solidFill>
                  <a:srgbClr val="C0504D"/>
                </a:solidFill>
                <a:latin typeface="Arial" panose="020B0704020202020204"/>
                <a:cs typeface="Arial" panose="020B0704020202020204"/>
              </a:rPr>
              <a:t>P3</a:t>
            </a:r>
            <a:endParaRPr sz="1800">
              <a:latin typeface="Arial" panose="020B0704020202020204"/>
              <a:cs typeface="Arial" panose="020B0704020202020204"/>
            </a:endParaRPr>
          </a:p>
          <a:p>
            <a:pPr>
              <a:lnSpc>
                <a:spcPct val="100000"/>
              </a:lnSpc>
            </a:pPr>
            <a:endParaRPr sz="1800">
              <a:latin typeface="Arial" panose="020B0704020202020204"/>
              <a:cs typeface="Arial" panose="020B0704020202020204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800">
              <a:latin typeface="Arial" panose="020B0704020202020204"/>
              <a:cs typeface="Arial" panose="020B0704020202020204"/>
            </a:endParaRPr>
          </a:p>
          <a:p>
            <a:pPr marL="28956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Resource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allocation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graph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800">
              <a:latin typeface="Arial MT"/>
              <a:cs typeface="Arial MT"/>
            </a:endParaRPr>
          </a:p>
          <a:p>
            <a:pPr marL="6835775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C0504D"/>
                </a:solidFill>
                <a:latin typeface="Arial" panose="020B0704020202020204"/>
                <a:cs typeface="Arial" panose="020B0704020202020204"/>
              </a:rPr>
              <a:t>P2</a:t>
            </a:r>
            <a:r>
              <a:rPr sz="1800" b="1" spc="-60" dirty="0">
                <a:solidFill>
                  <a:srgbClr val="C0504D"/>
                </a:solidFill>
                <a:latin typeface="Arial" panose="020B0704020202020204"/>
                <a:cs typeface="Arial" panose="020B0704020202020204"/>
              </a:rPr>
              <a:t> </a:t>
            </a:r>
            <a:r>
              <a:rPr sz="1800" b="1" dirty="0">
                <a:solidFill>
                  <a:srgbClr val="C0504D"/>
                </a:solidFill>
                <a:latin typeface="Arial" panose="020B0704020202020204"/>
                <a:cs typeface="Arial" panose="020B0704020202020204"/>
              </a:rPr>
              <a:t>Requests</a:t>
            </a:r>
            <a:r>
              <a:rPr sz="1800" b="1" spc="25" dirty="0">
                <a:solidFill>
                  <a:srgbClr val="C0504D"/>
                </a:solidFill>
                <a:latin typeface="Arial" panose="020B0704020202020204"/>
                <a:cs typeface="Arial" panose="020B0704020202020204"/>
              </a:rPr>
              <a:t> </a:t>
            </a:r>
            <a:r>
              <a:rPr sz="1800" b="1" spc="-35" dirty="0">
                <a:solidFill>
                  <a:srgbClr val="C0504D"/>
                </a:solidFill>
                <a:latin typeface="Arial" panose="020B0704020202020204"/>
                <a:cs typeface="Arial" panose="020B0704020202020204"/>
              </a:rPr>
              <a:t>R3</a:t>
            </a:r>
            <a:endParaRPr sz="1800">
              <a:latin typeface="Arial" panose="020B0704020202020204"/>
              <a:cs typeface="Arial" panose="020B07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26023" y="3581780"/>
            <a:ext cx="1296035" cy="932180"/>
          </a:xfrm>
          <a:custGeom>
            <a:avLst/>
            <a:gdLst/>
            <a:ahLst/>
            <a:cxnLst/>
            <a:rect l="l" t="t" r="r" b="b"/>
            <a:pathLst>
              <a:path w="1296034" h="932179">
                <a:moveTo>
                  <a:pt x="0" y="0"/>
                </a:moveTo>
                <a:lnTo>
                  <a:pt x="25018" y="125095"/>
                </a:lnTo>
                <a:lnTo>
                  <a:pt x="55117" y="101727"/>
                </a:lnTo>
                <a:lnTo>
                  <a:pt x="101091" y="161163"/>
                </a:lnTo>
                <a:lnTo>
                  <a:pt x="150495" y="226949"/>
                </a:lnTo>
                <a:lnTo>
                  <a:pt x="182752" y="271526"/>
                </a:lnTo>
                <a:lnTo>
                  <a:pt x="212471" y="314579"/>
                </a:lnTo>
                <a:lnTo>
                  <a:pt x="240537" y="359410"/>
                </a:lnTo>
                <a:lnTo>
                  <a:pt x="268986" y="408559"/>
                </a:lnTo>
                <a:lnTo>
                  <a:pt x="340360" y="539369"/>
                </a:lnTo>
                <a:lnTo>
                  <a:pt x="369188" y="590169"/>
                </a:lnTo>
                <a:lnTo>
                  <a:pt x="398272" y="637159"/>
                </a:lnTo>
                <a:lnTo>
                  <a:pt x="427863" y="679323"/>
                </a:lnTo>
                <a:lnTo>
                  <a:pt x="468375" y="727837"/>
                </a:lnTo>
                <a:lnTo>
                  <a:pt x="502030" y="765429"/>
                </a:lnTo>
                <a:lnTo>
                  <a:pt x="536448" y="795528"/>
                </a:lnTo>
                <a:lnTo>
                  <a:pt x="578103" y="820166"/>
                </a:lnTo>
                <a:lnTo>
                  <a:pt x="632967" y="841375"/>
                </a:lnTo>
                <a:lnTo>
                  <a:pt x="680592" y="855472"/>
                </a:lnTo>
                <a:lnTo>
                  <a:pt x="738377" y="869188"/>
                </a:lnTo>
                <a:lnTo>
                  <a:pt x="803528" y="881253"/>
                </a:lnTo>
                <a:lnTo>
                  <a:pt x="875029" y="891667"/>
                </a:lnTo>
                <a:lnTo>
                  <a:pt x="913129" y="896493"/>
                </a:lnTo>
                <a:lnTo>
                  <a:pt x="992504" y="905510"/>
                </a:lnTo>
                <a:lnTo>
                  <a:pt x="1075562" y="913638"/>
                </a:lnTo>
                <a:lnTo>
                  <a:pt x="1292986" y="932180"/>
                </a:lnTo>
                <a:lnTo>
                  <a:pt x="1296034" y="894080"/>
                </a:lnTo>
                <a:lnTo>
                  <a:pt x="1037208" y="871855"/>
                </a:lnTo>
                <a:lnTo>
                  <a:pt x="956310" y="863346"/>
                </a:lnTo>
                <a:lnTo>
                  <a:pt x="917448" y="858774"/>
                </a:lnTo>
                <a:lnTo>
                  <a:pt x="843788" y="848995"/>
                </a:lnTo>
                <a:lnTo>
                  <a:pt x="776604" y="837819"/>
                </a:lnTo>
                <a:lnTo>
                  <a:pt x="716788" y="825373"/>
                </a:lnTo>
                <a:lnTo>
                  <a:pt x="677545" y="815213"/>
                </a:lnTo>
                <a:lnTo>
                  <a:pt x="634618" y="801751"/>
                </a:lnTo>
                <a:lnTo>
                  <a:pt x="593598" y="785495"/>
                </a:lnTo>
                <a:lnTo>
                  <a:pt x="558164" y="764413"/>
                </a:lnTo>
                <a:lnTo>
                  <a:pt x="528954" y="738251"/>
                </a:lnTo>
                <a:lnTo>
                  <a:pt x="497204" y="702945"/>
                </a:lnTo>
                <a:lnTo>
                  <a:pt x="471297" y="672465"/>
                </a:lnTo>
                <a:lnTo>
                  <a:pt x="443738" y="636397"/>
                </a:lnTo>
                <a:lnTo>
                  <a:pt x="415925" y="593725"/>
                </a:lnTo>
                <a:lnTo>
                  <a:pt x="387730" y="546100"/>
                </a:lnTo>
                <a:lnTo>
                  <a:pt x="359283" y="494919"/>
                </a:lnTo>
                <a:lnTo>
                  <a:pt x="316484" y="416179"/>
                </a:lnTo>
                <a:lnTo>
                  <a:pt x="287781" y="364871"/>
                </a:lnTo>
                <a:lnTo>
                  <a:pt x="259079" y="316484"/>
                </a:lnTo>
                <a:lnTo>
                  <a:pt x="229615" y="272034"/>
                </a:lnTo>
                <a:lnTo>
                  <a:pt x="181483" y="204597"/>
                </a:lnTo>
                <a:lnTo>
                  <a:pt x="147954" y="159893"/>
                </a:lnTo>
                <a:lnTo>
                  <a:pt x="115062" y="116713"/>
                </a:lnTo>
                <a:lnTo>
                  <a:pt x="85216" y="78359"/>
                </a:lnTo>
                <a:lnTo>
                  <a:pt x="115188" y="54991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211315" y="2956560"/>
            <a:ext cx="771525" cy="473075"/>
          </a:xfrm>
          <a:custGeom>
            <a:avLst/>
            <a:gdLst/>
            <a:ahLst/>
            <a:cxnLst/>
            <a:rect l="l" t="t" r="r" b="b"/>
            <a:pathLst>
              <a:path w="771525" h="473075">
                <a:moveTo>
                  <a:pt x="751713" y="0"/>
                </a:moveTo>
                <a:lnTo>
                  <a:pt x="88137" y="397890"/>
                </a:lnTo>
                <a:lnTo>
                  <a:pt x="68580" y="365251"/>
                </a:lnTo>
                <a:lnTo>
                  <a:pt x="0" y="472948"/>
                </a:lnTo>
                <a:lnTo>
                  <a:pt x="127381" y="463168"/>
                </a:lnTo>
                <a:lnTo>
                  <a:pt x="107696" y="430529"/>
                </a:lnTo>
                <a:lnTo>
                  <a:pt x="771270" y="32765"/>
                </a:lnTo>
                <a:lnTo>
                  <a:pt x="751713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0" y="1121663"/>
            <a:ext cx="9144000" cy="94615"/>
            <a:chOff x="0" y="1121663"/>
            <a:chExt cx="9144000" cy="9461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121663"/>
              <a:ext cx="9144000" cy="9448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095" y="1133855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86029" y="6607971"/>
            <a:ext cx="69850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07/04/202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310383"/>
            <a:ext cx="2569464" cy="349300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4980" y="1133678"/>
            <a:ext cx="265620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Resource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allocation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graph</a:t>
            </a:r>
            <a:endParaRPr sz="1800">
              <a:latin typeface="Arial MT"/>
              <a:cs typeface="Arial MT"/>
            </a:endParaRPr>
          </a:p>
          <a:p>
            <a:pPr marL="10795" algn="ctr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deadlock.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7696" y="2420111"/>
            <a:ext cx="2602992" cy="332232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018023" y="1133678"/>
            <a:ext cx="294195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Resource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allocation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graph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deadlock.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1094232"/>
            <a:ext cx="9144000" cy="140335"/>
            <a:chOff x="0" y="1094232"/>
            <a:chExt cx="9144000" cy="14033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094232"/>
              <a:ext cx="9144000" cy="14020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095" y="1133856"/>
              <a:ext cx="9137650" cy="27940"/>
            </a:xfrm>
            <a:custGeom>
              <a:avLst/>
              <a:gdLst/>
              <a:ahLst/>
              <a:cxnLst/>
              <a:rect l="l" t="t" r="r" b="b"/>
              <a:pathLst>
                <a:path w="9137650" h="27940">
                  <a:moveTo>
                    <a:pt x="913752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9137523" y="27432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86029" y="6607971"/>
            <a:ext cx="69850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07/04/202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847" y="2216353"/>
            <a:ext cx="7847965" cy="3479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00" dirty="0">
                <a:latin typeface="Times New Roman" panose="02020803070505020304"/>
                <a:cs typeface="Times New Roman" panose="02020803070505020304"/>
              </a:rPr>
              <a:t>At</a:t>
            </a:r>
            <a:r>
              <a:rPr sz="2100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dirty="0">
                <a:latin typeface="Times New Roman" panose="02020803070505020304"/>
                <a:cs typeface="Times New Roman" panose="02020803070505020304"/>
              </a:rPr>
              <a:t>any</a:t>
            </a:r>
            <a:r>
              <a:rPr sz="2100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dirty="0">
                <a:latin typeface="Times New Roman" panose="02020803070505020304"/>
                <a:cs typeface="Times New Roman" panose="02020803070505020304"/>
              </a:rPr>
              <a:t>instant</a:t>
            </a:r>
            <a:r>
              <a:rPr sz="2100" spc="-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dirty="0">
                <a:latin typeface="Times New Roman" panose="02020803070505020304"/>
                <a:cs typeface="Times New Roman" panose="02020803070505020304"/>
              </a:rPr>
              <a:t>of</a:t>
            </a:r>
            <a:r>
              <a:rPr sz="2100" spc="-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dirty="0">
                <a:latin typeface="Times New Roman" panose="02020803070505020304"/>
                <a:cs typeface="Times New Roman" panose="02020803070505020304"/>
              </a:rPr>
              <a:t>time,</a:t>
            </a:r>
            <a:r>
              <a:rPr sz="2100" spc="1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dirty="0">
                <a:latin typeface="Times New Roman" panose="02020803070505020304"/>
                <a:cs typeface="Times New Roman" panose="02020803070505020304"/>
              </a:rPr>
              <a:t>there</a:t>
            </a:r>
            <a:r>
              <a:rPr sz="210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spc="-1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2100" spc="-1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210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dirty="0">
                <a:latin typeface="Times New Roman" panose="02020803070505020304"/>
                <a:cs typeface="Times New Roman" panose="02020803070505020304"/>
              </a:rPr>
              <a:t>current state</a:t>
            </a:r>
            <a:r>
              <a:rPr sz="210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dirty="0">
                <a:latin typeface="Times New Roman" panose="02020803070505020304"/>
                <a:cs typeface="Times New Roman" panose="02020803070505020304"/>
              </a:rPr>
              <a:t>consisting</a:t>
            </a:r>
            <a:r>
              <a:rPr sz="2100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dirty="0">
                <a:latin typeface="Times New Roman" panose="02020803070505020304"/>
                <a:cs typeface="Times New Roman" panose="02020803070505020304"/>
              </a:rPr>
              <a:t>of</a:t>
            </a:r>
            <a:r>
              <a:rPr sz="2100" spc="-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dirty="0">
                <a:latin typeface="Times New Roman" panose="02020803070505020304"/>
                <a:cs typeface="Times New Roman" panose="02020803070505020304"/>
              </a:rPr>
              <a:t>E,</a:t>
            </a:r>
            <a:r>
              <a:rPr sz="2100" spc="-1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dirty="0">
                <a:latin typeface="Times New Roman" panose="02020803070505020304"/>
                <a:cs typeface="Times New Roman" panose="02020803070505020304"/>
              </a:rPr>
              <a:t>A,</a:t>
            </a:r>
            <a:r>
              <a:rPr sz="210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dirty="0">
                <a:latin typeface="Times New Roman" panose="02020803070505020304"/>
                <a:cs typeface="Times New Roman" panose="02020803070505020304"/>
              </a:rPr>
              <a:t>C</a:t>
            </a:r>
            <a:r>
              <a:rPr sz="2100" spc="-1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2100" spc="-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spc="-25" dirty="0">
                <a:latin typeface="Times New Roman" panose="02020803070505020304"/>
                <a:cs typeface="Times New Roman" panose="02020803070505020304"/>
              </a:rPr>
              <a:t>R.</a:t>
            </a:r>
            <a:endParaRPr sz="2100">
              <a:latin typeface="Times New Roman" panose="02020803070505020304"/>
              <a:cs typeface="Times New Roman" panose="020208030705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76855" y="2843783"/>
            <a:ext cx="4270248" cy="26334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99591" y="1450594"/>
            <a:ext cx="3370579" cy="5562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0"/>
              </a:spcBef>
            </a:pPr>
            <a:r>
              <a:rPr sz="1800" b="1" spc="-10" dirty="0">
                <a:latin typeface="Arial" panose="020B0704020202020204"/>
                <a:cs typeface="Arial" panose="020B0704020202020204"/>
              </a:rPr>
              <a:t>Deadlock</a:t>
            </a:r>
            <a:r>
              <a:rPr sz="1800" b="1" spc="-200" dirty="0">
                <a:latin typeface="Arial" panose="020B0704020202020204"/>
                <a:cs typeface="Arial" panose="020B0704020202020204"/>
              </a:rPr>
              <a:t> </a:t>
            </a:r>
            <a:r>
              <a:rPr sz="1800" b="1" dirty="0">
                <a:latin typeface="Arial" panose="020B0704020202020204"/>
                <a:cs typeface="Arial" panose="020B0704020202020204"/>
              </a:rPr>
              <a:t>Avoidance</a:t>
            </a:r>
            <a:r>
              <a:rPr sz="1800" b="1" spc="-50" dirty="0">
                <a:latin typeface="Arial" panose="020B0704020202020204"/>
                <a:cs typeface="Arial" panose="020B0704020202020204"/>
              </a:rPr>
              <a:t> </a:t>
            </a:r>
            <a:r>
              <a:rPr sz="1800" b="1" spc="-10" dirty="0">
                <a:latin typeface="Arial" panose="020B0704020202020204"/>
                <a:cs typeface="Arial" panose="020B0704020202020204"/>
              </a:rPr>
              <a:t>Algorithm </a:t>
            </a:r>
            <a:r>
              <a:rPr sz="1800" b="1" dirty="0">
                <a:latin typeface="Arial" panose="020B0704020202020204"/>
                <a:cs typeface="Arial" panose="020B0704020202020204"/>
              </a:rPr>
              <a:t>Safe</a:t>
            </a:r>
            <a:r>
              <a:rPr sz="1800" b="1" spc="-65" dirty="0">
                <a:latin typeface="Arial" panose="020B0704020202020204"/>
                <a:cs typeface="Arial" panose="020B0704020202020204"/>
              </a:rPr>
              <a:t> </a:t>
            </a:r>
            <a:r>
              <a:rPr sz="1800" b="1" dirty="0">
                <a:latin typeface="Arial" panose="020B0704020202020204"/>
                <a:cs typeface="Arial" panose="020B0704020202020204"/>
              </a:rPr>
              <a:t>and</a:t>
            </a:r>
            <a:r>
              <a:rPr sz="1800" b="1" spc="-15" dirty="0">
                <a:latin typeface="Arial" panose="020B0704020202020204"/>
                <a:cs typeface="Arial" panose="020B0704020202020204"/>
              </a:rPr>
              <a:t> </a:t>
            </a:r>
            <a:r>
              <a:rPr sz="1800" b="1" dirty="0">
                <a:latin typeface="Arial" panose="020B0704020202020204"/>
                <a:cs typeface="Arial" panose="020B0704020202020204"/>
              </a:rPr>
              <a:t>Unsafe</a:t>
            </a:r>
            <a:r>
              <a:rPr sz="1800" b="1" spc="-55" dirty="0">
                <a:latin typeface="Arial" panose="020B0704020202020204"/>
                <a:cs typeface="Arial" panose="020B0704020202020204"/>
              </a:rPr>
              <a:t> </a:t>
            </a:r>
            <a:r>
              <a:rPr sz="1800" b="1" spc="-10" dirty="0">
                <a:latin typeface="Arial" panose="020B0704020202020204"/>
                <a:cs typeface="Arial" panose="020B0704020202020204"/>
              </a:rPr>
              <a:t>States</a:t>
            </a:r>
            <a:endParaRPr sz="1800">
              <a:latin typeface="Arial" panose="020B0704020202020204"/>
              <a:cs typeface="Arial" panose="020B07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84631" y="2249423"/>
            <a:ext cx="7866888" cy="16459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3067" y="3850969"/>
            <a:ext cx="7317740" cy="19583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0"/>
              </a:spcBef>
            </a:pPr>
            <a:r>
              <a:rPr sz="2100" dirty="0">
                <a:latin typeface="Arial MT"/>
                <a:cs typeface="Arial MT"/>
              </a:rPr>
              <a:t>A</a:t>
            </a:r>
            <a:r>
              <a:rPr sz="2100" spc="1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state</a:t>
            </a:r>
            <a:r>
              <a:rPr sz="2100" spc="1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is</a:t>
            </a:r>
            <a:r>
              <a:rPr sz="2100" spc="16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said</a:t>
            </a:r>
            <a:r>
              <a:rPr sz="2100" spc="1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20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be</a:t>
            </a:r>
            <a:r>
              <a:rPr sz="2100" spc="145" dirty="0">
                <a:latin typeface="Arial MT"/>
                <a:cs typeface="Arial MT"/>
              </a:rPr>
              <a:t> </a:t>
            </a:r>
            <a:r>
              <a:rPr sz="2100" b="1" u="sng" dirty="0">
                <a:uFill>
                  <a:solidFill>
                    <a:srgbClr val="000000"/>
                  </a:solidFill>
                </a:uFill>
                <a:latin typeface="Arial" panose="020B0704020202020204"/>
                <a:cs typeface="Arial" panose="020B0704020202020204"/>
              </a:rPr>
              <a:t>Safe</a:t>
            </a:r>
            <a:r>
              <a:rPr sz="2100" b="1" spc="145" dirty="0">
                <a:latin typeface="Arial" panose="020B0704020202020204"/>
                <a:cs typeface="Arial" panose="020B0704020202020204"/>
              </a:rPr>
              <a:t> </a:t>
            </a:r>
            <a:r>
              <a:rPr sz="2100" dirty="0">
                <a:latin typeface="Arial MT"/>
                <a:cs typeface="Arial MT"/>
              </a:rPr>
              <a:t>if</a:t>
            </a:r>
            <a:r>
              <a:rPr sz="2100" spc="18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</a:t>
            </a:r>
            <a:r>
              <a:rPr sz="2100" spc="1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is</a:t>
            </a:r>
            <a:r>
              <a:rPr sz="2100" spc="1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</a:t>
            </a:r>
            <a:r>
              <a:rPr sz="2100" spc="1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deadlocked</a:t>
            </a:r>
            <a:r>
              <a:rPr sz="2100" spc="1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1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there</a:t>
            </a:r>
            <a:r>
              <a:rPr sz="2100" spc="175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is </a:t>
            </a:r>
            <a:r>
              <a:rPr sz="2100" dirty="0">
                <a:latin typeface="Arial MT"/>
                <a:cs typeface="Arial MT"/>
              </a:rPr>
              <a:t>some</a:t>
            </a:r>
            <a:r>
              <a:rPr sz="2100" spc="-8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scheduling</a:t>
            </a:r>
            <a:r>
              <a:rPr sz="2100" spc="-1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order</a:t>
            </a:r>
            <a:r>
              <a:rPr sz="2100" spc="-114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which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every</a:t>
            </a:r>
            <a:r>
              <a:rPr sz="2100" spc="-1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process</a:t>
            </a:r>
            <a:r>
              <a:rPr sz="2100" spc="-1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can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run</a:t>
            </a:r>
            <a:r>
              <a:rPr sz="2100" spc="-100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to </a:t>
            </a:r>
            <a:r>
              <a:rPr sz="2100" spc="-10" dirty="0">
                <a:latin typeface="Arial MT"/>
                <a:cs typeface="Arial MT"/>
              </a:rPr>
              <a:t>completion.</a:t>
            </a:r>
            <a:endParaRPr sz="2100">
              <a:latin typeface="Arial MT"/>
              <a:cs typeface="Arial MT"/>
            </a:endParaRPr>
          </a:p>
          <a:p>
            <a:pPr marL="77470" algn="ctr">
              <a:lnSpc>
                <a:spcPts val="2460"/>
              </a:lnSpc>
              <a:spcBef>
                <a:spcPts val="120"/>
              </a:spcBef>
            </a:pPr>
            <a:r>
              <a:rPr sz="2100" b="1" u="sng" spc="-25" dirty="0">
                <a:uFill>
                  <a:solidFill>
                    <a:srgbClr val="000000"/>
                  </a:solidFill>
                </a:uFill>
                <a:latin typeface="Arial" panose="020B0704020202020204"/>
                <a:cs typeface="Arial" panose="020B0704020202020204"/>
              </a:rPr>
              <a:t>OR</a:t>
            </a:r>
            <a:endParaRPr sz="2100">
              <a:latin typeface="Arial" panose="020B0704020202020204"/>
              <a:cs typeface="Arial" panose="020B0704020202020204"/>
            </a:endParaRPr>
          </a:p>
          <a:p>
            <a:pPr marL="12700">
              <a:lnSpc>
                <a:spcPts val="2460"/>
              </a:lnSpc>
            </a:pPr>
            <a:r>
              <a:rPr sz="2100" dirty="0">
                <a:latin typeface="Arial MT"/>
                <a:cs typeface="Arial MT"/>
              </a:rPr>
              <a:t>Safe</a:t>
            </a:r>
            <a:r>
              <a:rPr sz="2100" spc="8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state</a:t>
            </a:r>
            <a:r>
              <a:rPr sz="2100" spc="114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is</a:t>
            </a:r>
            <a:r>
              <a:rPr sz="2100" spc="114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that</a:t>
            </a:r>
            <a:r>
              <a:rPr sz="2100" spc="10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114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which</a:t>
            </a:r>
            <a:r>
              <a:rPr sz="2100" spc="114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system</a:t>
            </a:r>
            <a:r>
              <a:rPr sz="2100" spc="10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can</a:t>
            </a:r>
            <a:r>
              <a:rPr sz="2100" spc="1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guarantee</a:t>
            </a:r>
            <a:r>
              <a:rPr sz="2100" spc="6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that</a:t>
            </a:r>
            <a:r>
              <a:rPr sz="2100" spc="75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all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100" spc="-10" dirty="0">
                <a:latin typeface="Arial MT"/>
                <a:cs typeface="Arial MT"/>
              </a:rPr>
              <a:t>processes</a:t>
            </a:r>
            <a:r>
              <a:rPr sz="2100" spc="-1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will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finish.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0570" y="1336040"/>
            <a:ext cx="3368675" cy="5562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0"/>
              </a:spcBef>
            </a:pPr>
            <a:r>
              <a:rPr sz="1800" b="1" spc="-10" dirty="0">
                <a:latin typeface="Arial" panose="020B0704020202020204"/>
                <a:cs typeface="Arial" panose="020B0704020202020204"/>
              </a:rPr>
              <a:t>Deadlock</a:t>
            </a:r>
            <a:r>
              <a:rPr sz="1800" b="1" spc="-200" dirty="0">
                <a:latin typeface="Arial" panose="020B0704020202020204"/>
                <a:cs typeface="Arial" panose="020B0704020202020204"/>
              </a:rPr>
              <a:t> </a:t>
            </a:r>
            <a:r>
              <a:rPr sz="1800" b="1" dirty="0">
                <a:latin typeface="Arial" panose="020B0704020202020204"/>
                <a:cs typeface="Arial" panose="020B0704020202020204"/>
              </a:rPr>
              <a:t>Avoidance</a:t>
            </a:r>
            <a:r>
              <a:rPr sz="1800" b="1" spc="-50" dirty="0">
                <a:latin typeface="Arial" panose="020B0704020202020204"/>
                <a:cs typeface="Arial" panose="020B0704020202020204"/>
              </a:rPr>
              <a:t> </a:t>
            </a:r>
            <a:r>
              <a:rPr sz="1800" b="1" spc="-10" dirty="0">
                <a:latin typeface="Arial" panose="020B0704020202020204"/>
                <a:cs typeface="Arial" panose="020B0704020202020204"/>
              </a:rPr>
              <a:t>Algorithm </a:t>
            </a:r>
            <a:r>
              <a:rPr sz="1800" b="1" dirty="0">
                <a:latin typeface="Arial" panose="020B0704020202020204"/>
                <a:cs typeface="Arial" panose="020B0704020202020204"/>
              </a:rPr>
              <a:t>Safe</a:t>
            </a:r>
            <a:r>
              <a:rPr sz="1800" b="1" spc="-65" dirty="0">
                <a:latin typeface="Arial" panose="020B0704020202020204"/>
                <a:cs typeface="Arial" panose="020B0704020202020204"/>
              </a:rPr>
              <a:t> </a:t>
            </a:r>
            <a:r>
              <a:rPr sz="1800" b="1" dirty="0">
                <a:latin typeface="Arial" panose="020B0704020202020204"/>
                <a:cs typeface="Arial" panose="020B0704020202020204"/>
              </a:rPr>
              <a:t>and</a:t>
            </a:r>
            <a:r>
              <a:rPr sz="1800" b="1" spc="-15" dirty="0">
                <a:latin typeface="Arial" panose="020B0704020202020204"/>
                <a:cs typeface="Arial" panose="020B0704020202020204"/>
              </a:rPr>
              <a:t> </a:t>
            </a:r>
            <a:r>
              <a:rPr sz="1800" b="1" dirty="0">
                <a:latin typeface="Arial" panose="020B0704020202020204"/>
                <a:cs typeface="Arial" panose="020B0704020202020204"/>
              </a:rPr>
              <a:t>Unsafe</a:t>
            </a:r>
            <a:r>
              <a:rPr sz="1800" b="1" spc="-55" dirty="0">
                <a:latin typeface="Arial" panose="020B0704020202020204"/>
                <a:cs typeface="Arial" panose="020B0704020202020204"/>
              </a:rPr>
              <a:t> </a:t>
            </a:r>
            <a:r>
              <a:rPr sz="1800" b="1" spc="-10" dirty="0">
                <a:latin typeface="Arial" panose="020B0704020202020204"/>
                <a:cs typeface="Arial" panose="020B0704020202020204"/>
              </a:rPr>
              <a:t>States</a:t>
            </a:r>
            <a:endParaRPr sz="1800">
              <a:latin typeface="Arial" panose="020B0704020202020204"/>
              <a:cs typeface="Arial" panose="020B07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48055" y="2258567"/>
            <a:ext cx="7866888" cy="16093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66394" y="4274566"/>
            <a:ext cx="7025640" cy="1407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22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state</a:t>
            </a:r>
            <a:r>
              <a:rPr sz="1800" spc="1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2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said</a:t>
            </a:r>
            <a:r>
              <a:rPr sz="1800" spc="2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2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b="1" u="heavy" spc="-20" dirty="0">
                <a:uFill>
                  <a:solidFill>
                    <a:srgbClr val="000000"/>
                  </a:solidFill>
                </a:uFill>
                <a:latin typeface="Arial" panose="020B0704020202020204"/>
                <a:cs typeface="Arial" panose="020B0704020202020204"/>
              </a:rPr>
              <a:t>Un-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Arial" panose="020B0704020202020204"/>
                <a:cs typeface="Arial" panose="020B0704020202020204"/>
              </a:rPr>
              <a:t>safe</a:t>
            </a:r>
            <a:r>
              <a:rPr sz="1800" b="1" spc="215" dirty="0">
                <a:latin typeface="Arial" panose="020B0704020202020204"/>
                <a:cs typeface="Arial" panose="020B07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1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2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deadlocked</a:t>
            </a:r>
            <a:r>
              <a:rPr sz="1800" spc="2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2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there</a:t>
            </a:r>
            <a:r>
              <a:rPr sz="1800" spc="1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26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some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Arial MT"/>
                <a:cs typeface="Arial MT"/>
              </a:rPr>
              <a:t>scheduling</a:t>
            </a:r>
            <a:r>
              <a:rPr sz="1800" spc="-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order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every </a:t>
            </a:r>
            <a:r>
              <a:rPr sz="1800" spc="-10" dirty="0">
                <a:latin typeface="Arial MT"/>
                <a:cs typeface="Arial MT"/>
              </a:rPr>
              <a:t>process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cannot</a:t>
            </a:r>
            <a:r>
              <a:rPr sz="1800" spc="-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run</a:t>
            </a:r>
            <a:r>
              <a:rPr sz="1800" spc="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completion.</a:t>
            </a:r>
            <a:endParaRPr sz="1800">
              <a:latin typeface="Arial MT"/>
              <a:cs typeface="Arial MT"/>
            </a:endParaRPr>
          </a:p>
          <a:p>
            <a:pPr marL="610235" algn="ctr">
              <a:lnSpc>
                <a:spcPts val="2100"/>
              </a:lnSpc>
              <a:spcBef>
                <a:spcPts val="150"/>
              </a:spcBef>
            </a:pPr>
            <a:r>
              <a:rPr sz="1800" b="1" u="heavy" spc="-25" dirty="0">
                <a:uFill>
                  <a:solidFill>
                    <a:srgbClr val="000000"/>
                  </a:solidFill>
                </a:uFill>
                <a:latin typeface="Arial" panose="020B0704020202020204"/>
                <a:cs typeface="Arial" panose="020B0704020202020204"/>
              </a:rPr>
              <a:t>OR</a:t>
            </a:r>
            <a:endParaRPr sz="1800">
              <a:latin typeface="Arial" panose="020B0704020202020204"/>
              <a:cs typeface="Arial" panose="020B0704020202020204"/>
            </a:endParaRPr>
          </a:p>
          <a:p>
            <a:pPr marL="12700">
              <a:lnSpc>
                <a:spcPts val="2100"/>
              </a:lnSpc>
              <a:tabLst>
                <a:tab pos="3363595" algn="l"/>
              </a:tabLst>
            </a:pPr>
            <a:r>
              <a:rPr sz="1800" spc="-25" dirty="0">
                <a:latin typeface="Arial MT"/>
                <a:cs typeface="Arial MT"/>
              </a:rPr>
              <a:t>Un-</a:t>
            </a:r>
            <a:r>
              <a:rPr sz="1800" dirty="0">
                <a:latin typeface="Arial MT"/>
                <a:cs typeface="Arial MT"/>
              </a:rPr>
              <a:t>safe</a:t>
            </a:r>
            <a:r>
              <a:rPr sz="1800" spc="4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state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4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4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49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which</a:t>
            </a:r>
            <a:r>
              <a:rPr sz="1800" dirty="0">
                <a:latin typeface="Arial MT"/>
                <a:cs typeface="Arial MT"/>
              </a:rPr>
              <a:t>	system</a:t>
            </a:r>
            <a:r>
              <a:rPr sz="1800" spc="4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cannot</a:t>
            </a:r>
            <a:r>
              <a:rPr sz="1800" spc="4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guarantee</a:t>
            </a:r>
            <a:r>
              <a:rPr sz="1800" spc="4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44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all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Arial MT"/>
                <a:cs typeface="Arial MT"/>
              </a:rPr>
              <a:t>processes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finish.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0570" y="1336040"/>
            <a:ext cx="3368675" cy="5562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0"/>
              </a:spcBef>
            </a:pPr>
            <a:r>
              <a:rPr sz="1800" spc="-10" dirty="0"/>
              <a:t>Deadlock</a:t>
            </a:r>
            <a:r>
              <a:rPr sz="1800" spc="-200" dirty="0"/>
              <a:t> </a:t>
            </a:r>
            <a:r>
              <a:rPr sz="1800" dirty="0"/>
              <a:t>Avoidance</a:t>
            </a:r>
            <a:r>
              <a:rPr sz="1800" spc="-50" dirty="0"/>
              <a:t> </a:t>
            </a:r>
            <a:r>
              <a:rPr sz="1800" spc="-10" dirty="0"/>
              <a:t>Algorithm </a:t>
            </a:r>
            <a:r>
              <a:rPr sz="1800" dirty="0"/>
              <a:t>Safe</a:t>
            </a:r>
            <a:r>
              <a:rPr sz="1800" spc="-65" dirty="0"/>
              <a:t> </a:t>
            </a:r>
            <a:r>
              <a:rPr sz="1800" dirty="0"/>
              <a:t>and</a:t>
            </a:r>
            <a:r>
              <a:rPr sz="1800" spc="-15" dirty="0"/>
              <a:t> </a:t>
            </a:r>
            <a:r>
              <a:rPr sz="1800" dirty="0"/>
              <a:t>Unsafe</a:t>
            </a:r>
            <a:r>
              <a:rPr sz="1800" spc="-55" dirty="0"/>
              <a:t> </a:t>
            </a:r>
            <a:r>
              <a:rPr sz="1800" spc="-10" dirty="0"/>
              <a:t>States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4055"/>
            <a:ext cx="9149715" cy="320040"/>
            <a:chOff x="0" y="6544055"/>
            <a:chExt cx="9149715" cy="3200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544055"/>
              <a:ext cx="9144000" cy="49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" y="6559296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  <a:lnTo>
                    <a:pt x="9137523" y="298386"/>
                  </a:lnTo>
                  <a:lnTo>
                    <a:pt x="9137523" y="0"/>
                  </a:lnTo>
                  <a:close/>
                </a:path>
              </a:pathLst>
            </a:custGeom>
            <a:solidFill>
              <a:srgbClr val="234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0" y="6560820"/>
              <a:ext cx="9137650" cy="298450"/>
            </a:xfrm>
            <a:custGeom>
              <a:avLst/>
              <a:gdLst/>
              <a:ahLst/>
              <a:cxnLst/>
              <a:rect l="l" t="t" r="r" b="b"/>
              <a:pathLst>
                <a:path w="9137650" h="298450">
                  <a:moveTo>
                    <a:pt x="9137523" y="0"/>
                  </a:moveTo>
                  <a:lnTo>
                    <a:pt x="0" y="0"/>
                  </a:lnTo>
                  <a:lnTo>
                    <a:pt x="0" y="298386"/>
                  </a:lnTo>
                </a:path>
              </a:pathLst>
            </a:custGeom>
            <a:ln w="914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0847" rIns="0" bIns="0" rtlCol="0">
            <a:spAutoFit/>
          </a:bodyPr>
          <a:lstStyle/>
          <a:p>
            <a:pPr marL="615315">
              <a:lnSpc>
                <a:spcPct val="100000"/>
              </a:lnSpc>
              <a:spcBef>
                <a:spcPts val="95"/>
              </a:spcBef>
            </a:pPr>
            <a:r>
              <a:rPr sz="4400" spc="-50" dirty="0">
                <a:solidFill>
                  <a:srgbClr val="1F487C"/>
                </a:solidFill>
                <a:latin typeface="Calibri"/>
                <a:cs typeface="Calibri"/>
              </a:rPr>
              <a:t>Graph-</a:t>
            </a:r>
            <a:r>
              <a:rPr sz="4400" dirty="0">
                <a:solidFill>
                  <a:srgbClr val="1F487C"/>
                </a:solidFill>
                <a:latin typeface="Calibri"/>
                <a:cs typeface="Calibri"/>
              </a:rPr>
              <a:t>theoretic</a:t>
            </a:r>
            <a:r>
              <a:rPr sz="4400" spc="-1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1F487C"/>
                </a:solidFill>
                <a:latin typeface="Calibri"/>
                <a:cs typeface="Calibri"/>
              </a:rPr>
              <a:t>models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5844" y="2111756"/>
            <a:ext cx="298958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0"/>
              </a:spcBef>
              <a:buClr>
                <a:srgbClr val="A40020"/>
              </a:buClr>
              <a:buSzPct val="75000"/>
              <a:buFont typeface="Wingdings" panose="05000000000000000000"/>
              <a:buChar char=""/>
              <a:tabLst>
                <a:tab pos="469900" algn="l"/>
              </a:tabLst>
            </a:pPr>
            <a:r>
              <a:rPr sz="3200" spc="-40" dirty="0">
                <a:latin typeface="Calibri"/>
                <a:cs typeface="Calibri"/>
              </a:rPr>
              <a:t>Wait-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graph.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5844" y="3867734"/>
            <a:ext cx="486981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lr>
                <a:srgbClr val="A40020"/>
              </a:buClr>
              <a:buSzPct val="75000"/>
              <a:buFont typeface="Wingdings" panose="05000000000000000000"/>
              <a:buChar char=""/>
              <a:tabLst>
                <a:tab pos="469900" algn="l"/>
              </a:tabLst>
            </a:pPr>
            <a:r>
              <a:rPr sz="3200" spc="-35" dirty="0">
                <a:latin typeface="Calibri"/>
                <a:cs typeface="Calibri"/>
              </a:rPr>
              <a:t>Resource-</a:t>
            </a:r>
            <a:r>
              <a:rPr sz="3200" dirty="0">
                <a:latin typeface="Calibri"/>
                <a:cs typeface="Calibri"/>
              </a:rPr>
              <a:t>allocation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graph.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0847" rIns="0" bIns="0" rtlCol="0">
            <a:spAutoFit/>
          </a:bodyPr>
          <a:lstStyle/>
          <a:p>
            <a:pPr marL="615315">
              <a:lnSpc>
                <a:spcPct val="100000"/>
              </a:lnSpc>
              <a:spcBef>
                <a:spcPts val="95"/>
              </a:spcBef>
            </a:pPr>
            <a:r>
              <a:rPr sz="4400" b="0" spc="-55" dirty="0">
                <a:solidFill>
                  <a:srgbClr val="1F487C"/>
                </a:solidFill>
                <a:latin typeface="Calibri"/>
                <a:cs typeface="Calibri"/>
              </a:rPr>
              <a:t>Wait-</a:t>
            </a:r>
            <a:r>
              <a:rPr sz="4400" b="0" dirty="0">
                <a:solidFill>
                  <a:srgbClr val="1F487C"/>
                </a:solidFill>
                <a:latin typeface="Calibri"/>
                <a:cs typeface="Calibri"/>
              </a:rPr>
              <a:t>for</a:t>
            </a:r>
            <a:r>
              <a:rPr sz="4400" b="0" spc="-9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4400" b="0" spc="-20" dirty="0">
                <a:solidFill>
                  <a:srgbClr val="1F487C"/>
                </a:solidFill>
                <a:latin typeface="Calibri"/>
                <a:cs typeface="Calibri"/>
              </a:rPr>
              <a:t>graph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11361" y="2435161"/>
            <a:ext cx="3819525" cy="3057525"/>
            <a:chOff x="2511361" y="2435161"/>
            <a:chExt cx="3819525" cy="3057525"/>
          </a:xfrm>
        </p:grpSpPr>
        <p:sp>
          <p:nvSpPr>
            <p:cNvPr id="4" name="object 4"/>
            <p:cNvSpPr/>
            <p:nvPr/>
          </p:nvSpPr>
          <p:spPr>
            <a:xfrm>
              <a:off x="2744723" y="29733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744723" y="29733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268723" y="50307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268723" y="50307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516123" y="44973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516123" y="44973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497323" y="24399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497323" y="24399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868923" y="37353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868923" y="37353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545842" y="2295240"/>
            <a:ext cx="3754754" cy="3151505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608965" algn="ctr">
              <a:lnSpc>
                <a:spcPct val="100000"/>
              </a:lnSpc>
              <a:spcBef>
                <a:spcPts val="1425"/>
              </a:spcBef>
            </a:pPr>
            <a:r>
              <a:rPr sz="2400" spc="-25" dirty="0">
                <a:latin typeface="Arial MT"/>
                <a:cs typeface="Arial MT"/>
              </a:rPr>
              <a:t>P2</a:t>
            </a:r>
            <a:endParaRPr sz="2400">
              <a:latin typeface="Arial MT"/>
              <a:cs typeface="Arial MT"/>
            </a:endParaRPr>
          </a:p>
          <a:p>
            <a:pPr marR="2889250" algn="ctr">
              <a:lnSpc>
                <a:spcPct val="100000"/>
              </a:lnSpc>
              <a:spcBef>
                <a:spcPts val="1320"/>
              </a:spcBef>
            </a:pPr>
            <a:r>
              <a:rPr sz="2400" spc="-25" dirty="0">
                <a:latin typeface="Arial MT"/>
                <a:cs typeface="Arial MT"/>
              </a:rPr>
              <a:t>P1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400">
              <a:latin typeface="Arial MT"/>
              <a:cs typeface="Arial MT"/>
            </a:endParaRPr>
          </a:p>
          <a:p>
            <a:pPr marL="3366135">
              <a:lnSpc>
                <a:spcPct val="100000"/>
              </a:lnSpc>
              <a:spcBef>
                <a:spcPts val="5"/>
              </a:spcBef>
            </a:pPr>
            <a:r>
              <a:rPr sz="2400" spc="-25" dirty="0">
                <a:latin typeface="Arial MT"/>
                <a:cs typeface="Arial MT"/>
              </a:rPr>
              <a:t>P3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400">
              <a:latin typeface="Arial MT"/>
              <a:cs typeface="Arial MT"/>
            </a:endParaRPr>
          </a:p>
          <a:p>
            <a:pPr marR="3346450" algn="ctr">
              <a:lnSpc>
                <a:spcPct val="100000"/>
              </a:lnSpc>
            </a:pPr>
            <a:r>
              <a:rPr sz="2400" spc="-25" dirty="0">
                <a:latin typeface="Arial MT"/>
                <a:cs typeface="Arial MT"/>
              </a:rPr>
              <a:t>P5</a:t>
            </a:r>
            <a:endParaRPr sz="2400">
              <a:latin typeface="Arial MT"/>
              <a:cs typeface="Arial MT"/>
            </a:endParaRPr>
          </a:p>
          <a:p>
            <a:pPr marL="151765" algn="ctr">
              <a:lnSpc>
                <a:spcPct val="100000"/>
              </a:lnSpc>
              <a:spcBef>
                <a:spcPts val="1325"/>
              </a:spcBef>
            </a:pPr>
            <a:r>
              <a:rPr sz="2400" spc="-25" dirty="0">
                <a:latin typeface="Arial MT"/>
                <a:cs typeface="Arial MT"/>
              </a:rPr>
              <a:t>P4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38374" y="2652267"/>
            <a:ext cx="3286760" cy="2613660"/>
          </a:xfrm>
          <a:custGeom>
            <a:avLst/>
            <a:gdLst/>
            <a:ahLst/>
            <a:cxnLst/>
            <a:rect l="l" t="t" r="r" b="b"/>
            <a:pathLst>
              <a:path w="3286760" h="2613660">
                <a:moveTo>
                  <a:pt x="185674" y="859028"/>
                </a:moveTo>
                <a:lnTo>
                  <a:pt x="179400" y="840232"/>
                </a:lnTo>
                <a:lnTo>
                  <a:pt x="158750" y="778256"/>
                </a:lnTo>
                <a:lnTo>
                  <a:pt x="110236" y="848360"/>
                </a:lnTo>
                <a:lnTo>
                  <a:pt x="141706" y="852817"/>
                </a:lnTo>
                <a:lnTo>
                  <a:pt x="0" y="1844167"/>
                </a:lnTo>
                <a:lnTo>
                  <a:pt x="12573" y="1845945"/>
                </a:lnTo>
                <a:lnTo>
                  <a:pt x="154279" y="854595"/>
                </a:lnTo>
                <a:lnTo>
                  <a:pt x="185674" y="859028"/>
                </a:lnTo>
                <a:close/>
              </a:path>
              <a:path w="3286760" h="2613660">
                <a:moveTo>
                  <a:pt x="1532001" y="2600960"/>
                </a:moveTo>
                <a:lnTo>
                  <a:pt x="233845" y="2240381"/>
                </a:lnTo>
                <a:lnTo>
                  <a:pt x="234784" y="2236978"/>
                </a:lnTo>
                <a:lnTo>
                  <a:pt x="242316" y="2209800"/>
                </a:lnTo>
                <a:lnTo>
                  <a:pt x="158750" y="2226056"/>
                </a:lnTo>
                <a:lnTo>
                  <a:pt x="221996" y="2283206"/>
                </a:lnTo>
                <a:lnTo>
                  <a:pt x="230466" y="2252586"/>
                </a:lnTo>
                <a:lnTo>
                  <a:pt x="1528699" y="2613152"/>
                </a:lnTo>
                <a:lnTo>
                  <a:pt x="1532001" y="2600960"/>
                </a:lnTo>
                <a:close/>
              </a:path>
              <a:path w="3286760" h="2613660">
                <a:moveTo>
                  <a:pt x="1758950" y="16256"/>
                </a:moveTo>
                <a:lnTo>
                  <a:pt x="1675384" y="0"/>
                </a:lnTo>
                <a:lnTo>
                  <a:pt x="1683842" y="30581"/>
                </a:lnTo>
                <a:lnTo>
                  <a:pt x="385699" y="391160"/>
                </a:lnTo>
                <a:lnTo>
                  <a:pt x="389001" y="403352"/>
                </a:lnTo>
                <a:lnTo>
                  <a:pt x="1687220" y="42786"/>
                </a:lnTo>
                <a:lnTo>
                  <a:pt x="1695704" y="73406"/>
                </a:lnTo>
                <a:lnTo>
                  <a:pt x="1746859" y="27178"/>
                </a:lnTo>
                <a:lnTo>
                  <a:pt x="1758950" y="16256"/>
                </a:lnTo>
                <a:close/>
              </a:path>
              <a:path w="3286760" h="2613660">
                <a:moveTo>
                  <a:pt x="3130550" y="1159256"/>
                </a:moveTo>
                <a:lnTo>
                  <a:pt x="3118231" y="1117092"/>
                </a:lnTo>
                <a:lnTo>
                  <a:pt x="3106674" y="1077468"/>
                </a:lnTo>
                <a:lnTo>
                  <a:pt x="3083293" y="1099146"/>
                </a:lnTo>
                <a:lnTo>
                  <a:pt x="2144649" y="88138"/>
                </a:lnTo>
                <a:lnTo>
                  <a:pt x="2135251" y="96774"/>
                </a:lnTo>
                <a:lnTo>
                  <a:pt x="3073997" y="1107770"/>
                </a:lnTo>
                <a:lnTo>
                  <a:pt x="3050794" y="1129284"/>
                </a:lnTo>
                <a:lnTo>
                  <a:pt x="3130550" y="1159256"/>
                </a:lnTo>
                <a:close/>
              </a:path>
              <a:path w="3286760" h="2613660">
                <a:moveTo>
                  <a:pt x="3286760" y="1545336"/>
                </a:moveTo>
                <a:lnTo>
                  <a:pt x="3279140" y="1535176"/>
                </a:lnTo>
                <a:lnTo>
                  <a:pt x="2044242" y="2479586"/>
                </a:lnTo>
                <a:lnTo>
                  <a:pt x="2024888" y="2454275"/>
                </a:lnTo>
                <a:lnTo>
                  <a:pt x="1987550" y="2530856"/>
                </a:lnTo>
                <a:lnTo>
                  <a:pt x="2071243" y="2514854"/>
                </a:lnTo>
                <a:lnTo>
                  <a:pt x="2057831" y="2497328"/>
                </a:lnTo>
                <a:lnTo>
                  <a:pt x="2051951" y="2489657"/>
                </a:lnTo>
                <a:lnTo>
                  <a:pt x="3286760" y="1545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3704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/>
                <a:cs typeface="Calibri"/>
              </a:rPr>
              <a:t>Resource</a:t>
            </a:r>
            <a:r>
              <a:rPr sz="3600" spc="-1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allocation</a:t>
            </a:r>
            <a:r>
              <a:rPr sz="3600" spc="-15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graph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54161" y="2435161"/>
            <a:ext cx="466725" cy="466725"/>
            <a:chOff x="2054161" y="2435161"/>
            <a:chExt cx="466725" cy="466725"/>
          </a:xfrm>
        </p:grpSpPr>
        <p:sp>
          <p:nvSpPr>
            <p:cNvPr id="4" name="object 4"/>
            <p:cNvSpPr/>
            <p:nvPr/>
          </p:nvSpPr>
          <p:spPr>
            <a:xfrm>
              <a:off x="2058923" y="24399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58923" y="24399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088260" y="2463241"/>
            <a:ext cx="400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P1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730561" y="2435161"/>
            <a:ext cx="466725" cy="466725"/>
            <a:chOff x="3730561" y="2435161"/>
            <a:chExt cx="466725" cy="466725"/>
          </a:xfrm>
        </p:grpSpPr>
        <p:sp>
          <p:nvSpPr>
            <p:cNvPr id="8" name="object 8"/>
            <p:cNvSpPr/>
            <p:nvPr/>
          </p:nvSpPr>
          <p:spPr>
            <a:xfrm>
              <a:off x="3735323" y="24399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735323" y="24399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765296" y="2463241"/>
            <a:ext cx="400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P2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44752" y="2820923"/>
            <a:ext cx="3286125" cy="2824480"/>
            <a:chOff x="1444752" y="2820923"/>
            <a:chExt cx="3286125" cy="2824480"/>
          </a:xfrm>
        </p:grpSpPr>
        <p:sp>
          <p:nvSpPr>
            <p:cNvPr id="12" name="object 12"/>
            <p:cNvSpPr/>
            <p:nvPr/>
          </p:nvSpPr>
          <p:spPr>
            <a:xfrm>
              <a:off x="2744724" y="51831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49324" y="3582923"/>
              <a:ext cx="3276600" cy="2057400"/>
            </a:xfrm>
            <a:custGeom>
              <a:avLst/>
              <a:gdLst/>
              <a:ahLst/>
              <a:cxnLst/>
              <a:rect l="l" t="t" r="r" b="b"/>
              <a:pathLst>
                <a:path w="3276600" h="2057400">
                  <a:moveTo>
                    <a:pt x="1295400" y="1828800"/>
                  </a:moveTo>
                  <a:lnTo>
                    <a:pt x="1300044" y="1782733"/>
                  </a:lnTo>
                  <a:lnTo>
                    <a:pt x="1313366" y="1739824"/>
                  </a:lnTo>
                  <a:lnTo>
                    <a:pt x="1334445" y="1700993"/>
                  </a:lnTo>
                  <a:lnTo>
                    <a:pt x="1362360" y="1667160"/>
                  </a:lnTo>
                  <a:lnTo>
                    <a:pt x="1396193" y="1639245"/>
                  </a:lnTo>
                  <a:lnTo>
                    <a:pt x="1435024" y="1618166"/>
                  </a:lnTo>
                  <a:lnTo>
                    <a:pt x="1477933" y="1604844"/>
                  </a:lnTo>
                  <a:lnTo>
                    <a:pt x="1524000" y="1600200"/>
                  </a:lnTo>
                  <a:lnTo>
                    <a:pt x="1570066" y="1604844"/>
                  </a:lnTo>
                  <a:lnTo>
                    <a:pt x="1612975" y="1618166"/>
                  </a:lnTo>
                  <a:lnTo>
                    <a:pt x="1651806" y="1639245"/>
                  </a:lnTo>
                  <a:lnTo>
                    <a:pt x="1685639" y="1667160"/>
                  </a:lnTo>
                  <a:lnTo>
                    <a:pt x="1713554" y="1700993"/>
                  </a:lnTo>
                  <a:lnTo>
                    <a:pt x="1734633" y="1739824"/>
                  </a:lnTo>
                  <a:lnTo>
                    <a:pt x="1747955" y="1782733"/>
                  </a:lnTo>
                  <a:lnTo>
                    <a:pt x="1752600" y="1828800"/>
                  </a:lnTo>
                  <a:lnTo>
                    <a:pt x="1747955" y="1874866"/>
                  </a:lnTo>
                  <a:lnTo>
                    <a:pt x="1734633" y="1917775"/>
                  </a:lnTo>
                  <a:lnTo>
                    <a:pt x="1713554" y="1956606"/>
                  </a:lnTo>
                  <a:lnTo>
                    <a:pt x="1685639" y="1990439"/>
                  </a:lnTo>
                  <a:lnTo>
                    <a:pt x="1651806" y="2018354"/>
                  </a:lnTo>
                  <a:lnTo>
                    <a:pt x="1612975" y="2039433"/>
                  </a:lnTo>
                  <a:lnTo>
                    <a:pt x="1570066" y="2052755"/>
                  </a:lnTo>
                  <a:lnTo>
                    <a:pt x="1524000" y="2057400"/>
                  </a:lnTo>
                  <a:lnTo>
                    <a:pt x="1477933" y="2052755"/>
                  </a:lnTo>
                  <a:lnTo>
                    <a:pt x="1435024" y="2039433"/>
                  </a:lnTo>
                  <a:lnTo>
                    <a:pt x="1396193" y="2018354"/>
                  </a:lnTo>
                  <a:lnTo>
                    <a:pt x="1362360" y="1990439"/>
                  </a:lnTo>
                  <a:lnTo>
                    <a:pt x="1334445" y="1956606"/>
                  </a:lnTo>
                  <a:lnTo>
                    <a:pt x="1313366" y="1917775"/>
                  </a:lnTo>
                  <a:lnTo>
                    <a:pt x="1300044" y="1874866"/>
                  </a:lnTo>
                  <a:lnTo>
                    <a:pt x="1295400" y="1828800"/>
                  </a:lnTo>
                  <a:close/>
                </a:path>
                <a:path w="3276600" h="2057400">
                  <a:moveTo>
                    <a:pt x="0" y="457200"/>
                  </a:moveTo>
                  <a:lnTo>
                    <a:pt x="1219200" y="4572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  <a:path w="3276600" h="2057400">
                  <a:moveTo>
                    <a:pt x="2057400" y="457200"/>
                  </a:moveTo>
                  <a:lnTo>
                    <a:pt x="3276600" y="457200"/>
                  </a:lnTo>
                  <a:lnTo>
                    <a:pt x="3276600" y="0"/>
                  </a:lnTo>
                  <a:lnTo>
                    <a:pt x="2057400" y="0"/>
                  </a:lnTo>
                  <a:lnTo>
                    <a:pt x="2057400" y="457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673352" y="3730751"/>
              <a:ext cx="161544" cy="2377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282952" y="3730751"/>
              <a:ext cx="161544" cy="2377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35552" y="3654551"/>
              <a:ext cx="161544" cy="2377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748663" y="2820923"/>
              <a:ext cx="2456180" cy="2517775"/>
            </a:xfrm>
            <a:custGeom>
              <a:avLst/>
              <a:gdLst/>
              <a:ahLst/>
              <a:cxnLst/>
              <a:rect l="l" t="t" r="r" b="b"/>
              <a:pathLst>
                <a:path w="2456179" h="2517775">
                  <a:moveTo>
                    <a:pt x="538861" y="76200"/>
                  </a:moveTo>
                  <a:lnTo>
                    <a:pt x="467614" y="122809"/>
                  </a:lnTo>
                  <a:lnTo>
                    <a:pt x="495033" y="138798"/>
                  </a:lnTo>
                  <a:lnTo>
                    <a:pt x="0" y="987425"/>
                  </a:lnTo>
                  <a:lnTo>
                    <a:pt x="10922" y="993775"/>
                  </a:lnTo>
                  <a:lnTo>
                    <a:pt x="505942" y="145161"/>
                  </a:lnTo>
                  <a:lnTo>
                    <a:pt x="533400" y="161163"/>
                  </a:lnTo>
                  <a:lnTo>
                    <a:pt x="535533" y="127889"/>
                  </a:lnTo>
                  <a:lnTo>
                    <a:pt x="538861" y="76200"/>
                  </a:lnTo>
                  <a:close/>
                </a:path>
                <a:path w="2456179" h="2517775">
                  <a:moveTo>
                    <a:pt x="1001649" y="2511679"/>
                  </a:moveTo>
                  <a:lnTo>
                    <a:pt x="351548" y="1283601"/>
                  </a:lnTo>
                  <a:lnTo>
                    <a:pt x="372884" y="1272286"/>
                  </a:lnTo>
                  <a:lnTo>
                    <a:pt x="379603" y="1268730"/>
                  </a:lnTo>
                  <a:lnTo>
                    <a:pt x="310261" y="1219200"/>
                  </a:lnTo>
                  <a:lnTo>
                    <a:pt x="312293" y="1304417"/>
                  </a:lnTo>
                  <a:lnTo>
                    <a:pt x="340360" y="1289545"/>
                  </a:lnTo>
                  <a:lnTo>
                    <a:pt x="990473" y="2517521"/>
                  </a:lnTo>
                  <a:lnTo>
                    <a:pt x="1001649" y="2511679"/>
                  </a:lnTo>
                  <a:close/>
                </a:path>
                <a:path w="2456179" h="2517775">
                  <a:moveTo>
                    <a:pt x="2062861" y="0"/>
                  </a:moveTo>
                  <a:lnTo>
                    <a:pt x="1978406" y="11557"/>
                  </a:lnTo>
                  <a:lnTo>
                    <a:pt x="1996363" y="37795"/>
                  </a:lnTo>
                  <a:lnTo>
                    <a:pt x="611505" y="985393"/>
                  </a:lnTo>
                  <a:lnTo>
                    <a:pt x="618617" y="995807"/>
                  </a:lnTo>
                  <a:lnTo>
                    <a:pt x="2003590" y="48336"/>
                  </a:lnTo>
                  <a:lnTo>
                    <a:pt x="2021459" y="74422"/>
                  </a:lnTo>
                  <a:lnTo>
                    <a:pt x="2045830" y="30607"/>
                  </a:lnTo>
                  <a:lnTo>
                    <a:pt x="2062861" y="0"/>
                  </a:lnTo>
                  <a:close/>
                </a:path>
                <a:path w="2456179" h="2517775">
                  <a:moveTo>
                    <a:pt x="2372868" y="994283"/>
                  </a:moveTo>
                  <a:lnTo>
                    <a:pt x="2362454" y="986917"/>
                  </a:lnTo>
                  <a:lnTo>
                    <a:pt x="1416469" y="2296693"/>
                  </a:lnTo>
                  <a:lnTo>
                    <a:pt x="1390777" y="2278126"/>
                  </a:lnTo>
                  <a:lnTo>
                    <a:pt x="1377061" y="2362200"/>
                  </a:lnTo>
                  <a:lnTo>
                    <a:pt x="1452499" y="2322703"/>
                  </a:lnTo>
                  <a:lnTo>
                    <a:pt x="1441069" y="2314448"/>
                  </a:lnTo>
                  <a:lnTo>
                    <a:pt x="1426794" y="2304148"/>
                  </a:lnTo>
                  <a:lnTo>
                    <a:pt x="2372868" y="994283"/>
                  </a:lnTo>
                  <a:close/>
                </a:path>
                <a:path w="2456179" h="2517775">
                  <a:moveTo>
                    <a:pt x="2455926" y="677672"/>
                  </a:moveTo>
                  <a:lnTo>
                    <a:pt x="2425750" y="687755"/>
                  </a:lnTo>
                  <a:lnTo>
                    <a:pt x="2221230" y="74168"/>
                  </a:lnTo>
                  <a:lnTo>
                    <a:pt x="2209292" y="78232"/>
                  </a:lnTo>
                  <a:lnTo>
                    <a:pt x="2413711" y="691769"/>
                  </a:lnTo>
                  <a:lnTo>
                    <a:pt x="2383663" y="701802"/>
                  </a:lnTo>
                  <a:lnTo>
                    <a:pt x="2443861" y="762000"/>
                  </a:lnTo>
                  <a:lnTo>
                    <a:pt x="2452192" y="703707"/>
                  </a:lnTo>
                  <a:lnTo>
                    <a:pt x="2455926" y="6776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739900" y="3953382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r1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26789" y="4029582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r2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82446" y="4998012"/>
            <a:ext cx="3571240" cy="1542415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R="179070" algn="ctr">
              <a:lnSpc>
                <a:spcPct val="100000"/>
              </a:lnSpc>
              <a:spcBef>
                <a:spcPts val="1750"/>
              </a:spcBef>
            </a:pPr>
            <a:r>
              <a:rPr sz="2400" spc="-25" dirty="0">
                <a:latin typeface="Arial MT"/>
                <a:cs typeface="Arial MT"/>
              </a:rPr>
              <a:t>P3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650"/>
              </a:spcBef>
            </a:pPr>
            <a:r>
              <a:rPr sz="2400" dirty="0">
                <a:latin typeface="Arial MT"/>
                <a:cs typeface="Arial MT"/>
              </a:rPr>
              <a:t>Resource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allocation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graph </a:t>
            </a:r>
            <a:r>
              <a:rPr sz="2400" dirty="0">
                <a:latin typeface="Arial MT"/>
                <a:cs typeface="Arial MT"/>
              </a:rPr>
              <a:t>Without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deadlock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16561" y="2435161"/>
            <a:ext cx="466725" cy="466725"/>
            <a:chOff x="6016561" y="2435161"/>
            <a:chExt cx="466725" cy="466725"/>
          </a:xfrm>
        </p:grpSpPr>
        <p:sp>
          <p:nvSpPr>
            <p:cNvPr id="22" name="object 22"/>
            <p:cNvSpPr/>
            <p:nvPr/>
          </p:nvSpPr>
          <p:spPr>
            <a:xfrm>
              <a:off x="6021323" y="24399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021323" y="24399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052184" y="2463241"/>
            <a:ext cx="400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P1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692961" y="2435161"/>
            <a:ext cx="466725" cy="466725"/>
            <a:chOff x="7692961" y="2435161"/>
            <a:chExt cx="466725" cy="466725"/>
          </a:xfrm>
        </p:grpSpPr>
        <p:sp>
          <p:nvSpPr>
            <p:cNvPr id="26" name="object 26"/>
            <p:cNvSpPr/>
            <p:nvPr/>
          </p:nvSpPr>
          <p:spPr>
            <a:xfrm>
              <a:off x="7697723" y="24399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697723" y="24399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7729219" y="2463241"/>
            <a:ext cx="400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P2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407152" y="2820923"/>
            <a:ext cx="3286125" cy="2824480"/>
            <a:chOff x="5407152" y="2820923"/>
            <a:chExt cx="3286125" cy="2824480"/>
          </a:xfrm>
        </p:grpSpPr>
        <p:sp>
          <p:nvSpPr>
            <p:cNvPr id="30" name="object 30"/>
            <p:cNvSpPr/>
            <p:nvPr/>
          </p:nvSpPr>
          <p:spPr>
            <a:xfrm>
              <a:off x="6707124" y="51831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411724" y="3582923"/>
              <a:ext cx="3276600" cy="2057400"/>
            </a:xfrm>
            <a:custGeom>
              <a:avLst/>
              <a:gdLst/>
              <a:ahLst/>
              <a:cxnLst/>
              <a:rect l="l" t="t" r="r" b="b"/>
              <a:pathLst>
                <a:path w="3276600" h="2057400">
                  <a:moveTo>
                    <a:pt x="1295400" y="1828800"/>
                  </a:moveTo>
                  <a:lnTo>
                    <a:pt x="1300044" y="1782733"/>
                  </a:lnTo>
                  <a:lnTo>
                    <a:pt x="1313366" y="1739824"/>
                  </a:lnTo>
                  <a:lnTo>
                    <a:pt x="1334445" y="1700993"/>
                  </a:lnTo>
                  <a:lnTo>
                    <a:pt x="1362360" y="1667160"/>
                  </a:lnTo>
                  <a:lnTo>
                    <a:pt x="1396193" y="1639245"/>
                  </a:lnTo>
                  <a:lnTo>
                    <a:pt x="1435024" y="1618166"/>
                  </a:lnTo>
                  <a:lnTo>
                    <a:pt x="1477933" y="1604844"/>
                  </a:lnTo>
                  <a:lnTo>
                    <a:pt x="1524000" y="1600200"/>
                  </a:lnTo>
                  <a:lnTo>
                    <a:pt x="1570066" y="1604844"/>
                  </a:lnTo>
                  <a:lnTo>
                    <a:pt x="1612975" y="1618166"/>
                  </a:lnTo>
                  <a:lnTo>
                    <a:pt x="1651806" y="1639245"/>
                  </a:lnTo>
                  <a:lnTo>
                    <a:pt x="1685639" y="1667160"/>
                  </a:lnTo>
                  <a:lnTo>
                    <a:pt x="1713554" y="1700993"/>
                  </a:lnTo>
                  <a:lnTo>
                    <a:pt x="1734633" y="1739824"/>
                  </a:lnTo>
                  <a:lnTo>
                    <a:pt x="1747955" y="1782733"/>
                  </a:lnTo>
                  <a:lnTo>
                    <a:pt x="1752600" y="1828800"/>
                  </a:lnTo>
                  <a:lnTo>
                    <a:pt x="1747955" y="1874866"/>
                  </a:lnTo>
                  <a:lnTo>
                    <a:pt x="1734633" y="1917775"/>
                  </a:lnTo>
                  <a:lnTo>
                    <a:pt x="1713554" y="1956606"/>
                  </a:lnTo>
                  <a:lnTo>
                    <a:pt x="1685639" y="1990439"/>
                  </a:lnTo>
                  <a:lnTo>
                    <a:pt x="1651806" y="2018354"/>
                  </a:lnTo>
                  <a:lnTo>
                    <a:pt x="1612975" y="2039433"/>
                  </a:lnTo>
                  <a:lnTo>
                    <a:pt x="1570066" y="2052755"/>
                  </a:lnTo>
                  <a:lnTo>
                    <a:pt x="1524000" y="2057400"/>
                  </a:lnTo>
                  <a:lnTo>
                    <a:pt x="1477933" y="2052755"/>
                  </a:lnTo>
                  <a:lnTo>
                    <a:pt x="1435024" y="2039433"/>
                  </a:lnTo>
                  <a:lnTo>
                    <a:pt x="1396193" y="2018354"/>
                  </a:lnTo>
                  <a:lnTo>
                    <a:pt x="1362360" y="1990439"/>
                  </a:lnTo>
                  <a:lnTo>
                    <a:pt x="1334445" y="1956606"/>
                  </a:lnTo>
                  <a:lnTo>
                    <a:pt x="1313366" y="1917775"/>
                  </a:lnTo>
                  <a:lnTo>
                    <a:pt x="1300044" y="1874866"/>
                  </a:lnTo>
                  <a:lnTo>
                    <a:pt x="1295400" y="1828800"/>
                  </a:lnTo>
                  <a:close/>
                </a:path>
                <a:path w="3276600" h="2057400">
                  <a:moveTo>
                    <a:pt x="0" y="457200"/>
                  </a:moveTo>
                  <a:lnTo>
                    <a:pt x="1219200" y="4572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  <a:path w="3276600" h="2057400">
                  <a:moveTo>
                    <a:pt x="2057400" y="457200"/>
                  </a:moveTo>
                  <a:lnTo>
                    <a:pt x="3276600" y="457200"/>
                  </a:lnTo>
                  <a:lnTo>
                    <a:pt x="3276600" y="0"/>
                  </a:lnTo>
                  <a:lnTo>
                    <a:pt x="2057400" y="0"/>
                  </a:lnTo>
                  <a:lnTo>
                    <a:pt x="2057400" y="457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635752" y="3730751"/>
              <a:ext cx="161544" cy="23774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997952" y="3654551"/>
              <a:ext cx="161544" cy="23774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711063" y="2895091"/>
              <a:ext cx="2456180" cy="2443480"/>
            </a:xfrm>
            <a:custGeom>
              <a:avLst/>
              <a:gdLst/>
              <a:ahLst/>
              <a:cxnLst/>
              <a:rect l="l" t="t" r="r" b="b"/>
              <a:pathLst>
                <a:path w="2456179" h="2443479">
                  <a:moveTo>
                    <a:pt x="538861" y="2032"/>
                  </a:moveTo>
                  <a:lnTo>
                    <a:pt x="467614" y="48641"/>
                  </a:lnTo>
                  <a:lnTo>
                    <a:pt x="495033" y="64630"/>
                  </a:lnTo>
                  <a:lnTo>
                    <a:pt x="0" y="913257"/>
                  </a:lnTo>
                  <a:lnTo>
                    <a:pt x="10922" y="919607"/>
                  </a:lnTo>
                  <a:lnTo>
                    <a:pt x="505942" y="70993"/>
                  </a:lnTo>
                  <a:lnTo>
                    <a:pt x="533400" y="86995"/>
                  </a:lnTo>
                  <a:lnTo>
                    <a:pt x="535533" y="53721"/>
                  </a:lnTo>
                  <a:lnTo>
                    <a:pt x="538861" y="2032"/>
                  </a:lnTo>
                  <a:close/>
                </a:path>
                <a:path w="2456179" h="2443479">
                  <a:moveTo>
                    <a:pt x="1001649" y="2437511"/>
                  </a:moveTo>
                  <a:lnTo>
                    <a:pt x="351548" y="1209433"/>
                  </a:lnTo>
                  <a:lnTo>
                    <a:pt x="372884" y="1198118"/>
                  </a:lnTo>
                  <a:lnTo>
                    <a:pt x="379603" y="1194562"/>
                  </a:lnTo>
                  <a:lnTo>
                    <a:pt x="310261" y="1145032"/>
                  </a:lnTo>
                  <a:lnTo>
                    <a:pt x="312293" y="1230249"/>
                  </a:lnTo>
                  <a:lnTo>
                    <a:pt x="340360" y="1215377"/>
                  </a:lnTo>
                  <a:lnTo>
                    <a:pt x="990473" y="2443353"/>
                  </a:lnTo>
                  <a:lnTo>
                    <a:pt x="1001649" y="2437511"/>
                  </a:lnTo>
                  <a:close/>
                </a:path>
                <a:path w="2456179" h="2443479">
                  <a:moveTo>
                    <a:pt x="2372868" y="920115"/>
                  </a:moveTo>
                  <a:lnTo>
                    <a:pt x="2362454" y="912749"/>
                  </a:lnTo>
                  <a:lnTo>
                    <a:pt x="1416469" y="2222525"/>
                  </a:lnTo>
                  <a:lnTo>
                    <a:pt x="1390777" y="2203958"/>
                  </a:lnTo>
                  <a:lnTo>
                    <a:pt x="1377061" y="2288032"/>
                  </a:lnTo>
                  <a:lnTo>
                    <a:pt x="1452499" y="2248535"/>
                  </a:lnTo>
                  <a:lnTo>
                    <a:pt x="1441069" y="2240280"/>
                  </a:lnTo>
                  <a:lnTo>
                    <a:pt x="1426794" y="2229980"/>
                  </a:lnTo>
                  <a:lnTo>
                    <a:pt x="2372868" y="920115"/>
                  </a:lnTo>
                  <a:close/>
                </a:path>
                <a:path w="2456179" h="2443479">
                  <a:moveTo>
                    <a:pt x="2455926" y="603504"/>
                  </a:moveTo>
                  <a:lnTo>
                    <a:pt x="2425750" y="613587"/>
                  </a:lnTo>
                  <a:lnTo>
                    <a:pt x="2221230" y="0"/>
                  </a:lnTo>
                  <a:lnTo>
                    <a:pt x="2209292" y="4064"/>
                  </a:lnTo>
                  <a:lnTo>
                    <a:pt x="2413711" y="617601"/>
                  </a:lnTo>
                  <a:lnTo>
                    <a:pt x="2383663" y="627634"/>
                  </a:lnTo>
                  <a:lnTo>
                    <a:pt x="2443861" y="687832"/>
                  </a:lnTo>
                  <a:lnTo>
                    <a:pt x="2452192" y="629539"/>
                  </a:lnTo>
                  <a:lnTo>
                    <a:pt x="2455926" y="603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69152" y="3654551"/>
              <a:ext cx="161544" cy="23774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246495" y="2820923"/>
              <a:ext cx="1680210" cy="920115"/>
            </a:xfrm>
            <a:custGeom>
              <a:avLst/>
              <a:gdLst/>
              <a:ahLst/>
              <a:cxnLst/>
              <a:rect l="l" t="t" r="r" b="b"/>
              <a:pathLst>
                <a:path w="1680209" h="920114">
                  <a:moveTo>
                    <a:pt x="1679829" y="914400"/>
                  </a:moveTo>
                  <a:lnTo>
                    <a:pt x="1662620" y="890524"/>
                  </a:lnTo>
                  <a:lnTo>
                    <a:pt x="1630045" y="845312"/>
                  </a:lnTo>
                  <a:lnTo>
                    <a:pt x="1615249" y="873467"/>
                  </a:lnTo>
                  <a:lnTo>
                    <a:pt x="776071" y="433908"/>
                  </a:lnTo>
                  <a:lnTo>
                    <a:pt x="1390154" y="46050"/>
                  </a:lnTo>
                  <a:lnTo>
                    <a:pt x="1407160" y="72898"/>
                  </a:lnTo>
                  <a:lnTo>
                    <a:pt x="1433944" y="28575"/>
                  </a:lnTo>
                  <a:lnTo>
                    <a:pt x="1451229" y="0"/>
                  </a:lnTo>
                  <a:lnTo>
                    <a:pt x="1366393" y="8509"/>
                  </a:lnTo>
                  <a:lnTo>
                    <a:pt x="1383411" y="35394"/>
                  </a:lnTo>
                  <a:lnTo>
                    <a:pt x="763130" y="427126"/>
                  </a:lnTo>
                  <a:lnTo>
                    <a:pt x="82550" y="70612"/>
                  </a:lnTo>
                  <a:lnTo>
                    <a:pt x="76708" y="81788"/>
                  </a:lnTo>
                  <a:lnTo>
                    <a:pt x="750811" y="434911"/>
                  </a:lnTo>
                  <a:lnTo>
                    <a:pt x="0" y="909066"/>
                  </a:lnTo>
                  <a:lnTo>
                    <a:pt x="6858" y="919734"/>
                  </a:lnTo>
                  <a:lnTo>
                    <a:pt x="763752" y="441680"/>
                  </a:lnTo>
                  <a:lnTo>
                    <a:pt x="1609382" y="884631"/>
                  </a:lnTo>
                  <a:lnTo>
                    <a:pt x="1594612" y="912749"/>
                  </a:lnTo>
                  <a:lnTo>
                    <a:pt x="1679829" y="914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176898" y="5207584"/>
            <a:ext cx="194373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3405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P3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deadlock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48305" marR="5080" indent="-2936240">
              <a:lnSpc>
                <a:spcPct val="100000"/>
              </a:lnSpc>
              <a:spcBef>
                <a:spcPts val="90"/>
              </a:spcBef>
            </a:pPr>
            <a:r>
              <a:rPr sz="3200" spc="-10" dirty="0">
                <a:latin typeface="Calibri"/>
                <a:cs typeface="Calibri"/>
              </a:rPr>
              <a:t>Wait-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graph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Resource-</a:t>
            </a:r>
            <a:r>
              <a:rPr sz="3200" dirty="0">
                <a:latin typeface="Calibri"/>
                <a:cs typeface="Calibri"/>
              </a:rPr>
              <a:t>allocation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graph conversion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095" y="2200148"/>
            <a:ext cx="7232650" cy="880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Times New Roman" panose="02020803070505020304"/>
                <a:cs typeface="Times New Roman" panose="02020803070505020304"/>
              </a:rPr>
              <a:t>Any</a:t>
            </a:r>
            <a:r>
              <a:rPr sz="2800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2800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2800" spc="-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graph</a:t>
            </a:r>
            <a:r>
              <a:rPr sz="280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with</a:t>
            </a:r>
            <a:r>
              <a:rPr sz="280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2800" spc="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single</a:t>
            </a:r>
            <a:r>
              <a:rPr sz="2800" spc="-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spc="-20" dirty="0">
                <a:latin typeface="Times New Roman" panose="02020803070505020304"/>
                <a:cs typeface="Times New Roman" panose="02020803070505020304"/>
              </a:rPr>
              <a:t>copy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of resources</a:t>
            </a:r>
            <a:r>
              <a:rPr sz="2800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can</a:t>
            </a:r>
            <a:r>
              <a:rPr sz="280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be transferred</a:t>
            </a:r>
            <a:r>
              <a:rPr sz="2800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to</a:t>
            </a:r>
            <a:r>
              <a:rPr sz="280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2800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wait-for</a:t>
            </a:r>
            <a:r>
              <a:rPr sz="280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spc="-10" dirty="0">
                <a:latin typeface="Times New Roman" panose="02020803070505020304"/>
                <a:cs typeface="Times New Roman" panose="02020803070505020304"/>
              </a:rPr>
              <a:t>graph.</a:t>
            </a:r>
            <a:endParaRPr sz="2800">
              <a:latin typeface="Times New Roman" panose="02020803070505020304"/>
              <a:cs typeface="Times New Roman" panose="020208030705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11361" y="3882961"/>
            <a:ext cx="466725" cy="466725"/>
            <a:chOff x="2511361" y="3882961"/>
            <a:chExt cx="466725" cy="466725"/>
          </a:xfrm>
        </p:grpSpPr>
        <p:sp>
          <p:nvSpPr>
            <p:cNvPr id="5" name="object 5"/>
            <p:cNvSpPr/>
            <p:nvPr/>
          </p:nvSpPr>
          <p:spPr>
            <a:xfrm>
              <a:off x="2516123" y="38877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516123" y="38877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545842" y="3911549"/>
            <a:ext cx="400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P1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25761" y="5178361"/>
            <a:ext cx="466725" cy="466725"/>
            <a:chOff x="3425761" y="5178361"/>
            <a:chExt cx="466725" cy="466725"/>
          </a:xfrm>
        </p:grpSpPr>
        <p:sp>
          <p:nvSpPr>
            <p:cNvPr id="9" name="object 9"/>
            <p:cNvSpPr/>
            <p:nvPr/>
          </p:nvSpPr>
          <p:spPr>
            <a:xfrm>
              <a:off x="3430523" y="51831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430523" y="51831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460496" y="5207584"/>
            <a:ext cx="400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P2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96961" y="4644961"/>
            <a:ext cx="2371725" cy="1762125"/>
            <a:chOff x="1596961" y="4644961"/>
            <a:chExt cx="2371725" cy="1762125"/>
          </a:xfrm>
        </p:grpSpPr>
        <p:sp>
          <p:nvSpPr>
            <p:cNvPr id="13" name="object 13"/>
            <p:cNvSpPr/>
            <p:nvPr/>
          </p:nvSpPr>
          <p:spPr>
            <a:xfrm>
              <a:off x="2516124" y="4649723"/>
              <a:ext cx="1447800" cy="1752600"/>
            </a:xfrm>
            <a:custGeom>
              <a:avLst/>
              <a:gdLst/>
              <a:ahLst/>
              <a:cxnLst/>
              <a:rect l="l" t="t" r="r" b="b"/>
              <a:pathLst>
                <a:path w="1447800" h="1752600">
                  <a:moveTo>
                    <a:pt x="609600" y="304800"/>
                  </a:moveTo>
                  <a:lnTo>
                    <a:pt x="1447800" y="304800"/>
                  </a:lnTo>
                  <a:lnTo>
                    <a:pt x="1447800" y="0"/>
                  </a:lnTo>
                  <a:lnTo>
                    <a:pt x="609600" y="0"/>
                  </a:lnTo>
                  <a:lnTo>
                    <a:pt x="609600" y="304800"/>
                  </a:lnTo>
                  <a:close/>
                </a:path>
                <a:path w="1447800" h="1752600">
                  <a:moveTo>
                    <a:pt x="0" y="1752600"/>
                  </a:moveTo>
                  <a:lnTo>
                    <a:pt x="838200" y="1752600"/>
                  </a:lnTo>
                  <a:lnTo>
                    <a:pt x="838200" y="1447800"/>
                  </a:lnTo>
                  <a:lnTo>
                    <a:pt x="0" y="1447800"/>
                  </a:lnTo>
                  <a:lnTo>
                    <a:pt x="0" y="1752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601724" y="52593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6" y="317580"/>
                  </a:lnTo>
                  <a:lnTo>
                    <a:pt x="39045" y="356411"/>
                  </a:lnTo>
                  <a:lnTo>
                    <a:pt x="66960" y="390244"/>
                  </a:lnTo>
                  <a:lnTo>
                    <a:pt x="100793" y="418158"/>
                  </a:lnTo>
                  <a:lnTo>
                    <a:pt x="139624" y="439235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5"/>
                  </a:lnTo>
                  <a:lnTo>
                    <a:pt x="356406" y="418158"/>
                  </a:lnTo>
                  <a:lnTo>
                    <a:pt x="390239" y="390244"/>
                  </a:lnTo>
                  <a:lnTo>
                    <a:pt x="418154" y="356411"/>
                  </a:lnTo>
                  <a:lnTo>
                    <a:pt x="439233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601724" y="52593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70"/>
                  </a:lnTo>
                  <a:lnTo>
                    <a:pt x="439233" y="317580"/>
                  </a:lnTo>
                  <a:lnTo>
                    <a:pt x="418154" y="356411"/>
                  </a:lnTo>
                  <a:lnTo>
                    <a:pt x="390239" y="390244"/>
                  </a:lnTo>
                  <a:lnTo>
                    <a:pt x="356406" y="418158"/>
                  </a:lnTo>
                  <a:lnTo>
                    <a:pt x="317575" y="439235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5"/>
                  </a:lnTo>
                  <a:lnTo>
                    <a:pt x="100793" y="418158"/>
                  </a:lnTo>
                  <a:lnTo>
                    <a:pt x="66960" y="390244"/>
                  </a:lnTo>
                  <a:lnTo>
                    <a:pt x="39045" y="356411"/>
                  </a:lnTo>
                  <a:lnTo>
                    <a:pt x="17966" y="317580"/>
                  </a:lnTo>
                  <a:lnTo>
                    <a:pt x="4644" y="27467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631060" y="5283809"/>
            <a:ext cx="400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P3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597152" y="4187697"/>
            <a:ext cx="2066925" cy="2143125"/>
            <a:chOff x="1597152" y="4187697"/>
            <a:chExt cx="2066925" cy="2143125"/>
          </a:xfrm>
        </p:grpSpPr>
        <p:sp>
          <p:nvSpPr>
            <p:cNvPr id="18" name="object 18"/>
            <p:cNvSpPr/>
            <p:nvPr/>
          </p:nvSpPr>
          <p:spPr>
            <a:xfrm>
              <a:off x="1601724" y="4649723"/>
              <a:ext cx="838200" cy="304800"/>
            </a:xfrm>
            <a:custGeom>
              <a:avLst/>
              <a:gdLst/>
              <a:ahLst/>
              <a:cxnLst/>
              <a:rect l="l" t="t" r="r" b="b"/>
              <a:pathLst>
                <a:path w="838200" h="304800">
                  <a:moveTo>
                    <a:pt x="0" y="304800"/>
                  </a:moveTo>
                  <a:lnTo>
                    <a:pt x="838200" y="304800"/>
                  </a:lnTo>
                  <a:lnTo>
                    <a:pt x="8382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969133" y="4187697"/>
              <a:ext cx="537845" cy="462280"/>
            </a:xfrm>
            <a:custGeom>
              <a:avLst/>
              <a:gdLst/>
              <a:ahLst/>
              <a:cxnLst/>
              <a:rect l="l" t="t" r="r" b="b"/>
              <a:pathLst>
                <a:path w="537845" h="462279">
                  <a:moveTo>
                    <a:pt x="475581" y="417275"/>
                  </a:moveTo>
                  <a:lnTo>
                    <a:pt x="454914" y="441325"/>
                  </a:lnTo>
                  <a:lnTo>
                    <a:pt x="537591" y="462025"/>
                  </a:lnTo>
                  <a:lnTo>
                    <a:pt x="522256" y="425576"/>
                  </a:lnTo>
                  <a:lnTo>
                    <a:pt x="485267" y="425576"/>
                  </a:lnTo>
                  <a:lnTo>
                    <a:pt x="475581" y="417275"/>
                  </a:lnTo>
                  <a:close/>
                </a:path>
                <a:path w="537845" h="462279">
                  <a:moveTo>
                    <a:pt x="483859" y="407641"/>
                  </a:moveTo>
                  <a:lnTo>
                    <a:pt x="475581" y="417275"/>
                  </a:lnTo>
                  <a:lnTo>
                    <a:pt x="485267" y="425576"/>
                  </a:lnTo>
                  <a:lnTo>
                    <a:pt x="493521" y="415925"/>
                  </a:lnTo>
                  <a:lnTo>
                    <a:pt x="483859" y="407641"/>
                  </a:lnTo>
                  <a:close/>
                </a:path>
                <a:path w="537845" h="462279">
                  <a:moveTo>
                    <a:pt x="504570" y="383539"/>
                  </a:moveTo>
                  <a:lnTo>
                    <a:pt x="483859" y="407641"/>
                  </a:lnTo>
                  <a:lnTo>
                    <a:pt x="493521" y="415925"/>
                  </a:lnTo>
                  <a:lnTo>
                    <a:pt x="485267" y="425576"/>
                  </a:lnTo>
                  <a:lnTo>
                    <a:pt x="522256" y="425576"/>
                  </a:lnTo>
                  <a:lnTo>
                    <a:pt x="504570" y="383539"/>
                  </a:lnTo>
                  <a:close/>
                </a:path>
                <a:path w="537845" h="462279">
                  <a:moveTo>
                    <a:pt x="8381" y="0"/>
                  </a:moveTo>
                  <a:lnTo>
                    <a:pt x="0" y="9651"/>
                  </a:lnTo>
                  <a:lnTo>
                    <a:pt x="475581" y="417275"/>
                  </a:lnTo>
                  <a:lnTo>
                    <a:pt x="483859" y="407641"/>
                  </a:lnTo>
                  <a:lnTo>
                    <a:pt x="83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544824" y="4954523"/>
              <a:ext cx="76200" cy="2286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824609" y="4192523"/>
              <a:ext cx="1762760" cy="1910714"/>
            </a:xfrm>
            <a:custGeom>
              <a:avLst/>
              <a:gdLst/>
              <a:ahLst/>
              <a:cxnLst/>
              <a:rect l="l" t="t" r="r" b="b"/>
              <a:pathLst>
                <a:path w="1762760" h="1910714">
                  <a:moveTo>
                    <a:pt x="158115" y="762000"/>
                  </a:moveTo>
                  <a:lnTo>
                    <a:pt x="89916" y="813054"/>
                  </a:lnTo>
                  <a:lnTo>
                    <a:pt x="118389" y="827328"/>
                  </a:lnTo>
                  <a:lnTo>
                    <a:pt x="0" y="1064006"/>
                  </a:lnTo>
                  <a:lnTo>
                    <a:pt x="11430" y="1069594"/>
                  </a:lnTo>
                  <a:lnTo>
                    <a:pt x="129717" y="833005"/>
                  </a:lnTo>
                  <a:lnTo>
                    <a:pt x="158115" y="847217"/>
                  </a:lnTo>
                  <a:lnTo>
                    <a:pt x="158115" y="815975"/>
                  </a:lnTo>
                  <a:lnTo>
                    <a:pt x="158115" y="762000"/>
                  </a:lnTo>
                  <a:close/>
                </a:path>
                <a:path w="1762760" h="1910714">
                  <a:moveTo>
                    <a:pt x="691515" y="0"/>
                  </a:moveTo>
                  <a:lnTo>
                    <a:pt x="610743" y="26924"/>
                  </a:lnTo>
                  <a:lnTo>
                    <a:pt x="633209" y="49403"/>
                  </a:lnTo>
                  <a:lnTo>
                    <a:pt x="624141" y="58356"/>
                  </a:lnTo>
                  <a:lnTo>
                    <a:pt x="229870" y="452755"/>
                  </a:lnTo>
                  <a:lnTo>
                    <a:pt x="238760" y="461645"/>
                  </a:lnTo>
                  <a:lnTo>
                    <a:pt x="642162" y="58356"/>
                  </a:lnTo>
                  <a:lnTo>
                    <a:pt x="664591" y="80772"/>
                  </a:lnTo>
                  <a:lnTo>
                    <a:pt x="678053" y="40386"/>
                  </a:lnTo>
                  <a:lnTo>
                    <a:pt x="691515" y="0"/>
                  </a:lnTo>
                  <a:close/>
                </a:path>
                <a:path w="1762760" h="1910714">
                  <a:moveTo>
                    <a:pt x="922909" y="1899323"/>
                  </a:moveTo>
                  <a:lnTo>
                    <a:pt x="229108" y="1552384"/>
                  </a:lnTo>
                  <a:lnTo>
                    <a:pt x="231940" y="1546720"/>
                  </a:lnTo>
                  <a:lnTo>
                    <a:pt x="243332" y="1524000"/>
                  </a:lnTo>
                  <a:lnTo>
                    <a:pt x="158115" y="1524000"/>
                  </a:lnTo>
                  <a:lnTo>
                    <a:pt x="209169" y="1592160"/>
                  </a:lnTo>
                  <a:lnTo>
                    <a:pt x="223405" y="1563738"/>
                  </a:lnTo>
                  <a:lnTo>
                    <a:pt x="917321" y="1910676"/>
                  </a:lnTo>
                  <a:lnTo>
                    <a:pt x="922909" y="1899323"/>
                  </a:lnTo>
                  <a:close/>
                </a:path>
                <a:path w="1762760" h="1910714">
                  <a:moveTo>
                    <a:pt x="1762506" y="1452626"/>
                  </a:moveTo>
                  <a:lnTo>
                    <a:pt x="1754124" y="1442974"/>
                  </a:lnTo>
                  <a:lnTo>
                    <a:pt x="1278623" y="1850593"/>
                  </a:lnTo>
                  <a:lnTo>
                    <a:pt x="1257935" y="1826475"/>
                  </a:lnTo>
                  <a:lnTo>
                    <a:pt x="1224915" y="1905000"/>
                  </a:lnTo>
                  <a:lnTo>
                    <a:pt x="1307592" y="1884337"/>
                  </a:lnTo>
                  <a:lnTo>
                    <a:pt x="1293977" y="1868487"/>
                  </a:lnTo>
                  <a:lnTo>
                    <a:pt x="1286891" y="1860219"/>
                  </a:lnTo>
                  <a:lnTo>
                    <a:pt x="1762506" y="14526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2152" y="4721351"/>
              <a:ext cx="161544" cy="1615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2552" y="6169151"/>
              <a:ext cx="161544" cy="1615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1952" y="4721351"/>
              <a:ext cx="161544" cy="161544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6168961" y="3882961"/>
            <a:ext cx="466725" cy="466725"/>
            <a:chOff x="6168961" y="3882961"/>
            <a:chExt cx="466725" cy="466725"/>
          </a:xfrm>
        </p:grpSpPr>
        <p:sp>
          <p:nvSpPr>
            <p:cNvPr id="26" name="object 26"/>
            <p:cNvSpPr/>
            <p:nvPr/>
          </p:nvSpPr>
          <p:spPr>
            <a:xfrm>
              <a:off x="6173723" y="38877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173723" y="38877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6204584" y="3911549"/>
            <a:ext cx="400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P1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083361" y="5178361"/>
            <a:ext cx="466725" cy="466725"/>
            <a:chOff x="7083361" y="5178361"/>
            <a:chExt cx="466725" cy="466725"/>
          </a:xfrm>
        </p:grpSpPr>
        <p:sp>
          <p:nvSpPr>
            <p:cNvPr id="30" name="object 30"/>
            <p:cNvSpPr/>
            <p:nvPr/>
          </p:nvSpPr>
          <p:spPr>
            <a:xfrm>
              <a:off x="7088123" y="51831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088123" y="51831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7119366" y="5207584"/>
            <a:ext cx="400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P2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254561" y="5254561"/>
            <a:ext cx="466725" cy="466725"/>
            <a:chOff x="5254561" y="5254561"/>
            <a:chExt cx="466725" cy="466725"/>
          </a:xfrm>
        </p:grpSpPr>
        <p:sp>
          <p:nvSpPr>
            <p:cNvPr id="34" name="object 34"/>
            <p:cNvSpPr/>
            <p:nvPr/>
          </p:nvSpPr>
          <p:spPr>
            <a:xfrm>
              <a:off x="5259323" y="52593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6" y="317580"/>
                  </a:lnTo>
                  <a:lnTo>
                    <a:pt x="39045" y="356411"/>
                  </a:lnTo>
                  <a:lnTo>
                    <a:pt x="66960" y="390244"/>
                  </a:lnTo>
                  <a:lnTo>
                    <a:pt x="100793" y="418158"/>
                  </a:lnTo>
                  <a:lnTo>
                    <a:pt x="139624" y="439235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5"/>
                  </a:lnTo>
                  <a:lnTo>
                    <a:pt x="356406" y="418158"/>
                  </a:lnTo>
                  <a:lnTo>
                    <a:pt x="390239" y="390244"/>
                  </a:lnTo>
                  <a:lnTo>
                    <a:pt x="418154" y="356411"/>
                  </a:lnTo>
                  <a:lnTo>
                    <a:pt x="439233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259323" y="52593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70"/>
                  </a:lnTo>
                  <a:lnTo>
                    <a:pt x="439233" y="317580"/>
                  </a:lnTo>
                  <a:lnTo>
                    <a:pt x="418154" y="356411"/>
                  </a:lnTo>
                  <a:lnTo>
                    <a:pt x="390239" y="390244"/>
                  </a:lnTo>
                  <a:lnTo>
                    <a:pt x="356406" y="418158"/>
                  </a:lnTo>
                  <a:lnTo>
                    <a:pt x="317575" y="439235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5"/>
                  </a:lnTo>
                  <a:lnTo>
                    <a:pt x="100793" y="418158"/>
                  </a:lnTo>
                  <a:lnTo>
                    <a:pt x="66960" y="390244"/>
                  </a:lnTo>
                  <a:lnTo>
                    <a:pt x="39045" y="356411"/>
                  </a:lnTo>
                  <a:lnTo>
                    <a:pt x="17966" y="317580"/>
                  </a:lnTo>
                  <a:lnTo>
                    <a:pt x="4644" y="27467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5289930" y="5283809"/>
            <a:ext cx="400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P3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482717" y="4264913"/>
            <a:ext cx="1758314" cy="1184910"/>
          </a:xfrm>
          <a:custGeom>
            <a:avLst/>
            <a:gdLst/>
            <a:ahLst/>
            <a:cxnLst/>
            <a:rect l="l" t="t" r="r" b="b"/>
            <a:pathLst>
              <a:path w="1758315" h="1184910">
                <a:moveTo>
                  <a:pt x="691007" y="3810"/>
                </a:moveTo>
                <a:lnTo>
                  <a:pt x="616331" y="44831"/>
                </a:lnTo>
                <a:lnTo>
                  <a:pt x="642391" y="62865"/>
                </a:lnTo>
                <a:lnTo>
                  <a:pt x="0" y="990854"/>
                </a:lnTo>
                <a:lnTo>
                  <a:pt x="10414" y="997966"/>
                </a:lnTo>
                <a:lnTo>
                  <a:pt x="652818" y="70078"/>
                </a:lnTo>
                <a:lnTo>
                  <a:pt x="678942" y="88138"/>
                </a:lnTo>
                <a:lnTo>
                  <a:pt x="684047" y="52451"/>
                </a:lnTo>
                <a:lnTo>
                  <a:pt x="691007" y="3810"/>
                </a:lnTo>
                <a:close/>
              </a:path>
              <a:path w="1758315" h="1184910">
                <a:moveTo>
                  <a:pt x="1605407" y="1140460"/>
                </a:moveTo>
                <a:lnTo>
                  <a:pt x="310007" y="1140460"/>
                </a:lnTo>
                <a:lnTo>
                  <a:pt x="310007" y="1108710"/>
                </a:lnTo>
                <a:lnTo>
                  <a:pt x="233807" y="1146810"/>
                </a:lnTo>
                <a:lnTo>
                  <a:pt x="310007" y="1184910"/>
                </a:lnTo>
                <a:lnTo>
                  <a:pt x="310007" y="1153160"/>
                </a:lnTo>
                <a:lnTo>
                  <a:pt x="1605407" y="1153160"/>
                </a:lnTo>
                <a:lnTo>
                  <a:pt x="1605407" y="1140460"/>
                </a:lnTo>
                <a:close/>
              </a:path>
              <a:path w="1758315" h="1184910">
                <a:moveTo>
                  <a:pt x="1757807" y="918210"/>
                </a:moveTo>
                <a:lnTo>
                  <a:pt x="1749259" y="871220"/>
                </a:lnTo>
                <a:lnTo>
                  <a:pt x="1742567" y="834390"/>
                </a:lnTo>
                <a:lnTo>
                  <a:pt x="1717167" y="853440"/>
                </a:lnTo>
                <a:lnTo>
                  <a:pt x="1077087" y="0"/>
                </a:lnTo>
                <a:lnTo>
                  <a:pt x="1066927" y="7620"/>
                </a:lnTo>
                <a:lnTo>
                  <a:pt x="1707007" y="861060"/>
                </a:lnTo>
                <a:lnTo>
                  <a:pt x="1681607" y="880110"/>
                </a:lnTo>
                <a:lnTo>
                  <a:pt x="1757807" y="9182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9490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90"/>
              </a:spcBef>
            </a:pPr>
            <a:r>
              <a:rPr sz="3200" dirty="0">
                <a:latin typeface="Calibri"/>
                <a:cs typeface="Calibri"/>
              </a:rPr>
              <a:t>Strategies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handling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deadlocks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095" y="2156917"/>
            <a:ext cx="7339965" cy="391223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85"/>
              </a:spcBef>
            </a:pPr>
            <a:r>
              <a:rPr sz="2800" b="1" dirty="0">
                <a:latin typeface="Times New Roman" panose="02020803070505020304"/>
                <a:cs typeface="Times New Roman" panose="02020803070505020304"/>
              </a:rPr>
              <a:t>Deadlock</a:t>
            </a:r>
            <a:r>
              <a:rPr sz="2800" b="1" spc="-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b="1" dirty="0">
                <a:latin typeface="Times New Roman" panose="02020803070505020304"/>
                <a:cs typeface="Times New Roman" panose="02020803070505020304"/>
              </a:rPr>
              <a:t>prevention:</a:t>
            </a:r>
            <a:r>
              <a:rPr sz="2800" b="1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Prevents</a:t>
            </a:r>
            <a:r>
              <a:rPr sz="2800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deadlocks</a:t>
            </a:r>
            <a:r>
              <a:rPr sz="2800" spc="-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spc="-25" dirty="0">
                <a:latin typeface="Times New Roman" panose="02020803070505020304"/>
                <a:cs typeface="Times New Roman" panose="02020803070505020304"/>
              </a:rPr>
              <a:t>by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restraining</a:t>
            </a:r>
            <a:r>
              <a:rPr sz="280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requests</a:t>
            </a:r>
            <a:r>
              <a:rPr sz="280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made</a:t>
            </a:r>
            <a:r>
              <a:rPr sz="2800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to</a:t>
            </a:r>
            <a:r>
              <a:rPr sz="2800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ensure</a:t>
            </a:r>
            <a:r>
              <a:rPr sz="2800" spc="-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that</a:t>
            </a:r>
            <a:r>
              <a:rPr sz="2800" spc="-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at</a:t>
            </a:r>
            <a:r>
              <a:rPr sz="2800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least</a:t>
            </a:r>
            <a:r>
              <a:rPr sz="2800" spc="-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spc="-25" dirty="0">
                <a:latin typeface="Times New Roman" panose="02020803070505020304"/>
                <a:cs typeface="Times New Roman" panose="02020803070505020304"/>
              </a:rPr>
              <a:t>one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of the</a:t>
            </a:r>
            <a:r>
              <a:rPr sz="2800" spc="-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four</a:t>
            </a:r>
            <a:r>
              <a:rPr sz="280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deadlock</a:t>
            </a:r>
            <a:r>
              <a:rPr sz="2800" spc="-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conditions</a:t>
            </a:r>
            <a:r>
              <a:rPr sz="2800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cannot</a:t>
            </a:r>
            <a:r>
              <a:rPr sz="280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spc="-10" dirty="0">
                <a:latin typeface="Times New Roman" panose="02020803070505020304"/>
                <a:cs typeface="Times New Roman" panose="02020803070505020304"/>
              </a:rPr>
              <a:t>occur.</a:t>
            </a:r>
            <a:endParaRPr sz="2800">
              <a:latin typeface="Times New Roman" panose="02020803070505020304"/>
              <a:cs typeface="Times New Roman" panose="02020803070505020304"/>
            </a:endParaRPr>
          </a:p>
          <a:p>
            <a:pPr marL="12700">
              <a:lnSpc>
                <a:spcPts val="2805"/>
              </a:lnSpc>
            </a:pPr>
            <a:r>
              <a:rPr sz="2800" b="1" dirty="0">
                <a:latin typeface="Times New Roman" panose="02020803070505020304"/>
                <a:cs typeface="Times New Roman" panose="02020803070505020304"/>
              </a:rPr>
              <a:t>Deadlock</a:t>
            </a:r>
            <a:r>
              <a:rPr sz="2800" b="1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b="1" dirty="0">
                <a:latin typeface="Times New Roman" panose="02020803070505020304"/>
                <a:cs typeface="Times New Roman" panose="02020803070505020304"/>
              </a:rPr>
              <a:t>avoidance:</a:t>
            </a:r>
            <a:r>
              <a:rPr sz="2800" b="1" spc="-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Dynamically</a:t>
            </a:r>
            <a:r>
              <a:rPr sz="280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grants</a:t>
            </a:r>
            <a:r>
              <a:rPr sz="2800" spc="-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spc="-50" dirty="0">
                <a:latin typeface="Times New Roman" panose="02020803070505020304"/>
                <a:cs typeface="Times New Roman" panose="02020803070505020304"/>
              </a:rPr>
              <a:t>a</a:t>
            </a:r>
            <a:endParaRPr sz="2800">
              <a:latin typeface="Times New Roman" panose="02020803070505020304"/>
              <a:cs typeface="Times New Roman" panose="02020803070505020304"/>
            </a:endParaRPr>
          </a:p>
          <a:p>
            <a:pPr marL="12700" marR="39370">
              <a:lnSpc>
                <a:spcPct val="90000"/>
              </a:lnSpc>
              <a:spcBef>
                <a:spcPts val="170"/>
              </a:spcBef>
            </a:pPr>
            <a:r>
              <a:rPr sz="280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2800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to</a:t>
            </a:r>
            <a:r>
              <a:rPr sz="280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280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process</a:t>
            </a:r>
            <a:r>
              <a:rPr sz="2800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if</a:t>
            </a:r>
            <a:r>
              <a:rPr sz="2800" spc="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2800" spc="-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resulting</a:t>
            </a:r>
            <a:r>
              <a:rPr sz="2800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state</a:t>
            </a:r>
            <a:r>
              <a:rPr sz="2800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280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safe.</a:t>
            </a:r>
            <a:r>
              <a:rPr sz="280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spc="-50" dirty="0">
                <a:latin typeface="Times New Roman" panose="02020803070505020304"/>
                <a:cs typeface="Times New Roman" panose="02020803070505020304"/>
              </a:rPr>
              <a:t>A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state</a:t>
            </a:r>
            <a:r>
              <a:rPr sz="2800" spc="-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280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safe</a:t>
            </a:r>
            <a:r>
              <a:rPr sz="280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if</a:t>
            </a:r>
            <a:r>
              <a:rPr sz="280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there</a:t>
            </a:r>
            <a:r>
              <a:rPr sz="2800" spc="-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280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at</a:t>
            </a:r>
            <a:r>
              <a:rPr sz="280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least</a:t>
            </a:r>
            <a:r>
              <a:rPr sz="2800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one</a:t>
            </a:r>
            <a:r>
              <a:rPr sz="280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spc="-10" dirty="0">
                <a:latin typeface="Times New Roman" panose="02020803070505020304"/>
                <a:cs typeface="Times New Roman" panose="02020803070505020304"/>
              </a:rPr>
              <a:t>execution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sequence</a:t>
            </a:r>
            <a:r>
              <a:rPr sz="2800" spc="-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that</a:t>
            </a:r>
            <a:r>
              <a:rPr sz="2800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allows</a:t>
            </a:r>
            <a:r>
              <a:rPr sz="280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all</a:t>
            </a:r>
            <a:r>
              <a:rPr sz="2800" spc="-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processes</a:t>
            </a:r>
            <a:r>
              <a:rPr sz="2800" spc="-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to</a:t>
            </a:r>
            <a:r>
              <a:rPr sz="2800" spc="-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run</a:t>
            </a:r>
            <a:r>
              <a:rPr sz="280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spc="-25" dirty="0">
                <a:latin typeface="Times New Roman" panose="02020803070505020304"/>
                <a:cs typeface="Times New Roman" panose="02020803070505020304"/>
              </a:rPr>
              <a:t>to </a:t>
            </a:r>
            <a:r>
              <a:rPr sz="2800" spc="-10" dirty="0">
                <a:latin typeface="Times New Roman" panose="02020803070505020304"/>
                <a:cs typeface="Times New Roman" panose="02020803070505020304"/>
              </a:rPr>
              <a:t>completion.</a:t>
            </a:r>
            <a:endParaRPr sz="2800">
              <a:latin typeface="Times New Roman" panose="02020803070505020304"/>
              <a:cs typeface="Times New Roman" panose="02020803070505020304"/>
            </a:endParaRPr>
          </a:p>
          <a:p>
            <a:pPr marL="12700" marR="658495">
              <a:lnSpc>
                <a:spcPts val="3030"/>
              </a:lnSpc>
              <a:spcBef>
                <a:spcPts val="40"/>
              </a:spcBef>
            </a:pPr>
            <a:r>
              <a:rPr sz="2800" b="1" dirty="0">
                <a:latin typeface="Times New Roman" panose="02020803070505020304"/>
                <a:cs typeface="Times New Roman" panose="02020803070505020304"/>
              </a:rPr>
              <a:t>Deadlock</a:t>
            </a:r>
            <a:r>
              <a:rPr sz="2800" b="1" spc="-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b="1" dirty="0">
                <a:latin typeface="Times New Roman" panose="02020803070505020304"/>
                <a:cs typeface="Times New Roman" panose="02020803070505020304"/>
              </a:rPr>
              <a:t>detection</a:t>
            </a:r>
            <a:r>
              <a:rPr sz="2800" b="1" spc="-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b="1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2800" b="1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b="1" dirty="0">
                <a:latin typeface="Times New Roman" panose="02020803070505020304"/>
                <a:cs typeface="Times New Roman" panose="02020803070505020304"/>
              </a:rPr>
              <a:t>recovery:</a:t>
            </a:r>
            <a:r>
              <a:rPr sz="2800" b="1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spc="-10" dirty="0">
                <a:latin typeface="Times New Roman" panose="02020803070505020304"/>
                <a:cs typeface="Times New Roman" panose="02020803070505020304"/>
              </a:rPr>
              <a:t>Allows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deadlocks</a:t>
            </a:r>
            <a:r>
              <a:rPr sz="2800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to</a:t>
            </a:r>
            <a:r>
              <a:rPr sz="280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form;</a:t>
            </a:r>
            <a:r>
              <a:rPr sz="2800" spc="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then</a:t>
            </a:r>
            <a:r>
              <a:rPr sz="2800" spc="-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finds</a:t>
            </a:r>
            <a:r>
              <a:rPr sz="2800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280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dirty="0">
                <a:latin typeface="Times New Roman" panose="02020803070505020304"/>
                <a:cs typeface="Times New Roman" panose="02020803070505020304"/>
              </a:rPr>
              <a:t>breaks</a:t>
            </a:r>
            <a:r>
              <a:rPr sz="2800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800" spc="-10" dirty="0">
                <a:latin typeface="Times New Roman" panose="02020803070505020304"/>
                <a:cs typeface="Times New Roman" panose="02020803070505020304"/>
              </a:rPr>
              <a:t>them.</a:t>
            </a:r>
            <a:endParaRPr sz="2800">
              <a:latin typeface="Times New Roman" panose="02020803070505020304"/>
              <a:cs typeface="Times New Roman" panose="020208030705050203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5844" y="633730"/>
            <a:ext cx="426466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dirty="0">
                <a:solidFill>
                  <a:srgbClr val="006499"/>
                </a:solidFill>
              </a:rPr>
              <a:t>Avoidance</a:t>
            </a:r>
            <a:r>
              <a:rPr sz="3200" spc="-135" dirty="0">
                <a:solidFill>
                  <a:srgbClr val="006499"/>
                </a:solidFill>
              </a:rPr>
              <a:t> </a:t>
            </a:r>
            <a:r>
              <a:rPr sz="3200" spc="-10" dirty="0">
                <a:solidFill>
                  <a:srgbClr val="006499"/>
                </a:solidFill>
              </a:rPr>
              <a:t>algorithms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74572" y="1630807"/>
            <a:ext cx="4717415" cy="1308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10"/>
              </a:spcBef>
              <a:buChar char="•"/>
              <a:tabLst>
                <a:tab pos="356870" algn="l"/>
              </a:tabLst>
            </a:pPr>
            <a:r>
              <a:rPr sz="2100" dirty="0">
                <a:latin typeface="Arial MT"/>
                <a:cs typeface="Arial MT"/>
              </a:rPr>
              <a:t>Single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instance</a:t>
            </a:r>
            <a:r>
              <a:rPr sz="2100" spc="-8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 a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resource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type</a:t>
            </a:r>
            <a:endParaRPr sz="21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2100" dirty="0">
                <a:latin typeface="Arial MT"/>
                <a:cs typeface="Arial MT"/>
              </a:rPr>
              <a:t>Use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resource-</a:t>
            </a:r>
            <a:r>
              <a:rPr sz="2100" dirty="0">
                <a:latin typeface="Arial MT"/>
                <a:cs typeface="Arial MT"/>
              </a:rPr>
              <a:t>allocation</a:t>
            </a:r>
            <a:r>
              <a:rPr sz="2100" spc="-8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graph</a:t>
            </a:r>
            <a:endParaRPr sz="2100">
              <a:latin typeface="Arial MT"/>
              <a:cs typeface="Arial MT"/>
            </a:endParaRPr>
          </a:p>
          <a:p>
            <a:pPr marL="356870" marR="30480" indent="-344805">
              <a:lnSpc>
                <a:spcPct val="100000"/>
              </a:lnSpc>
              <a:spcBef>
                <a:spcPts val="5"/>
              </a:spcBef>
              <a:buChar char="•"/>
              <a:tabLst>
                <a:tab pos="927100" algn="l"/>
              </a:tabLst>
            </a:pPr>
            <a:r>
              <a:rPr sz="2100" dirty="0">
                <a:latin typeface="Arial MT"/>
                <a:cs typeface="Arial MT"/>
              </a:rPr>
              <a:t>Multiple</a:t>
            </a:r>
            <a:r>
              <a:rPr sz="2100" spc="-8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instances</a:t>
            </a:r>
            <a:r>
              <a:rPr sz="2100" spc="-7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resource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type </a:t>
            </a:r>
            <a:r>
              <a:rPr sz="2100" spc="-20" dirty="0">
                <a:latin typeface="Arial MT"/>
                <a:cs typeface="Arial MT"/>
              </a:rPr>
              <a:t>	</a:t>
            </a:r>
            <a:r>
              <a:rPr sz="2100" dirty="0">
                <a:latin typeface="Arial MT"/>
                <a:cs typeface="Arial MT"/>
              </a:rPr>
              <a:t>Use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banker’s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algorithm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334000" y="2990870"/>
            <a:ext cx="3544823" cy="346149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8600" y="468670"/>
            <a:ext cx="8576474" cy="569178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91312" y="525788"/>
            <a:ext cx="7048500" cy="551503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1063" y="618744"/>
            <a:ext cx="7878798" cy="530696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8600" y="837116"/>
            <a:ext cx="7919550" cy="276404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497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15"/>
              </a:spcBef>
            </a:pPr>
            <a:r>
              <a:rPr spc="-25" dirty="0"/>
              <a:t>Deadlock-</a:t>
            </a:r>
            <a:r>
              <a:rPr spc="-10" dirty="0"/>
              <a:t>Avoidance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50570" y="2210765"/>
            <a:ext cx="6784340" cy="2197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245" indent="-169545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182245" algn="l"/>
              </a:tabLst>
            </a:pPr>
            <a:r>
              <a:rPr sz="2400" b="1" dirty="0">
                <a:latin typeface="Arial" panose="020B0704020202020204"/>
                <a:cs typeface="Arial" panose="020B0704020202020204"/>
              </a:rPr>
              <a:t>Banker’s</a:t>
            </a:r>
            <a:r>
              <a:rPr sz="2400" b="1" spc="30" dirty="0">
                <a:latin typeface="Arial" panose="020B0704020202020204"/>
                <a:cs typeface="Arial" panose="020B0704020202020204"/>
              </a:rPr>
              <a:t> </a:t>
            </a:r>
            <a:r>
              <a:rPr sz="2400" b="1" dirty="0">
                <a:latin typeface="Arial" panose="020B0704020202020204"/>
                <a:cs typeface="Arial" panose="020B0704020202020204"/>
              </a:rPr>
              <a:t>Algorithm</a:t>
            </a:r>
            <a:r>
              <a:rPr sz="2400" b="1" spc="-5" dirty="0">
                <a:latin typeface="Arial" panose="020B0704020202020204"/>
                <a:cs typeface="Arial" panose="020B0704020202020204"/>
              </a:rPr>
              <a:t> </a:t>
            </a:r>
            <a:r>
              <a:rPr sz="2400" b="1" dirty="0">
                <a:latin typeface="Arial" panose="020B0704020202020204"/>
                <a:cs typeface="Arial" panose="020B0704020202020204"/>
              </a:rPr>
              <a:t>for</a:t>
            </a:r>
            <a:r>
              <a:rPr sz="2400" b="1" spc="-10" dirty="0">
                <a:latin typeface="Arial" panose="020B0704020202020204"/>
                <a:cs typeface="Arial" panose="020B0704020202020204"/>
              </a:rPr>
              <a:t> </a:t>
            </a:r>
            <a:r>
              <a:rPr sz="2400" b="1" dirty="0">
                <a:latin typeface="Arial" panose="020B0704020202020204"/>
                <a:cs typeface="Arial" panose="020B0704020202020204"/>
              </a:rPr>
              <a:t>a </a:t>
            </a:r>
            <a:r>
              <a:rPr sz="2400" b="1" spc="-10" dirty="0">
                <a:latin typeface="Arial" panose="020B0704020202020204"/>
                <a:cs typeface="Arial" panose="020B0704020202020204"/>
              </a:rPr>
              <a:t>Single</a:t>
            </a:r>
            <a:endParaRPr sz="2400">
              <a:latin typeface="Arial" panose="020B0704020202020204"/>
              <a:cs typeface="Arial" panose="020B0704020202020204"/>
            </a:endParaRPr>
          </a:p>
          <a:p>
            <a:pPr marL="182880">
              <a:lnSpc>
                <a:spcPts val="2735"/>
              </a:lnSpc>
            </a:pPr>
            <a:r>
              <a:rPr sz="2400" b="1" spc="-10" dirty="0">
                <a:latin typeface="Arial" panose="020B0704020202020204"/>
                <a:cs typeface="Arial" panose="020B0704020202020204"/>
              </a:rPr>
              <a:t>Resource</a:t>
            </a:r>
            <a:endParaRPr sz="2400">
              <a:latin typeface="Arial" panose="020B0704020202020204"/>
              <a:cs typeface="Arial" panose="020B0704020202020204"/>
            </a:endParaRPr>
          </a:p>
          <a:p>
            <a:pPr marL="765810" marR="5080" algn="just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Arial MT"/>
                <a:cs typeface="Arial MT"/>
              </a:rPr>
              <a:t>Banker’s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algorithm</a:t>
            </a:r>
            <a:r>
              <a:rPr sz="2400" spc="4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considers</a:t>
            </a:r>
            <a:r>
              <a:rPr sz="2400" spc="4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request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occurs,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see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granting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leads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safe</a:t>
            </a:r>
            <a:r>
              <a:rPr sz="2400" spc="2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state,</a:t>
            </a:r>
            <a:r>
              <a:rPr sz="2400" spc="2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does,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request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granted otherwise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denied.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570" y="1236090"/>
            <a:ext cx="453898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20" dirty="0"/>
              <a:t>Banker’s</a:t>
            </a:r>
            <a:r>
              <a:rPr sz="2400" spc="-150" dirty="0"/>
              <a:t> </a:t>
            </a:r>
            <a:r>
              <a:rPr sz="2400" spc="-10" dirty="0"/>
              <a:t>Algorithm</a:t>
            </a:r>
            <a:r>
              <a:rPr sz="2400" spc="-70" dirty="0"/>
              <a:t> </a:t>
            </a:r>
            <a:r>
              <a:rPr sz="2400" dirty="0"/>
              <a:t>for</a:t>
            </a:r>
            <a:r>
              <a:rPr sz="2400" spc="-70" dirty="0"/>
              <a:t> </a:t>
            </a:r>
            <a:r>
              <a:rPr sz="2400" dirty="0"/>
              <a:t>a</a:t>
            </a:r>
            <a:r>
              <a:rPr sz="2400" spc="-15" dirty="0"/>
              <a:t> </a:t>
            </a:r>
            <a:r>
              <a:rPr sz="2400" spc="-10" dirty="0"/>
              <a:t>Single Resource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50570" y="2239213"/>
            <a:ext cx="5786755" cy="1397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82245" indent="-169545">
              <a:lnSpc>
                <a:spcPts val="1740"/>
              </a:lnSpc>
              <a:spcBef>
                <a:spcPts val="115"/>
              </a:spcBef>
              <a:buFont typeface="Arial MT"/>
              <a:buChar char="•"/>
              <a:tabLst>
                <a:tab pos="182245" algn="l"/>
              </a:tabLst>
            </a:pPr>
            <a:r>
              <a:rPr sz="1500" b="1" dirty="0">
                <a:latin typeface="Arial" panose="020B0704020202020204"/>
                <a:cs typeface="Arial" panose="020B0704020202020204"/>
              </a:rPr>
              <a:t>Banker’s</a:t>
            </a:r>
            <a:r>
              <a:rPr sz="1500" b="1" spc="125" dirty="0">
                <a:latin typeface="Arial" panose="020B0704020202020204"/>
                <a:cs typeface="Arial" panose="020B0704020202020204"/>
              </a:rPr>
              <a:t> </a:t>
            </a:r>
            <a:r>
              <a:rPr sz="1500" b="1" dirty="0">
                <a:latin typeface="Arial" panose="020B0704020202020204"/>
                <a:cs typeface="Arial" panose="020B0704020202020204"/>
              </a:rPr>
              <a:t>algorithm</a:t>
            </a:r>
            <a:r>
              <a:rPr sz="1500" b="1" spc="130" dirty="0">
                <a:latin typeface="Arial" panose="020B0704020202020204"/>
                <a:cs typeface="Arial" panose="020B0704020202020204"/>
              </a:rPr>
              <a:t> </a:t>
            </a:r>
            <a:r>
              <a:rPr sz="1500" b="1" dirty="0">
                <a:latin typeface="Arial" panose="020B0704020202020204"/>
                <a:cs typeface="Arial" panose="020B0704020202020204"/>
              </a:rPr>
              <a:t>is</a:t>
            </a:r>
            <a:r>
              <a:rPr sz="1500" b="1" spc="145" dirty="0">
                <a:latin typeface="Arial" panose="020B0704020202020204"/>
                <a:cs typeface="Arial" panose="020B0704020202020204"/>
              </a:rPr>
              <a:t> </a:t>
            </a:r>
            <a:r>
              <a:rPr sz="1500" b="1" dirty="0">
                <a:latin typeface="Arial" panose="020B0704020202020204"/>
                <a:cs typeface="Arial" panose="020B0704020202020204"/>
              </a:rPr>
              <a:t>used</a:t>
            </a:r>
            <a:r>
              <a:rPr sz="1500" b="1" spc="130" dirty="0">
                <a:latin typeface="Arial" panose="020B0704020202020204"/>
                <a:cs typeface="Arial" panose="020B0704020202020204"/>
              </a:rPr>
              <a:t> </a:t>
            </a:r>
            <a:r>
              <a:rPr sz="1500" b="1" dirty="0">
                <a:latin typeface="Arial" panose="020B0704020202020204"/>
                <a:cs typeface="Arial" panose="020B0704020202020204"/>
              </a:rPr>
              <a:t>to</a:t>
            </a:r>
            <a:r>
              <a:rPr sz="1500" b="1" spc="135" dirty="0">
                <a:latin typeface="Arial" panose="020B0704020202020204"/>
                <a:cs typeface="Arial" panose="020B0704020202020204"/>
              </a:rPr>
              <a:t> </a:t>
            </a:r>
            <a:r>
              <a:rPr sz="1500" b="1" dirty="0">
                <a:latin typeface="Arial" panose="020B0704020202020204"/>
                <a:cs typeface="Arial" panose="020B0704020202020204"/>
              </a:rPr>
              <a:t>check</a:t>
            </a:r>
            <a:r>
              <a:rPr sz="1500" b="1" spc="145" dirty="0">
                <a:latin typeface="Arial" panose="020B0704020202020204"/>
                <a:cs typeface="Arial" panose="020B0704020202020204"/>
              </a:rPr>
              <a:t> </a:t>
            </a:r>
            <a:r>
              <a:rPr sz="1500" b="1" dirty="0">
                <a:latin typeface="Arial" panose="020B0704020202020204"/>
                <a:cs typeface="Arial" panose="020B0704020202020204"/>
              </a:rPr>
              <a:t>which</a:t>
            </a:r>
            <a:r>
              <a:rPr sz="1500" b="1" spc="135" dirty="0">
                <a:latin typeface="Arial" panose="020B0704020202020204"/>
                <a:cs typeface="Arial" panose="020B0704020202020204"/>
              </a:rPr>
              <a:t> </a:t>
            </a:r>
            <a:r>
              <a:rPr sz="1500" b="1" dirty="0">
                <a:latin typeface="Arial" panose="020B0704020202020204"/>
                <a:cs typeface="Arial" panose="020B0704020202020204"/>
              </a:rPr>
              <a:t>state</a:t>
            </a:r>
            <a:r>
              <a:rPr sz="1500" b="1" spc="120" dirty="0">
                <a:latin typeface="Arial" panose="020B0704020202020204"/>
                <a:cs typeface="Arial" panose="020B0704020202020204"/>
              </a:rPr>
              <a:t> </a:t>
            </a:r>
            <a:r>
              <a:rPr sz="1500" b="1" dirty="0">
                <a:latin typeface="Arial" panose="020B0704020202020204"/>
                <a:cs typeface="Arial" panose="020B0704020202020204"/>
              </a:rPr>
              <a:t>is</a:t>
            </a:r>
            <a:r>
              <a:rPr sz="1500" b="1" spc="150" dirty="0">
                <a:latin typeface="Arial" panose="020B0704020202020204"/>
                <a:cs typeface="Arial" panose="020B0704020202020204"/>
              </a:rPr>
              <a:t> </a:t>
            </a:r>
            <a:r>
              <a:rPr sz="1500" b="1" dirty="0">
                <a:latin typeface="Arial" panose="020B0704020202020204"/>
                <a:cs typeface="Arial" panose="020B0704020202020204"/>
              </a:rPr>
              <a:t>safe</a:t>
            </a:r>
            <a:r>
              <a:rPr sz="1500" b="1" spc="140" dirty="0">
                <a:latin typeface="Arial" panose="020B0704020202020204"/>
                <a:cs typeface="Arial" panose="020B0704020202020204"/>
              </a:rPr>
              <a:t> </a:t>
            </a:r>
            <a:r>
              <a:rPr sz="1500" b="1" spc="-25" dirty="0">
                <a:latin typeface="Arial" panose="020B0704020202020204"/>
                <a:cs typeface="Arial" panose="020B0704020202020204"/>
              </a:rPr>
              <a:t>and</a:t>
            </a:r>
            <a:endParaRPr sz="1500">
              <a:latin typeface="Arial" panose="020B0704020202020204"/>
              <a:cs typeface="Arial" panose="020B0704020202020204"/>
            </a:endParaRPr>
          </a:p>
          <a:p>
            <a:pPr marL="182880">
              <a:lnSpc>
                <a:spcPts val="1740"/>
              </a:lnSpc>
            </a:pPr>
            <a:r>
              <a:rPr sz="1500" b="1" dirty="0">
                <a:latin typeface="Arial" panose="020B0704020202020204"/>
                <a:cs typeface="Arial" panose="020B0704020202020204"/>
              </a:rPr>
              <a:t>which</a:t>
            </a:r>
            <a:r>
              <a:rPr sz="1500" b="1" spc="-40" dirty="0">
                <a:latin typeface="Arial" panose="020B0704020202020204"/>
                <a:cs typeface="Arial" panose="020B0704020202020204"/>
              </a:rPr>
              <a:t> </a:t>
            </a:r>
            <a:r>
              <a:rPr sz="1500" b="1" dirty="0">
                <a:latin typeface="Arial" panose="020B0704020202020204"/>
                <a:cs typeface="Arial" panose="020B0704020202020204"/>
              </a:rPr>
              <a:t>one</a:t>
            </a:r>
            <a:r>
              <a:rPr sz="1500" b="1" spc="-25" dirty="0">
                <a:latin typeface="Arial" panose="020B0704020202020204"/>
                <a:cs typeface="Arial" panose="020B0704020202020204"/>
              </a:rPr>
              <a:t> </a:t>
            </a:r>
            <a:r>
              <a:rPr sz="1500" b="1" dirty="0">
                <a:latin typeface="Arial" panose="020B0704020202020204"/>
                <a:cs typeface="Arial" panose="020B0704020202020204"/>
              </a:rPr>
              <a:t>is</a:t>
            </a:r>
            <a:r>
              <a:rPr sz="1500" b="1" spc="-80" dirty="0">
                <a:latin typeface="Arial" panose="020B0704020202020204"/>
                <a:cs typeface="Arial" panose="020B0704020202020204"/>
              </a:rPr>
              <a:t> </a:t>
            </a:r>
            <a:r>
              <a:rPr sz="1500" b="1" spc="-10" dirty="0">
                <a:latin typeface="Arial" panose="020B0704020202020204"/>
                <a:cs typeface="Arial" panose="020B0704020202020204"/>
              </a:rPr>
              <a:t>un-safe.</a:t>
            </a:r>
            <a:endParaRPr sz="1500">
              <a:latin typeface="Arial" panose="020B0704020202020204"/>
              <a:cs typeface="Arial" panose="020B0704020202020204"/>
            </a:endParaRPr>
          </a:p>
          <a:p>
            <a:pPr marL="180975" marR="9525" indent="-168910" algn="just">
              <a:lnSpc>
                <a:spcPct val="90000"/>
              </a:lnSpc>
              <a:spcBef>
                <a:spcPts val="795"/>
              </a:spcBef>
              <a:buChar char="•"/>
              <a:tabLst>
                <a:tab pos="182880" algn="l"/>
              </a:tabLst>
            </a:pPr>
            <a:r>
              <a:rPr sz="1500" dirty="0">
                <a:latin typeface="Arial MT"/>
                <a:cs typeface="Arial MT"/>
              </a:rPr>
              <a:t>This</a:t>
            </a:r>
            <a:r>
              <a:rPr sz="1500" spc="1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state</a:t>
            </a:r>
            <a:r>
              <a:rPr sz="1500" spc="1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1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safe</a:t>
            </a:r>
            <a:r>
              <a:rPr sz="1500" spc="1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because</a:t>
            </a:r>
            <a:r>
              <a:rPr sz="1500" spc="16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with</a:t>
            </a:r>
            <a:r>
              <a:rPr sz="1500" spc="16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2</a:t>
            </a:r>
            <a:r>
              <a:rPr sz="1500" spc="1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resources</a:t>
            </a:r>
            <a:r>
              <a:rPr sz="1500" spc="1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left</a:t>
            </a:r>
            <a:r>
              <a:rPr sz="1500" spc="1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1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process</a:t>
            </a:r>
            <a:r>
              <a:rPr sz="1500" spc="12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can </a:t>
            </a:r>
            <a:r>
              <a:rPr sz="1500" spc="-25" dirty="0">
                <a:latin typeface="Arial MT"/>
                <a:cs typeface="Arial MT"/>
              </a:rPr>
              <a:t>	</a:t>
            </a:r>
            <a:r>
              <a:rPr sz="1500" dirty="0">
                <a:latin typeface="Arial MT"/>
                <a:cs typeface="Arial MT"/>
              </a:rPr>
              <a:t>delay any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requests except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C’s,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thus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letting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finish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release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all </a:t>
            </a:r>
            <a:r>
              <a:rPr sz="1500" spc="-25" dirty="0">
                <a:latin typeface="Arial MT"/>
                <a:cs typeface="Arial MT"/>
              </a:rPr>
              <a:t>	</a:t>
            </a:r>
            <a:r>
              <a:rPr sz="1500" dirty="0">
                <a:latin typeface="Arial MT"/>
                <a:cs typeface="Arial MT"/>
              </a:rPr>
              <a:t>four</a:t>
            </a:r>
            <a:r>
              <a:rPr sz="1500" spc="2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28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its</a:t>
            </a:r>
            <a:r>
              <a:rPr sz="1500" spc="28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resources.</a:t>
            </a:r>
            <a:r>
              <a:rPr sz="1500" spc="2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With</a:t>
            </a:r>
            <a:r>
              <a:rPr sz="1500" spc="2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four</a:t>
            </a:r>
            <a:r>
              <a:rPr sz="1500" spc="2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resources</a:t>
            </a:r>
            <a:r>
              <a:rPr sz="1500" spc="28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</a:t>
            </a:r>
            <a:r>
              <a:rPr sz="1500" spc="27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hand,</a:t>
            </a:r>
            <a:r>
              <a:rPr sz="1500" spc="254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27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process </a:t>
            </a:r>
            <a:r>
              <a:rPr sz="1500" spc="-10" dirty="0">
                <a:latin typeface="Arial MT"/>
                <a:cs typeface="Arial MT"/>
              </a:rPr>
              <a:t>	</a:t>
            </a:r>
            <a:r>
              <a:rPr sz="1500" dirty="0">
                <a:latin typeface="Arial MT"/>
                <a:cs typeface="Arial MT"/>
              </a:rPr>
              <a:t>can</a:t>
            </a:r>
            <a:r>
              <a:rPr sz="1500" spc="-7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let</a:t>
            </a:r>
            <a:r>
              <a:rPr sz="1500" spc="-9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either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or</a:t>
            </a:r>
            <a:r>
              <a:rPr sz="1500" spc="-10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have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 </a:t>
            </a:r>
            <a:r>
              <a:rPr sz="1500" spc="-10" dirty="0">
                <a:latin typeface="Arial MT"/>
                <a:cs typeface="Arial MT"/>
              </a:rPr>
              <a:t>necessary</a:t>
            </a:r>
            <a:r>
              <a:rPr sz="1500" spc="-1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resources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so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on.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90600" y="4069079"/>
            <a:ext cx="6129528" cy="199948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570" y="1236090"/>
            <a:ext cx="451802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20" dirty="0"/>
              <a:t>Banker’s</a:t>
            </a:r>
            <a:r>
              <a:rPr sz="2400" spc="-150" dirty="0"/>
              <a:t> </a:t>
            </a:r>
            <a:r>
              <a:rPr sz="2400" spc="-10" dirty="0"/>
              <a:t>Algorithm</a:t>
            </a:r>
            <a:r>
              <a:rPr sz="2400" spc="-90" dirty="0"/>
              <a:t> </a:t>
            </a:r>
            <a:r>
              <a:rPr sz="2400" dirty="0"/>
              <a:t>for</a:t>
            </a:r>
            <a:r>
              <a:rPr sz="2400" spc="-45" dirty="0"/>
              <a:t> </a:t>
            </a:r>
            <a:r>
              <a:rPr sz="2400" spc="-10" dirty="0"/>
              <a:t>Multiple Resources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05255" y="2218944"/>
            <a:ext cx="6022848" cy="30967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60295" y="5579161"/>
            <a:ext cx="2907665" cy="852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600"/>
              </a:lnSpc>
              <a:spcBef>
                <a:spcPts val="90"/>
              </a:spcBef>
            </a:pPr>
            <a:r>
              <a:rPr sz="1350" spc="-10" dirty="0">
                <a:latin typeface="Arial MT"/>
                <a:cs typeface="Arial MT"/>
              </a:rPr>
              <a:t>P=Possessed</a:t>
            </a:r>
            <a:r>
              <a:rPr sz="1350" spc="-75" dirty="0">
                <a:latin typeface="Arial MT"/>
                <a:cs typeface="Arial MT"/>
              </a:rPr>
              <a:t> </a:t>
            </a:r>
            <a:r>
              <a:rPr sz="1350" spc="-10" dirty="0">
                <a:latin typeface="Arial MT"/>
                <a:cs typeface="Arial MT"/>
              </a:rPr>
              <a:t>resources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ts val="1600"/>
              </a:lnSpc>
            </a:pPr>
            <a:r>
              <a:rPr sz="1350" spc="-10" dirty="0">
                <a:latin typeface="Arial MT"/>
                <a:cs typeface="Arial MT"/>
              </a:rPr>
              <a:t>E=Existing</a:t>
            </a:r>
            <a:r>
              <a:rPr sz="1350" spc="-40" dirty="0">
                <a:latin typeface="Arial MT"/>
                <a:cs typeface="Arial MT"/>
              </a:rPr>
              <a:t> </a:t>
            </a:r>
            <a:r>
              <a:rPr sz="1350" spc="-10" dirty="0">
                <a:latin typeface="Arial MT"/>
                <a:cs typeface="Arial MT"/>
              </a:rPr>
              <a:t>resources</a:t>
            </a:r>
            <a:r>
              <a:rPr sz="1350" spc="-40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(total</a:t>
            </a:r>
            <a:r>
              <a:rPr sz="1350" spc="-45" dirty="0">
                <a:latin typeface="Arial MT"/>
                <a:cs typeface="Arial MT"/>
              </a:rPr>
              <a:t> </a:t>
            </a:r>
            <a:r>
              <a:rPr sz="1350" spc="-10" dirty="0">
                <a:latin typeface="Arial MT"/>
                <a:cs typeface="Arial MT"/>
              </a:rPr>
              <a:t>resources)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ts val="1615"/>
              </a:lnSpc>
              <a:spcBef>
                <a:spcPts val="90"/>
              </a:spcBef>
            </a:pPr>
            <a:r>
              <a:rPr sz="1350" spc="-10" dirty="0">
                <a:latin typeface="Arial MT"/>
                <a:cs typeface="Arial MT"/>
              </a:rPr>
              <a:t>A=Available</a:t>
            </a:r>
            <a:r>
              <a:rPr sz="1350" spc="-70" dirty="0">
                <a:latin typeface="Arial MT"/>
                <a:cs typeface="Arial MT"/>
              </a:rPr>
              <a:t> </a:t>
            </a:r>
            <a:r>
              <a:rPr sz="1350" spc="-10" dirty="0">
                <a:latin typeface="Arial MT"/>
                <a:cs typeface="Arial MT"/>
              </a:rPr>
              <a:t>resources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ts val="1615"/>
              </a:lnSpc>
            </a:pPr>
            <a:r>
              <a:rPr sz="1350" spc="-10" dirty="0">
                <a:latin typeface="Arial MT"/>
                <a:cs typeface="Arial MT"/>
              </a:rPr>
              <a:t>Need[i][j]</a:t>
            </a:r>
            <a:r>
              <a:rPr sz="1350" spc="-85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=</a:t>
            </a:r>
            <a:r>
              <a:rPr sz="1350" spc="-95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Max[i][j]</a:t>
            </a:r>
            <a:r>
              <a:rPr sz="1350" spc="-60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-</a:t>
            </a:r>
            <a:r>
              <a:rPr sz="1350" spc="-80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Allocation</a:t>
            </a:r>
            <a:r>
              <a:rPr sz="1350" spc="90" dirty="0">
                <a:latin typeface="Arial MT"/>
                <a:cs typeface="Arial MT"/>
              </a:rPr>
              <a:t> </a:t>
            </a:r>
            <a:r>
              <a:rPr sz="1350" spc="-10" dirty="0">
                <a:latin typeface="Arial MT"/>
                <a:cs typeface="Arial MT"/>
              </a:rPr>
              <a:t>[i][j]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pc="-10" dirty="0"/>
              <a:t>ALGORITHM:</a:t>
            </a:r>
            <a:endParaRPr spc="-10" dirty="0"/>
          </a:p>
          <a:p>
            <a:pPr marL="402590" indent="-389890">
              <a:lnSpc>
                <a:spcPct val="100000"/>
              </a:lnSpc>
              <a:spcBef>
                <a:spcPts val="560"/>
              </a:spcBef>
              <a:buAutoNum type="arabicPeriod"/>
              <a:tabLst>
                <a:tab pos="402590" algn="l"/>
              </a:tabLst>
            </a:pPr>
            <a:r>
              <a:rPr dirty="0">
                <a:latin typeface="Times New Roman" panose="02020803070505020304"/>
                <a:cs typeface="Times New Roman" panose="02020803070505020304"/>
              </a:rPr>
              <a:t>If</a:t>
            </a:r>
            <a:r>
              <a:rPr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dirty="0">
                <a:latin typeface="Times New Roman" panose="02020803070505020304"/>
                <a:cs typeface="Times New Roman" panose="02020803070505020304"/>
              </a:rPr>
              <a:t>(Need[i]</a:t>
            </a:r>
            <a:r>
              <a:rPr spc="3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dirty="0">
                <a:latin typeface="Times New Roman" panose="02020803070505020304"/>
                <a:cs typeface="Times New Roman" panose="02020803070505020304"/>
              </a:rPr>
              <a:t>≤</a:t>
            </a:r>
            <a:r>
              <a:rPr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pc="-10" dirty="0">
                <a:latin typeface="Times New Roman" panose="02020803070505020304"/>
                <a:cs typeface="Times New Roman" panose="02020803070505020304"/>
              </a:rPr>
              <a:t>Available)</a:t>
            </a:r>
            <a:endParaRPr spc="-10" dirty="0">
              <a:latin typeface="Times New Roman" panose="02020803070505020304"/>
              <a:cs typeface="Times New Roman" panose="02020803070505020304"/>
            </a:endParaRPr>
          </a:p>
          <a:p>
            <a:pPr marL="698500">
              <a:lnSpc>
                <a:spcPct val="100000"/>
              </a:lnSpc>
              <a:spcBef>
                <a:spcPts val="205"/>
              </a:spcBef>
            </a:pPr>
            <a:r>
              <a:rPr sz="1800" dirty="0">
                <a:latin typeface="Times New Roman" panose="02020803070505020304"/>
                <a:cs typeface="Times New Roman" panose="02020803070505020304"/>
              </a:rPr>
              <a:t>Then</a:t>
            </a:r>
            <a:r>
              <a:rPr sz="180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Available=</a:t>
            </a:r>
            <a:r>
              <a:rPr sz="1800" spc="-1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Available</a:t>
            </a:r>
            <a:r>
              <a:rPr sz="1800" spc="-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+</a:t>
            </a:r>
            <a:r>
              <a:rPr sz="1800" spc="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Allocation[i];</a:t>
            </a:r>
            <a:endParaRPr sz="1800">
              <a:latin typeface="Times New Roman" panose="02020803070505020304"/>
              <a:cs typeface="Times New Roman" panose="02020803070505020304"/>
            </a:endParaRPr>
          </a:p>
          <a:p>
            <a:pPr marL="402590" marR="248920" indent="-390525">
              <a:lnSpc>
                <a:spcPts val="2300"/>
              </a:lnSpc>
              <a:spcBef>
                <a:spcPts val="825"/>
              </a:spcBef>
              <a:buAutoNum type="arabicPeriod" startAt="2"/>
              <a:tabLst>
                <a:tab pos="402590" algn="l"/>
              </a:tabLst>
            </a:pPr>
            <a:r>
              <a:rPr i="1" dirty="0">
                <a:latin typeface="Times New Roman" panose="02020803070505020304"/>
                <a:cs typeface="Times New Roman" panose="02020803070505020304"/>
              </a:rPr>
              <a:t>if</a:t>
            </a:r>
            <a:r>
              <a:rPr i="1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no</a:t>
            </a:r>
            <a:r>
              <a:rPr i="1" spc="-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such</a:t>
            </a:r>
            <a:r>
              <a:rPr i="1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row</a:t>
            </a:r>
            <a:r>
              <a:rPr i="1" spc="-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spc="-10" dirty="0">
                <a:latin typeface="Times New Roman" panose="02020803070505020304"/>
                <a:cs typeface="Times New Roman" panose="02020803070505020304"/>
              </a:rPr>
              <a:t>exists,</a:t>
            </a:r>
            <a:r>
              <a:rPr i="1" spc="-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we</a:t>
            </a:r>
            <a:r>
              <a:rPr i="1" spc="-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are</a:t>
            </a:r>
            <a:r>
              <a:rPr i="1" spc="-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deadlocked</a:t>
            </a:r>
            <a:r>
              <a:rPr i="1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because no</a:t>
            </a:r>
            <a:r>
              <a:rPr i="1" spc="-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spc="-10" dirty="0">
                <a:latin typeface="Times New Roman" panose="02020803070505020304"/>
                <a:cs typeface="Times New Roman" panose="02020803070505020304"/>
              </a:rPr>
              <a:t>process</a:t>
            </a:r>
            <a:r>
              <a:rPr i="1" spc="-1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spc="-25" dirty="0">
                <a:latin typeface="Times New Roman" panose="02020803070505020304"/>
                <a:cs typeface="Times New Roman" panose="02020803070505020304"/>
              </a:rPr>
              <a:t>can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acquire</a:t>
            </a:r>
            <a:r>
              <a:rPr i="1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i="1" spc="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spc="-10" dirty="0">
                <a:latin typeface="Times New Roman" panose="02020803070505020304"/>
                <a:cs typeface="Times New Roman" panose="02020803070505020304"/>
              </a:rPr>
              <a:t>resources</a:t>
            </a:r>
            <a:r>
              <a:rPr i="1" spc="-1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it</a:t>
            </a:r>
            <a:r>
              <a:rPr i="1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needs</a:t>
            </a:r>
            <a:r>
              <a:rPr i="1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to</a:t>
            </a:r>
            <a:r>
              <a:rPr i="1" spc="-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run</a:t>
            </a:r>
            <a:r>
              <a:rPr i="1" spc="-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to</a:t>
            </a:r>
            <a:r>
              <a:rPr i="1" spc="-1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spc="-10" dirty="0">
                <a:latin typeface="Times New Roman" panose="02020803070505020304"/>
                <a:cs typeface="Times New Roman" panose="02020803070505020304"/>
              </a:rPr>
              <a:t>completion.</a:t>
            </a:r>
            <a:endParaRPr i="1" spc="-10" dirty="0">
              <a:latin typeface="Times New Roman" panose="02020803070505020304"/>
              <a:cs typeface="Times New Roman" panose="02020803070505020304"/>
            </a:endParaRPr>
          </a:p>
          <a:p>
            <a:pPr marL="183515" lvl="1" indent="-170815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183515" algn="l"/>
              </a:tabLst>
            </a:pPr>
            <a:r>
              <a:rPr sz="2100" i="1" dirty="0">
                <a:latin typeface="Times New Roman" panose="02020803070505020304"/>
                <a:cs typeface="Times New Roman" panose="02020803070505020304"/>
              </a:rPr>
              <a:t>If</a:t>
            </a:r>
            <a:r>
              <a:rPr sz="2100" i="1" spc="-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i="1" dirty="0">
                <a:latin typeface="Times New Roman" panose="02020803070505020304"/>
                <a:cs typeface="Times New Roman" panose="02020803070505020304"/>
              </a:rPr>
              <a:t>there's</a:t>
            </a:r>
            <a:r>
              <a:rPr sz="2100" i="1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i="1" dirty="0">
                <a:latin typeface="Times New Roman" panose="02020803070505020304"/>
                <a:cs typeface="Times New Roman" panose="02020803070505020304"/>
              </a:rPr>
              <a:t>more</a:t>
            </a:r>
            <a:r>
              <a:rPr sz="2100" i="1" spc="-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i="1" dirty="0">
                <a:latin typeface="Times New Roman" panose="02020803070505020304"/>
                <a:cs typeface="Times New Roman" panose="02020803070505020304"/>
              </a:rPr>
              <a:t>than</a:t>
            </a:r>
            <a:r>
              <a:rPr sz="2100" i="1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i="1" dirty="0">
                <a:latin typeface="Times New Roman" panose="02020803070505020304"/>
                <a:cs typeface="Times New Roman" panose="02020803070505020304"/>
              </a:rPr>
              <a:t>one</a:t>
            </a:r>
            <a:r>
              <a:rPr sz="2100" i="1" spc="-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i="1" spc="-10" dirty="0">
                <a:latin typeface="Times New Roman" panose="02020803070505020304"/>
                <a:cs typeface="Times New Roman" panose="02020803070505020304"/>
              </a:rPr>
              <a:t>such</a:t>
            </a:r>
            <a:r>
              <a:rPr sz="2100" i="1" spc="-1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i="1" dirty="0">
                <a:latin typeface="Times New Roman" panose="02020803070505020304"/>
                <a:cs typeface="Times New Roman" panose="02020803070505020304"/>
              </a:rPr>
              <a:t>row,</a:t>
            </a:r>
            <a:r>
              <a:rPr sz="2100" i="1" spc="-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i="1" dirty="0">
                <a:latin typeface="Times New Roman" panose="02020803070505020304"/>
                <a:cs typeface="Times New Roman" panose="02020803070505020304"/>
              </a:rPr>
              <a:t>just</a:t>
            </a:r>
            <a:r>
              <a:rPr sz="2100" i="1" spc="-1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i="1" dirty="0">
                <a:latin typeface="Times New Roman" panose="02020803070505020304"/>
                <a:cs typeface="Times New Roman" panose="02020803070505020304"/>
              </a:rPr>
              <a:t>pick</a:t>
            </a:r>
            <a:r>
              <a:rPr sz="2100" i="1" spc="-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100" i="1" spc="-20" dirty="0">
                <a:latin typeface="Times New Roman" panose="02020803070505020304"/>
                <a:cs typeface="Times New Roman" panose="02020803070505020304"/>
              </a:rPr>
              <a:t>one.</a:t>
            </a:r>
            <a:endParaRPr sz="2100">
              <a:latin typeface="Times New Roman" panose="02020803070505020304"/>
              <a:cs typeface="Times New Roman" panose="02020803070505020304"/>
            </a:endParaRPr>
          </a:p>
          <a:p>
            <a:pPr marL="12700">
              <a:lnSpc>
                <a:spcPts val="2460"/>
              </a:lnSpc>
              <a:spcBef>
                <a:spcPts val="480"/>
              </a:spcBef>
            </a:pPr>
            <a:r>
              <a:rPr i="1" dirty="0">
                <a:latin typeface="Times New Roman" panose="02020803070505020304"/>
                <a:cs typeface="Times New Roman" panose="02020803070505020304"/>
              </a:rPr>
              <a:t>Repeat</a:t>
            </a:r>
            <a:r>
              <a:rPr i="1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1</a:t>
            </a:r>
            <a:r>
              <a:rPr i="1" spc="-1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i="1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2</a:t>
            </a:r>
            <a:r>
              <a:rPr i="1" spc="-10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until</a:t>
            </a:r>
            <a:r>
              <a:rPr i="1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all</a:t>
            </a:r>
            <a:r>
              <a:rPr i="1" spc="-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processes</a:t>
            </a:r>
            <a:r>
              <a:rPr i="1" spc="-114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are</a:t>
            </a:r>
            <a:r>
              <a:rPr i="1" spc="-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either</a:t>
            </a:r>
            <a:r>
              <a:rPr i="1" spc="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virtually</a:t>
            </a:r>
            <a:r>
              <a:rPr i="1" spc="-10" dirty="0">
                <a:latin typeface="Times New Roman" panose="02020803070505020304"/>
                <a:cs typeface="Times New Roman" panose="02020803070505020304"/>
              </a:rPr>
              <a:t> terminated</a:t>
            </a:r>
            <a:r>
              <a:rPr i="1" spc="-1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spc="-10" dirty="0">
                <a:latin typeface="Times New Roman" panose="02020803070505020304"/>
                <a:cs typeface="Times New Roman" panose="02020803070505020304"/>
              </a:rPr>
              <a:t>(safe</a:t>
            </a:r>
            <a:endParaRPr i="1" spc="-10" dirty="0">
              <a:latin typeface="Times New Roman" panose="02020803070505020304"/>
              <a:cs typeface="Times New Roman" panose="02020803070505020304"/>
            </a:endParaRPr>
          </a:p>
          <a:p>
            <a:pPr marL="12700">
              <a:lnSpc>
                <a:spcPts val="2460"/>
              </a:lnSpc>
            </a:pPr>
            <a:r>
              <a:rPr i="1" dirty="0">
                <a:latin typeface="Times New Roman" panose="02020803070505020304"/>
                <a:cs typeface="Times New Roman" panose="02020803070505020304"/>
              </a:rPr>
              <a:t>state),</a:t>
            </a:r>
            <a:r>
              <a:rPr i="1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or</a:t>
            </a:r>
            <a:r>
              <a:rPr i="1" spc="-1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i="1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deadlock</a:t>
            </a:r>
            <a:r>
              <a:rPr i="1" spc="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i="1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spc="-10" dirty="0">
                <a:latin typeface="Times New Roman" panose="02020803070505020304"/>
                <a:cs typeface="Times New Roman" panose="02020803070505020304"/>
              </a:rPr>
              <a:t>detected</a:t>
            </a:r>
            <a:r>
              <a:rPr i="1" spc="-1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dirty="0">
                <a:latin typeface="Times New Roman" panose="02020803070505020304"/>
                <a:cs typeface="Times New Roman" panose="02020803070505020304"/>
              </a:rPr>
              <a:t>(unsafe</a:t>
            </a:r>
            <a:r>
              <a:rPr i="1" spc="-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i="1" spc="-10" dirty="0">
                <a:latin typeface="Times New Roman" panose="02020803070505020304"/>
                <a:cs typeface="Times New Roman" panose="02020803070505020304"/>
              </a:rPr>
              <a:t>state).</a:t>
            </a:r>
            <a:endParaRPr i="1" spc="-10" dirty="0">
              <a:latin typeface="Times New Roman" panose="02020803070505020304"/>
              <a:cs typeface="Times New Roman" panose="020208030705050203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0570" y="1006805"/>
            <a:ext cx="451866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0"/>
              </a:lnSpc>
              <a:spcBef>
                <a:spcPts val="100"/>
              </a:spcBef>
            </a:pPr>
            <a:r>
              <a:rPr sz="2400" spc="-20" dirty="0"/>
              <a:t>Banker’s</a:t>
            </a:r>
            <a:r>
              <a:rPr sz="2400" spc="-145" dirty="0"/>
              <a:t> </a:t>
            </a:r>
            <a:r>
              <a:rPr sz="2400" spc="-10" dirty="0"/>
              <a:t>Algorithm</a:t>
            </a:r>
            <a:r>
              <a:rPr sz="2400" spc="-70" dirty="0"/>
              <a:t> </a:t>
            </a:r>
            <a:r>
              <a:rPr sz="2400" dirty="0"/>
              <a:t>for</a:t>
            </a:r>
            <a:r>
              <a:rPr sz="2400" spc="-35" dirty="0"/>
              <a:t> </a:t>
            </a:r>
            <a:r>
              <a:rPr sz="2400" spc="-10" dirty="0"/>
              <a:t>Multiple</a:t>
            </a:r>
            <a:endParaRPr sz="2400"/>
          </a:p>
          <a:p>
            <a:pPr marL="12700">
              <a:lnSpc>
                <a:spcPts val="2740"/>
              </a:lnSpc>
            </a:pPr>
            <a:r>
              <a:rPr sz="2400" spc="-10" dirty="0"/>
              <a:t>Resources</a:t>
            </a:r>
            <a:endParaRPr sz="2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3830"/>
              </a:lnSpc>
              <a:spcBef>
                <a:spcPts val="115"/>
              </a:spcBef>
            </a:pPr>
            <a:r>
              <a:rPr b="0" spc="-20" dirty="0">
                <a:latin typeface="Arial MT"/>
                <a:cs typeface="Arial MT"/>
              </a:rPr>
              <a:t>CLASS</a:t>
            </a:r>
            <a:r>
              <a:rPr b="0" spc="-170" dirty="0">
                <a:latin typeface="Arial MT"/>
                <a:cs typeface="Arial MT"/>
              </a:rPr>
              <a:t> </a:t>
            </a:r>
            <a:r>
              <a:rPr b="0" spc="-45" dirty="0">
                <a:latin typeface="Arial MT"/>
                <a:cs typeface="Arial MT"/>
              </a:rPr>
              <a:t>EXERCISE-</a:t>
            </a:r>
            <a:r>
              <a:rPr b="0" spc="-50" dirty="0">
                <a:latin typeface="Arial MT"/>
                <a:cs typeface="Arial MT"/>
              </a:rPr>
              <a:t>1</a:t>
            </a:r>
            <a:endParaRPr b="0" spc="-50" dirty="0">
              <a:latin typeface="Arial MT"/>
              <a:cs typeface="Arial MT"/>
            </a:endParaRPr>
          </a:p>
          <a:p>
            <a:pPr marL="12700">
              <a:lnSpc>
                <a:spcPts val="3830"/>
              </a:lnSpc>
            </a:pPr>
            <a:r>
              <a:rPr b="0" spc="-10" dirty="0">
                <a:latin typeface="Arial MT"/>
                <a:cs typeface="Arial MT"/>
              </a:rPr>
              <a:t>Find</a:t>
            </a:r>
            <a:r>
              <a:rPr b="0" spc="-280" dirty="0">
                <a:latin typeface="Arial MT"/>
                <a:cs typeface="Arial MT"/>
              </a:rPr>
              <a:t> </a:t>
            </a:r>
            <a:r>
              <a:rPr b="0" spc="-20" dirty="0">
                <a:latin typeface="Arial MT"/>
                <a:cs typeface="Arial MT"/>
              </a:rPr>
              <a:t>safe</a:t>
            </a:r>
            <a:r>
              <a:rPr b="0" spc="-22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sequence?</a:t>
            </a:r>
            <a:endParaRPr b="0" spc="-1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34183" y="2346960"/>
            <a:ext cx="4553712" cy="23652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15054" y="1953259"/>
            <a:ext cx="142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Total=[10,5,7]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288" y="531061"/>
            <a:ext cx="9076944" cy="551298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847" y="702386"/>
            <a:ext cx="2049780" cy="10337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5"/>
              </a:spcBef>
            </a:pPr>
            <a:r>
              <a:rPr b="0" spc="-10" dirty="0">
                <a:latin typeface="Arial MT"/>
                <a:cs typeface="Arial MT"/>
              </a:rPr>
              <a:t>Class </a:t>
            </a:r>
            <a:r>
              <a:rPr b="0" spc="-35" dirty="0">
                <a:latin typeface="Arial MT"/>
                <a:cs typeface="Arial MT"/>
              </a:rPr>
              <a:t>Exercise:</a:t>
            </a:r>
            <a:r>
              <a:rPr b="0" spc="-175" dirty="0">
                <a:latin typeface="Arial MT"/>
                <a:cs typeface="Arial MT"/>
              </a:rPr>
              <a:t> </a:t>
            </a:r>
            <a:r>
              <a:rPr b="0" spc="-50" dirty="0">
                <a:latin typeface="Arial MT"/>
                <a:cs typeface="Arial MT"/>
              </a:rPr>
              <a:t>2</a:t>
            </a:r>
            <a:endParaRPr b="0" spc="-50" dirty="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169664" y="2203704"/>
            <a:ext cx="4017645" cy="2987040"/>
            <a:chOff x="4169664" y="2203704"/>
            <a:chExt cx="4017645" cy="298704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69664" y="2203704"/>
              <a:ext cx="4017264" cy="26060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4312" y="4590288"/>
              <a:ext cx="2264664" cy="60045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07847" y="2468626"/>
            <a:ext cx="32080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 indent="-237490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250190" algn="l"/>
              </a:tabLst>
            </a:pPr>
            <a:r>
              <a:rPr sz="1800" spc="-35" dirty="0">
                <a:latin typeface="Times New Roman" panose="02020803070505020304"/>
                <a:cs typeface="Times New Roman" panose="02020803070505020304"/>
              </a:rPr>
              <a:t>Total</a:t>
            </a:r>
            <a:r>
              <a:rPr sz="1800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Matrix?</a:t>
            </a:r>
            <a:endParaRPr sz="1800">
              <a:latin typeface="Times New Roman" panose="02020803070505020304"/>
              <a:cs typeface="Times New Roman" panose="02020803070505020304"/>
            </a:endParaRPr>
          </a:p>
          <a:p>
            <a:pPr marL="250190" indent="-237490">
              <a:lnSpc>
                <a:spcPct val="100000"/>
              </a:lnSpc>
              <a:buAutoNum type="arabicPlain"/>
              <a:tabLst>
                <a:tab pos="250190" algn="l"/>
              </a:tabLst>
            </a:pPr>
            <a:r>
              <a:rPr sz="1800" dirty="0">
                <a:latin typeface="Times New Roman" panose="02020803070505020304"/>
                <a:cs typeface="Times New Roman" panose="02020803070505020304"/>
              </a:rPr>
              <a:t>MAX</a:t>
            </a:r>
            <a:r>
              <a:rPr sz="1800" spc="-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matrix</a:t>
            </a:r>
            <a:r>
              <a:rPr sz="1800" spc="-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for</a:t>
            </a:r>
            <a:r>
              <a:rPr sz="180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each</a:t>
            </a:r>
            <a:r>
              <a:rPr sz="180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process</a:t>
            </a:r>
            <a:endParaRPr sz="1800">
              <a:latin typeface="Times New Roman" panose="02020803070505020304"/>
              <a:cs typeface="Times New Roman" panose="02020803070505020304"/>
            </a:endParaRPr>
          </a:p>
          <a:p>
            <a:pPr marL="250190" indent="-237490">
              <a:lnSpc>
                <a:spcPct val="100000"/>
              </a:lnSpc>
              <a:buAutoNum type="arabicPlain"/>
              <a:tabLst>
                <a:tab pos="250190" algn="l"/>
              </a:tabLst>
            </a:pPr>
            <a:r>
              <a:rPr sz="1800" dirty="0">
                <a:latin typeface="Times New Roman" panose="02020803070505020304"/>
                <a:cs typeface="Times New Roman" panose="02020803070505020304"/>
              </a:rPr>
              <a:t>If</a:t>
            </a:r>
            <a:r>
              <a:rPr sz="1800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any</a:t>
            </a:r>
            <a:r>
              <a:rPr sz="1800" spc="-1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safe</a:t>
            </a:r>
            <a:r>
              <a:rPr sz="1800" spc="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sequence</a:t>
            </a:r>
            <a:r>
              <a:rPr sz="1800" spc="-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exist?</a:t>
            </a:r>
            <a:r>
              <a:rPr sz="1800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20" dirty="0">
                <a:latin typeface="Times New Roman" panose="02020803070505020304"/>
                <a:cs typeface="Times New Roman" panose="02020803070505020304"/>
              </a:rPr>
              <a:t>Find.</a:t>
            </a:r>
            <a:endParaRPr sz="1800">
              <a:latin typeface="Times New Roman" panose="02020803070505020304"/>
              <a:cs typeface="Times New Roman" panose="020208030705050203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847" y="303987"/>
            <a:ext cx="5036820" cy="5308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b="0" spc="-25" dirty="0">
                <a:latin typeface="Arial MT"/>
                <a:cs typeface="Arial MT"/>
              </a:rPr>
              <a:t>Sample</a:t>
            </a:r>
            <a:r>
              <a:rPr b="0" spc="-195" dirty="0">
                <a:latin typeface="Arial MT"/>
                <a:cs typeface="Arial MT"/>
              </a:rPr>
              <a:t> </a:t>
            </a:r>
            <a:r>
              <a:rPr b="0" spc="-60" dirty="0">
                <a:latin typeface="Arial MT"/>
                <a:cs typeface="Arial MT"/>
              </a:rPr>
              <a:t>Question-</a:t>
            </a:r>
            <a:r>
              <a:rPr b="0" dirty="0">
                <a:latin typeface="Arial MT"/>
                <a:cs typeface="Arial MT"/>
              </a:rPr>
              <a:t>1</a:t>
            </a:r>
            <a:r>
              <a:rPr b="0" spc="6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with</a:t>
            </a:r>
            <a:r>
              <a:rPr b="0" spc="-100" dirty="0">
                <a:latin typeface="Arial MT"/>
                <a:cs typeface="Arial MT"/>
              </a:rPr>
              <a:t> </a:t>
            </a:r>
            <a:r>
              <a:rPr b="0" spc="-25" dirty="0">
                <a:latin typeface="Arial MT"/>
                <a:cs typeface="Arial MT"/>
              </a:rPr>
              <a:t>sol</a:t>
            </a:r>
            <a:endParaRPr b="0" spc="-25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6419" y="1079703"/>
            <a:ext cx="7658734" cy="79438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>
              <a:lnSpc>
                <a:spcPts val="1940"/>
              </a:lnSpc>
              <a:spcBef>
                <a:spcPts val="350"/>
              </a:spcBef>
            </a:pPr>
            <a:r>
              <a:rPr sz="1800" dirty="0">
                <a:latin typeface="Times New Roman" panose="02020803070505020304"/>
                <a:cs typeface="Times New Roman" panose="02020803070505020304"/>
              </a:rPr>
              <a:t>Consider</a:t>
            </a:r>
            <a:r>
              <a:rPr sz="180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800" spc="-1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following</a:t>
            </a:r>
            <a:r>
              <a:rPr sz="1800" spc="10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snapshot</a:t>
            </a:r>
            <a:r>
              <a:rPr sz="1800" spc="-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of</a:t>
            </a:r>
            <a:r>
              <a:rPr sz="1800" spc="-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180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system</a:t>
            </a:r>
            <a:r>
              <a:rPr sz="1800" spc="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in</a:t>
            </a:r>
            <a:r>
              <a:rPr sz="180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which</a:t>
            </a:r>
            <a:r>
              <a:rPr sz="1800" spc="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five</a:t>
            </a:r>
            <a:r>
              <a:rPr sz="1800" spc="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resources</a:t>
            </a:r>
            <a:r>
              <a:rPr sz="1800" spc="-114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A, B,</a:t>
            </a:r>
            <a:r>
              <a:rPr sz="1800" spc="-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C,</a:t>
            </a:r>
            <a:r>
              <a:rPr sz="1800" spc="-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D</a:t>
            </a:r>
            <a:r>
              <a:rPr sz="1800" spc="-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25" dirty="0">
                <a:latin typeface="Times New Roman" panose="02020803070505020304"/>
                <a:cs typeface="Times New Roman" panose="02020803070505020304"/>
              </a:rPr>
              <a:t>and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E</a:t>
            </a:r>
            <a:r>
              <a:rPr sz="1800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are</a:t>
            </a:r>
            <a:r>
              <a:rPr sz="1800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available.</a:t>
            </a:r>
            <a:r>
              <a:rPr sz="180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800" spc="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system</a:t>
            </a:r>
            <a:r>
              <a:rPr sz="180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contains</a:t>
            </a:r>
            <a:r>
              <a:rPr sz="1800" spc="-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 total</a:t>
            </a:r>
            <a:r>
              <a:rPr sz="1800" spc="-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of</a:t>
            </a:r>
            <a:r>
              <a:rPr sz="180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2</a:t>
            </a:r>
            <a:r>
              <a:rPr sz="180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instances</a:t>
            </a:r>
            <a:r>
              <a:rPr sz="1800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of</a:t>
            </a:r>
            <a:r>
              <a:rPr sz="1800" spc="-1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A,</a:t>
            </a:r>
            <a:r>
              <a:rPr sz="1800" spc="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1</a:t>
            </a:r>
            <a:r>
              <a:rPr sz="1800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of</a:t>
            </a:r>
            <a:r>
              <a:rPr sz="1800" spc="-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800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B,</a:t>
            </a:r>
            <a:r>
              <a:rPr sz="180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50" dirty="0">
                <a:latin typeface="Times New Roman" panose="02020803070505020304"/>
                <a:cs typeface="Times New Roman" panose="02020803070505020304"/>
              </a:rPr>
              <a:t>1</a:t>
            </a:r>
            <a:r>
              <a:rPr sz="1800" spc="5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of</a:t>
            </a:r>
            <a:r>
              <a:rPr sz="180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800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C, 2</a:t>
            </a:r>
            <a:r>
              <a:rPr sz="180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800" spc="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D</a:t>
            </a:r>
            <a:r>
              <a:rPr sz="180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80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1</a:t>
            </a:r>
            <a:r>
              <a:rPr sz="180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of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800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25" dirty="0">
                <a:latin typeface="Times New Roman" panose="02020803070505020304"/>
                <a:cs typeface="Times New Roman" panose="02020803070505020304"/>
              </a:rPr>
              <a:t>E.</a:t>
            </a:r>
            <a:endParaRPr sz="1800">
              <a:latin typeface="Times New Roman" panose="02020803070505020304"/>
              <a:cs typeface="Times New Roman" panose="020208030705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6419" y="4308526"/>
            <a:ext cx="7594600" cy="192278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dirty="0">
                <a:latin typeface="Times New Roman" panose="02020803070505020304"/>
                <a:cs typeface="Times New Roman" panose="02020803070505020304"/>
              </a:rPr>
              <a:t>Do</a:t>
            </a:r>
            <a:r>
              <a:rPr sz="1800" spc="-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800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following</a:t>
            </a:r>
            <a:r>
              <a:rPr sz="1800" spc="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problems:</a:t>
            </a:r>
            <a:endParaRPr sz="1800">
              <a:latin typeface="Times New Roman" panose="02020803070505020304"/>
              <a:cs typeface="Times New Roman" panose="02020803070505020304"/>
            </a:endParaRPr>
          </a:p>
          <a:p>
            <a:pPr marL="182880" indent="-170180">
              <a:lnSpc>
                <a:spcPct val="100000"/>
              </a:lnSpc>
              <a:spcBef>
                <a:spcPts val="510"/>
              </a:spcBef>
              <a:buFont typeface="Arial MT"/>
              <a:buChar char="•"/>
              <a:tabLst>
                <a:tab pos="182880" algn="l"/>
              </a:tabLst>
            </a:pPr>
            <a:r>
              <a:rPr sz="1800" dirty="0">
                <a:latin typeface="Times New Roman" panose="02020803070505020304"/>
                <a:cs typeface="Times New Roman" panose="02020803070505020304"/>
              </a:rPr>
              <a:t>Convert</a:t>
            </a:r>
            <a:r>
              <a:rPr sz="1800" spc="-1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this</a:t>
            </a:r>
            <a:r>
              <a:rPr sz="180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matrix</a:t>
            </a:r>
            <a:r>
              <a:rPr sz="180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representation</a:t>
            </a:r>
            <a:r>
              <a:rPr sz="1800" spc="-10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to</a:t>
            </a:r>
            <a:r>
              <a:rPr sz="1800" spc="-1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1800" spc="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800" spc="-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800" spc="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graph.</a:t>
            </a:r>
            <a:endParaRPr sz="1800">
              <a:latin typeface="Times New Roman" panose="02020803070505020304"/>
              <a:cs typeface="Times New Roman" panose="02020803070505020304"/>
            </a:endParaRPr>
          </a:p>
          <a:p>
            <a:pPr marL="182880" indent="-170180">
              <a:lnSpc>
                <a:spcPts val="2075"/>
              </a:lnSpc>
              <a:spcBef>
                <a:spcPts val="740"/>
              </a:spcBef>
              <a:buFont typeface="Arial MT"/>
              <a:buChar char="•"/>
              <a:tabLst>
                <a:tab pos="182880" algn="l"/>
              </a:tabLst>
            </a:pPr>
            <a:r>
              <a:rPr sz="1800" dirty="0">
                <a:latin typeface="Times New Roman" panose="02020803070505020304"/>
                <a:cs typeface="Times New Roman" panose="02020803070505020304"/>
              </a:rPr>
              <a:t>Use</a:t>
            </a:r>
            <a:r>
              <a:rPr sz="1800" spc="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80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deadlock</a:t>
            </a:r>
            <a:r>
              <a:rPr sz="1800" spc="-1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detection</a:t>
            </a:r>
            <a:r>
              <a:rPr sz="1800" spc="-1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algorithm</a:t>
            </a:r>
            <a:r>
              <a:rPr sz="1800" spc="1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to</a:t>
            </a:r>
            <a:r>
              <a:rPr sz="1800" spc="-1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determine</a:t>
            </a:r>
            <a:r>
              <a:rPr sz="1800" spc="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whether</a:t>
            </a:r>
            <a:r>
              <a:rPr sz="1800" spc="-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800" spc="-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system</a:t>
            </a:r>
            <a:r>
              <a:rPr sz="180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contains</a:t>
            </a:r>
            <a:r>
              <a:rPr sz="1800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50" dirty="0">
                <a:latin typeface="Times New Roman" panose="02020803070505020304"/>
                <a:cs typeface="Times New Roman" panose="02020803070505020304"/>
              </a:rPr>
              <a:t>a</a:t>
            </a:r>
            <a:endParaRPr sz="1800">
              <a:latin typeface="Times New Roman" panose="02020803070505020304"/>
              <a:cs typeface="Times New Roman" panose="02020803070505020304"/>
            </a:endParaRPr>
          </a:p>
          <a:p>
            <a:pPr marL="182880">
              <a:lnSpc>
                <a:spcPts val="2075"/>
              </a:lnSpc>
            </a:pP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deadlock.</a:t>
            </a:r>
            <a:r>
              <a:rPr sz="1800" spc="-114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Which</a:t>
            </a:r>
            <a:r>
              <a:rPr sz="180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processes</a:t>
            </a:r>
            <a:r>
              <a:rPr sz="1800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are</a:t>
            </a:r>
            <a:r>
              <a:rPr sz="1800" spc="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involved</a:t>
            </a:r>
            <a:r>
              <a:rPr sz="180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in</a:t>
            </a:r>
            <a:r>
              <a:rPr sz="1800" spc="-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80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deadlock?</a:t>
            </a:r>
            <a:endParaRPr sz="1800">
              <a:latin typeface="Times New Roman" panose="02020803070505020304"/>
              <a:cs typeface="Times New Roman" panose="02020803070505020304"/>
            </a:endParaRPr>
          </a:p>
          <a:p>
            <a:pPr marL="182880" indent="-170180">
              <a:lnSpc>
                <a:spcPts val="2030"/>
              </a:lnSpc>
              <a:spcBef>
                <a:spcPts val="650"/>
              </a:spcBef>
              <a:buFont typeface="Arial MT"/>
              <a:buChar char="•"/>
              <a:tabLst>
                <a:tab pos="182880" algn="l"/>
              </a:tabLst>
            </a:pPr>
            <a:r>
              <a:rPr sz="1800" dirty="0">
                <a:latin typeface="Times New Roman" panose="02020803070505020304"/>
                <a:cs typeface="Times New Roman" panose="02020803070505020304"/>
              </a:rPr>
              <a:t>While</a:t>
            </a:r>
            <a:r>
              <a:rPr sz="1800" spc="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you are</a:t>
            </a:r>
            <a:r>
              <a:rPr sz="1800" spc="-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use</a:t>
            </a:r>
            <a:r>
              <a:rPr sz="180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800" spc="-1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deadlock</a:t>
            </a:r>
            <a:r>
              <a:rPr sz="180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detection</a:t>
            </a:r>
            <a:r>
              <a:rPr sz="1800" spc="-1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algorithm,</a:t>
            </a:r>
            <a:r>
              <a:rPr sz="1800" spc="1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add</a:t>
            </a:r>
            <a:r>
              <a:rPr sz="1800" spc="-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80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remove</a:t>
            </a:r>
            <a:r>
              <a:rPr sz="1800" spc="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directed</a:t>
            </a:r>
            <a:endParaRPr sz="1800">
              <a:latin typeface="Times New Roman" panose="02020803070505020304"/>
              <a:cs typeface="Times New Roman" panose="02020803070505020304"/>
            </a:endParaRPr>
          </a:p>
          <a:p>
            <a:pPr marL="182880">
              <a:lnSpc>
                <a:spcPts val="2030"/>
              </a:lnSpc>
            </a:pPr>
            <a:r>
              <a:rPr sz="1800" dirty="0">
                <a:latin typeface="Times New Roman" panose="02020803070505020304"/>
                <a:cs typeface="Times New Roman" panose="02020803070505020304"/>
              </a:rPr>
              <a:t>edges</a:t>
            </a:r>
            <a:r>
              <a:rPr sz="1800" spc="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of</a:t>
            </a:r>
            <a:r>
              <a:rPr sz="180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800" spc="-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re-</a:t>
            </a:r>
            <a:r>
              <a:rPr sz="180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source</a:t>
            </a:r>
            <a:r>
              <a:rPr sz="1800" spc="-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800" spc="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graph.</a:t>
            </a:r>
            <a:endParaRPr sz="1800">
              <a:latin typeface="Times New Roman" panose="02020803070505020304"/>
              <a:cs typeface="Times New Roman" panose="0202080307050502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84503" y="2282951"/>
            <a:ext cx="6342888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039" y="338708"/>
            <a:ext cx="4034790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1.Answer:</a:t>
            </a:r>
            <a:r>
              <a:rPr sz="1100" spc="-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corresponding</a:t>
            </a:r>
            <a:r>
              <a:rPr sz="1100" spc="-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resource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allocation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graph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shown below: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90344" y="1057655"/>
            <a:ext cx="4632959" cy="33680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42033" y="4768341"/>
            <a:ext cx="420052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1.Note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-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red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dashed-</a:t>
            </a:r>
            <a:r>
              <a:rPr sz="1100" spc="-10" dirty="0">
                <a:latin typeface="Arial MT"/>
                <a:cs typeface="Arial MT"/>
              </a:rPr>
              <a:t>lined</a:t>
            </a:r>
            <a:r>
              <a:rPr sz="1100" spc="-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arrows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indicate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unsatisfied “requests”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6652" y="304291"/>
            <a:ext cx="8802370" cy="739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5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Currently,</a:t>
            </a:r>
            <a:r>
              <a:rPr sz="1550" spc="1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because</a:t>
            </a:r>
            <a:r>
              <a:rPr sz="1550" spc="1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P0′s</a:t>
            </a:r>
            <a:r>
              <a:rPr sz="1550" spc="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Request=[0,1,0,0,1]≤Available=[2,1,1,2,1],we</a:t>
            </a:r>
            <a:r>
              <a:rPr sz="1550" spc="3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run</a:t>
            </a:r>
            <a:r>
              <a:rPr sz="1550" spc="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P0</a:t>
            </a:r>
            <a:r>
              <a:rPr sz="1550" spc="-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1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reclaim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its</a:t>
            </a:r>
            <a:r>
              <a:rPr sz="1550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Allocation,</a:t>
            </a:r>
            <a:r>
              <a:rPr sz="1550" spc="1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25" dirty="0">
                <a:latin typeface="Times New Roman" panose="02020803070505020304"/>
                <a:cs typeface="Times New Roman" panose="02020803070505020304"/>
              </a:rPr>
              <a:t>and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new</a:t>
            </a:r>
            <a:r>
              <a:rPr sz="1550" spc="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550" spc="2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=</a:t>
            </a:r>
            <a:r>
              <a:rPr sz="155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Old</a:t>
            </a:r>
            <a:r>
              <a:rPr sz="155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550" spc="2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+</a:t>
            </a:r>
            <a:r>
              <a:rPr sz="1550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Available</a:t>
            </a:r>
            <a:r>
              <a:rPr sz="1550" spc="30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=</a:t>
            </a:r>
            <a:r>
              <a:rPr sz="155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[1,</a:t>
            </a:r>
            <a:r>
              <a:rPr sz="1550" spc="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0,</a:t>
            </a:r>
            <a:r>
              <a:rPr sz="155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1,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1,</a:t>
            </a:r>
            <a:r>
              <a:rPr sz="1550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0]</a:t>
            </a:r>
            <a:r>
              <a:rPr sz="155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+</a:t>
            </a:r>
            <a:r>
              <a:rPr sz="1550" spc="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[2,</a:t>
            </a:r>
            <a:r>
              <a:rPr sz="1550" spc="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1,</a:t>
            </a:r>
            <a:r>
              <a:rPr sz="155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1,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2,</a:t>
            </a:r>
            <a:r>
              <a:rPr sz="155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1]</a:t>
            </a:r>
            <a:r>
              <a:rPr sz="155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=</a:t>
            </a:r>
            <a:r>
              <a:rPr sz="155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[3,</a:t>
            </a:r>
            <a:r>
              <a:rPr sz="1550" spc="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1,</a:t>
            </a:r>
            <a:r>
              <a:rPr sz="155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2,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3,</a:t>
            </a:r>
            <a:r>
              <a:rPr sz="155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1].</a:t>
            </a:r>
            <a:r>
              <a:rPr sz="155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25" dirty="0">
                <a:latin typeface="Times New Roman" panose="02020803070505020304"/>
                <a:cs typeface="Times New Roman" panose="02020803070505020304"/>
              </a:rPr>
              <a:t>new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matrix</a:t>
            </a:r>
            <a:r>
              <a:rPr sz="1550" spc="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representation</a:t>
            </a:r>
            <a:r>
              <a:rPr sz="1550" spc="2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becomes:</a:t>
            </a:r>
            <a:endParaRPr sz="1550">
              <a:latin typeface="Times New Roman" panose="02020803070505020304"/>
              <a:cs typeface="Times New Roman" panose="020208030705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14983" y="1347216"/>
            <a:ext cx="6650735" cy="15057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0847" y="3064255"/>
            <a:ext cx="8728075" cy="84264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2140"/>
              </a:lnSpc>
              <a:spcBef>
                <a:spcPts val="185"/>
              </a:spcBef>
            </a:pPr>
            <a:r>
              <a:rPr sz="1800" dirty="0">
                <a:latin typeface="Times New Roman" panose="02020803070505020304"/>
                <a:cs typeface="Times New Roman" panose="02020803070505020304"/>
              </a:rPr>
              <a:t>For</a:t>
            </a:r>
            <a:r>
              <a:rPr sz="180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800" spc="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550" spc="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800" spc="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graph,</a:t>
            </a:r>
            <a:r>
              <a:rPr sz="180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because</a:t>
            </a:r>
            <a:r>
              <a:rPr sz="1800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all</a:t>
            </a:r>
            <a:r>
              <a:rPr sz="1800" spc="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resources</a:t>
            </a:r>
            <a:r>
              <a:rPr sz="180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allocated</a:t>
            </a:r>
            <a:r>
              <a:rPr sz="1800" spc="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to</a:t>
            </a:r>
            <a:r>
              <a:rPr sz="1800" spc="-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P0</a:t>
            </a:r>
            <a:r>
              <a:rPr sz="180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are</a:t>
            </a:r>
            <a:r>
              <a:rPr sz="1800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returned</a:t>
            </a:r>
            <a:r>
              <a:rPr sz="1800" spc="-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80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P0</a:t>
            </a:r>
            <a:r>
              <a:rPr sz="1800" spc="-114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25" dirty="0">
                <a:latin typeface="Times New Roman" panose="02020803070505020304"/>
                <a:cs typeface="Times New Roman" panose="02020803070505020304"/>
              </a:rPr>
              <a:t>has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no</a:t>
            </a:r>
            <a:r>
              <a:rPr sz="1800" spc="-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new</a:t>
            </a:r>
            <a:r>
              <a:rPr sz="1800" spc="-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request</a:t>
            </a:r>
            <a:r>
              <a:rPr sz="1800" spc="-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(so</a:t>
            </a:r>
            <a:r>
              <a:rPr sz="1800" spc="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far),</a:t>
            </a:r>
            <a:r>
              <a:rPr sz="1800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80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new</a:t>
            </a:r>
            <a:r>
              <a:rPr sz="1800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graph</a:t>
            </a:r>
            <a:r>
              <a:rPr sz="180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1800" spc="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obtained</a:t>
            </a:r>
            <a:r>
              <a:rPr sz="1800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by</a:t>
            </a:r>
            <a:r>
              <a:rPr sz="180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removing</a:t>
            </a:r>
            <a:r>
              <a:rPr sz="1800" spc="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all</a:t>
            </a:r>
            <a:r>
              <a:rPr sz="1800" spc="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request</a:t>
            </a:r>
            <a:r>
              <a:rPr sz="1800" spc="-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edges</a:t>
            </a:r>
            <a:r>
              <a:rPr sz="180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80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allocation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edges as</a:t>
            </a:r>
            <a:r>
              <a:rPr sz="1800" spc="-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dirty="0">
                <a:latin typeface="Times New Roman" panose="02020803070505020304"/>
                <a:cs typeface="Times New Roman" panose="02020803070505020304"/>
              </a:rPr>
              <a:t>shown</a:t>
            </a:r>
            <a:r>
              <a:rPr sz="180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800" spc="-10" dirty="0">
                <a:latin typeface="Times New Roman" panose="02020803070505020304"/>
                <a:cs typeface="Times New Roman" panose="02020803070505020304"/>
              </a:rPr>
              <a:t>below:</a:t>
            </a:r>
            <a:endParaRPr sz="1800">
              <a:latin typeface="Times New Roman" panose="02020803070505020304"/>
              <a:cs typeface="Times New Roman" panose="0202080307050502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5351" y="4206240"/>
            <a:ext cx="3291840" cy="24079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3883" y="226517"/>
            <a:ext cx="8465185" cy="7550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Now,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we</a:t>
            </a:r>
            <a:r>
              <a:rPr sz="1550" spc="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have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P1′s</a:t>
            </a:r>
            <a:r>
              <a:rPr sz="1550" spc="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Request</a:t>
            </a:r>
            <a:r>
              <a:rPr sz="1550" spc="1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=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[0,0,1,0,1]</a:t>
            </a:r>
            <a:r>
              <a:rPr sz="1550" spc="-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≤</a:t>
            </a:r>
            <a:r>
              <a:rPr sz="1550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Available</a:t>
            </a:r>
            <a:r>
              <a:rPr sz="1550" spc="2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=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[3,1,2,3,1].</a:t>
            </a:r>
            <a:r>
              <a:rPr sz="1550" spc="-1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We</a:t>
            </a:r>
            <a:r>
              <a:rPr sz="1550" spc="1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can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run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P1,</a:t>
            </a:r>
            <a:r>
              <a:rPr sz="1550" spc="-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reclaim</a:t>
            </a: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its</a:t>
            </a:r>
            <a:r>
              <a:rPr sz="1550" spc="-1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Allocation=[1,1,0,0,0].</a:t>
            </a:r>
            <a:r>
              <a:rPr sz="1550" spc="1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1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new</a:t>
            </a:r>
            <a:r>
              <a:rPr sz="1550" spc="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Available=[3,1,2,3,1]+P′s</a:t>
            </a:r>
            <a:r>
              <a:rPr sz="1550" spc="2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Allocation=[1,1,0,0,0]=</a:t>
            </a:r>
            <a:r>
              <a:rPr sz="1550" spc="1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[4,</a:t>
            </a:r>
            <a:r>
              <a:rPr sz="1550" spc="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2,</a:t>
            </a:r>
            <a:r>
              <a:rPr sz="1550" spc="-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2,</a:t>
            </a:r>
            <a:r>
              <a:rPr sz="1550" spc="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3,</a:t>
            </a:r>
            <a:r>
              <a:rPr sz="1550" spc="-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1].</a:t>
            </a:r>
            <a:r>
              <a:rPr sz="1550" spc="-10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As</a:t>
            </a:r>
            <a:r>
              <a:rPr sz="1550" spc="1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50" dirty="0">
                <a:latin typeface="Times New Roman" panose="02020803070505020304"/>
                <a:cs typeface="Times New Roman" panose="02020803070505020304"/>
              </a:rPr>
              <a:t>a</a:t>
            </a: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result,</a:t>
            </a:r>
            <a:r>
              <a:rPr sz="1550" spc="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new</a:t>
            </a:r>
            <a:r>
              <a:rPr sz="1550" spc="10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matrix</a:t>
            </a:r>
            <a:r>
              <a:rPr sz="1550" spc="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representation</a:t>
            </a:r>
            <a:r>
              <a:rPr sz="1550" spc="2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25" dirty="0">
                <a:latin typeface="Times New Roman" panose="02020803070505020304"/>
                <a:cs typeface="Times New Roman" panose="02020803070505020304"/>
              </a:rPr>
              <a:t>is:</a:t>
            </a:r>
            <a:endParaRPr sz="1550">
              <a:latin typeface="Times New Roman" panose="02020803070505020304"/>
              <a:cs typeface="Times New Roman" panose="020208030705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74063" y="1036319"/>
            <a:ext cx="6419088" cy="14325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7042" y="2994101"/>
            <a:ext cx="551942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By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removing</a:t>
            </a:r>
            <a:r>
              <a:rPr sz="1550" spc="1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edges</a:t>
            </a:r>
            <a:r>
              <a:rPr sz="1550" spc="1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of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P1</a:t>
            </a:r>
            <a:r>
              <a:rPr sz="155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yields</a:t>
            </a:r>
            <a:r>
              <a:rPr sz="1550" spc="2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1550" spc="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new</a:t>
            </a:r>
            <a:r>
              <a:rPr sz="1550" spc="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550" spc="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graph:</a:t>
            </a:r>
            <a:endParaRPr sz="1550">
              <a:latin typeface="Times New Roman" panose="02020803070505020304"/>
              <a:cs typeface="Times New Roman" panose="0202080307050502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5767" y="3563111"/>
            <a:ext cx="3816096" cy="275234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1827" y="342138"/>
            <a:ext cx="690181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Next,</a:t>
            </a:r>
            <a:r>
              <a:rPr sz="1550" spc="1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we</a:t>
            </a:r>
            <a:r>
              <a:rPr sz="1550" spc="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run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P2</a:t>
            </a:r>
            <a:r>
              <a:rPr sz="1550" spc="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new matrix</a:t>
            </a:r>
            <a:r>
              <a:rPr sz="1550" spc="1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representation</a:t>
            </a:r>
            <a:r>
              <a:rPr sz="1550" spc="1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1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55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550" spc="1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graph</a:t>
            </a:r>
            <a:r>
              <a:rPr sz="1550" spc="1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20" dirty="0">
                <a:latin typeface="Times New Roman" panose="02020803070505020304"/>
                <a:cs typeface="Times New Roman" panose="02020803070505020304"/>
              </a:rPr>
              <a:t>are:</a:t>
            </a:r>
            <a:endParaRPr sz="1550">
              <a:latin typeface="Times New Roman" panose="02020803070505020304"/>
              <a:cs typeface="Times New Roman" panose="020208030705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71016" y="792480"/>
            <a:ext cx="5986272" cy="13502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2360" y="2543936"/>
            <a:ext cx="607758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Removing</a:t>
            </a:r>
            <a:r>
              <a:rPr sz="1550" spc="1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</a:t>
            </a:r>
            <a:r>
              <a:rPr sz="1550" spc="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edges</a:t>
            </a:r>
            <a:r>
              <a:rPr sz="1550" spc="1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from</a:t>
            </a:r>
            <a:r>
              <a:rPr sz="155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to</a:t>
            </a:r>
            <a:r>
              <a:rPr sz="155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P1</a:t>
            </a:r>
            <a:r>
              <a:rPr sz="155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yields</a:t>
            </a:r>
            <a:r>
              <a:rPr sz="1550" spc="2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1550" spc="-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new</a:t>
            </a:r>
            <a:r>
              <a:rPr sz="1550" spc="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550" spc="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550" spc="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graph:</a:t>
            </a:r>
            <a:endParaRPr sz="1550">
              <a:latin typeface="Times New Roman" panose="02020803070505020304"/>
              <a:cs typeface="Times New Roman" panose="0202080307050502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160" y="3032760"/>
            <a:ext cx="2974848" cy="21427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3883" y="5450840"/>
            <a:ext cx="7926705" cy="1013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5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Finally,</a:t>
            </a:r>
            <a:r>
              <a:rPr sz="1550" spc="2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P3 can</a:t>
            </a:r>
            <a:r>
              <a:rPr sz="1550" spc="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run</a:t>
            </a:r>
            <a:r>
              <a:rPr sz="1550" spc="-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return</a:t>
            </a:r>
            <a:r>
              <a:rPr sz="155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</a:t>
            </a:r>
            <a:r>
              <a:rPr sz="1550" spc="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of</a:t>
            </a:r>
            <a:r>
              <a:rPr sz="155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its</a:t>
            </a:r>
            <a:r>
              <a:rPr sz="1550" spc="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resources.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Because</a:t>
            </a:r>
            <a:r>
              <a:rPr sz="1550" spc="1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</a:t>
            </a:r>
            <a:r>
              <a:rPr sz="1550" spc="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involved</a:t>
            </a:r>
            <a:r>
              <a:rPr sz="1550" spc="1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processes</a:t>
            </a:r>
            <a:r>
              <a:rPr sz="1550" spc="1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are</a:t>
            </a:r>
            <a:r>
              <a:rPr sz="1550" spc="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finished,</a:t>
            </a:r>
            <a:r>
              <a:rPr sz="1550" spc="10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20" dirty="0">
                <a:latin typeface="Times New Roman" panose="02020803070505020304"/>
                <a:cs typeface="Times New Roman" panose="02020803070505020304"/>
              </a:rPr>
              <a:t>this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system</a:t>
            </a:r>
            <a:r>
              <a:rPr sz="1550" spc="229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does</a:t>
            </a:r>
            <a:r>
              <a:rPr sz="155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not</a:t>
            </a:r>
            <a:r>
              <a:rPr sz="1550" spc="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have</a:t>
            </a:r>
            <a:r>
              <a:rPr sz="1550" spc="1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1550" spc="-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deadlock.</a:t>
            </a: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 marL="2988310">
              <a:lnSpc>
                <a:spcPct val="100000"/>
              </a:lnSpc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Safe</a:t>
            </a:r>
            <a:r>
              <a:rPr sz="1550" spc="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Sequence=</a:t>
            </a:r>
            <a:r>
              <a:rPr sz="1550" spc="1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&lt;P0,P1,P2,P3&gt;</a:t>
            </a:r>
            <a:endParaRPr sz="1550">
              <a:latin typeface="Times New Roman" panose="02020803070505020304"/>
              <a:cs typeface="Times New Roman" panose="020208030705050203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847" y="-87426"/>
            <a:ext cx="5033645" cy="5308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b="0" spc="-25" dirty="0">
                <a:latin typeface="Arial MT"/>
                <a:cs typeface="Arial MT"/>
              </a:rPr>
              <a:t>Sample</a:t>
            </a:r>
            <a:r>
              <a:rPr b="0" spc="-210" dirty="0">
                <a:latin typeface="Arial MT"/>
                <a:cs typeface="Arial MT"/>
              </a:rPr>
              <a:t> </a:t>
            </a:r>
            <a:r>
              <a:rPr b="0" spc="-60" dirty="0">
                <a:latin typeface="Arial MT"/>
                <a:cs typeface="Arial MT"/>
              </a:rPr>
              <a:t>Question-</a:t>
            </a:r>
            <a:r>
              <a:rPr b="0" dirty="0">
                <a:latin typeface="Arial MT"/>
                <a:cs typeface="Arial MT"/>
              </a:rPr>
              <a:t>2</a:t>
            </a:r>
            <a:r>
              <a:rPr b="0" spc="5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with</a:t>
            </a:r>
            <a:r>
              <a:rPr b="0" spc="-100" dirty="0">
                <a:latin typeface="Arial MT"/>
                <a:cs typeface="Arial MT"/>
              </a:rPr>
              <a:t> </a:t>
            </a:r>
            <a:r>
              <a:rPr b="0" spc="-25" dirty="0">
                <a:latin typeface="Arial MT"/>
                <a:cs typeface="Arial MT"/>
              </a:rPr>
              <a:t>sol</a:t>
            </a:r>
            <a:endParaRPr b="0" spc="-25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656285"/>
            <a:ext cx="2618105" cy="362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Arial MT"/>
                <a:cs typeface="Arial MT"/>
              </a:rPr>
              <a:t>Consider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following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resource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allocation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latin typeface="Arial MT"/>
                <a:cs typeface="Arial MT"/>
              </a:rPr>
              <a:t>graph.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5401" y="4409313"/>
            <a:ext cx="8052434" cy="1239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Do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1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following</a:t>
            </a:r>
            <a:r>
              <a:rPr sz="1550" spc="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problems:</a:t>
            </a: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 marL="288925" indent="-276225">
              <a:lnSpc>
                <a:spcPct val="100000"/>
              </a:lnSpc>
              <a:spcBef>
                <a:spcPts val="10"/>
              </a:spcBef>
              <a:buAutoNum type="alphaLcParenBoth"/>
              <a:tabLst>
                <a:tab pos="288925" algn="l"/>
              </a:tabLst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Convert</a:t>
            </a:r>
            <a:r>
              <a:rPr sz="1550" spc="1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it</a:t>
            </a:r>
            <a:r>
              <a:rPr sz="1550" spc="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to</a:t>
            </a:r>
            <a:r>
              <a:rPr sz="155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 matrix</a:t>
            </a:r>
            <a:r>
              <a:rPr sz="1550" spc="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representation</a:t>
            </a:r>
            <a:r>
              <a:rPr sz="1550" spc="254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(i.e.,</a:t>
            </a:r>
            <a:r>
              <a:rPr sz="155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Allocation,</a:t>
            </a:r>
            <a:r>
              <a:rPr sz="1550" spc="2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request</a:t>
            </a:r>
            <a:r>
              <a:rPr sz="1550" spc="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Available).</a:t>
            </a: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 marL="12700" marR="5080" indent="285750">
              <a:lnSpc>
                <a:spcPct val="101000"/>
              </a:lnSpc>
              <a:spcBef>
                <a:spcPts val="5"/>
              </a:spcBef>
              <a:buAutoNum type="alphaLcParenBoth"/>
              <a:tabLst>
                <a:tab pos="298450" algn="l"/>
              </a:tabLst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Do</a:t>
            </a:r>
            <a:r>
              <a:rPr sz="1550" spc="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1550" spc="-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step-</a:t>
            </a:r>
            <a:r>
              <a:rPr sz="1550" spc="-85" dirty="0">
                <a:latin typeface="Times New Roman" panose="02020803070505020304"/>
                <a:cs typeface="Times New Roman" panose="02020803070505020304"/>
              </a:rPr>
              <a:t>by-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step</a:t>
            </a:r>
            <a:r>
              <a:rPr sz="1550" spc="3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execution</a:t>
            </a:r>
            <a:r>
              <a:rPr sz="1550" spc="1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of</a:t>
            </a:r>
            <a:r>
              <a:rPr sz="155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deadlock</a:t>
            </a:r>
            <a:r>
              <a:rPr sz="1550" spc="1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detection</a:t>
            </a:r>
            <a:r>
              <a:rPr sz="1550" spc="10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algorithm.</a:t>
            </a:r>
            <a:r>
              <a:rPr sz="1550" spc="204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For</a:t>
            </a:r>
            <a:r>
              <a:rPr sz="1550" spc="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each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step,</a:t>
            </a:r>
            <a:r>
              <a:rPr sz="1550" spc="1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add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remove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 directed</a:t>
            </a:r>
            <a:r>
              <a:rPr sz="1550" spc="1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edges,</a:t>
            </a:r>
            <a:r>
              <a:rPr sz="1550" spc="1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redraw</a:t>
            </a:r>
            <a:r>
              <a:rPr sz="1550" spc="1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550" spc="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550" spc="1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graph.</a:t>
            </a: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 marL="288925" indent="-276225">
              <a:lnSpc>
                <a:spcPct val="100000"/>
              </a:lnSpc>
              <a:spcBef>
                <a:spcPts val="205"/>
              </a:spcBef>
              <a:buAutoNum type="alphaLcParenBoth"/>
              <a:tabLst>
                <a:tab pos="288925" algn="l"/>
              </a:tabLst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1550" spc="1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there</a:t>
            </a:r>
            <a:r>
              <a:rPr sz="1550" spc="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1550" spc="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deadlock?</a:t>
            </a:r>
            <a:r>
              <a:rPr sz="1550" spc="1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If</a:t>
            </a:r>
            <a:r>
              <a:rPr sz="1550" spc="1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there</a:t>
            </a:r>
            <a:r>
              <a:rPr sz="1550" spc="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1550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1550" spc="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deadlock,</a:t>
            </a:r>
            <a:r>
              <a:rPr sz="1550" spc="2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which</a:t>
            </a:r>
            <a:r>
              <a:rPr sz="1550" spc="1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processes</a:t>
            </a:r>
            <a:r>
              <a:rPr sz="1550" spc="1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are</a:t>
            </a:r>
            <a:r>
              <a:rPr sz="155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involved?</a:t>
            </a:r>
            <a:endParaRPr sz="1550">
              <a:latin typeface="Times New Roman" panose="02020803070505020304"/>
              <a:cs typeface="Times New Roman" panose="0202080307050502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072639" y="1094232"/>
            <a:ext cx="4136136" cy="287426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1380" y="500583"/>
            <a:ext cx="731393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Answer:</a:t>
            </a:r>
            <a:r>
              <a:rPr sz="1550" spc="1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1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matrix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representation</a:t>
            </a:r>
            <a:r>
              <a:rPr sz="1550" spc="2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of</a:t>
            </a:r>
            <a:r>
              <a:rPr sz="155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given</a:t>
            </a:r>
            <a:r>
              <a:rPr sz="1550" spc="1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550" spc="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550" spc="1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graph</a:t>
            </a:r>
            <a:r>
              <a:rPr sz="1550" spc="1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1550" spc="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shown</a:t>
            </a:r>
            <a:r>
              <a:rPr sz="1550" spc="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below:</a:t>
            </a:r>
            <a:endParaRPr sz="1550">
              <a:latin typeface="Times New Roman" panose="02020803070505020304"/>
              <a:cs typeface="Times New Roman" panose="020208030705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33272" y="914400"/>
            <a:ext cx="7056120" cy="19598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6775" y="3044393"/>
            <a:ext cx="8373109" cy="5016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Because</a:t>
            </a:r>
            <a:r>
              <a:rPr sz="1550" spc="1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P4′sRequest=[1,0,0,0]≤Available=[2,0,0,0],P4</a:t>
            </a:r>
            <a:r>
              <a:rPr sz="1550" spc="3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runs</a:t>
            </a:r>
            <a:r>
              <a:rPr sz="1550" spc="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1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returns</a:t>
            </a:r>
            <a:r>
              <a:rPr sz="1550" spc="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1550" spc="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Allocation=[0,1,0,1]</a:t>
            </a:r>
            <a:r>
              <a:rPr sz="1550" spc="1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making</a:t>
            </a: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new</a:t>
            </a:r>
            <a:r>
              <a:rPr sz="1550" spc="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Available</a:t>
            </a:r>
            <a:r>
              <a:rPr sz="1550" spc="3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=</a:t>
            </a:r>
            <a:r>
              <a:rPr sz="155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[2,</a:t>
            </a:r>
            <a:r>
              <a:rPr sz="1550" spc="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0,</a:t>
            </a:r>
            <a:r>
              <a:rPr sz="1550" spc="-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0,</a:t>
            </a:r>
            <a:r>
              <a:rPr sz="1550" spc="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0]</a:t>
            </a:r>
            <a:r>
              <a:rPr sz="155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+</a:t>
            </a:r>
            <a:r>
              <a:rPr sz="155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[0,</a:t>
            </a:r>
            <a:r>
              <a:rPr sz="1550" spc="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1,</a:t>
            </a:r>
            <a:r>
              <a:rPr sz="1550" spc="-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0,</a:t>
            </a:r>
            <a:r>
              <a:rPr sz="1550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1]</a:t>
            </a:r>
            <a:r>
              <a:rPr sz="155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=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[2,</a:t>
            </a:r>
            <a:r>
              <a:rPr sz="1550" spc="-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1,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0,</a:t>
            </a:r>
            <a:r>
              <a:rPr sz="1550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1].</a:t>
            </a:r>
            <a:r>
              <a:rPr sz="1550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1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matrix</a:t>
            </a:r>
            <a:r>
              <a:rPr sz="1550" spc="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representation</a:t>
            </a:r>
            <a:r>
              <a:rPr sz="1550" spc="2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becomes:</a:t>
            </a:r>
            <a:endParaRPr sz="1550">
              <a:latin typeface="Times New Roman" panose="02020803070505020304"/>
              <a:cs typeface="Times New Roman" panose="0202080307050502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3800855"/>
            <a:ext cx="7376159" cy="208178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200" y="465836"/>
            <a:ext cx="423989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Here</a:t>
            </a:r>
            <a:r>
              <a:rPr sz="1550" spc="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155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1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corresponding</a:t>
            </a:r>
            <a:r>
              <a:rPr sz="1550" spc="2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55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550" spc="10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graph:</a:t>
            </a:r>
            <a:endParaRPr sz="1550">
              <a:latin typeface="Times New Roman" panose="02020803070505020304"/>
              <a:cs typeface="Times New Roman" panose="020208030705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23032" y="1371600"/>
            <a:ext cx="3102864" cy="215493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918" y="472186"/>
            <a:ext cx="8242934" cy="5010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next</a:t>
            </a:r>
            <a:r>
              <a:rPr sz="1550" spc="1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process</a:t>
            </a:r>
            <a:r>
              <a:rPr sz="1550" spc="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1550" spc="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P3</a:t>
            </a:r>
            <a:r>
              <a:rPr sz="1550" spc="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because</a:t>
            </a:r>
            <a:r>
              <a:rPr sz="1550" spc="1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P3’sRequest=[0,0,0,1]≤Available=[3,1,0,1].After</a:t>
            </a:r>
            <a:r>
              <a:rPr sz="1550" spc="2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P3</a:t>
            </a:r>
            <a:r>
              <a:rPr sz="1550" spc="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finishes</a:t>
            </a:r>
            <a:r>
              <a:rPr sz="1550" spc="1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its</a:t>
            </a:r>
            <a:r>
              <a:rPr sz="1550" spc="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work,</a:t>
            </a: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its</a:t>
            </a:r>
            <a:r>
              <a:rPr sz="1550" spc="-1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550" spc="254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=</a:t>
            </a:r>
            <a:r>
              <a:rPr sz="1550" spc="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[0,</a:t>
            </a:r>
            <a:r>
              <a:rPr sz="1550" spc="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0,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1,</a:t>
            </a:r>
            <a:r>
              <a:rPr sz="1550" spc="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0]</a:t>
            </a:r>
            <a:r>
              <a:rPr sz="1550" spc="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155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returned</a:t>
            </a:r>
            <a:r>
              <a:rPr sz="1550" spc="1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to</a:t>
            </a:r>
            <a:r>
              <a:rPr sz="155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Available</a:t>
            </a:r>
            <a:r>
              <a:rPr sz="1550" spc="3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=</a:t>
            </a:r>
            <a:r>
              <a:rPr sz="1550" spc="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[3,</a:t>
            </a:r>
            <a:r>
              <a:rPr sz="1550" spc="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1,</a:t>
            </a:r>
            <a:r>
              <a:rPr sz="1550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0,</a:t>
            </a:r>
            <a:r>
              <a:rPr sz="155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1]</a:t>
            </a:r>
            <a:r>
              <a:rPr sz="1550" spc="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+</a:t>
            </a:r>
            <a:r>
              <a:rPr sz="1550" spc="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[0,</a:t>
            </a:r>
            <a:r>
              <a:rPr sz="155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0,</a:t>
            </a:r>
            <a:r>
              <a:rPr sz="1550" spc="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1,</a:t>
            </a:r>
            <a:r>
              <a:rPr sz="1550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0]</a:t>
            </a:r>
            <a:r>
              <a:rPr sz="1550" spc="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=</a:t>
            </a:r>
            <a:r>
              <a:rPr sz="1550" spc="1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[3,</a:t>
            </a:r>
            <a:r>
              <a:rPr sz="1550" spc="-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1,</a:t>
            </a:r>
            <a:r>
              <a:rPr sz="1550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1,</a:t>
            </a:r>
            <a:r>
              <a:rPr sz="1550" spc="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25" dirty="0">
                <a:latin typeface="Times New Roman" panose="02020803070505020304"/>
                <a:cs typeface="Times New Roman" panose="02020803070505020304"/>
              </a:rPr>
              <a:t>1]:</a:t>
            </a:r>
            <a:endParaRPr sz="1550">
              <a:latin typeface="Times New Roman" panose="02020803070505020304"/>
              <a:cs typeface="Times New Roman" panose="020208030705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71600" y="1356359"/>
            <a:ext cx="6455664" cy="18105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1827" y="3419602"/>
            <a:ext cx="377888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550" spc="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550" spc="1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graph</a:t>
            </a:r>
            <a:r>
              <a:rPr sz="1550" spc="1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1550" spc="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shown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below:</a:t>
            </a:r>
            <a:endParaRPr sz="1550">
              <a:latin typeface="Times New Roman" panose="02020803070505020304"/>
              <a:cs typeface="Times New Roman" panose="0202080307050502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9944" y="3925823"/>
            <a:ext cx="3185160" cy="220370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074" y="342138"/>
            <a:ext cx="781621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Now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we</a:t>
            </a:r>
            <a:r>
              <a:rPr sz="1550" spc="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can</a:t>
            </a:r>
            <a:r>
              <a:rPr sz="1550" spc="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run</a:t>
            </a:r>
            <a:r>
              <a:rPr sz="155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P2</a:t>
            </a:r>
            <a:r>
              <a:rPr sz="1550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1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yields</a:t>
            </a:r>
            <a:r>
              <a:rPr sz="1550" spc="3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(i.e.,</a:t>
            </a:r>
            <a:r>
              <a:rPr sz="1550" spc="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matrix</a:t>
            </a:r>
            <a:r>
              <a:rPr sz="1550" spc="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representation</a:t>
            </a:r>
            <a:r>
              <a:rPr sz="1550" spc="2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550" spc="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550" spc="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graph)</a:t>
            </a:r>
            <a:r>
              <a:rPr sz="1550" spc="2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20" dirty="0">
                <a:latin typeface="Times New Roman" panose="02020803070505020304"/>
                <a:cs typeface="Times New Roman" panose="02020803070505020304"/>
              </a:rPr>
              <a:t>are:</a:t>
            </a:r>
            <a:endParaRPr sz="1550">
              <a:latin typeface="Times New Roman" panose="02020803070505020304"/>
              <a:cs typeface="Times New Roman" panose="020208030705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49680" y="1005839"/>
            <a:ext cx="6339840" cy="37642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3169" y="5503875"/>
            <a:ext cx="8555355" cy="1013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5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Finally,</a:t>
            </a:r>
            <a:r>
              <a:rPr sz="1550" spc="2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we</a:t>
            </a:r>
            <a:r>
              <a:rPr sz="1550" spc="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can</a:t>
            </a:r>
            <a:r>
              <a:rPr sz="1550" spc="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run</a:t>
            </a:r>
            <a:r>
              <a:rPr sz="1550" spc="-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P5</a:t>
            </a:r>
            <a:r>
              <a:rPr sz="1550" spc="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</a:t>
            </a:r>
            <a:r>
              <a:rPr sz="1550" spc="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processes</a:t>
            </a:r>
            <a:r>
              <a:rPr sz="1550" spc="1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are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done!</a:t>
            </a:r>
            <a:r>
              <a:rPr sz="1550" spc="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b="1" dirty="0">
                <a:solidFill>
                  <a:srgbClr val="FF0000"/>
                </a:solidFill>
                <a:latin typeface="Times New Roman" panose="02020803070505020304"/>
                <a:cs typeface="Times New Roman" panose="02020803070505020304"/>
              </a:rPr>
              <a:t>Note</a:t>
            </a:r>
            <a:r>
              <a:rPr sz="1550" b="1" spc="-5" dirty="0">
                <a:solidFill>
                  <a:srgbClr val="FF0000"/>
                </a:solidFill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that</a:t>
            </a:r>
            <a:r>
              <a:rPr sz="1550" spc="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there</a:t>
            </a:r>
            <a:r>
              <a:rPr sz="1550" spc="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are</a:t>
            </a:r>
            <a:r>
              <a:rPr sz="1550" spc="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cycles</a:t>
            </a:r>
            <a:r>
              <a:rPr sz="1550" spc="3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P1</a:t>
            </a:r>
            <a:r>
              <a:rPr sz="1550" spc="-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→</a:t>
            </a:r>
            <a:r>
              <a:rPr sz="1550" spc="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R2</a:t>
            </a:r>
            <a:r>
              <a:rPr sz="1550" spc="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→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P4 →</a:t>
            </a:r>
            <a:r>
              <a:rPr sz="1550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R1</a:t>
            </a:r>
            <a:r>
              <a:rPr sz="1550" spc="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→</a:t>
            </a:r>
            <a:r>
              <a:rPr sz="155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25" dirty="0">
                <a:latin typeface="Times New Roman" panose="02020803070505020304"/>
                <a:cs typeface="Times New Roman" panose="02020803070505020304"/>
              </a:rPr>
              <a:t>P1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P1</a:t>
            </a:r>
            <a:r>
              <a:rPr sz="1550" spc="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→</a:t>
            </a:r>
            <a:r>
              <a:rPr sz="1550" spc="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R2</a:t>
            </a:r>
            <a:r>
              <a:rPr sz="1550" spc="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→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P2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→</a:t>
            </a:r>
            <a:r>
              <a:rPr sz="1550" spc="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R3</a:t>
            </a:r>
            <a:r>
              <a:rPr sz="1550" spc="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→</a:t>
            </a:r>
            <a:r>
              <a:rPr sz="1550" spc="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P3</a:t>
            </a:r>
            <a:r>
              <a:rPr sz="1550" spc="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→</a:t>
            </a:r>
            <a:r>
              <a:rPr sz="155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R4</a:t>
            </a:r>
            <a:r>
              <a:rPr sz="1550" spc="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→</a:t>
            </a:r>
            <a:r>
              <a:rPr sz="1550" spc="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P4</a:t>
            </a:r>
            <a:r>
              <a:rPr sz="1550" spc="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→</a:t>
            </a:r>
            <a:r>
              <a:rPr sz="1550" spc="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R1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→</a:t>
            </a:r>
            <a:r>
              <a:rPr sz="1550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P1.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However,</a:t>
            </a:r>
            <a:r>
              <a:rPr sz="1550" spc="1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there</a:t>
            </a:r>
            <a:r>
              <a:rPr sz="1550" spc="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155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no</a:t>
            </a:r>
            <a:r>
              <a:rPr sz="1550" spc="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deadlock.</a:t>
            </a: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 marL="363855" algn="ctr">
              <a:lnSpc>
                <a:spcPct val="100000"/>
              </a:lnSpc>
            </a:pPr>
            <a:r>
              <a:rPr sz="1550" dirty="0">
                <a:latin typeface="Arial MT"/>
                <a:cs typeface="Arial MT"/>
              </a:rPr>
              <a:t>SAFE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SEQUENCE&lt;P4,P1,P3,P2,P5&gt;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667" y="329248"/>
            <a:ext cx="4015104" cy="60452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2000" dirty="0">
                <a:latin typeface="Times New Roman" panose="02020803070505020304"/>
                <a:cs typeface="Times New Roman" panose="02020803070505020304"/>
              </a:rPr>
              <a:t>EXERCISE</a:t>
            </a:r>
            <a:r>
              <a:rPr sz="2000" spc="-114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000" spc="-10" dirty="0">
                <a:latin typeface="Times New Roman" panose="02020803070505020304"/>
                <a:cs typeface="Times New Roman" panose="02020803070505020304"/>
              </a:rPr>
              <a:t>QUESTION:</a:t>
            </a:r>
            <a:endParaRPr sz="2000">
              <a:latin typeface="Times New Roman" panose="02020803070505020304"/>
              <a:cs typeface="Times New Roman" panose="02020803070505020304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50" b="0" dirty="0">
                <a:latin typeface="Times New Roman" panose="02020803070505020304"/>
                <a:cs typeface="Times New Roman" panose="02020803070505020304"/>
              </a:rPr>
              <a:t>Consider</a:t>
            </a:r>
            <a:r>
              <a:rPr sz="1550" b="0" spc="114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b="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b="0" spc="10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b="0" dirty="0">
                <a:latin typeface="Times New Roman" panose="02020803070505020304"/>
                <a:cs typeface="Times New Roman" panose="02020803070505020304"/>
              </a:rPr>
              <a:t>following</a:t>
            </a:r>
            <a:r>
              <a:rPr sz="1550" b="0" spc="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b="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550" b="0" spc="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b="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550" b="0" spc="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b="0" spc="-10" dirty="0">
                <a:latin typeface="Times New Roman" panose="02020803070505020304"/>
                <a:cs typeface="Times New Roman" panose="02020803070505020304"/>
              </a:rPr>
              <a:t>graph.</a:t>
            </a:r>
            <a:endParaRPr sz="1550">
              <a:latin typeface="Times New Roman" panose="02020803070505020304"/>
              <a:cs typeface="Times New Roman" panose="020208030705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5757" y="4604130"/>
            <a:ext cx="8049895" cy="1239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Do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1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following</a:t>
            </a:r>
            <a:r>
              <a:rPr sz="1550" spc="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problems:</a:t>
            </a: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 marL="286385" indent="-273685">
              <a:lnSpc>
                <a:spcPct val="100000"/>
              </a:lnSpc>
              <a:spcBef>
                <a:spcPts val="10"/>
              </a:spcBef>
              <a:buAutoNum type="alphaLcParenBoth"/>
              <a:tabLst>
                <a:tab pos="286385" algn="l"/>
              </a:tabLst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Convert</a:t>
            </a:r>
            <a:r>
              <a:rPr sz="1550" spc="10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it</a:t>
            </a:r>
            <a:r>
              <a:rPr sz="1550" spc="4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to the matrix</a:t>
            </a:r>
            <a:r>
              <a:rPr sz="1550" spc="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representation(i.e.,</a:t>
            </a:r>
            <a:r>
              <a:rPr sz="1550" spc="2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Allocation,</a:t>
            </a:r>
            <a:r>
              <a:rPr sz="1550" spc="2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Request</a:t>
            </a:r>
            <a:r>
              <a:rPr sz="1550" spc="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Available).</a:t>
            </a: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 marL="12700" marR="5080" indent="285750">
              <a:lnSpc>
                <a:spcPct val="101000"/>
              </a:lnSpc>
              <a:spcBef>
                <a:spcPts val="5"/>
              </a:spcBef>
              <a:buAutoNum type="alphaLcParenBoth"/>
              <a:tabLst>
                <a:tab pos="298450" algn="l"/>
              </a:tabLst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Do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155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20" dirty="0">
                <a:latin typeface="Times New Roman" panose="02020803070505020304"/>
                <a:cs typeface="Times New Roman" panose="02020803070505020304"/>
              </a:rPr>
              <a:t>step-</a:t>
            </a:r>
            <a:r>
              <a:rPr sz="1550" spc="-85" dirty="0">
                <a:latin typeface="Times New Roman" panose="02020803070505020304"/>
                <a:cs typeface="Times New Roman" panose="02020803070505020304"/>
              </a:rPr>
              <a:t>by-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step</a:t>
            </a:r>
            <a:r>
              <a:rPr sz="1550" spc="3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execution</a:t>
            </a:r>
            <a:r>
              <a:rPr sz="1550" spc="1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of</a:t>
            </a:r>
            <a:r>
              <a:rPr sz="155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deadlock</a:t>
            </a:r>
            <a:r>
              <a:rPr sz="1550" spc="1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detection</a:t>
            </a:r>
            <a:r>
              <a:rPr sz="1550" spc="1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algorithm.</a:t>
            </a:r>
            <a:r>
              <a:rPr sz="1550" spc="204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For</a:t>
            </a:r>
            <a:r>
              <a:rPr sz="1550" spc="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each</a:t>
            </a:r>
            <a:r>
              <a:rPr sz="1550" spc="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step,</a:t>
            </a:r>
            <a:r>
              <a:rPr sz="1550" spc="1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add</a:t>
            </a:r>
            <a:r>
              <a:rPr sz="1550" spc="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remove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directed</a:t>
            </a:r>
            <a:r>
              <a:rPr sz="1550" spc="2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edges,</a:t>
            </a:r>
            <a:r>
              <a:rPr sz="1550" spc="9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6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redraw</a:t>
            </a:r>
            <a:r>
              <a:rPr sz="1550" spc="1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-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550" spc="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550" spc="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graph.</a:t>
            </a: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 marL="285750" indent="-273050">
              <a:lnSpc>
                <a:spcPct val="100000"/>
              </a:lnSpc>
              <a:spcBef>
                <a:spcPts val="205"/>
              </a:spcBef>
              <a:buAutoNum type="alphaLcParenBoth"/>
              <a:tabLst>
                <a:tab pos="285750" algn="l"/>
              </a:tabLst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1550" spc="1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there</a:t>
            </a:r>
            <a:r>
              <a:rPr sz="1550" spc="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155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deadlock?</a:t>
            </a:r>
            <a:r>
              <a:rPr sz="1550" spc="1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If</a:t>
            </a:r>
            <a:r>
              <a:rPr sz="1550" spc="114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there</a:t>
            </a:r>
            <a:r>
              <a:rPr sz="1550" spc="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1550" spc="-6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 deadlock,</a:t>
            </a:r>
            <a:r>
              <a:rPr sz="1550" spc="1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which</a:t>
            </a:r>
            <a:r>
              <a:rPr sz="1550" spc="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processes</a:t>
            </a:r>
            <a:r>
              <a:rPr sz="1550" spc="1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are</a:t>
            </a:r>
            <a:r>
              <a:rPr sz="1550" spc="-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involved?</a:t>
            </a:r>
            <a:endParaRPr sz="1550">
              <a:latin typeface="Times New Roman" panose="02020803070505020304"/>
              <a:cs typeface="Times New Roman" panose="020208030705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121407" y="1194816"/>
            <a:ext cx="3998976" cy="274624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0077" y="428701"/>
            <a:ext cx="279844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803070505020304"/>
                <a:cs typeface="Times New Roman" panose="02020803070505020304"/>
              </a:rPr>
              <a:t>EXERCISE</a:t>
            </a:r>
            <a:r>
              <a:rPr sz="2000" spc="-1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2000" spc="-10" dirty="0">
                <a:latin typeface="Times New Roman" panose="02020803070505020304"/>
                <a:cs typeface="Times New Roman" panose="02020803070505020304"/>
              </a:rPr>
              <a:t>QUESTION:</a:t>
            </a:r>
            <a:endParaRPr sz="2000">
              <a:latin typeface="Times New Roman" panose="02020803070505020304"/>
              <a:cs typeface="Times New Roman" panose="020208030705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0077" y="696358"/>
            <a:ext cx="7614920" cy="50101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spc="-10" dirty="0">
                <a:latin typeface="Arial MT"/>
                <a:cs typeface="Arial MT"/>
              </a:rPr>
              <a:t>Consider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following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snapshot</a:t>
            </a:r>
            <a:r>
              <a:rPr sz="1400" spc="-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system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in</a:t>
            </a:r>
            <a:r>
              <a:rPr sz="1400" spc="-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which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four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resources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A,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B,</a:t>
            </a:r>
            <a:r>
              <a:rPr sz="1400" spc="-1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and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area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available.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system </a:t>
            </a:r>
            <a:r>
              <a:rPr sz="1400" spc="-10" dirty="0">
                <a:latin typeface="Arial MT"/>
                <a:cs typeface="Arial MT"/>
              </a:rPr>
              <a:t>contains</a:t>
            </a:r>
            <a:r>
              <a:rPr sz="1400" spc="-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 total</a:t>
            </a:r>
            <a:r>
              <a:rPr sz="1400" spc="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6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instances</a:t>
            </a:r>
            <a:r>
              <a:rPr sz="1400" spc="-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A,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4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resource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B,</a:t>
            </a:r>
            <a:r>
              <a:rPr sz="1400" spc="-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4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resource</a:t>
            </a:r>
            <a:r>
              <a:rPr sz="1400" spc="-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C,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2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resource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D.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88848" y="1591055"/>
            <a:ext cx="7391400" cy="15910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8792" y="3452622"/>
            <a:ext cx="8293734" cy="150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744470" indent="286385">
              <a:lnSpc>
                <a:spcPct val="101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Convert</a:t>
            </a:r>
            <a:r>
              <a:rPr sz="1550" spc="1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this</a:t>
            </a:r>
            <a:r>
              <a:rPr sz="1550" spc="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matrix</a:t>
            </a:r>
            <a:r>
              <a:rPr sz="1550" spc="1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representation</a:t>
            </a:r>
            <a:r>
              <a:rPr sz="1550" spc="1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to</a:t>
            </a:r>
            <a:r>
              <a:rPr sz="1550" spc="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1550" spc="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resource</a:t>
            </a:r>
            <a:r>
              <a:rPr sz="1550" spc="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allocation</a:t>
            </a:r>
            <a:r>
              <a:rPr sz="1550" spc="1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graph.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Do</a:t>
            </a:r>
            <a:r>
              <a:rPr sz="155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following</a:t>
            </a:r>
            <a:r>
              <a:rPr sz="1550" spc="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problems</a:t>
            </a:r>
            <a:r>
              <a:rPr sz="1550" spc="2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using</a:t>
            </a:r>
            <a:r>
              <a:rPr sz="1550" spc="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banker’s</a:t>
            </a:r>
            <a:r>
              <a:rPr sz="1550" spc="1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algorithm:</a:t>
            </a: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 marL="133985" indent="-121285">
              <a:lnSpc>
                <a:spcPct val="100000"/>
              </a:lnSpc>
              <a:spcBef>
                <a:spcPts val="110"/>
              </a:spcBef>
              <a:buChar char="•"/>
              <a:tabLst>
                <a:tab pos="133985" algn="l"/>
              </a:tabLst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Compute</a:t>
            </a:r>
            <a:r>
              <a:rPr sz="1550" spc="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what</a:t>
            </a:r>
            <a:r>
              <a:rPr sz="1550" spc="1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each</a:t>
            </a:r>
            <a:r>
              <a:rPr sz="1550" spc="1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process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might</a:t>
            </a:r>
            <a:r>
              <a:rPr sz="1550" spc="2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still</a:t>
            </a:r>
            <a:r>
              <a:rPr sz="155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request</a:t>
            </a:r>
            <a:r>
              <a:rPr sz="1550" spc="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and</a:t>
            </a:r>
            <a:r>
              <a:rPr sz="1550" spc="1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fill</a:t>
            </a:r>
            <a:r>
              <a:rPr sz="1550" spc="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this</a:t>
            </a:r>
            <a:r>
              <a:rPr sz="155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in</a:t>
            </a:r>
            <a:r>
              <a:rPr sz="1550" spc="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under</a:t>
            </a:r>
            <a:r>
              <a:rPr sz="1550" spc="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column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Need.</a:t>
            </a:r>
            <a:r>
              <a:rPr sz="1550" spc="1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•</a:t>
            </a:r>
            <a:r>
              <a:rPr sz="1550" spc="-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1550" spc="1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system</a:t>
            </a: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in</a:t>
            </a:r>
            <a:r>
              <a:rPr sz="1550" spc="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1550" spc="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safe</a:t>
            </a:r>
            <a:r>
              <a:rPr sz="1550" spc="1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state?</a:t>
            </a:r>
            <a:r>
              <a:rPr sz="1550" spc="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Why</a:t>
            </a:r>
            <a:r>
              <a:rPr sz="1550" spc="1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or</a:t>
            </a:r>
            <a:r>
              <a:rPr sz="1550" spc="-1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why</a:t>
            </a:r>
            <a:r>
              <a:rPr sz="1550" spc="8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20" dirty="0">
                <a:latin typeface="Times New Roman" panose="02020803070505020304"/>
                <a:cs typeface="Times New Roman" panose="02020803070505020304"/>
              </a:rPr>
              <a:t>not?</a:t>
            </a: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 marL="133985" indent="-121285">
              <a:lnSpc>
                <a:spcPct val="100000"/>
              </a:lnSpc>
              <a:spcBef>
                <a:spcPts val="200"/>
              </a:spcBef>
              <a:buChar char="•"/>
              <a:tabLst>
                <a:tab pos="133985" algn="l"/>
              </a:tabLst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Is</a:t>
            </a:r>
            <a:r>
              <a:rPr sz="1550" spc="7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-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system</a:t>
            </a:r>
            <a:r>
              <a:rPr sz="1550" spc="2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deadlocked?</a:t>
            </a:r>
            <a:r>
              <a:rPr sz="1550" spc="1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Why</a:t>
            </a:r>
            <a:r>
              <a:rPr sz="1550" spc="7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or</a:t>
            </a:r>
            <a:r>
              <a:rPr sz="1550" spc="-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why </a:t>
            </a:r>
            <a:r>
              <a:rPr sz="1550" spc="-20" dirty="0">
                <a:latin typeface="Times New Roman" panose="02020803070505020304"/>
                <a:cs typeface="Times New Roman" panose="02020803070505020304"/>
              </a:rPr>
              <a:t>not?</a:t>
            </a:r>
            <a:endParaRPr sz="1550">
              <a:latin typeface="Times New Roman" panose="02020803070505020304"/>
              <a:cs typeface="Times New Roman" panose="02020803070505020304"/>
            </a:endParaRPr>
          </a:p>
          <a:p>
            <a:pPr marL="133985" indent="-121285">
              <a:lnSpc>
                <a:spcPct val="100000"/>
              </a:lnSpc>
              <a:spcBef>
                <a:spcPts val="90"/>
              </a:spcBef>
              <a:buChar char="•"/>
              <a:tabLst>
                <a:tab pos="133985" algn="l"/>
              </a:tabLst>
            </a:pPr>
            <a:r>
              <a:rPr sz="1550" dirty="0">
                <a:latin typeface="Times New Roman" panose="02020803070505020304"/>
                <a:cs typeface="Times New Roman" panose="02020803070505020304"/>
              </a:rPr>
              <a:t>If</a:t>
            </a:r>
            <a:r>
              <a:rPr sz="1550" spc="10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</a:t>
            </a:r>
            <a:r>
              <a:rPr sz="1550" spc="2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request</a:t>
            </a:r>
            <a:r>
              <a:rPr sz="1550" spc="1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from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P3</a:t>
            </a:r>
            <a:r>
              <a:rPr sz="1550" spc="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arrives</a:t>
            </a:r>
            <a:r>
              <a:rPr sz="1550" spc="14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for</a:t>
            </a:r>
            <a:r>
              <a:rPr sz="1550" spc="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(2,</a:t>
            </a:r>
            <a:r>
              <a:rPr sz="1550" spc="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1,</a:t>
            </a:r>
            <a:r>
              <a:rPr sz="1550" spc="-3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0,</a:t>
            </a:r>
            <a:r>
              <a:rPr sz="1550" spc="-5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0),</a:t>
            </a:r>
            <a:r>
              <a:rPr sz="1550" spc="2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can</a:t>
            </a:r>
            <a:r>
              <a:rPr sz="1550" spc="8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the</a:t>
            </a:r>
            <a:r>
              <a:rPr sz="1550" spc="3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request</a:t>
            </a:r>
            <a:r>
              <a:rPr sz="1550" spc="195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be</a:t>
            </a:r>
            <a:r>
              <a:rPr sz="1550" spc="5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dirty="0">
                <a:latin typeface="Times New Roman" panose="02020803070505020304"/>
                <a:cs typeface="Times New Roman" panose="02020803070505020304"/>
              </a:rPr>
              <a:t>granted</a:t>
            </a:r>
            <a:r>
              <a:rPr sz="1550" spc="210" dirty="0">
                <a:latin typeface="Times New Roman" panose="02020803070505020304"/>
                <a:cs typeface="Times New Roman" panose="02020803070505020304"/>
              </a:rPr>
              <a:t> </a:t>
            </a:r>
            <a:r>
              <a:rPr sz="1550" spc="-10" dirty="0">
                <a:latin typeface="Times New Roman" panose="02020803070505020304"/>
                <a:cs typeface="Times New Roman" panose="02020803070505020304"/>
              </a:rPr>
              <a:t>immediately?</a:t>
            </a:r>
            <a:endParaRPr sz="1550">
              <a:latin typeface="Times New Roman" panose="02020803070505020304"/>
              <a:cs typeface="Times New Roman" panose="020208030705050203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645" y="650494"/>
            <a:ext cx="7738109" cy="507365"/>
          </a:xfrm>
        </p:spPr>
        <p:txBody>
          <a:bodyPr/>
          <a:p>
            <a:r>
              <a:rPr lang="en-US" altLang="en-US"/>
              <a:t>Resource-Request Algorithm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847" y="1735886"/>
            <a:ext cx="7489825" cy="3877945"/>
          </a:xfrm>
        </p:spPr>
        <p:txBody>
          <a:bodyPr/>
          <a:p>
            <a:r>
              <a:rPr lang="en-US" altLang="en-US"/>
              <a:t>1. If Requesti &lt;= Needi </a:t>
            </a:r>
            <a:endParaRPr lang="en-US" altLang="en-US"/>
          </a:p>
          <a:p>
            <a:r>
              <a:rPr lang="en-US" altLang="en-US"/>
              <a:t>Goto step (2) ; otherwise, raise an error condition, since the process has exceeded its maximum claim.</a:t>
            </a:r>
            <a:endParaRPr lang="en-US" altLang="en-US"/>
          </a:p>
          <a:p>
            <a:r>
              <a:rPr lang="en-US" altLang="en-US"/>
              <a:t>2. If Requesti &lt;= Available </a:t>
            </a:r>
            <a:endParaRPr lang="en-US" altLang="en-US"/>
          </a:p>
          <a:p>
            <a:r>
              <a:rPr lang="en-US" altLang="en-US"/>
              <a:t>Goto step (3); otherwise, Pi must wait, since the resources are not available.</a:t>
            </a:r>
            <a:endParaRPr lang="en-US" altLang="en-US"/>
          </a:p>
          <a:p>
            <a:r>
              <a:rPr lang="en-US" altLang="en-US"/>
              <a:t>3. Have the system pretend to have allocated the requested resources to process Pi by modifying the state as </a:t>
            </a:r>
            <a:endParaRPr lang="en-US" altLang="en-US"/>
          </a:p>
          <a:p>
            <a:r>
              <a:rPr lang="en-US" altLang="en-US"/>
              <a:t>follows: </a:t>
            </a:r>
            <a:endParaRPr lang="en-US" altLang="en-US"/>
          </a:p>
          <a:p>
            <a:r>
              <a:rPr lang="en-US" altLang="en-US"/>
              <a:t>Available = Available – Requesti </a:t>
            </a:r>
            <a:endParaRPr lang="en-US" altLang="en-US"/>
          </a:p>
          <a:p>
            <a:r>
              <a:rPr lang="en-US" altLang="en-US"/>
              <a:t>Allocationi = Allocationi + Requesti </a:t>
            </a:r>
            <a:endParaRPr lang="en-US" altLang="en-US"/>
          </a:p>
          <a:p>
            <a:r>
              <a:rPr lang="en-US" altLang="en-US"/>
              <a:t>Needi = Needi– Requesti</a:t>
            </a:r>
            <a:endParaRPr lang="en-US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152400"/>
            <a:ext cx="8460105" cy="3810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6200" y="4114800"/>
            <a:ext cx="3604260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i="0">
                <a:solidFill>
                  <a:srgbClr val="273239"/>
                </a:solidFill>
                <a:latin typeface="Nunito"/>
                <a:ea typeface="Nunito"/>
              </a:rPr>
              <a:t>Q.1 What will be the content of the Need matrix?</a:t>
            </a:r>
            <a:endParaRPr lang="en-US" altLang="zh-CN" sz="1200" b="1" i="0">
              <a:solidFill>
                <a:srgbClr val="273239"/>
              </a:solidFill>
              <a:latin typeface="Nunito"/>
              <a:ea typeface="Nunito"/>
            </a:endParaRPr>
          </a:p>
          <a:p>
            <a:pPr marL="0" indent="0" algn="l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0" i="0">
                <a:solidFill>
                  <a:srgbClr val="273239"/>
                </a:solidFill>
                <a:latin typeface="Nunito"/>
                <a:ea typeface="Nunito"/>
              </a:rPr>
              <a:t>Need [i, j] = Max [i, j] – Allocation [i, j]</a:t>
            </a:r>
            <a:endParaRPr lang="en-US" altLang="zh-CN" sz="1200" b="0" i="0">
              <a:solidFill>
                <a:srgbClr val="273239"/>
              </a:solidFill>
              <a:latin typeface="Nunito"/>
              <a:ea typeface="Nunito"/>
            </a:endParaRPr>
          </a:p>
          <a:p>
            <a:pPr marL="0" indent="0" algn="l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0" i="0">
                <a:solidFill>
                  <a:srgbClr val="273239"/>
                </a:solidFill>
                <a:latin typeface="Nunito"/>
                <a:ea typeface="Nunito"/>
              </a:rPr>
              <a:t>So, the content of Need Matrix is:</a:t>
            </a:r>
            <a:endParaRPr lang="en-US" altLang="zh-CN" sz="1200" b="0" i="0">
              <a:solidFill>
                <a:srgbClr val="273239"/>
              </a:solidFill>
              <a:latin typeface="Nunito"/>
              <a:ea typeface="Nunito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505200" y="3886200"/>
            <a:ext cx="5387340" cy="290131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222" y="228396"/>
            <a:ext cx="7489825" cy="830580"/>
          </a:xfrm>
        </p:spPr>
        <p:txBody>
          <a:bodyPr/>
          <a:p>
            <a:r>
              <a:rPr lang="en-US" altLang="en-US" sz="1800"/>
              <a:t>Q.2 Is the system in a safe state? If Yes, then what is the safe sequence?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Applying the Safety algorithm on the given system,</a:t>
            </a:r>
            <a:endParaRPr lang="en-US" altLang="en-US" sz="18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43000"/>
            <a:ext cx="5076190" cy="8001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81000" y="1943100"/>
            <a:ext cx="7404735" cy="1195070"/>
          </a:xfrm>
          <a:prstGeom prst="rect">
            <a:avLst/>
          </a:prstGeom>
        </p:spPr>
        <p:txBody>
          <a:bodyPr>
            <a:noAutofit/>
          </a:bodyPr>
          <a:p>
            <a:pPr marL="0" indent="0" algn="l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i="0">
                <a:solidFill>
                  <a:srgbClr val="273239"/>
                </a:solidFill>
                <a:latin typeface="Nunito"/>
                <a:ea typeface="Nunito"/>
              </a:rPr>
              <a:t>Q.3 What will happen if process P1 requests one additional instance of resource type A and two instances of resource type C?</a:t>
            </a:r>
            <a:endParaRPr lang="en-US" altLang="zh-CN" sz="1600" b="1" i="0">
              <a:solidFill>
                <a:srgbClr val="273239"/>
              </a:solidFill>
              <a:latin typeface="Nunito"/>
              <a:ea typeface="Nunito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" y="2538730"/>
            <a:ext cx="8916670" cy="42938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172200"/>
            <a:ext cx="3286125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847" y="1735886"/>
            <a:ext cx="7489825" cy="1615440"/>
          </a:xfrm>
        </p:spPr>
        <p:txBody>
          <a:bodyPr/>
          <a:p>
            <a:r>
              <a:rPr lang="en-US"/>
              <a:t>Q:4 If the request from P4 arrives for (0,0,2) can it be immediately granted?</a:t>
            </a:r>
            <a:endParaRPr lang="en-US"/>
          </a:p>
          <a:p>
            <a:endParaRPr lang="en-US"/>
          </a:p>
          <a:p>
            <a:r>
              <a:rPr lang="en-US"/>
              <a:t>Ans: No, Deadlock. Check it by running the resource-request algorithm.</a:t>
            </a:r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46888" y="442650"/>
            <a:ext cx="8452641" cy="550546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528" y="486825"/>
            <a:ext cx="8291391" cy="34775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11178</Words>
  <Application>WPS Presentation</Application>
  <PresentationFormat>On-screen Show (4:3)</PresentationFormat>
  <Paragraphs>489</Paragraphs>
  <Slides>59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77" baseType="lpstr">
      <vt:lpstr>Arial</vt:lpstr>
      <vt:lpstr>SimSun</vt:lpstr>
      <vt:lpstr>Wingdings</vt:lpstr>
      <vt:lpstr>Arial</vt:lpstr>
      <vt:lpstr>Arial MT</vt:lpstr>
      <vt:lpstr>Wingdings</vt:lpstr>
      <vt:lpstr>Georgia</vt:lpstr>
      <vt:lpstr>Times New Roman</vt:lpstr>
      <vt:lpstr>Microsoft YaHei</vt:lpstr>
      <vt:lpstr>汉仪旗黑</vt:lpstr>
      <vt:lpstr>Arial Unicode MS</vt:lpstr>
      <vt:lpstr>Calibri</vt:lpstr>
      <vt:lpstr>Helvetica Neue</vt:lpstr>
      <vt:lpstr>Calibri</vt:lpstr>
      <vt:lpstr>Nunito</vt:lpstr>
      <vt:lpstr>Thonburi</vt:lpstr>
      <vt:lpstr>汉仪书宋二KW</vt:lpstr>
      <vt:lpstr>Office Theme</vt:lpstr>
      <vt:lpstr>CHAPTER 7 DEADLOCKS</vt:lpstr>
      <vt:lpstr>Chapter Contents</vt:lpstr>
      <vt:lpstr>PowerPoint 演示文稿</vt:lpstr>
      <vt:lpstr>PowerPoint 演示文稿</vt:lpstr>
      <vt:lpstr>Deadlock-Example (Processes &amp; Devices)</vt:lpstr>
      <vt:lpstr>PowerPoint 演示文稿</vt:lpstr>
      <vt:lpstr>PowerPoint 演示文稿</vt:lpstr>
      <vt:lpstr>Sequence of events required to use a resource</vt:lpstr>
      <vt:lpstr>Deadlock-Resource Acquisition</vt:lpstr>
      <vt:lpstr>PowerPoint 演示文稿</vt:lpstr>
      <vt:lpstr>Definition</vt:lpstr>
      <vt:lpstr>1-	Mutual Exclusion Condition</vt:lpstr>
      <vt:lpstr>Which condition of deadlock is this?</vt:lpstr>
      <vt:lpstr>PowerPoint 演示文稿</vt:lpstr>
      <vt:lpstr>Introduction to Deadlocks-Conditions for Deadlock</vt:lpstr>
      <vt:lpstr>Resource Allocation Graph</vt:lpstr>
      <vt:lpstr>Introduction to Deadlocks-Deadlock Modeling</vt:lpstr>
      <vt:lpstr>Introduction to Deadlocks-Deadlock Modeling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Deadlock Avoidance Algorithm Safe and Unsafe States</vt:lpstr>
      <vt:lpstr>Graph-theoretic models</vt:lpstr>
      <vt:lpstr>Wait-for graph</vt:lpstr>
      <vt:lpstr>Resource allocation graph</vt:lpstr>
      <vt:lpstr>Wait-for graph and Resource-allocation graph conversion</vt:lpstr>
      <vt:lpstr>Strategies for handling deadlocks</vt:lpstr>
      <vt:lpstr>Avoidance algorithms</vt:lpstr>
      <vt:lpstr>PowerPoint 演示文稿</vt:lpstr>
      <vt:lpstr>PowerPoint 演示文稿</vt:lpstr>
      <vt:lpstr>PowerPoint 演示文稿</vt:lpstr>
      <vt:lpstr>PowerPoint 演示文稿</vt:lpstr>
      <vt:lpstr>Deadlock-Avoidance</vt:lpstr>
      <vt:lpstr>Banker’s Algorithm for a Single Resource</vt:lpstr>
      <vt:lpstr>Banker’s Algorithm for Multiple Resources</vt:lpstr>
      <vt:lpstr>Resources</vt:lpstr>
      <vt:lpstr>Find safe sequence?</vt:lpstr>
      <vt:lpstr>PowerPoint 演示文稿</vt:lpstr>
      <vt:lpstr>Class Exercise: 2</vt:lpstr>
      <vt:lpstr>Sample Question-1 with sol</vt:lpstr>
      <vt:lpstr>PowerPoint 演示文稿</vt:lpstr>
      <vt:lpstr>PowerPoint 演示文稿</vt:lpstr>
      <vt:lpstr>PowerPoint 演示文稿</vt:lpstr>
      <vt:lpstr>PowerPoint 演示文稿</vt:lpstr>
      <vt:lpstr>Sample Question-2 with sol</vt:lpstr>
      <vt:lpstr>PowerPoint 演示文稿</vt:lpstr>
      <vt:lpstr>PowerPoint 演示文稿</vt:lpstr>
      <vt:lpstr>PowerPoint 演示文稿</vt:lpstr>
      <vt:lpstr>PowerPoint 演示文稿</vt:lpstr>
      <vt:lpstr>Consider the following resource allocation graph.</vt:lpstr>
      <vt:lpstr>EXERCISE QUESTION: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 DEADLOCKS</dc:title>
  <dc:creator/>
  <cp:lastModifiedBy>Rubab Anam Janjua Ilyas janjua</cp:lastModifiedBy>
  <cp:revision>1</cp:revision>
  <dcterms:created xsi:type="dcterms:W3CDTF">2025-03-26T06:24:28Z</dcterms:created>
  <dcterms:modified xsi:type="dcterms:W3CDTF">2025-03-26T06:24:28Z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2024-11-13T05:00:00Z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2025-03-26T05:00:00Z</vt:filetime>
  </property>
  <property fmtid="{D5CDD505-2E9C-101B-9397-08002B2CF9AE}" pid="5" name="Producer">
    <vt:lpwstr>www.ilovepdf.com</vt:lpwstr>
  </property>
  <property fmtid="{D5CDD505-2E9C-101B-9397-08002B2CF9AE}" pid="6" name="ICV">
    <vt:lpwstr>DA4588CD5B6E06D39B9DE367B9672014_42</vt:lpwstr>
  </property>
  <property fmtid="{D5CDD505-2E9C-101B-9397-08002B2CF9AE}" pid="7" name="KSOProductBuildVer">
    <vt:lpwstr>1033-6.11.0.8615</vt:lpwstr>
  </property>
</Properties>
</file>