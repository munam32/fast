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5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0" d="100"/>
          <a:sy n="50" d="100"/>
        </p:scale>
        <p:origin x="1524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1491" y="337723"/>
            <a:ext cx="8475417" cy="1232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00AF5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103" y="192023"/>
            <a:ext cx="9915525" cy="7362825"/>
          </a:xfrm>
          <a:custGeom>
            <a:avLst/>
            <a:gdLst/>
            <a:ahLst/>
            <a:cxnLst/>
            <a:rect l="l" t="t" r="r" b="b"/>
            <a:pathLst>
              <a:path w="9915525" h="7362825">
                <a:moveTo>
                  <a:pt x="0" y="362711"/>
                </a:moveTo>
                <a:lnTo>
                  <a:pt x="3324" y="313316"/>
                </a:lnTo>
                <a:lnTo>
                  <a:pt x="13003" y="265994"/>
                </a:lnTo>
                <a:lnTo>
                  <a:pt x="28598" y="221170"/>
                </a:lnTo>
                <a:lnTo>
                  <a:pt x="49671" y="179267"/>
                </a:lnTo>
                <a:lnTo>
                  <a:pt x="75781" y="140708"/>
                </a:lnTo>
                <a:lnTo>
                  <a:pt x="106489" y="105917"/>
                </a:lnTo>
                <a:lnTo>
                  <a:pt x="141357" y="75318"/>
                </a:lnTo>
                <a:lnTo>
                  <a:pt x="179944" y="49332"/>
                </a:lnTo>
                <a:lnTo>
                  <a:pt x="221813" y="28384"/>
                </a:lnTo>
                <a:lnTo>
                  <a:pt x="266523" y="12897"/>
                </a:lnTo>
                <a:lnTo>
                  <a:pt x="313636" y="3294"/>
                </a:lnTo>
                <a:lnTo>
                  <a:pt x="362712" y="0"/>
                </a:lnTo>
                <a:lnTo>
                  <a:pt x="9552432" y="0"/>
                </a:lnTo>
                <a:lnTo>
                  <a:pt x="9601827" y="3294"/>
                </a:lnTo>
                <a:lnTo>
                  <a:pt x="9649149" y="12897"/>
                </a:lnTo>
                <a:lnTo>
                  <a:pt x="9693973" y="28384"/>
                </a:lnTo>
                <a:lnTo>
                  <a:pt x="9735876" y="49332"/>
                </a:lnTo>
                <a:lnTo>
                  <a:pt x="9774435" y="75318"/>
                </a:lnTo>
                <a:lnTo>
                  <a:pt x="9809226" y="105917"/>
                </a:lnTo>
                <a:lnTo>
                  <a:pt x="9839825" y="140708"/>
                </a:lnTo>
                <a:lnTo>
                  <a:pt x="9865811" y="179267"/>
                </a:lnTo>
                <a:lnTo>
                  <a:pt x="9886759" y="221170"/>
                </a:lnTo>
                <a:lnTo>
                  <a:pt x="9902246" y="265994"/>
                </a:lnTo>
                <a:lnTo>
                  <a:pt x="9911849" y="313316"/>
                </a:lnTo>
                <a:lnTo>
                  <a:pt x="9915144" y="362711"/>
                </a:lnTo>
                <a:lnTo>
                  <a:pt x="9915144" y="6999731"/>
                </a:lnTo>
                <a:lnTo>
                  <a:pt x="9911849" y="7048807"/>
                </a:lnTo>
                <a:lnTo>
                  <a:pt x="9902246" y="7095920"/>
                </a:lnTo>
                <a:lnTo>
                  <a:pt x="9886759" y="7140630"/>
                </a:lnTo>
                <a:lnTo>
                  <a:pt x="9865811" y="7182499"/>
                </a:lnTo>
                <a:lnTo>
                  <a:pt x="9839825" y="7221086"/>
                </a:lnTo>
                <a:lnTo>
                  <a:pt x="9809225" y="7255954"/>
                </a:lnTo>
                <a:lnTo>
                  <a:pt x="9774435" y="7286662"/>
                </a:lnTo>
                <a:lnTo>
                  <a:pt x="9735876" y="7312772"/>
                </a:lnTo>
                <a:lnTo>
                  <a:pt x="9693973" y="7333845"/>
                </a:lnTo>
                <a:lnTo>
                  <a:pt x="9649149" y="7349440"/>
                </a:lnTo>
                <a:lnTo>
                  <a:pt x="9601827" y="7359119"/>
                </a:lnTo>
                <a:lnTo>
                  <a:pt x="9552432" y="7362443"/>
                </a:lnTo>
                <a:lnTo>
                  <a:pt x="362712" y="7362443"/>
                </a:lnTo>
                <a:lnTo>
                  <a:pt x="313636" y="7359119"/>
                </a:lnTo>
                <a:lnTo>
                  <a:pt x="266523" y="7349440"/>
                </a:lnTo>
                <a:lnTo>
                  <a:pt x="221813" y="7333845"/>
                </a:lnTo>
                <a:lnTo>
                  <a:pt x="179944" y="7312772"/>
                </a:lnTo>
                <a:lnTo>
                  <a:pt x="141357" y="7286662"/>
                </a:lnTo>
                <a:lnTo>
                  <a:pt x="106489" y="7255954"/>
                </a:lnTo>
                <a:lnTo>
                  <a:pt x="75781" y="7221086"/>
                </a:lnTo>
                <a:lnTo>
                  <a:pt x="49671" y="7182499"/>
                </a:lnTo>
                <a:lnTo>
                  <a:pt x="28598" y="7140630"/>
                </a:lnTo>
                <a:lnTo>
                  <a:pt x="13003" y="7095920"/>
                </a:lnTo>
                <a:lnTo>
                  <a:pt x="3324" y="7048807"/>
                </a:lnTo>
                <a:lnTo>
                  <a:pt x="0" y="6999731"/>
                </a:lnTo>
                <a:lnTo>
                  <a:pt x="0" y="362711"/>
                </a:lnTo>
                <a:close/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5474" y="202229"/>
            <a:ext cx="8867450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7703" y="2389196"/>
            <a:ext cx="7134225" cy="2663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95247" y="7039050"/>
            <a:ext cx="2503170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69646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0604" y="7077995"/>
            <a:ext cx="305434" cy="247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bg1"/>
                </a:solidFill>
                <a:latin typeface="Trebuchet MS" panose="020B0603020202020204"/>
                <a:cs typeface="Trebuchet MS" panose="020B0603020202020204"/>
              </a:defRPr>
            </a:lvl1pPr>
          </a:lstStyle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5444" y="1035288"/>
            <a:ext cx="4203700" cy="1668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19200" marR="5080" indent="-1207135">
              <a:lnSpc>
                <a:spcPct val="112000"/>
              </a:lnSpc>
              <a:spcBef>
                <a:spcPts val="90"/>
              </a:spcBef>
            </a:pPr>
            <a:r>
              <a:rPr sz="4800" b="0" spc="-15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Operating </a:t>
            </a:r>
            <a:r>
              <a:rPr sz="4800" b="0" spc="-30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Systems  </a:t>
            </a:r>
            <a:r>
              <a:rPr sz="4800" b="0" spc="-27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CS2006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869" y="3255521"/>
            <a:ext cx="4305935" cy="126701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lang="en-US" sz="3500" spc="-130" dirty="0">
                <a:latin typeface="Times New Roman" panose="02020603050405020304"/>
                <a:cs typeface="Times New Roman" panose="02020603050405020304"/>
              </a:rPr>
              <a:t>Chapter: 4</a:t>
            </a:r>
            <a:endParaRPr sz="35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3500" b="1" spc="-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3500" b="1" spc="-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500" b="1" spc="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Scheduling-II</a:t>
            </a:r>
            <a:endParaRPr sz="35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551249"/>
            <a:ext cx="58146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What’s </a:t>
            </a:r>
            <a:r>
              <a:rPr spc="-260" dirty="0"/>
              <a:t>in </a:t>
            </a:r>
            <a:r>
              <a:rPr spc="-320" dirty="0"/>
              <a:t>today’s</a:t>
            </a:r>
            <a:r>
              <a:rPr spc="60" dirty="0"/>
              <a:t> </a:t>
            </a:r>
            <a:r>
              <a:rPr spc="-220" dirty="0"/>
              <a:t>lecture</a:t>
            </a:r>
            <a:endParaRPr spc="-22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04959"/>
            <a:ext cx="4131310" cy="168528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45" dirty="0">
                <a:latin typeface="Times New Roman" panose="02020603050405020304"/>
                <a:cs typeface="Times New Roman" panose="02020603050405020304"/>
              </a:rPr>
              <a:t>Basic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Concepts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Criteria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b="1" spc="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sz="3050" b="1" spc="-29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Algorithms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32" y="653402"/>
            <a:ext cx="449707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75" dirty="0"/>
              <a:t>Scheduling</a:t>
            </a:r>
            <a:r>
              <a:rPr sz="3750" spc="-130" dirty="0"/>
              <a:t> </a:t>
            </a:r>
            <a:r>
              <a:rPr sz="3750" spc="-310" dirty="0"/>
              <a:t>Algorithms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04959"/>
            <a:ext cx="5937250" cy="334517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3050" spc="-9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come, </a:t>
            </a:r>
            <a:r>
              <a:rPr sz="3050" spc="-105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First </a:t>
            </a:r>
            <a:r>
              <a:rPr sz="3050" spc="-12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serve</a:t>
            </a:r>
            <a:r>
              <a:rPr sz="3050" spc="-14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10" dirty="0">
                <a:solidFill>
                  <a:srgbClr val="0070BF"/>
                </a:solidFill>
                <a:latin typeface="Times New Roman" panose="02020603050405020304"/>
                <a:cs typeface="Times New Roman" panose="02020603050405020304"/>
              </a:rPr>
              <a:t>(FCFS)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70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Shortest </a:t>
            </a:r>
            <a:r>
              <a:rPr sz="3050" spc="-17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3050" spc="-10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3050" spc="-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(SJF)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7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3050" spc="-114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Round-Robin</a:t>
            </a:r>
            <a:r>
              <a:rPr sz="3050" spc="-8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Multi-level </a:t>
            </a:r>
            <a:r>
              <a:rPr sz="3050" spc="-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3050" spc="-7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Multi-level </a:t>
            </a:r>
            <a:r>
              <a:rPr sz="3050" spc="-18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Feed </a:t>
            </a:r>
            <a:r>
              <a:rPr sz="3050" spc="-1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back </a:t>
            </a:r>
            <a:r>
              <a:rPr sz="3050" spc="-1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3050" spc="13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70" y="369767"/>
            <a:ext cx="7939405" cy="629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940"/>
              </a:lnSpc>
            </a:pPr>
            <a:r>
              <a:rPr spc="15" dirty="0"/>
              <a:t>2</a:t>
            </a:r>
            <a:r>
              <a:rPr sz="3950" spc="15" dirty="0"/>
              <a:t>. </a:t>
            </a:r>
            <a:r>
              <a:rPr sz="3950" spc="-285" dirty="0"/>
              <a:t>Shortest-Job-First </a:t>
            </a:r>
            <a:r>
              <a:rPr sz="3950" spc="-355" dirty="0"/>
              <a:t>(SJF)</a:t>
            </a:r>
            <a:r>
              <a:rPr sz="3950" spc="-155" dirty="0"/>
              <a:t> </a:t>
            </a:r>
            <a:r>
              <a:rPr sz="3950" spc="-280" dirty="0"/>
              <a:t>Scheduling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997781" y="1253705"/>
            <a:ext cx="8344534" cy="5256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8420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Associate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length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next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 </a:t>
            </a:r>
            <a:r>
              <a:rPr sz="3050" spc="-40" dirty="0">
                <a:latin typeface="Times New Roman" panose="02020603050405020304"/>
                <a:cs typeface="Times New Roman" panose="02020603050405020304"/>
              </a:rPr>
              <a:t>burst.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Use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these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lengths </a:t>
            </a:r>
            <a:r>
              <a:rPr sz="3050" spc="-2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schedule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shortest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3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75" dirty="0">
                <a:latin typeface="Times New Roman" panose="02020603050405020304"/>
                <a:cs typeface="Times New Roman" panose="02020603050405020304"/>
              </a:rPr>
              <a:t>Two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schemes: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1460">
              <a:lnSpc>
                <a:spcPts val="3100"/>
              </a:lnSpc>
              <a:spcBef>
                <a:spcPts val="31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Nonpreemptive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–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once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given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cannot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 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preempted until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completes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burst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363220" lvl="1" indent="-251460">
              <a:lnSpc>
                <a:spcPct val="99000"/>
              </a:lnSpc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solidFill>
                  <a:srgbClr val="00AFEF"/>
                </a:solidFill>
                <a:latin typeface="Times New Roman" panose="02020603050405020304"/>
                <a:cs typeface="Times New Roman" panose="02020603050405020304"/>
              </a:rPr>
              <a:t>Preemptive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–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new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arrives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burst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length 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less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than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remaining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current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executing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process, 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preempt.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scheme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know 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Shortest-Remaining-  </a:t>
            </a:r>
            <a:r>
              <a:rPr sz="2650" spc="-11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Time-First</a:t>
            </a:r>
            <a:r>
              <a:rPr sz="2650" spc="-7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(SRTF)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50800" indent="-300355">
              <a:lnSpc>
                <a:spcPts val="3600"/>
              </a:lnSpc>
              <a:spcBef>
                <a:spcPts val="22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300" dirty="0">
                <a:latin typeface="Times New Roman" panose="02020603050405020304"/>
                <a:cs typeface="Times New Roman" panose="02020603050405020304"/>
              </a:rPr>
              <a:t>SJF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optimal 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–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gives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minimum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average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 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given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set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processes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500" y="472051"/>
            <a:ext cx="74910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Example </a:t>
            </a:r>
            <a:r>
              <a:rPr spc="-250" dirty="0"/>
              <a:t>of </a:t>
            </a:r>
            <a:r>
              <a:rPr spc="-295" dirty="0"/>
              <a:t>Non-Preemptive</a:t>
            </a:r>
            <a:r>
              <a:rPr spc="50" dirty="0"/>
              <a:t> </a:t>
            </a:r>
            <a:r>
              <a:rPr spc="-555" dirty="0"/>
              <a:t>SJF</a:t>
            </a:r>
            <a:endParaRPr spc="-555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01461" y="1638093"/>
          <a:ext cx="5320029" cy="2394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8054"/>
                <a:gridCol w="1831975"/>
              </a:tblGrid>
              <a:tr h="443902">
                <a:tc>
                  <a:txBody>
                    <a:bodyPr/>
                    <a:lstStyle/>
                    <a:p>
                      <a:pPr marL="31750">
                        <a:lnSpc>
                          <a:spcPts val="3170"/>
                        </a:lnSpc>
                        <a:tabLst>
                          <a:tab pos="1523365" algn="l"/>
                        </a:tabLst>
                      </a:pPr>
                      <a:r>
                        <a:rPr sz="265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Process	</a:t>
                      </a:r>
                      <a:r>
                        <a:rPr sz="2650" u="heavy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Arrival</a:t>
                      </a:r>
                      <a:r>
                        <a:rPr sz="2650" u="heavy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265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Time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 algn="ctr">
                        <a:lnSpc>
                          <a:spcPts val="3170"/>
                        </a:lnSpc>
                      </a:pPr>
                      <a:r>
                        <a:rPr sz="265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Burst</a:t>
                      </a:r>
                      <a:r>
                        <a:rPr sz="2650" u="heavy" spc="-6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265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Time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</a:tr>
              <a:tr h="512065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2172335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1	</a:t>
                      </a:r>
                      <a:r>
                        <a:rPr sz="2650" spc="-10" dirty="0">
                          <a:latin typeface="Tahoma" panose="020B0604030504040204"/>
                          <a:cs typeface="Tahoma" panose="020B0604030504040204"/>
                        </a:rPr>
                        <a:t>0.0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7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8100" marB="0"/>
                </a:tc>
              </a:tr>
              <a:tr h="482319">
                <a:tc>
                  <a:txBody>
                    <a:bodyPr/>
                    <a:lstStyle/>
                    <a:p>
                      <a:pPr marL="464820">
                        <a:lnSpc>
                          <a:spcPts val="3270"/>
                        </a:lnSpc>
                        <a:tabLst>
                          <a:tab pos="2172335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2	</a:t>
                      </a:r>
                      <a:r>
                        <a:rPr sz="2650" spc="-10" dirty="0">
                          <a:latin typeface="Tahoma" panose="020B0604030504040204"/>
                          <a:cs typeface="Tahoma" panose="020B0604030504040204"/>
                        </a:rPr>
                        <a:t>2.0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4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7620" marB="0"/>
                </a:tc>
              </a:tr>
              <a:tr h="483139">
                <a:tc>
                  <a:txBody>
                    <a:bodyPr/>
                    <a:lstStyle/>
                    <a:p>
                      <a:pPr marL="464820">
                        <a:lnSpc>
                          <a:spcPts val="3275"/>
                        </a:lnSpc>
                        <a:tabLst>
                          <a:tab pos="2174240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3	</a:t>
                      </a:r>
                      <a:r>
                        <a:rPr sz="2650" spc="-20" dirty="0">
                          <a:latin typeface="Tahoma" panose="020B0604030504040204"/>
                          <a:cs typeface="Tahoma" panose="020B0604030504040204"/>
                        </a:rPr>
                        <a:t>4.0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83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8255" marB="0"/>
                </a:tc>
              </a:tr>
              <a:tr h="473511">
                <a:tc>
                  <a:txBody>
                    <a:bodyPr/>
                    <a:lstStyle/>
                    <a:p>
                      <a:pPr marL="464820">
                        <a:lnSpc>
                          <a:spcPts val="3275"/>
                        </a:lnSpc>
                        <a:tabLst>
                          <a:tab pos="2172335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4	</a:t>
                      </a:r>
                      <a:r>
                        <a:rPr sz="2650" spc="-10" dirty="0">
                          <a:latin typeface="Tahoma" panose="020B0604030504040204"/>
                          <a:cs typeface="Tahoma" panose="020B0604030504040204"/>
                        </a:rPr>
                        <a:t>5.0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4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8255" marB="0"/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  <p:sp>
        <p:nvSpPr>
          <p:cNvPr id="5" name="object 5"/>
          <p:cNvSpPr txBox="1"/>
          <p:nvPr/>
        </p:nvSpPr>
        <p:spPr>
          <a:xfrm>
            <a:off x="1115036" y="4039595"/>
            <a:ext cx="359981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0525" algn="l"/>
              </a:tabLst>
            </a:pPr>
            <a:r>
              <a:rPr sz="1550" spc="-370" dirty="0">
                <a:solidFill>
                  <a:srgbClr val="95A8A8"/>
                </a:solidFill>
                <a:latin typeface="Georgia" panose="02040502050405020303"/>
                <a:cs typeface="Georgia" panose="02040502050405020303"/>
              </a:rPr>
              <a:t>	</a:t>
            </a:r>
            <a:r>
              <a:rPr sz="2650" spc="-5" dirty="0">
                <a:latin typeface="Tahoma" panose="020B0604030504040204"/>
                <a:cs typeface="Tahoma" panose="020B0604030504040204"/>
              </a:rPr>
              <a:t>SJF</a:t>
            </a:r>
            <a:r>
              <a:rPr sz="2650" spc="-80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(non-preemptive)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546097" y="4976621"/>
          <a:ext cx="5783574" cy="922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"/>
                <a:gridCol w="419100"/>
                <a:gridCol w="419100"/>
                <a:gridCol w="419100"/>
                <a:gridCol w="335280"/>
                <a:gridCol w="335280"/>
                <a:gridCol w="251460"/>
                <a:gridCol w="502919"/>
                <a:gridCol w="419100"/>
                <a:gridCol w="335279"/>
                <a:gridCol w="335279"/>
                <a:gridCol w="251460"/>
                <a:gridCol w="419100"/>
                <a:gridCol w="335279"/>
                <a:gridCol w="335279"/>
                <a:gridCol w="335279"/>
              </a:tblGrid>
              <a:tr h="547116">
                <a:tc gridSpan="7">
                  <a:txBody>
                    <a:bodyPr/>
                    <a:lstStyle/>
                    <a:p>
                      <a:pPr marR="535940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26365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4">
                  <a:txBody>
                    <a:bodyPr/>
                    <a:lstStyle/>
                    <a:p>
                      <a:pPr marR="116840"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23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0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23444"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15036" y="5850045"/>
            <a:ext cx="7265670" cy="1031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68935">
              <a:lnSpc>
                <a:spcPct val="100000"/>
              </a:lnSpc>
              <a:spcBef>
                <a:spcPts val="130"/>
              </a:spcBef>
              <a:tabLst>
                <a:tab pos="1466215" algn="l"/>
                <a:tab pos="2883535" algn="l"/>
                <a:tab pos="3385820" algn="l"/>
                <a:tab pos="4643755" algn="l"/>
                <a:tab pos="6020435" algn="l"/>
              </a:tabLst>
            </a:pPr>
            <a:r>
              <a:rPr sz="1950" spc="15" dirty="0">
                <a:latin typeface="Arial" panose="020B0604020202020204"/>
                <a:cs typeface="Arial" panose="020B0604020202020204"/>
              </a:rPr>
              <a:t>0	3	7	8	12	16</a:t>
            </a:r>
            <a:endParaRPr sz="19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tabLst>
                <a:tab pos="390525" algn="l"/>
              </a:tabLst>
            </a:pPr>
            <a:r>
              <a:rPr sz="1550" spc="-370" dirty="0">
                <a:solidFill>
                  <a:srgbClr val="95A8A8"/>
                </a:solidFill>
                <a:latin typeface="Georgia" panose="02040502050405020303"/>
                <a:cs typeface="Georgia" panose="02040502050405020303"/>
              </a:rPr>
              <a:t>	</a:t>
            </a:r>
            <a:r>
              <a:rPr sz="2650" spc="-25" dirty="0">
                <a:latin typeface="Tahoma" panose="020B0604030504040204"/>
                <a:cs typeface="Tahoma" panose="020B0604030504040204"/>
              </a:rPr>
              <a:t>Average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waiting </a:t>
            </a:r>
            <a:r>
              <a:rPr sz="2650" spc="-5" dirty="0">
                <a:latin typeface="Tahoma" panose="020B0604030504040204"/>
                <a:cs typeface="Tahoma" panose="020B0604030504040204"/>
              </a:rPr>
              <a:t>time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= (0 + 6 + 3 + 7)/4 =</a:t>
            </a:r>
            <a:r>
              <a:rPr sz="2650" spc="90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4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marR="5080">
              <a:lnSpc>
                <a:spcPct val="100000"/>
              </a:lnSpc>
              <a:spcBef>
                <a:spcPts val="100"/>
              </a:spcBef>
            </a:pPr>
            <a:r>
              <a:rPr spc="-480" dirty="0"/>
              <a:t>SRTF </a:t>
            </a:r>
            <a:r>
              <a:rPr spc="-365" dirty="0"/>
              <a:t>- </a:t>
            </a:r>
            <a:r>
              <a:rPr spc="-265" dirty="0"/>
              <a:t>Shortest </a:t>
            </a:r>
            <a:r>
              <a:rPr spc="-295" dirty="0"/>
              <a:t>Remaining </a:t>
            </a:r>
            <a:r>
              <a:rPr spc="-300" dirty="0"/>
              <a:t>Time  </a:t>
            </a:r>
            <a:r>
              <a:rPr spc="-285" dirty="0"/>
              <a:t>First</a:t>
            </a:r>
            <a:endParaRPr spc="-285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46002"/>
            <a:ext cx="8388350" cy="403479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Preemptive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version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305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300" dirty="0">
                <a:latin typeface="Times New Roman" panose="02020603050405020304"/>
                <a:cs typeface="Times New Roman" panose="02020603050405020304"/>
              </a:rPr>
              <a:t>SJF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19050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ordered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length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till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completion 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(shortest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first)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Arriving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inserted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proper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position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Shortest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job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1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  <a:tab pos="6164580" algn="l"/>
              </a:tabLst>
            </a:pP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Runs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completion </a:t>
            </a:r>
            <a:r>
              <a:rPr sz="2650" spc="-30" dirty="0">
                <a:latin typeface="Times New Roman" panose="02020603050405020304"/>
                <a:cs typeface="Times New Roman" panose="02020603050405020304"/>
              </a:rPr>
              <a:t>(i.e.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burst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finishes)	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or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ts val="3170"/>
              </a:lnSpc>
              <a:spcBef>
                <a:spcPts val="53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  <a:tab pos="1373505" algn="l"/>
                <a:tab pos="2077720" algn="l"/>
                <a:tab pos="2345690" algn="l"/>
                <a:tab pos="2872105" algn="l"/>
                <a:tab pos="3559810" algn="l"/>
                <a:tab pos="3827145" algn="l"/>
                <a:tab pos="4853940" algn="l"/>
                <a:tab pos="6211570" algn="l"/>
                <a:tab pos="6905625" algn="l"/>
                <a:tab pos="7867650" algn="l"/>
              </a:tabLst>
            </a:pP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un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114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2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65" dirty="0">
                <a:latin typeface="Times New Roman" panose="02020603050405020304"/>
                <a:cs typeface="Times New Roman" panose="02020603050405020304"/>
              </a:rPr>
              <a:t>rr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27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95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. 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placed in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26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queue)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marR="5080">
              <a:lnSpc>
                <a:spcPct val="100000"/>
              </a:lnSpc>
              <a:spcBef>
                <a:spcPts val="100"/>
              </a:spcBef>
            </a:pPr>
            <a:r>
              <a:rPr spc="-325" dirty="0"/>
              <a:t>Example </a:t>
            </a:r>
            <a:r>
              <a:rPr spc="-250" dirty="0"/>
              <a:t>of </a:t>
            </a:r>
            <a:r>
              <a:rPr spc="-275" dirty="0"/>
              <a:t>Preemptive </a:t>
            </a:r>
            <a:r>
              <a:rPr spc="-555" dirty="0"/>
              <a:t>SJF </a:t>
            </a:r>
            <a:r>
              <a:rPr spc="-150" dirty="0"/>
              <a:t>(i.e.,  </a:t>
            </a:r>
            <a:r>
              <a:rPr spc="-425" dirty="0"/>
              <a:t>SRTF)</a:t>
            </a:r>
            <a:endParaRPr spc="-425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80178" y="1755474"/>
          <a:ext cx="5320029" cy="23949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8054"/>
                <a:gridCol w="1831975"/>
              </a:tblGrid>
              <a:tr h="443902">
                <a:tc>
                  <a:txBody>
                    <a:bodyPr/>
                    <a:lstStyle/>
                    <a:p>
                      <a:pPr marL="31750">
                        <a:lnSpc>
                          <a:spcPts val="3170"/>
                        </a:lnSpc>
                        <a:tabLst>
                          <a:tab pos="1523365" algn="l"/>
                        </a:tabLst>
                      </a:pPr>
                      <a:r>
                        <a:rPr sz="265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Process	</a:t>
                      </a:r>
                      <a:r>
                        <a:rPr sz="2650" u="heavy" spc="-1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Arrival</a:t>
                      </a:r>
                      <a:r>
                        <a:rPr sz="2650" u="heavy" spc="-4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265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Time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 algn="ctr">
                        <a:lnSpc>
                          <a:spcPts val="3170"/>
                        </a:lnSpc>
                      </a:pPr>
                      <a:r>
                        <a:rPr sz="2650" u="heavy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Burst</a:t>
                      </a:r>
                      <a:r>
                        <a:rPr sz="2650" u="heavy" spc="-6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 </a:t>
                      </a:r>
                      <a:r>
                        <a:rPr sz="2650" u="heavy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 panose="020B0604030504040204"/>
                          <a:cs typeface="Tahoma" panose="020B0604030504040204"/>
                        </a:rPr>
                        <a:t>Time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</a:tr>
              <a:tr h="512006"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150"/>
                        </a:spcBef>
                        <a:tabLst>
                          <a:tab pos="2172335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1	</a:t>
                      </a:r>
                      <a:r>
                        <a:rPr sz="2650" spc="-10" dirty="0">
                          <a:latin typeface="Tahoma" panose="020B0604030504040204"/>
                          <a:cs typeface="Tahoma" panose="020B0604030504040204"/>
                        </a:rPr>
                        <a:t>0.0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7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38100" marB="0"/>
                </a:tc>
              </a:tr>
              <a:tr h="482373">
                <a:tc>
                  <a:txBody>
                    <a:bodyPr/>
                    <a:lstStyle/>
                    <a:p>
                      <a:pPr marL="464820">
                        <a:lnSpc>
                          <a:spcPts val="3270"/>
                        </a:lnSpc>
                        <a:tabLst>
                          <a:tab pos="2172335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2	</a:t>
                      </a:r>
                      <a:r>
                        <a:rPr sz="2650" spc="-10" dirty="0">
                          <a:latin typeface="Tahoma" panose="020B0604030504040204"/>
                          <a:cs typeface="Tahoma" panose="020B0604030504040204"/>
                        </a:rPr>
                        <a:t>2.0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4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7620" marB="0"/>
                </a:tc>
              </a:tr>
              <a:tr h="483084">
                <a:tc>
                  <a:txBody>
                    <a:bodyPr/>
                    <a:lstStyle/>
                    <a:p>
                      <a:pPr marL="464820">
                        <a:lnSpc>
                          <a:spcPts val="3275"/>
                        </a:lnSpc>
                        <a:tabLst>
                          <a:tab pos="2174240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3	</a:t>
                      </a:r>
                      <a:r>
                        <a:rPr sz="2650" spc="-20" dirty="0">
                          <a:latin typeface="Tahoma" panose="020B0604030504040204"/>
                          <a:cs typeface="Tahoma" panose="020B0604030504040204"/>
                        </a:rPr>
                        <a:t>4.0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1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8255" marB="0"/>
                </a:tc>
              </a:tr>
              <a:tr h="473562">
                <a:tc>
                  <a:txBody>
                    <a:bodyPr/>
                    <a:lstStyle/>
                    <a:p>
                      <a:pPr marL="464820">
                        <a:lnSpc>
                          <a:spcPts val="3275"/>
                        </a:lnSpc>
                        <a:tabLst>
                          <a:tab pos="2172335" algn="l"/>
                        </a:tabLst>
                      </a:pPr>
                      <a:r>
                        <a:rPr sz="2800" i="1" spc="-745" dirty="0">
                          <a:latin typeface="Verdana" panose="020B0604030504040204"/>
                          <a:cs typeface="Verdana" panose="020B0604030504040204"/>
                        </a:rPr>
                        <a:t>P</a:t>
                      </a:r>
                      <a:r>
                        <a:rPr sz="2775" i="1" spc="-1117" baseline="-20000" dirty="0">
                          <a:latin typeface="Verdana" panose="020B0604030504040204"/>
                          <a:cs typeface="Verdana" panose="020B0604030504040204"/>
                        </a:rPr>
                        <a:t>4	</a:t>
                      </a:r>
                      <a:r>
                        <a:rPr sz="2650" spc="-10" dirty="0">
                          <a:latin typeface="Tahoma" panose="020B0604030504040204"/>
                          <a:cs typeface="Tahoma" panose="020B0604030504040204"/>
                        </a:rPr>
                        <a:t>5.0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650" dirty="0">
                          <a:latin typeface="Tahoma" panose="020B0604030504040204"/>
                          <a:cs typeface="Tahoma" panose="020B0604030504040204"/>
                        </a:rPr>
                        <a:t>4</a:t>
                      </a:r>
                      <a:endParaRPr sz="2650">
                        <a:latin typeface="Tahoma" panose="020B0604030504040204"/>
                        <a:cs typeface="Tahoma" panose="020B0604030504040204"/>
                      </a:endParaRPr>
                    </a:p>
                  </a:txBody>
                  <a:tcPr marL="0" marR="0" marT="8255" marB="0"/>
                </a:tc>
              </a:tr>
            </a:tbl>
          </a:graphicData>
        </a:graphic>
      </p:graphicFrame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  <p:sp>
        <p:nvSpPr>
          <p:cNvPr id="5" name="object 5"/>
          <p:cNvSpPr txBox="1"/>
          <p:nvPr/>
        </p:nvSpPr>
        <p:spPr>
          <a:xfrm>
            <a:off x="1093721" y="4156975"/>
            <a:ext cx="4421505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0525" algn="l"/>
              </a:tabLst>
            </a:pPr>
            <a:r>
              <a:rPr sz="1550" spc="-370" dirty="0">
                <a:solidFill>
                  <a:srgbClr val="95A8A8"/>
                </a:solidFill>
                <a:latin typeface="Georgia" panose="02040502050405020303"/>
                <a:cs typeface="Georgia" panose="02040502050405020303"/>
              </a:rPr>
              <a:t>	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Preemptive </a:t>
            </a:r>
            <a:r>
              <a:rPr sz="2650" spc="-5" dirty="0">
                <a:latin typeface="Tahoma" panose="020B0604030504040204"/>
                <a:cs typeface="Tahoma" panose="020B0604030504040204"/>
              </a:rPr>
              <a:t>SJF </a:t>
            </a:r>
            <a:r>
              <a:rPr sz="2650" spc="-35" dirty="0">
                <a:latin typeface="Tahoma" panose="020B0604030504040204"/>
                <a:cs typeface="Tahoma" panose="020B0604030504040204"/>
              </a:rPr>
              <a:t>(i.e.,</a:t>
            </a:r>
            <a:r>
              <a:rPr sz="2650" spc="-95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25" dirty="0">
                <a:latin typeface="Tahoma" panose="020B0604030504040204"/>
                <a:cs typeface="Tahoma" panose="020B0604030504040204"/>
              </a:rPr>
              <a:t>SRTF)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3721" y="6570962"/>
            <a:ext cx="716153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90525" algn="l"/>
              </a:tabLst>
            </a:pPr>
            <a:r>
              <a:rPr sz="1550" spc="-370" dirty="0">
                <a:solidFill>
                  <a:srgbClr val="95A8A8"/>
                </a:solidFill>
                <a:latin typeface="Georgia" panose="02040502050405020303"/>
                <a:cs typeface="Georgia" panose="02040502050405020303"/>
              </a:rPr>
              <a:t>	</a:t>
            </a:r>
            <a:r>
              <a:rPr sz="2650" spc="-25" dirty="0">
                <a:latin typeface="Tahoma" panose="020B0604030504040204"/>
                <a:cs typeface="Tahoma" panose="020B0604030504040204"/>
              </a:rPr>
              <a:t>Average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waiting </a:t>
            </a:r>
            <a:r>
              <a:rPr sz="2650" spc="-5" dirty="0">
                <a:latin typeface="Tahoma" panose="020B0604030504040204"/>
                <a:cs typeface="Tahoma" panose="020B0604030504040204"/>
              </a:rPr>
              <a:t>time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= (9 + 1 + 0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+2)/4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=</a:t>
            </a:r>
            <a:r>
              <a:rPr sz="2650" spc="120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3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8301" y="5891300"/>
            <a:ext cx="16573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15" dirty="0">
                <a:latin typeface="Arial" panose="020B0604020202020204"/>
                <a:cs typeface="Arial" panose="020B0604020202020204"/>
              </a:rPr>
              <a:t>0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98817" y="5959813"/>
            <a:ext cx="251269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850265" algn="l"/>
                <a:tab pos="1437640" algn="l"/>
                <a:tab pos="2359025" algn="l"/>
              </a:tabLst>
            </a:pPr>
            <a:r>
              <a:rPr sz="1950" spc="15" dirty="0">
                <a:latin typeface="Arial" panose="020B0604020202020204"/>
                <a:cs typeface="Arial" panose="020B0604020202020204"/>
              </a:rPr>
              <a:t>2	4	5	7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902714" y="5017770"/>
          <a:ext cx="6118852" cy="990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"/>
                <a:gridCol w="335280"/>
                <a:gridCol w="502920"/>
                <a:gridCol w="335280"/>
                <a:gridCol w="586739"/>
                <a:gridCol w="419100"/>
                <a:gridCol w="502919"/>
                <a:gridCol w="419100"/>
                <a:gridCol w="335279"/>
                <a:gridCol w="335279"/>
                <a:gridCol w="251460"/>
                <a:gridCol w="419100"/>
                <a:gridCol w="335279"/>
                <a:gridCol w="335279"/>
                <a:gridCol w="335279"/>
                <a:gridCol w="335279"/>
              </a:tblGrid>
              <a:tr h="547115">
                <a:tc gridSpan="2"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5179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67970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2636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950" spc="1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22" baseline="-2100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19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950" spc="15" baseline="-21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950" baseline="-21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  <a:tr h="1234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 gridSpan="2">
                  <a:tcPr marL="0" marR="0" marT="1149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2023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110713" y="5875952"/>
            <a:ext cx="20593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64030" algn="l"/>
              </a:tabLst>
            </a:pPr>
            <a:r>
              <a:rPr sz="1950" spc="-140" dirty="0">
                <a:latin typeface="Arial" panose="020B0604020202020204"/>
                <a:cs typeface="Arial" panose="020B0604020202020204"/>
              </a:rPr>
              <a:t>1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1</a:t>
            </a:r>
            <a:r>
              <a:rPr sz="1950" dirty="0">
                <a:latin typeface="Arial" panose="020B0604020202020204"/>
                <a:cs typeface="Arial" panose="020B0604020202020204"/>
              </a:rPr>
              <a:t>	</a:t>
            </a:r>
            <a:r>
              <a:rPr sz="1950" spc="20" dirty="0">
                <a:latin typeface="Arial" panose="020B0604020202020204"/>
                <a:cs typeface="Arial" panose="020B0604020202020204"/>
              </a:rPr>
              <a:t>1</a:t>
            </a:r>
            <a:r>
              <a:rPr sz="1950" spc="15" dirty="0">
                <a:latin typeface="Arial" panose="020B0604020202020204"/>
                <a:cs typeface="Arial" panose="020B0604020202020204"/>
              </a:rPr>
              <a:t>6</a:t>
            </a:r>
            <a:endParaRPr sz="19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9852" y="162590"/>
            <a:ext cx="6953884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80" dirty="0"/>
              <a:t>Shortest-Job-First </a:t>
            </a:r>
            <a:r>
              <a:rPr sz="3750" spc="-350" dirty="0"/>
              <a:t>(SJF)</a:t>
            </a:r>
            <a:r>
              <a:rPr sz="3750" spc="25" dirty="0"/>
              <a:t> </a:t>
            </a:r>
            <a:r>
              <a:rPr sz="3750" spc="-275" dirty="0"/>
              <a:t>Scheduling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456637" y="561787"/>
            <a:ext cx="9490075" cy="55613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12420" marR="6350" indent="-300355">
              <a:lnSpc>
                <a:spcPts val="3700"/>
              </a:lnSpc>
              <a:spcBef>
                <a:spcPts val="680"/>
              </a:spcBef>
              <a:buClr>
                <a:srgbClr val="D34816"/>
              </a:buClr>
              <a:buSzPct val="116000"/>
              <a:buFont typeface="Georgia" panose="02040502050405020303"/>
              <a:buChar char=""/>
              <a:tabLst>
                <a:tab pos="31305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treated 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as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based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smallest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CPU- 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requirement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37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Arriving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inserted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proper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position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6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Shortest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(1st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queue)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runs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265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completion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general, </a:t>
            </a:r>
            <a:r>
              <a:rPr sz="3050" spc="-300" dirty="0">
                <a:latin typeface="Times New Roman" panose="02020603050405020304"/>
                <a:cs typeface="Times New Roman" panose="02020603050405020304"/>
              </a:rPr>
              <a:t>SJF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often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long-term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Advantages: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provably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optimal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w.r.t.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average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Disadvantages: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Unimplementable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level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short-term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scheduling.Also,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starvation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possible!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6985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1025525" algn="l"/>
                <a:tab pos="1530350" algn="l"/>
                <a:tab pos="1883410" algn="l"/>
                <a:tab pos="2678430" algn="l"/>
                <a:tab pos="4444365" algn="l"/>
                <a:tab pos="4754245" algn="l"/>
                <a:tab pos="6562725" algn="l"/>
                <a:tab pos="8032115" algn="l"/>
                <a:tab pos="8474710" algn="l"/>
                <a:tab pos="8745220" algn="l"/>
              </a:tabLst>
            </a:pP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26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05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xp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2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3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9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3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240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45" dirty="0">
                <a:latin typeface="Times New Roman" panose="02020603050405020304"/>
                <a:cs typeface="Times New Roman" panose="02020603050405020304"/>
              </a:rPr>
              <a:t>t 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	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		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12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ct val="100000"/>
              </a:lnSpc>
              <a:spcBef>
                <a:spcPts val="35"/>
              </a:spcBef>
            </a:pPr>
            <a:r>
              <a:rPr sz="3050" spc="330" dirty="0">
                <a:latin typeface="Times New Roman" panose="02020603050405020304"/>
                <a:cs typeface="Times New Roman" panose="02020603050405020304"/>
              </a:rPr>
              <a:t>==&gt;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pick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shortest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predicted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burst</a:t>
            </a:r>
            <a:r>
              <a:rPr sz="3050" spc="-4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next!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marR="508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Determining </a:t>
            </a:r>
            <a:r>
              <a:rPr spc="-320" dirty="0"/>
              <a:t>Length </a:t>
            </a:r>
            <a:r>
              <a:rPr spc="-275" dirty="0"/>
              <a:t>of </a:t>
            </a:r>
            <a:r>
              <a:rPr spc="-290" dirty="0"/>
              <a:t>Next </a:t>
            </a:r>
            <a:r>
              <a:rPr spc="-540" dirty="0"/>
              <a:t>CPU  </a:t>
            </a:r>
            <a:r>
              <a:rPr spc="-305" dirty="0"/>
              <a:t>Burst</a:t>
            </a:r>
            <a:endParaRPr spc="-305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61947" y="5102951"/>
            <a:ext cx="126428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10" dirty="0">
                <a:latin typeface="Times New Roman" panose="02020603050405020304"/>
                <a:cs typeface="Times New Roman" panose="02020603050405020304"/>
              </a:rPr>
              <a:t>5. Define</a:t>
            </a:r>
            <a:r>
              <a:rPr sz="22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5" dirty="0">
                <a:latin typeface="Times New Roman" panose="02020603050405020304"/>
                <a:cs typeface="Times New Roman" panose="02020603050405020304"/>
              </a:rPr>
              <a:t>:</a:t>
            </a:r>
            <a:endParaRPr sz="2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  <p:sp>
        <p:nvSpPr>
          <p:cNvPr id="5" name="object 5"/>
          <p:cNvSpPr txBox="1"/>
          <p:nvPr/>
        </p:nvSpPr>
        <p:spPr>
          <a:xfrm>
            <a:off x="1080955" y="1604959"/>
            <a:ext cx="8345805" cy="3440429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25120" indent="-300355">
              <a:lnSpc>
                <a:spcPct val="100000"/>
              </a:lnSpc>
              <a:spcBef>
                <a:spcPts val="7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257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only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estimate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5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length</a:t>
            </a:r>
            <a:endParaRPr sz="3050" dirty="0">
              <a:latin typeface="Times New Roman" panose="02020603050405020304"/>
              <a:cs typeface="Times New Roman" panose="02020603050405020304"/>
            </a:endParaRPr>
          </a:p>
          <a:p>
            <a:pPr marL="325120" marR="17780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257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done 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length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previous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bursts, 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using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exponential</a:t>
            </a:r>
            <a:r>
              <a:rPr sz="305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averaging</a:t>
            </a:r>
            <a:endParaRPr sz="3050" dirty="0">
              <a:latin typeface="Times New Roman" panose="02020603050405020304"/>
              <a:cs typeface="Times New Roman" panose="02020603050405020304"/>
            </a:endParaRPr>
          </a:p>
          <a:p>
            <a:pPr marR="1998345" algn="ctr">
              <a:lnSpc>
                <a:spcPts val="815"/>
              </a:lnSpc>
              <a:spcBef>
                <a:spcPts val="710"/>
              </a:spcBef>
            </a:pP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th</a:t>
            </a: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 marL="591820" lvl="1" indent="-321945">
              <a:lnSpc>
                <a:spcPts val="1955"/>
              </a:lnSpc>
              <a:buFont typeface="Times New Roman" panose="02020603050405020304"/>
              <a:buAutoNum type="arabicPeriod"/>
              <a:tabLst>
                <a:tab pos="592455" algn="l"/>
                <a:tab pos="3321685" algn="l"/>
              </a:tabLst>
            </a:pPr>
            <a:r>
              <a:rPr sz="2250" i="1" spc="4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50" i="1" spc="67" baseline="-24000" dirty="0">
                <a:latin typeface="Times New Roman" panose="02020603050405020304"/>
                <a:cs typeface="Times New Roman" panose="02020603050405020304"/>
              </a:rPr>
              <a:t>n  </a:t>
            </a:r>
            <a:r>
              <a:rPr sz="2250" spc="-1000" dirty="0">
                <a:latin typeface="UnBatang"/>
                <a:cs typeface="UnBatang"/>
              </a:rPr>
              <a:t></a:t>
            </a:r>
            <a:r>
              <a:rPr sz="2250" spc="-10" dirty="0">
                <a:latin typeface="UnBatang"/>
                <a:cs typeface="UnBatang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actual lenght</a:t>
            </a:r>
            <a:r>
              <a:rPr sz="225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5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i="1" spc="15" dirty="0">
                <a:latin typeface="Times New Roman" panose="02020603050405020304"/>
                <a:cs typeface="Times New Roman" panose="02020603050405020304"/>
              </a:rPr>
              <a:t>n	</a:t>
            </a:r>
            <a:r>
              <a:rPr sz="2250" spc="2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2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burst</a:t>
            </a:r>
            <a:endParaRPr sz="2250" dirty="0">
              <a:latin typeface="Times New Roman" panose="02020603050405020304"/>
              <a:cs typeface="Times New Roman" panose="02020603050405020304"/>
            </a:endParaRPr>
          </a:p>
          <a:p>
            <a:pPr marL="601345" lvl="1" indent="-299720">
              <a:lnSpc>
                <a:spcPts val="860"/>
              </a:lnSpc>
              <a:spcBef>
                <a:spcPts val="905"/>
              </a:spcBef>
              <a:buSzPct val="94000"/>
              <a:buFont typeface="Times New Roman" panose="02020603050405020304"/>
              <a:buAutoNum type="arabicPeriod"/>
              <a:tabLst>
                <a:tab pos="601980" algn="l"/>
                <a:tab pos="5464175" algn="l"/>
              </a:tabLst>
            </a:pPr>
            <a:r>
              <a:rPr sz="2400" spc="-1400" dirty="0">
                <a:latin typeface="UnBatang"/>
                <a:cs typeface="UnBatang"/>
              </a:rPr>
              <a:t></a:t>
            </a:r>
            <a:r>
              <a:rPr sz="2400" spc="-260" dirty="0">
                <a:latin typeface="UnBatang"/>
                <a:cs typeface="UnBatang"/>
              </a:rPr>
              <a:t> </a:t>
            </a:r>
            <a:r>
              <a:rPr sz="1950" i="1" spc="-262" baseline="-26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50" spc="-262" baseline="-26000" dirty="0">
                <a:latin typeface="UnBatang"/>
                <a:cs typeface="UnBatang"/>
              </a:rPr>
              <a:t></a:t>
            </a:r>
            <a:r>
              <a:rPr sz="1950" spc="-262" baseline="-26000" dirty="0">
                <a:latin typeface="Times New Roman" panose="02020603050405020304"/>
                <a:cs typeface="Times New Roman" panose="02020603050405020304"/>
              </a:rPr>
              <a:t>1    </a:t>
            </a:r>
            <a:r>
              <a:rPr sz="2250" spc="-1000" dirty="0">
                <a:latin typeface="UnBatang"/>
                <a:cs typeface="UnBatang"/>
              </a:rPr>
              <a:t></a:t>
            </a:r>
            <a:r>
              <a:rPr sz="2250" spc="-30" dirty="0">
                <a:latin typeface="UnBatang"/>
                <a:cs typeface="UnBatang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predicted value for the next</a:t>
            </a:r>
            <a:r>
              <a:rPr sz="2250" spc="-3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(i.e.,</a:t>
            </a:r>
            <a:r>
              <a:rPr sz="225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i="1" spc="15" dirty="0">
                <a:latin typeface="Times New Roman" panose="02020603050405020304"/>
                <a:cs typeface="Times New Roman" panose="02020603050405020304"/>
              </a:rPr>
              <a:t>n	</a:t>
            </a:r>
            <a:r>
              <a:rPr sz="2250" spc="-330" dirty="0">
                <a:latin typeface="UnBatang"/>
                <a:cs typeface="UnBatang"/>
              </a:rPr>
              <a:t></a:t>
            </a:r>
            <a:r>
              <a:rPr sz="2250" spc="-330" dirty="0">
                <a:latin typeface="Times New Roman" panose="02020603050405020304"/>
                <a:cs typeface="Times New Roman" panose="02020603050405020304"/>
              </a:rPr>
              <a:t>1) </a:t>
            </a:r>
            <a:r>
              <a:rPr sz="2250" spc="2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25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burst</a:t>
            </a:r>
            <a:endParaRPr sz="2250" dirty="0">
              <a:latin typeface="Times New Roman" panose="02020603050405020304"/>
              <a:cs typeface="Times New Roman" panose="02020603050405020304"/>
            </a:endParaRPr>
          </a:p>
          <a:p>
            <a:pPr marL="2287905" algn="ctr">
              <a:lnSpc>
                <a:spcPts val="780"/>
              </a:lnSpc>
            </a:pP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th</a:t>
            </a: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</a:pPr>
            <a:endParaRPr sz="1850" dirty="0">
              <a:latin typeface="Times New Roman" panose="02020603050405020304"/>
              <a:cs typeface="Times New Roman" panose="02020603050405020304"/>
            </a:endParaRPr>
          </a:p>
          <a:p>
            <a:pPr marL="518795" lvl="1" indent="-226060">
              <a:lnSpc>
                <a:spcPts val="860"/>
              </a:lnSpc>
              <a:buSzPct val="94000"/>
              <a:buFont typeface="Times New Roman" panose="02020603050405020304"/>
              <a:buAutoNum type="arabicPeriod" startAt="3"/>
              <a:tabLst>
                <a:tab pos="519430" algn="l"/>
                <a:tab pos="4089400" algn="l"/>
              </a:tabLst>
            </a:pPr>
            <a:r>
              <a:rPr sz="2400" spc="-1400" dirty="0">
                <a:latin typeface="UnBatang"/>
                <a:cs typeface="UnBatang"/>
              </a:rPr>
              <a:t></a:t>
            </a:r>
            <a:r>
              <a:rPr sz="2400" spc="-270" dirty="0">
                <a:latin typeface="UnBatang"/>
                <a:cs typeface="UnBatang"/>
              </a:rPr>
              <a:t> </a:t>
            </a:r>
            <a:r>
              <a:rPr sz="1950" spc="22" baseline="-24000" dirty="0">
                <a:latin typeface="Times New Roman" panose="02020603050405020304"/>
                <a:cs typeface="Times New Roman" panose="02020603050405020304"/>
              </a:rPr>
              <a:t>n  </a:t>
            </a:r>
            <a:r>
              <a:rPr sz="2250" spc="-1000" dirty="0">
                <a:latin typeface="UnBatang"/>
                <a:cs typeface="UnBatang"/>
              </a:rPr>
              <a:t></a:t>
            </a:r>
            <a:r>
              <a:rPr sz="2250" spc="-30" dirty="0">
                <a:latin typeface="UnBatang"/>
                <a:cs typeface="UnBatang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predicted value for</a:t>
            </a:r>
            <a:r>
              <a:rPr sz="225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5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i="1" spc="15" dirty="0">
                <a:latin typeface="Times New Roman" panose="02020603050405020304"/>
                <a:cs typeface="Times New Roman" panose="02020603050405020304"/>
              </a:rPr>
              <a:t>n	</a:t>
            </a:r>
            <a:r>
              <a:rPr sz="2250" spc="20" dirty="0"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2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10" dirty="0">
                <a:latin typeface="Times New Roman" panose="02020603050405020304"/>
                <a:cs typeface="Times New Roman" panose="02020603050405020304"/>
              </a:rPr>
              <a:t>burst</a:t>
            </a:r>
            <a:endParaRPr sz="2250" dirty="0">
              <a:latin typeface="Times New Roman" panose="02020603050405020304"/>
              <a:cs typeface="Times New Roman" panose="02020603050405020304"/>
            </a:endParaRPr>
          </a:p>
          <a:p>
            <a:pPr marR="459105" algn="ctr">
              <a:lnSpc>
                <a:spcPts val="780"/>
              </a:lnSpc>
            </a:pPr>
            <a:r>
              <a:rPr sz="1300" i="1" spc="10" dirty="0">
                <a:latin typeface="Times New Roman" panose="02020603050405020304"/>
                <a:cs typeface="Times New Roman" panose="02020603050405020304"/>
              </a:rPr>
              <a:t>th</a:t>
            </a:r>
            <a:endParaRPr sz="13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550" dirty="0">
              <a:latin typeface="Times New Roman" panose="02020603050405020304"/>
              <a:cs typeface="Times New Roman" panose="02020603050405020304"/>
            </a:endParaRPr>
          </a:p>
          <a:p>
            <a:pPr marL="302260">
              <a:lnSpc>
                <a:spcPct val="100000"/>
              </a:lnSpc>
            </a:pPr>
            <a:r>
              <a:rPr sz="2250" spc="10" dirty="0">
                <a:latin typeface="Times New Roman" panose="02020603050405020304"/>
                <a:cs typeface="Times New Roman" panose="02020603050405020304"/>
              </a:rPr>
              <a:t>4. </a:t>
            </a:r>
            <a:r>
              <a:rPr sz="2400" spc="-960" dirty="0">
                <a:latin typeface="UnBatang"/>
                <a:cs typeface="UnBatang"/>
              </a:rPr>
              <a:t></a:t>
            </a:r>
            <a:r>
              <a:rPr sz="2400" spc="-320" dirty="0">
                <a:latin typeface="UnBatang"/>
                <a:cs typeface="UnBatang"/>
              </a:rPr>
              <a:t> </a:t>
            </a:r>
            <a:r>
              <a:rPr sz="2250" spc="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250" spc="15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25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-1000" dirty="0">
                <a:latin typeface="UnBatang"/>
                <a:cs typeface="UnBatang"/>
              </a:rPr>
              <a:t></a:t>
            </a:r>
            <a:r>
              <a:rPr sz="2250" spc="-155" dirty="0">
                <a:latin typeface="UnBatang"/>
                <a:cs typeface="UnBatang"/>
              </a:rPr>
              <a:t> </a:t>
            </a:r>
            <a:r>
              <a:rPr sz="2400" spc="-960" dirty="0">
                <a:latin typeface="UnBatang"/>
                <a:cs typeface="UnBatang"/>
              </a:rPr>
              <a:t></a:t>
            </a:r>
            <a:r>
              <a:rPr sz="2400" spc="190" dirty="0">
                <a:latin typeface="UnBatang"/>
                <a:cs typeface="UnBatang"/>
              </a:rPr>
              <a:t> </a:t>
            </a:r>
            <a:r>
              <a:rPr sz="2250" spc="-1000" dirty="0">
                <a:latin typeface="UnBatang"/>
                <a:cs typeface="UnBatang"/>
              </a:rPr>
              <a:t></a:t>
            </a:r>
            <a:r>
              <a:rPr sz="2250" spc="-225" dirty="0">
                <a:latin typeface="UnBatang"/>
                <a:cs typeface="UnBatang"/>
              </a:rPr>
              <a:t> </a:t>
            </a:r>
            <a:r>
              <a:rPr sz="2250" spc="15" dirty="0">
                <a:latin typeface="Times New Roman" panose="02020603050405020304"/>
                <a:cs typeface="Times New Roman" panose="02020603050405020304"/>
              </a:rPr>
              <a:t>1</a:t>
            </a:r>
            <a:endParaRPr sz="22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312" y="5348003"/>
            <a:ext cx="9632950" cy="147510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45"/>
              </a:spcBef>
              <a:tabLst>
                <a:tab pos="8220075" algn="l"/>
              </a:tabLst>
            </a:pPr>
            <a:r>
              <a:rPr sz="2800" spc="-620" dirty="0">
                <a:latin typeface="UnBatang"/>
                <a:cs typeface="UnBatang"/>
              </a:rPr>
              <a:t></a:t>
            </a:r>
            <a:r>
              <a:rPr sz="2650" spc="-620" dirty="0">
                <a:latin typeface="Tahoma" panose="020B0604030504040204"/>
                <a:cs typeface="Tahoma" panose="020B0604030504040204"/>
              </a:rPr>
              <a:t>=   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0 implies making </a:t>
            </a:r>
            <a:r>
              <a:rPr sz="2650" spc="-5" dirty="0">
                <a:latin typeface="Tahoma" panose="020B0604030504040204"/>
                <a:cs typeface="Tahoma" panose="020B0604030504040204"/>
              </a:rPr>
              <a:t>no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use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of recent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history</a:t>
            </a:r>
            <a:r>
              <a:rPr sz="2650" spc="150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775" dirty="0">
                <a:latin typeface="UnBatang"/>
                <a:cs typeface="UnBatang"/>
              </a:rPr>
              <a:t>(</a:t>
            </a:r>
            <a:r>
              <a:rPr sz="2650" spc="-155" dirty="0">
                <a:latin typeface="UnBatang"/>
                <a:cs typeface="UnBatang"/>
              </a:rPr>
              <a:t> </a:t>
            </a:r>
            <a:r>
              <a:rPr sz="2775" i="1" spc="-1042" baseline="-20000" dirty="0">
                <a:latin typeface="Verdana" panose="020B0604030504040204"/>
                <a:cs typeface="Verdana" panose="020B0604030504040204"/>
              </a:rPr>
              <a:t>n+1</a:t>
            </a:r>
            <a:r>
              <a:rPr sz="2775" i="1" spc="75" baseline="-20000" dirty="0">
                <a:latin typeface="Verdana" panose="020B0604030504040204"/>
                <a:cs typeface="Verdana" panose="020B0604030504040204"/>
              </a:rPr>
              <a:t> </a:t>
            </a:r>
            <a:r>
              <a:rPr sz="2650" spc="-1205" dirty="0">
                <a:latin typeface="UnBatang"/>
                <a:cs typeface="UnBatang"/>
              </a:rPr>
              <a:t>	</a:t>
            </a:r>
            <a:r>
              <a:rPr sz="2650" spc="-1495" dirty="0">
                <a:latin typeface="UnBatang"/>
                <a:cs typeface="UnBatang"/>
              </a:rPr>
              <a:t></a:t>
            </a:r>
            <a:r>
              <a:rPr sz="2650" spc="-195" dirty="0">
                <a:latin typeface="UnBatang"/>
                <a:cs typeface="UnBatang"/>
              </a:rPr>
              <a:t> </a:t>
            </a:r>
            <a:r>
              <a:rPr sz="2775" i="1" spc="-637" baseline="-20000" dirty="0">
                <a:latin typeface="Verdana" panose="020B0604030504040204"/>
                <a:cs typeface="Verdana" panose="020B0604030504040204"/>
              </a:rPr>
              <a:t>n</a:t>
            </a:r>
            <a:r>
              <a:rPr sz="2650" spc="-425" dirty="0">
                <a:latin typeface="UnBatang"/>
                <a:cs typeface="UnBatang"/>
              </a:rPr>
              <a:t>)</a:t>
            </a:r>
            <a:endParaRPr sz="2650">
              <a:latin typeface="UnBatang"/>
              <a:cs typeface="UnBatang"/>
            </a:endParaRPr>
          </a:p>
          <a:p>
            <a:pPr marL="63500">
              <a:lnSpc>
                <a:spcPct val="100000"/>
              </a:lnSpc>
              <a:spcBef>
                <a:spcPts val="445"/>
              </a:spcBef>
              <a:tabLst>
                <a:tab pos="1355725" algn="l"/>
              </a:tabLst>
            </a:pPr>
            <a:r>
              <a:rPr sz="2800" spc="-620" dirty="0">
                <a:latin typeface="UnBatang"/>
                <a:cs typeface="UnBatang"/>
              </a:rPr>
              <a:t></a:t>
            </a:r>
            <a:r>
              <a:rPr sz="2650" spc="-620" dirty="0">
                <a:latin typeface="Tahoma" panose="020B0604030504040204"/>
                <a:cs typeface="Tahoma" panose="020B0604030504040204"/>
              </a:rPr>
              <a:t>=   </a:t>
            </a:r>
            <a:r>
              <a:rPr sz="2650" spc="-600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1	implies </a:t>
            </a:r>
            <a:r>
              <a:rPr sz="2650" spc="-925" dirty="0">
                <a:latin typeface="UnBatang"/>
                <a:cs typeface="UnBatang"/>
              </a:rPr>
              <a:t></a:t>
            </a:r>
            <a:r>
              <a:rPr sz="2775" i="1" spc="-1387" baseline="-20000" dirty="0">
                <a:latin typeface="Verdana" panose="020B0604030504040204"/>
                <a:cs typeface="Verdana" panose="020B0604030504040204"/>
              </a:rPr>
              <a:t>n+1</a:t>
            </a:r>
            <a:r>
              <a:rPr sz="2775" i="1" spc="-697" baseline="-20000" dirty="0">
                <a:latin typeface="Verdana" panose="020B0604030504040204"/>
                <a:cs typeface="Verdana" panose="020B0604030504040204"/>
              </a:rPr>
              <a:t>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= </a:t>
            </a:r>
            <a:r>
              <a:rPr sz="2800" i="1" spc="-650" dirty="0">
                <a:latin typeface="Verdana" panose="020B0604030504040204"/>
                <a:cs typeface="Verdana" panose="020B0604030504040204"/>
              </a:rPr>
              <a:t>t</a:t>
            </a:r>
            <a:r>
              <a:rPr sz="2775" i="1" spc="-975" baseline="-20000" dirty="0">
                <a:latin typeface="Verdana" panose="020B0604030504040204"/>
                <a:cs typeface="Verdana" panose="020B0604030504040204"/>
              </a:rPr>
              <a:t>n      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(past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prediction not</a:t>
            </a:r>
            <a:r>
              <a:rPr sz="2650" spc="-170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5" dirty="0">
                <a:latin typeface="Tahoma" panose="020B0604030504040204"/>
                <a:cs typeface="Tahoma" panose="020B0604030504040204"/>
              </a:rPr>
              <a:t>used)</a:t>
            </a:r>
            <a:endParaRPr sz="2650">
              <a:latin typeface="Tahoma" panose="020B0604030504040204"/>
              <a:cs typeface="Tahoma" panose="020B0604030504040204"/>
            </a:endParaRPr>
          </a:p>
          <a:p>
            <a:pPr marL="63500">
              <a:lnSpc>
                <a:spcPct val="100000"/>
              </a:lnSpc>
              <a:spcBef>
                <a:spcPts val="445"/>
              </a:spcBef>
            </a:pPr>
            <a:r>
              <a:rPr sz="2800" spc="-620" dirty="0">
                <a:latin typeface="UnBatang"/>
                <a:cs typeface="UnBatang"/>
              </a:rPr>
              <a:t></a:t>
            </a:r>
            <a:r>
              <a:rPr sz="2650" spc="-620" dirty="0">
                <a:latin typeface="Tahoma" panose="020B0604030504040204"/>
                <a:cs typeface="Tahoma" panose="020B0604030504040204"/>
              </a:rPr>
              <a:t>= </a:t>
            </a:r>
            <a:r>
              <a:rPr sz="2650" spc="-15" dirty="0">
                <a:latin typeface="Tahoma" panose="020B0604030504040204"/>
                <a:cs typeface="Tahoma" panose="020B0604030504040204"/>
              </a:rPr>
              <a:t>1/2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implies weighted (older bursts get less and less</a:t>
            </a:r>
            <a:r>
              <a:rPr sz="2650" spc="125" dirty="0">
                <a:latin typeface="Tahoma" panose="020B0604030504040204"/>
                <a:cs typeface="Tahoma" panose="020B0604030504040204"/>
              </a:rPr>
              <a:t> </a:t>
            </a:r>
            <a:r>
              <a:rPr sz="2650" spc="-10" dirty="0">
                <a:latin typeface="Tahoma" panose="020B0604030504040204"/>
                <a:cs typeface="Tahoma" panose="020B0604030504040204"/>
              </a:rPr>
              <a:t>weight)</a:t>
            </a:r>
            <a:endParaRPr sz="26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54323" y="4917662"/>
            <a:ext cx="224282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1290" dirty="0">
                <a:latin typeface="UnBatang"/>
                <a:cs typeface="UnBatang"/>
              </a:rPr>
              <a:t></a:t>
            </a:r>
            <a:r>
              <a:rPr sz="2200" spc="-300" dirty="0">
                <a:latin typeface="UnBatang"/>
                <a:cs typeface="UnBatang"/>
              </a:rPr>
              <a:t> </a:t>
            </a:r>
            <a:r>
              <a:rPr sz="1800" i="1" spc="-270" baseline="-25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spc="-270" baseline="-25000" dirty="0">
                <a:latin typeface="UnBatang"/>
                <a:cs typeface="UnBatang"/>
              </a:rPr>
              <a:t></a:t>
            </a:r>
            <a:r>
              <a:rPr sz="1800" spc="-270" baseline="-25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050" spc="-910" dirty="0">
                <a:latin typeface="UnBatang"/>
                <a:cs typeface="UnBatang"/>
              </a:rPr>
              <a:t></a:t>
            </a:r>
            <a:r>
              <a:rPr sz="2050" spc="-210" dirty="0">
                <a:latin typeface="UnBatang"/>
                <a:cs typeface="UnBatang"/>
              </a:rPr>
              <a:t> </a:t>
            </a:r>
            <a:r>
              <a:rPr sz="2200" spc="-890" dirty="0">
                <a:latin typeface="UnBatang"/>
                <a:cs typeface="UnBatang"/>
              </a:rPr>
              <a:t></a:t>
            </a:r>
            <a:r>
              <a:rPr sz="2200" spc="-5" dirty="0">
                <a:latin typeface="UnBatang"/>
                <a:cs typeface="UnBatang"/>
              </a:rPr>
              <a:t> </a:t>
            </a:r>
            <a:r>
              <a:rPr sz="2050" i="1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800" i="1" spc="44" baseline="-250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800" i="1" spc="-52" baseline="-25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50" spc="-910" dirty="0">
                <a:latin typeface="UnBatang"/>
                <a:cs typeface="UnBatang"/>
              </a:rPr>
              <a:t></a:t>
            </a:r>
            <a:r>
              <a:rPr sz="2050" spc="-170" dirty="0">
                <a:latin typeface="UnBatang"/>
                <a:cs typeface="UnBatang"/>
              </a:rPr>
              <a:t> </a:t>
            </a:r>
            <a:r>
              <a:rPr sz="2750" spc="-525" dirty="0">
                <a:latin typeface="UnBatang"/>
                <a:cs typeface="UnBatang"/>
              </a:rPr>
              <a:t>(</a:t>
            </a:r>
            <a:r>
              <a:rPr sz="2050" spc="-525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50" spc="-525" dirty="0">
                <a:latin typeface="UnBatang"/>
                <a:cs typeface="UnBatang"/>
              </a:rPr>
              <a:t></a:t>
            </a:r>
            <a:r>
              <a:rPr sz="2200" spc="-525" dirty="0">
                <a:latin typeface="UnBatang"/>
                <a:cs typeface="UnBatang"/>
              </a:rPr>
              <a:t></a:t>
            </a:r>
            <a:r>
              <a:rPr sz="2200" spc="-254" dirty="0">
                <a:latin typeface="UnBatang"/>
                <a:cs typeface="UnBatang"/>
              </a:rPr>
              <a:t> </a:t>
            </a:r>
            <a:r>
              <a:rPr sz="2750" spc="-960" dirty="0">
                <a:latin typeface="UnBatang"/>
                <a:cs typeface="UnBatang"/>
              </a:rPr>
              <a:t>)</a:t>
            </a:r>
            <a:r>
              <a:rPr sz="2200" spc="-960" dirty="0">
                <a:latin typeface="UnBatang"/>
                <a:cs typeface="UnBatang"/>
              </a:rPr>
              <a:t></a:t>
            </a:r>
            <a:r>
              <a:rPr sz="2200" spc="-295" dirty="0">
                <a:latin typeface="UnBatang"/>
                <a:cs typeface="UnBatang"/>
              </a:rPr>
              <a:t> </a:t>
            </a:r>
            <a:r>
              <a:rPr sz="1800" i="1" spc="7" baseline="-25000" dirty="0">
                <a:latin typeface="Times New Roman" panose="02020603050405020304"/>
                <a:cs typeface="Times New Roman" panose="02020603050405020304"/>
              </a:rPr>
              <a:t>n </a:t>
            </a:r>
            <a:r>
              <a:rPr sz="2050" spc="5" dirty="0">
                <a:latin typeface="Times New Roman" panose="02020603050405020304"/>
                <a:cs typeface="Times New Roman" panose="02020603050405020304"/>
              </a:rPr>
              <a:t>.</a:t>
            </a:r>
            <a:endParaRPr sz="205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marR="508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Prediction </a:t>
            </a:r>
            <a:r>
              <a:rPr spc="-275" dirty="0"/>
              <a:t>of </a:t>
            </a:r>
            <a:r>
              <a:rPr spc="-190" dirty="0"/>
              <a:t>the </a:t>
            </a:r>
            <a:r>
              <a:rPr spc="-320" dirty="0"/>
              <a:t>Length </a:t>
            </a:r>
            <a:r>
              <a:rPr spc="-250" dirty="0"/>
              <a:t>of </a:t>
            </a:r>
            <a:r>
              <a:rPr spc="-190" dirty="0"/>
              <a:t>the </a:t>
            </a:r>
            <a:r>
              <a:rPr spc="-300" dirty="0"/>
              <a:t>Next  </a:t>
            </a:r>
            <a:r>
              <a:rPr spc="-540" dirty="0"/>
              <a:t>CPU</a:t>
            </a:r>
            <a:r>
              <a:rPr spc="-155" dirty="0"/>
              <a:t> </a:t>
            </a:r>
            <a:r>
              <a:rPr spc="-305" dirty="0"/>
              <a:t>Burst</a:t>
            </a:r>
            <a:endParaRPr spc="-305" dirty="0"/>
          </a:p>
        </p:txBody>
      </p:sp>
      <p:sp>
        <p:nvSpPr>
          <p:cNvPr id="3" name="object 3"/>
          <p:cNvSpPr txBox="1"/>
          <p:nvPr/>
        </p:nvSpPr>
        <p:spPr>
          <a:xfrm>
            <a:off x="1093644" y="1688030"/>
            <a:ext cx="233807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This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figure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for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036064" y="2240279"/>
            <a:ext cx="7374890" cy="4799330"/>
            <a:chOff x="2036064" y="2240279"/>
            <a:chExt cx="7374890" cy="4799330"/>
          </a:xfrm>
        </p:grpSpPr>
        <p:sp>
          <p:nvSpPr>
            <p:cNvPr id="6" name="object 6"/>
            <p:cNvSpPr/>
            <p:nvPr/>
          </p:nvSpPr>
          <p:spPr>
            <a:xfrm>
              <a:off x="2150797" y="2353142"/>
              <a:ext cx="7158230" cy="4584422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36064" y="2240279"/>
              <a:ext cx="7374890" cy="4799330"/>
            </a:xfrm>
            <a:custGeom>
              <a:avLst/>
              <a:gdLst/>
              <a:ahLst/>
              <a:cxnLst/>
              <a:rect l="l" t="t" r="r" b="b"/>
              <a:pathLst>
                <a:path w="7374890" h="4799330">
                  <a:moveTo>
                    <a:pt x="7324344" y="50800"/>
                  </a:moveTo>
                  <a:lnTo>
                    <a:pt x="50292" y="50800"/>
                  </a:lnTo>
                  <a:lnTo>
                    <a:pt x="50292" y="62230"/>
                  </a:lnTo>
                  <a:lnTo>
                    <a:pt x="50292" y="4734560"/>
                  </a:lnTo>
                  <a:lnTo>
                    <a:pt x="50292" y="4748530"/>
                  </a:lnTo>
                  <a:lnTo>
                    <a:pt x="7324344" y="4748530"/>
                  </a:lnTo>
                  <a:lnTo>
                    <a:pt x="7324344" y="4735080"/>
                  </a:lnTo>
                  <a:lnTo>
                    <a:pt x="7324344" y="4734560"/>
                  </a:lnTo>
                  <a:lnTo>
                    <a:pt x="7324344" y="62496"/>
                  </a:lnTo>
                  <a:lnTo>
                    <a:pt x="7312152" y="62496"/>
                  </a:lnTo>
                  <a:lnTo>
                    <a:pt x="7312152" y="4734560"/>
                  </a:lnTo>
                  <a:lnTo>
                    <a:pt x="62484" y="4734560"/>
                  </a:lnTo>
                  <a:lnTo>
                    <a:pt x="62484" y="62230"/>
                  </a:lnTo>
                  <a:lnTo>
                    <a:pt x="7324344" y="62230"/>
                  </a:lnTo>
                  <a:lnTo>
                    <a:pt x="7324344" y="50800"/>
                  </a:lnTo>
                  <a:close/>
                </a:path>
                <a:path w="7374890" h="4799330">
                  <a:moveTo>
                    <a:pt x="7374636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0" y="4761230"/>
                  </a:lnTo>
                  <a:lnTo>
                    <a:pt x="0" y="4799330"/>
                  </a:lnTo>
                  <a:lnTo>
                    <a:pt x="7374636" y="4799330"/>
                  </a:lnTo>
                  <a:lnTo>
                    <a:pt x="7374636" y="4761230"/>
                  </a:lnTo>
                  <a:lnTo>
                    <a:pt x="38100" y="4761230"/>
                  </a:lnTo>
                  <a:lnTo>
                    <a:pt x="38100" y="36830"/>
                  </a:lnTo>
                  <a:lnTo>
                    <a:pt x="7336536" y="36830"/>
                  </a:lnTo>
                  <a:lnTo>
                    <a:pt x="7336536" y="4760988"/>
                  </a:lnTo>
                  <a:lnTo>
                    <a:pt x="7374636" y="4760988"/>
                  </a:lnTo>
                  <a:lnTo>
                    <a:pt x="7374636" y="36830"/>
                  </a:lnTo>
                  <a:lnTo>
                    <a:pt x="7374636" y="36588"/>
                  </a:lnTo>
                  <a:lnTo>
                    <a:pt x="73746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985259" y="1785692"/>
            <a:ext cx="245872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650" spc="-1070" dirty="0">
                <a:latin typeface="UnBatang"/>
                <a:cs typeface="UnBatang"/>
              </a:rPr>
              <a:t></a:t>
            </a:r>
            <a:r>
              <a:rPr sz="2650" spc="210" dirty="0">
                <a:latin typeface="UnBatang"/>
                <a:cs typeface="UnBatang"/>
              </a:rPr>
              <a:t> </a:t>
            </a:r>
            <a:r>
              <a:rPr sz="2500" spc="-1125" dirty="0">
                <a:latin typeface="UnBatang"/>
                <a:cs typeface="UnBatang"/>
              </a:rPr>
              <a:t></a:t>
            </a:r>
            <a:r>
              <a:rPr sz="2500" spc="-45" dirty="0">
                <a:latin typeface="UnBatang"/>
                <a:cs typeface="UnBatang"/>
              </a:rPr>
              <a:t> </a:t>
            </a:r>
            <a:r>
              <a:rPr sz="2500" spc="-5" dirty="0">
                <a:latin typeface="Times New Roman" panose="02020603050405020304"/>
                <a:cs typeface="Times New Roman" panose="02020603050405020304"/>
              </a:rPr>
              <a:t>0.5</a:t>
            </a:r>
            <a:r>
              <a:rPr sz="2500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2500" spc="-4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0" dirty="0">
                <a:latin typeface="UnBatang"/>
                <a:cs typeface="UnBatang"/>
              </a:rPr>
              <a:t></a:t>
            </a:r>
            <a:r>
              <a:rPr sz="2650" spc="-335" dirty="0">
                <a:latin typeface="UnBatang"/>
                <a:cs typeface="UnBatang"/>
              </a:rPr>
              <a:t> </a:t>
            </a:r>
            <a:r>
              <a:rPr sz="2175" spc="7" baseline="-2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175" spc="104" baseline="-2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spc="-1125" dirty="0">
                <a:latin typeface="UnBatang"/>
                <a:cs typeface="UnBatang"/>
              </a:rPr>
              <a:t></a:t>
            </a:r>
            <a:r>
              <a:rPr sz="2500" spc="-280" dirty="0">
                <a:latin typeface="UnBatang"/>
                <a:cs typeface="UnBatang"/>
              </a:rPr>
              <a:t> </a:t>
            </a:r>
            <a:r>
              <a:rPr sz="2500" dirty="0">
                <a:latin typeface="Times New Roman" panose="02020603050405020304"/>
                <a:cs typeface="Times New Roman" panose="02020603050405020304"/>
              </a:rPr>
              <a:t>10</a:t>
            </a:r>
            <a:endParaRPr sz="2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234181"/>
            <a:ext cx="50266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3. </a:t>
            </a:r>
            <a:r>
              <a:rPr spc="-320" dirty="0"/>
              <a:t>Priority </a:t>
            </a:r>
            <a:r>
              <a:rPr spc="-315" dirty="0"/>
              <a:t>Scheduling</a:t>
            </a:r>
            <a:endParaRPr spc="-315" dirty="0"/>
          </a:p>
        </p:txBody>
      </p:sp>
      <p:sp>
        <p:nvSpPr>
          <p:cNvPr id="3" name="object 3"/>
          <p:cNvSpPr txBox="1"/>
          <p:nvPr/>
        </p:nvSpPr>
        <p:spPr>
          <a:xfrm>
            <a:off x="680708" y="1171839"/>
            <a:ext cx="8615680" cy="42424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4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spc="-34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number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(integer)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associated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ct val="110000"/>
              </a:lnSpc>
              <a:spcBef>
                <a:spcPts val="65"/>
              </a:spcBef>
              <a:buClr>
                <a:srgbClr val="9A2D1F"/>
              </a:buClr>
              <a:buSzPct val="84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internally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computed </a:t>
            </a:r>
            <a:r>
              <a:rPr sz="2200" spc="-45" dirty="0">
                <a:latin typeface="Times New Roman" panose="02020603050405020304"/>
                <a:cs typeface="Times New Roman" panose="02020603050405020304"/>
              </a:rPr>
              <a:t>(e.g., </a:t>
            </a:r>
            <a:r>
              <a:rPr sz="2200" spc="-185" dirty="0">
                <a:latin typeface="Times New Roman" panose="02020603050405020304"/>
                <a:cs typeface="Times New Roman" panose="02020603050405020304"/>
              </a:rPr>
              <a:t>may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involve </a:t>
            </a:r>
            <a:r>
              <a:rPr sz="2200" spc="-7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limits, </a:t>
            </a:r>
            <a:r>
              <a:rPr sz="2200" spc="-100" dirty="0">
                <a:latin typeface="Times New Roman" panose="02020603050405020304"/>
                <a:cs typeface="Times New Roman" panose="02020603050405020304"/>
              </a:rPr>
              <a:t>memory 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usage) </a:t>
            </a:r>
            <a:r>
              <a:rPr sz="2200" spc="-40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externally 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(e.g., 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user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type,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funds being</a:t>
            </a:r>
            <a:r>
              <a:rPr sz="2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paid)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265"/>
              </a:spcBef>
              <a:buClr>
                <a:srgbClr val="9A2D1F"/>
              </a:buClr>
              <a:buSzPct val="84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200" spc="-210" dirty="0">
                <a:latin typeface="Times New Roman" panose="02020603050405020304"/>
                <a:cs typeface="Times New Roman" panose="02020603050405020304"/>
              </a:rPr>
              <a:t>SJF, 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is simply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predicted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next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200" spc="-65" dirty="0">
                <a:latin typeface="Times New Roman" panose="02020603050405020304"/>
                <a:cs typeface="Times New Roman" panose="02020603050405020304"/>
              </a:rPr>
              <a:t>burst</a:t>
            </a:r>
            <a:r>
              <a:rPr sz="22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312420" marR="7620" indent="-300355">
              <a:lnSpc>
                <a:spcPts val="3480"/>
              </a:lnSpc>
              <a:spcBef>
                <a:spcPts val="11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  <a:tab pos="956310" algn="l"/>
                <a:tab pos="1727835" algn="l"/>
                <a:tab pos="2082800" algn="l"/>
                <a:tab pos="3326765" algn="l"/>
                <a:tab pos="3749040" algn="l"/>
                <a:tab pos="4302760" algn="l"/>
                <a:tab pos="5372100" algn="l"/>
                <a:tab pos="6089650" algn="l"/>
                <a:tab pos="6638925" algn="l"/>
                <a:tab pos="7661275" algn="l"/>
              </a:tabLst>
            </a:pP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PU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ll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24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y 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(smallest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integer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might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mean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highest</a:t>
            </a:r>
            <a:r>
              <a:rPr sz="265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13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b="1" spc="-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Starvation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problem,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where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low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235" dirty="0">
                <a:latin typeface="Times New Roman" panose="02020603050405020304"/>
                <a:cs typeface="Times New Roman" panose="02020603050405020304"/>
              </a:rPr>
              <a:t>may</a:t>
            </a:r>
            <a:r>
              <a:rPr sz="265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never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ct val="100000"/>
              </a:lnSpc>
              <a:spcBef>
                <a:spcPts val="310"/>
              </a:spcBef>
            </a:pP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execute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marR="5080" indent="-300355">
              <a:lnSpc>
                <a:spcPts val="3490"/>
              </a:lnSpc>
              <a:spcBef>
                <a:spcPts val="1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  <a:tab pos="1760220" algn="l"/>
                <a:tab pos="2159635" algn="l"/>
                <a:tab pos="2880360" algn="l"/>
                <a:tab pos="4395470" algn="l"/>
                <a:tab pos="4945380" algn="l"/>
                <a:tab pos="6058535" algn="l"/>
                <a:tab pos="6471285" algn="l"/>
                <a:tab pos="7021195" algn="l"/>
                <a:tab pos="7714615" algn="l"/>
              </a:tabLst>
            </a:pPr>
            <a:r>
              <a:rPr sz="2650" b="1" spc="-2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b="1" spc="9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b="1" spc="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b="1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50" b="1" spc="4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b="1" spc="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b="1" spc="9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b="1" spc="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b="1" spc="-20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sz="2650" b="1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g 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(starved)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increased.This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called</a:t>
            </a:r>
            <a:r>
              <a:rPr sz="265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b="1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aging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32" y="732573"/>
            <a:ext cx="371157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70" dirty="0"/>
              <a:t>Priority</a:t>
            </a:r>
            <a:r>
              <a:rPr sz="3750" spc="-215" dirty="0"/>
              <a:t> </a:t>
            </a:r>
            <a:r>
              <a:rPr sz="3750" spc="-270" dirty="0"/>
              <a:t>scheduling</a:t>
            </a:r>
            <a:endParaRPr sz="375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53096"/>
            <a:ext cx="7683500" cy="442341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12420" marR="746125" indent="-300355">
              <a:lnSpc>
                <a:spcPts val="3320"/>
              </a:lnSpc>
              <a:spcBef>
                <a:spcPts val="52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3050" spc="-11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Preemptive 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3050" spc="-1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Non-  </a:t>
            </a:r>
            <a:r>
              <a:rPr sz="3050" spc="-11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Preemptive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28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arrives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enters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Ready</a:t>
            </a:r>
            <a:r>
              <a:rPr sz="305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113665" indent="-300355">
              <a:lnSpc>
                <a:spcPts val="3320"/>
              </a:lnSpc>
              <a:spcBef>
                <a:spcPts val="72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3050" spc="-65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compared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currently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Running 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27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Higher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Preemptive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225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Run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New</a:t>
            </a:r>
            <a:r>
              <a:rPr sz="22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6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Non-Preemptive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lvl="2" indent="-252095">
              <a:lnSpc>
                <a:spcPct val="100000"/>
              </a:lnSpc>
              <a:spcBef>
                <a:spcPts val="22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18210" algn="l"/>
              </a:tabLst>
            </a:pP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Continue running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14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5263" y="551249"/>
            <a:ext cx="44170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Priority</a:t>
            </a:r>
            <a:r>
              <a:rPr spc="-225" dirty="0"/>
              <a:t> </a:t>
            </a:r>
            <a:r>
              <a:rPr spc="-315" dirty="0"/>
              <a:t>Scheduling</a:t>
            </a:r>
            <a:endParaRPr spc="-315" dirty="0"/>
          </a:p>
        </p:txBody>
      </p:sp>
      <p:sp>
        <p:nvSpPr>
          <p:cNvPr id="3" name="object 3"/>
          <p:cNvSpPr/>
          <p:nvPr/>
        </p:nvSpPr>
        <p:spPr>
          <a:xfrm>
            <a:off x="864797" y="2732943"/>
            <a:ext cx="8212705" cy="3856976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70497" y="1906523"/>
          <a:ext cx="3504563" cy="1612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5960"/>
                <a:gridCol w="578485"/>
                <a:gridCol w="607059"/>
                <a:gridCol w="929639"/>
                <a:gridCol w="693420"/>
              </a:tblGrid>
              <a:tr h="440568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i="1" dirty="0">
                          <a:latin typeface="URW Gothic"/>
                          <a:cs typeface="URW Gothic"/>
                        </a:rPr>
                        <a:t>process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200" i="1" dirty="0">
                          <a:latin typeface="URW Gothic"/>
                          <a:cs typeface="URW Gothic"/>
                        </a:rPr>
                        <a:t>priority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361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5410" marR="29845" indent="-66040">
                        <a:lnSpc>
                          <a:spcPct val="101000"/>
                        </a:lnSpc>
                        <a:spcBef>
                          <a:spcPts val="275"/>
                        </a:spcBef>
                      </a:pPr>
                      <a:r>
                        <a:rPr sz="1200" i="1" dirty="0">
                          <a:latin typeface="URW Gothic"/>
                          <a:cs typeface="URW Gothic"/>
                        </a:rPr>
                        <a:t>se</a:t>
                      </a:r>
                      <a:r>
                        <a:rPr sz="1200" i="1" spc="-5" dirty="0">
                          <a:latin typeface="URW Gothic"/>
                          <a:cs typeface="URW Gothic"/>
                        </a:rPr>
                        <a:t>r</a:t>
                      </a:r>
                      <a:r>
                        <a:rPr sz="1200" i="1" spc="-10" dirty="0">
                          <a:latin typeface="URW Gothic"/>
                          <a:cs typeface="URW Gothic"/>
                        </a:rPr>
                        <a:t>v</a:t>
                      </a:r>
                      <a:r>
                        <a:rPr sz="1200" i="1" spc="10" dirty="0">
                          <a:latin typeface="URW Gothic"/>
                          <a:cs typeface="URW Gothic"/>
                        </a:rPr>
                        <a:t>i</a:t>
                      </a:r>
                      <a:r>
                        <a:rPr sz="1200" i="1" spc="-10" dirty="0">
                          <a:latin typeface="URW Gothic"/>
                          <a:cs typeface="URW Gothic"/>
                        </a:rPr>
                        <a:t>c</a:t>
                      </a:r>
                      <a:r>
                        <a:rPr sz="1200" i="1" dirty="0">
                          <a:latin typeface="URW Gothic"/>
                          <a:cs typeface="URW Gothic"/>
                        </a:rPr>
                        <a:t>e  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time</a:t>
                      </a:r>
                      <a:r>
                        <a:rPr sz="1200" i="1" spc="-90" dirty="0">
                          <a:latin typeface="URW Gothic"/>
                          <a:cs typeface="URW Gothic"/>
                        </a:rPr>
                        <a:t> 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t</a:t>
                      </a:r>
                      <a:r>
                        <a:rPr sz="1200" i="1" spc="7" baseline="-21000" dirty="0">
                          <a:latin typeface="URW Gothic"/>
                          <a:cs typeface="URW Gothic"/>
                        </a:rPr>
                        <a:t>s</a:t>
                      </a:r>
                      <a:endParaRPr sz="1200" baseline="-21000">
                        <a:latin typeface="URW Gothic"/>
                        <a:cs typeface="URW Gothic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0665" marR="53340" indent="-203200">
                        <a:lnSpc>
                          <a:spcPct val="101000"/>
                        </a:lnSpc>
                        <a:spcBef>
                          <a:spcPts val="275"/>
                        </a:spcBef>
                      </a:pPr>
                      <a:r>
                        <a:rPr sz="1200" i="1" spc="10" dirty="0">
                          <a:latin typeface="URW Gothic"/>
                          <a:cs typeface="URW Gothic"/>
                        </a:rPr>
                        <a:t>t</a:t>
                      </a:r>
                      <a:r>
                        <a:rPr sz="1200" i="1" spc="-10" dirty="0">
                          <a:latin typeface="URW Gothic"/>
                          <a:cs typeface="URW Gothic"/>
                        </a:rPr>
                        <a:t>u</a:t>
                      </a:r>
                      <a:r>
                        <a:rPr sz="1200" i="1" spc="-5" dirty="0">
                          <a:latin typeface="URW Gothic"/>
                          <a:cs typeface="URW Gothic"/>
                        </a:rPr>
                        <a:t>r</a:t>
                      </a:r>
                      <a:r>
                        <a:rPr sz="1200" i="1" dirty="0">
                          <a:latin typeface="URW Gothic"/>
                          <a:cs typeface="URW Gothic"/>
                        </a:rPr>
                        <a:t>n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a</a:t>
                      </a:r>
                      <a:r>
                        <a:rPr sz="1200" i="1" spc="-15" dirty="0">
                          <a:latin typeface="URW Gothic"/>
                          <a:cs typeface="URW Gothic"/>
                        </a:rPr>
                        <a:t>r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o</a:t>
                      </a:r>
                      <a:r>
                        <a:rPr sz="1200" i="1" spc="-10" dirty="0">
                          <a:latin typeface="URW Gothic"/>
                          <a:cs typeface="URW Gothic"/>
                        </a:rPr>
                        <a:t>u</a:t>
                      </a:r>
                      <a:r>
                        <a:rPr sz="1200" i="1" dirty="0">
                          <a:latin typeface="URW Gothic"/>
                          <a:cs typeface="URW Gothic"/>
                        </a:rPr>
                        <a:t>nd  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time</a:t>
                      </a:r>
                      <a:r>
                        <a:rPr sz="1200" i="1" spc="-25" dirty="0">
                          <a:latin typeface="URW Gothic"/>
                          <a:cs typeface="URW Gothic"/>
                        </a:rPr>
                        <a:t> 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t</a:t>
                      </a:r>
                      <a:r>
                        <a:rPr sz="1200" i="1" spc="7" baseline="-21000" dirty="0">
                          <a:latin typeface="URW Gothic"/>
                          <a:cs typeface="URW Gothic"/>
                        </a:rPr>
                        <a:t>t</a:t>
                      </a:r>
                      <a:endParaRPr sz="1200" baseline="-21000">
                        <a:latin typeface="URW Gothic"/>
                        <a:cs typeface="URW Gothic"/>
                      </a:endParaRPr>
                    </a:p>
                  </a:txBody>
                  <a:tcPr marL="0" marR="0" marT="3492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2230" marR="77470" indent="-1905">
                        <a:lnSpc>
                          <a:spcPct val="101000"/>
                        </a:lnSpc>
                        <a:spcBef>
                          <a:spcPts val="275"/>
                        </a:spcBef>
                      </a:pPr>
                      <a:r>
                        <a:rPr sz="1200" i="1" spc="-15" dirty="0">
                          <a:latin typeface="URW Gothic"/>
                          <a:cs typeface="URW Gothic"/>
                        </a:rPr>
                        <a:t>w</a:t>
                      </a:r>
                      <a:r>
                        <a:rPr sz="1200" i="1" spc="-5" dirty="0">
                          <a:latin typeface="URW Gothic"/>
                          <a:cs typeface="URW Gothic"/>
                        </a:rPr>
                        <a:t>a</a:t>
                      </a:r>
                      <a:r>
                        <a:rPr sz="1200" i="1" spc="10" dirty="0">
                          <a:latin typeface="URW Gothic"/>
                          <a:cs typeface="URW Gothic"/>
                        </a:rPr>
                        <a:t>iti</a:t>
                      </a:r>
                      <a:r>
                        <a:rPr sz="1200" i="1" dirty="0">
                          <a:latin typeface="URW Gothic"/>
                          <a:cs typeface="URW Gothic"/>
                        </a:rPr>
                        <a:t>ng  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time</a:t>
                      </a:r>
                      <a:r>
                        <a:rPr sz="1200" i="1" spc="-50" dirty="0">
                          <a:latin typeface="URW Gothic"/>
                          <a:cs typeface="URW Gothic"/>
                        </a:rPr>
                        <a:t> </a:t>
                      </a:r>
                      <a:r>
                        <a:rPr sz="1200" i="1" spc="5" dirty="0">
                          <a:latin typeface="URW Gothic"/>
                          <a:cs typeface="URW Gothic"/>
                        </a:rPr>
                        <a:t>t</a:t>
                      </a:r>
                      <a:r>
                        <a:rPr sz="1200" i="1" spc="7" baseline="-21000" dirty="0">
                          <a:latin typeface="URW Gothic"/>
                          <a:cs typeface="URW Gothic"/>
                        </a:rPr>
                        <a:t>w</a:t>
                      </a:r>
                      <a:endParaRPr sz="1200" baseline="-21000">
                        <a:latin typeface="URW Gothic"/>
                        <a:cs typeface="URW Gothic"/>
                      </a:endParaRPr>
                    </a:p>
                  </a:txBody>
                  <a:tcPr marL="0" marR="0" marT="34925" marB="0"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4661">
                <a:tc>
                  <a:txBody>
                    <a:bodyPr/>
                    <a:lstStyle/>
                    <a:p>
                      <a:pPr marL="452120">
                        <a:lnSpc>
                          <a:spcPts val="135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A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ts val="135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4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ts val="1350"/>
                        </a:lnSpc>
                        <a:spcBef>
                          <a:spcPts val="80"/>
                        </a:spcBef>
                      </a:pPr>
                      <a:r>
                        <a:rPr sz="1200" spc="-10" dirty="0">
                          <a:latin typeface="URW Gothic"/>
                          <a:cs typeface="URW Gothic"/>
                        </a:rPr>
                        <a:t>1</a:t>
                      </a:r>
                      <a:r>
                        <a:rPr sz="1200" dirty="0">
                          <a:latin typeface="URW Gothic"/>
                          <a:cs typeface="URW Gothic"/>
                        </a:rPr>
                        <a:t>0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ts val="1350"/>
                        </a:lnSpc>
                        <a:spcBef>
                          <a:spcPts val="80"/>
                        </a:spcBef>
                      </a:pPr>
                      <a:r>
                        <a:rPr sz="1200" spc="5" dirty="0">
                          <a:latin typeface="URW Gothic"/>
                          <a:cs typeface="URW Gothic"/>
                        </a:rPr>
                        <a:t>1</a:t>
                      </a:r>
                      <a:r>
                        <a:rPr sz="1200" dirty="0">
                          <a:latin typeface="URW Gothic"/>
                          <a:cs typeface="URW Gothic"/>
                        </a:rPr>
                        <a:t>8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R="153670" algn="r">
                        <a:lnSpc>
                          <a:spcPts val="1350"/>
                        </a:lnSpc>
                        <a:spcBef>
                          <a:spcPts val="80"/>
                        </a:spcBef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8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1016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4399">
                <a:tc>
                  <a:txBody>
                    <a:bodyPr/>
                    <a:lstStyle/>
                    <a:p>
                      <a:pPr marL="446405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B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42265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3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1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6555" algn="r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8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5415" algn="r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7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84399">
                <a:tc>
                  <a:txBody>
                    <a:bodyPr/>
                    <a:lstStyle/>
                    <a:p>
                      <a:pPr marL="448945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C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9725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2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3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78460" algn="r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7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8590" algn="r">
                        <a:lnSpc>
                          <a:spcPts val="135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4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76579">
                <a:tc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D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1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9545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4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4810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4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URW Gothic"/>
                          <a:cs typeface="URW Gothic"/>
                        </a:rPr>
                        <a:t>0</a:t>
                      </a:r>
                      <a:endParaRPr sz="1200">
                        <a:latin typeface="URW Gothic"/>
                        <a:cs typeface="URW Gothic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331783">
                <a:tc gridSpan="5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725"/>
                        </a:spcBef>
                        <a:tabLst>
                          <a:tab pos="2199640" algn="l"/>
                          <a:tab pos="3110865" algn="l"/>
                        </a:tabLst>
                      </a:pPr>
                      <a:r>
                        <a:rPr sz="1200" b="1" spc="10" dirty="0">
                          <a:latin typeface="Gothic Uralic"/>
                          <a:cs typeface="Gothic Uralic"/>
                        </a:rPr>
                        <a:t>AVERAGE	</a:t>
                      </a:r>
                      <a:r>
                        <a:rPr sz="1200" b="1" spc="5" dirty="0">
                          <a:latin typeface="Gothic Uralic"/>
                          <a:cs typeface="Gothic Uralic"/>
                        </a:rPr>
                        <a:t>9.25	4.75</a:t>
                      </a:r>
                      <a:endParaRPr sz="1200">
                        <a:latin typeface="Gothic Uralic"/>
                        <a:cs typeface="Gothic Uralic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313380"/>
            <a:ext cx="48209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4. </a:t>
            </a:r>
            <a:r>
              <a:rPr spc="-380" dirty="0"/>
              <a:t>Round </a:t>
            </a:r>
            <a:r>
              <a:rPr spc="-355" dirty="0"/>
              <a:t>Robin</a:t>
            </a:r>
            <a:r>
              <a:rPr spc="-90" dirty="0"/>
              <a:t> </a:t>
            </a:r>
            <a:r>
              <a:rPr spc="-320" dirty="0"/>
              <a:t>(RR)</a:t>
            </a:r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759964" y="1174541"/>
            <a:ext cx="8373745" cy="4739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5" dirty="0">
                <a:latin typeface="Times New Roman" panose="02020603050405020304"/>
                <a:cs typeface="Times New Roman" panose="02020603050405020304"/>
              </a:rPr>
              <a:t>RR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reduces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penalty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3050" spc="-60" dirty="0">
                <a:latin typeface="Times New Roman" panose="02020603050405020304"/>
                <a:cs typeface="Times New Roman" panose="02020603050405020304"/>
              </a:rPr>
              <a:t>short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suffer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spc="-285" dirty="0">
                <a:latin typeface="Times New Roman" panose="02020603050405020304"/>
                <a:cs typeface="Times New Roman" panose="02020603050405020304"/>
              </a:rPr>
              <a:t>FCFS  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by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preempting running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jobs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periodically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7620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1197610" algn="l"/>
                <a:tab pos="2451100" algn="l"/>
                <a:tab pos="3222625" algn="l"/>
                <a:tab pos="3578860" algn="l"/>
                <a:tab pos="4526915" algn="l"/>
                <a:tab pos="5302250" algn="l"/>
                <a:tab pos="5795645" algn="l"/>
                <a:tab pos="6700520" algn="l"/>
                <a:tab pos="7558405" algn="l"/>
              </a:tabLst>
            </a:pPr>
            <a:r>
              <a:rPr sz="3050" spc="-2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7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22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050" b="1" i="1" spc="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b="1" i="1" spc="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b="1" i="1" spc="-15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b="1" i="1" spc="-8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e </a:t>
            </a:r>
            <a:r>
              <a:rPr sz="3050" b="1" i="1" spc="-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b="1" i="1" spc="-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quantum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), 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usually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10-100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milliseconds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marR="7620" indent="-300355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  <a:tab pos="7677150" algn="l"/>
              </a:tabLst>
            </a:pP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k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30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5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305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75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30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305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spc="-22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23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15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3050" spc="-32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30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050" b="1" i="1" spc="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3050" b="1" i="1" spc="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3050" b="1" i="1" spc="-15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3050" b="1" i="1" spc="-8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e </a:t>
            </a:r>
            <a:r>
              <a:rPr sz="3050" b="1" i="1" spc="-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quantum </a:t>
            </a:r>
            <a:r>
              <a:rPr sz="3050" b="1" spc="-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050" b="1" i="1" spc="-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time-slice</a:t>
            </a:r>
            <a:r>
              <a:rPr sz="3050" b="1" spc="-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)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exhausted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6985" lvl="1" indent="-252095">
              <a:lnSpc>
                <a:spcPts val="3170"/>
              </a:lnSpc>
              <a:spcBef>
                <a:spcPts val="62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current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then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put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end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it 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yet</a:t>
            </a:r>
            <a:r>
              <a:rPr sz="265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completed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ts val="3170"/>
              </a:lnSpc>
              <a:spcBef>
                <a:spcPts val="42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  <a:tab pos="994410" algn="l"/>
                <a:tab pos="1581150" algn="l"/>
                <a:tab pos="2691130" algn="l"/>
                <a:tab pos="3277870" algn="l"/>
                <a:tab pos="3667125" algn="l"/>
                <a:tab pos="5236210" algn="l"/>
                <a:tab pos="5614670" algn="l"/>
                <a:tab pos="6282055" algn="l"/>
                <a:tab pos="6952615" algn="l"/>
                <a:tab pos="7539355" algn="l"/>
              </a:tabLst>
            </a:pP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If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50" spc="9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220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m 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(terminate)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234181"/>
            <a:ext cx="42113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80" dirty="0"/>
              <a:t>Round </a:t>
            </a:r>
            <a:r>
              <a:rPr spc="-355" dirty="0"/>
              <a:t>Robin</a:t>
            </a:r>
            <a:r>
              <a:rPr spc="35" dirty="0"/>
              <a:t> </a:t>
            </a:r>
            <a:r>
              <a:rPr spc="-320" dirty="0"/>
              <a:t>(RR)</a:t>
            </a:r>
            <a:endParaRPr spc="-320" dirty="0"/>
          </a:p>
        </p:txBody>
      </p:sp>
      <p:sp>
        <p:nvSpPr>
          <p:cNvPr id="3" name="object 3"/>
          <p:cNvSpPr txBox="1"/>
          <p:nvPr/>
        </p:nvSpPr>
        <p:spPr>
          <a:xfrm>
            <a:off x="680637" y="1095214"/>
            <a:ext cx="8375650" cy="5389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3055" marR="5080" indent="-300990" algn="just">
              <a:lnSpc>
                <a:spcPct val="101000"/>
              </a:lnSpc>
              <a:spcBef>
                <a:spcPts val="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690" algn="l"/>
              </a:tabLst>
            </a:pPr>
            <a:r>
              <a:rPr sz="3050" spc="-215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there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3050" i="1" spc="-240" dirty="0">
                <a:latin typeface="Times New Roman" panose="02020603050405020304"/>
                <a:cs typeface="Times New Roman" panose="02020603050405020304"/>
              </a:rPr>
              <a:t>n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5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quantum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i="1" spc="-105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then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gets </a:t>
            </a:r>
            <a:r>
              <a:rPr sz="3050" spc="110" dirty="0">
                <a:latin typeface="Times New Roman" panose="02020603050405020304"/>
                <a:cs typeface="Times New Roman" panose="02020603050405020304"/>
              </a:rPr>
              <a:t>1/</a:t>
            </a:r>
            <a:r>
              <a:rPr sz="3050" i="1" spc="110" dirty="0">
                <a:latin typeface="Times New Roman" panose="02020603050405020304"/>
                <a:cs typeface="Times New Roman" panose="02020603050405020304"/>
              </a:rPr>
              <a:t>n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CPU 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13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chunks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at most </a:t>
            </a:r>
            <a:r>
              <a:rPr sz="3050" i="1" spc="-340" dirty="0">
                <a:latin typeface="Times New Roman" panose="02020603050405020304"/>
                <a:cs typeface="Times New Roman" panose="02020603050405020304"/>
              </a:rPr>
              <a:t>q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units </a:t>
            </a: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3050" spc="-85" dirty="0">
                <a:latin typeface="Times New Roman" panose="02020603050405020304"/>
                <a:cs typeface="Times New Roman" panose="02020603050405020304"/>
              </a:rPr>
              <a:t>once.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No 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waits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than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3050" i="1" spc="-155" dirty="0">
                <a:latin typeface="Times New Roman" panose="02020603050405020304"/>
                <a:cs typeface="Times New Roman" panose="02020603050405020304"/>
              </a:rPr>
              <a:t>n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-1)</a:t>
            </a:r>
            <a:r>
              <a:rPr sz="3050" i="1" spc="-145" dirty="0">
                <a:latin typeface="Times New Roman" panose="02020603050405020304"/>
                <a:cs typeface="Times New Roman" panose="02020603050405020304"/>
              </a:rPr>
              <a:t>q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305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units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3055" marR="6985" indent="-300990" algn="just">
              <a:lnSpc>
                <a:spcPct val="101000"/>
              </a:lnSpc>
              <a:spcBef>
                <a:spcPts val="66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690" algn="l"/>
              </a:tabLst>
            </a:pP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Performance: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critical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issue 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210" dirty="0">
                <a:latin typeface="Times New Roman" panose="02020603050405020304"/>
                <a:cs typeface="Times New Roman" panose="02020603050405020304"/>
              </a:rPr>
              <a:t>RR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policy </a:t>
            </a:r>
            <a:r>
              <a:rPr sz="3050" spc="-20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the 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length </a:t>
            </a: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quantum</a:t>
            </a:r>
            <a:r>
              <a:rPr sz="305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i="1" spc="-340" dirty="0">
                <a:latin typeface="Times New Roman" panose="02020603050405020304"/>
                <a:cs typeface="Times New Roman" panose="02020603050405020304"/>
              </a:rPr>
              <a:t>q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1460" algn="just">
              <a:lnSpc>
                <a:spcPts val="3170"/>
              </a:lnSpc>
              <a:spcBef>
                <a:spcPts val="6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q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large: 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RR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behave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like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FIFO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hence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interactive 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6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suffer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6985" lvl="1" indent="-251460" algn="just">
              <a:lnSpc>
                <a:spcPts val="317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i="1" spc="-310" dirty="0">
                <a:latin typeface="Times New Roman" panose="02020603050405020304"/>
                <a:cs typeface="Times New Roman" panose="02020603050405020304"/>
              </a:rPr>
              <a:t>q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small: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will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spending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more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on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context 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switching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17575" marR="8255" indent="-252095">
              <a:lnSpc>
                <a:spcPct val="100000"/>
              </a:lnSpc>
              <a:spcBef>
                <a:spcPts val="390"/>
              </a:spcBef>
            </a:pPr>
            <a:r>
              <a:rPr sz="1850" spc="-815" dirty="0">
                <a:solidFill>
                  <a:srgbClr val="E6B1AA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1850" spc="480" dirty="0">
                <a:solidFill>
                  <a:srgbClr val="E6B1A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i="1" spc="-260" dirty="0">
                <a:latin typeface="Times New Roman" panose="02020603050405020304"/>
                <a:cs typeface="Times New Roman" panose="02020603050405020304"/>
              </a:rPr>
              <a:t>q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be large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respect 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200" spc="-70" dirty="0">
                <a:latin typeface="Times New Roman" panose="02020603050405020304"/>
                <a:cs typeface="Times New Roman" panose="02020603050405020304"/>
              </a:rPr>
              <a:t>context </a:t>
            </a:r>
            <a:r>
              <a:rPr sz="2200" spc="-80" dirty="0">
                <a:latin typeface="Times New Roman" panose="02020603050405020304"/>
                <a:cs typeface="Times New Roman" panose="02020603050405020304"/>
              </a:rPr>
              <a:t>switch, </a:t>
            </a:r>
            <a:r>
              <a:rPr sz="2200" spc="-85" dirty="0">
                <a:latin typeface="Times New Roman" panose="02020603050405020304"/>
                <a:cs typeface="Times New Roman" panose="02020603050405020304"/>
              </a:rPr>
              <a:t>otherwise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overhead </a:t>
            </a:r>
            <a:r>
              <a:rPr sz="2200" spc="-14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200" spc="-55" dirty="0">
                <a:latin typeface="Times New Roman" panose="02020603050405020304"/>
                <a:cs typeface="Times New Roman" panose="02020603050405020304"/>
              </a:rPr>
              <a:t>too  </a:t>
            </a:r>
            <a:r>
              <a:rPr sz="2200" spc="-150" dirty="0">
                <a:latin typeface="Times New Roman" panose="02020603050405020304"/>
                <a:cs typeface="Times New Roman" panose="02020603050405020304"/>
              </a:rPr>
              <a:t>high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0540" marR="5080">
              <a:lnSpc>
                <a:spcPct val="100000"/>
              </a:lnSpc>
              <a:spcBef>
                <a:spcPts val="100"/>
              </a:spcBef>
            </a:pPr>
            <a:r>
              <a:rPr spc="-300" dirty="0"/>
              <a:t>Time Quantum </a:t>
            </a:r>
            <a:r>
              <a:rPr spc="-250" dirty="0"/>
              <a:t>and </a:t>
            </a:r>
            <a:r>
              <a:rPr spc="-345" dirty="0"/>
              <a:t>Context </a:t>
            </a:r>
            <a:r>
              <a:rPr spc="-325" dirty="0"/>
              <a:t>Switch  </a:t>
            </a:r>
            <a:r>
              <a:rPr spc="-300" dirty="0"/>
              <a:t>Time</a:t>
            </a:r>
            <a:endParaRPr spc="-300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40936" y="2746352"/>
            <a:ext cx="7844709" cy="3252981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0372" y="2240279"/>
            <a:ext cx="9098280" cy="4174490"/>
          </a:xfrm>
          <a:custGeom>
            <a:avLst/>
            <a:gdLst/>
            <a:ahLst/>
            <a:cxnLst/>
            <a:rect l="l" t="t" r="r" b="b"/>
            <a:pathLst>
              <a:path w="9098280" h="4174490">
                <a:moveTo>
                  <a:pt x="9047988" y="50800"/>
                </a:moveTo>
                <a:lnTo>
                  <a:pt x="50292" y="50800"/>
                </a:lnTo>
                <a:lnTo>
                  <a:pt x="50292" y="62230"/>
                </a:lnTo>
                <a:lnTo>
                  <a:pt x="50292" y="4109720"/>
                </a:lnTo>
                <a:lnTo>
                  <a:pt x="50292" y="4123690"/>
                </a:lnTo>
                <a:lnTo>
                  <a:pt x="9047988" y="4123690"/>
                </a:lnTo>
                <a:lnTo>
                  <a:pt x="9047988" y="4110240"/>
                </a:lnTo>
                <a:lnTo>
                  <a:pt x="9047988" y="4109720"/>
                </a:lnTo>
                <a:lnTo>
                  <a:pt x="9047988" y="62496"/>
                </a:lnTo>
                <a:lnTo>
                  <a:pt x="9035796" y="62496"/>
                </a:lnTo>
                <a:lnTo>
                  <a:pt x="9035796" y="4109720"/>
                </a:lnTo>
                <a:lnTo>
                  <a:pt x="62484" y="4109720"/>
                </a:lnTo>
                <a:lnTo>
                  <a:pt x="62484" y="62230"/>
                </a:lnTo>
                <a:lnTo>
                  <a:pt x="9047988" y="62230"/>
                </a:lnTo>
                <a:lnTo>
                  <a:pt x="9047988" y="50800"/>
                </a:lnTo>
                <a:close/>
              </a:path>
              <a:path w="9098280" h="4174490">
                <a:moveTo>
                  <a:pt x="9098280" y="0"/>
                </a:moveTo>
                <a:lnTo>
                  <a:pt x="0" y="0"/>
                </a:lnTo>
                <a:lnTo>
                  <a:pt x="0" y="36830"/>
                </a:lnTo>
                <a:lnTo>
                  <a:pt x="0" y="4136390"/>
                </a:lnTo>
                <a:lnTo>
                  <a:pt x="0" y="4174490"/>
                </a:lnTo>
                <a:lnTo>
                  <a:pt x="9098280" y="4174490"/>
                </a:lnTo>
                <a:lnTo>
                  <a:pt x="9098280" y="4136390"/>
                </a:lnTo>
                <a:lnTo>
                  <a:pt x="36576" y="4136390"/>
                </a:lnTo>
                <a:lnTo>
                  <a:pt x="36576" y="36830"/>
                </a:lnTo>
                <a:lnTo>
                  <a:pt x="9060180" y="36830"/>
                </a:lnTo>
                <a:lnTo>
                  <a:pt x="9060180" y="4136148"/>
                </a:lnTo>
                <a:lnTo>
                  <a:pt x="9098280" y="4136148"/>
                </a:lnTo>
                <a:lnTo>
                  <a:pt x="9098280" y="36830"/>
                </a:lnTo>
                <a:lnTo>
                  <a:pt x="9098280" y="36588"/>
                </a:lnTo>
                <a:lnTo>
                  <a:pt x="90982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778" y="564993"/>
            <a:ext cx="708596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245" dirty="0"/>
              <a:t>Example </a:t>
            </a:r>
            <a:r>
              <a:rPr sz="3300" spc="-210" dirty="0"/>
              <a:t>of </a:t>
            </a:r>
            <a:r>
              <a:rPr sz="3300" spc="-355" dirty="0"/>
              <a:t>RR </a:t>
            </a:r>
            <a:r>
              <a:rPr sz="3300" spc="-210" dirty="0"/>
              <a:t>with </a:t>
            </a:r>
            <a:r>
              <a:rPr sz="3300" spc="-229" dirty="0"/>
              <a:t>Time </a:t>
            </a:r>
            <a:r>
              <a:rPr sz="3300" spc="-225" dirty="0"/>
              <a:t>Quantum </a:t>
            </a:r>
            <a:r>
              <a:rPr sz="3300" spc="5" dirty="0"/>
              <a:t>=</a:t>
            </a:r>
            <a:r>
              <a:rPr sz="3300" spc="55" dirty="0"/>
              <a:t> </a:t>
            </a:r>
            <a:r>
              <a:rPr sz="3300" spc="100" dirty="0"/>
              <a:t>20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5666395" y="1628714"/>
            <a:ext cx="1464310" cy="2190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415"/>
              </a:lnSpc>
              <a:spcBef>
                <a:spcPts val="105"/>
              </a:spcBef>
            </a:pPr>
            <a:r>
              <a:rPr sz="2850" u="heavy" spc="-13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Burst</a:t>
            </a:r>
            <a:r>
              <a:rPr sz="2850" spc="-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u="heavy" spc="-13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Time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955040">
              <a:lnSpc>
                <a:spcPts val="3400"/>
              </a:lnSpc>
            </a:pP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53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955040">
              <a:lnSpc>
                <a:spcPts val="3405"/>
              </a:lnSpc>
            </a:pP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17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955040">
              <a:lnSpc>
                <a:spcPts val="3410"/>
              </a:lnSpc>
            </a:pP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68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955040">
              <a:lnSpc>
                <a:spcPts val="3415"/>
              </a:lnSpc>
            </a:pP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24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266" y="1628714"/>
            <a:ext cx="3395345" cy="2623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0480" algn="r">
              <a:lnSpc>
                <a:spcPts val="3415"/>
              </a:lnSpc>
              <a:spcBef>
                <a:spcPts val="105"/>
              </a:spcBef>
            </a:pPr>
            <a:r>
              <a:rPr sz="2850" u="heavy" spc="-16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50" u="heavy" spc="1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50" u="heavy" spc="-145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850" u="heavy" spc="-16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50" u="heavy" spc="-10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50" u="heavy" spc="-229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50" u="heavy" spc="-22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s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2535555" marR="592455" algn="just">
              <a:lnSpc>
                <a:spcPct val="100000"/>
              </a:lnSpc>
              <a:spcBef>
                <a:spcPts val="10"/>
              </a:spcBef>
            </a:pPr>
            <a:r>
              <a:rPr sz="2850" i="1" spc="-58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50" i="1" spc="-89" baseline="-20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850" i="1" spc="-60" baseline="-20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i="1" spc="-58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50" i="1" spc="-82" baseline="-20000" dirty="0">
                <a:latin typeface="Times New Roman" panose="02020603050405020304"/>
                <a:cs typeface="Times New Roman" panose="02020603050405020304"/>
              </a:rPr>
              <a:t>2  </a:t>
            </a:r>
            <a:r>
              <a:rPr sz="2850" i="1" spc="-58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50" i="1" spc="-82" baseline="-20000" dirty="0">
                <a:latin typeface="Times New Roman" panose="02020603050405020304"/>
                <a:cs typeface="Times New Roman" panose="02020603050405020304"/>
              </a:rPr>
              <a:t>3  </a:t>
            </a:r>
            <a:r>
              <a:rPr sz="2850" i="1" spc="-580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50" i="1" spc="-120" baseline="-20000" dirty="0">
                <a:latin typeface="Times New Roman" panose="02020603050405020304"/>
                <a:cs typeface="Times New Roman" panose="02020603050405020304"/>
              </a:rPr>
              <a:t>4</a:t>
            </a:r>
            <a:endParaRPr sz="2850" baseline="-20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ts val="3410"/>
              </a:lnSpc>
              <a:tabLst>
                <a:tab pos="337820" algn="l"/>
              </a:tabLst>
            </a:pPr>
            <a:r>
              <a:rPr sz="2400" spc="-1050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400" spc="-105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850" spc="-90" dirty="0">
                <a:latin typeface="Times New Roman" panose="02020603050405020304"/>
                <a:cs typeface="Times New Roman" panose="02020603050405020304"/>
              </a:rPr>
              <a:t>Gantt </a:t>
            </a:r>
            <a:r>
              <a:rPr sz="2850" spc="-70" dirty="0">
                <a:latin typeface="Times New Roman" panose="02020603050405020304"/>
                <a:cs typeface="Times New Roman" panose="02020603050405020304"/>
              </a:rPr>
              <a:t>chart</a:t>
            </a:r>
            <a:r>
              <a:rPr sz="285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100" dirty="0">
                <a:latin typeface="Times New Roman" panose="02020603050405020304"/>
                <a:cs typeface="Times New Roman" panose="02020603050405020304"/>
              </a:rPr>
              <a:t>is: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882645" y="4635246"/>
          <a:ext cx="4650736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6089"/>
                <a:gridCol w="464819"/>
                <a:gridCol w="464819"/>
                <a:gridCol w="464820"/>
                <a:gridCol w="466089"/>
                <a:gridCol w="464820"/>
                <a:gridCol w="464820"/>
              </a:tblGrid>
              <a:tr h="50292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450" spc="10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spc="15" baseline="-19000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 baseline="-19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pc="15" dirty="0"/>
              <a:t>CS-2006 Operating</a:t>
            </a:r>
            <a:r>
              <a:rPr spc="-45" dirty="0"/>
              <a:t> </a:t>
            </a:r>
            <a:r>
              <a:rPr spc="10" dirty="0"/>
              <a:t>Systems</a:t>
            </a:r>
            <a:endParaRPr spc="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110" dirty="0"/>
            </a:fld>
            <a:endParaRPr spc="110" dirty="0"/>
          </a:p>
        </p:txBody>
      </p:sp>
      <p:sp>
        <p:nvSpPr>
          <p:cNvPr id="7" name="object 7"/>
          <p:cNvSpPr txBox="1"/>
          <p:nvPr/>
        </p:nvSpPr>
        <p:spPr>
          <a:xfrm>
            <a:off x="1093666" y="5162835"/>
            <a:ext cx="8372475" cy="1349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5560" algn="ctr">
              <a:lnSpc>
                <a:spcPct val="100000"/>
              </a:lnSpc>
              <a:spcBef>
                <a:spcPts val="135"/>
              </a:spcBef>
              <a:tabLst>
                <a:tab pos="385445" algn="l"/>
                <a:tab pos="825500" algn="l"/>
                <a:tab pos="1324610" algn="l"/>
                <a:tab pos="1830705" algn="l"/>
                <a:tab pos="2271395" algn="l"/>
                <a:tab pos="2666365" algn="l"/>
                <a:tab pos="3161030" algn="l"/>
                <a:tab pos="4083685" algn="l"/>
              </a:tabLst>
            </a:pPr>
            <a:r>
              <a:rPr sz="1450" spc="20" dirty="0">
                <a:latin typeface="Arial" panose="020B0604020202020204"/>
                <a:cs typeface="Arial" panose="020B0604020202020204"/>
              </a:rPr>
              <a:t>0	20	37	</a:t>
            </a:r>
            <a:r>
              <a:rPr sz="1450" spc="15" dirty="0">
                <a:latin typeface="Arial" panose="020B0604020202020204"/>
                <a:cs typeface="Arial" panose="020B0604020202020204"/>
              </a:rPr>
              <a:t>57	</a:t>
            </a:r>
            <a:r>
              <a:rPr sz="1450" spc="20" dirty="0">
                <a:latin typeface="Arial" panose="020B0604020202020204"/>
                <a:cs typeface="Arial" panose="020B0604020202020204"/>
              </a:rPr>
              <a:t>77	97	</a:t>
            </a:r>
            <a:r>
              <a:rPr sz="1450" spc="-20" dirty="0">
                <a:latin typeface="Arial" panose="020B0604020202020204"/>
                <a:cs typeface="Arial" panose="020B0604020202020204"/>
              </a:rPr>
              <a:t>117	</a:t>
            </a:r>
            <a:r>
              <a:rPr sz="1450" spc="20" dirty="0">
                <a:latin typeface="Arial" panose="020B0604020202020204"/>
                <a:cs typeface="Arial" panose="020B0604020202020204"/>
              </a:rPr>
              <a:t>121 </a:t>
            </a:r>
            <a:r>
              <a:rPr sz="1450" spc="155" dirty="0">
                <a:latin typeface="Arial" panose="020B0604020202020204"/>
                <a:cs typeface="Arial" panose="020B0604020202020204"/>
              </a:rPr>
              <a:t> </a:t>
            </a:r>
            <a:r>
              <a:rPr sz="1450" spc="20" dirty="0">
                <a:latin typeface="Arial" panose="020B0604020202020204"/>
                <a:cs typeface="Arial" panose="020B0604020202020204"/>
              </a:rPr>
              <a:t>134	154 </a:t>
            </a:r>
            <a:r>
              <a:rPr sz="1450" spc="140" dirty="0">
                <a:latin typeface="Arial" panose="020B0604020202020204"/>
                <a:cs typeface="Arial" panose="020B0604020202020204"/>
              </a:rPr>
              <a:t> </a:t>
            </a:r>
            <a:r>
              <a:rPr sz="1450" spc="20" dirty="0">
                <a:latin typeface="Arial" panose="020B0604020202020204"/>
                <a:cs typeface="Arial" panose="020B0604020202020204"/>
              </a:rPr>
              <a:t>162</a:t>
            </a:r>
            <a:endParaRPr sz="145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3085"/>
              </a:lnSpc>
              <a:tabLst>
                <a:tab pos="299720" algn="l"/>
                <a:tab pos="1703705" algn="l"/>
                <a:tab pos="2715260" algn="l"/>
                <a:tab pos="3876040" algn="l"/>
                <a:tab pos="5559425" algn="l"/>
                <a:tab pos="6309995" algn="l"/>
                <a:tab pos="6933565" algn="l"/>
                <a:tab pos="7553325" algn="l"/>
              </a:tabLst>
            </a:pPr>
            <a:r>
              <a:rPr sz="2400" spc="-1050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400" spc="-105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4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50" spc="-229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50" spc="-18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8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l</a:t>
            </a:r>
            <a:r>
              <a:rPr sz="2850" spc="-515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2850" spc="12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850" spc="-140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850" spc="-229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50" spc="3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3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28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850" spc="-1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50" spc="4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50" spc="-2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229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850" spc="-11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850" spc="13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50" spc="-2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1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oun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3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50" spc="-170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850" spc="-24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50" spc="-12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390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850" spc="-200" dirty="0">
                <a:latin typeface="Times New Roman" panose="02020603050405020304"/>
                <a:cs typeface="Times New Roman" panose="02020603050405020304"/>
              </a:rPr>
              <a:t>J</a:t>
            </a:r>
            <a:r>
              <a:rPr sz="2850" spc="-280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17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50" spc="-114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850" spc="4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8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50" spc="-145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850" spc="-13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50" spc="30" dirty="0">
                <a:latin typeface="Times New Roman" panose="02020603050405020304"/>
                <a:cs typeface="Times New Roman" panose="02020603050405020304"/>
              </a:rPr>
              <a:t>tt</a:t>
            </a:r>
            <a:r>
              <a:rPr sz="2850" spc="-100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850" spc="30" dirty="0">
                <a:latin typeface="Times New Roman" panose="02020603050405020304"/>
                <a:cs typeface="Times New Roman" panose="02020603050405020304"/>
              </a:rPr>
              <a:t>r</a:t>
            </a:r>
            <a:endParaRPr sz="2850">
              <a:latin typeface="Times New Roman" panose="02020603050405020304"/>
              <a:cs typeface="Times New Roman" panose="02020603050405020304"/>
            </a:endParaRPr>
          </a:p>
          <a:p>
            <a:pPr marL="312420">
              <a:lnSpc>
                <a:spcPts val="3085"/>
              </a:lnSpc>
            </a:pPr>
            <a:r>
              <a:rPr sz="2850" i="1" spc="-350" dirty="0">
                <a:latin typeface="Times New Roman" panose="02020603050405020304"/>
                <a:cs typeface="Times New Roman" panose="02020603050405020304"/>
              </a:rPr>
              <a:t>response</a:t>
            </a:r>
            <a:endParaRPr sz="28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408" y="7087587"/>
            <a:ext cx="19621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" dirty="0">
                <a:latin typeface="Arial" panose="020B0604020202020204"/>
                <a:cs typeface="Arial" panose="020B0604020202020204"/>
              </a:rPr>
              <a:t>1</a:t>
            </a:r>
            <a:r>
              <a:rPr sz="1200" spc="5" dirty="0">
                <a:latin typeface="Arial" panose="020B0604020202020204"/>
                <a:cs typeface="Arial" panose="020B0604020202020204"/>
              </a:rPr>
              <a:t>8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0715" y="467431"/>
            <a:ext cx="581279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320" dirty="0"/>
              <a:t>Round </a:t>
            </a:r>
            <a:r>
              <a:rPr sz="3750" spc="-310" dirty="0"/>
              <a:t>Robin</a:t>
            </a:r>
            <a:r>
              <a:rPr sz="3750" spc="-310" dirty="0">
                <a:latin typeface="Times New Roman" panose="02020603050405020304"/>
                <a:cs typeface="Times New Roman" panose="02020603050405020304"/>
              </a:rPr>
              <a:t>’</a:t>
            </a:r>
            <a:r>
              <a:rPr sz="3750" spc="-310" dirty="0"/>
              <a:t>s</a:t>
            </a:r>
            <a:r>
              <a:rPr sz="3750" spc="30" dirty="0"/>
              <a:t> </a:t>
            </a:r>
            <a:r>
              <a:rPr sz="3750" spc="-235" dirty="0"/>
              <a:t>Disadvantage</a:t>
            </a:r>
            <a:endParaRPr sz="37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5590" y="1278084"/>
            <a:ext cx="4470400" cy="148399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5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Good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210" dirty="0">
                <a:latin typeface="Times New Roman" panose="02020603050405020304"/>
                <a:cs typeface="Times New Roman" panose="02020603050405020304"/>
              </a:rPr>
              <a:t>Varying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sized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jobs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4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But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what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about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same-sized</a:t>
            </a:r>
            <a:r>
              <a:rPr sz="265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jobs?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5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</a:tabLst>
            </a:pP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Assume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jobs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20" dirty="0">
                <a:latin typeface="Times New Roman" panose="02020603050405020304"/>
                <a:cs typeface="Times New Roman" panose="02020603050405020304"/>
              </a:rPr>
              <a:t>=100</a:t>
            </a:r>
            <a:r>
              <a:rPr sz="265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each: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372" y="3329356"/>
            <a:ext cx="195707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7510" algn="l"/>
                <a:tab pos="860425" algn="l"/>
                <a:tab pos="1325880" algn="l"/>
                <a:tab pos="1788795" algn="l"/>
              </a:tabLst>
            </a:pP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	2	3	4	5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5577" y="3329356"/>
            <a:ext cx="10344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199</a:t>
            </a:r>
            <a:r>
              <a:rPr sz="2200" spc="-8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200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34" y="3739385"/>
            <a:ext cx="6146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U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4494276"/>
            <a:ext cx="7879080" cy="127000"/>
          </a:xfrm>
          <a:custGeom>
            <a:avLst/>
            <a:gdLst/>
            <a:ahLst/>
            <a:cxnLst/>
            <a:rect l="l" t="t" r="r" b="b"/>
            <a:pathLst>
              <a:path w="7879080" h="127000">
                <a:moveTo>
                  <a:pt x="7754112" y="126492"/>
                </a:moveTo>
                <a:lnTo>
                  <a:pt x="7754112" y="0"/>
                </a:lnTo>
                <a:lnTo>
                  <a:pt x="7839456" y="42672"/>
                </a:lnTo>
                <a:lnTo>
                  <a:pt x="7775448" y="42672"/>
                </a:lnTo>
                <a:lnTo>
                  <a:pt x="7775448" y="83820"/>
                </a:lnTo>
                <a:lnTo>
                  <a:pt x="7837424" y="83820"/>
                </a:lnTo>
                <a:lnTo>
                  <a:pt x="7754112" y="126492"/>
                </a:lnTo>
                <a:close/>
              </a:path>
              <a:path w="7879080" h="127000">
                <a:moveTo>
                  <a:pt x="7754112" y="83820"/>
                </a:moveTo>
                <a:lnTo>
                  <a:pt x="0" y="83820"/>
                </a:lnTo>
                <a:lnTo>
                  <a:pt x="0" y="42672"/>
                </a:lnTo>
                <a:lnTo>
                  <a:pt x="7754112" y="42672"/>
                </a:lnTo>
                <a:lnTo>
                  <a:pt x="7754112" y="83820"/>
                </a:lnTo>
                <a:close/>
              </a:path>
              <a:path w="7879080" h="127000">
                <a:moveTo>
                  <a:pt x="7837424" y="83820"/>
                </a:moveTo>
                <a:lnTo>
                  <a:pt x="7775448" y="83820"/>
                </a:lnTo>
                <a:lnTo>
                  <a:pt x="7775448" y="42672"/>
                </a:lnTo>
                <a:lnTo>
                  <a:pt x="7839456" y="42672"/>
                </a:lnTo>
                <a:lnTo>
                  <a:pt x="7879080" y="62484"/>
                </a:lnTo>
                <a:lnTo>
                  <a:pt x="7837424" y="83820"/>
                </a:lnTo>
                <a:close/>
              </a:path>
            </a:pathLst>
          </a:custGeom>
          <a:solidFill>
            <a:srgbClr val="0F0C1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15161" y="3711702"/>
          <a:ext cx="2263138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"/>
                <a:gridCol w="419100"/>
                <a:gridCol w="502919"/>
                <a:gridCol w="419100"/>
                <a:gridCol w="502919"/>
              </a:tblGrid>
              <a:tr h="75438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25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185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019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57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185"/>
                    </a:solidFill>
                  </a:tcPr>
                </a:tc>
                <a:tc>
                  <a:txBody>
                    <a:bodyPr/>
                    <a:lstStyle/>
                    <a:p>
                      <a:pPr marL="11684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019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1684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57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185"/>
                    </a:solidFill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436620" y="3945635"/>
            <a:ext cx="3268979" cy="386080"/>
          </a:xfrm>
          <a:custGeom>
            <a:avLst/>
            <a:gdLst/>
            <a:ahLst/>
            <a:cxnLst/>
            <a:rect l="l" t="t" r="r" b="b"/>
            <a:pathLst>
              <a:path w="3268979" h="386079">
                <a:moveTo>
                  <a:pt x="2884932" y="385572"/>
                </a:moveTo>
                <a:lnTo>
                  <a:pt x="2884932" y="0"/>
                </a:lnTo>
                <a:lnTo>
                  <a:pt x="3192780" y="153924"/>
                </a:lnTo>
                <a:lnTo>
                  <a:pt x="2924556" y="153924"/>
                </a:lnTo>
                <a:lnTo>
                  <a:pt x="2924556" y="231648"/>
                </a:lnTo>
                <a:lnTo>
                  <a:pt x="3190356" y="231648"/>
                </a:lnTo>
                <a:lnTo>
                  <a:pt x="2884932" y="385572"/>
                </a:lnTo>
                <a:close/>
              </a:path>
              <a:path w="3268979" h="386079">
                <a:moveTo>
                  <a:pt x="2884932" y="231648"/>
                </a:moveTo>
                <a:lnTo>
                  <a:pt x="0" y="231648"/>
                </a:lnTo>
                <a:lnTo>
                  <a:pt x="0" y="153924"/>
                </a:lnTo>
                <a:lnTo>
                  <a:pt x="2884932" y="153924"/>
                </a:lnTo>
                <a:lnTo>
                  <a:pt x="2884932" y="231648"/>
                </a:lnTo>
                <a:close/>
              </a:path>
              <a:path w="3268979" h="386079">
                <a:moveTo>
                  <a:pt x="3190356" y="231648"/>
                </a:moveTo>
                <a:lnTo>
                  <a:pt x="2924556" y="231648"/>
                </a:lnTo>
                <a:lnTo>
                  <a:pt x="2924556" y="153924"/>
                </a:lnTo>
                <a:lnTo>
                  <a:pt x="3192780" y="153924"/>
                </a:lnTo>
                <a:lnTo>
                  <a:pt x="3268980" y="192024"/>
                </a:lnTo>
                <a:lnTo>
                  <a:pt x="3190356" y="231648"/>
                </a:lnTo>
                <a:close/>
              </a:path>
            </a:pathLst>
          </a:custGeom>
          <a:solidFill>
            <a:srgbClr val="0F0C18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782561" y="3711702"/>
          <a:ext cx="1760219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9100"/>
                <a:gridCol w="419100"/>
                <a:gridCol w="502919"/>
                <a:gridCol w="419100"/>
              </a:tblGrid>
              <a:tr h="75438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25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185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019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257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A185"/>
                    </a:solidFill>
                  </a:tcPr>
                </a:tc>
                <a:tc>
                  <a:txBody>
                    <a:bodyPr/>
                    <a:lstStyle/>
                    <a:p>
                      <a:pPr marL="116840">
                        <a:lnSpc>
                          <a:spcPct val="100000"/>
                        </a:lnSpc>
                        <a:spcBef>
                          <a:spcPts val="1590"/>
                        </a:spcBef>
                      </a:pPr>
                      <a:r>
                        <a:rPr sz="22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endParaRPr sz="22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019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39327" y="4400214"/>
            <a:ext cx="7124065" cy="208915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5376545">
              <a:lnSpc>
                <a:spcPct val="100000"/>
              </a:lnSpc>
              <a:spcBef>
                <a:spcPts val="830"/>
              </a:spcBef>
            </a:pP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time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indent="-378460">
              <a:lnSpc>
                <a:spcPct val="100000"/>
              </a:lnSpc>
              <a:spcBef>
                <a:spcPts val="735"/>
              </a:spcBef>
              <a:buClr>
                <a:srgbClr val="9A2D1F"/>
              </a:buClr>
              <a:buSzPct val="75000"/>
              <a:buChar char="•"/>
              <a:tabLst>
                <a:tab pos="390525" algn="l"/>
                <a:tab pos="391160" algn="l"/>
              </a:tabLst>
            </a:pPr>
            <a:r>
              <a:rPr sz="22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Avg </a:t>
            </a: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completion</a:t>
            </a:r>
            <a:r>
              <a:rPr sz="2200" spc="1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time?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indent="-37846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75000"/>
              <a:buChar char="•"/>
              <a:tabLst>
                <a:tab pos="390525" algn="l"/>
                <a:tab pos="391160" algn="l"/>
              </a:tabLst>
            </a:pP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(200 + 200) / 2 =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200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indent="-378460">
              <a:lnSpc>
                <a:spcPct val="100000"/>
              </a:lnSpc>
              <a:spcBef>
                <a:spcPts val="530"/>
              </a:spcBef>
              <a:buClr>
                <a:srgbClr val="9A2D1F"/>
              </a:buClr>
              <a:buSzPct val="75000"/>
              <a:buChar char="•"/>
              <a:tabLst>
                <a:tab pos="390525" algn="l"/>
                <a:tab pos="391160" algn="l"/>
              </a:tabLst>
            </a:pP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How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does </a:t>
            </a: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this compare with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FCFS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for </a:t>
            </a: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same two</a:t>
            </a:r>
            <a:r>
              <a:rPr sz="22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jobs?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390525" indent="-378460">
              <a:lnSpc>
                <a:spcPct val="100000"/>
              </a:lnSpc>
              <a:spcBef>
                <a:spcPts val="525"/>
              </a:spcBef>
              <a:buClr>
                <a:srgbClr val="9A2D1F"/>
              </a:buClr>
              <a:buSzPct val="75000"/>
              <a:buChar char="•"/>
              <a:tabLst>
                <a:tab pos="390525" algn="l"/>
                <a:tab pos="391160" algn="l"/>
              </a:tabLst>
            </a:pPr>
            <a:r>
              <a:rPr sz="2200" spc="-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(100 + 200) / 2 =</a:t>
            </a:r>
            <a:r>
              <a:rPr sz="2200" spc="-4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150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3724" y="7020572"/>
            <a:ext cx="250317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960" marR="5080">
              <a:lnSpc>
                <a:spcPct val="100000"/>
              </a:lnSpc>
              <a:spcBef>
                <a:spcPts val="95"/>
              </a:spcBef>
            </a:pPr>
            <a:r>
              <a:rPr spc="-315" dirty="0"/>
              <a:t>Turnaround </a:t>
            </a:r>
            <a:r>
              <a:rPr spc="-270" dirty="0"/>
              <a:t>Time </a:t>
            </a:r>
            <a:r>
              <a:rPr spc="-275" dirty="0"/>
              <a:t>Varies </a:t>
            </a:r>
            <a:r>
              <a:rPr spc="-250" dirty="0"/>
              <a:t>With </a:t>
            </a:r>
            <a:r>
              <a:rPr spc="-300" dirty="0"/>
              <a:t>The </a:t>
            </a:r>
            <a:r>
              <a:rPr spc="-270" dirty="0"/>
              <a:t>Time  Quantum</a:t>
            </a:r>
            <a:endParaRPr spc="-270" dirty="0"/>
          </a:p>
        </p:txBody>
      </p:sp>
      <p:sp>
        <p:nvSpPr>
          <p:cNvPr id="3" name="object 3"/>
          <p:cNvSpPr txBox="1"/>
          <p:nvPr/>
        </p:nvSpPr>
        <p:spPr>
          <a:xfrm>
            <a:off x="1093655" y="1688136"/>
            <a:ext cx="7237730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20" marR="5080" indent="-300355">
              <a:lnSpc>
                <a:spcPct val="101000"/>
              </a:lnSpc>
              <a:spcBef>
                <a:spcPts val="95"/>
              </a:spcBef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6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Increasing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9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quantum </a:t>
            </a:r>
            <a:r>
              <a:rPr sz="3050" spc="-135" dirty="0">
                <a:latin typeface="Times New Roman" panose="02020603050405020304"/>
                <a:cs typeface="Times New Roman" panose="02020603050405020304"/>
              </a:rPr>
              <a:t>does </a:t>
            </a:r>
            <a:r>
              <a:rPr sz="3050" spc="-5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3050" spc="-150" dirty="0">
                <a:latin typeface="Times New Roman" panose="02020603050405020304"/>
                <a:cs typeface="Times New Roman" panose="02020603050405020304"/>
              </a:rPr>
              <a:t>necessarily  improve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3050" spc="-180" dirty="0">
                <a:latin typeface="Times New Roman" panose="02020603050405020304"/>
                <a:cs typeface="Times New Roman" panose="02020603050405020304"/>
              </a:rPr>
              <a:t>average </a:t>
            </a:r>
            <a:r>
              <a:rPr sz="3050" spc="-75" dirty="0">
                <a:latin typeface="Times New Roman" panose="02020603050405020304"/>
                <a:cs typeface="Times New Roman" panose="02020603050405020304"/>
              </a:rPr>
              <a:t>turnaround</a:t>
            </a:r>
            <a:r>
              <a:rPr sz="30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time!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496311" y="2948939"/>
            <a:ext cx="5477510" cy="4010660"/>
            <a:chOff x="2496311" y="2948939"/>
            <a:chExt cx="5477510" cy="4010660"/>
          </a:xfrm>
        </p:grpSpPr>
        <p:sp>
          <p:nvSpPr>
            <p:cNvPr id="6" name="object 6"/>
            <p:cNvSpPr/>
            <p:nvPr/>
          </p:nvSpPr>
          <p:spPr>
            <a:xfrm>
              <a:off x="2560319" y="3011423"/>
              <a:ext cx="5350763" cy="3884676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96312" y="2948952"/>
              <a:ext cx="5477510" cy="4010660"/>
            </a:xfrm>
            <a:custGeom>
              <a:avLst/>
              <a:gdLst/>
              <a:ahLst/>
              <a:cxnLst/>
              <a:rect l="l" t="t" r="r" b="b"/>
              <a:pathLst>
                <a:path w="5477509" h="4010659">
                  <a:moveTo>
                    <a:pt x="5426964" y="50800"/>
                  </a:moveTo>
                  <a:lnTo>
                    <a:pt x="50292" y="50800"/>
                  </a:lnTo>
                  <a:lnTo>
                    <a:pt x="50292" y="62230"/>
                  </a:lnTo>
                  <a:lnTo>
                    <a:pt x="50292" y="3947160"/>
                  </a:lnTo>
                  <a:lnTo>
                    <a:pt x="50292" y="3961130"/>
                  </a:lnTo>
                  <a:lnTo>
                    <a:pt x="5426964" y="3961130"/>
                  </a:lnTo>
                  <a:lnTo>
                    <a:pt x="5426964" y="3947160"/>
                  </a:lnTo>
                  <a:lnTo>
                    <a:pt x="5426964" y="62484"/>
                  </a:lnTo>
                  <a:lnTo>
                    <a:pt x="5414772" y="62484"/>
                  </a:lnTo>
                  <a:lnTo>
                    <a:pt x="5414772" y="3947160"/>
                  </a:lnTo>
                  <a:lnTo>
                    <a:pt x="64008" y="3947160"/>
                  </a:lnTo>
                  <a:lnTo>
                    <a:pt x="64008" y="62230"/>
                  </a:lnTo>
                  <a:lnTo>
                    <a:pt x="5426964" y="62230"/>
                  </a:lnTo>
                  <a:lnTo>
                    <a:pt x="5426964" y="50800"/>
                  </a:lnTo>
                  <a:close/>
                </a:path>
                <a:path w="5477509" h="4010659">
                  <a:moveTo>
                    <a:pt x="5477256" y="0"/>
                  </a:moveTo>
                  <a:lnTo>
                    <a:pt x="5440680" y="0"/>
                  </a:lnTo>
                  <a:lnTo>
                    <a:pt x="5440680" y="38100"/>
                  </a:lnTo>
                  <a:lnTo>
                    <a:pt x="5440680" y="3972560"/>
                  </a:lnTo>
                  <a:lnTo>
                    <a:pt x="38100" y="3972560"/>
                  </a:lnTo>
                  <a:lnTo>
                    <a:pt x="38100" y="38100"/>
                  </a:lnTo>
                  <a:lnTo>
                    <a:pt x="5440680" y="38100"/>
                  </a:lnTo>
                  <a:lnTo>
                    <a:pt x="5440680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0" y="3972560"/>
                  </a:lnTo>
                  <a:lnTo>
                    <a:pt x="0" y="4010660"/>
                  </a:lnTo>
                  <a:lnTo>
                    <a:pt x="5477256" y="4010660"/>
                  </a:lnTo>
                  <a:lnTo>
                    <a:pt x="5477256" y="3973068"/>
                  </a:lnTo>
                  <a:lnTo>
                    <a:pt x="5477256" y="3972560"/>
                  </a:lnTo>
                  <a:lnTo>
                    <a:pt x="5477256" y="38100"/>
                  </a:lnTo>
                  <a:lnTo>
                    <a:pt x="54772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472051"/>
            <a:ext cx="73310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5. </a:t>
            </a:r>
            <a:r>
              <a:rPr spc="-229" dirty="0"/>
              <a:t>Multilevel </a:t>
            </a:r>
            <a:r>
              <a:rPr spc="-310" dirty="0"/>
              <a:t>Queue</a:t>
            </a:r>
            <a:r>
              <a:rPr spc="-240" dirty="0"/>
              <a:t> </a:t>
            </a:r>
            <a:r>
              <a:rPr spc="-315" dirty="0"/>
              <a:t>Scheduling</a:t>
            </a:r>
            <a:endParaRPr spc="-315" dirty="0"/>
          </a:p>
        </p:txBody>
      </p:sp>
      <p:sp>
        <p:nvSpPr>
          <p:cNvPr id="3" name="object 3"/>
          <p:cNvSpPr txBox="1"/>
          <p:nvPr/>
        </p:nvSpPr>
        <p:spPr>
          <a:xfrm>
            <a:off x="918455" y="1430610"/>
            <a:ext cx="8209280" cy="50755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33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90" dirty="0">
                <a:latin typeface="Times New Roman" panose="02020603050405020304"/>
                <a:cs typeface="Times New Roman" panose="02020603050405020304"/>
              </a:rPr>
              <a:t>Ready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partitioned into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separate</a:t>
            </a:r>
            <a:r>
              <a:rPr sz="305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queues: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7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example, foreground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(interactive)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background</a:t>
            </a:r>
            <a:r>
              <a:rPr sz="265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(batch)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27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204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3050" spc="-204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its </a:t>
            </a:r>
            <a:r>
              <a:rPr sz="3050" spc="-155" dirty="0">
                <a:latin typeface="Times New Roman" panose="02020603050405020304"/>
                <a:cs typeface="Times New Roman" panose="02020603050405020304"/>
              </a:rPr>
              <a:t>own </a:t>
            </a:r>
            <a:r>
              <a:rPr sz="3050" spc="-145" dirty="0">
                <a:latin typeface="Times New Roman" panose="02020603050405020304"/>
                <a:cs typeface="Times New Roman" panose="02020603050405020304"/>
              </a:rPr>
              <a:t>scheduling</a:t>
            </a:r>
            <a:r>
              <a:rPr sz="305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algorithm: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24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Foreground </a:t>
            </a:r>
            <a:r>
              <a:rPr sz="2650" spc="-1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650" spc="-125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19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RR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10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Background </a:t>
            </a:r>
            <a:r>
              <a:rPr sz="2650" spc="-1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–</a:t>
            </a:r>
            <a:r>
              <a:rPr sz="2650" spc="-5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50" spc="-2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FCFS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19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must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3050" spc="-110" dirty="0">
                <a:latin typeface="Times New Roman" panose="02020603050405020304"/>
                <a:cs typeface="Times New Roman" panose="02020603050405020304"/>
              </a:rPr>
              <a:t>done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between 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305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40" dirty="0">
                <a:latin typeface="Times New Roman" panose="02020603050405020304"/>
                <a:cs typeface="Times New Roman" panose="02020603050405020304"/>
              </a:rPr>
              <a:t>queues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ts val="2860"/>
              </a:lnSpc>
              <a:spcBef>
                <a:spcPts val="53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Fixed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scheduling; </a:t>
            </a:r>
            <a:r>
              <a:rPr sz="2650" spc="-10" dirty="0">
                <a:latin typeface="Times New Roman" panose="02020603050405020304"/>
                <a:cs typeface="Times New Roman" panose="02020603050405020304"/>
              </a:rPr>
              <a:t>(i.e.,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serve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all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from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foreground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then 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from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background)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79805" lvl="2" indent="-314325">
              <a:lnSpc>
                <a:spcPct val="100000"/>
              </a:lnSpc>
              <a:spcBef>
                <a:spcPts val="175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79805" algn="l"/>
                <a:tab pos="980440" algn="l"/>
              </a:tabLst>
            </a:pP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Possibility </a:t>
            </a:r>
            <a:r>
              <a:rPr sz="2200" spc="-13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2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95" dirty="0">
                <a:latin typeface="Times New Roman" panose="02020603050405020304"/>
                <a:cs typeface="Times New Roman" panose="02020603050405020304"/>
              </a:rPr>
              <a:t>starvation</a:t>
            </a:r>
            <a:endParaRPr sz="2200">
              <a:latin typeface="Times New Roman" panose="02020603050405020304"/>
              <a:cs typeface="Times New Roman" panose="02020603050405020304"/>
            </a:endParaRPr>
          </a:p>
          <a:p>
            <a:pPr marL="615950" marR="374650" lvl="1" indent="-252095">
              <a:lnSpc>
                <a:spcPts val="2770"/>
              </a:lnSpc>
              <a:spcBef>
                <a:spcPts val="57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slice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–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each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gets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certain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amount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can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schedule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amongst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its</a:t>
            </a:r>
            <a:r>
              <a:rPr sz="265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979805" lvl="2" indent="-314325">
              <a:lnSpc>
                <a:spcPct val="100000"/>
              </a:lnSpc>
              <a:spcBef>
                <a:spcPts val="200"/>
              </a:spcBef>
              <a:buClr>
                <a:srgbClr val="E6B1AA"/>
              </a:buClr>
              <a:buSzPct val="84000"/>
              <a:buFont typeface="Webdings" panose="05030102010509060703"/>
              <a:buChar char=""/>
              <a:tabLst>
                <a:tab pos="979805" algn="l"/>
                <a:tab pos="980440" algn="l"/>
              </a:tabLst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i.e.,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80% 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200" spc="-90" dirty="0">
                <a:latin typeface="Times New Roman" panose="02020603050405020304"/>
                <a:cs typeface="Times New Roman" panose="02020603050405020304"/>
              </a:rPr>
              <a:t>foreground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200" spc="-160" dirty="0">
                <a:latin typeface="Times New Roman" panose="02020603050405020304"/>
                <a:cs typeface="Times New Roman" panose="02020603050405020304"/>
              </a:rPr>
              <a:t>RR </a:t>
            </a:r>
            <a:r>
              <a:rPr sz="2200" spc="-120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200" spc="-125" dirty="0">
                <a:latin typeface="Times New Roman" panose="02020603050405020304"/>
                <a:cs typeface="Times New Roman" panose="02020603050405020304"/>
              </a:rPr>
              <a:t>20% </a:t>
            </a:r>
            <a:r>
              <a:rPr sz="220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200" spc="-110" dirty="0">
                <a:latin typeface="Times New Roman" panose="02020603050405020304"/>
                <a:cs typeface="Times New Roman" panose="02020603050405020304"/>
              </a:rPr>
              <a:t>background </a:t>
            </a:r>
            <a:r>
              <a:rPr sz="2200" spc="-105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200" spc="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220" dirty="0">
                <a:latin typeface="Times New Roman" panose="02020603050405020304"/>
                <a:cs typeface="Times New Roman" panose="02020603050405020304"/>
              </a:rPr>
              <a:t>FCFS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313380"/>
            <a:ext cx="67214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Multilevel </a:t>
            </a:r>
            <a:r>
              <a:rPr spc="-310" dirty="0"/>
              <a:t>Queue</a:t>
            </a:r>
            <a:r>
              <a:rPr spc="-155" dirty="0"/>
              <a:t> </a:t>
            </a:r>
            <a:r>
              <a:rPr spc="-315" dirty="0"/>
              <a:t>Scheduling</a:t>
            </a:r>
            <a:endParaRPr spc="-315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085088" y="1447800"/>
            <a:ext cx="8100059" cy="5354320"/>
            <a:chOff x="1085088" y="1447800"/>
            <a:chExt cx="8100059" cy="5354320"/>
          </a:xfrm>
        </p:grpSpPr>
        <p:sp>
          <p:nvSpPr>
            <p:cNvPr id="5" name="object 5"/>
            <p:cNvSpPr/>
            <p:nvPr/>
          </p:nvSpPr>
          <p:spPr>
            <a:xfrm>
              <a:off x="1149096" y="1510284"/>
              <a:ext cx="7972044" cy="5228844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85088" y="1447799"/>
              <a:ext cx="8100059" cy="5354320"/>
            </a:xfrm>
            <a:custGeom>
              <a:avLst/>
              <a:gdLst/>
              <a:ahLst/>
              <a:cxnLst/>
              <a:rect l="l" t="t" r="r" b="b"/>
              <a:pathLst>
                <a:path w="8100059" h="5354320">
                  <a:moveTo>
                    <a:pt x="8049768" y="50800"/>
                  </a:moveTo>
                  <a:lnTo>
                    <a:pt x="50292" y="50800"/>
                  </a:lnTo>
                  <a:lnTo>
                    <a:pt x="50292" y="62230"/>
                  </a:lnTo>
                  <a:lnTo>
                    <a:pt x="50292" y="5290820"/>
                  </a:lnTo>
                  <a:lnTo>
                    <a:pt x="50292" y="5303520"/>
                  </a:lnTo>
                  <a:lnTo>
                    <a:pt x="8049768" y="5303520"/>
                  </a:lnTo>
                  <a:lnTo>
                    <a:pt x="8049768" y="5291340"/>
                  </a:lnTo>
                  <a:lnTo>
                    <a:pt x="8049768" y="5290820"/>
                  </a:lnTo>
                  <a:lnTo>
                    <a:pt x="8049768" y="62496"/>
                  </a:lnTo>
                  <a:lnTo>
                    <a:pt x="8036052" y="62496"/>
                  </a:lnTo>
                  <a:lnTo>
                    <a:pt x="8036052" y="5290820"/>
                  </a:lnTo>
                  <a:lnTo>
                    <a:pt x="64008" y="5290820"/>
                  </a:lnTo>
                  <a:lnTo>
                    <a:pt x="64008" y="62230"/>
                  </a:lnTo>
                  <a:lnTo>
                    <a:pt x="8049768" y="62230"/>
                  </a:lnTo>
                  <a:lnTo>
                    <a:pt x="8049768" y="50800"/>
                  </a:lnTo>
                  <a:close/>
                </a:path>
                <a:path w="8100059" h="5354320">
                  <a:moveTo>
                    <a:pt x="8100060" y="38112"/>
                  </a:moveTo>
                  <a:lnTo>
                    <a:pt x="8061960" y="38112"/>
                  </a:lnTo>
                  <a:lnTo>
                    <a:pt x="8061960" y="5315724"/>
                  </a:lnTo>
                  <a:lnTo>
                    <a:pt x="8100060" y="5315724"/>
                  </a:lnTo>
                  <a:lnTo>
                    <a:pt x="8100060" y="38112"/>
                  </a:lnTo>
                  <a:close/>
                </a:path>
                <a:path w="8100059" h="5354320">
                  <a:moveTo>
                    <a:pt x="810006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5316220"/>
                  </a:lnTo>
                  <a:lnTo>
                    <a:pt x="0" y="5354320"/>
                  </a:lnTo>
                  <a:lnTo>
                    <a:pt x="8100060" y="5354320"/>
                  </a:lnTo>
                  <a:lnTo>
                    <a:pt x="8100060" y="5316220"/>
                  </a:lnTo>
                  <a:lnTo>
                    <a:pt x="38100" y="5316220"/>
                  </a:lnTo>
                  <a:lnTo>
                    <a:pt x="38100" y="38100"/>
                  </a:lnTo>
                  <a:lnTo>
                    <a:pt x="8100060" y="38100"/>
                  </a:lnTo>
                  <a:lnTo>
                    <a:pt x="8100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381000"/>
            <a:ext cx="9716770" cy="48907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098" y="525336"/>
            <a:ext cx="63074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10" dirty="0"/>
              <a:t>6. </a:t>
            </a:r>
            <a:r>
              <a:rPr sz="3950" spc="-204" dirty="0"/>
              <a:t>Multilevel </a:t>
            </a:r>
            <a:r>
              <a:rPr sz="3950" spc="-250" dirty="0"/>
              <a:t>Feedback</a:t>
            </a:r>
            <a:r>
              <a:rPr sz="3950" spc="-229" dirty="0"/>
              <a:t> </a:t>
            </a:r>
            <a:r>
              <a:rPr sz="3950" spc="-270" dirty="0"/>
              <a:t>Queue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997703" y="1500692"/>
            <a:ext cx="8696325" cy="83058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12420" marR="5080" indent="-300355">
              <a:lnSpc>
                <a:spcPts val="3170"/>
              </a:lnSpc>
              <a:spcBef>
                <a:spcPts val="205"/>
              </a:spcBef>
              <a:tabLst>
                <a:tab pos="312420" algn="l"/>
                <a:tab pos="681355" algn="l"/>
                <a:tab pos="1744345" algn="l"/>
                <a:tab pos="2320925" algn="l"/>
                <a:tab pos="3145790" algn="l"/>
                <a:tab pos="4335780" algn="l"/>
                <a:tab pos="4885690" algn="l"/>
                <a:tab pos="5925185" algn="l"/>
                <a:tab pos="7011670" algn="l"/>
                <a:tab pos="7822565" algn="l"/>
                <a:tab pos="8395970" algn="l"/>
              </a:tabLst>
            </a:pPr>
            <a:r>
              <a:rPr sz="2250" spc="-1010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250" spc="-1010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345" dirty="0">
                <a:latin typeface="Times New Roman" panose="02020603050405020304"/>
                <a:cs typeface="Times New Roman" panose="02020603050405020304"/>
              </a:rPr>
              <a:t>A	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2650" spc="10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m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2650" spc="-270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254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20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h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45" dirty="0">
                <a:latin typeface="Times New Roman" panose="02020603050405020304"/>
                <a:cs typeface="Times New Roman" panose="02020603050405020304"/>
              </a:rPr>
              <a:t>v</a:t>
            </a:r>
            <a:r>
              <a:rPr sz="2650" spc="-229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65" dirty="0">
                <a:latin typeface="Times New Roman" panose="02020603050405020304"/>
                <a:cs typeface="Times New Roman" panose="02020603050405020304"/>
              </a:rPr>
              <a:t>r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ou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u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650" spc="30" dirty="0">
                <a:latin typeface="Times New Roman" panose="02020603050405020304"/>
                <a:cs typeface="Times New Roman" panose="02020603050405020304"/>
              </a:rPr>
              <a:t>;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spc="-22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6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b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e 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implemented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35" dirty="0">
                <a:latin typeface="Times New Roman" panose="02020603050405020304"/>
                <a:cs typeface="Times New Roman" panose="02020603050405020304"/>
              </a:rPr>
              <a:t>way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9969" y="2389106"/>
            <a:ext cx="1164590" cy="427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following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12420" marR="5080" indent="-300355">
              <a:lnSpc>
                <a:spcPts val="3170"/>
              </a:lnSpc>
              <a:spcBef>
                <a:spcPts val="20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2420" algn="l"/>
                <a:tab pos="313055" algn="l"/>
                <a:tab pos="3762375" algn="l"/>
                <a:tab pos="5137150" algn="l"/>
                <a:tab pos="6243955" algn="l"/>
                <a:tab pos="6739890" algn="l"/>
              </a:tabLst>
            </a:pPr>
            <a:r>
              <a:rPr spc="-330" dirty="0"/>
              <a:t>M</a:t>
            </a:r>
            <a:r>
              <a:rPr spc="-114" dirty="0"/>
              <a:t>u</a:t>
            </a:r>
            <a:r>
              <a:rPr spc="-110" dirty="0"/>
              <a:t>l</a:t>
            </a:r>
            <a:r>
              <a:rPr spc="20" dirty="0"/>
              <a:t>t</a:t>
            </a:r>
            <a:r>
              <a:rPr spc="-135" dirty="0"/>
              <a:t>i</a:t>
            </a:r>
            <a:r>
              <a:rPr spc="-110" dirty="0"/>
              <a:t>l</a:t>
            </a:r>
            <a:r>
              <a:rPr spc="-150" dirty="0"/>
              <a:t>e</a:t>
            </a:r>
            <a:r>
              <a:rPr spc="-270" dirty="0"/>
              <a:t>v</a:t>
            </a:r>
            <a:r>
              <a:rPr spc="-95" dirty="0"/>
              <a:t>e</a:t>
            </a:r>
            <a:r>
              <a:rPr spc="-110" dirty="0"/>
              <a:t>l</a:t>
            </a:r>
            <a:r>
              <a:rPr spc="-70" dirty="0"/>
              <a:t>-</a:t>
            </a:r>
            <a:r>
              <a:rPr spc="-200" dirty="0"/>
              <a:t>f</a:t>
            </a:r>
            <a:r>
              <a:rPr spc="-125" dirty="0"/>
              <a:t>e</a:t>
            </a:r>
            <a:r>
              <a:rPr spc="-95" dirty="0"/>
              <a:t>e</a:t>
            </a:r>
            <a:r>
              <a:rPr spc="-145" dirty="0"/>
              <a:t>d</a:t>
            </a:r>
            <a:r>
              <a:rPr spc="-140" dirty="0"/>
              <a:t>b</a:t>
            </a:r>
            <a:r>
              <a:rPr spc="-204" dirty="0"/>
              <a:t>a</a:t>
            </a:r>
            <a:r>
              <a:rPr spc="-125" dirty="0"/>
              <a:t>c</a:t>
            </a:r>
            <a:r>
              <a:rPr spc="-165" dirty="0"/>
              <a:t>k</a:t>
            </a:r>
            <a:r>
              <a:rPr spc="-70" dirty="0"/>
              <a:t>-</a:t>
            </a:r>
            <a:r>
              <a:rPr spc="-140" dirty="0"/>
              <a:t>q</a:t>
            </a:r>
            <a:r>
              <a:rPr spc="-114" dirty="0"/>
              <a:t>u</a:t>
            </a:r>
            <a:r>
              <a:rPr spc="-95" dirty="0"/>
              <a:t>e</a:t>
            </a:r>
            <a:r>
              <a:rPr spc="-114" dirty="0"/>
              <a:t>u</a:t>
            </a:r>
            <a:r>
              <a:rPr spc="-105" dirty="0"/>
              <a:t>e</a:t>
            </a:r>
            <a:r>
              <a:rPr dirty="0"/>
              <a:t>	</a:t>
            </a:r>
            <a:r>
              <a:rPr spc="-215" dirty="0"/>
              <a:t>s</a:t>
            </a:r>
            <a:r>
              <a:rPr spc="-125" dirty="0"/>
              <a:t>c</a:t>
            </a:r>
            <a:r>
              <a:rPr spc="-165" dirty="0"/>
              <a:t>h</a:t>
            </a:r>
            <a:r>
              <a:rPr spc="-95" dirty="0"/>
              <a:t>e</a:t>
            </a:r>
            <a:r>
              <a:rPr spc="-145" dirty="0"/>
              <a:t>d</a:t>
            </a:r>
            <a:r>
              <a:rPr spc="-114" dirty="0"/>
              <a:t>u</a:t>
            </a:r>
            <a:r>
              <a:rPr spc="-110" dirty="0"/>
              <a:t>l</a:t>
            </a:r>
            <a:r>
              <a:rPr spc="-95" dirty="0"/>
              <a:t>e</a:t>
            </a:r>
            <a:r>
              <a:rPr spc="25" dirty="0"/>
              <a:t>r</a:t>
            </a:r>
            <a:r>
              <a:rPr dirty="0"/>
              <a:t>	</a:t>
            </a:r>
            <a:r>
              <a:rPr spc="-114" dirty="0"/>
              <a:t>d</a:t>
            </a:r>
            <a:r>
              <a:rPr spc="-125" dirty="0"/>
              <a:t>e</a:t>
            </a:r>
            <a:r>
              <a:rPr spc="-200" dirty="0"/>
              <a:t>f</a:t>
            </a:r>
            <a:r>
              <a:rPr spc="-135" dirty="0"/>
              <a:t>i</a:t>
            </a:r>
            <a:r>
              <a:rPr spc="-114" dirty="0"/>
              <a:t>n</a:t>
            </a:r>
            <a:r>
              <a:rPr spc="-125" dirty="0"/>
              <a:t>e</a:t>
            </a:r>
            <a:r>
              <a:rPr spc="-120" dirty="0"/>
              <a:t>d</a:t>
            </a:r>
            <a:r>
              <a:rPr dirty="0"/>
              <a:t>	</a:t>
            </a:r>
            <a:r>
              <a:rPr spc="-195" dirty="0"/>
              <a:t>b</a:t>
            </a:r>
            <a:r>
              <a:rPr spc="-225" dirty="0"/>
              <a:t>y</a:t>
            </a:r>
            <a:r>
              <a:rPr dirty="0"/>
              <a:t>	</a:t>
            </a:r>
            <a:r>
              <a:rPr spc="20" dirty="0"/>
              <a:t>t</a:t>
            </a:r>
            <a:r>
              <a:rPr spc="-165" dirty="0"/>
              <a:t>h</a:t>
            </a:r>
            <a:r>
              <a:rPr spc="-75" dirty="0"/>
              <a:t>e  </a:t>
            </a:r>
            <a:r>
              <a:rPr spc="-90" dirty="0"/>
              <a:t>parameters:</a:t>
            </a:r>
            <a:endParaRPr spc="-90" dirty="0"/>
          </a:p>
          <a:p>
            <a:pPr marL="615950" lvl="1" indent="-252095">
              <a:lnSpc>
                <a:spcPct val="100000"/>
              </a:lnSpc>
              <a:spcBef>
                <a:spcPts val="32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number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queues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scheduling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algorithms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each</a:t>
            </a:r>
            <a:r>
              <a:rPr sz="265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method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determine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upgrade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method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determine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demote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65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9765" y="5025804"/>
            <a:ext cx="7513955" cy="9429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63525" indent="-251460">
              <a:lnSpc>
                <a:spcPct val="100000"/>
              </a:lnSpc>
              <a:spcBef>
                <a:spcPts val="5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264160" algn="l"/>
              </a:tabLst>
            </a:pP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method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2650" spc="-3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determine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will</a:t>
            </a:r>
            <a:r>
              <a:rPr sz="265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60" dirty="0">
                <a:latin typeface="Times New Roman" panose="02020603050405020304"/>
                <a:cs typeface="Times New Roman" panose="02020603050405020304"/>
              </a:rPr>
              <a:t>enter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263525" indent="-251460">
              <a:lnSpc>
                <a:spcPct val="100000"/>
              </a:lnSpc>
              <a:spcBef>
                <a:spcPts val="43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264160" algn="l"/>
              </a:tabLst>
            </a:pP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that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needs</a:t>
            </a:r>
            <a:r>
              <a:rPr sz="265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service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850" y="653402"/>
            <a:ext cx="779081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195" dirty="0"/>
              <a:t>Multilevel </a:t>
            </a:r>
            <a:r>
              <a:rPr sz="3750" spc="-245" dirty="0"/>
              <a:t>Feedback </a:t>
            </a:r>
            <a:r>
              <a:rPr sz="3750" spc="-270" dirty="0"/>
              <a:t>Queue</a:t>
            </a:r>
            <a:r>
              <a:rPr sz="3750" spc="20" dirty="0"/>
              <a:t> </a:t>
            </a:r>
            <a:r>
              <a:rPr sz="3750" spc="-275" dirty="0"/>
              <a:t>Scheduling</a:t>
            </a:r>
            <a:endParaRPr sz="3750"/>
          </a:p>
        </p:txBody>
      </p:sp>
      <p:sp>
        <p:nvSpPr>
          <p:cNvPr id="4" name="object 4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800" y="7095872"/>
            <a:ext cx="211454" cy="212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sz="1300" dirty="0">
                <a:latin typeface="Arial" panose="020B0604020202020204"/>
                <a:cs typeface="Arial" panose="020B0604020202020204"/>
              </a:rPr>
              <a:t>2</a:t>
            </a:r>
            <a:r>
              <a:rPr sz="1300" spc="10" dirty="0">
                <a:latin typeface="Arial" panose="020B0604020202020204"/>
                <a:cs typeface="Arial" panose="020B0604020202020204"/>
              </a:rPr>
              <a:t>3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3655" y="1612312"/>
            <a:ext cx="8255634" cy="230060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Example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marR="82550" lvl="1" indent="-252095">
              <a:lnSpc>
                <a:spcPts val="3170"/>
              </a:lnSpc>
              <a:spcBef>
                <a:spcPts val="6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used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too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much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time,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then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move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to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lower- 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marR="5080" lvl="1" indent="-252095">
              <a:lnSpc>
                <a:spcPts val="317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process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waits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too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long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lower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queue,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then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move 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to </a:t>
            </a:r>
            <a:r>
              <a:rPr sz="2650" spc="-21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higher </a:t>
            </a:r>
            <a:r>
              <a:rPr sz="2650" spc="-70" dirty="0"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26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8396" y="525336"/>
            <a:ext cx="57594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204" dirty="0"/>
              <a:t>Multilevel </a:t>
            </a:r>
            <a:r>
              <a:rPr sz="3950" spc="-250" dirty="0"/>
              <a:t>Feedback</a:t>
            </a:r>
            <a:r>
              <a:rPr sz="3950" spc="-114" dirty="0"/>
              <a:t> </a:t>
            </a:r>
            <a:r>
              <a:rPr sz="3950" spc="-270" dirty="0"/>
              <a:t>Queue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985081" y="1404984"/>
            <a:ext cx="8398510" cy="504380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25120" indent="-300355">
              <a:lnSpc>
                <a:spcPct val="100000"/>
              </a:lnSpc>
              <a:spcBef>
                <a:spcPts val="81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25755" algn="l"/>
              </a:tabLst>
            </a:pPr>
            <a:r>
              <a:rPr sz="3050" spc="-100" dirty="0">
                <a:latin typeface="Times New Roman" panose="02020603050405020304"/>
                <a:cs typeface="Times New Roman" panose="02020603050405020304"/>
              </a:rPr>
              <a:t>Three</a:t>
            </a:r>
            <a:r>
              <a:rPr sz="30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queues: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28650" lvl="1" indent="-252095">
              <a:lnSpc>
                <a:spcPct val="100000"/>
              </a:lnSpc>
              <a:spcBef>
                <a:spcPts val="58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29285" algn="l"/>
              </a:tabLst>
            </a:pP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spc="-375" baseline="-21000" dirty="0"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–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quantum 8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milliseconds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28650" lvl="1" indent="-252095">
              <a:lnSpc>
                <a:spcPct val="100000"/>
              </a:lnSpc>
              <a:spcBef>
                <a:spcPts val="43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29285" algn="l"/>
              </a:tabLst>
            </a:pP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spc="-375" baseline="-21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–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quantum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16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milliseconds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286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29285" algn="l"/>
              </a:tabLst>
            </a:pP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spc="-375" baseline="-2100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650" spc="-10" dirty="0">
                <a:latin typeface="Arial" panose="020B0604020202020204"/>
                <a:cs typeface="Arial" panose="020B0604020202020204"/>
              </a:rPr>
              <a:t>–</a:t>
            </a:r>
            <a:r>
              <a:rPr sz="2650" spc="-130" dirty="0">
                <a:latin typeface="Arial" panose="020B0604020202020204"/>
                <a:cs typeface="Arial" panose="020B0604020202020204"/>
              </a:rPr>
              <a:t> </a:t>
            </a:r>
            <a:r>
              <a:rPr sz="2650" spc="-265" dirty="0">
                <a:latin typeface="Times New Roman" panose="02020603050405020304"/>
                <a:cs typeface="Times New Roman" panose="02020603050405020304"/>
              </a:rPr>
              <a:t>FCFS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25120" indent="-300355" algn="just">
              <a:lnSpc>
                <a:spcPct val="100000"/>
              </a:lnSpc>
              <a:spcBef>
                <a:spcPts val="55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25755" algn="l"/>
              </a:tabLst>
            </a:pPr>
            <a:r>
              <a:rPr sz="3050" spc="-165" dirty="0"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28650" marR="17780" lvl="1" indent="-251460" algn="just">
              <a:lnSpc>
                <a:spcPts val="3170"/>
              </a:lnSpc>
              <a:spcBef>
                <a:spcPts val="6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29285" algn="l"/>
              </a:tabLst>
            </a:pPr>
            <a:r>
              <a:rPr sz="2650" spc="-345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new job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enters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i="1" spc="-375" baseline="-21000" dirty="0"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which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served </a:t>
            </a:r>
            <a:r>
              <a:rPr sz="2650" spc="-190" dirty="0">
                <a:latin typeface="Times New Roman" panose="02020603050405020304"/>
                <a:cs typeface="Times New Roman" panose="02020603050405020304"/>
              </a:rPr>
              <a:t>FCFS.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When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80" dirty="0">
                <a:latin typeface="Times New Roman" panose="02020603050405020304"/>
                <a:cs typeface="Times New Roman" panose="02020603050405020304"/>
              </a:rPr>
              <a:t>gains 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CPU,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receives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8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milliseconds.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does </a:t>
            </a:r>
            <a:r>
              <a:rPr sz="2650" spc="-6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finish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8 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milliseconds,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moved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265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spc="-375" baseline="-21000" dirty="0">
                <a:latin typeface="Times New Roman" panose="02020603050405020304"/>
                <a:cs typeface="Times New Roman" panose="02020603050405020304"/>
              </a:rPr>
              <a:t>1</a:t>
            </a:r>
            <a:endParaRPr sz="2625" baseline="-21000">
              <a:latin typeface="Times New Roman" panose="02020603050405020304"/>
              <a:cs typeface="Times New Roman" panose="02020603050405020304"/>
            </a:endParaRPr>
          </a:p>
          <a:p>
            <a:pPr marL="628650" marR="17780" lvl="1" indent="-251460" algn="just">
              <a:lnSpc>
                <a:spcPts val="3170"/>
              </a:lnSpc>
              <a:spcBef>
                <a:spcPts val="42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29285" algn="l"/>
              </a:tabLst>
            </a:pP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spc="-375" baseline="-2100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650" spc="105" dirty="0"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job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185" dirty="0">
                <a:latin typeface="Times New Roman" panose="02020603050405020304"/>
                <a:cs typeface="Times New Roman" panose="02020603050405020304"/>
              </a:rPr>
              <a:t>again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served </a:t>
            </a:r>
            <a:r>
              <a:rPr sz="2650" spc="-260" dirty="0">
                <a:latin typeface="Times New Roman" panose="02020603050405020304"/>
                <a:cs typeface="Times New Roman" panose="02020603050405020304"/>
              </a:rPr>
              <a:t>FCFS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receives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16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additional  milliseconds. </a:t>
            </a: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If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still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does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not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complete,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it </a:t>
            </a:r>
            <a:r>
              <a:rPr sz="2650" spc="-170" dirty="0"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preempted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  </a:t>
            </a:r>
            <a:r>
              <a:rPr sz="2650" spc="-175" dirty="0">
                <a:latin typeface="Times New Roman" panose="02020603050405020304"/>
                <a:cs typeface="Times New Roman" panose="02020603050405020304"/>
              </a:rPr>
              <a:t>moved </a:t>
            </a:r>
            <a:r>
              <a:rPr sz="2650" spc="-50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265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i="1" spc="-250" dirty="0">
                <a:latin typeface="Times New Roman" panose="02020603050405020304"/>
                <a:cs typeface="Times New Roman" panose="02020603050405020304"/>
              </a:rPr>
              <a:t>Q</a:t>
            </a:r>
            <a:r>
              <a:rPr sz="2625" spc="-375" baseline="-21000" dirty="0">
                <a:latin typeface="Times New Roman" panose="02020603050405020304"/>
                <a:cs typeface="Times New Roman" panose="02020603050405020304"/>
              </a:rPr>
              <a:t>2</a:t>
            </a:r>
            <a:endParaRPr sz="2625" baseline="-21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625" y="472051"/>
            <a:ext cx="64020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5" dirty="0"/>
              <a:t>Multilevel </a:t>
            </a:r>
            <a:r>
              <a:rPr spc="-280" dirty="0"/>
              <a:t>Feedback</a:t>
            </a:r>
            <a:r>
              <a:rPr spc="-160" dirty="0"/>
              <a:t> </a:t>
            </a:r>
            <a:r>
              <a:rPr spc="-310" dirty="0"/>
              <a:t>Queue</a:t>
            </a:r>
            <a:endParaRPr spc="-310" dirty="0"/>
          </a:p>
        </p:txBody>
      </p:sp>
      <p:sp>
        <p:nvSpPr>
          <p:cNvPr id="3" name="object 3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1322832" y="1844039"/>
            <a:ext cx="7650480" cy="4561840"/>
            <a:chOff x="1322832" y="1844039"/>
            <a:chExt cx="7650480" cy="4561840"/>
          </a:xfrm>
        </p:grpSpPr>
        <p:sp>
          <p:nvSpPr>
            <p:cNvPr id="5" name="object 5"/>
            <p:cNvSpPr/>
            <p:nvPr/>
          </p:nvSpPr>
          <p:spPr>
            <a:xfrm>
              <a:off x="1386840" y="1906523"/>
              <a:ext cx="7523987" cy="4436363"/>
            </a:xfrm>
            <a:prstGeom prst="rect">
              <a:avLst/>
            </a:prstGeom>
            <a:blipFill>
              <a:blip r:embed="rId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22832" y="1844039"/>
              <a:ext cx="7650480" cy="4561840"/>
            </a:xfrm>
            <a:custGeom>
              <a:avLst/>
              <a:gdLst/>
              <a:ahLst/>
              <a:cxnLst/>
              <a:rect l="l" t="t" r="r" b="b"/>
              <a:pathLst>
                <a:path w="7650480" h="4561840">
                  <a:moveTo>
                    <a:pt x="7600188" y="50800"/>
                  </a:moveTo>
                  <a:lnTo>
                    <a:pt x="50292" y="50800"/>
                  </a:lnTo>
                  <a:lnTo>
                    <a:pt x="50292" y="62230"/>
                  </a:lnTo>
                  <a:lnTo>
                    <a:pt x="50292" y="4498340"/>
                  </a:lnTo>
                  <a:lnTo>
                    <a:pt x="50292" y="4511040"/>
                  </a:lnTo>
                  <a:lnTo>
                    <a:pt x="7600188" y="4511040"/>
                  </a:lnTo>
                  <a:lnTo>
                    <a:pt x="7600188" y="4498860"/>
                  </a:lnTo>
                  <a:lnTo>
                    <a:pt x="7600188" y="4498340"/>
                  </a:lnTo>
                  <a:lnTo>
                    <a:pt x="7600188" y="62496"/>
                  </a:lnTo>
                  <a:lnTo>
                    <a:pt x="7587996" y="62496"/>
                  </a:lnTo>
                  <a:lnTo>
                    <a:pt x="7587996" y="4498340"/>
                  </a:lnTo>
                  <a:lnTo>
                    <a:pt x="64008" y="4498340"/>
                  </a:lnTo>
                  <a:lnTo>
                    <a:pt x="64008" y="62230"/>
                  </a:lnTo>
                  <a:lnTo>
                    <a:pt x="7600188" y="62230"/>
                  </a:lnTo>
                  <a:lnTo>
                    <a:pt x="7600188" y="50800"/>
                  </a:lnTo>
                  <a:close/>
                </a:path>
                <a:path w="7650480" h="4561840">
                  <a:moveTo>
                    <a:pt x="7650480" y="38112"/>
                  </a:moveTo>
                  <a:lnTo>
                    <a:pt x="7613904" y="38112"/>
                  </a:lnTo>
                  <a:lnTo>
                    <a:pt x="7613904" y="4523244"/>
                  </a:lnTo>
                  <a:lnTo>
                    <a:pt x="7650480" y="4523244"/>
                  </a:lnTo>
                  <a:lnTo>
                    <a:pt x="7650480" y="38112"/>
                  </a:lnTo>
                  <a:close/>
                </a:path>
                <a:path w="7650480" h="4561840">
                  <a:moveTo>
                    <a:pt x="7650480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0" y="4523740"/>
                  </a:lnTo>
                  <a:lnTo>
                    <a:pt x="0" y="4561840"/>
                  </a:lnTo>
                  <a:lnTo>
                    <a:pt x="7650480" y="4561840"/>
                  </a:lnTo>
                  <a:lnTo>
                    <a:pt x="7650480" y="4523740"/>
                  </a:lnTo>
                  <a:lnTo>
                    <a:pt x="38100" y="4523740"/>
                  </a:lnTo>
                  <a:lnTo>
                    <a:pt x="38100" y="38100"/>
                  </a:lnTo>
                  <a:lnTo>
                    <a:pt x="7650480" y="38100"/>
                  </a:lnTo>
                  <a:lnTo>
                    <a:pt x="765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832" y="732573"/>
            <a:ext cx="301180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375" dirty="0"/>
              <a:t>MLFQ</a:t>
            </a:r>
            <a:r>
              <a:rPr sz="3750" spc="-195" dirty="0"/>
              <a:t> </a:t>
            </a:r>
            <a:r>
              <a:rPr sz="3750" spc="-285" dirty="0"/>
              <a:t>Example</a:t>
            </a:r>
            <a:endParaRPr sz="3750"/>
          </a:p>
        </p:txBody>
      </p:sp>
      <p:sp>
        <p:nvSpPr>
          <p:cNvPr id="4" name="object 4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008" y="7102168"/>
            <a:ext cx="247015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z="1200" spc="5" dirty="0">
                <a:latin typeface="Arial" panose="020B0604020202020204"/>
                <a:cs typeface="Arial" panose="020B0604020202020204"/>
              </a:rPr>
            </a:fld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0780" y="1659118"/>
            <a:ext cx="8757285" cy="388747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90525" marR="5080" indent="-378460">
              <a:lnSpc>
                <a:spcPts val="3170"/>
              </a:lnSpc>
              <a:spcBef>
                <a:spcPts val="205"/>
              </a:spcBef>
              <a:buChar char="•"/>
              <a:tabLst>
                <a:tab pos="391160" algn="l"/>
                <a:tab pos="391795" algn="l"/>
              </a:tabLst>
            </a:pP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At </a:t>
            </a:r>
            <a:r>
              <a:rPr sz="2650" spc="60" dirty="0">
                <a:latin typeface="Times New Roman" panose="02020603050405020304"/>
                <a:cs typeface="Times New Roman" panose="02020603050405020304"/>
              </a:rPr>
              <a:t>t=0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there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are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three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bound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processes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(no </a:t>
            </a:r>
            <a:r>
              <a:rPr sz="2650" spc="75" dirty="0">
                <a:latin typeface="Times New Roman" panose="02020603050405020304"/>
                <a:cs typeface="Times New Roman" panose="02020603050405020304"/>
              </a:rPr>
              <a:t>I/O) </a:t>
            </a:r>
            <a:r>
              <a:rPr sz="2650" spc="-125" dirty="0">
                <a:latin typeface="Times New Roman" panose="02020603050405020304"/>
                <a:cs typeface="Times New Roman" panose="02020603050405020304"/>
              </a:rPr>
              <a:t>in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system. 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50" dirty="0">
                <a:latin typeface="Times New Roman" panose="02020603050405020304"/>
                <a:cs typeface="Times New Roman" panose="02020603050405020304"/>
              </a:rPr>
              <a:t>CPU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burst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lengths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are: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30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units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P1,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20 units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55" dirty="0">
                <a:latin typeface="Times New Roman" panose="02020603050405020304"/>
                <a:cs typeface="Times New Roman" panose="02020603050405020304"/>
              </a:rPr>
              <a:t>P2,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10 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units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P3.The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2650" spc="-204" dirty="0">
                <a:latin typeface="Times New Roman" panose="02020603050405020304"/>
                <a:cs typeface="Times New Roman" panose="02020603050405020304"/>
              </a:rPr>
              <a:t>has </a:t>
            </a:r>
            <a:r>
              <a:rPr sz="2650" spc="-75" dirty="0">
                <a:latin typeface="Times New Roman" panose="02020603050405020304"/>
                <a:cs typeface="Times New Roman" panose="02020603050405020304"/>
              </a:rPr>
              <a:t>three </a:t>
            </a:r>
            <a:r>
              <a:rPr sz="2650" spc="-195" dirty="0">
                <a:latin typeface="Times New Roman" panose="02020603050405020304"/>
                <a:cs typeface="Times New Roman" panose="02020603050405020304"/>
              </a:rPr>
              <a:t>RR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queues </a:t>
            </a:r>
            <a:r>
              <a:rPr sz="2650" spc="-11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the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following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time  </a:t>
            </a:r>
            <a:r>
              <a:rPr sz="2650" spc="-130" dirty="0">
                <a:latin typeface="Times New Roman" panose="02020603050405020304"/>
                <a:cs typeface="Times New Roman" panose="02020603050405020304"/>
              </a:rPr>
              <a:t>slices: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85" dirty="0">
                <a:latin typeface="Times New Roman" panose="02020603050405020304"/>
                <a:cs typeface="Times New Roman" panose="02020603050405020304"/>
              </a:rPr>
              <a:t>queue1,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queue </a:t>
            </a:r>
            <a:r>
              <a:rPr sz="2650" spc="-5" dirty="0">
                <a:latin typeface="Times New Roman" panose="02020603050405020304"/>
                <a:cs typeface="Times New Roman" panose="02020603050405020304"/>
              </a:rPr>
              <a:t>2,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2650" spc="-90" dirty="0">
                <a:latin typeface="Times New Roman" panose="02020603050405020304"/>
                <a:cs typeface="Times New Roman" panose="02020603050405020304"/>
              </a:rPr>
              <a:t>queue3.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RR- </a:t>
            </a:r>
            <a:r>
              <a:rPr sz="2650" spc="-120" dirty="0"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650" spc="-100" dirty="0">
                <a:latin typeface="Times New Roman" panose="02020603050405020304"/>
                <a:cs typeface="Times New Roman" panose="02020603050405020304"/>
              </a:rPr>
              <a:t>Unit </a:t>
            </a:r>
            <a:r>
              <a:rPr sz="2650" spc="-155" dirty="0">
                <a:latin typeface="Times New Roman" panose="02020603050405020304"/>
                <a:cs typeface="Times New Roman" panose="02020603050405020304"/>
              </a:rPr>
              <a:t>of  </a:t>
            </a: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slice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 panose="02020603050405020304"/>
              <a:buChar char="•"/>
            </a:pP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L="391160" indent="-379095">
              <a:lnSpc>
                <a:spcPct val="100000"/>
              </a:lnSpc>
              <a:buChar char="•"/>
              <a:tabLst>
                <a:tab pos="391160" algn="l"/>
                <a:tab pos="391795" algn="l"/>
              </a:tabLst>
            </a:pPr>
            <a:r>
              <a:rPr sz="2650" spc="-95" dirty="0">
                <a:latin typeface="Times New Roman" panose="02020603050405020304"/>
                <a:cs typeface="Times New Roman" panose="02020603050405020304"/>
              </a:rPr>
              <a:t>Gantt </a:t>
            </a:r>
            <a:r>
              <a:rPr sz="2650" spc="-80" dirty="0">
                <a:latin typeface="Times New Roman" panose="02020603050405020304"/>
                <a:cs typeface="Times New Roman" panose="02020603050405020304"/>
              </a:rPr>
              <a:t>Chart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91160" indent="-379095">
              <a:lnSpc>
                <a:spcPct val="100000"/>
              </a:lnSpc>
              <a:spcBef>
                <a:spcPts val="615"/>
              </a:spcBef>
              <a:buChar char="•"/>
              <a:tabLst>
                <a:tab pos="391160" algn="l"/>
                <a:tab pos="391795" algn="l"/>
              </a:tabLst>
            </a:pP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Average </a:t>
            </a: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Completion</a:t>
            </a:r>
            <a:r>
              <a:rPr sz="2650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91160" indent="-379095">
              <a:lnSpc>
                <a:spcPct val="100000"/>
              </a:lnSpc>
              <a:spcBef>
                <a:spcPts val="620"/>
              </a:spcBef>
              <a:buChar char="•"/>
              <a:tabLst>
                <a:tab pos="391160" algn="l"/>
                <a:tab pos="391795" algn="l"/>
              </a:tabLst>
            </a:pPr>
            <a:r>
              <a:rPr sz="2650" spc="-200" dirty="0">
                <a:latin typeface="Times New Roman" panose="02020603050405020304"/>
                <a:cs typeface="Times New Roman" panose="02020603050405020304"/>
              </a:rPr>
              <a:t>Average</a:t>
            </a:r>
            <a:r>
              <a:rPr sz="2650" spc="-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65" dirty="0">
                <a:latin typeface="Times New Roman" panose="02020603050405020304"/>
                <a:cs typeface="Times New Roman" panose="02020603050405020304"/>
              </a:rPr>
              <a:t>Waiting</a:t>
            </a:r>
            <a:r>
              <a:rPr sz="2650" spc="-3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140" dirty="0">
                <a:latin typeface="Times New Roman" panose="02020603050405020304"/>
                <a:cs typeface="Times New Roman" panose="02020603050405020304"/>
              </a:rPr>
              <a:t>Time</a:t>
            </a:r>
            <a:endParaRPr sz="265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2158" y="400334"/>
            <a:ext cx="179387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370" dirty="0"/>
              <a:t>S</a:t>
            </a:r>
            <a:r>
              <a:rPr sz="3750" spc="-315" dirty="0"/>
              <a:t>o</a:t>
            </a:r>
            <a:r>
              <a:rPr sz="3750" spc="-185" dirty="0"/>
              <a:t>l</a:t>
            </a:r>
            <a:r>
              <a:rPr sz="3750" spc="-275" dirty="0"/>
              <a:t>u</a:t>
            </a:r>
            <a:r>
              <a:rPr sz="3750" spc="-95" dirty="0"/>
              <a:t>t</a:t>
            </a:r>
            <a:r>
              <a:rPr sz="3750" spc="-185" dirty="0"/>
              <a:t>i</a:t>
            </a:r>
            <a:r>
              <a:rPr sz="3750" spc="-350" dirty="0"/>
              <a:t>o</a:t>
            </a:r>
            <a:r>
              <a:rPr sz="3750" spc="-280" dirty="0"/>
              <a:t>n</a:t>
            </a:r>
            <a:r>
              <a:rPr sz="3750" b="0" spc="-445" dirty="0">
                <a:solidFill>
                  <a:srgbClr val="696464"/>
                </a:solidFill>
                <a:latin typeface="Trebuchet MS" panose="020B0603020202020204"/>
                <a:cs typeface="Trebuchet MS" panose="020B0603020202020204"/>
              </a:rPr>
              <a:t>:</a:t>
            </a:r>
            <a:endParaRPr sz="37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9100" y="1272539"/>
            <a:ext cx="9072282" cy="2588377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9100" y="4305300"/>
            <a:ext cx="8949515" cy="2008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008" y="7102168"/>
            <a:ext cx="247015" cy="197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5"/>
              </a:lnSpc>
            </a:pPr>
            <a:fld id="{81D60167-4931-47E6-BA6A-407CBD079E47}" type="slidenum">
              <a:rPr sz="1200" spc="5" dirty="0">
                <a:latin typeface="Arial" panose="020B0604020202020204"/>
                <a:cs typeface="Arial" panose="020B0604020202020204"/>
              </a:rPr>
            </a:fld>
            <a:endParaRPr sz="12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447" y="415657"/>
            <a:ext cx="7992109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50" spc="-275" dirty="0"/>
              <a:t>Summary </a:t>
            </a:r>
            <a:r>
              <a:rPr sz="3750" spc="-220" dirty="0"/>
              <a:t>of </a:t>
            </a:r>
            <a:r>
              <a:rPr sz="3750" spc="-450" dirty="0"/>
              <a:t>CPU </a:t>
            </a:r>
            <a:r>
              <a:rPr sz="3750" spc="-275" dirty="0"/>
              <a:t>Scheduling</a:t>
            </a:r>
            <a:r>
              <a:rPr sz="3750" spc="-250" dirty="0"/>
              <a:t> </a:t>
            </a:r>
            <a:r>
              <a:rPr sz="3750" spc="-310" dirty="0"/>
              <a:t>Algorithms</a:t>
            </a:r>
            <a:endParaRPr sz="3750"/>
          </a:p>
        </p:txBody>
      </p:sp>
      <p:sp>
        <p:nvSpPr>
          <p:cNvPr id="3" name="object 3"/>
          <p:cNvSpPr txBox="1"/>
          <p:nvPr/>
        </p:nvSpPr>
        <p:spPr>
          <a:xfrm>
            <a:off x="1093655" y="1328869"/>
            <a:ext cx="7071359" cy="517842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79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9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First-Come, </a:t>
            </a:r>
            <a:r>
              <a:rPr sz="3050" spc="-1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First-Served </a:t>
            </a:r>
            <a:r>
              <a:rPr sz="3050" spc="-20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(FCFS)</a:t>
            </a:r>
            <a:r>
              <a:rPr sz="3050" spc="-1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1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Shortest-Job-First </a:t>
            </a:r>
            <a:r>
              <a:rPr sz="3050" spc="-20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(SJF)</a:t>
            </a:r>
            <a:r>
              <a:rPr sz="3050" spc="-8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51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Nonpreemptive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20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Preemptive </a:t>
            </a:r>
            <a:r>
              <a:rPr sz="2650" spc="-45" dirty="0">
                <a:latin typeface="Times New Roman" panose="02020603050405020304"/>
                <a:cs typeface="Times New Roman" panose="02020603050405020304"/>
              </a:rPr>
              <a:t>or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Shortest </a:t>
            </a:r>
            <a:r>
              <a:rPr sz="2650" spc="-160" dirty="0">
                <a:latin typeface="Times New Roman" panose="02020603050405020304"/>
                <a:cs typeface="Times New Roman" panose="02020603050405020304"/>
              </a:rPr>
              <a:t>Remaining </a:t>
            </a:r>
            <a:r>
              <a:rPr sz="2650" spc="-145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2650" spc="-105" dirty="0">
                <a:latin typeface="Times New Roman" panose="02020603050405020304"/>
                <a:cs typeface="Times New Roman" panose="02020603050405020304"/>
              </a:rPr>
              <a:t>First</a:t>
            </a:r>
            <a:r>
              <a:rPr sz="265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50" spc="-210" dirty="0">
                <a:latin typeface="Times New Roman" panose="02020603050405020304"/>
                <a:cs typeface="Times New Roman" panose="02020603050405020304"/>
              </a:rPr>
              <a:t>(SRTF)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3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7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Priority</a:t>
            </a:r>
            <a:r>
              <a:rPr sz="3050" spc="-114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9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Preemptive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615950" lvl="1" indent="-252095">
              <a:lnSpc>
                <a:spcPct val="100000"/>
              </a:lnSpc>
              <a:spcBef>
                <a:spcPts val="435"/>
              </a:spcBef>
              <a:buClr>
                <a:srgbClr val="9A2D1F"/>
              </a:buClr>
              <a:buSzPct val="85000"/>
              <a:buFont typeface="Webdings" panose="05030102010509060703"/>
              <a:buChar char=""/>
              <a:tabLst>
                <a:tab pos="616585" algn="l"/>
              </a:tabLst>
            </a:pPr>
            <a:r>
              <a:rPr sz="2650" spc="-114" dirty="0">
                <a:latin typeface="Times New Roman" panose="02020603050405020304"/>
                <a:cs typeface="Times New Roman" panose="02020603050405020304"/>
              </a:rPr>
              <a:t>Nonpreemptive</a:t>
            </a:r>
            <a:endParaRPr sz="26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20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3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Round </a:t>
            </a:r>
            <a:r>
              <a:rPr sz="3050" spc="-14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Robin</a:t>
            </a:r>
            <a:r>
              <a:rPr sz="3050" spc="-6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3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(RR)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Multilevel </a:t>
            </a:r>
            <a:r>
              <a:rPr sz="3050" spc="-8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Queue</a:t>
            </a:r>
            <a:r>
              <a:rPr sz="3050" spc="-2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6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Scheduling</a:t>
            </a:r>
            <a:endParaRPr sz="3050">
              <a:latin typeface="Times New Roman" panose="02020603050405020304"/>
              <a:cs typeface="Times New Roman" panose="02020603050405020304"/>
            </a:endParaRPr>
          </a:p>
          <a:p>
            <a:pPr marL="312420" indent="-300355">
              <a:lnSpc>
                <a:spcPct val="100000"/>
              </a:lnSpc>
              <a:spcBef>
                <a:spcPts val="695"/>
              </a:spcBef>
              <a:buClr>
                <a:srgbClr val="D34816"/>
              </a:buClr>
              <a:buSzPct val="85000"/>
              <a:buFont typeface="Webdings" panose="05030102010509060703"/>
              <a:buChar char=""/>
              <a:tabLst>
                <a:tab pos="313055" algn="l"/>
              </a:tabLst>
            </a:pPr>
            <a:r>
              <a:rPr sz="3050" spc="-14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Multilevel </a:t>
            </a:r>
            <a:r>
              <a:rPr sz="3050" spc="-170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Feedback</a:t>
            </a:r>
            <a:r>
              <a:rPr sz="3050" spc="-2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85" dirty="0">
                <a:solidFill>
                  <a:srgbClr val="BF0000"/>
                </a:solidFill>
                <a:latin typeface="Times New Roman" panose="02020603050405020304"/>
                <a:cs typeface="Times New Roman" panose="02020603050405020304"/>
              </a:rPr>
              <a:t>Queue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3625" y="709647"/>
            <a:ext cx="26898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280" dirty="0">
                <a:solidFill>
                  <a:srgbClr val="BF0000"/>
                </a:solidFill>
                <a:latin typeface="Arial" panose="020B0604020202020204"/>
                <a:cs typeface="Arial" panose="020B0604020202020204"/>
              </a:rPr>
              <a:t>References</a:t>
            </a:r>
            <a:endParaRPr sz="4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955" y="1688136"/>
            <a:ext cx="7927975" cy="965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120" marR="17780" indent="-300355">
              <a:lnSpc>
                <a:spcPct val="101000"/>
              </a:lnSpc>
              <a:spcBef>
                <a:spcPts val="95"/>
              </a:spcBef>
            </a:pPr>
            <a:r>
              <a:rPr sz="2600" spc="-1155" dirty="0">
                <a:solidFill>
                  <a:srgbClr val="D34816"/>
                </a:solidFill>
                <a:latin typeface="Webdings" panose="05030102010509060703"/>
                <a:cs typeface="Webdings" panose="05030102010509060703"/>
              </a:rPr>
              <a:t></a:t>
            </a:r>
            <a:r>
              <a:rPr sz="2600" spc="265" dirty="0">
                <a:solidFill>
                  <a:srgbClr val="D3481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Operating </a:t>
            </a:r>
            <a:r>
              <a:rPr sz="3050" spc="-185" dirty="0">
                <a:latin typeface="Times New Roman" panose="02020603050405020304"/>
                <a:cs typeface="Times New Roman" panose="02020603050405020304"/>
              </a:rPr>
              <a:t>System </a:t>
            </a:r>
            <a:r>
              <a:rPr sz="3050" spc="-120" dirty="0">
                <a:latin typeface="Times New Roman" panose="02020603050405020304"/>
                <a:cs typeface="Times New Roman" panose="02020603050405020304"/>
              </a:rPr>
              <a:t>Concepts </a:t>
            </a:r>
            <a:r>
              <a:rPr sz="3050" spc="-125" dirty="0">
                <a:latin typeface="Times New Roman" panose="02020603050405020304"/>
                <a:cs typeface="Times New Roman" panose="02020603050405020304"/>
              </a:rPr>
              <a:t>(Silberschatz, </a:t>
            </a:r>
            <a:r>
              <a:rPr sz="3050" spc="-7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3075" spc="-104" baseline="24000" dirty="0">
                <a:latin typeface="Times New Roman" panose="02020603050405020304"/>
                <a:cs typeface="Times New Roman" panose="02020603050405020304"/>
              </a:rPr>
              <a:t>th </a:t>
            </a:r>
            <a:r>
              <a:rPr sz="3050" spc="-95" dirty="0">
                <a:latin typeface="Times New Roman" panose="02020603050405020304"/>
                <a:cs typeface="Times New Roman" panose="02020603050405020304"/>
              </a:rPr>
              <a:t>edition)  Chapter</a:t>
            </a:r>
            <a:r>
              <a:rPr sz="305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050" spc="-114" dirty="0">
                <a:latin typeface="Times New Roman" panose="02020603050405020304"/>
                <a:cs typeface="Times New Roman" panose="02020603050405020304"/>
              </a:rPr>
              <a:t>5</a:t>
            </a:r>
            <a:endParaRPr sz="30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544" y="6946392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251459" y="502919"/>
                </a:moveTo>
                <a:lnTo>
                  <a:pt x="206310" y="498862"/>
                </a:lnTo>
                <a:lnTo>
                  <a:pt x="163795" y="487165"/>
                </a:lnTo>
                <a:lnTo>
                  <a:pt x="124629" y="468545"/>
                </a:lnTo>
                <a:lnTo>
                  <a:pt x="89527" y="443716"/>
                </a:lnTo>
                <a:lnTo>
                  <a:pt x="59203" y="413392"/>
                </a:lnTo>
                <a:lnTo>
                  <a:pt x="34374" y="378290"/>
                </a:lnTo>
                <a:lnTo>
                  <a:pt x="15754" y="339124"/>
                </a:lnTo>
                <a:lnTo>
                  <a:pt x="4057" y="296609"/>
                </a:lnTo>
                <a:lnTo>
                  <a:pt x="0" y="251459"/>
                </a:lnTo>
                <a:lnTo>
                  <a:pt x="4057" y="206310"/>
                </a:lnTo>
                <a:lnTo>
                  <a:pt x="15754" y="163795"/>
                </a:lnTo>
                <a:lnTo>
                  <a:pt x="34374" y="124629"/>
                </a:lnTo>
                <a:lnTo>
                  <a:pt x="59203" y="89527"/>
                </a:lnTo>
                <a:lnTo>
                  <a:pt x="89527" y="59203"/>
                </a:lnTo>
                <a:lnTo>
                  <a:pt x="124629" y="34374"/>
                </a:lnTo>
                <a:lnTo>
                  <a:pt x="163795" y="15754"/>
                </a:lnTo>
                <a:lnTo>
                  <a:pt x="206310" y="4057"/>
                </a:lnTo>
                <a:lnTo>
                  <a:pt x="251459" y="0"/>
                </a:lnTo>
                <a:lnTo>
                  <a:pt x="296609" y="4057"/>
                </a:lnTo>
                <a:lnTo>
                  <a:pt x="339124" y="15754"/>
                </a:lnTo>
                <a:lnTo>
                  <a:pt x="378290" y="34374"/>
                </a:lnTo>
                <a:lnTo>
                  <a:pt x="413392" y="59203"/>
                </a:lnTo>
                <a:lnTo>
                  <a:pt x="443716" y="89527"/>
                </a:lnTo>
                <a:lnTo>
                  <a:pt x="468545" y="124629"/>
                </a:lnTo>
                <a:lnTo>
                  <a:pt x="487165" y="163795"/>
                </a:lnTo>
                <a:lnTo>
                  <a:pt x="498862" y="206310"/>
                </a:lnTo>
                <a:lnTo>
                  <a:pt x="502919" y="251459"/>
                </a:lnTo>
                <a:lnTo>
                  <a:pt x="498862" y="296609"/>
                </a:lnTo>
                <a:lnTo>
                  <a:pt x="487165" y="339124"/>
                </a:lnTo>
                <a:lnTo>
                  <a:pt x="468545" y="378290"/>
                </a:lnTo>
                <a:lnTo>
                  <a:pt x="443716" y="413392"/>
                </a:lnTo>
                <a:lnTo>
                  <a:pt x="413392" y="443716"/>
                </a:lnTo>
                <a:lnTo>
                  <a:pt x="378290" y="468545"/>
                </a:lnTo>
                <a:lnTo>
                  <a:pt x="339124" y="487165"/>
                </a:lnTo>
                <a:lnTo>
                  <a:pt x="296609" y="498862"/>
                </a:lnTo>
                <a:lnTo>
                  <a:pt x="251459" y="502919"/>
                </a:lnTo>
                <a:close/>
              </a:path>
            </a:pathLst>
          </a:custGeom>
          <a:solidFill>
            <a:srgbClr val="D348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3724" y="7039050"/>
            <a:ext cx="250317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90"/>
              </a:lnSpc>
            </a:pPr>
            <a:r>
              <a:rPr sz="1500" spc="1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CS-2006 Operating</a:t>
            </a:r>
            <a:r>
              <a:rPr sz="1500" spc="-45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spc="10" dirty="0">
                <a:solidFill>
                  <a:srgbClr val="696464"/>
                </a:solidFill>
                <a:latin typeface="Arial" panose="020B0604020202020204"/>
                <a:cs typeface="Arial" panose="020B0604020202020204"/>
              </a:rPr>
              <a:t>Systems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9079" y="7077995"/>
            <a:ext cx="306070" cy="2470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500" spc="110" dirty="0">
                <a:solidFill>
                  <a:srgbClr val="FFFFFF"/>
                </a:solidFill>
                <a:latin typeface="Trebuchet MS" panose="020B0603020202020204"/>
                <a:cs typeface="Trebuchet MS" panose="020B0603020202020204"/>
              </a:rPr>
            </a:fld>
            <a:endParaRPr sz="1500">
              <a:latin typeface="Trebuchet MS" panose="020B0603020202020204"/>
              <a:cs typeface="Trebuchet MS" panose="020B0603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8601</Words>
  <Application>WPS Presentation</Application>
  <PresentationFormat>Custom</PresentationFormat>
  <Paragraphs>577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8" baseType="lpstr">
      <vt:lpstr>Arial</vt:lpstr>
      <vt:lpstr>SimSun</vt:lpstr>
      <vt:lpstr>Wingdings</vt:lpstr>
      <vt:lpstr>Arial</vt:lpstr>
      <vt:lpstr>Times New Roman</vt:lpstr>
      <vt:lpstr>Trebuchet MS</vt:lpstr>
      <vt:lpstr>Webdings</vt:lpstr>
      <vt:lpstr>Tahoma</vt:lpstr>
      <vt:lpstr>Verdana</vt:lpstr>
      <vt:lpstr>Georgia</vt:lpstr>
      <vt:lpstr>UnBatang</vt:lpstr>
      <vt:lpstr>Segoe Print</vt:lpstr>
      <vt:lpstr>Calibri</vt:lpstr>
      <vt:lpstr>Microsoft YaHei</vt:lpstr>
      <vt:lpstr>Arial Unicode MS</vt:lpstr>
      <vt:lpstr>URW Gothic</vt:lpstr>
      <vt:lpstr>Gothic Uralic</vt:lpstr>
      <vt:lpstr>Office Theme</vt:lpstr>
      <vt:lpstr>Operating Systems  CS2006</vt:lpstr>
      <vt:lpstr>What’s in today’s lecture</vt:lpstr>
      <vt:lpstr>Scheduling Algorithms</vt:lpstr>
      <vt:lpstr>2. Shortest-Job-First (SJF) Scheduling</vt:lpstr>
      <vt:lpstr>Example of Non-Preemptive SJF</vt:lpstr>
      <vt:lpstr>SRTF - Shortest Remaining Time  First</vt:lpstr>
      <vt:lpstr>Example of Preemptive SJF (i.e.,  SRTF)</vt:lpstr>
      <vt:lpstr>Shortest-Job-First (SJF) Scheduling</vt:lpstr>
      <vt:lpstr>Determining Length of Next CPU  Burst</vt:lpstr>
      <vt:lpstr>Prediction of the Length of the Next  CPU Burst</vt:lpstr>
      <vt:lpstr>3. Priority Scheduling</vt:lpstr>
      <vt:lpstr>Priority scheduling</vt:lpstr>
      <vt:lpstr>Priority Scheduling</vt:lpstr>
      <vt:lpstr>4. Round Robin (RR)</vt:lpstr>
      <vt:lpstr>Round Robin (RR)</vt:lpstr>
      <vt:lpstr>Time Quantum and Context Switch  Time</vt:lpstr>
      <vt:lpstr>Example of RR with Time Quantum = 20</vt:lpstr>
      <vt:lpstr>Round Robin’s Disadvantage</vt:lpstr>
      <vt:lpstr>Turnaround Time Varies With The Time  Quantum</vt:lpstr>
      <vt:lpstr>5. Multilevel Queue Scheduling</vt:lpstr>
      <vt:lpstr>Multilevel Queue Scheduling</vt:lpstr>
      <vt:lpstr>PowerPoint 演示文稿</vt:lpstr>
      <vt:lpstr>6. Multilevel Feedback Queue</vt:lpstr>
      <vt:lpstr>Multilevel Feedback Queue Scheduling</vt:lpstr>
      <vt:lpstr>Multilevel Feedback Queue</vt:lpstr>
      <vt:lpstr>Multilevel Feedback Queue</vt:lpstr>
      <vt:lpstr>MLFQ Example</vt:lpstr>
      <vt:lpstr>Solution:</vt:lpstr>
      <vt:lpstr>Summary of CPU Scheduling Algorithms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Lecture-7 (CPU Scheduling-II).pptx</dc:title>
  <dc:creator>rana.asif</dc:creator>
  <cp:lastModifiedBy>Rubab Anam Janjua Ilyas janjua</cp:lastModifiedBy>
  <cp:revision>3</cp:revision>
  <dcterms:created xsi:type="dcterms:W3CDTF">2023-02-24T05:30:00Z</dcterms:created>
  <dcterms:modified xsi:type="dcterms:W3CDTF">2024-10-02T16:32:31Z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2022-03-25T20:00:00Z</vt:filetime>
  </property>
  <property fmtid="{D5CDD505-2E9C-101B-9397-08002B2CF9AE}" pid="3" name="LastSaved">
    <vt:filetime>2023-02-24T20:00:00Z</vt:filetime>
  </property>
  <property fmtid="{D5CDD505-2E9C-101B-9397-08002B2CF9AE}" pid="4" name="ICV">
    <vt:lpwstr>65AC059DB9154B079BD79914AD90B9DF_12</vt:lpwstr>
  </property>
  <property fmtid="{D5CDD505-2E9C-101B-9397-08002B2CF9AE}" pid="5" name="KSOProductBuildVer">
    <vt:lpwstr>1033-12.2.0.18283</vt:lpwstr>
  </property>
</Properties>
</file>