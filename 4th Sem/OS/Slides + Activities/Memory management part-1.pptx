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00AF50"/>
                </a:solidFill>
                <a:latin typeface="Liberation Sans Narrow"/>
                <a:cs typeface="Liberation Sans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hlink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00AF50"/>
                </a:solidFill>
                <a:latin typeface="Liberation Sans Narrow"/>
                <a:cs typeface="Liberation Sans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hlink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00AF50"/>
                </a:solidFill>
                <a:latin typeface="Liberation Sans Narrow"/>
                <a:cs typeface="Liberation Sans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00AF50"/>
                </a:solidFill>
                <a:latin typeface="Liberation Sans Narrow"/>
                <a:cs typeface="Liberation Sans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103" y="192023"/>
            <a:ext cx="9915525" cy="7362825"/>
          </a:xfrm>
          <a:custGeom>
            <a:avLst/>
            <a:gdLst/>
            <a:ahLst/>
            <a:cxnLst/>
            <a:rect l="l" t="t" r="r" b="b"/>
            <a:pathLst>
              <a:path w="9915525" h="7362825">
                <a:moveTo>
                  <a:pt x="0" y="362711"/>
                </a:moveTo>
                <a:lnTo>
                  <a:pt x="3324" y="313316"/>
                </a:lnTo>
                <a:lnTo>
                  <a:pt x="13003" y="265994"/>
                </a:lnTo>
                <a:lnTo>
                  <a:pt x="28598" y="221170"/>
                </a:lnTo>
                <a:lnTo>
                  <a:pt x="49671" y="179267"/>
                </a:lnTo>
                <a:lnTo>
                  <a:pt x="75781" y="140708"/>
                </a:lnTo>
                <a:lnTo>
                  <a:pt x="106489" y="105917"/>
                </a:lnTo>
                <a:lnTo>
                  <a:pt x="141357" y="75318"/>
                </a:lnTo>
                <a:lnTo>
                  <a:pt x="179944" y="49332"/>
                </a:lnTo>
                <a:lnTo>
                  <a:pt x="221813" y="28384"/>
                </a:lnTo>
                <a:lnTo>
                  <a:pt x="266523" y="12897"/>
                </a:lnTo>
                <a:lnTo>
                  <a:pt x="313636" y="3294"/>
                </a:lnTo>
                <a:lnTo>
                  <a:pt x="362712" y="0"/>
                </a:lnTo>
                <a:lnTo>
                  <a:pt x="9552432" y="0"/>
                </a:lnTo>
                <a:lnTo>
                  <a:pt x="9601827" y="3294"/>
                </a:lnTo>
                <a:lnTo>
                  <a:pt x="9649149" y="12897"/>
                </a:lnTo>
                <a:lnTo>
                  <a:pt x="9693973" y="28384"/>
                </a:lnTo>
                <a:lnTo>
                  <a:pt x="9735876" y="49332"/>
                </a:lnTo>
                <a:lnTo>
                  <a:pt x="9774435" y="75318"/>
                </a:lnTo>
                <a:lnTo>
                  <a:pt x="9809226" y="105917"/>
                </a:lnTo>
                <a:lnTo>
                  <a:pt x="9839825" y="140708"/>
                </a:lnTo>
                <a:lnTo>
                  <a:pt x="9865811" y="179267"/>
                </a:lnTo>
                <a:lnTo>
                  <a:pt x="9886759" y="221170"/>
                </a:lnTo>
                <a:lnTo>
                  <a:pt x="9902246" y="265994"/>
                </a:lnTo>
                <a:lnTo>
                  <a:pt x="9911849" y="313316"/>
                </a:lnTo>
                <a:lnTo>
                  <a:pt x="9915144" y="362711"/>
                </a:lnTo>
                <a:lnTo>
                  <a:pt x="9915144" y="6999731"/>
                </a:lnTo>
                <a:lnTo>
                  <a:pt x="9911849" y="7048807"/>
                </a:lnTo>
                <a:lnTo>
                  <a:pt x="9902246" y="7095920"/>
                </a:lnTo>
                <a:lnTo>
                  <a:pt x="9886759" y="7140630"/>
                </a:lnTo>
                <a:lnTo>
                  <a:pt x="9865811" y="7182499"/>
                </a:lnTo>
                <a:lnTo>
                  <a:pt x="9839825" y="7221086"/>
                </a:lnTo>
                <a:lnTo>
                  <a:pt x="9809225" y="7255954"/>
                </a:lnTo>
                <a:lnTo>
                  <a:pt x="9774435" y="7286662"/>
                </a:lnTo>
                <a:lnTo>
                  <a:pt x="9735876" y="7312772"/>
                </a:lnTo>
                <a:lnTo>
                  <a:pt x="9693973" y="7333845"/>
                </a:lnTo>
                <a:lnTo>
                  <a:pt x="9649149" y="7349440"/>
                </a:lnTo>
                <a:lnTo>
                  <a:pt x="9601827" y="7359119"/>
                </a:lnTo>
                <a:lnTo>
                  <a:pt x="9552432" y="7362443"/>
                </a:lnTo>
                <a:lnTo>
                  <a:pt x="362712" y="7362443"/>
                </a:lnTo>
                <a:lnTo>
                  <a:pt x="313636" y="7359119"/>
                </a:lnTo>
                <a:lnTo>
                  <a:pt x="266523" y="7349440"/>
                </a:lnTo>
                <a:lnTo>
                  <a:pt x="221813" y="7333845"/>
                </a:lnTo>
                <a:lnTo>
                  <a:pt x="179944" y="7312772"/>
                </a:lnTo>
                <a:lnTo>
                  <a:pt x="141357" y="7286662"/>
                </a:lnTo>
                <a:lnTo>
                  <a:pt x="106489" y="7255954"/>
                </a:lnTo>
                <a:lnTo>
                  <a:pt x="75781" y="7221086"/>
                </a:lnTo>
                <a:lnTo>
                  <a:pt x="49671" y="7182499"/>
                </a:lnTo>
                <a:lnTo>
                  <a:pt x="28598" y="7140630"/>
                </a:lnTo>
                <a:lnTo>
                  <a:pt x="13003" y="7095920"/>
                </a:lnTo>
                <a:lnTo>
                  <a:pt x="3324" y="7048807"/>
                </a:lnTo>
                <a:lnTo>
                  <a:pt x="0" y="6999731"/>
                </a:lnTo>
                <a:lnTo>
                  <a:pt x="0" y="362711"/>
                </a:lnTo>
                <a:close/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422" y="148975"/>
            <a:ext cx="8342655" cy="1181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00AF50"/>
                </a:solidFill>
                <a:latin typeface="Liberation Sans Narrow"/>
                <a:cs typeface="Liberation Sans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0667" y="3568622"/>
            <a:ext cx="4817745" cy="284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hlink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93724" y="7039050"/>
            <a:ext cx="2503170" cy="243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0604" y="7077995"/>
            <a:ext cx="317245" cy="24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2" Type="http://schemas.openxmlformats.org/officeDocument/2006/relationships/slideLayout" Target="../slideLayouts/slideLayout4.xml"/><Relationship Id="rId31" Type="http://schemas.openxmlformats.org/officeDocument/2006/relationships/image" Target="../media/image32.png"/><Relationship Id="rId30" Type="http://schemas.openxmlformats.org/officeDocument/2006/relationships/image" Target="../media/image31.png"/><Relationship Id="rId3" Type="http://schemas.openxmlformats.org/officeDocument/2006/relationships/image" Target="../media/image4.png"/><Relationship Id="rId29" Type="http://schemas.openxmlformats.org/officeDocument/2006/relationships/image" Target="../media/image30.png"/><Relationship Id="rId28" Type="http://schemas.openxmlformats.org/officeDocument/2006/relationships/image" Target="../media/image29.png"/><Relationship Id="rId27" Type="http://schemas.openxmlformats.org/officeDocument/2006/relationships/image" Target="../media/image28.png"/><Relationship Id="rId26" Type="http://schemas.openxmlformats.org/officeDocument/2006/relationships/image" Target="../media/image27.png"/><Relationship Id="rId25" Type="http://schemas.openxmlformats.org/officeDocument/2006/relationships/image" Target="../media/image26.png"/><Relationship Id="rId24" Type="http://schemas.openxmlformats.org/officeDocument/2006/relationships/image" Target="../media/image25.png"/><Relationship Id="rId23" Type="http://schemas.openxmlformats.org/officeDocument/2006/relationships/image" Target="../media/image24.png"/><Relationship Id="rId22" Type="http://schemas.openxmlformats.org/officeDocument/2006/relationships/image" Target="../media/image23.png"/><Relationship Id="rId21" Type="http://schemas.openxmlformats.org/officeDocument/2006/relationships/image" Target="../media/image22.png"/><Relationship Id="rId20" Type="http://schemas.openxmlformats.org/officeDocument/2006/relationships/image" Target="../media/image21.png"/><Relationship Id="rId2" Type="http://schemas.openxmlformats.org/officeDocument/2006/relationships/image" Target="../media/image3.png"/><Relationship Id="rId19" Type="http://schemas.openxmlformats.org/officeDocument/2006/relationships/image" Target="../media/image20.png"/><Relationship Id="rId18" Type="http://schemas.openxmlformats.org/officeDocument/2006/relationships/image" Target="../media/image19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jpeg"/><Relationship Id="rId1" Type="http://schemas.openxmlformats.org/officeDocument/2006/relationships/image" Target="../media/image34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image" Target="../media/image3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8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cseweb.ucsd.edu/classes/sp00/cse120_A/m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5444" y="1035288"/>
            <a:ext cx="4203700" cy="16687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19200" marR="5080" indent="-1207135">
              <a:lnSpc>
                <a:spcPct val="112000"/>
              </a:lnSpc>
              <a:spcBef>
                <a:spcPts val="90"/>
              </a:spcBef>
            </a:pPr>
            <a:r>
              <a:rPr sz="4800" b="0" spc="-16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Operating</a:t>
            </a:r>
            <a:r>
              <a:rPr sz="4800" b="0" spc="-9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800" b="0" spc="-31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Systems </a:t>
            </a:r>
            <a:r>
              <a:rPr sz="4800" b="0" spc="-29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CS2006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869" y="3255521"/>
            <a:ext cx="4305935" cy="316484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lang="en-US" altLang="en-US" sz="3500" spc="-135" dirty="0">
                <a:latin typeface="Times New Roman" panose="02020603050405020304"/>
                <a:cs typeface="Times New Roman" panose="02020603050405020304"/>
              </a:rPr>
              <a:t>Chapter:9</a:t>
            </a:r>
            <a:endParaRPr lang="en-US" altLang="en-US" sz="3500" spc="-135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35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3500" b="1" spc="-13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Management</a:t>
            </a:r>
            <a:endParaRPr sz="3500" b="1" spc="-1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lang="en-US" altLang="en-US" sz="3500" b="1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PART-1</a:t>
            </a:r>
            <a:endParaRPr sz="3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35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tabLst>
                <a:tab pos="730885" algn="l"/>
              </a:tabLst>
            </a:pPr>
            <a:endParaRPr sz="3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659" rIns="0" bIns="0" rtlCol="0">
            <a:spAutoFit/>
          </a:bodyPr>
          <a:lstStyle/>
          <a:p>
            <a:pPr marL="514985">
              <a:lnSpc>
                <a:spcPct val="100000"/>
              </a:lnSpc>
              <a:spcBef>
                <a:spcPts val="115"/>
              </a:spcBef>
            </a:pPr>
            <a:r>
              <a:rPr spc="90" dirty="0"/>
              <a:t>Background</a:t>
            </a:r>
            <a:endParaRPr spc="90" dirty="0"/>
          </a:p>
        </p:txBody>
      </p:sp>
      <p:sp>
        <p:nvSpPr>
          <p:cNvPr id="3" name="object 3"/>
          <p:cNvSpPr txBox="1"/>
          <p:nvPr/>
        </p:nvSpPr>
        <p:spPr>
          <a:xfrm>
            <a:off x="324054" y="1499161"/>
            <a:ext cx="8488680" cy="78930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12420" marR="5080" indent="-300355">
              <a:lnSpc>
                <a:spcPts val="2840"/>
              </a:lnSpc>
              <a:spcBef>
                <a:spcPts val="46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  <a:tab pos="5978525" algn="l"/>
              </a:tabLst>
            </a:pPr>
            <a:r>
              <a:rPr sz="2650" dirty="0">
                <a:latin typeface="Arial" panose="020B0604020202020204"/>
                <a:cs typeface="Arial" panose="020B0604020202020204"/>
              </a:rPr>
              <a:t>Program</a:t>
            </a:r>
            <a:r>
              <a:rPr sz="265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must</a:t>
            </a:r>
            <a:r>
              <a:rPr sz="265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be</a:t>
            </a:r>
            <a:r>
              <a:rPr sz="265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brought</a:t>
            </a:r>
            <a:r>
              <a:rPr sz="26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(from</a:t>
            </a:r>
            <a:r>
              <a:rPr sz="265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650" spc="-10" dirty="0">
                <a:latin typeface="Arial" panose="020B0604020202020204"/>
                <a:cs typeface="Arial" panose="020B0604020202020204"/>
              </a:rPr>
              <a:t>disk)</a:t>
            </a:r>
            <a:r>
              <a:rPr sz="2650" dirty="0">
                <a:latin typeface="Arial" panose="020B0604020202020204"/>
                <a:cs typeface="Arial" panose="020B0604020202020204"/>
              </a:rPr>
              <a:t>	into</a:t>
            </a:r>
            <a:r>
              <a:rPr sz="2650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memory</a:t>
            </a:r>
            <a:r>
              <a:rPr sz="265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650" spc="-25" dirty="0">
                <a:latin typeface="Arial" panose="020B0604020202020204"/>
                <a:cs typeface="Arial" panose="020B0604020202020204"/>
              </a:rPr>
              <a:t>and </a:t>
            </a:r>
            <a:r>
              <a:rPr sz="2650" dirty="0">
                <a:latin typeface="Arial" panose="020B0604020202020204"/>
                <a:cs typeface="Arial" panose="020B0604020202020204"/>
              </a:rPr>
              <a:t>placed</a:t>
            </a:r>
            <a:r>
              <a:rPr sz="265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within</a:t>
            </a:r>
            <a:r>
              <a:rPr sz="265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a</a:t>
            </a:r>
            <a:r>
              <a:rPr sz="265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process</a:t>
            </a:r>
            <a:r>
              <a:rPr sz="265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for</a:t>
            </a:r>
            <a:r>
              <a:rPr sz="265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it</a:t>
            </a:r>
            <a:r>
              <a:rPr sz="265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to</a:t>
            </a:r>
            <a:r>
              <a:rPr sz="265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be</a:t>
            </a:r>
            <a:r>
              <a:rPr sz="265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650" spc="-25" dirty="0">
                <a:latin typeface="Arial" panose="020B0604020202020204"/>
                <a:cs typeface="Arial" panose="020B0604020202020204"/>
              </a:rPr>
              <a:t>run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4164" y="2719387"/>
            <a:ext cx="5634990" cy="21304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12420" indent="-311150">
              <a:lnSpc>
                <a:spcPct val="100000"/>
              </a:lnSpc>
              <a:spcBef>
                <a:spcPts val="335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37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10" dirty="0">
                <a:latin typeface="Times New Roman" panose="02020603050405020304"/>
                <a:cs typeface="Times New Roman" panose="02020603050405020304"/>
              </a:rPr>
              <a:t>programmer</a:t>
            </a:r>
            <a:r>
              <a:rPr sz="28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25" dirty="0">
                <a:latin typeface="Times New Roman" panose="02020603050405020304"/>
                <a:cs typeface="Times New Roman" panose="02020603050405020304"/>
              </a:rPr>
              <a:t>will</a:t>
            </a:r>
            <a:r>
              <a:rPr sz="28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55" dirty="0">
                <a:latin typeface="Times New Roman" panose="02020603050405020304"/>
                <a:cs typeface="Times New Roman" panose="02020603050405020304"/>
              </a:rPr>
              <a:t>like</a:t>
            </a:r>
            <a:r>
              <a:rPr sz="28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35" dirty="0">
                <a:latin typeface="Times New Roman" panose="02020603050405020304"/>
                <a:cs typeface="Times New Roman" panose="02020603050405020304"/>
              </a:rPr>
              <a:t>have</a:t>
            </a:r>
            <a:r>
              <a:rPr sz="28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75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22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Infinitely</a:t>
            </a:r>
            <a:r>
              <a:rPr sz="24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large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16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Infinitely</a:t>
            </a:r>
            <a:r>
              <a:rPr sz="24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fast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18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Non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volatile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311150">
              <a:lnSpc>
                <a:spcPct val="100000"/>
              </a:lnSpc>
              <a:spcBef>
                <a:spcPts val="285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75" dirty="0">
                <a:latin typeface="Times New Roman" panose="02020603050405020304"/>
                <a:cs typeface="Times New Roman" panose="02020603050405020304"/>
              </a:rPr>
              <a:t>However,</a:t>
            </a:r>
            <a:r>
              <a:rPr sz="285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00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28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35" dirty="0">
                <a:latin typeface="Times New Roman" panose="02020603050405020304"/>
                <a:cs typeface="Times New Roman" panose="02020603050405020304"/>
              </a:rPr>
              <a:t>have</a:t>
            </a:r>
            <a:r>
              <a:rPr sz="28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7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 Hierarchy:</a:t>
            </a:r>
            <a:endParaRPr sz="28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48500" y="4104132"/>
            <a:ext cx="1927860" cy="502920"/>
          </a:xfrm>
          <a:prstGeom prst="rect">
            <a:avLst/>
          </a:prstGeom>
          <a:solidFill>
            <a:srgbClr val="95A8A8"/>
          </a:solidFill>
          <a:ln w="10668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315"/>
              </a:spcBef>
            </a:pPr>
            <a:r>
              <a:rPr sz="2650" b="1" spc="-10" dirty="0">
                <a:latin typeface="Arial" panose="020B0604020202020204"/>
                <a:cs typeface="Arial" panose="020B0604020202020204"/>
              </a:rPr>
              <a:t>Registers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55892" y="4884420"/>
            <a:ext cx="2514600" cy="502920"/>
          </a:xfrm>
          <a:prstGeom prst="rect">
            <a:avLst/>
          </a:prstGeom>
          <a:solidFill>
            <a:srgbClr val="95A8A8"/>
          </a:solidFill>
          <a:ln w="10668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753745">
              <a:lnSpc>
                <a:spcPct val="100000"/>
              </a:lnSpc>
              <a:spcBef>
                <a:spcPts val="300"/>
              </a:spcBef>
            </a:pPr>
            <a:r>
              <a:rPr sz="2650" b="1" spc="-10" dirty="0">
                <a:latin typeface="Arial" panose="020B0604020202020204"/>
                <a:cs typeface="Arial" panose="020B0604020202020204"/>
              </a:rPr>
              <a:t>Cache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0611" y="5638800"/>
            <a:ext cx="3185160" cy="502920"/>
          </a:xfrm>
          <a:prstGeom prst="rect">
            <a:avLst/>
          </a:prstGeom>
          <a:solidFill>
            <a:srgbClr val="95A8A8"/>
          </a:solidFill>
          <a:ln w="10668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22605">
              <a:lnSpc>
                <a:spcPct val="100000"/>
              </a:lnSpc>
              <a:spcBef>
                <a:spcPts val="300"/>
              </a:spcBef>
            </a:pPr>
            <a:r>
              <a:rPr sz="2650" b="1" dirty="0">
                <a:latin typeface="Arial" panose="020B0604020202020204"/>
                <a:cs typeface="Arial" panose="020B0604020202020204"/>
              </a:rPr>
              <a:t>Main</a:t>
            </a:r>
            <a:r>
              <a:rPr sz="265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650" b="1" spc="-10" dirty="0">
                <a:latin typeface="Arial" panose="020B0604020202020204"/>
                <a:cs typeface="Arial" panose="020B0604020202020204"/>
              </a:rPr>
              <a:t>Memory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85332" y="6309359"/>
            <a:ext cx="3855720" cy="502920"/>
          </a:xfrm>
          <a:prstGeom prst="rect">
            <a:avLst/>
          </a:prstGeom>
          <a:solidFill>
            <a:srgbClr val="95A8A8"/>
          </a:solidFill>
          <a:ln w="10668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650" b="1" spc="-20" dirty="0">
                <a:latin typeface="Arial" panose="020B0604020202020204"/>
                <a:cs typeface="Arial" panose="020B0604020202020204"/>
              </a:rPr>
              <a:t>Disk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304" rIns="0" bIns="0" rtlCol="0">
            <a:spAutoFit/>
          </a:bodyPr>
          <a:lstStyle/>
          <a:p>
            <a:pPr marL="908050">
              <a:lnSpc>
                <a:spcPct val="100000"/>
              </a:lnSpc>
              <a:spcBef>
                <a:spcPts val="100"/>
              </a:spcBef>
            </a:pPr>
            <a:r>
              <a:rPr sz="4400" spc="100" dirty="0"/>
              <a:t>Background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65244" y="1396922"/>
            <a:ext cx="9347200" cy="334517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75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Main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registers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6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only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storage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directly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marR="5080" indent="-300355">
              <a:lnSpc>
                <a:spcPts val="3170"/>
              </a:lnSpc>
              <a:spcBef>
                <a:spcPts val="76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unit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only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sees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stream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addresses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254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read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requests,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204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write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requests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54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Register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clock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(or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less)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64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Main</a:t>
            </a:r>
            <a:r>
              <a:rPr sz="26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6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take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many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cycles,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causing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b="1" spc="-1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stall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65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b="1" spc="-65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Cache</a:t>
            </a:r>
            <a:r>
              <a:rPr sz="2650" b="1" spc="-5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sits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main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registers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65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Protection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required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ensure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correct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operation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794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80" dirty="0"/>
              <a:t> </a:t>
            </a:r>
            <a:r>
              <a:rPr spc="185" dirty="0"/>
              <a:t>Manager</a:t>
            </a:r>
            <a:endParaRPr spc="185" dirty="0"/>
          </a:p>
        </p:txBody>
      </p:sp>
      <p:sp>
        <p:nvSpPr>
          <p:cNvPr id="3" name="object 3"/>
          <p:cNvSpPr txBox="1"/>
          <p:nvPr/>
        </p:nvSpPr>
        <p:spPr>
          <a:xfrm>
            <a:off x="1076898" y="1819530"/>
            <a:ext cx="7666355" cy="224155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12420" indent="-311150">
              <a:lnSpc>
                <a:spcPct val="100000"/>
              </a:lnSpc>
              <a:spcBef>
                <a:spcPts val="69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5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0" dirty="0">
                <a:latin typeface="Times New Roman" panose="02020603050405020304"/>
                <a:cs typeface="Times New Roman" panose="02020603050405020304"/>
              </a:rPr>
              <a:t>part</a:t>
            </a:r>
            <a:r>
              <a:rPr sz="28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8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90" dirty="0">
                <a:latin typeface="Times New Roman" panose="02020603050405020304"/>
                <a:cs typeface="Times New Roman" panose="02020603050405020304"/>
              </a:rPr>
              <a:t>OS</a:t>
            </a:r>
            <a:r>
              <a:rPr sz="28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8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00" dirty="0">
                <a:latin typeface="Times New Roman" panose="02020603050405020304"/>
                <a:cs typeface="Times New Roman" panose="02020603050405020304"/>
              </a:rPr>
              <a:t>manages</a:t>
            </a:r>
            <a:r>
              <a:rPr sz="28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7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7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8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80" dirty="0">
                <a:latin typeface="Times New Roman" panose="02020603050405020304"/>
                <a:cs typeface="Times New Roman" panose="02020603050405020304"/>
              </a:rPr>
              <a:t>Hierarchy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Which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part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35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which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use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6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Allocate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6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De-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allocate</a:t>
            </a:r>
            <a:r>
              <a:rPr sz="24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7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65" dirty="0">
                <a:latin typeface="Times New Roman" panose="02020603050405020304"/>
                <a:cs typeface="Times New Roman" panose="02020603050405020304"/>
              </a:rPr>
              <a:t>Swapping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main</a:t>
            </a:r>
            <a:r>
              <a:rPr sz="24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disks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6285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90" dirty="0"/>
              <a:t> </a:t>
            </a:r>
            <a:r>
              <a:rPr spc="210" dirty="0"/>
              <a:t>Management</a:t>
            </a:r>
            <a:r>
              <a:rPr spc="80" dirty="0"/>
              <a:t> </a:t>
            </a:r>
            <a:r>
              <a:rPr spc="120" dirty="0"/>
              <a:t>Requirements</a:t>
            </a:r>
            <a:endParaRPr spc="120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12312"/>
            <a:ext cx="4253230" cy="287083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11785" indent="-311150">
              <a:lnSpc>
                <a:spcPct val="100000"/>
              </a:lnSpc>
              <a:spcBef>
                <a:spcPts val="730"/>
              </a:spcBef>
              <a:buClr>
                <a:srgbClr val="D34816"/>
              </a:buClr>
              <a:buSzPct val="77000"/>
              <a:buFont typeface="Webdings" panose="05030102010509060703"/>
              <a:buChar char="●"/>
              <a:tabLst>
                <a:tab pos="311785" algn="l"/>
              </a:tabLst>
            </a:pP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Speed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9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only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latin typeface="Times New Roman" panose="02020603050405020304"/>
                <a:cs typeface="Times New Roman" panose="02020603050405020304"/>
              </a:rPr>
              <a:t>issue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50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Relocation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Protection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43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Sharing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Physical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organization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….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6285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14" dirty="0"/>
              <a:t>Requirements:</a:t>
            </a:r>
            <a:r>
              <a:rPr spc="80" dirty="0"/>
              <a:t> </a:t>
            </a:r>
            <a:r>
              <a:rPr spc="85" dirty="0"/>
              <a:t>Relocation</a:t>
            </a:r>
            <a:endParaRPr spc="85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88136"/>
            <a:ext cx="8343265" cy="3307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150" marR="5080" indent="-311150">
              <a:lnSpc>
                <a:spcPct val="101000"/>
              </a:lnSpc>
              <a:spcBef>
                <a:spcPts val="95"/>
              </a:spcBef>
              <a:buClr>
                <a:srgbClr val="D34816"/>
              </a:buClr>
              <a:buSzPct val="77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programmer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does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know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where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30" dirty="0">
                <a:latin typeface="Times New Roman" panose="02020603050405020304"/>
                <a:cs typeface="Times New Roman" panose="02020603050405020304"/>
              </a:rPr>
              <a:t>will </a:t>
            </a:r>
            <a:r>
              <a:rPr sz="3050" spc="-3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placed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9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latin typeface="Times New Roman" panose="02020603050405020304"/>
                <a:cs typeface="Times New Roman" panose="02020603050405020304"/>
              </a:rPr>
              <a:t>executed,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4680" marR="673100" lvl="1" indent="-298450">
              <a:lnSpc>
                <a:spcPts val="3170"/>
              </a:lnSpc>
              <a:spcBef>
                <a:spcPts val="62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950" algn="l"/>
              </a:tabLst>
            </a:pP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50" dirty="0">
                <a:latin typeface="Times New Roman" panose="02020603050405020304"/>
                <a:cs typeface="Times New Roman" panose="02020603050405020304"/>
              </a:rPr>
              <a:t>may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swapped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disk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main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26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location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(relocated)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lvl="1">
              <a:lnSpc>
                <a:spcPct val="100000"/>
              </a:lnSpc>
              <a:spcBef>
                <a:spcPts val="1040"/>
              </a:spcBef>
              <a:buClr>
                <a:srgbClr val="9A2D1F"/>
              </a:buClr>
              <a:buFont typeface="Webdings" panose="05030102010509060703"/>
              <a:buChar char="●"/>
            </a:pP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1150" marR="768350" indent="-311150">
              <a:lnSpc>
                <a:spcPct val="101000"/>
              </a:lnSpc>
              <a:buClr>
                <a:srgbClr val="D34816"/>
              </a:buClr>
              <a:buSzPct val="77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references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must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30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translated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actual 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95" dirty="0">
                <a:latin typeface="Times New Roman" panose="02020603050405020304"/>
                <a:cs typeface="Times New Roman" panose="02020603050405020304"/>
              </a:rPr>
              <a:t>physical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30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latin typeface="Times New Roman" panose="02020603050405020304"/>
                <a:cs typeface="Times New Roman" panose="02020603050405020304"/>
              </a:rPr>
              <a:t>address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815" y="625917"/>
            <a:ext cx="4876165" cy="561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95" dirty="0"/>
              <a:t>Relocation</a:t>
            </a:r>
            <a:r>
              <a:rPr spc="55" dirty="0"/>
              <a:t> </a:t>
            </a:r>
            <a:r>
              <a:rPr spc="185" dirty="0"/>
              <a:t>and</a:t>
            </a:r>
            <a:r>
              <a:rPr spc="70" dirty="0"/>
              <a:t> </a:t>
            </a:r>
            <a:r>
              <a:rPr spc="65" dirty="0"/>
              <a:t>Protection</a:t>
            </a:r>
            <a:endParaRPr spc="65" dirty="0"/>
          </a:p>
        </p:txBody>
      </p:sp>
      <p:sp>
        <p:nvSpPr>
          <p:cNvPr id="3" name="object 3"/>
          <p:cNvSpPr txBox="1"/>
          <p:nvPr/>
        </p:nvSpPr>
        <p:spPr>
          <a:xfrm>
            <a:off x="590836" y="1840502"/>
            <a:ext cx="5215255" cy="3949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12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jobs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will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addresses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0836" y="2614294"/>
            <a:ext cx="6654800" cy="78295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34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Suppose,</a:t>
            </a:r>
            <a:r>
              <a:rPr sz="2400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first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instruction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is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200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call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8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procedure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absolute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within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binary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file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40" y="5996402"/>
            <a:ext cx="516890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1950" spc="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call</a:t>
            </a:r>
            <a:r>
              <a:rPr sz="1950" spc="4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will</a:t>
            </a:r>
            <a:r>
              <a:rPr sz="1950" spc="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jump</a:t>
            </a:r>
            <a:r>
              <a:rPr sz="1950" spc="3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inside</a:t>
            </a:r>
            <a:r>
              <a:rPr sz="1950" spc="4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50" spc="3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Operating</a:t>
            </a:r>
            <a:r>
              <a:rPr sz="1950" spc="4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system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952231" y="1277111"/>
          <a:ext cx="1355090" cy="4105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0"/>
              </a:tblGrid>
              <a:tr h="502920"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95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91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7145" algn="ctr">
                        <a:lnSpc>
                          <a:spcPct val="100000"/>
                        </a:lnSpc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7145" algn="ctr">
                        <a:lnSpc>
                          <a:spcPct val="100000"/>
                        </a:lnSpc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01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95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 marL="18415" algn="ctr">
                        <a:lnSpc>
                          <a:spcPts val="1800"/>
                        </a:lnSpc>
                      </a:pPr>
                      <a:r>
                        <a:rPr sz="1750" b="1" spc="-10" dirty="0">
                          <a:latin typeface="Arial" panose="020B0604020202020204"/>
                          <a:cs typeface="Arial" panose="020B0604020202020204"/>
                        </a:rPr>
                        <a:t>Operating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19050" algn="ctr">
                        <a:lnSpc>
                          <a:spcPts val="2045"/>
                        </a:lnSpc>
                        <a:spcBef>
                          <a:spcPts val="10"/>
                        </a:spcBef>
                      </a:pPr>
                      <a:r>
                        <a:rPr sz="1750" b="1" spc="-10" dirty="0">
                          <a:latin typeface="Arial" panose="020B0604020202020204"/>
                          <a:cs typeface="Arial" panose="020B0604020202020204"/>
                        </a:rPr>
                        <a:t>System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317220" y="1151627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800K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17220" y="1654593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700K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17220" y="3212062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400K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71482" y="4217886"/>
            <a:ext cx="607060" cy="1300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842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200K</a:t>
            </a:r>
            <a:endParaRPr sz="17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750">
              <a:latin typeface="Arial" panose="020B0604020202020204"/>
              <a:cs typeface="Arial" panose="020B0604020202020204"/>
            </a:endParaRPr>
          </a:p>
          <a:p>
            <a:pPr marL="58420">
              <a:lnSpc>
                <a:spcPct val="100000"/>
              </a:lnSpc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100K</a:t>
            </a:r>
            <a:endParaRPr sz="1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1750" b="1" spc="-50" dirty="0">
                <a:latin typeface="Arial" panose="020B0604020202020204"/>
                <a:cs typeface="Arial" panose="020B0604020202020204"/>
              </a:rPr>
              <a:t>0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815" y="458250"/>
            <a:ext cx="4876165" cy="561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95" dirty="0"/>
              <a:t>Relocation</a:t>
            </a:r>
            <a:r>
              <a:rPr spc="55" dirty="0"/>
              <a:t> </a:t>
            </a:r>
            <a:r>
              <a:rPr spc="185" dirty="0"/>
              <a:t>and</a:t>
            </a:r>
            <a:r>
              <a:rPr spc="70" dirty="0"/>
              <a:t> </a:t>
            </a:r>
            <a:r>
              <a:rPr spc="65" dirty="0"/>
              <a:t>Protection</a:t>
            </a:r>
            <a:endParaRPr spc="65" dirty="0"/>
          </a:p>
        </p:txBody>
      </p:sp>
      <p:sp>
        <p:nvSpPr>
          <p:cNvPr id="3" name="object 3"/>
          <p:cNvSpPr txBox="1"/>
          <p:nvPr/>
        </p:nvSpPr>
        <p:spPr>
          <a:xfrm>
            <a:off x="565436" y="1784658"/>
            <a:ext cx="5453380" cy="30708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37820" indent="-299720">
              <a:lnSpc>
                <a:spcPct val="100000"/>
              </a:lnSpc>
              <a:spcBef>
                <a:spcPts val="78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3782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Solution: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37820" indent="-299720">
              <a:lnSpc>
                <a:spcPct val="100000"/>
              </a:lnSpc>
              <a:spcBef>
                <a:spcPts val="68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37820" algn="l"/>
              </a:tabLst>
            </a:pP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loaded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spc="-15" baseline="24000" dirty="0">
                <a:latin typeface="Times New Roman" panose="02020603050405020304"/>
                <a:cs typeface="Times New Roman" panose="02020603050405020304"/>
              </a:rPr>
              <a:t>st</a:t>
            </a:r>
            <a:r>
              <a:rPr sz="2400" spc="240" baseline="2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partition,</a:t>
            </a:r>
            <a:r>
              <a:rPr sz="2400" spc="-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then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40715" lvl="1" indent="-250825">
              <a:lnSpc>
                <a:spcPct val="100000"/>
              </a:lnSpc>
              <a:spcBef>
                <a:spcPts val="480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40715" algn="l"/>
              </a:tabLst>
            </a:pP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Call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100k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22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10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37820" indent="-299720">
              <a:lnSpc>
                <a:spcPct val="100000"/>
              </a:lnSpc>
              <a:spcBef>
                <a:spcPts val="65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37820" algn="l"/>
                <a:tab pos="3804920" algn="l"/>
              </a:tabLst>
            </a:pP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loaded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400" spc="-37" baseline="24000" dirty="0">
                <a:latin typeface="Times New Roman" panose="02020603050405020304"/>
                <a:cs typeface="Times New Roman" panose="02020603050405020304"/>
              </a:rPr>
              <a:t>nd</a:t>
            </a:r>
            <a:r>
              <a:rPr sz="2400" baseline="24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partition,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then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40715" lvl="1" indent="-250825">
              <a:lnSpc>
                <a:spcPct val="100000"/>
              </a:lnSpc>
              <a:spcBef>
                <a:spcPts val="475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40715" algn="l"/>
              </a:tabLst>
            </a:pP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Call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200k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22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10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37820" indent="-299720">
              <a:lnSpc>
                <a:spcPct val="100000"/>
              </a:lnSpc>
              <a:spcBef>
                <a:spcPts val="64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37820" algn="l"/>
              </a:tabLst>
            </a:pPr>
            <a:r>
              <a:rPr sz="2400" spc="-220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on…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37820" indent="-299720">
              <a:lnSpc>
                <a:spcPct val="100000"/>
              </a:lnSpc>
              <a:spcBef>
                <a:spcPts val="68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37820" algn="l"/>
              </a:tabLst>
            </a:pP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called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spc="-80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Relocation</a:t>
            </a:r>
            <a:r>
              <a:rPr sz="2400" b="1" i="1" spc="-30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problem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952231" y="1277111"/>
          <a:ext cx="1355090" cy="4105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0"/>
              </a:tblGrid>
              <a:tr h="502920"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95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91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7145" algn="ctr">
                        <a:lnSpc>
                          <a:spcPct val="100000"/>
                        </a:lnSpc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7145" algn="ctr">
                        <a:lnSpc>
                          <a:spcPct val="100000"/>
                        </a:lnSpc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01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95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 marL="18415" algn="ctr">
                        <a:lnSpc>
                          <a:spcPts val="1800"/>
                        </a:lnSpc>
                      </a:pPr>
                      <a:r>
                        <a:rPr sz="1750" b="1" spc="-10" dirty="0">
                          <a:latin typeface="Arial" panose="020B0604020202020204"/>
                          <a:cs typeface="Arial" panose="020B0604020202020204"/>
                        </a:rPr>
                        <a:t>Operating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19050" algn="ctr">
                        <a:lnSpc>
                          <a:spcPts val="2045"/>
                        </a:lnSpc>
                        <a:spcBef>
                          <a:spcPts val="10"/>
                        </a:spcBef>
                      </a:pPr>
                      <a:r>
                        <a:rPr sz="1750" b="1" spc="-10" dirty="0">
                          <a:latin typeface="Arial" panose="020B0604020202020204"/>
                          <a:cs typeface="Arial" panose="020B0604020202020204"/>
                        </a:rPr>
                        <a:t>System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317220" y="1151627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800K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17220" y="1654593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700K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17220" y="3212062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400K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17220" y="4217886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200K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71482" y="4755857"/>
            <a:ext cx="607060" cy="7626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842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100K</a:t>
            </a:r>
            <a:endParaRPr sz="1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1750" b="1" spc="-50" dirty="0">
                <a:latin typeface="Arial" panose="020B0604020202020204"/>
                <a:cs typeface="Arial" panose="020B0604020202020204"/>
              </a:rPr>
              <a:t>0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815" y="625917"/>
            <a:ext cx="4876165" cy="561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95" dirty="0"/>
              <a:t>Relocation</a:t>
            </a:r>
            <a:r>
              <a:rPr spc="55" dirty="0"/>
              <a:t> </a:t>
            </a:r>
            <a:r>
              <a:rPr spc="185" dirty="0"/>
              <a:t>and</a:t>
            </a:r>
            <a:r>
              <a:rPr spc="70" dirty="0"/>
              <a:t> </a:t>
            </a:r>
            <a:r>
              <a:rPr spc="65" dirty="0"/>
              <a:t>Protection</a:t>
            </a:r>
            <a:endParaRPr spc="65" dirty="0"/>
          </a:p>
        </p:txBody>
      </p:sp>
      <p:sp>
        <p:nvSpPr>
          <p:cNvPr id="3" name="object 3"/>
          <p:cNvSpPr txBox="1"/>
          <p:nvPr/>
        </p:nvSpPr>
        <p:spPr>
          <a:xfrm>
            <a:off x="590786" y="1787404"/>
            <a:ext cx="6664325" cy="284861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12420" indent="-311150">
              <a:lnSpc>
                <a:spcPct val="100000"/>
              </a:lnSpc>
              <a:spcBef>
                <a:spcPts val="69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Solution: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2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80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solidFill>
                  <a:srgbClr val="00AF50"/>
                </a:solidFill>
                <a:latin typeface="Times New Roman" panose="02020603050405020304"/>
                <a:cs typeface="Times New Roman" panose="02020603050405020304"/>
              </a:rPr>
              <a:t>offset</a:t>
            </a:r>
            <a:r>
              <a:rPr sz="2400" spc="-35" dirty="0">
                <a:solidFill>
                  <a:srgbClr val="00AF5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35" dirty="0"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program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5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offset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depends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partition,</a:t>
            </a:r>
            <a:r>
              <a:rPr sz="240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e.g.,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917575" marR="5080" lvl="2" indent="-251460">
              <a:lnSpc>
                <a:spcPct val="100000"/>
              </a:lnSpc>
              <a:spcBef>
                <a:spcPts val="475"/>
              </a:spcBef>
              <a:buClr>
                <a:srgbClr val="E6B1AA"/>
              </a:buClr>
              <a:buSzPct val="84000"/>
              <a:buFont typeface="Webdings" panose="05030102010509060703"/>
              <a:buChar char="●"/>
              <a:tabLst>
                <a:tab pos="917575" algn="l"/>
              </a:tabLst>
            </a:pPr>
            <a:r>
              <a:rPr sz="2200" spc="-14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loaded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partition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200" spc="-135" dirty="0">
                <a:latin typeface="Times New Roman" panose="02020603050405020304"/>
                <a:cs typeface="Times New Roman" panose="02020603050405020304"/>
              </a:rPr>
              <a:t> add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100k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every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address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917575" marR="5080" lvl="2" indent="-251460">
              <a:lnSpc>
                <a:spcPct val="100000"/>
              </a:lnSpc>
              <a:spcBef>
                <a:spcPts val="445"/>
              </a:spcBef>
              <a:buClr>
                <a:srgbClr val="E6B1AA"/>
              </a:buClr>
              <a:buSzPct val="84000"/>
              <a:buFont typeface="Webdings" panose="05030102010509060703"/>
              <a:buChar char="●"/>
              <a:tabLst>
                <a:tab pos="917575" algn="l"/>
              </a:tabLst>
            </a:pPr>
            <a:r>
              <a:rPr sz="2200" spc="-14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loaded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partition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2,</a:t>
            </a:r>
            <a:r>
              <a:rPr sz="2200" spc="-135" dirty="0">
                <a:latin typeface="Times New Roman" panose="02020603050405020304"/>
                <a:cs typeface="Times New Roman" panose="02020603050405020304"/>
              </a:rPr>
              <a:t> add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200k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every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address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2144" y="5498143"/>
            <a:ext cx="7710170" cy="131318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-8890">
              <a:lnSpc>
                <a:spcPts val="3170"/>
              </a:lnSpc>
              <a:spcBef>
                <a:spcPts val="205"/>
              </a:spcBef>
              <a:buSzPct val="96000"/>
              <a:buChar char="•"/>
              <a:tabLst>
                <a:tab pos="128905" algn="l"/>
              </a:tabLst>
            </a:pP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50" spc="-18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program</a:t>
            </a:r>
            <a:r>
              <a:rPr sz="2650" spc="-9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can</a:t>
            </a:r>
            <a:r>
              <a:rPr sz="2650" spc="-9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still</a:t>
            </a:r>
            <a:r>
              <a:rPr sz="265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generate</a:t>
            </a:r>
            <a:r>
              <a:rPr sz="2650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650" spc="-6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address</a:t>
            </a:r>
            <a:r>
              <a:rPr sz="2650" spc="-8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50" spc="-7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jumps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50" spc="-3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5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OS</a:t>
            </a:r>
            <a:r>
              <a:rPr sz="265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50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other</a:t>
            </a:r>
            <a:r>
              <a:rPr sz="265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user’s</a:t>
            </a:r>
            <a:r>
              <a:rPr sz="2650" spc="-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code</a:t>
            </a:r>
            <a:endParaRPr sz="2650">
              <a:latin typeface="Arial" panose="020B0604020202020204"/>
              <a:cs typeface="Arial" panose="020B0604020202020204"/>
            </a:endParaRPr>
          </a:p>
          <a:p>
            <a:pPr marL="128905" indent="-125095">
              <a:lnSpc>
                <a:spcPct val="100000"/>
              </a:lnSpc>
              <a:spcBef>
                <a:spcPts val="515"/>
              </a:spcBef>
              <a:buSzPct val="96000"/>
              <a:buChar char="•"/>
              <a:tabLst>
                <a:tab pos="128905" algn="l"/>
              </a:tabLst>
            </a:pP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50" spc="-8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need</a:t>
            </a:r>
            <a:r>
              <a:rPr sz="2650" spc="-5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50" spc="-7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i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Protect</a:t>
            </a:r>
            <a:r>
              <a:rPr sz="2650" b="1" i="1" spc="-7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50" spc="-5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code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952231" y="1277111"/>
          <a:ext cx="1355090" cy="4105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0"/>
              </a:tblGrid>
              <a:tr h="502920"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95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91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7145" algn="ctr">
                        <a:lnSpc>
                          <a:spcPct val="100000"/>
                        </a:lnSpc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7145" algn="ctr">
                        <a:lnSpc>
                          <a:spcPct val="100000"/>
                        </a:lnSpc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01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95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 marL="18415" algn="ctr">
                        <a:lnSpc>
                          <a:spcPts val="1800"/>
                        </a:lnSpc>
                      </a:pPr>
                      <a:r>
                        <a:rPr sz="1750" b="1" spc="-10" dirty="0">
                          <a:latin typeface="Arial" panose="020B0604020202020204"/>
                          <a:cs typeface="Arial" panose="020B0604020202020204"/>
                        </a:rPr>
                        <a:t>Operating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19050" algn="ctr">
                        <a:lnSpc>
                          <a:spcPts val="2045"/>
                        </a:lnSpc>
                        <a:spcBef>
                          <a:spcPts val="10"/>
                        </a:spcBef>
                      </a:pPr>
                      <a:r>
                        <a:rPr sz="1750" b="1" spc="-10" dirty="0">
                          <a:latin typeface="Arial" panose="020B0604020202020204"/>
                          <a:cs typeface="Arial" panose="020B0604020202020204"/>
                        </a:rPr>
                        <a:t>System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317220" y="1151627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800K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17220" y="1654593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700K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17220" y="3212062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400K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17220" y="4217886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200K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71482" y="4755857"/>
            <a:ext cx="607060" cy="7626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842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100K</a:t>
            </a:r>
            <a:endParaRPr sz="1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1750" b="1" spc="-50" dirty="0">
                <a:latin typeface="Arial" panose="020B0604020202020204"/>
                <a:cs typeface="Arial" panose="020B0604020202020204"/>
              </a:rPr>
              <a:t>0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5430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14" dirty="0"/>
              <a:t>Requirements:</a:t>
            </a:r>
            <a:r>
              <a:rPr spc="80" dirty="0"/>
              <a:t> </a:t>
            </a:r>
            <a:r>
              <a:rPr spc="60" dirty="0"/>
              <a:t>Protection</a:t>
            </a:r>
            <a:endParaRPr spc="60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88136"/>
            <a:ext cx="8059420" cy="2071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150" marR="662305" indent="-311150">
              <a:lnSpc>
                <a:spcPct val="101000"/>
              </a:lnSpc>
              <a:spcBef>
                <a:spcPts val="95"/>
              </a:spcBef>
              <a:buClr>
                <a:srgbClr val="D34816"/>
              </a:buClr>
              <a:buSzPct val="77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Processes</a:t>
            </a:r>
            <a:r>
              <a:rPr sz="30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should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able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reference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memory 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locations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0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another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30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without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latin typeface="Times New Roman" panose="02020603050405020304"/>
                <a:cs typeface="Times New Roman" panose="02020603050405020304"/>
              </a:rPr>
              <a:t>permission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1785" indent="-311150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77000"/>
              <a:buFont typeface="Webdings" panose="05030102010509060703"/>
              <a:buChar char="●"/>
              <a:tabLst>
                <a:tab pos="311785" algn="l"/>
              </a:tabLst>
            </a:pP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Impossible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check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absolute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addresses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compile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1785" indent="-311150">
              <a:lnSpc>
                <a:spcPct val="100000"/>
              </a:lnSpc>
              <a:spcBef>
                <a:spcPts val="700"/>
              </a:spcBef>
              <a:buClr>
                <a:srgbClr val="D34816"/>
              </a:buClr>
              <a:buSzPct val="77000"/>
              <a:buFont typeface="Webdings" panose="05030102010509060703"/>
              <a:buChar char="●"/>
              <a:tabLst>
                <a:tab pos="311785" algn="l"/>
              </a:tabLst>
            </a:pP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Must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checked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6285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95" dirty="0"/>
              <a:t>Relocation</a:t>
            </a:r>
            <a:r>
              <a:rPr spc="55" dirty="0"/>
              <a:t> </a:t>
            </a:r>
            <a:r>
              <a:rPr spc="185" dirty="0"/>
              <a:t>and</a:t>
            </a:r>
            <a:r>
              <a:rPr spc="70" dirty="0"/>
              <a:t> </a:t>
            </a:r>
            <a:r>
              <a:rPr spc="65" dirty="0"/>
              <a:t>Protection</a:t>
            </a:r>
            <a:endParaRPr spc="65" dirty="0"/>
          </a:p>
        </p:txBody>
      </p:sp>
      <p:sp>
        <p:nvSpPr>
          <p:cNvPr id="3" name="object 3"/>
          <p:cNvSpPr txBox="1"/>
          <p:nvPr/>
        </p:nvSpPr>
        <p:spPr>
          <a:xfrm>
            <a:off x="482548" y="1516338"/>
            <a:ext cx="5550535" cy="469455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64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Solution: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480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200" spc="-204" dirty="0">
                <a:latin typeface="Times New Roman" panose="02020603050405020304"/>
                <a:cs typeface="Times New Roman" panose="02020603050405020304"/>
              </a:rPr>
              <a:t>Base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3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Limit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Registers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65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9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7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scheduled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950" marR="5080" lvl="1" indent="-252095">
              <a:lnSpc>
                <a:spcPct val="100000"/>
              </a:lnSpc>
              <a:spcBef>
                <a:spcPts val="47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950" algn="l"/>
              </a:tabLst>
            </a:pPr>
            <a:r>
              <a:rPr sz="1950" spc="-170" dirty="0">
                <a:latin typeface="Times New Roman" panose="02020603050405020304"/>
                <a:cs typeface="Times New Roman" panose="02020603050405020304"/>
              </a:rPr>
              <a:t>Base</a:t>
            </a:r>
            <a:r>
              <a:rPr sz="19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70" dirty="0">
                <a:latin typeface="Times New Roman" panose="02020603050405020304"/>
                <a:cs typeface="Times New Roman" panose="02020603050405020304"/>
              </a:rPr>
              <a:t>Register</a:t>
            </a:r>
            <a:r>
              <a:rPr sz="19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114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9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loaded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starting</a:t>
            </a:r>
            <a:r>
              <a:rPr sz="2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Partition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615950" marR="470535" lvl="1" indent="-252095">
              <a:lnSpc>
                <a:spcPct val="100000"/>
              </a:lnSpc>
              <a:spcBef>
                <a:spcPts val="43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950" algn="l"/>
              </a:tabLst>
            </a:pPr>
            <a:r>
              <a:rPr sz="1950" spc="-90" dirty="0">
                <a:latin typeface="Times New Roman" panose="02020603050405020304"/>
                <a:cs typeface="Times New Roman" panose="02020603050405020304"/>
              </a:rPr>
              <a:t>Limit</a:t>
            </a:r>
            <a:r>
              <a:rPr sz="19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75" dirty="0">
                <a:latin typeface="Times New Roman" panose="02020603050405020304"/>
                <a:cs typeface="Times New Roman" panose="02020603050405020304"/>
              </a:rPr>
              <a:t>Register</a:t>
            </a:r>
            <a:r>
              <a:rPr sz="19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12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9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loaded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length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4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Partition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lvl="1">
              <a:lnSpc>
                <a:spcPct val="100000"/>
              </a:lnSpc>
              <a:spcBef>
                <a:spcPts val="1205"/>
              </a:spcBef>
              <a:buFont typeface="Webdings" panose="05030102010509060703"/>
              <a:buChar char="●"/>
            </a:pP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Before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referring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4680" marR="559435" lvl="1" indent="-250825">
              <a:lnSpc>
                <a:spcPct val="100000"/>
              </a:lnSpc>
              <a:spcBef>
                <a:spcPts val="475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950" algn="l"/>
              </a:tabLst>
            </a:pPr>
            <a:r>
              <a:rPr sz="2200" spc="-170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50" dirty="0">
                <a:latin typeface="Times New Roman" panose="02020603050405020304"/>
                <a:cs typeface="Times New Roman" panose="02020603050405020304"/>
              </a:rPr>
              <a:t>base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register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contents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generated 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address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615950" lvl="1" indent="-251460">
              <a:lnSpc>
                <a:spcPct val="100000"/>
              </a:lnSpc>
              <a:spcBef>
                <a:spcPts val="50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950" algn="l"/>
              </a:tabLst>
            </a:pPr>
            <a:r>
              <a:rPr sz="1950" spc="-140" dirty="0">
                <a:latin typeface="Times New Roman" panose="02020603050405020304"/>
                <a:cs typeface="Times New Roman" panose="02020603050405020304"/>
              </a:rPr>
              <a:t>Also</a:t>
            </a:r>
            <a:r>
              <a:rPr sz="19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95" dirty="0">
                <a:latin typeface="Times New Roman" panose="02020603050405020304"/>
                <a:cs typeface="Times New Roman" panose="02020603050405020304"/>
              </a:rPr>
              <a:t>check</a:t>
            </a:r>
            <a:r>
              <a:rPr sz="19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110" dirty="0">
                <a:latin typeface="Times New Roman" panose="02020603050405020304"/>
                <a:cs typeface="Times New Roman" panose="02020603050405020304"/>
              </a:rPr>
              <a:t>against</a:t>
            </a:r>
            <a:r>
              <a:rPr sz="19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4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9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95" dirty="0">
                <a:latin typeface="Times New Roman" panose="02020603050405020304"/>
                <a:cs typeface="Times New Roman" panose="02020603050405020304"/>
              </a:rPr>
              <a:t>Limit</a:t>
            </a:r>
            <a:r>
              <a:rPr sz="19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60" dirty="0">
                <a:latin typeface="Times New Roman" panose="02020603050405020304"/>
                <a:cs typeface="Times New Roman" panose="02020603050405020304"/>
              </a:rPr>
              <a:t>register</a:t>
            </a:r>
            <a:r>
              <a:rPr sz="19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6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9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10" dirty="0">
                <a:latin typeface="Times New Roman" panose="02020603050405020304"/>
                <a:cs typeface="Times New Roman" panose="02020603050405020304"/>
              </a:rPr>
              <a:t>protection</a:t>
            </a:r>
            <a:endParaRPr sz="19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269735" y="1784604"/>
            <a:ext cx="3788664" cy="419709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5776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00"/>
              </a:spcBef>
            </a:pPr>
            <a:r>
              <a:rPr sz="4400" spc="165" dirty="0"/>
              <a:t>Hardware</a:t>
            </a:r>
            <a:r>
              <a:rPr sz="4400" spc="60" dirty="0"/>
              <a:t> </a:t>
            </a:r>
            <a:r>
              <a:rPr sz="4400" spc="55" dirty="0"/>
              <a:t>Address</a:t>
            </a:r>
            <a:r>
              <a:rPr sz="4400" spc="90" dirty="0"/>
              <a:t> </a:t>
            </a:r>
            <a:r>
              <a:rPr sz="4400" spc="75" dirty="0"/>
              <a:t>Protection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8022335" y="5650991"/>
            <a:ext cx="715010" cy="161925"/>
            <a:chOff x="8022335" y="5650991"/>
            <a:chExt cx="715010" cy="16192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022335" y="5650991"/>
              <a:ext cx="138684" cy="114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3879" y="5650991"/>
              <a:ext cx="94488" cy="1188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9703" y="5650991"/>
              <a:ext cx="140208" cy="114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62771" y="5650991"/>
              <a:ext cx="96012" cy="1188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81643" y="5650991"/>
              <a:ext cx="155448" cy="16154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822191" y="5446776"/>
            <a:ext cx="2321560" cy="428625"/>
            <a:chOff x="3822191" y="5446776"/>
            <a:chExt cx="2321560" cy="42862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03775" y="5457444"/>
              <a:ext cx="156972" cy="1463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0867" y="5457444"/>
              <a:ext cx="454152" cy="1889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22191" y="5446776"/>
              <a:ext cx="1563624" cy="3962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96355" y="5484876"/>
              <a:ext cx="141732" cy="114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408663" y="5686043"/>
              <a:ext cx="18415" cy="155575"/>
            </a:xfrm>
            <a:custGeom>
              <a:avLst/>
              <a:gdLst/>
              <a:ahLst/>
              <a:cxnLst/>
              <a:rect l="l" t="t" r="r" b="b"/>
              <a:pathLst>
                <a:path w="18414" h="155575">
                  <a:moveTo>
                    <a:pt x="18300" y="42684"/>
                  </a:moveTo>
                  <a:lnTo>
                    <a:pt x="0" y="42684"/>
                  </a:lnTo>
                  <a:lnTo>
                    <a:pt x="0" y="155460"/>
                  </a:lnTo>
                  <a:lnTo>
                    <a:pt x="18300" y="155460"/>
                  </a:lnTo>
                  <a:lnTo>
                    <a:pt x="18300" y="42684"/>
                  </a:lnTo>
                  <a:close/>
                </a:path>
                <a:path w="18414" h="155575">
                  <a:moveTo>
                    <a:pt x="1830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8300" y="22860"/>
                  </a:lnTo>
                  <a:lnTo>
                    <a:pt x="18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52871" y="5724144"/>
              <a:ext cx="83820" cy="1173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25667" y="5724144"/>
              <a:ext cx="96012" cy="11887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59551" y="5724144"/>
              <a:ext cx="91440" cy="1508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47587" y="5724144"/>
              <a:ext cx="220980" cy="1188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091427" y="5724144"/>
              <a:ext cx="52069" cy="117475"/>
            </a:xfrm>
            <a:custGeom>
              <a:avLst/>
              <a:gdLst/>
              <a:ahLst/>
              <a:cxnLst/>
              <a:rect l="l" t="t" r="r" b="b"/>
              <a:pathLst>
                <a:path w="52070" h="117475">
                  <a:moveTo>
                    <a:pt x="33458" y="24384"/>
                  </a:moveTo>
                  <a:lnTo>
                    <a:pt x="16764" y="24384"/>
                  </a:lnTo>
                  <a:lnTo>
                    <a:pt x="22169" y="14144"/>
                  </a:lnTo>
                  <a:lnTo>
                    <a:pt x="29146" y="6477"/>
                  </a:lnTo>
                  <a:lnTo>
                    <a:pt x="37552" y="1666"/>
                  </a:lnTo>
                  <a:lnTo>
                    <a:pt x="47244" y="0"/>
                  </a:lnTo>
                  <a:lnTo>
                    <a:pt x="48768" y="0"/>
                  </a:lnTo>
                  <a:lnTo>
                    <a:pt x="50292" y="1524"/>
                  </a:lnTo>
                  <a:lnTo>
                    <a:pt x="51816" y="1524"/>
                  </a:lnTo>
                  <a:lnTo>
                    <a:pt x="51816" y="21336"/>
                  </a:lnTo>
                  <a:lnTo>
                    <a:pt x="45720" y="21336"/>
                  </a:lnTo>
                  <a:lnTo>
                    <a:pt x="34361" y="23717"/>
                  </a:lnTo>
                  <a:lnTo>
                    <a:pt x="33458" y="24384"/>
                  </a:lnTo>
                  <a:close/>
                </a:path>
                <a:path w="52070" h="117475">
                  <a:moveTo>
                    <a:pt x="18288" y="117348"/>
                  </a:moveTo>
                  <a:lnTo>
                    <a:pt x="0" y="117348"/>
                  </a:lnTo>
                  <a:lnTo>
                    <a:pt x="0" y="4572"/>
                  </a:lnTo>
                  <a:lnTo>
                    <a:pt x="16764" y="4572"/>
                  </a:lnTo>
                  <a:lnTo>
                    <a:pt x="16764" y="24384"/>
                  </a:lnTo>
                  <a:lnTo>
                    <a:pt x="33458" y="24384"/>
                  </a:lnTo>
                  <a:lnTo>
                    <a:pt x="25717" y="30099"/>
                  </a:lnTo>
                  <a:lnTo>
                    <a:pt x="20216" y="39338"/>
                  </a:lnTo>
                  <a:lnTo>
                    <a:pt x="18288" y="50292"/>
                  </a:lnTo>
                  <a:lnTo>
                    <a:pt x="18288" y="117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1148333" y="2222753"/>
            <a:ext cx="7767955" cy="3287395"/>
            <a:chOff x="1148333" y="2222753"/>
            <a:chExt cx="7767955" cy="3287395"/>
          </a:xfrm>
        </p:grpSpPr>
        <p:sp>
          <p:nvSpPr>
            <p:cNvPr id="21" name="object 21"/>
            <p:cNvSpPr/>
            <p:nvPr/>
          </p:nvSpPr>
          <p:spPr>
            <a:xfrm>
              <a:off x="2302763" y="3986783"/>
              <a:ext cx="5408930" cy="0"/>
            </a:xfrm>
            <a:custGeom>
              <a:avLst/>
              <a:gdLst/>
              <a:ahLst/>
              <a:cxnLst/>
              <a:rect l="l" t="t" r="r" b="b"/>
              <a:pathLst>
                <a:path w="5408930">
                  <a:moveTo>
                    <a:pt x="0" y="0"/>
                  </a:moveTo>
                  <a:lnTo>
                    <a:pt x="0" y="0"/>
                  </a:lnTo>
                  <a:lnTo>
                    <a:pt x="917447" y="0"/>
                  </a:lnTo>
                </a:path>
                <a:path w="5408930">
                  <a:moveTo>
                    <a:pt x="2136648" y="0"/>
                  </a:moveTo>
                  <a:lnTo>
                    <a:pt x="2136648" y="0"/>
                  </a:lnTo>
                  <a:lnTo>
                    <a:pt x="3118104" y="0"/>
                  </a:lnTo>
                </a:path>
                <a:path w="5408930">
                  <a:moveTo>
                    <a:pt x="4369308" y="0"/>
                  </a:moveTo>
                  <a:lnTo>
                    <a:pt x="4369308" y="0"/>
                  </a:lnTo>
                  <a:lnTo>
                    <a:pt x="5408676" y="0"/>
                  </a:lnTo>
                </a:path>
              </a:pathLst>
            </a:custGeom>
            <a:ln w="21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086855" y="2711196"/>
              <a:ext cx="0" cy="896619"/>
            </a:xfrm>
            <a:custGeom>
              <a:avLst/>
              <a:gdLst/>
              <a:ahLst/>
              <a:cxnLst/>
              <a:rect l="l" t="t" r="r" b="b"/>
              <a:pathLst>
                <a:path h="896620">
                  <a:moveTo>
                    <a:pt x="0" y="0"/>
                  </a:moveTo>
                  <a:lnTo>
                    <a:pt x="0" y="896112"/>
                  </a:lnTo>
                </a:path>
              </a:pathLst>
            </a:custGeom>
            <a:ln w="21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086855" y="4229100"/>
              <a:ext cx="0" cy="954405"/>
            </a:xfrm>
            <a:custGeom>
              <a:avLst/>
              <a:gdLst/>
              <a:ahLst/>
              <a:cxnLst/>
              <a:rect l="l" t="t" r="r" b="b"/>
              <a:pathLst>
                <a:path h="954404">
                  <a:moveTo>
                    <a:pt x="0" y="0"/>
                  </a:moveTo>
                  <a:lnTo>
                    <a:pt x="0" y="0"/>
                  </a:lnTo>
                  <a:lnTo>
                    <a:pt x="0" y="954024"/>
                  </a:lnTo>
                </a:path>
              </a:pathLst>
            </a:custGeom>
            <a:ln w="21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866388" y="2711196"/>
              <a:ext cx="0" cy="906780"/>
            </a:xfrm>
            <a:custGeom>
              <a:avLst/>
              <a:gdLst/>
              <a:ahLst/>
              <a:cxnLst/>
              <a:rect l="l" t="t" r="r" b="b"/>
              <a:pathLst>
                <a:path h="906779">
                  <a:moveTo>
                    <a:pt x="0" y="0"/>
                  </a:moveTo>
                  <a:lnTo>
                    <a:pt x="0" y="906779"/>
                  </a:lnTo>
                </a:path>
              </a:pathLst>
            </a:custGeom>
            <a:ln w="21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866388" y="4229100"/>
              <a:ext cx="0" cy="949960"/>
            </a:xfrm>
            <a:custGeom>
              <a:avLst/>
              <a:gdLst/>
              <a:ahLst/>
              <a:cxnLst/>
              <a:rect l="l" t="t" r="r" b="b"/>
              <a:pathLst>
                <a:path h="949960">
                  <a:moveTo>
                    <a:pt x="0" y="0"/>
                  </a:moveTo>
                  <a:lnTo>
                    <a:pt x="0" y="0"/>
                  </a:lnTo>
                  <a:lnTo>
                    <a:pt x="0" y="949452"/>
                  </a:lnTo>
                </a:path>
              </a:pathLst>
            </a:custGeom>
            <a:ln w="21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53667" y="3733800"/>
              <a:ext cx="1149350" cy="481965"/>
            </a:xfrm>
            <a:custGeom>
              <a:avLst/>
              <a:gdLst/>
              <a:ahLst/>
              <a:cxnLst/>
              <a:rect l="l" t="t" r="r" b="b"/>
              <a:pathLst>
                <a:path w="1149350" h="481964">
                  <a:moveTo>
                    <a:pt x="1149095" y="481584"/>
                  </a:moveTo>
                  <a:lnTo>
                    <a:pt x="0" y="481584"/>
                  </a:lnTo>
                  <a:lnTo>
                    <a:pt x="0" y="0"/>
                  </a:lnTo>
                  <a:lnTo>
                    <a:pt x="1149095" y="0"/>
                  </a:lnTo>
                  <a:lnTo>
                    <a:pt x="1149095" y="481584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153667" y="3733800"/>
              <a:ext cx="1149350" cy="481965"/>
            </a:xfrm>
            <a:custGeom>
              <a:avLst/>
              <a:gdLst/>
              <a:ahLst/>
              <a:cxnLst/>
              <a:rect l="l" t="t" r="r" b="b"/>
              <a:pathLst>
                <a:path w="1149350" h="481964">
                  <a:moveTo>
                    <a:pt x="0" y="481584"/>
                  </a:moveTo>
                  <a:lnTo>
                    <a:pt x="1149095" y="481584"/>
                  </a:lnTo>
                  <a:lnTo>
                    <a:pt x="1149095" y="0"/>
                  </a:lnTo>
                  <a:lnTo>
                    <a:pt x="0" y="0"/>
                  </a:lnTo>
                  <a:lnTo>
                    <a:pt x="0" y="481584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772400" y="2228087"/>
              <a:ext cx="1138555" cy="3276600"/>
            </a:xfrm>
            <a:custGeom>
              <a:avLst/>
              <a:gdLst/>
              <a:ahLst/>
              <a:cxnLst/>
              <a:rect l="l" t="t" r="r" b="b"/>
              <a:pathLst>
                <a:path w="1138554" h="3276600">
                  <a:moveTo>
                    <a:pt x="0" y="3276600"/>
                  </a:moveTo>
                  <a:lnTo>
                    <a:pt x="1138428" y="3276600"/>
                  </a:lnTo>
                  <a:lnTo>
                    <a:pt x="1138428" y="0"/>
                  </a:lnTo>
                  <a:lnTo>
                    <a:pt x="0" y="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CAED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772400" y="2228087"/>
              <a:ext cx="1138555" cy="3276600"/>
            </a:xfrm>
            <a:custGeom>
              <a:avLst/>
              <a:gdLst/>
              <a:ahLst/>
              <a:cxnLst/>
              <a:rect l="l" t="t" r="r" b="b"/>
              <a:pathLst>
                <a:path w="1138554" h="3276600">
                  <a:moveTo>
                    <a:pt x="0" y="3276600"/>
                  </a:moveTo>
                  <a:lnTo>
                    <a:pt x="1138428" y="3276600"/>
                  </a:lnTo>
                </a:path>
                <a:path w="1138554" h="3276600">
                  <a:moveTo>
                    <a:pt x="1138428" y="0"/>
                  </a:moveTo>
                  <a:lnTo>
                    <a:pt x="0" y="0"/>
                  </a:lnTo>
                  <a:lnTo>
                    <a:pt x="0" y="327660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506212" y="2228088"/>
              <a:ext cx="1149350" cy="483234"/>
            </a:xfrm>
            <a:custGeom>
              <a:avLst/>
              <a:gdLst/>
              <a:ahLst/>
              <a:cxnLst/>
              <a:rect l="l" t="t" r="r" b="b"/>
              <a:pathLst>
                <a:path w="1149350" h="483235">
                  <a:moveTo>
                    <a:pt x="1149095" y="483107"/>
                  </a:moveTo>
                  <a:lnTo>
                    <a:pt x="0" y="483107"/>
                  </a:lnTo>
                  <a:lnTo>
                    <a:pt x="0" y="0"/>
                  </a:lnTo>
                  <a:lnTo>
                    <a:pt x="1149095" y="0"/>
                  </a:lnTo>
                  <a:lnTo>
                    <a:pt x="1149095" y="483107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506212" y="2228088"/>
              <a:ext cx="1149350" cy="483234"/>
            </a:xfrm>
            <a:custGeom>
              <a:avLst/>
              <a:gdLst/>
              <a:ahLst/>
              <a:cxnLst/>
              <a:rect l="l" t="t" r="r" b="b"/>
              <a:pathLst>
                <a:path w="1149350" h="483235">
                  <a:moveTo>
                    <a:pt x="0" y="483107"/>
                  </a:moveTo>
                  <a:lnTo>
                    <a:pt x="1149095" y="483107"/>
                  </a:lnTo>
                  <a:lnTo>
                    <a:pt x="1149095" y="0"/>
                  </a:lnTo>
                  <a:lnTo>
                    <a:pt x="0" y="0"/>
                  </a:lnTo>
                  <a:lnTo>
                    <a:pt x="0" y="483107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296411" y="2228088"/>
              <a:ext cx="1149350" cy="483234"/>
            </a:xfrm>
            <a:custGeom>
              <a:avLst/>
              <a:gdLst/>
              <a:ahLst/>
              <a:cxnLst/>
              <a:rect l="l" t="t" r="r" b="b"/>
              <a:pathLst>
                <a:path w="1149350" h="483235">
                  <a:moveTo>
                    <a:pt x="1149096" y="483107"/>
                  </a:moveTo>
                  <a:lnTo>
                    <a:pt x="0" y="483107"/>
                  </a:lnTo>
                  <a:lnTo>
                    <a:pt x="0" y="0"/>
                  </a:lnTo>
                  <a:lnTo>
                    <a:pt x="1149096" y="0"/>
                  </a:lnTo>
                  <a:lnTo>
                    <a:pt x="1149096" y="483107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296411" y="2228088"/>
              <a:ext cx="1149350" cy="483234"/>
            </a:xfrm>
            <a:custGeom>
              <a:avLst/>
              <a:gdLst/>
              <a:ahLst/>
              <a:cxnLst/>
              <a:rect l="l" t="t" r="r" b="b"/>
              <a:pathLst>
                <a:path w="1149350" h="483235">
                  <a:moveTo>
                    <a:pt x="0" y="483107"/>
                  </a:moveTo>
                  <a:lnTo>
                    <a:pt x="1149096" y="483107"/>
                  </a:lnTo>
                  <a:lnTo>
                    <a:pt x="1149096" y="0"/>
                  </a:lnTo>
                  <a:lnTo>
                    <a:pt x="0" y="0"/>
                  </a:lnTo>
                  <a:lnTo>
                    <a:pt x="0" y="483107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267455" y="3686555"/>
              <a:ext cx="1198245" cy="577850"/>
            </a:xfrm>
            <a:custGeom>
              <a:avLst/>
              <a:gdLst/>
              <a:ahLst/>
              <a:cxnLst/>
              <a:rect l="l" t="t" r="r" b="b"/>
              <a:pathLst>
                <a:path w="1198245" h="577850">
                  <a:moveTo>
                    <a:pt x="598931" y="577595"/>
                  </a:moveTo>
                  <a:lnTo>
                    <a:pt x="0" y="300227"/>
                  </a:lnTo>
                  <a:lnTo>
                    <a:pt x="598931" y="0"/>
                  </a:lnTo>
                  <a:lnTo>
                    <a:pt x="1197864" y="300227"/>
                  </a:lnTo>
                  <a:lnTo>
                    <a:pt x="598931" y="577595"/>
                  </a:lnTo>
                  <a:close/>
                </a:path>
              </a:pathLst>
            </a:custGeom>
            <a:solidFill>
              <a:srgbClr val="CAED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267455" y="3686555"/>
              <a:ext cx="1198245" cy="577850"/>
            </a:xfrm>
            <a:custGeom>
              <a:avLst/>
              <a:gdLst/>
              <a:ahLst/>
              <a:cxnLst/>
              <a:rect l="l" t="t" r="r" b="b"/>
              <a:pathLst>
                <a:path w="1198245" h="577850">
                  <a:moveTo>
                    <a:pt x="0" y="300227"/>
                  </a:moveTo>
                  <a:lnTo>
                    <a:pt x="598931" y="0"/>
                  </a:lnTo>
                  <a:lnTo>
                    <a:pt x="1197864" y="300227"/>
                  </a:lnTo>
                  <a:lnTo>
                    <a:pt x="598931" y="577595"/>
                  </a:lnTo>
                  <a:lnTo>
                    <a:pt x="0" y="300227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486399" y="3686555"/>
              <a:ext cx="1201420" cy="577850"/>
            </a:xfrm>
            <a:custGeom>
              <a:avLst/>
              <a:gdLst/>
              <a:ahLst/>
              <a:cxnLst/>
              <a:rect l="l" t="t" r="r" b="b"/>
              <a:pathLst>
                <a:path w="1201420" h="577850">
                  <a:moveTo>
                    <a:pt x="600455" y="577595"/>
                  </a:moveTo>
                  <a:lnTo>
                    <a:pt x="0" y="300227"/>
                  </a:lnTo>
                  <a:lnTo>
                    <a:pt x="600455" y="0"/>
                  </a:lnTo>
                  <a:lnTo>
                    <a:pt x="1200912" y="300227"/>
                  </a:lnTo>
                  <a:lnTo>
                    <a:pt x="600455" y="577595"/>
                  </a:lnTo>
                  <a:close/>
                </a:path>
              </a:pathLst>
            </a:custGeom>
            <a:solidFill>
              <a:srgbClr val="CAED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486399" y="3686555"/>
              <a:ext cx="1201420" cy="577850"/>
            </a:xfrm>
            <a:custGeom>
              <a:avLst/>
              <a:gdLst/>
              <a:ahLst/>
              <a:cxnLst/>
              <a:rect l="l" t="t" r="r" b="b"/>
              <a:pathLst>
                <a:path w="1201420" h="577850">
                  <a:moveTo>
                    <a:pt x="0" y="300227"/>
                  </a:moveTo>
                  <a:lnTo>
                    <a:pt x="600455" y="0"/>
                  </a:lnTo>
                  <a:lnTo>
                    <a:pt x="1200912" y="300227"/>
                  </a:lnTo>
                  <a:lnTo>
                    <a:pt x="600455" y="577595"/>
                  </a:lnTo>
                  <a:lnTo>
                    <a:pt x="0" y="300227"/>
                  </a:lnTo>
                  <a:close/>
                </a:path>
              </a:pathLst>
            </a:custGeom>
            <a:ln w="10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65219" y="2391156"/>
              <a:ext cx="414528" cy="15697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20111" y="3707891"/>
              <a:ext cx="204216" cy="15697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44139" y="3707891"/>
              <a:ext cx="91440" cy="15697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63011" y="3745991"/>
              <a:ext cx="356615" cy="11887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75119" y="3745991"/>
              <a:ext cx="298704" cy="16306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66843" y="3745991"/>
              <a:ext cx="300227" cy="16306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07251" y="4364736"/>
              <a:ext cx="83820" cy="11734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12407" y="4364736"/>
              <a:ext cx="97536" cy="11887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973067" y="4364736"/>
              <a:ext cx="85344" cy="11734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078223" y="4364736"/>
              <a:ext cx="97536" cy="11887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25523" y="3892295"/>
              <a:ext cx="126492" cy="16306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77923" y="3896867"/>
              <a:ext cx="106680" cy="15544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12035" y="3896867"/>
              <a:ext cx="111251" cy="15849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556504" y="2391156"/>
              <a:ext cx="416052" cy="15697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060935" y="2391155"/>
              <a:ext cx="274955" cy="155575"/>
            </a:xfrm>
            <a:custGeom>
              <a:avLst/>
              <a:gdLst/>
              <a:ahLst/>
              <a:cxnLst/>
              <a:rect l="l" t="t" r="r" b="b"/>
              <a:pathLst>
                <a:path w="274954" h="155575">
                  <a:moveTo>
                    <a:pt x="117348" y="79248"/>
                  </a:moveTo>
                  <a:lnTo>
                    <a:pt x="64008" y="79248"/>
                  </a:lnTo>
                  <a:lnTo>
                    <a:pt x="64008" y="20828"/>
                  </a:lnTo>
                  <a:lnTo>
                    <a:pt x="53340" y="20828"/>
                  </a:lnTo>
                  <a:lnTo>
                    <a:pt x="53340" y="79248"/>
                  </a:lnTo>
                  <a:lnTo>
                    <a:pt x="0" y="79248"/>
                  </a:lnTo>
                  <a:lnTo>
                    <a:pt x="0" y="89408"/>
                  </a:lnTo>
                  <a:lnTo>
                    <a:pt x="53340" y="89408"/>
                  </a:lnTo>
                  <a:lnTo>
                    <a:pt x="53340" y="147828"/>
                  </a:lnTo>
                  <a:lnTo>
                    <a:pt x="64008" y="147828"/>
                  </a:lnTo>
                  <a:lnTo>
                    <a:pt x="64008" y="89408"/>
                  </a:lnTo>
                  <a:lnTo>
                    <a:pt x="117348" y="89408"/>
                  </a:lnTo>
                  <a:lnTo>
                    <a:pt x="117348" y="79248"/>
                  </a:lnTo>
                  <a:close/>
                </a:path>
                <a:path w="274954" h="155575">
                  <a:moveTo>
                    <a:pt x="230136" y="0"/>
                  </a:moveTo>
                  <a:lnTo>
                    <a:pt x="213372" y="0"/>
                  </a:lnTo>
                  <a:lnTo>
                    <a:pt x="213372" y="155448"/>
                  </a:lnTo>
                  <a:lnTo>
                    <a:pt x="230136" y="155448"/>
                  </a:lnTo>
                  <a:lnTo>
                    <a:pt x="230136" y="0"/>
                  </a:lnTo>
                  <a:close/>
                </a:path>
                <a:path w="274954" h="155575">
                  <a:moveTo>
                    <a:pt x="274332" y="41148"/>
                  </a:moveTo>
                  <a:lnTo>
                    <a:pt x="257556" y="41148"/>
                  </a:lnTo>
                  <a:lnTo>
                    <a:pt x="257556" y="155460"/>
                  </a:lnTo>
                  <a:lnTo>
                    <a:pt x="274332" y="155460"/>
                  </a:lnTo>
                  <a:lnTo>
                    <a:pt x="274332" y="41148"/>
                  </a:lnTo>
                  <a:close/>
                </a:path>
                <a:path w="274954" h="155575">
                  <a:moveTo>
                    <a:pt x="274332" y="0"/>
                  </a:moveTo>
                  <a:lnTo>
                    <a:pt x="257556" y="0"/>
                  </a:lnTo>
                  <a:lnTo>
                    <a:pt x="257556" y="21336"/>
                  </a:lnTo>
                  <a:lnTo>
                    <a:pt x="274332" y="21336"/>
                  </a:lnTo>
                  <a:lnTo>
                    <a:pt x="2743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362699" y="2430780"/>
              <a:ext cx="140208" cy="11582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530339" y="2391156"/>
              <a:ext cx="82296" cy="15544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16095" y="3913632"/>
              <a:ext cx="99060" cy="13868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038087" y="3945636"/>
              <a:ext cx="96012" cy="10363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162300" y="3575303"/>
              <a:ext cx="4610100" cy="1671955"/>
            </a:xfrm>
            <a:custGeom>
              <a:avLst/>
              <a:gdLst/>
              <a:ahLst/>
              <a:cxnLst/>
              <a:rect l="l" t="t" r="r" b="b"/>
              <a:pathLst>
                <a:path w="4610100" h="1671954">
                  <a:moveTo>
                    <a:pt x="105156" y="411480"/>
                  </a:moveTo>
                  <a:lnTo>
                    <a:pt x="0" y="364236"/>
                  </a:lnTo>
                  <a:lnTo>
                    <a:pt x="18288" y="411480"/>
                  </a:lnTo>
                  <a:lnTo>
                    <a:pt x="0" y="458724"/>
                  </a:lnTo>
                  <a:lnTo>
                    <a:pt x="105156" y="411480"/>
                  </a:lnTo>
                  <a:close/>
                </a:path>
                <a:path w="4610100" h="1671954">
                  <a:moveTo>
                    <a:pt x="746760" y="1562100"/>
                  </a:moveTo>
                  <a:lnTo>
                    <a:pt x="704088" y="1581924"/>
                  </a:lnTo>
                  <a:lnTo>
                    <a:pt x="659892" y="1562100"/>
                  </a:lnTo>
                  <a:lnTo>
                    <a:pt x="704088" y="1671828"/>
                  </a:lnTo>
                  <a:lnTo>
                    <a:pt x="746760" y="1562100"/>
                  </a:lnTo>
                  <a:close/>
                </a:path>
                <a:path w="4610100" h="1671954">
                  <a:moveTo>
                    <a:pt x="746760" y="0"/>
                  </a:moveTo>
                  <a:lnTo>
                    <a:pt x="704088" y="19812"/>
                  </a:lnTo>
                  <a:lnTo>
                    <a:pt x="659892" y="0"/>
                  </a:lnTo>
                  <a:lnTo>
                    <a:pt x="704088" y="111252"/>
                  </a:lnTo>
                  <a:lnTo>
                    <a:pt x="746760" y="0"/>
                  </a:lnTo>
                  <a:close/>
                </a:path>
                <a:path w="4610100" h="1671954">
                  <a:moveTo>
                    <a:pt x="2324100" y="411480"/>
                  </a:moveTo>
                  <a:lnTo>
                    <a:pt x="2221992" y="364236"/>
                  </a:lnTo>
                  <a:lnTo>
                    <a:pt x="2240280" y="411480"/>
                  </a:lnTo>
                  <a:lnTo>
                    <a:pt x="2221992" y="458724"/>
                  </a:lnTo>
                  <a:lnTo>
                    <a:pt x="2324100" y="411480"/>
                  </a:lnTo>
                  <a:close/>
                </a:path>
                <a:path w="4610100" h="1671954">
                  <a:moveTo>
                    <a:pt x="2967228" y="1562100"/>
                  </a:moveTo>
                  <a:lnTo>
                    <a:pt x="2924556" y="1581924"/>
                  </a:lnTo>
                  <a:lnTo>
                    <a:pt x="2881871" y="1562100"/>
                  </a:lnTo>
                  <a:lnTo>
                    <a:pt x="2924556" y="1671828"/>
                  </a:lnTo>
                  <a:lnTo>
                    <a:pt x="2967228" y="1562100"/>
                  </a:lnTo>
                  <a:close/>
                </a:path>
                <a:path w="4610100" h="1671954">
                  <a:moveTo>
                    <a:pt x="2967228" y="0"/>
                  </a:moveTo>
                  <a:lnTo>
                    <a:pt x="2924556" y="19812"/>
                  </a:lnTo>
                  <a:lnTo>
                    <a:pt x="2881871" y="0"/>
                  </a:lnTo>
                  <a:lnTo>
                    <a:pt x="2924556" y="111252"/>
                  </a:lnTo>
                  <a:lnTo>
                    <a:pt x="2967228" y="0"/>
                  </a:lnTo>
                  <a:close/>
                </a:path>
                <a:path w="4610100" h="1671954">
                  <a:moveTo>
                    <a:pt x="4610100" y="411480"/>
                  </a:moveTo>
                  <a:lnTo>
                    <a:pt x="4507992" y="364236"/>
                  </a:lnTo>
                  <a:lnTo>
                    <a:pt x="4526280" y="411480"/>
                  </a:lnTo>
                  <a:lnTo>
                    <a:pt x="4507992" y="458724"/>
                  </a:lnTo>
                  <a:lnTo>
                    <a:pt x="4610100" y="4114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0" name="object 60"/>
          <p:cNvSpPr txBox="1"/>
          <p:nvPr/>
        </p:nvSpPr>
        <p:spPr>
          <a:xfrm>
            <a:off x="284479" y="7077995"/>
            <a:ext cx="2552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12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345" y="313690"/>
            <a:ext cx="900874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65" dirty="0"/>
              <a:t>Memory-</a:t>
            </a:r>
            <a:r>
              <a:rPr sz="3600" spc="245" dirty="0"/>
              <a:t>Management</a:t>
            </a:r>
            <a:r>
              <a:rPr sz="3600" spc="80" dirty="0"/>
              <a:t> </a:t>
            </a:r>
            <a:r>
              <a:rPr sz="3600" spc="95" dirty="0"/>
              <a:t>Unit</a:t>
            </a:r>
            <a:r>
              <a:rPr sz="3600" spc="135" dirty="0"/>
              <a:t> </a:t>
            </a:r>
            <a:r>
              <a:rPr sz="3600" spc="185" dirty="0"/>
              <a:t>(</a:t>
            </a:r>
            <a:r>
              <a:rPr sz="2400" spc="185" dirty="0"/>
              <a:t>MMU</a:t>
            </a:r>
            <a:r>
              <a:rPr sz="3600" spc="185" dirty="0"/>
              <a:t>)</a:t>
            </a:r>
            <a:endParaRPr sz="3600" spc="185" dirty="0"/>
          </a:p>
        </p:txBody>
      </p:sp>
      <p:sp>
        <p:nvSpPr>
          <p:cNvPr id="3" name="object 3"/>
          <p:cNvSpPr txBox="1"/>
          <p:nvPr/>
        </p:nvSpPr>
        <p:spPr>
          <a:xfrm>
            <a:off x="444563" y="1191390"/>
            <a:ext cx="9072245" cy="541274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75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Hardware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device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maps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virtual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physical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address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64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spc="-240" dirty="0">
                <a:latin typeface="Times New Roman" panose="02020603050405020304"/>
                <a:cs typeface="Times New Roman" panose="02020603050405020304"/>
              </a:rPr>
              <a:t>Many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methods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possible,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covered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rest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chapter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marR="5080" indent="-300355">
              <a:lnSpc>
                <a:spcPts val="3170"/>
              </a:lnSpc>
              <a:spcBef>
                <a:spcPts val="76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spc="-30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start,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consider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simple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scheme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where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relocation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register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added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every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generated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sent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3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245" dirty="0">
                <a:latin typeface="Times New Roman" panose="02020603050405020304"/>
                <a:cs typeface="Times New Roman" panose="02020603050405020304"/>
              </a:rPr>
              <a:t>Base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register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now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called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relocation</a:t>
            </a:r>
            <a:r>
              <a:rPr sz="2650" b="1" spc="-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register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265" dirty="0">
                <a:latin typeface="Times New Roman" panose="02020603050405020304"/>
                <a:cs typeface="Times New Roman" panose="02020603050405020304"/>
              </a:rPr>
              <a:t>MS-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DOS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Intel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80x86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relocation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registers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ts val="3175"/>
              </a:lnSpc>
              <a:spcBef>
                <a:spcPts val="65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deals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i="1" spc="-254" dirty="0">
                <a:latin typeface="Times New Roman" panose="02020603050405020304"/>
                <a:cs typeface="Times New Roman" panose="02020603050405020304"/>
              </a:rPr>
              <a:t>logical</a:t>
            </a:r>
            <a:r>
              <a:rPr sz="2650" i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addresses;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never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sees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i="1" spc="-295" dirty="0">
                <a:latin typeface="Times New Roman" panose="02020603050405020304"/>
                <a:cs typeface="Times New Roman" panose="02020603050405020304"/>
              </a:rPr>
              <a:t>real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>
              <a:lnSpc>
                <a:spcPts val="3175"/>
              </a:lnSpc>
            </a:pP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physical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addresses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4680" marR="116840" lvl="1" indent="-298450">
              <a:lnSpc>
                <a:spcPts val="3170"/>
              </a:lnSpc>
              <a:spcBef>
                <a:spcPts val="54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950" algn="l"/>
              </a:tabLst>
            </a:pP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Execution-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binding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occurs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reference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made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location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32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Logical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bound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physical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addresses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0247" rIns="0" bIns="0" rtlCol="0">
            <a:spAutoFit/>
          </a:bodyPr>
          <a:lstStyle/>
          <a:p>
            <a:pPr marL="908685">
              <a:lnSpc>
                <a:spcPct val="100000"/>
              </a:lnSpc>
              <a:spcBef>
                <a:spcPts val="90"/>
              </a:spcBef>
            </a:pPr>
            <a:r>
              <a:rPr sz="2650" spc="95" dirty="0"/>
              <a:t>Hardware</a:t>
            </a:r>
            <a:r>
              <a:rPr sz="2650" spc="45" dirty="0"/>
              <a:t> </a:t>
            </a:r>
            <a:r>
              <a:rPr sz="2650" spc="80" dirty="0"/>
              <a:t>Support</a:t>
            </a:r>
            <a:r>
              <a:rPr sz="2650" spc="30" dirty="0"/>
              <a:t> </a:t>
            </a:r>
            <a:r>
              <a:rPr sz="2650" dirty="0"/>
              <a:t>for</a:t>
            </a:r>
            <a:r>
              <a:rPr sz="2650" spc="55" dirty="0"/>
              <a:t> </a:t>
            </a:r>
            <a:r>
              <a:rPr sz="2650" spc="65" dirty="0"/>
              <a:t>Relocation</a:t>
            </a:r>
            <a:r>
              <a:rPr sz="2650" spc="40" dirty="0"/>
              <a:t> </a:t>
            </a:r>
            <a:r>
              <a:rPr sz="2650" spc="114" dirty="0"/>
              <a:t>and</a:t>
            </a:r>
            <a:r>
              <a:rPr sz="2650" spc="80" dirty="0"/>
              <a:t> </a:t>
            </a:r>
            <a:r>
              <a:rPr sz="2650" spc="50" dirty="0"/>
              <a:t>Limit</a:t>
            </a:r>
            <a:r>
              <a:rPr sz="2650" spc="60" dirty="0"/>
              <a:t> </a:t>
            </a:r>
            <a:r>
              <a:rPr sz="2650" spc="-10" dirty="0"/>
              <a:t>Registers</a:t>
            </a:r>
            <a:endParaRPr sz="265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21764" y="2482595"/>
            <a:ext cx="6429755" cy="31612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470" y="381635"/>
            <a:ext cx="8907780" cy="621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45" dirty="0"/>
              <a:t>Logical</a:t>
            </a:r>
            <a:r>
              <a:rPr sz="3950" spc="135" dirty="0"/>
              <a:t> </a:t>
            </a:r>
            <a:r>
              <a:rPr sz="3950" dirty="0"/>
              <a:t>vs.</a:t>
            </a:r>
            <a:r>
              <a:rPr sz="3950" spc="90" dirty="0"/>
              <a:t> </a:t>
            </a:r>
            <a:r>
              <a:rPr sz="3950" spc="45" dirty="0"/>
              <a:t>Physical</a:t>
            </a:r>
            <a:r>
              <a:rPr sz="3950" spc="95" dirty="0"/>
              <a:t> </a:t>
            </a:r>
            <a:r>
              <a:rPr sz="3950" spc="50" dirty="0"/>
              <a:t>Address</a:t>
            </a:r>
            <a:r>
              <a:rPr sz="3950" spc="114" dirty="0"/>
              <a:t> </a:t>
            </a:r>
            <a:r>
              <a:rPr sz="3950" spc="135" dirty="0"/>
              <a:t>Space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523742" y="1262877"/>
            <a:ext cx="9170035" cy="5216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2420" indent="-299720">
              <a:lnSpc>
                <a:spcPts val="3175"/>
              </a:lnSpc>
              <a:spcBef>
                <a:spcPts val="9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concept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logical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space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bound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separate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>
              <a:lnSpc>
                <a:spcPts val="3175"/>
              </a:lnSpc>
            </a:pPr>
            <a:r>
              <a:rPr sz="2650" b="1" spc="-2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physical</a:t>
            </a:r>
            <a:r>
              <a:rPr sz="2650" b="1" spc="-11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b="1" spc="-4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2650" b="1" spc="-8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b="1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space</a:t>
            </a:r>
            <a:r>
              <a:rPr sz="2650" b="1" spc="-85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central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proper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management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marR="5080" lvl="1" indent="-299085">
              <a:lnSpc>
                <a:spcPts val="3170"/>
              </a:lnSpc>
              <a:spcBef>
                <a:spcPts val="54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950" algn="l"/>
              </a:tabLst>
            </a:pPr>
            <a:r>
              <a:rPr sz="2650" b="1" spc="-35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Logical</a:t>
            </a:r>
            <a:r>
              <a:rPr sz="2650" b="1" spc="-10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b="1" spc="-4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2650" b="1" spc="-8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generated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CPU;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also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referred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29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b="1" spc="-1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virtual address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31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b="1" spc="-5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Physical</a:t>
            </a:r>
            <a:r>
              <a:rPr sz="2650" b="1" spc="-75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b="1" spc="-4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2650" b="1" spc="-65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seen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unit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marR="459105" indent="-300355" algn="just">
              <a:lnSpc>
                <a:spcPts val="3170"/>
              </a:lnSpc>
              <a:spcBef>
                <a:spcPts val="76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Logical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5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physical</a:t>
            </a:r>
            <a:r>
              <a:rPr sz="265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addresses</a:t>
            </a:r>
            <a:r>
              <a:rPr sz="26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same</a:t>
            </a:r>
            <a:r>
              <a:rPr sz="265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6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compile-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5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load-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address-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binding</a:t>
            </a:r>
            <a:r>
              <a:rPr sz="265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schemes;</a:t>
            </a:r>
            <a:r>
              <a:rPr sz="26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logical</a:t>
            </a:r>
            <a:r>
              <a:rPr sz="265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(virtual)</a:t>
            </a:r>
            <a:r>
              <a:rPr sz="26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5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physical</a:t>
            </a:r>
            <a:r>
              <a:rPr sz="265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addresses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differ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6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execution-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address-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binding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scheme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marR="121285" indent="-300355">
              <a:lnSpc>
                <a:spcPts val="3170"/>
              </a:lnSpc>
              <a:spcBef>
                <a:spcPts val="65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b="1" spc="-35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Logical</a:t>
            </a:r>
            <a:r>
              <a:rPr sz="2650" b="1" spc="-55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b="1" spc="-4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2650" b="1" spc="-55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b="1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space</a:t>
            </a:r>
            <a:r>
              <a:rPr sz="2650" b="1" spc="-55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set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logical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addresses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generated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program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marR="1666240" indent="-300355">
              <a:lnSpc>
                <a:spcPts val="3170"/>
              </a:lnSpc>
              <a:spcBef>
                <a:spcPts val="65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b="1" spc="-5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Physical</a:t>
            </a:r>
            <a:r>
              <a:rPr sz="2650" b="1" spc="-9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b="1" spc="-35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address</a:t>
            </a:r>
            <a:r>
              <a:rPr sz="2650" b="1" spc="-7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b="1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space</a:t>
            </a:r>
            <a:r>
              <a:rPr sz="2650" b="1" spc="-80" dirty="0">
                <a:solidFill>
                  <a:srgbClr val="3366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set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physical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addresses corresponding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logical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addressess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30" dirty="0"/>
            </a:fld>
            <a:endParaRPr spc="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775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80" dirty="0"/>
              <a:t> </a:t>
            </a:r>
            <a:r>
              <a:rPr spc="160" dirty="0"/>
              <a:t>Management/Organization</a:t>
            </a:r>
            <a:endParaRPr spc="160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88136"/>
            <a:ext cx="8108950" cy="3546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150" marR="333375" indent="-311150">
              <a:lnSpc>
                <a:spcPct val="101000"/>
              </a:lnSpc>
              <a:spcBef>
                <a:spcPts val="95"/>
              </a:spcBef>
              <a:buClr>
                <a:srgbClr val="D34816"/>
              </a:buClr>
              <a:buSzPct val="77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good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old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days,</a:t>
            </a:r>
            <a:r>
              <a:rPr sz="3050" spc="-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30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30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was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trivial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there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was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only</a:t>
            </a:r>
            <a:r>
              <a:rPr sz="30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latin typeface="Times New Roman" panose="02020603050405020304"/>
                <a:cs typeface="Times New Roman" panose="02020603050405020304"/>
              </a:rPr>
              <a:t>program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51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OS,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eveything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responsibility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program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lvl="1">
              <a:lnSpc>
                <a:spcPct val="100000"/>
              </a:lnSpc>
              <a:spcBef>
                <a:spcPts val="1295"/>
              </a:spcBef>
              <a:buFont typeface="Webdings" panose="05030102010509060703"/>
              <a:buChar char="●"/>
            </a:pP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marR="5080" indent="-311150">
              <a:lnSpc>
                <a:spcPts val="3100"/>
              </a:lnSpc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6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8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75" dirty="0">
                <a:latin typeface="Times New Roman" panose="02020603050405020304"/>
                <a:cs typeface="Times New Roman" panose="02020603050405020304"/>
              </a:rPr>
              <a:t>later</a:t>
            </a:r>
            <a:r>
              <a:rPr sz="28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35" dirty="0">
                <a:latin typeface="Times New Roman" panose="02020603050405020304"/>
                <a:cs typeface="Times New Roman" panose="02020603050405020304"/>
              </a:rPr>
              <a:t>uniprogramming</a:t>
            </a:r>
            <a:r>
              <a:rPr sz="28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0" dirty="0">
                <a:latin typeface="Times New Roman" panose="02020603050405020304"/>
                <a:cs typeface="Times New Roman" panose="02020603050405020304"/>
              </a:rPr>
              <a:t>systems,</a:t>
            </a:r>
            <a:r>
              <a:rPr sz="285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3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8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15" dirty="0">
                <a:latin typeface="Times New Roman" panose="02020603050405020304"/>
                <a:cs typeface="Times New Roman" panose="02020603050405020304"/>
              </a:rPr>
              <a:t>was</a:t>
            </a:r>
            <a:r>
              <a:rPr sz="28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75" dirty="0">
                <a:latin typeface="Times New Roman" panose="02020603050405020304"/>
                <a:cs typeface="Times New Roman" panose="02020603050405020304"/>
              </a:rPr>
              <a:t>shared </a:t>
            </a: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between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17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3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program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17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Operating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287527" y="7077995"/>
            <a:ext cx="24765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21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815" y="372781"/>
            <a:ext cx="3268345" cy="561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Uni-</a:t>
            </a:r>
            <a:r>
              <a:rPr spc="100" dirty="0"/>
              <a:t>programming</a:t>
            </a:r>
            <a:endParaRPr spc="100" dirty="0"/>
          </a:p>
        </p:txBody>
      </p:sp>
      <p:sp>
        <p:nvSpPr>
          <p:cNvPr id="3" name="object 3"/>
          <p:cNvSpPr txBox="1"/>
          <p:nvPr/>
        </p:nvSpPr>
        <p:spPr>
          <a:xfrm>
            <a:off x="590786" y="1786463"/>
            <a:ext cx="4415790" cy="176148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12420" indent="-311150">
              <a:lnSpc>
                <a:spcPct val="100000"/>
              </a:lnSpc>
              <a:spcBef>
                <a:spcPts val="435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6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28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20" dirty="0">
                <a:latin typeface="Times New Roman" panose="02020603050405020304"/>
                <a:cs typeface="Times New Roman" panose="02020603050405020304"/>
              </a:rPr>
              <a:t>just</a:t>
            </a:r>
            <a:r>
              <a:rPr sz="28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3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28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20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28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2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8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3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3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312420" indent="-311150">
              <a:lnSpc>
                <a:spcPct val="100000"/>
              </a:lnSpc>
              <a:spcBef>
                <a:spcPts val="335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7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8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60" dirty="0">
                <a:latin typeface="Times New Roman" panose="02020603050405020304"/>
                <a:cs typeface="Times New Roman" panose="02020603050405020304"/>
              </a:rPr>
              <a:t>shared</a:t>
            </a: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 between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21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3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program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18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Operating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9419" y="3550920"/>
            <a:ext cx="2766060" cy="1257300"/>
          </a:xfrm>
          <a:prstGeom prst="rect">
            <a:avLst/>
          </a:prstGeom>
          <a:ln w="41148">
            <a:solidFill>
              <a:srgbClr val="000000"/>
            </a:solidFill>
          </a:ln>
        </p:spPr>
        <p:txBody>
          <a:bodyPr vert="horz" wrap="square" lIns="0" tIns="221615" rIns="0" bIns="0" rtlCol="0">
            <a:spAutoFit/>
          </a:bodyPr>
          <a:lstStyle/>
          <a:p>
            <a:pPr marL="912495" marR="461010" indent="-195580">
              <a:lnSpc>
                <a:spcPts val="3170"/>
              </a:lnSpc>
              <a:spcBef>
                <a:spcPts val="1745"/>
              </a:spcBef>
            </a:pPr>
            <a:r>
              <a:rPr sz="2650" b="1" spc="-20" dirty="0">
                <a:latin typeface="Arial" panose="020B0604020202020204"/>
                <a:cs typeface="Arial" panose="020B0604020202020204"/>
              </a:rPr>
              <a:t>Operating </a:t>
            </a:r>
            <a:r>
              <a:rPr sz="2650" b="1" spc="-10" dirty="0">
                <a:latin typeface="Arial" panose="020B0604020202020204"/>
                <a:cs typeface="Arial" panose="020B0604020202020204"/>
              </a:rPr>
              <a:t>System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9419" y="1203960"/>
            <a:ext cx="2766060" cy="2346960"/>
          </a:xfrm>
          <a:prstGeom prst="rect">
            <a:avLst/>
          </a:prstGeom>
          <a:ln w="41148">
            <a:solidFill>
              <a:srgbClr val="000000"/>
            </a:solidFill>
          </a:ln>
        </p:spPr>
        <p:txBody>
          <a:bodyPr vert="horz" wrap="square" lIns="0" tIns="3378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60"/>
              </a:spcBef>
            </a:pP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743585" marR="636905" indent="316865">
              <a:lnSpc>
                <a:spcPts val="3170"/>
              </a:lnSpc>
            </a:pPr>
            <a:r>
              <a:rPr sz="2650" b="1" spc="-20" dirty="0">
                <a:latin typeface="Arial" panose="020B0604020202020204"/>
                <a:cs typeface="Arial" panose="020B0604020202020204"/>
              </a:rPr>
              <a:t>User Program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0472" y="4292073"/>
            <a:ext cx="5618480" cy="191770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09220" indent="-106045">
              <a:lnSpc>
                <a:spcPct val="100000"/>
              </a:lnSpc>
              <a:spcBef>
                <a:spcPts val="625"/>
              </a:spcBef>
              <a:buSzPct val="95000"/>
              <a:buChar char="•"/>
              <a:tabLst>
                <a:tab pos="109220" algn="l"/>
              </a:tabLst>
            </a:pP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20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user</a:t>
            </a:r>
            <a:r>
              <a:rPr sz="2200" spc="-7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types</a:t>
            </a:r>
            <a:r>
              <a:rPr sz="22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200" spc="-5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command</a:t>
            </a:r>
            <a:r>
              <a:rPr sz="2200" spc="-4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20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200" spc="-5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prompt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109220" indent="-106045">
              <a:lnSpc>
                <a:spcPct val="100000"/>
              </a:lnSpc>
              <a:spcBef>
                <a:spcPts val="530"/>
              </a:spcBef>
              <a:buSzPct val="95000"/>
              <a:buChar char="•"/>
              <a:tabLst>
                <a:tab pos="109220" algn="l"/>
              </a:tabLst>
            </a:pP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200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OS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514985">
              <a:lnSpc>
                <a:spcPct val="100000"/>
              </a:lnSpc>
              <a:spcBef>
                <a:spcPts val="515"/>
              </a:spcBef>
            </a:pPr>
            <a:r>
              <a:rPr sz="1950" spc="-10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</a:t>
            </a:r>
            <a:r>
              <a:rPr sz="1950" spc="-10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Copies</a:t>
            </a:r>
            <a:r>
              <a:rPr sz="1950" spc="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50" spc="3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program</a:t>
            </a:r>
            <a:r>
              <a:rPr sz="1950" spc="1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1950" spc="4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50" spc="3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disk</a:t>
            </a:r>
            <a:r>
              <a:rPr sz="1950" spc="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950" spc="5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memory</a:t>
            </a:r>
            <a:endParaRPr sz="1950">
              <a:latin typeface="Arial" panose="020B0604020202020204"/>
              <a:cs typeface="Arial" panose="020B0604020202020204"/>
            </a:endParaRPr>
          </a:p>
          <a:p>
            <a:pPr marL="514985">
              <a:lnSpc>
                <a:spcPct val="100000"/>
              </a:lnSpc>
              <a:spcBef>
                <a:spcPts val="515"/>
              </a:spcBef>
            </a:pPr>
            <a:r>
              <a:rPr sz="1950" spc="-8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</a:t>
            </a:r>
            <a:r>
              <a:rPr sz="1950" spc="-8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Executes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the</a:t>
            </a:r>
            <a:r>
              <a:rPr sz="1950" spc="1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program</a:t>
            </a:r>
            <a:endParaRPr sz="1950">
              <a:latin typeface="Arial" panose="020B0604020202020204"/>
              <a:cs typeface="Arial" panose="020B0604020202020204"/>
            </a:endParaRPr>
          </a:p>
          <a:p>
            <a:pPr marL="514985">
              <a:lnSpc>
                <a:spcPct val="100000"/>
              </a:lnSpc>
              <a:spcBef>
                <a:spcPts val="505"/>
              </a:spcBef>
            </a:pPr>
            <a:r>
              <a:rPr sz="1950" spc="-12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</a:t>
            </a:r>
            <a:r>
              <a:rPr sz="1950" spc="-1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After</a:t>
            </a:r>
            <a:r>
              <a:rPr sz="1950" spc="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execution,</a:t>
            </a:r>
            <a:r>
              <a:rPr sz="1950" spc="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prompt</a:t>
            </a:r>
            <a:r>
              <a:rPr sz="1950" spc="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1950" spc="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available</a:t>
            </a:r>
            <a:r>
              <a:rPr sz="1950" spc="3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again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472" y="6250898"/>
            <a:ext cx="836358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220" indent="-106045">
              <a:lnSpc>
                <a:spcPct val="100000"/>
              </a:lnSpc>
              <a:spcBef>
                <a:spcPts val="95"/>
              </a:spcBef>
              <a:buSzPct val="95000"/>
              <a:buChar char="•"/>
              <a:tabLst>
                <a:tab pos="109220" algn="l"/>
              </a:tabLst>
            </a:pP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200" spc="-6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new</a:t>
            </a:r>
            <a:r>
              <a:rPr sz="220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program</a:t>
            </a:r>
            <a:r>
              <a:rPr sz="2200" spc="-7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200" spc="-5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copied</a:t>
            </a:r>
            <a:r>
              <a:rPr sz="220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into</a:t>
            </a:r>
            <a:r>
              <a:rPr sz="2200" spc="-6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RAM,</a:t>
            </a:r>
            <a:r>
              <a:rPr sz="22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overwriting</a:t>
            </a:r>
            <a:r>
              <a:rPr sz="2200" spc="-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200" spc="-6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previous</a:t>
            </a:r>
            <a:r>
              <a:rPr sz="2200" spc="-7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one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2</a:t>
            </a:r>
            <a:r>
              <a:rPr spc="35" dirty="0"/>
              <a:t>2</a:t>
            </a:r>
            <a:endParaRPr spc="3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920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14" dirty="0"/>
              <a:t>Multi-</a:t>
            </a:r>
            <a:r>
              <a:rPr spc="110" dirty="0"/>
              <a:t>programming</a:t>
            </a:r>
            <a:r>
              <a:rPr spc="75" dirty="0"/>
              <a:t> </a:t>
            </a:r>
            <a:r>
              <a:rPr spc="65" dirty="0"/>
              <a:t>systems</a:t>
            </a:r>
            <a:endParaRPr spc="65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12312"/>
            <a:ext cx="8371840" cy="314833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11785" indent="-311150">
              <a:lnSpc>
                <a:spcPct val="100000"/>
              </a:lnSpc>
              <a:spcBef>
                <a:spcPts val="730"/>
              </a:spcBef>
              <a:buClr>
                <a:srgbClr val="D34816"/>
              </a:buClr>
              <a:buSzPct val="77000"/>
              <a:buFont typeface="Webdings" panose="05030102010509060703"/>
              <a:buChar char="●"/>
              <a:tabLst>
                <a:tab pos="311785" algn="l"/>
              </a:tabLst>
            </a:pP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Keep</a:t>
            </a:r>
            <a:r>
              <a:rPr sz="30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0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50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Benefits?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lvl="1">
              <a:lnSpc>
                <a:spcPct val="100000"/>
              </a:lnSpc>
              <a:spcBef>
                <a:spcPts val="1185"/>
              </a:spcBef>
              <a:buClr>
                <a:srgbClr val="9A2D1F"/>
              </a:buClr>
              <a:buFont typeface="Webdings" panose="05030102010509060703"/>
              <a:buChar char="●"/>
            </a:pP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1785" indent="-311150">
              <a:lnSpc>
                <a:spcPct val="100000"/>
              </a:lnSpc>
              <a:buClr>
                <a:srgbClr val="D34816"/>
              </a:buClr>
              <a:buSzPct val="77000"/>
              <a:buFont typeface="Webdings" panose="05030102010509060703"/>
              <a:buChar char="●"/>
              <a:tabLst>
                <a:tab pos="311785" algn="l"/>
              </a:tabLst>
            </a:pP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How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organize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achieve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latin typeface="Times New Roman" panose="02020603050405020304"/>
                <a:cs typeface="Times New Roman" panose="02020603050405020304"/>
              </a:rPr>
              <a:t>this?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45"/>
              </a:spcBef>
              <a:buClr>
                <a:srgbClr val="D34816"/>
              </a:buClr>
              <a:buFont typeface="Webdings" panose="05030102010509060703"/>
              <a:buChar char="●"/>
            </a:pP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1785" indent="-311150">
              <a:lnSpc>
                <a:spcPct val="100000"/>
              </a:lnSpc>
              <a:buClr>
                <a:srgbClr val="D34816"/>
              </a:buClr>
              <a:buSzPct val="77000"/>
              <a:buFont typeface="Webdings" panose="05030102010509060703"/>
              <a:buChar char="●"/>
              <a:tabLst>
                <a:tab pos="311785" algn="l"/>
              </a:tabLst>
            </a:pP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basic</a:t>
            </a: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approach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9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divide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partitions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2</a:t>
            </a:r>
            <a:r>
              <a:rPr spc="35" dirty="0"/>
              <a:t>3</a:t>
            </a:r>
            <a:endParaRPr spc="3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457200" y="381000"/>
            <a:ext cx="10173970" cy="1091565"/>
          </a:xfrm>
          <a:prstGeom prst="rect">
            <a:avLst/>
          </a:prstGeom>
        </p:spPr>
        <p:txBody>
          <a:bodyPr vert="horz" wrap="square" lIns="0" tIns="414974" rIns="0" bIns="0" rtlCol="0">
            <a:spAutoFit/>
          </a:bodyPr>
          <a:lstStyle/>
          <a:p>
            <a:pPr marL="766445">
              <a:lnSpc>
                <a:spcPct val="100000"/>
              </a:lnSpc>
              <a:spcBef>
                <a:spcPts val="100"/>
              </a:spcBef>
            </a:pPr>
            <a:r>
              <a:rPr sz="4400" spc="200" dirty="0"/>
              <a:t>Memory</a:t>
            </a:r>
            <a:r>
              <a:rPr sz="4400" spc="105" dirty="0"/>
              <a:t> </a:t>
            </a:r>
            <a:r>
              <a:rPr sz="4400" spc="60" dirty="0"/>
              <a:t>Allocation</a:t>
            </a:r>
            <a:r>
              <a:rPr sz="4400" spc="70" dirty="0"/>
              <a:t> </a:t>
            </a:r>
            <a:r>
              <a:rPr sz="4400" spc="180" dirty="0"/>
              <a:t>Mechanisms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093655" y="1612312"/>
            <a:ext cx="6652895" cy="296672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11785" indent="-311150">
              <a:lnSpc>
                <a:spcPct val="100000"/>
              </a:lnSpc>
              <a:spcBef>
                <a:spcPts val="730"/>
              </a:spcBef>
              <a:buClr>
                <a:srgbClr val="D34816"/>
              </a:buClr>
              <a:buSzPct val="77000"/>
              <a:buFont typeface="Webdings" panose="05030102010509060703"/>
              <a:buChar char="●"/>
              <a:tabLst>
                <a:tab pos="311785" algn="l"/>
              </a:tabLst>
            </a:pP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Contiguous</a:t>
            </a:r>
            <a:r>
              <a:rPr sz="30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3050" spc="-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Allocation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50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16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Fixed</a:t>
            </a:r>
            <a:r>
              <a:rPr sz="2650" spc="-8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650" spc="-9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Static</a:t>
            </a:r>
            <a:r>
              <a:rPr sz="2650" spc="-7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3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Partitioning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19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2650" spc="-5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3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650" spc="-7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Dynamic</a:t>
            </a:r>
            <a:r>
              <a:rPr sz="2650" spc="-4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3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Partitioning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1785" indent="-311150">
              <a:lnSpc>
                <a:spcPct val="100000"/>
              </a:lnSpc>
              <a:spcBef>
                <a:spcPts val="635"/>
              </a:spcBef>
              <a:buClr>
                <a:srgbClr val="D34816"/>
              </a:buClr>
              <a:buSzPct val="77000"/>
              <a:buFont typeface="Webdings" panose="05030102010509060703"/>
              <a:buChar char="●"/>
              <a:tabLst>
                <a:tab pos="311785" algn="l"/>
              </a:tabLst>
            </a:pP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Non-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Contiguous</a:t>
            </a:r>
            <a:r>
              <a:rPr sz="30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3050" spc="-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40" dirty="0">
                <a:latin typeface="Times New Roman" panose="02020603050405020304"/>
                <a:cs typeface="Times New Roman" panose="02020603050405020304"/>
              </a:rPr>
              <a:t>Allocation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49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16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Fixed</a:t>
            </a:r>
            <a:r>
              <a:rPr sz="2650" spc="-8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650" spc="-8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Static</a:t>
            </a:r>
            <a:r>
              <a:rPr sz="2650" spc="-6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Partitioning</a:t>
            </a:r>
            <a:r>
              <a:rPr sz="2650" spc="-6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5" dirty="0">
                <a:solidFill>
                  <a:srgbClr val="001F60"/>
                </a:solidFill>
                <a:latin typeface="Times New Roman" panose="02020603050405020304"/>
                <a:cs typeface="Times New Roman" panose="02020603050405020304"/>
              </a:rPr>
              <a:t>(Paging)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19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2650" spc="-6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3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650" spc="-7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7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Dynamic</a:t>
            </a:r>
            <a:r>
              <a:rPr sz="2650" spc="-5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Partitioning</a:t>
            </a:r>
            <a:r>
              <a:rPr sz="2650" spc="-4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(Segmentations)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289052" y="7077995"/>
            <a:ext cx="24574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24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920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15"/>
              </a:spcBef>
            </a:pPr>
            <a:r>
              <a:rPr spc="120" dirty="0"/>
              <a:t>Multiprogramming</a:t>
            </a:r>
            <a:r>
              <a:rPr spc="105" dirty="0"/>
              <a:t> </a:t>
            </a:r>
            <a:r>
              <a:rPr spc="90" dirty="0"/>
              <a:t>with</a:t>
            </a:r>
            <a:r>
              <a:rPr spc="80" dirty="0"/>
              <a:t> </a:t>
            </a:r>
            <a:r>
              <a:rPr spc="50" dirty="0"/>
              <a:t>Fixed</a:t>
            </a:r>
            <a:r>
              <a:rPr spc="80" dirty="0"/>
              <a:t> </a:t>
            </a:r>
            <a:r>
              <a:rPr spc="85" dirty="0"/>
              <a:t>Partitions</a:t>
            </a:r>
            <a:endParaRPr spc="85" dirty="0"/>
          </a:p>
        </p:txBody>
      </p:sp>
      <p:grpSp>
        <p:nvGrpSpPr>
          <p:cNvPr id="3" name="object 3"/>
          <p:cNvGrpSpPr/>
          <p:nvPr/>
        </p:nvGrpSpPr>
        <p:grpSpPr>
          <a:xfrm>
            <a:off x="6326123" y="1424076"/>
            <a:ext cx="3573779" cy="5396230"/>
            <a:chOff x="6326123" y="1424076"/>
            <a:chExt cx="3573779" cy="539623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677911" y="1760268"/>
              <a:ext cx="2221487" cy="50596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6123" y="1424076"/>
              <a:ext cx="1321307" cy="449745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7818" y="2744293"/>
            <a:ext cx="7306945" cy="13950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8905" indent="-125095">
              <a:lnSpc>
                <a:spcPct val="100000"/>
              </a:lnSpc>
              <a:spcBef>
                <a:spcPts val="725"/>
              </a:spcBef>
              <a:buSzPct val="96000"/>
              <a:buChar char="•"/>
              <a:tabLst>
                <a:tab pos="128905" algn="l"/>
              </a:tabLst>
            </a:pP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2650" spc="-8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50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job</a:t>
            </a:r>
            <a:r>
              <a:rPr sz="2650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size</a:t>
            </a:r>
            <a:r>
              <a:rPr sz="2650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&lt;</a:t>
            </a:r>
            <a:r>
              <a:rPr sz="2650" spc="-7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Partition</a:t>
            </a:r>
            <a:r>
              <a:rPr sz="2650" spc="-7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size,</a:t>
            </a:r>
            <a:r>
              <a:rPr sz="2650" spc="-5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memory</a:t>
            </a:r>
            <a:r>
              <a:rPr sz="2650" spc="-3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5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wasted</a:t>
            </a:r>
            <a:endParaRPr sz="2650">
              <a:latin typeface="Arial" panose="020B0604020202020204"/>
              <a:cs typeface="Arial" panose="020B0604020202020204"/>
            </a:endParaRPr>
          </a:p>
          <a:p>
            <a:pPr marL="128905" indent="-125095">
              <a:lnSpc>
                <a:spcPct val="100000"/>
              </a:lnSpc>
              <a:spcBef>
                <a:spcPts val="625"/>
              </a:spcBef>
              <a:buSzPct val="96000"/>
              <a:buChar char="•"/>
              <a:tabLst>
                <a:tab pos="128905" algn="l"/>
              </a:tabLst>
            </a:pP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When</a:t>
            </a:r>
            <a:r>
              <a:rPr sz="2650" spc="-4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50" spc="-6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job</a:t>
            </a:r>
            <a:r>
              <a:rPr sz="2650" spc="-3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arrives</a:t>
            </a:r>
            <a:endParaRPr sz="2650">
              <a:latin typeface="Arial" panose="020B0604020202020204"/>
              <a:cs typeface="Arial" panose="020B0604020202020204"/>
            </a:endParaRPr>
          </a:p>
          <a:p>
            <a:pPr marL="515620">
              <a:lnSpc>
                <a:spcPct val="100000"/>
              </a:lnSpc>
              <a:spcBef>
                <a:spcPts val="530"/>
              </a:spcBef>
            </a:pPr>
            <a:r>
              <a:rPr sz="2200" spc="-24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</a:t>
            </a:r>
            <a:r>
              <a:rPr sz="2200" spc="-2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its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put</a:t>
            </a:r>
            <a:r>
              <a:rPr sz="2200" spc="-7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into</a:t>
            </a:r>
            <a:r>
              <a:rPr sz="2200" spc="-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200" spc="-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input</a:t>
            </a:r>
            <a:r>
              <a:rPr sz="2200" spc="-3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queue</a:t>
            </a:r>
            <a:r>
              <a:rPr sz="22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of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963" y="5088211"/>
            <a:ext cx="746569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50" spc="-7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i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smallest</a:t>
            </a:r>
            <a:r>
              <a:rPr sz="2650" i="1" spc="-4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i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partition</a:t>
            </a:r>
            <a:r>
              <a:rPr sz="2650" i="1" spc="-8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i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large</a:t>
            </a:r>
            <a:r>
              <a:rPr sz="2650" i="1" spc="-65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i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enough</a:t>
            </a:r>
            <a:r>
              <a:rPr sz="2650" i="1" spc="-55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50" spc="-9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hold</a:t>
            </a:r>
            <a:r>
              <a:rPr sz="2650" spc="-6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50" spc="-7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job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2</a:t>
            </a:r>
            <a:r>
              <a:rPr spc="35" dirty="0"/>
              <a:t>5</a:t>
            </a:r>
            <a:endParaRPr spc="3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4027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115"/>
              </a:spcBef>
            </a:pPr>
            <a:r>
              <a:rPr spc="120" dirty="0"/>
              <a:t>Multiprogramming</a:t>
            </a:r>
            <a:r>
              <a:rPr spc="105" dirty="0"/>
              <a:t> </a:t>
            </a:r>
            <a:r>
              <a:rPr spc="90" dirty="0"/>
              <a:t>with</a:t>
            </a:r>
            <a:r>
              <a:rPr spc="80" dirty="0"/>
              <a:t> </a:t>
            </a:r>
            <a:r>
              <a:rPr spc="50" dirty="0"/>
              <a:t>Fixed</a:t>
            </a:r>
            <a:r>
              <a:rPr spc="80" dirty="0"/>
              <a:t> </a:t>
            </a:r>
            <a:r>
              <a:rPr spc="85" dirty="0"/>
              <a:t>Partitions</a:t>
            </a:r>
            <a:endParaRPr spc="85" dirty="0"/>
          </a:p>
        </p:txBody>
      </p:sp>
      <p:grpSp>
        <p:nvGrpSpPr>
          <p:cNvPr id="3" name="object 3"/>
          <p:cNvGrpSpPr/>
          <p:nvPr/>
        </p:nvGrpSpPr>
        <p:grpSpPr>
          <a:xfrm>
            <a:off x="5971032" y="1486560"/>
            <a:ext cx="3543300" cy="5333365"/>
            <a:chOff x="5971032" y="1486560"/>
            <a:chExt cx="3543300" cy="533336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292340" y="1760268"/>
              <a:ext cx="2221487" cy="50596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1032" y="1486560"/>
              <a:ext cx="1321307" cy="449745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413968" y="2075873"/>
            <a:ext cx="85725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5"/>
              </a:lnSpc>
            </a:pPr>
            <a:r>
              <a:rPr sz="2400" spc="-50" dirty="0">
                <a:latin typeface="Arial" panose="020B0604020202020204"/>
                <a:cs typeface="Arial" panose="020B0604020202020204"/>
              </a:rPr>
              <a:t>: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794" y="1959011"/>
            <a:ext cx="4932045" cy="315976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715"/>
              </a:spcBef>
              <a:buClr>
                <a:srgbClr val="D34816"/>
              </a:buClr>
              <a:buSzPct val="65000"/>
              <a:buFont typeface="Times New Roman" panose="02020603050405020304"/>
              <a:buChar char="■"/>
              <a:tabLst>
                <a:tab pos="390525" algn="l"/>
              </a:tabLst>
            </a:pPr>
            <a:r>
              <a:rPr sz="2400" dirty="0">
                <a:latin typeface="Arial" panose="020B0604020202020204"/>
                <a:cs typeface="Arial" panose="020B0604020202020204"/>
              </a:rPr>
              <a:t>Disadvantage</a:t>
            </a:r>
            <a:r>
              <a:rPr sz="24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of</a:t>
            </a:r>
            <a:r>
              <a:rPr sz="24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Multiple</a:t>
            </a:r>
            <a:r>
              <a:rPr sz="2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Queues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829310" lvl="1" indent="-313690">
              <a:lnSpc>
                <a:spcPct val="100000"/>
              </a:lnSpc>
              <a:spcBef>
                <a:spcPts val="535"/>
              </a:spcBef>
              <a:buClr>
                <a:srgbClr val="9A2D1F"/>
              </a:buClr>
              <a:buSzPct val="59000"/>
              <a:buFont typeface="Times New Roman" panose="02020603050405020304"/>
              <a:buChar char="❑"/>
              <a:tabLst>
                <a:tab pos="82931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When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large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partition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is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empty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829310" marR="123190" lvl="1" indent="-314325">
              <a:lnSpc>
                <a:spcPct val="100000"/>
              </a:lnSpc>
              <a:spcBef>
                <a:spcPts val="525"/>
              </a:spcBef>
              <a:buClr>
                <a:srgbClr val="9A2D1F"/>
              </a:buClr>
              <a:buSzPct val="59000"/>
              <a:buFont typeface="Times New Roman" panose="02020603050405020304"/>
              <a:buChar char="❑"/>
              <a:tabLst>
                <a:tab pos="82931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queues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for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small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partition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is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full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829310" marR="187960" lvl="1" indent="-314325">
              <a:lnSpc>
                <a:spcPct val="100000"/>
              </a:lnSpc>
              <a:spcBef>
                <a:spcPts val="530"/>
              </a:spcBef>
              <a:buClr>
                <a:srgbClr val="9A2D1F"/>
              </a:buClr>
              <a:buSzPct val="59000"/>
              <a:buFont typeface="Times New Roman" panose="02020603050405020304"/>
              <a:buChar char="❑"/>
              <a:tabLst>
                <a:tab pos="82931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Small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jobs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have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wait,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even </a:t>
            </a:r>
            <a:r>
              <a:rPr sz="2200" dirty="0">
                <a:latin typeface="Arial" panose="020B0604020202020204"/>
                <a:cs typeface="Arial" panose="020B0604020202020204"/>
              </a:rPr>
              <a:t>though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plenty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memory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is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free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90525" marR="600075" indent="-378460">
              <a:lnSpc>
                <a:spcPct val="101000"/>
              </a:lnSpc>
              <a:spcBef>
                <a:spcPts val="580"/>
              </a:spcBef>
              <a:buClr>
                <a:srgbClr val="D34816"/>
              </a:buClr>
              <a:buSzPct val="65000"/>
              <a:buFont typeface="Times New Roman" panose="02020603050405020304"/>
              <a:buChar char="■"/>
              <a:tabLst>
                <a:tab pos="390525" algn="l"/>
              </a:tabLst>
            </a:pPr>
            <a:r>
              <a:rPr sz="2400" dirty="0">
                <a:latin typeface="Arial" panose="020B0604020202020204"/>
                <a:cs typeface="Arial" panose="020B0604020202020204"/>
              </a:rPr>
              <a:t>Alternative:</a:t>
            </a:r>
            <a:r>
              <a:rPr sz="24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Maintain</a:t>
            </a:r>
            <a:r>
              <a:rPr sz="24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a</a:t>
            </a:r>
            <a:r>
              <a:rPr sz="2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single Queue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8300" y="2042160"/>
            <a:ext cx="1844040" cy="360425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2</a:t>
            </a:r>
            <a:r>
              <a:rPr spc="35" dirty="0"/>
              <a:t>6</a:t>
            </a:r>
            <a:endParaRPr spc="3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2708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15"/>
              </a:spcBef>
            </a:pPr>
            <a:r>
              <a:rPr spc="120" dirty="0"/>
              <a:t>Multiprogramming</a:t>
            </a:r>
            <a:r>
              <a:rPr spc="105" dirty="0"/>
              <a:t> </a:t>
            </a:r>
            <a:r>
              <a:rPr spc="90" dirty="0"/>
              <a:t>with</a:t>
            </a:r>
            <a:r>
              <a:rPr spc="80" dirty="0"/>
              <a:t> </a:t>
            </a:r>
            <a:r>
              <a:rPr spc="50" dirty="0"/>
              <a:t>Fixed</a:t>
            </a:r>
            <a:r>
              <a:rPr spc="80" dirty="0"/>
              <a:t> </a:t>
            </a:r>
            <a:r>
              <a:rPr spc="85" dirty="0"/>
              <a:t>Partitions</a:t>
            </a:r>
            <a:endParaRPr spc="8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42432" y="2031908"/>
            <a:ext cx="2260092" cy="29909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2187" y="1697244"/>
            <a:ext cx="5295265" cy="4298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24130" indent="-378460">
              <a:lnSpc>
                <a:spcPct val="101000"/>
              </a:lnSpc>
              <a:spcBef>
                <a:spcPts val="100"/>
              </a:spcBef>
              <a:buClr>
                <a:srgbClr val="D34816"/>
              </a:buClr>
              <a:buSzPct val="65000"/>
              <a:buFont typeface="Times New Roman" panose="02020603050405020304"/>
              <a:buChar char="■"/>
              <a:tabLst>
                <a:tab pos="390525" algn="l"/>
              </a:tabLst>
            </a:pPr>
            <a:r>
              <a:rPr sz="2400" dirty="0">
                <a:latin typeface="Arial" panose="020B0604020202020204"/>
                <a:cs typeface="Arial" panose="020B0604020202020204"/>
              </a:rPr>
              <a:t>Whenever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a</a:t>
            </a:r>
            <a:r>
              <a:rPr sz="2400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partition</a:t>
            </a:r>
            <a:r>
              <a:rPr sz="2400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becomes</a:t>
            </a:r>
            <a:r>
              <a:rPr sz="2400" spc="3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free, </a:t>
            </a:r>
            <a:r>
              <a:rPr sz="2400" dirty="0">
                <a:latin typeface="Arial" panose="020B0604020202020204"/>
                <a:cs typeface="Arial" panose="020B0604020202020204"/>
              </a:rPr>
              <a:t>a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job</a:t>
            </a:r>
            <a:r>
              <a:rPr sz="240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is</a:t>
            </a:r>
            <a:r>
              <a:rPr sz="24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selected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829310" lvl="1" indent="-313690">
              <a:lnSpc>
                <a:spcPct val="100000"/>
              </a:lnSpc>
              <a:spcBef>
                <a:spcPts val="535"/>
              </a:spcBef>
              <a:buClr>
                <a:srgbClr val="9A2D1F"/>
              </a:buClr>
              <a:buSzPct val="59000"/>
              <a:buFont typeface="Times New Roman" panose="02020603050405020304"/>
              <a:buChar char="❑"/>
              <a:tabLst>
                <a:tab pos="82931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Closest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front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queue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829310" lvl="1" indent="-313690">
              <a:lnSpc>
                <a:spcPct val="100000"/>
              </a:lnSpc>
              <a:spcBef>
                <a:spcPts val="530"/>
              </a:spcBef>
              <a:buClr>
                <a:srgbClr val="9A2D1F"/>
              </a:buClr>
              <a:buSzPct val="59000"/>
              <a:buFont typeface="Times New Roman" panose="02020603050405020304"/>
              <a:buChar char="❑"/>
              <a:tabLst>
                <a:tab pos="82931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Smaller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than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partition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size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90525" marR="1000125" indent="-378460">
              <a:lnSpc>
                <a:spcPct val="101000"/>
              </a:lnSpc>
              <a:spcBef>
                <a:spcPts val="580"/>
              </a:spcBef>
              <a:buClr>
                <a:srgbClr val="D34816"/>
              </a:buClr>
              <a:buSzPct val="65000"/>
              <a:buFont typeface="Times New Roman" panose="02020603050405020304"/>
              <a:buChar char="■"/>
              <a:tabLst>
                <a:tab pos="390525" algn="l"/>
              </a:tabLst>
            </a:pPr>
            <a:r>
              <a:rPr sz="2400" dirty="0">
                <a:latin typeface="Arial" panose="020B0604020202020204"/>
                <a:cs typeface="Arial" panose="020B0604020202020204"/>
              </a:rPr>
              <a:t>Undesirable</a:t>
            </a:r>
            <a:r>
              <a:rPr sz="2400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to</a:t>
            </a:r>
            <a:r>
              <a:rPr sz="24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waste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a</a:t>
            </a:r>
            <a:r>
              <a:rPr sz="24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large </a:t>
            </a:r>
            <a:r>
              <a:rPr sz="2400" dirty="0">
                <a:latin typeface="Arial" panose="020B0604020202020204"/>
                <a:cs typeface="Arial" panose="020B0604020202020204"/>
              </a:rPr>
              <a:t>partition</a:t>
            </a:r>
            <a:r>
              <a:rPr sz="24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for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smaller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25" dirty="0">
                <a:latin typeface="Arial" panose="020B0604020202020204"/>
                <a:cs typeface="Arial" panose="020B0604020202020204"/>
              </a:rPr>
              <a:t>job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829310" marR="269240" lvl="1" indent="-314325">
              <a:lnSpc>
                <a:spcPct val="100000"/>
              </a:lnSpc>
              <a:spcBef>
                <a:spcPts val="535"/>
              </a:spcBef>
              <a:buClr>
                <a:srgbClr val="9A2D1F"/>
              </a:buClr>
              <a:buSzPct val="59000"/>
              <a:buFont typeface="Times New Roman" panose="02020603050405020304"/>
              <a:buChar char="❑"/>
              <a:tabLst>
                <a:tab pos="82931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Search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queue,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find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largest </a:t>
            </a:r>
            <a:r>
              <a:rPr sz="2200" dirty="0">
                <a:latin typeface="Arial" panose="020B0604020202020204"/>
                <a:cs typeface="Arial" panose="020B0604020202020204"/>
              </a:rPr>
              <a:t>job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that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fits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is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90525" indent="-377825">
              <a:lnSpc>
                <a:spcPct val="100000"/>
              </a:lnSpc>
              <a:spcBef>
                <a:spcPts val="595"/>
              </a:spcBef>
              <a:buClr>
                <a:srgbClr val="D34816"/>
              </a:buClr>
              <a:buSzPct val="65000"/>
              <a:buFont typeface="Times New Roman" panose="02020603050405020304"/>
              <a:buChar char="■"/>
              <a:tabLst>
                <a:tab pos="390525" algn="l"/>
              </a:tabLst>
            </a:pPr>
            <a:r>
              <a:rPr sz="2400" dirty="0">
                <a:latin typeface="Arial" panose="020B0604020202020204"/>
                <a:cs typeface="Arial" panose="020B0604020202020204"/>
              </a:rPr>
              <a:t>Unfair</a:t>
            </a:r>
            <a:r>
              <a:rPr sz="24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for</a:t>
            </a:r>
            <a:r>
              <a:rPr sz="2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smaller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latin typeface="Arial" panose="020B0604020202020204"/>
                <a:cs typeface="Arial" panose="020B0604020202020204"/>
              </a:rPr>
              <a:t>jobs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829310" lvl="1" indent="-313690">
              <a:lnSpc>
                <a:spcPct val="100000"/>
              </a:lnSpc>
              <a:spcBef>
                <a:spcPts val="535"/>
              </a:spcBef>
              <a:buClr>
                <a:srgbClr val="9A2D1F"/>
              </a:buClr>
              <a:buSzPct val="59000"/>
              <a:buFont typeface="Times New Roman" panose="02020603050405020304"/>
              <a:buChar char="❑"/>
              <a:tabLst>
                <a:tab pos="82931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A</a:t>
            </a:r>
            <a:r>
              <a:rPr sz="2200" spc="-1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job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may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not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be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skipped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more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than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829310">
              <a:lnSpc>
                <a:spcPct val="100000"/>
              </a:lnSpc>
            </a:pPr>
            <a:r>
              <a:rPr sz="2200" b="1" i="1" dirty="0">
                <a:latin typeface="Arial" panose="020B0604020202020204"/>
                <a:cs typeface="Arial" panose="020B0604020202020204"/>
              </a:rPr>
              <a:t>k</a:t>
            </a:r>
            <a:r>
              <a:rPr sz="2200" b="1" i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times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994904" y="1740407"/>
          <a:ext cx="1355090" cy="4105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0"/>
              </a:tblGrid>
              <a:tr h="502920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95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91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5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01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95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 marL="15240" algn="ctr">
                        <a:lnSpc>
                          <a:spcPts val="1800"/>
                        </a:lnSpc>
                      </a:pPr>
                      <a:r>
                        <a:rPr sz="1750" b="1" spc="-10" dirty="0">
                          <a:latin typeface="Arial" panose="020B0604020202020204"/>
                          <a:cs typeface="Arial" panose="020B0604020202020204"/>
                        </a:rPr>
                        <a:t>Operating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15875" algn="ctr">
                        <a:lnSpc>
                          <a:spcPts val="2045"/>
                        </a:lnSpc>
                        <a:spcBef>
                          <a:spcPts val="10"/>
                        </a:spcBef>
                      </a:pPr>
                      <a:r>
                        <a:rPr sz="1750" b="1" spc="-10" dirty="0">
                          <a:latin typeface="Arial" panose="020B0604020202020204"/>
                          <a:cs typeface="Arial" panose="020B0604020202020204"/>
                        </a:rPr>
                        <a:t>System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358377" y="1614886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800K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58377" y="2117852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700K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58377" y="3675321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400K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58377" y="4681145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200K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58377" y="5219116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100K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12639" y="5687078"/>
            <a:ext cx="150495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50" dirty="0">
                <a:latin typeface="Arial" panose="020B0604020202020204"/>
                <a:cs typeface="Arial" panose="020B0604020202020204"/>
              </a:rPr>
              <a:t>0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14" name="object 14"/>
          <p:cNvSpPr txBox="1"/>
          <p:nvPr/>
        </p:nvSpPr>
        <p:spPr>
          <a:xfrm>
            <a:off x="289052" y="7077995"/>
            <a:ext cx="24574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27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422" y="293635"/>
            <a:ext cx="4340225" cy="561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20" dirty="0"/>
              <a:t>Internal</a:t>
            </a:r>
            <a:r>
              <a:rPr spc="70" dirty="0"/>
              <a:t> </a:t>
            </a:r>
            <a:r>
              <a:rPr spc="114" dirty="0"/>
              <a:t>Fragmentation</a:t>
            </a:r>
            <a:endParaRPr spc="114" dirty="0"/>
          </a:p>
        </p:txBody>
      </p:sp>
      <p:sp>
        <p:nvSpPr>
          <p:cNvPr id="3" name="object 3"/>
          <p:cNvSpPr txBox="1"/>
          <p:nvPr/>
        </p:nvSpPr>
        <p:spPr>
          <a:xfrm>
            <a:off x="5551885" y="3361825"/>
            <a:ext cx="1094740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750" b="1" dirty="0">
                <a:latin typeface="Arial" panose="020B0604020202020204"/>
                <a:cs typeface="Arial" panose="020B0604020202020204"/>
              </a:rPr>
              <a:t>Partition</a:t>
            </a:r>
            <a:r>
              <a:rPr sz="175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750" b="1" spc="-50" dirty="0">
                <a:latin typeface="Arial" panose="020B0604020202020204"/>
                <a:cs typeface="Arial" panose="020B0604020202020204"/>
              </a:rPr>
              <a:t>3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1885" y="2159431"/>
            <a:ext cx="1094740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750" b="1" dirty="0">
                <a:latin typeface="Arial" panose="020B0604020202020204"/>
                <a:cs typeface="Arial" panose="020B0604020202020204"/>
              </a:rPr>
              <a:t>Partition</a:t>
            </a:r>
            <a:r>
              <a:rPr sz="175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750" b="1" spc="-50" dirty="0">
                <a:latin typeface="Arial" panose="020B0604020202020204"/>
                <a:cs typeface="Arial" panose="020B0604020202020204"/>
              </a:rPr>
              <a:t>4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5031" y="2436391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700K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5031" y="4364247"/>
            <a:ext cx="56134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400K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5031" y="5607772"/>
            <a:ext cx="561340" cy="12941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200K</a:t>
            </a:r>
            <a:endParaRPr sz="17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100K</a:t>
            </a:r>
            <a:endParaRPr sz="1750">
              <a:latin typeface="Arial" panose="020B0604020202020204"/>
              <a:cs typeface="Arial" panose="020B0604020202020204"/>
            </a:endParaRPr>
          </a:p>
          <a:p>
            <a:pPr marL="109855">
              <a:lnSpc>
                <a:spcPct val="100000"/>
              </a:lnSpc>
              <a:spcBef>
                <a:spcPts val="525"/>
              </a:spcBef>
            </a:pPr>
            <a:r>
              <a:rPr sz="1750" b="1" spc="-50" dirty="0">
                <a:latin typeface="Arial" panose="020B0604020202020204"/>
                <a:cs typeface="Arial" panose="020B0604020202020204"/>
              </a:rPr>
              <a:t>0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70348" y="2125979"/>
            <a:ext cx="2011680" cy="1760220"/>
          </a:xfrm>
          <a:custGeom>
            <a:avLst/>
            <a:gdLst/>
            <a:ahLst/>
            <a:cxnLst/>
            <a:rect l="l" t="t" r="r" b="b"/>
            <a:pathLst>
              <a:path w="2011679" h="1760220">
                <a:moveTo>
                  <a:pt x="2011680" y="502920"/>
                </a:moveTo>
                <a:lnTo>
                  <a:pt x="0" y="502920"/>
                </a:lnTo>
                <a:lnTo>
                  <a:pt x="0" y="1760220"/>
                </a:lnTo>
                <a:lnTo>
                  <a:pt x="2011680" y="1760220"/>
                </a:lnTo>
                <a:lnTo>
                  <a:pt x="2011680" y="502920"/>
                </a:lnTo>
                <a:close/>
              </a:path>
              <a:path w="2011679" h="1760220">
                <a:moveTo>
                  <a:pt x="2011680" y="0"/>
                </a:moveTo>
                <a:lnTo>
                  <a:pt x="0" y="0"/>
                </a:lnTo>
                <a:lnTo>
                  <a:pt x="0" y="329184"/>
                </a:lnTo>
                <a:lnTo>
                  <a:pt x="2011680" y="329184"/>
                </a:lnTo>
                <a:lnTo>
                  <a:pt x="20116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067300" y="2109216"/>
          <a:ext cx="2115820" cy="5030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2789"/>
              </a:tblGrid>
              <a:tr h="332105">
                <a:tc>
                  <a:txBody>
                    <a:bodyPr/>
                    <a:lstStyle/>
                    <a:p>
                      <a:pPr marR="15240" algn="ctr">
                        <a:lnSpc>
                          <a:spcPts val="2515"/>
                        </a:lnSpc>
                      </a:pPr>
                      <a:r>
                        <a:rPr sz="2650" b="1" spc="-5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26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3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C33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</a:tr>
              <a:tr h="1267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2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15240" algn="ctr">
                        <a:lnSpc>
                          <a:spcPct val="100000"/>
                        </a:lnSpc>
                      </a:pPr>
                      <a:r>
                        <a:rPr sz="2650" b="1" spc="-5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26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C33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53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CC33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endParaRPr sz="17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1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CC3300"/>
                      </a:solidFill>
                      <a:prstDash val="solid"/>
                    </a:lnT>
                    <a:lnB w="38100">
                      <a:solidFill>
                        <a:srgbClr val="CC33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750" b="1" dirty="0">
                          <a:latin typeface="Arial" panose="020B0604020202020204"/>
                          <a:cs typeface="Arial" panose="020B0604020202020204"/>
                        </a:rPr>
                        <a:t>Partition</a:t>
                      </a:r>
                      <a:r>
                        <a:rPr sz="175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50" b="1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479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CC3300"/>
                      </a:solidFill>
                      <a:prstDash val="solid"/>
                    </a:lnT>
                    <a:lnB w="38100">
                      <a:solidFill>
                        <a:srgbClr val="CC33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</a:tr>
              <a:tr h="703580">
                <a:tc>
                  <a:txBody>
                    <a:bodyPr/>
                    <a:lstStyle/>
                    <a:p>
                      <a:pPr marL="26035" algn="ctr">
                        <a:lnSpc>
                          <a:spcPts val="1620"/>
                        </a:lnSpc>
                      </a:pPr>
                      <a:r>
                        <a:rPr sz="1750" b="1" spc="-10" dirty="0">
                          <a:latin typeface="Arial" panose="020B0604020202020204"/>
                          <a:cs typeface="Arial" panose="020B0604020202020204"/>
                        </a:rPr>
                        <a:t>Operating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2349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50" b="1" spc="-10" dirty="0">
                          <a:latin typeface="Arial" panose="020B0604020202020204"/>
                          <a:cs typeface="Arial" panose="020B0604020202020204"/>
                        </a:rPr>
                        <a:t>System</a:t>
                      </a:r>
                      <a:endParaRPr sz="1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CC33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47219" y="1232486"/>
            <a:ext cx="8208645" cy="876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Memory</a:t>
            </a:r>
            <a:r>
              <a:rPr sz="2650" spc="-5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50" spc="-9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50" spc="-7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internal</a:t>
            </a:r>
            <a:r>
              <a:rPr sz="2650" spc="-3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50" spc="-8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50" spc="-6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partition</a:t>
            </a:r>
            <a:r>
              <a:rPr sz="2650" spc="-4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but</a:t>
            </a:r>
            <a:r>
              <a:rPr sz="2650" spc="-7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not</a:t>
            </a:r>
            <a:r>
              <a:rPr sz="2650" spc="-7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being</a:t>
            </a:r>
            <a:r>
              <a:rPr sz="2650" spc="-6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used</a:t>
            </a:r>
            <a:endParaRPr sz="2650">
              <a:latin typeface="Arial" panose="020B0604020202020204"/>
              <a:cs typeface="Arial" panose="020B0604020202020204"/>
            </a:endParaRPr>
          </a:p>
          <a:p>
            <a:pPr marR="1183640" algn="r">
              <a:lnSpc>
                <a:spcPct val="100000"/>
              </a:lnSpc>
              <a:spcBef>
                <a:spcPts val="1425"/>
              </a:spcBef>
            </a:pPr>
            <a:r>
              <a:rPr sz="1750" b="1" spc="-20" dirty="0">
                <a:latin typeface="Arial" panose="020B0604020202020204"/>
                <a:cs typeface="Arial" panose="020B0604020202020204"/>
              </a:rPr>
              <a:t>800K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61738" y="2445257"/>
            <a:ext cx="283845" cy="2211705"/>
            <a:chOff x="4761738" y="2445257"/>
            <a:chExt cx="283845" cy="2211705"/>
          </a:xfrm>
        </p:grpSpPr>
        <p:sp>
          <p:nvSpPr>
            <p:cNvPr id="12" name="object 12"/>
            <p:cNvSpPr/>
            <p:nvPr/>
          </p:nvSpPr>
          <p:spPr>
            <a:xfrm>
              <a:off x="4777740" y="2461259"/>
              <a:ext cx="251460" cy="167640"/>
            </a:xfrm>
            <a:custGeom>
              <a:avLst/>
              <a:gdLst/>
              <a:ahLst/>
              <a:cxnLst/>
              <a:rect l="l" t="t" r="r" b="b"/>
              <a:pathLst>
                <a:path w="251460" h="167639">
                  <a:moveTo>
                    <a:pt x="251460" y="167639"/>
                  </a:moveTo>
                  <a:lnTo>
                    <a:pt x="203001" y="166568"/>
                  </a:lnTo>
                  <a:lnTo>
                    <a:pt x="163258" y="163639"/>
                  </a:lnTo>
                  <a:lnTo>
                    <a:pt x="136374" y="159281"/>
                  </a:lnTo>
                  <a:lnTo>
                    <a:pt x="126492" y="153923"/>
                  </a:lnTo>
                  <a:lnTo>
                    <a:pt x="126492" y="99059"/>
                  </a:lnTo>
                  <a:lnTo>
                    <a:pt x="116586" y="93464"/>
                  </a:lnTo>
                  <a:lnTo>
                    <a:pt x="89535" y="88582"/>
                  </a:lnTo>
                  <a:lnTo>
                    <a:pt x="49339" y="85129"/>
                  </a:lnTo>
                  <a:lnTo>
                    <a:pt x="0" y="83819"/>
                  </a:lnTo>
                  <a:lnTo>
                    <a:pt x="49339" y="82748"/>
                  </a:lnTo>
                  <a:lnTo>
                    <a:pt x="89535" y="79819"/>
                  </a:lnTo>
                  <a:lnTo>
                    <a:pt x="116586" y="75461"/>
                  </a:lnTo>
                  <a:lnTo>
                    <a:pt x="126492" y="70103"/>
                  </a:lnTo>
                  <a:lnTo>
                    <a:pt x="126492" y="15239"/>
                  </a:lnTo>
                  <a:lnTo>
                    <a:pt x="136374" y="9644"/>
                  </a:lnTo>
                  <a:lnTo>
                    <a:pt x="163258" y="4762"/>
                  </a:lnTo>
                  <a:lnTo>
                    <a:pt x="203001" y="1309"/>
                  </a:lnTo>
                  <a:lnTo>
                    <a:pt x="251460" y="0"/>
                  </a:lnTo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777740" y="3886199"/>
              <a:ext cx="251460" cy="754380"/>
            </a:xfrm>
            <a:custGeom>
              <a:avLst/>
              <a:gdLst/>
              <a:ahLst/>
              <a:cxnLst/>
              <a:rect l="l" t="t" r="r" b="b"/>
              <a:pathLst>
                <a:path w="251460" h="754379">
                  <a:moveTo>
                    <a:pt x="251460" y="754379"/>
                  </a:moveTo>
                  <a:lnTo>
                    <a:pt x="203001" y="749546"/>
                  </a:lnTo>
                  <a:lnTo>
                    <a:pt x="163258" y="736282"/>
                  </a:lnTo>
                  <a:lnTo>
                    <a:pt x="136374" y="716446"/>
                  </a:lnTo>
                  <a:lnTo>
                    <a:pt x="126492" y="691895"/>
                  </a:lnTo>
                  <a:lnTo>
                    <a:pt x="126492" y="440435"/>
                  </a:lnTo>
                  <a:lnTo>
                    <a:pt x="116586" y="415885"/>
                  </a:lnTo>
                  <a:lnTo>
                    <a:pt x="89535" y="396049"/>
                  </a:lnTo>
                  <a:lnTo>
                    <a:pt x="49339" y="382785"/>
                  </a:lnTo>
                  <a:lnTo>
                    <a:pt x="0" y="377951"/>
                  </a:lnTo>
                  <a:lnTo>
                    <a:pt x="49339" y="373118"/>
                  </a:lnTo>
                  <a:lnTo>
                    <a:pt x="89535" y="359854"/>
                  </a:lnTo>
                  <a:lnTo>
                    <a:pt x="116586" y="340018"/>
                  </a:lnTo>
                  <a:lnTo>
                    <a:pt x="126492" y="315467"/>
                  </a:lnTo>
                  <a:lnTo>
                    <a:pt x="126492" y="64007"/>
                  </a:lnTo>
                  <a:lnTo>
                    <a:pt x="136374" y="39219"/>
                  </a:lnTo>
                  <a:lnTo>
                    <a:pt x="163258" y="18859"/>
                  </a:lnTo>
                  <a:lnTo>
                    <a:pt x="203001" y="5072"/>
                  </a:lnTo>
                  <a:lnTo>
                    <a:pt x="251460" y="0"/>
                  </a:lnTo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5113020" y="2461260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167639" y="0"/>
                </a:moveTo>
                <a:lnTo>
                  <a:pt x="0" y="16764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448300" y="2461260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167640" y="0"/>
                </a:moveTo>
                <a:lnTo>
                  <a:pt x="0" y="16764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783579" y="2461260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167639" y="0"/>
                </a:moveTo>
                <a:lnTo>
                  <a:pt x="0" y="16764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118859" y="2461260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39" h="167639">
                <a:moveTo>
                  <a:pt x="167640" y="0"/>
                </a:moveTo>
                <a:lnTo>
                  <a:pt x="0" y="16764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54140" y="2461260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40" h="167639">
                <a:moveTo>
                  <a:pt x="167640" y="0"/>
                </a:moveTo>
                <a:lnTo>
                  <a:pt x="0" y="16764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789419" y="2461260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40" h="167639">
                <a:moveTo>
                  <a:pt x="167640" y="0"/>
                </a:moveTo>
                <a:lnTo>
                  <a:pt x="0" y="16764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113020" y="3886200"/>
            <a:ext cx="2011680" cy="754380"/>
          </a:xfrm>
          <a:custGeom>
            <a:avLst/>
            <a:gdLst/>
            <a:ahLst/>
            <a:cxnLst/>
            <a:rect l="l" t="t" r="r" b="b"/>
            <a:pathLst>
              <a:path w="2011679" h="754379">
                <a:moveTo>
                  <a:pt x="167639" y="0"/>
                </a:moveTo>
                <a:lnTo>
                  <a:pt x="0" y="167640"/>
                </a:lnTo>
              </a:path>
              <a:path w="2011679" h="754379">
                <a:moveTo>
                  <a:pt x="502920" y="0"/>
                </a:moveTo>
                <a:lnTo>
                  <a:pt x="0" y="502920"/>
                </a:lnTo>
              </a:path>
              <a:path w="2011679" h="754379">
                <a:moveTo>
                  <a:pt x="838200" y="0"/>
                </a:moveTo>
                <a:lnTo>
                  <a:pt x="83820" y="754379"/>
                </a:lnTo>
              </a:path>
              <a:path w="2011679" h="754379">
                <a:moveTo>
                  <a:pt x="1173480" y="0"/>
                </a:moveTo>
                <a:lnTo>
                  <a:pt x="419100" y="754379"/>
                </a:lnTo>
              </a:path>
              <a:path w="2011679" h="754379">
                <a:moveTo>
                  <a:pt x="1508760" y="0"/>
                </a:moveTo>
                <a:lnTo>
                  <a:pt x="754380" y="754379"/>
                </a:lnTo>
              </a:path>
              <a:path w="2011679" h="754379">
                <a:moveTo>
                  <a:pt x="1844039" y="0"/>
                </a:moveTo>
                <a:lnTo>
                  <a:pt x="1089660" y="754379"/>
                </a:lnTo>
              </a:path>
              <a:path w="2011679" h="754379">
                <a:moveTo>
                  <a:pt x="2011680" y="167640"/>
                </a:moveTo>
                <a:lnTo>
                  <a:pt x="1424939" y="754379"/>
                </a:lnTo>
              </a:path>
              <a:path w="2011679" h="754379">
                <a:moveTo>
                  <a:pt x="1927860" y="586740"/>
                </a:moveTo>
                <a:lnTo>
                  <a:pt x="1760220" y="754379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46380" y="2322195"/>
            <a:ext cx="4272280" cy="4191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altLang=""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External </a:t>
            </a:r>
            <a:r>
              <a:rPr sz="2650" b="1" spc="-1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Fragmentation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6019" y="3998550"/>
            <a:ext cx="365379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Internal</a:t>
            </a:r>
            <a:r>
              <a:rPr sz="2650" b="1" spc="-8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spc="-1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Fragmentation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2</a:t>
            </a:r>
            <a:r>
              <a:rPr spc="35" dirty="0"/>
              <a:t>8</a:t>
            </a:r>
            <a:endParaRPr spc="3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6285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85" dirty="0"/>
              <a:t>Swapping</a:t>
            </a:r>
            <a:endParaRPr spc="85" dirty="0"/>
          </a:p>
        </p:txBody>
      </p:sp>
      <p:sp>
        <p:nvSpPr>
          <p:cNvPr id="3" name="object 3"/>
          <p:cNvSpPr txBox="1"/>
          <p:nvPr/>
        </p:nvSpPr>
        <p:spPr>
          <a:xfrm>
            <a:off x="1093720" y="1626107"/>
            <a:ext cx="7962900" cy="34798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49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spc="-20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2400" b="1" i="1" spc="-35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spc="-110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enough</a:t>
            </a:r>
            <a:r>
              <a:rPr sz="2400" b="1" i="1" spc="-55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spc="-85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space</a:t>
            </a:r>
            <a:r>
              <a:rPr sz="2400" b="1" i="1" spc="-75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currently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active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processes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39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65" dirty="0">
                <a:latin typeface="Times New Roman" panose="02020603050405020304"/>
                <a:cs typeface="Times New Roman" panose="02020603050405020304"/>
              </a:rPr>
              <a:t>Excess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processes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must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kept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disk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275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200" spc="-155" dirty="0">
                <a:latin typeface="Times New Roman" panose="02020603050405020304"/>
                <a:cs typeface="Times New Roman" panose="02020603050405020304"/>
              </a:rPr>
              <a:t>Fully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790" dirty="0">
                <a:latin typeface="Times New Roman" panose="02020603050405020304"/>
                <a:cs typeface="Times New Roman" panose="02020603050405020304"/>
              </a:rPr>
              <a:t>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Swapping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165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Partially</a:t>
            </a:r>
            <a:r>
              <a:rPr sz="22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Virtual</a:t>
            </a:r>
            <a:r>
              <a:rPr sz="22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30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35" dirty="0">
                <a:latin typeface="Times New Roman" panose="02020603050405020304"/>
                <a:cs typeface="Times New Roman" panose="02020603050405020304"/>
              </a:rPr>
              <a:t>Example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Swapping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200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Round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Robin</a:t>
            </a:r>
            <a:r>
              <a:rPr sz="2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Scheduling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36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quantum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expires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210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200" spc="-195" dirty="0">
                <a:latin typeface="Times New Roman" panose="02020603050405020304"/>
                <a:cs typeface="Times New Roman" panose="02020603050405020304"/>
              </a:rPr>
              <a:t>Swap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out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currently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running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170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200" spc="-195" dirty="0">
                <a:latin typeface="Times New Roman" panose="02020603050405020304"/>
                <a:cs typeface="Times New Roman" panose="02020603050405020304"/>
              </a:rPr>
              <a:t>Swap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another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freed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space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2</a:t>
            </a:r>
            <a:r>
              <a:rPr spc="35" dirty="0"/>
              <a:t>9</a:t>
            </a:r>
            <a:endParaRPr spc="3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6285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85" dirty="0"/>
              <a:t>Swapping</a:t>
            </a:r>
            <a:endParaRPr spc="85" dirty="0"/>
          </a:p>
        </p:txBody>
      </p:sp>
      <p:sp>
        <p:nvSpPr>
          <p:cNvPr id="3" name="object 3"/>
          <p:cNvSpPr txBox="1"/>
          <p:nvPr/>
        </p:nvSpPr>
        <p:spPr>
          <a:xfrm>
            <a:off x="1093666" y="1620048"/>
            <a:ext cx="5386705" cy="328104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12420" indent="-311150">
              <a:lnSpc>
                <a:spcPct val="100000"/>
              </a:lnSpc>
              <a:spcBef>
                <a:spcPts val="69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30" dirty="0">
                <a:latin typeface="Times New Roman" panose="02020603050405020304"/>
                <a:cs typeface="Times New Roman" panose="02020603050405020304"/>
              </a:rPr>
              <a:t>Another</a:t>
            </a:r>
            <a:r>
              <a:rPr sz="28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Example: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Priority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24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scheduling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311150">
              <a:lnSpc>
                <a:spcPct val="100000"/>
              </a:lnSpc>
              <a:spcBef>
                <a:spcPts val="605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21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8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3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5" dirty="0">
                <a:latin typeface="Times New Roman" panose="02020603050405020304"/>
                <a:cs typeface="Times New Roman" panose="02020603050405020304"/>
              </a:rPr>
              <a:t>higher</a:t>
            </a:r>
            <a:r>
              <a:rPr sz="28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70" dirty="0">
                <a:latin typeface="Times New Roman" panose="02020603050405020304"/>
                <a:cs typeface="Times New Roman" panose="02020603050405020304"/>
              </a:rPr>
              <a:t>priority</a:t>
            </a:r>
            <a:r>
              <a:rPr sz="28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5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8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arrives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2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200" dirty="0">
                <a:latin typeface="Times New Roman" panose="02020603050405020304"/>
                <a:cs typeface="Times New Roman" panose="02020603050405020304"/>
              </a:rPr>
              <a:t>Swap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out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9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lower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priority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6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200" dirty="0">
                <a:latin typeface="Times New Roman" panose="02020603050405020304"/>
                <a:cs typeface="Times New Roman" panose="02020603050405020304"/>
              </a:rPr>
              <a:t>Swap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higher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priority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311150">
              <a:lnSpc>
                <a:spcPct val="100000"/>
              </a:lnSpc>
              <a:spcBef>
                <a:spcPts val="62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30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28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5" dirty="0">
                <a:latin typeface="Times New Roman" panose="02020603050405020304"/>
                <a:cs typeface="Times New Roman" panose="02020603050405020304"/>
              </a:rPr>
              <a:t>higher</a:t>
            </a:r>
            <a:r>
              <a:rPr sz="28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70" dirty="0">
                <a:latin typeface="Times New Roman" panose="02020603050405020304"/>
                <a:cs typeface="Times New Roman" panose="02020603050405020304"/>
              </a:rPr>
              <a:t>priority</a:t>
            </a:r>
            <a:r>
              <a:rPr sz="28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5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8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45" dirty="0">
                <a:latin typeface="Times New Roman" panose="02020603050405020304"/>
                <a:cs typeface="Times New Roman" panose="02020603050405020304"/>
              </a:rPr>
              <a:t>exits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200" dirty="0">
                <a:latin typeface="Times New Roman" panose="02020603050405020304"/>
                <a:cs typeface="Times New Roman" panose="02020603050405020304"/>
              </a:rPr>
              <a:t>Swap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lower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priority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284479" y="7077995"/>
            <a:ext cx="2552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30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9765">
              <a:lnSpc>
                <a:spcPct val="100000"/>
              </a:lnSpc>
              <a:spcBef>
                <a:spcPts val="100"/>
              </a:spcBef>
            </a:pPr>
            <a:r>
              <a:rPr sz="4400" b="0" spc="-12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Schematic</a:t>
            </a:r>
            <a:r>
              <a:rPr sz="4400" b="0" spc="-19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00" b="0" spc="-27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View</a:t>
            </a:r>
            <a:r>
              <a:rPr sz="4400" b="0" spc="-10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00" b="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4400" b="0" spc="-18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00" b="0" spc="-1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Swapping</a:t>
            </a:r>
            <a:endParaRPr sz="4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90572" y="1655064"/>
            <a:ext cx="5608319" cy="419709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289052" y="7077995"/>
            <a:ext cx="24574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31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920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85" dirty="0"/>
              <a:t>Swapping</a:t>
            </a:r>
            <a:endParaRPr spc="85" dirty="0"/>
          </a:p>
        </p:txBody>
      </p:sp>
      <p:grpSp>
        <p:nvGrpSpPr>
          <p:cNvPr id="3" name="object 3"/>
          <p:cNvGrpSpPr/>
          <p:nvPr/>
        </p:nvGrpSpPr>
        <p:grpSpPr>
          <a:xfrm>
            <a:off x="570547" y="2025967"/>
            <a:ext cx="4223385" cy="3720465"/>
            <a:chOff x="570547" y="2025967"/>
            <a:chExt cx="4223385" cy="3720465"/>
          </a:xfrm>
        </p:grpSpPr>
        <p:sp>
          <p:nvSpPr>
            <p:cNvPr id="4" name="object 4"/>
            <p:cNvSpPr/>
            <p:nvPr/>
          </p:nvSpPr>
          <p:spPr>
            <a:xfrm>
              <a:off x="586739" y="2657855"/>
              <a:ext cx="4191000" cy="614680"/>
            </a:xfrm>
            <a:custGeom>
              <a:avLst/>
              <a:gdLst/>
              <a:ahLst/>
              <a:cxnLst/>
              <a:rect l="l" t="t" r="r" b="b"/>
              <a:pathLst>
                <a:path w="4191000" h="614679">
                  <a:moveTo>
                    <a:pt x="4191000" y="0"/>
                  </a:moveTo>
                  <a:lnTo>
                    <a:pt x="4186364" y="41272"/>
                  </a:lnTo>
                  <a:lnTo>
                    <a:pt x="4172652" y="81805"/>
                  </a:lnTo>
                  <a:lnTo>
                    <a:pt x="4150155" y="121512"/>
                  </a:lnTo>
                  <a:lnTo>
                    <a:pt x="4119167" y="160309"/>
                  </a:lnTo>
                  <a:lnTo>
                    <a:pt x="4079979" y="198109"/>
                  </a:lnTo>
                  <a:lnTo>
                    <a:pt x="4032884" y="234829"/>
                  </a:lnTo>
                  <a:lnTo>
                    <a:pt x="3978173" y="270383"/>
                  </a:lnTo>
                  <a:lnTo>
                    <a:pt x="3916139" y="304685"/>
                  </a:lnTo>
                  <a:lnTo>
                    <a:pt x="3847074" y="337651"/>
                  </a:lnTo>
                  <a:lnTo>
                    <a:pt x="3809997" y="353606"/>
                  </a:lnTo>
                  <a:lnTo>
                    <a:pt x="3771271" y="369195"/>
                  </a:lnTo>
                  <a:lnTo>
                    <a:pt x="3730934" y="384407"/>
                  </a:lnTo>
                  <a:lnTo>
                    <a:pt x="3689021" y="399232"/>
                  </a:lnTo>
                  <a:lnTo>
                    <a:pt x="3645571" y="413659"/>
                  </a:lnTo>
                  <a:lnTo>
                    <a:pt x="3600618" y="427677"/>
                  </a:lnTo>
                  <a:lnTo>
                    <a:pt x="3554199" y="441276"/>
                  </a:lnTo>
                  <a:lnTo>
                    <a:pt x="3506352" y="454445"/>
                  </a:lnTo>
                  <a:lnTo>
                    <a:pt x="3457113" y="467174"/>
                  </a:lnTo>
                  <a:lnTo>
                    <a:pt x="3406517" y="479451"/>
                  </a:lnTo>
                  <a:lnTo>
                    <a:pt x="3354602" y="491266"/>
                  </a:lnTo>
                  <a:lnTo>
                    <a:pt x="3301405" y="502609"/>
                  </a:lnTo>
                  <a:lnTo>
                    <a:pt x="3246961" y="513468"/>
                  </a:lnTo>
                  <a:lnTo>
                    <a:pt x="3191307" y="523834"/>
                  </a:lnTo>
                  <a:lnTo>
                    <a:pt x="3134480" y="533695"/>
                  </a:lnTo>
                  <a:lnTo>
                    <a:pt x="3076517" y="543041"/>
                  </a:lnTo>
                  <a:lnTo>
                    <a:pt x="3017453" y="551861"/>
                  </a:lnTo>
                  <a:lnTo>
                    <a:pt x="2957325" y="560144"/>
                  </a:lnTo>
                  <a:lnTo>
                    <a:pt x="2896171" y="567881"/>
                  </a:lnTo>
                  <a:lnTo>
                    <a:pt x="2834026" y="575060"/>
                  </a:lnTo>
                  <a:lnTo>
                    <a:pt x="2770927" y="581670"/>
                  </a:lnTo>
                  <a:lnTo>
                    <a:pt x="2706910" y="587702"/>
                  </a:lnTo>
                  <a:lnTo>
                    <a:pt x="2642012" y="593144"/>
                  </a:lnTo>
                  <a:lnTo>
                    <a:pt x="2576270" y="597985"/>
                  </a:lnTo>
                  <a:lnTo>
                    <a:pt x="2509720" y="602216"/>
                  </a:lnTo>
                  <a:lnTo>
                    <a:pt x="2442399" y="605824"/>
                  </a:lnTo>
                  <a:lnTo>
                    <a:pt x="2374343" y="608801"/>
                  </a:lnTo>
                  <a:lnTo>
                    <a:pt x="2305588" y="611135"/>
                  </a:lnTo>
                  <a:lnTo>
                    <a:pt x="2236172" y="612815"/>
                  </a:lnTo>
                  <a:lnTo>
                    <a:pt x="2166130" y="613831"/>
                  </a:lnTo>
                  <a:lnTo>
                    <a:pt x="2095500" y="614171"/>
                  </a:lnTo>
                  <a:lnTo>
                    <a:pt x="2024959" y="613831"/>
                  </a:lnTo>
                  <a:lnTo>
                    <a:pt x="1954999" y="612815"/>
                  </a:lnTo>
                  <a:lnTo>
                    <a:pt x="1885658" y="611135"/>
                  </a:lnTo>
                  <a:lnTo>
                    <a:pt x="1816971" y="608801"/>
                  </a:lnTo>
                  <a:lnTo>
                    <a:pt x="1748976" y="605824"/>
                  </a:lnTo>
                  <a:lnTo>
                    <a:pt x="1681710" y="602216"/>
                  </a:lnTo>
                  <a:lnTo>
                    <a:pt x="1615208" y="597985"/>
                  </a:lnTo>
                  <a:lnTo>
                    <a:pt x="1549509" y="593144"/>
                  </a:lnTo>
                  <a:lnTo>
                    <a:pt x="1484648" y="587702"/>
                  </a:lnTo>
                  <a:lnTo>
                    <a:pt x="1420663" y="581670"/>
                  </a:lnTo>
                  <a:lnTo>
                    <a:pt x="1357590" y="575060"/>
                  </a:lnTo>
                  <a:lnTo>
                    <a:pt x="1295466" y="567881"/>
                  </a:lnTo>
                  <a:lnTo>
                    <a:pt x="1234328" y="560144"/>
                  </a:lnTo>
                  <a:lnTo>
                    <a:pt x="1174213" y="551861"/>
                  </a:lnTo>
                  <a:lnTo>
                    <a:pt x="1115156" y="543041"/>
                  </a:lnTo>
                  <a:lnTo>
                    <a:pt x="1057196" y="533695"/>
                  </a:lnTo>
                  <a:lnTo>
                    <a:pt x="1000368" y="523834"/>
                  </a:lnTo>
                  <a:lnTo>
                    <a:pt x="944710" y="513468"/>
                  </a:lnTo>
                  <a:lnTo>
                    <a:pt x="890259" y="502609"/>
                  </a:lnTo>
                  <a:lnTo>
                    <a:pt x="837050" y="491266"/>
                  </a:lnTo>
                  <a:lnTo>
                    <a:pt x="785122" y="479451"/>
                  </a:lnTo>
                  <a:lnTo>
                    <a:pt x="734510" y="467174"/>
                  </a:lnTo>
                  <a:lnTo>
                    <a:pt x="685251" y="454445"/>
                  </a:lnTo>
                  <a:lnTo>
                    <a:pt x="637382" y="441276"/>
                  </a:lnTo>
                  <a:lnTo>
                    <a:pt x="590941" y="427677"/>
                  </a:lnTo>
                  <a:lnTo>
                    <a:pt x="545963" y="413659"/>
                  </a:lnTo>
                  <a:lnTo>
                    <a:pt x="502485" y="399232"/>
                  </a:lnTo>
                  <a:lnTo>
                    <a:pt x="460545" y="384407"/>
                  </a:lnTo>
                  <a:lnTo>
                    <a:pt x="420179" y="369195"/>
                  </a:lnTo>
                  <a:lnTo>
                    <a:pt x="381423" y="353606"/>
                  </a:lnTo>
                  <a:lnTo>
                    <a:pt x="344315" y="337651"/>
                  </a:lnTo>
                  <a:lnTo>
                    <a:pt x="308891" y="321340"/>
                  </a:lnTo>
                  <a:lnTo>
                    <a:pt x="243243" y="287696"/>
                  </a:lnTo>
                  <a:lnTo>
                    <a:pt x="184774" y="252757"/>
                  </a:lnTo>
                  <a:lnTo>
                    <a:pt x="133776" y="216610"/>
                  </a:lnTo>
                  <a:lnTo>
                    <a:pt x="90545" y="179339"/>
                  </a:lnTo>
                  <a:lnTo>
                    <a:pt x="55374" y="141029"/>
                  </a:lnTo>
                  <a:lnTo>
                    <a:pt x="28558" y="101767"/>
                  </a:lnTo>
                  <a:lnTo>
                    <a:pt x="10391" y="61636"/>
                  </a:lnTo>
                  <a:lnTo>
                    <a:pt x="1166" y="20723"/>
                  </a:lnTo>
                  <a:lnTo>
                    <a:pt x="0" y="0"/>
                  </a:lnTo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86739" y="2042159"/>
              <a:ext cx="4191000" cy="3688079"/>
            </a:xfrm>
            <a:custGeom>
              <a:avLst/>
              <a:gdLst/>
              <a:ahLst/>
              <a:cxnLst/>
              <a:rect l="l" t="t" r="r" b="b"/>
              <a:pathLst>
                <a:path w="4191000" h="3688079">
                  <a:moveTo>
                    <a:pt x="0" y="615696"/>
                  </a:moveTo>
                  <a:lnTo>
                    <a:pt x="4642" y="574415"/>
                  </a:lnTo>
                  <a:lnTo>
                    <a:pt x="18375" y="533861"/>
                  </a:lnTo>
                  <a:lnTo>
                    <a:pt x="40904" y="494120"/>
                  </a:lnTo>
                  <a:lnTo>
                    <a:pt x="71934" y="455278"/>
                  </a:lnTo>
                  <a:lnTo>
                    <a:pt x="111171" y="417421"/>
                  </a:lnTo>
                  <a:lnTo>
                    <a:pt x="158323" y="380636"/>
                  </a:lnTo>
                  <a:lnTo>
                    <a:pt x="213093" y="345010"/>
                  </a:lnTo>
                  <a:lnTo>
                    <a:pt x="275188" y="310628"/>
                  </a:lnTo>
                  <a:lnTo>
                    <a:pt x="344315" y="277578"/>
                  </a:lnTo>
                  <a:lnTo>
                    <a:pt x="381423" y="261579"/>
                  </a:lnTo>
                  <a:lnTo>
                    <a:pt x="420179" y="245945"/>
                  </a:lnTo>
                  <a:lnTo>
                    <a:pt x="460545" y="230688"/>
                  </a:lnTo>
                  <a:lnTo>
                    <a:pt x="502485" y="215817"/>
                  </a:lnTo>
                  <a:lnTo>
                    <a:pt x="545963" y="201344"/>
                  </a:lnTo>
                  <a:lnTo>
                    <a:pt x="590941" y="187279"/>
                  </a:lnTo>
                  <a:lnTo>
                    <a:pt x="637382" y="173633"/>
                  </a:lnTo>
                  <a:lnTo>
                    <a:pt x="685251" y="160418"/>
                  </a:lnTo>
                  <a:lnTo>
                    <a:pt x="734510" y="147643"/>
                  </a:lnTo>
                  <a:lnTo>
                    <a:pt x="785122" y="135320"/>
                  </a:lnTo>
                  <a:lnTo>
                    <a:pt x="837050" y="123459"/>
                  </a:lnTo>
                  <a:lnTo>
                    <a:pt x="890259" y="112072"/>
                  </a:lnTo>
                  <a:lnTo>
                    <a:pt x="944710" y="101169"/>
                  </a:lnTo>
                  <a:lnTo>
                    <a:pt x="1000368" y="90760"/>
                  </a:lnTo>
                  <a:lnTo>
                    <a:pt x="1057196" y="80858"/>
                  </a:lnTo>
                  <a:lnTo>
                    <a:pt x="1115156" y="71471"/>
                  </a:lnTo>
                  <a:lnTo>
                    <a:pt x="1174213" y="62612"/>
                  </a:lnTo>
                  <a:lnTo>
                    <a:pt x="1234328" y="54291"/>
                  </a:lnTo>
                  <a:lnTo>
                    <a:pt x="1295466" y="46519"/>
                  </a:lnTo>
                  <a:lnTo>
                    <a:pt x="1357590" y="39307"/>
                  </a:lnTo>
                  <a:lnTo>
                    <a:pt x="1420663" y="32665"/>
                  </a:lnTo>
                  <a:lnTo>
                    <a:pt x="1484648" y="26604"/>
                  </a:lnTo>
                  <a:lnTo>
                    <a:pt x="1549509" y="21136"/>
                  </a:lnTo>
                  <a:lnTo>
                    <a:pt x="1615208" y="16270"/>
                  </a:lnTo>
                  <a:lnTo>
                    <a:pt x="1681710" y="12018"/>
                  </a:lnTo>
                  <a:lnTo>
                    <a:pt x="1748976" y="8391"/>
                  </a:lnTo>
                  <a:lnTo>
                    <a:pt x="1816971" y="5399"/>
                  </a:lnTo>
                  <a:lnTo>
                    <a:pt x="1885658" y="3053"/>
                  </a:lnTo>
                  <a:lnTo>
                    <a:pt x="1954999" y="1364"/>
                  </a:lnTo>
                  <a:lnTo>
                    <a:pt x="2024959" y="342"/>
                  </a:lnTo>
                  <a:lnTo>
                    <a:pt x="2095500" y="0"/>
                  </a:lnTo>
                  <a:lnTo>
                    <a:pt x="2166130" y="342"/>
                  </a:lnTo>
                  <a:lnTo>
                    <a:pt x="2236172" y="1364"/>
                  </a:lnTo>
                  <a:lnTo>
                    <a:pt x="2305588" y="3053"/>
                  </a:lnTo>
                  <a:lnTo>
                    <a:pt x="2374343" y="5399"/>
                  </a:lnTo>
                  <a:lnTo>
                    <a:pt x="2442399" y="8391"/>
                  </a:lnTo>
                  <a:lnTo>
                    <a:pt x="2509720" y="12018"/>
                  </a:lnTo>
                  <a:lnTo>
                    <a:pt x="2576270" y="16270"/>
                  </a:lnTo>
                  <a:lnTo>
                    <a:pt x="2642012" y="21136"/>
                  </a:lnTo>
                  <a:lnTo>
                    <a:pt x="2706910" y="26604"/>
                  </a:lnTo>
                  <a:lnTo>
                    <a:pt x="2770927" y="32665"/>
                  </a:lnTo>
                  <a:lnTo>
                    <a:pt x="2834026" y="39307"/>
                  </a:lnTo>
                  <a:lnTo>
                    <a:pt x="2896171" y="46519"/>
                  </a:lnTo>
                  <a:lnTo>
                    <a:pt x="2957325" y="54291"/>
                  </a:lnTo>
                  <a:lnTo>
                    <a:pt x="3017453" y="62612"/>
                  </a:lnTo>
                  <a:lnTo>
                    <a:pt x="3076517" y="71471"/>
                  </a:lnTo>
                  <a:lnTo>
                    <a:pt x="3134480" y="80858"/>
                  </a:lnTo>
                  <a:lnTo>
                    <a:pt x="3191307" y="90760"/>
                  </a:lnTo>
                  <a:lnTo>
                    <a:pt x="3246961" y="101169"/>
                  </a:lnTo>
                  <a:lnTo>
                    <a:pt x="3301405" y="112072"/>
                  </a:lnTo>
                  <a:lnTo>
                    <a:pt x="3354602" y="123459"/>
                  </a:lnTo>
                  <a:lnTo>
                    <a:pt x="3406517" y="135320"/>
                  </a:lnTo>
                  <a:lnTo>
                    <a:pt x="3457113" y="147643"/>
                  </a:lnTo>
                  <a:lnTo>
                    <a:pt x="3506352" y="160418"/>
                  </a:lnTo>
                  <a:lnTo>
                    <a:pt x="3554199" y="173633"/>
                  </a:lnTo>
                  <a:lnTo>
                    <a:pt x="3600618" y="187279"/>
                  </a:lnTo>
                  <a:lnTo>
                    <a:pt x="3645571" y="201344"/>
                  </a:lnTo>
                  <a:lnTo>
                    <a:pt x="3689021" y="215817"/>
                  </a:lnTo>
                  <a:lnTo>
                    <a:pt x="3730934" y="230688"/>
                  </a:lnTo>
                  <a:lnTo>
                    <a:pt x="3771271" y="245945"/>
                  </a:lnTo>
                  <a:lnTo>
                    <a:pt x="3809997" y="261579"/>
                  </a:lnTo>
                  <a:lnTo>
                    <a:pt x="3847074" y="277578"/>
                  </a:lnTo>
                  <a:lnTo>
                    <a:pt x="3882467" y="293931"/>
                  </a:lnTo>
                  <a:lnTo>
                    <a:pt x="3948053" y="327658"/>
                  </a:lnTo>
                  <a:lnTo>
                    <a:pt x="4006462" y="362673"/>
                  </a:lnTo>
                  <a:lnTo>
                    <a:pt x="4057401" y="398889"/>
                  </a:lnTo>
                  <a:lnTo>
                    <a:pt x="4100580" y="436221"/>
                  </a:lnTo>
                  <a:lnTo>
                    <a:pt x="4135705" y="474581"/>
                  </a:lnTo>
                  <a:lnTo>
                    <a:pt x="4162483" y="513884"/>
                  </a:lnTo>
                  <a:lnTo>
                    <a:pt x="4180624" y="554042"/>
                  </a:lnTo>
                  <a:lnTo>
                    <a:pt x="4189835" y="594970"/>
                  </a:lnTo>
                  <a:lnTo>
                    <a:pt x="4191000" y="615696"/>
                  </a:lnTo>
                  <a:lnTo>
                    <a:pt x="4191000" y="3073908"/>
                  </a:lnTo>
                  <a:lnTo>
                    <a:pt x="4186364" y="3115180"/>
                  </a:lnTo>
                  <a:lnTo>
                    <a:pt x="4172652" y="3155713"/>
                  </a:lnTo>
                  <a:lnTo>
                    <a:pt x="4150155" y="3195420"/>
                  </a:lnTo>
                  <a:lnTo>
                    <a:pt x="4119167" y="3234217"/>
                  </a:lnTo>
                  <a:lnTo>
                    <a:pt x="4079979" y="3272017"/>
                  </a:lnTo>
                  <a:lnTo>
                    <a:pt x="4032884" y="3308737"/>
                  </a:lnTo>
                  <a:lnTo>
                    <a:pt x="3978173" y="3344291"/>
                  </a:lnTo>
                  <a:lnTo>
                    <a:pt x="3916139" y="3378593"/>
                  </a:lnTo>
                  <a:lnTo>
                    <a:pt x="3847074" y="3411559"/>
                  </a:lnTo>
                  <a:lnTo>
                    <a:pt x="3809997" y="3427514"/>
                  </a:lnTo>
                  <a:lnTo>
                    <a:pt x="3771271" y="3443103"/>
                  </a:lnTo>
                  <a:lnTo>
                    <a:pt x="3730934" y="3458315"/>
                  </a:lnTo>
                  <a:lnTo>
                    <a:pt x="3689021" y="3473140"/>
                  </a:lnTo>
                  <a:lnTo>
                    <a:pt x="3645571" y="3487567"/>
                  </a:lnTo>
                  <a:lnTo>
                    <a:pt x="3600618" y="3501585"/>
                  </a:lnTo>
                  <a:lnTo>
                    <a:pt x="3554199" y="3515184"/>
                  </a:lnTo>
                  <a:lnTo>
                    <a:pt x="3506352" y="3528353"/>
                  </a:lnTo>
                  <a:lnTo>
                    <a:pt x="3457113" y="3541082"/>
                  </a:lnTo>
                  <a:lnTo>
                    <a:pt x="3406517" y="3553359"/>
                  </a:lnTo>
                  <a:lnTo>
                    <a:pt x="3354602" y="3565174"/>
                  </a:lnTo>
                  <a:lnTo>
                    <a:pt x="3301405" y="3576517"/>
                  </a:lnTo>
                  <a:lnTo>
                    <a:pt x="3246961" y="3587376"/>
                  </a:lnTo>
                  <a:lnTo>
                    <a:pt x="3191307" y="3597742"/>
                  </a:lnTo>
                  <a:lnTo>
                    <a:pt x="3134480" y="3607603"/>
                  </a:lnTo>
                  <a:lnTo>
                    <a:pt x="3076517" y="3616949"/>
                  </a:lnTo>
                  <a:lnTo>
                    <a:pt x="3017453" y="3625769"/>
                  </a:lnTo>
                  <a:lnTo>
                    <a:pt x="2957325" y="3634052"/>
                  </a:lnTo>
                  <a:lnTo>
                    <a:pt x="2896171" y="3641789"/>
                  </a:lnTo>
                  <a:lnTo>
                    <a:pt x="2834026" y="3648968"/>
                  </a:lnTo>
                  <a:lnTo>
                    <a:pt x="2770927" y="3655578"/>
                  </a:lnTo>
                  <a:lnTo>
                    <a:pt x="2706910" y="3661610"/>
                  </a:lnTo>
                  <a:lnTo>
                    <a:pt x="2642012" y="3667052"/>
                  </a:lnTo>
                  <a:lnTo>
                    <a:pt x="2576270" y="3671893"/>
                  </a:lnTo>
                  <a:lnTo>
                    <a:pt x="2509720" y="3676124"/>
                  </a:lnTo>
                  <a:lnTo>
                    <a:pt x="2442399" y="3679732"/>
                  </a:lnTo>
                  <a:lnTo>
                    <a:pt x="2374343" y="3682709"/>
                  </a:lnTo>
                  <a:lnTo>
                    <a:pt x="2305588" y="3685043"/>
                  </a:lnTo>
                  <a:lnTo>
                    <a:pt x="2236172" y="3686723"/>
                  </a:lnTo>
                  <a:lnTo>
                    <a:pt x="2166130" y="3687739"/>
                  </a:lnTo>
                  <a:lnTo>
                    <a:pt x="2095500" y="3688080"/>
                  </a:lnTo>
                  <a:lnTo>
                    <a:pt x="2024959" y="3687739"/>
                  </a:lnTo>
                  <a:lnTo>
                    <a:pt x="1954999" y="3686723"/>
                  </a:lnTo>
                  <a:lnTo>
                    <a:pt x="1885658" y="3685043"/>
                  </a:lnTo>
                  <a:lnTo>
                    <a:pt x="1816971" y="3682709"/>
                  </a:lnTo>
                  <a:lnTo>
                    <a:pt x="1748976" y="3679732"/>
                  </a:lnTo>
                  <a:lnTo>
                    <a:pt x="1681710" y="3676124"/>
                  </a:lnTo>
                  <a:lnTo>
                    <a:pt x="1615208" y="3671893"/>
                  </a:lnTo>
                  <a:lnTo>
                    <a:pt x="1549509" y="3667052"/>
                  </a:lnTo>
                  <a:lnTo>
                    <a:pt x="1484648" y="3661610"/>
                  </a:lnTo>
                  <a:lnTo>
                    <a:pt x="1420663" y="3655578"/>
                  </a:lnTo>
                  <a:lnTo>
                    <a:pt x="1357590" y="3648968"/>
                  </a:lnTo>
                  <a:lnTo>
                    <a:pt x="1295466" y="3641789"/>
                  </a:lnTo>
                  <a:lnTo>
                    <a:pt x="1234328" y="3634052"/>
                  </a:lnTo>
                  <a:lnTo>
                    <a:pt x="1174213" y="3625769"/>
                  </a:lnTo>
                  <a:lnTo>
                    <a:pt x="1115156" y="3616949"/>
                  </a:lnTo>
                  <a:lnTo>
                    <a:pt x="1057196" y="3607603"/>
                  </a:lnTo>
                  <a:lnTo>
                    <a:pt x="1000368" y="3597742"/>
                  </a:lnTo>
                  <a:lnTo>
                    <a:pt x="944710" y="3587376"/>
                  </a:lnTo>
                  <a:lnTo>
                    <a:pt x="890259" y="3576517"/>
                  </a:lnTo>
                  <a:lnTo>
                    <a:pt x="837050" y="3565174"/>
                  </a:lnTo>
                  <a:lnTo>
                    <a:pt x="785122" y="3553359"/>
                  </a:lnTo>
                  <a:lnTo>
                    <a:pt x="734510" y="3541082"/>
                  </a:lnTo>
                  <a:lnTo>
                    <a:pt x="685251" y="3528353"/>
                  </a:lnTo>
                  <a:lnTo>
                    <a:pt x="637382" y="3515184"/>
                  </a:lnTo>
                  <a:lnTo>
                    <a:pt x="590941" y="3501585"/>
                  </a:lnTo>
                  <a:lnTo>
                    <a:pt x="545963" y="3487567"/>
                  </a:lnTo>
                  <a:lnTo>
                    <a:pt x="502485" y="3473140"/>
                  </a:lnTo>
                  <a:lnTo>
                    <a:pt x="460545" y="3458315"/>
                  </a:lnTo>
                  <a:lnTo>
                    <a:pt x="420179" y="3443103"/>
                  </a:lnTo>
                  <a:lnTo>
                    <a:pt x="381423" y="3427514"/>
                  </a:lnTo>
                  <a:lnTo>
                    <a:pt x="344315" y="3411559"/>
                  </a:lnTo>
                  <a:lnTo>
                    <a:pt x="308891" y="3395248"/>
                  </a:lnTo>
                  <a:lnTo>
                    <a:pt x="243243" y="3361604"/>
                  </a:lnTo>
                  <a:lnTo>
                    <a:pt x="184774" y="3326665"/>
                  </a:lnTo>
                  <a:lnTo>
                    <a:pt x="133776" y="3290518"/>
                  </a:lnTo>
                  <a:lnTo>
                    <a:pt x="90545" y="3253247"/>
                  </a:lnTo>
                  <a:lnTo>
                    <a:pt x="55374" y="3214937"/>
                  </a:lnTo>
                  <a:lnTo>
                    <a:pt x="28558" y="3175675"/>
                  </a:lnTo>
                  <a:lnTo>
                    <a:pt x="10391" y="3135544"/>
                  </a:lnTo>
                  <a:lnTo>
                    <a:pt x="1166" y="3094631"/>
                  </a:lnTo>
                  <a:lnTo>
                    <a:pt x="0" y="3073908"/>
                  </a:lnTo>
                  <a:lnTo>
                    <a:pt x="0" y="615696"/>
                  </a:lnTo>
                  <a:close/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05840" y="4137659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1257300" y="1257300"/>
                  </a:moveTo>
                  <a:lnTo>
                    <a:pt x="0" y="1257300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1257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05839" y="4137659"/>
            <a:ext cx="1257300" cy="1257300"/>
          </a:xfrm>
          <a:prstGeom prst="rect">
            <a:avLst/>
          </a:prstGeom>
          <a:ln w="41148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0"/>
              </a:spcBef>
            </a:pP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C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82996" y="1738883"/>
            <a:ext cx="1257300" cy="4107179"/>
          </a:xfrm>
          <a:custGeom>
            <a:avLst/>
            <a:gdLst/>
            <a:ahLst/>
            <a:cxnLst/>
            <a:rect l="l" t="t" r="r" b="b"/>
            <a:pathLst>
              <a:path w="1257300" h="4107179">
                <a:moveTo>
                  <a:pt x="0" y="0"/>
                </a:moveTo>
                <a:lnTo>
                  <a:pt x="1257300" y="0"/>
                </a:lnTo>
                <a:lnTo>
                  <a:pt x="1257300" y="4107179"/>
                </a:lnTo>
                <a:lnTo>
                  <a:pt x="0" y="4107179"/>
                </a:lnTo>
                <a:lnTo>
                  <a:pt x="0" y="0"/>
                </a:lnTo>
                <a:close/>
              </a:path>
            </a:pathLst>
          </a:custGeom>
          <a:ln w="411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682996" y="5394959"/>
            <a:ext cx="1257300" cy="451484"/>
          </a:xfrm>
          <a:prstGeom prst="rect">
            <a:avLst/>
          </a:prstGeom>
          <a:ln w="4114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75" algn="ctr">
              <a:lnSpc>
                <a:spcPts val="1395"/>
              </a:lnSpc>
            </a:pPr>
            <a:r>
              <a:rPr sz="1750" b="1" spc="-10" dirty="0">
                <a:latin typeface="Arial" panose="020B0604020202020204"/>
                <a:cs typeface="Arial" panose="020B0604020202020204"/>
              </a:rPr>
              <a:t>Operating</a:t>
            </a:r>
            <a:endParaRPr sz="1750">
              <a:latin typeface="Arial" panose="020B0604020202020204"/>
              <a:cs typeface="Arial" panose="020B0604020202020204"/>
            </a:endParaRPr>
          </a:p>
          <a:p>
            <a:pPr marL="15875" algn="ctr">
              <a:lnSpc>
                <a:spcPct val="100000"/>
              </a:lnSpc>
              <a:spcBef>
                <a:spcPts val="10"/>
              </a:spcBef>
            </a:pPr>
            <a:r>
              <a:rPr sz="1750" b="1" spc="-10" dirty="0">
                <a:latin typeface="Arial" panose="020B0604020202020204"/>
                <a:cs typeface="Arial" panose="020B0604020202020204"/>
              </a:rPr>
              <a:t>System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17520" y="4137659"/>
            <a:ext cx="1257300" cy="1257300"/>
          </a:xfrm>
          <a:custGeom>
            <a:avLst/>
            <a:gdLst/>
            <a:ahLst/>
            <a:cxnLst/>
            <a:rect l="l" t="t" r="r" b="b"/>
            <a:pathLst>
              <a:path w="1257300" h="1257300">
                <a:moveTo>
                  <a:pt x="12573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257300" y="0"/>
                </a:lnTo>
                <a:lnTo>
                  <a:pt x="1257300" y="12573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5677598" y="1733486"/>
            <a:ext cx="1300480" cy="3682365"/>
            <a:chOff x="5677598" y="1733486"/>
            <a:chExt cx="1300480" cy="3682365"/>
          </a:xfrm>
        </p:grpSpPr>
        <p:sp>
          <p:nvSpPr>
            <p:cNvPr id="12" name="object 12"/>
            <p:cNvSpPr/>
            <p:nvPr/>
          </p:nvSpPr>
          <p:spPr>
            <a:xfrm>
              <a:off x="5682995" y="1738883"/>
              <a:ext cx="1257300" cy="3604260"/>
            </a:xfrm>
            <a:custGeom>
              <a:avLst/>
              <a:gdLst/>
              <a:ahLst/>
              <a:cxnLst/>
              <a:rect l="l" t="t" r="r" b="b"/>
              <a:pathLst>
                <a:path w="1257300" h="3604260">
                  <a:moveTo>
                    <a:pt x="754379" y="0"/>
                  </a:moveTo>
                  <a:lnTo>
                    <a:pt x="0" y="922019"/>
                  </a:lnTo>
                </a:path>
                <a:path w="1257300" h="3604260">
                  <a:moveTo>
                    <a:pt x="1089659" y="0"/>
                  </a:moveTo>
                  <a:lnTo>
                    <a:pt x="0" y="1341120"/>
                  </a:lnTo>
                </a:path>
                <a:path w="1257300" h="3604260">
                  <a:moveTo>
                    <a:pt x="1257300" y="251459"/>
                  </a:moveTo>
                  <a:lnTo>
                    <a:pt x="0" y="1844039"/>
                  </a:lnTo>
                </a:path>
                <a:path w="1257300" h="3604260">
                  <a:moveTo>
                    <a:pt x="1257300" y="670559"/>
                  </a:moveTo>
                  <a:lnTo>
                    <a:pt x="0" y="2263140"/>
                  </a:lnTo>
                </a:path>
                <a:path w="1257300" h="3604260">
                  <a:moveTo>
                    <a:pt x="1257300" y="1089659"/>
                  </a:moveTo>
                  <a:lnTo>
                    <a:pt x="0" y="2682240"/>
                  </a:lnTo>
                </a:path>
                <a:path w="1257300" h="3604260">
                  <a:moveTo>
                    <a:pt x="1257300" y="1508759"/>
                  </a:moveTo>
                  <a:lnTo>
                    <a:pt x="0" y="3101340"/>
                  </a:lnTo>
                </a:path>
                <a:path w="1257300" h="3604260">
                  <a:moveTo>
                    <a:pt x="1257300" y="1927859"/>
                  </a:moveTo>
                  <a:lnTo>
                    <a:pt x="0" y="3520440"/>
                  </a:lnTo>
                </a:path>
                <a:path w="1257300" h="3604260">
                  <a:moveTo>
                    <a:pt x="419100" y="0"/>
                  </a:moveTo>
                  <a:lnTo>
                    <a:pt x="0" y="502919"/>
                  </a:lnTo>
                </a:path>
                <a:path w="1257300" h="3604260">
                  <a:moveTo>
                    <a:pt x="83820" y="0"/>
                  </a:moveTo>
                  <a:lnTo>
                    <a:pt x="0" y="83819"/>
                  </a:lnTo>
                </a:path>
                <a:path w="1257300" h="3604260">
                  <a:moveTo>
                    <a:pt x="1257300" y="2346959"/>
                  </a:moveTo>
                  <a:lnTo>
                    <a:pt x="251459" y="360426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699759" y="4137659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1257300" y="1257300"/>
                  </a:moveTo>
                  <a:lnTo>
                    <a:pt x="0" y="1257300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1257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699759" y="4137659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17520" y="4137659"/>
            <a:ext cx="1257300" cy="1257300"/>
          </a:xfrm>
          <a:prstGeom prst="rect">
            <a:avLst/>
          </a:prstGeom>
          <a:ln w="41148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0"/>
              </a:spcBef>
            </a:pP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A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05839" y="3383279"/>
            <a:ext cx="1257300" cy="586740"/>
          </a:xfrm>
          <a:custGeom>
            <a:avLst/>
            <a:gdLst/>
            <a:ahLst/>
            <a:cxnLst/>
            <a:rect l="l" t="t" r="r" b="b"/>
            <a:pathLst>
              <a:path w="1257300" h="586739">
                <a:moveTo>
                  <a:pt x="1257300" y="586740"/>
                </a:moveTo>
                <a:lnTo>
                  <a:pt x="0" y="586740"/>
                </a:lnTo>
                <a:lnTo>
                  <a:pt x="0" y="0"/>
                </a:lnTo>
                <a:lnTo>
                  <a:pt x="1257300" y="0"/>
                </a:lnTo>
                <a:lnTo>
                  <a:pt x="1257300" y="5867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05839" y="3383279"/>
            <a:ext cx="1257300" cy="586740"/>
          </a:xfrm>
          <a:prstGeom prst="rect">
            <a:avLst/>
          </a:prstGeom>
          <a:ln w="41148">
            <a:solidFill>
              <a:srgbClr val="000000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B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07271" y="4588495"/>
            <a:ext cx="242570" cy="374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20"/>
              </a:lnSpc>
            </a:pPr>
            <a:r>
              <a:rPr sz="2650" b="1" spc="-60" dirty="0">
                <a:latin typeface="Arial" panose="020B0604020202020204"/>
                <a:cs typeface="Arial" panose="020B0604020202020204"/>
              </a:rPr>
              <a:t>A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99759" y="3550920"/>
            <a:ext cx="1257300" cy="586740"/>
          </a:xfrm>
          <a:custGeom>
            <a:avLst/>
            <a:gdLst/>
            <a:ahLst/>
            <a:cxnLst/>
            <a:rect l="l" t="t" r="r" b="b"/>
            <a:pathLst>
              <a:path w="1257300" h="586739">
                <a:moveTo>
                  <a:pt x="0" y="0"/>
                </a:moveTo>
                <a:lnTo>
                  <a:pt x="1257300" y="0"/>
                </a:lnTo>
                <a:lnTo>
                  <a:pt x="1257300" y="586739"/>
                </a:lnTo>
                <a:lnTo>
                  <a:pt x="0" y="586739"/>
                </a:lnTo>
                <a:lnTo>
                  <a:pt x="0" y="0"/>
                </a:lnTo>
                <a:close/>
              </a:path>
            </a:pathLst>
          </a:custGeom>
          <a:ln w="411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207271" y="3666474"/>
            <a:ext cx="242570" cy="374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20"/>
              </a:lnSpc>
            </a:pPr>
            <a:r>
              <a:rPr sz="2650" b="1" spc="-60" dirty="0">
                <a:latin typeface="Arial" panose="020B0604020202020204"/>
                <a:cs typeface="Arial" panose="020B0604020202020204"/>
              </a:rPr>
              <a:t>B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679122" y="2272982"/>
            <a:ext cx="1298575" cy="1298575"/>
            <a:chOff x="5679122" y="2272982"/>
            <a:chExt cx="1298575" cy="1298575"/>
          </a:xfrm>
        </p:grpSpPr>
        <p:sp>
          <p:nvSpPr>
            <p:cNvPr id="22" name="object 22"/>
            <p:cNvSpPr/>
            <p:nvPr/>
          </p:nvSpPr>
          <p:spPr>
            <a:xfrm>
              <a:off x="5699759" y="2293620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1257300" y="1257300"/>
                  </a:moveTo>
                  <a:lnTo>
                    <a:pt x="0" y="1257300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1257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699759" y="2293620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711952" y="2699993"/>
            <a:ext cx="119951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020" algn="ctr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C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17520" y="3215639"/>
            <a:ext cx="1257300" cy="754380"/>
          </a:xfrm>
          <a:custGeom>
            <a:avLst/>
            <a:gdLst/>
            <a:ahLst/>
            <a:cxnLst/>
            <a:rect l="l" t="t" r="r" b="b"/>
            <a:pathLst>
              <a:path w="1257300" h="754379">
                <a:moveTo>
                  <a:pt x="1257300" y="754379"/>
                </a:moveTo>
                <a:lnTo>
                  <a:pt x="0" y="754379"/>
                </a:lnTo>
                <a:lnTo>
                  <a:pt x="0" y="0"/>
                </a:lnTo>
                <a:lnTo>
                  <a:pt x="1257300" y="0"/>
                </a:lnTo>
                <a:lnTo>
                  <a:pt x="1257300" y="7543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017520" y="3215639"/>
            <a:ext cx="1257300" cy="754380"/>
          </a:xfrm>
          <a:prstGeom prst="rect">
            <a:avLst/>
          </a:prstGeom>
          <a:ln w="41148">
            <a:solidFill>
              <a:srgbClr val="000000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D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79122" y="4619942"/>
            <a:ext cx="1298575" cy="795655"/>
            <a:chOff x="5679122" y="4619942"/>
            <a:chExt cx="1298575" cy="795655"/>
          </a:xfrm>
        </p:grpSpPr>
        <p:sp>
          <p:nvSpPr>
            <p:cNvPr id="28" name="object 28"/>
            <p:cNvSpPr/>
            <p:nvPr/>
          </p:nvSpPr>
          <p:spPr>
            <a:xfrm>
              <a:off x="5699759" y="4640579"/>
              <a:ext cx="1257300" cy="754380"/>
            </a:xfrm>
            <a:custGeom>
              <a:avLst/>
              <a:gdLst/>
              <a:ahLst/>
              <a:cxnLst/>
              <a:rect l="l" t="t" r="r" b="b"/>
              <a:pathLst>
                <a:path w="1257300" h="754379">
                  <a:moveTo>
                    <a:pt x="1257300" y="754379"/>
                  </a:moveTo>
                  <a:lnTo>
                    <a:pt x="0" y="754379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7543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699759" y="4640579"/>
              <a:ext cx="1257300" cy="754380"/>
            </a:xfrm>
            <a:custGeom>
              <a:avLst/>
              <a:gdLst/>
              <a:ahLst/>
              <a:cxnLst/>
              <a:rect l="l" t="t" r="r" b="b"/>
              <a:pathLst>
                <a:path w="1257300" h="754379">
                  <a:moveTo>
                    <a:pt x="0" y="0"/>
                  </a:moveTo>
                  <a:lnTo>
                    <a:pt x="1257300" y="0"/>
                  </a:lnTo>
                  <a:lnTo>
                    <a:pt x="1257300" y="754379"/>
                  </a:lnTo>
                  <a:lnTo>
                    <a:pt x="0" y="754379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711952" y="4828794"/>
            <a:ext cx="1199515" cy="5461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3020" algn="ctr">
              <a:lnSpc>
                <a:spcPts val="3010"/>
              </a:lnSpc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D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80400" y="6261692"/>
            <a:ext cx="7308850" cy="774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950"/>
              </a:lnSpc>
              <a:spcBef>
                <a:spcPts val="90"/>
              </a:spcBef>
            </a:pP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650" b="1" spc="-3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50" b="1" spc="-4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50" b="1" spc="-3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Higher</a:t>
            </a:r>
            <a:r>
              <a:rPr sz="2650" b="1" spc="-2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spc="-3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Priority,</a:t>
            </a:r>
            <a:r>
              <a:rPr sz="2650" b="1" spc="-14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50" b="1" spc="-13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50" b="1" spc="-3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50" b="1" spc="-3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Lower</a:t>
            </a:r>
            <a:r>
              <a:rPr sz="2650" b="1" spc="-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spc="-1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Priority!!!</a:t>
            </a:r>
            <a:endParaRPr sz="2650">
              <a:latin typeface="Arial" panose="020B0604020202020204"/>
              <a:cs typeface="Arial" panose="020B0604020202020204"/>
            </a:endParaRPr>
          </a:p>
          <a:p>
            <a:pPr marL="1350645">
              <a:lnSpc>
                <a:spcPts val="2950"/>
              </a:lnSpc>
            </a:pPr>
            <a:r>
              <a:rPr sz="2650" b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650" b="1" spc="-60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exits</a:t>
            </a:r>
            <a:r>
              <a:rPr sz="2650" b="1" spc="-40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now,</a:t>
            </a:r>
            <a:r>
              <a:rPr sz="2650" b="1" spc="-95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Swap</a:t>
            </a:r>
            <a:r>
              <a:rPr sz="2650" b="1" spc="-100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50" b="1" spc="-150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spc="-50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679185" y="3530346"/>
            <a:ext cx="1298575" cy="1298575"/>
            <a:chOff x="5679185" y="3530346"/>
            <a:chExt cx="1298575" cy="1298575"/>
          </a:xfrm>
        </p:grpSpPr>
        <p:sp>
          <p:nvSpPr>
            <p:cNvPr id="33" name="object 33"/>
            <p:cNvSpPr/>
            <p:nvPr/>
          </p:nvSpPr>
          <p:spPr>
            <a:xfrm>
              <a:off x="5699759" y="3550920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1257300" y="1257300"/>
                  </a:moveTo>
                  <a:lnTo>
                    <a:pt x="0" y="1257300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1257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699759" y="3550920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711952" y="3957294"/>
            <a:ext cx="119951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020" algn="ctr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A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98256" y="2302339"/>
            <a:ext cx="2820670" cy="163512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indent="-2540" algn="ctr">
              <a:lnSpc>
                <a:spcPts val="3170"/>
              </a:lnSpc>
              <a:spcBef>
                <a:spcPts val="190"/>
              </a:spcBef>
            </a:pP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50" spc="-8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number,</a:t>
            </a:r>
            <a:r>
              <a:rPr sz="2650" spc="-8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size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5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location</a:t>
            </a:r>
            <a:r>
              <a:rPr sz="265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5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partition</a:t>
            </a:r>
            <a:r>
              <a:rPr sz="2650" spc="-6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50" spc="-7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decided dynamically.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39" name="object 39"/>
          <p:cNvSpPr txBox="1"/>
          <p:nvPr/>
        </p:nvSpPr>
        <p:spPr>
          <a:xfrm>
            <a:off x="284479" y="7077995"/>
            <a:ext cx="2552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32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2044" y="1784019"/>
            <a:ext cx="3469004" cy="2372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40765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EXTERNAL </a:t>
            </a:r>
            <a:r>
              <a:rPr sz="2200" b="1" spc="-4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FRAGMENTATION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Memory</a:t>
            </a:r>
            <a:r>
              <a:rPr sz="2200" spc="-7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External</a:t>
            </a:r>
            <a:r>
              <a:rPr sz="2200" spc="-6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200" spc="-7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all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partitions</a:t>
            </a:r>
            <a:r>
              <a:rPr sz="2200" spc="-6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200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Fragmented </a:t>
            </a:r>
            <a:r>
              <a:rPr sz="2200" i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Enough</a:t>
            </a:r>
            <a:r>
              <a:rPr sz="2200" i="1" spc="-9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i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total</a:t>
            </a:r>
            <a:r>
              <a:rPr sz="2200" i="1" spc="-8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i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memory</a:t>
            </a:r>
            <a:r>
              <a:rPr sz="2200" i="1" spc="-4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exists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200" spc="-5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satisfy</a:t>
            </a:r>
            <a:r>
              <a:rPr sz="2200" spc="-5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200" spc="-3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request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But</a:t>
            </a:r>
            <a:r>
              <a:rPr sz="22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2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i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not</a:t>
            </a:r>
            <a:r>
              <a:rPr sz="2200" i="1" spc="-2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i="1" spc="-1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Contiguous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0814" y="308898"/>
            <a:ext cx="1852295" cy="561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b="0" spc="-125" dirty="0">
                <a:latin typeface="Arial" panose="020B0604020202020204"/>
                <a:cs typeface="Arial" panose="020B0604020202020204"/>
              </a:rPr>
              <a:t>Swapping</a:t>
            </a:r>
            <a:endParaRPr b="0" spc="-125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0737" y="2026157"/>
            <a:ext cx="4223385" cy="3720465"/>
            <a:chOff x="570737" y="2026157"/>
            <a:chExt cx="4223385" cy="3720465"/>
          </a:xfrm>
        </p:grpSpPr>
        <p:sp>
          <p:nvSpPr>
            <p:cNvPr id="5" name="object 5"/>
            <p:cNvSpPr/>
            <p:nvPr/>
          </p:nvSpPr>
          <p:spPr>
            <a:xfrm>
              <a:off x="586739" y="2657855"/>
              <a:ext cx="4191000" cy="614680"/>
            </a:xfrm>
            <a:custGeom>
              <a:avLst/>
              <a:gdLst/>
              <a:ahLst/>
              <a:cxnLst/>
              <a:rect l="l" t="t" r="r" b="b"/>
              <a:pathLst>
                <a:path w="4191000" h="614679">
                  <a:moveTo>
                    <a:pt x="4191000" y="0"/>
                  </a:moveTo>
                  <a:lnTo>
                    <a:pt x="4186364" y="41272"/>
                  </a:lnTo>
                  <a:lnTo>
                    <a:pt x="4172652" y="81805"/>
                  </a:lnTo>
                  <a:lnTo>
                    <a:pt x="4150155" y="121512"/>
                  </a:lnTo>
                  <a:lnTo>
                    <a:pt x="4119167" y="160309"/>
                  </a:lnTo>
                  <a:lnTo>
                    <a:pt x="4079979" y="198109"/>
                  </a:lnTo>
                  <a:lnTo>
                    <a:pt x="4032884" y="234829"/>
                  </a:lnTo>
                  <a:lnTo>
                    <a:pt x="3978173" y="270383"/>
                  </a:lnTo>
                  <a:lnTo>
                    <a:pt x="3916139" y="304685"/>
                  </a:lnTo>
                  <a:lnTo>
                    <a:pt x="3847074" y="337651"/>
                  </a:lnTo>
                  <a:lnTo>
                    <a:pt x="3809997" y="353606"/>
                  </a:lnTo>
                  <a:lnTo>
                    <a:pt x="3771271" y="369195"/>
                  </a:lnTo>
                  <a:lnTo>
                    <a:pt x="3730934" y="384407"/>
                  </a:lnTo>
                  <a:lnTo>
                    <a:pt x="3689021" y="399232"/>
                  </a:lnTo>
                  <a:lnTo>
                    <a:pt x="3645571" y="413659"/>
                  </a:lnTo>
                  <a:lnTo>
                    <a:pt x="3600618" y="427677"/>
                  </a:lnTo>
                  <a:lnTo>
                    <a:pt x="3554199" y="441276"/>
                  </a:lnTo>
                  <a:lnTo>
                    <a:pt x="3506352" y="454445"/>
                  </a:lnTo>
                  <a:lnTo>
                    <a:pt x="3457113" y="467174"/>
                  </a:lnTo>
                  <a:lnTo>
                    <a:pt x="3406517" y="479451"/>
                  </a:lnTo>
                  <a:lnTo>
                    <a:pt x="3354602" y="491266"/>
                  </a:lnTo>
                  <a:lnTo>
                    <a:pt x="3301405" y="502609"/>
                  </a:lnTo>
                  <a:lnTo>
                    <a:pt x="3246961" y="513468"/>
                  </a:lnTo>
                  <a:lnTo>
                    <a:pt x="3191307" y="523834"/>
                  </a:lnTo>
                  <a:lnTo>
                    <a:pt x="3134480" y="533695"/>
                  </a:lnTo>
                  <a:lnTo>
                    <a:pt x="3076517" y="543041"/>
                  </a:lnTo>
                  <a:lnTo>
                    <a:pt x="3017453" y="551861"/>
                  </a:lnTo>
                  <a:lnTo>
                    <a:pt x="2957325" y="560144"/>
                  </a:lnTo>
                  <a:lnTo>
                    <a:pt x="2896171" y="567881"/>
                  </a:lnTo>
                  <a:lnTo>
                    <a:pt x="2834026" y="575060"/>
                  </a:lnTo>
                  <a:lnTo>
                    <a:pt x="2770927" y="581670"/>
                  </a:lnTo>
                  <a:lnTo>
                    <a:pt x="2706910" y="587702"/>
                  </a:lnTo>
                  <a:lnTo>
                    <a:pt x="2642012" y="593144"/>
                  </a:lnTo>
                  <a:lnTo>
                    <a:pt x="2576270" y="597985"/>
                  </a:lnTo>
                  <a:lnTo>
                    <a:pt x="2509720" y="602216"/>
                  </a:lnTo>
                  <a:lnTo>
                    <a:pt x="2442399" y="605824"/>
                  </a:lnTo>
                  <a:lnTo>
                    <a:pt x="2374343" y="608801"/>
                  </a:lnTo>
                  <a:lnTo>
                    <a:pt x="2305588" y="611135"/>
                  </a:lnTo>
                  <a:lnTo>
                    <a:pt x="2236172" y="612815"/>
                  </a:lnTo>
                  <a:lnTo>
                    <a:pt x="2166130" y="613831"/>
                  </a:lnTo>
                  <a:lnTo>
                    <a:pt x="2095500" y="614171"/>
                  </a:lnTo>
                  <a:lnTo>
                    <a:pt x="2024959" y="613831"/>
                  </a:lnTo>
                  <a:lnTo>
                    <a:pt x="1954999" y="612815"/>
                  </a:lnTo>
                  <a:lnTo>
                    <a:pt x="1885658" y="611135"/>
                  </a:lnTo>
                  <a:lnTo>
                    <a:pt x="1816971" y="608801"/>
                  </a:lnTo>
                  <a:lnTo>
                    <a:pt x="1748976" y="605824"/>
                  </a:lnTo>
                  <a:lnTo>
                    <a:pt x="1681710" y="602216"/>
                  </a:lnTo>
                  <a:lnTo>
                    <a:pt x="1615208" y="597985"/>
                  </a:lnTo>
                  <a:lnTo>
                    <a:pt x="1549509" y="593144"/>
                  </a:lnTo>
                  <a:lnTo>
                    <a:pt x="1484648" y="587702"/>
                  </a:lnTo>
                  <a:lnTo>
                    <a:pt x="1420663" y="581670"/>
                  </a:lnTo>
                  <a:lnTo>
                    <a:pt x="1357590" y="575060"/>
                  </a:lnTo>
                  <a:lnTo>
                    <a:pt x="1295466" y="567881"/>
                  </a:lnTo>
                  <a:lnTo>
                    <a:pt x="1234328" y="560144"/>
                  </a:lnTo>
                  <a:lnTo>
                    <a:pt x="1174213" y="551861"/>
                  </a:lnTo>
                  <a:lnTo>
                    <a:pt x="1115156" y="543041"/>
                  </a:lnTo>
                  <a:lnTo>
                    <a:pt x="1057196" y="533695"/>
                  </a:lnTo>
                  <a:lnTo>
                    <a:pt x="1000368" y="523834"/>
                  </a:lnTo>
                  <a:lnTo>
                    <a:pt x="944710" y="513468"/>
                  </a:lnTo>
                  <a:lnTo>
                    <a:pt x="890259" y="502609"/>
                  </a:lnTo>
                  <a:lnTo>
                    <a:pt x="837050" y="491266"/>
                  </a:lnTo>
                  <a:lnTo>
                    <a:pt x="785122" y="479451"/>
                  </a:lnTo>
                  <a:lnTo>
                    <a:pt x="734510" y="467174"/>
                  </a:lnTo>
                  <a:lnTo>
                    <a:pt x="685251" y="454445"/>
                  </a:lnTo>
                  <a:lnTo>
                    <a:pt x="637382" y="441276"/>
                  </a:lnTo>
                  <a:lnTo>
                    <a:pt x="590941" y="427677"/>
                  </a:lnTo>
                  <a:lnTo>
                    <a:pt x="545963" y="413659"/>
                  </a:lnTo>
                  <a:lnTo>
                    <a:pt x="502485" y="399232"/>
                  </a:lnTo>
                  <a:lnTo>
                    <a:pt x="460545" y="384407"/>
                  </a:lnTo>
                  <a:lnTo>
                    <a:pt x="420179" y="369195"/>
                  </a:lnTo>
                  <a:lnTo>
                    <a:pt x="381423" y="353606"/>
                  </a:lnTo>
                  <a:lnTo>
                    <a:pt x="344315" y="337651"/>
                  </a:lnTo>
                  <a:lnTo>
                    <a:pt x="308891" y="321340"/>
                  </a:lnTo>
                  <a:lnTo>
                    <a:pt x="243243" y="287696"/>
                  </a:lnTo>
                  <a:lnTo>
                    <a:pt x="184774" y="252757"/>
                  </a:lnTo>
                  <a:lnTo>
                    <a:pt x="133776" y="216610"/>
                  </a:lnTo>
                  <a:lnTo>
                    <a:pt x="90545" y="179339"/>
                  </a:lnTo>
                  <a:lnTo>
                    <a:pt x="55374" y="141029"/>
                  </a:lnTo>
                  <a:lnTo>
                    <a:pt x="28558" y="101767"/>
                  </a:lnTo>
                  <a:lnTo>
                    <a:pt x="10391" y="61636"/>
                  </a:lnTo>
                  <a:lnTo>
                    <a:pt x="1166" y="20723"/>
                  </a:lnTo>
                  <a:lnTo>
                    <a:pt x="0" y="0"/>
                  </a:lnTo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86739" y="2042159"/>
              <a:ext cx="4191000" cy="3688079"/>
            </a:xfrm>
            <a:custGeom>
              <a:avLst/>
              <a:gdLst/>
              <a:ahLst/>
              <a:cxnLst/>
              <a:rect l="l" t="t" r="r" b="b"/>
              <a:pathLst>
                <a:path w="4191000" h="3688079">
                  <a:moveTo>
                    <a:pt x="0" y="615696"/>
                  </a:moveTo>
                  <a:lnTo>
                    <a:pt x="4642" y="574415"/>
                  </a:lnTo>
                  <a:lnTo>
                    <a:pt x="18375" y="533861"/>
                  </a:lnTo>
                  <a:lnTo>
                    <a:pt x="40904" y="494120"/>
                  </a:lnTo>
                  <a:lnTo>
                    <a:pt x="71934" y="455278"/>
                  </a:lnTo>
                  <a:lnTo>
                    <a:pt x="111171" y="417421"/>
                  </a:lnTo>
                  <a:lnTo>
                    <a:pt x="158323" y="380636"/>
                  </a:lnTo>
                  <a:lnTo>
                    <a:pt x="213093" y="345010"/>
                  </a:lnTo>
                  <a:lnTo>
                    <a:pt x="275188" y="310628"/>
                  </a:lnTo>
                  <a:lnTo>
                    <a:pt x="344315" y="277578"/>
                  </a:lnTo>
                  <a:lnTo>
                    <a:pt x="381423" y="261579"/>
                  </a:lnTo>
                  <a:lnTo>
                    <a:pt x="420179" y="245945"/>
                  </a:lnTo>
                  <a:lnTo>
                    <a:pt x="460545" y="230688"/>
                  </a:lnTo>
                  <a:lnTo>
                    <a:pt x="502485" y="215817"/>
                  </a:lnTo>
                  <a:lnTo>
                    <a:pt x="545963" y="201344"/>
                  </a:lnTo>
                  <a:lnTo>
                    <a:pt x="590941" y="187279"/>
                  </a:lnTo>
                  <a:lnTo>
                    <a:pt x="637382" y="173633"/>
                  </a:lnTo>
                  <a:lnTo>
                    <a:pt x="685251" y="160418"/>
                  </a:lnTo>
                  <a:lnTo>
                    <a:pt x="734510" y="147643"/>
                  </a:lnTo>
                  <a:lnTo>
                    <a:pt x="785122" y="135320"/>
                  </a:lnTo>
                  <a:lnTo>
                    <a:pt x="837050" y="123459"/>
                  </a:lnTo>
                  <a:lnTo>
                    <a:pt x="890259" y="112072"/>
                  </a:lnTo>
                  <a:lnTo>
                    <a:pt x="944710" y="101169"/>
                  </a:lnTo>
                  <a:lnTo>
                    <a:pt x="1000368" y="90760"/>
                  </a:lnTo>
                  <a:lnTo>
                    <a:pt x="1057196" y="80858"/>
                  </a:lnTo>
                  <a:lnTo>
                    <a:pt x="1115156" y="71471"/>
                  </a:lnTo>
                  <a:lnTo>
                    <a:pt x="1174213" y="62612"/>
                  </a:lnTo>
                  <a:lnTo>
                    <a:pt x="1234328" y="54291"/>
                  </a:lnTo>
                  <a:lnTo>
                    <a:pt x="1295466" y="46519"/>
                  </a:lnTo>
                  <a:lnTo>
                    <a:pt x="1357590" y="39307"/>
                  </a:lnTo>
                  <a:lnTo>
                    <a:pt x="1420663" y="32665"/>
                  </a:lnTo>
                  <a:lnTo>
                    <a:pt x="1484648" y="26604"/>
                  </a:lnTo>
                  <a:lnTo>
                    <a:pt x="1549509" y="21136"/>
                  </a:lnTo>
                  <a:lnTo>
                    <a:pt x="1615208" y="16270"/>
                  </a:lnTo>
                  <a:lnTo>
                    <a:pt x="1681710" y="12018"/>
                  </a:lnTo>
                  <a:lnTo>
                    <a:pt x="1748976" y="8391"/>
                  </a:lnTo>
                  <a:lnTo>
                    <a:pt x="1816971" y="5399"/>
                  </a:lnTo>
                  <a:lnTo>
                    <a:pt x="1885658" y="3053"/>
                  </a:lnTo>
                  <a:lnTo>
                    <a:pt x="1954999" y="1364"/>
                  </a:lnTo>
                  <a:lnTo>
                    <a:pt x="2024959" y="342"/>
                  </a:lnTo>
                  <a:lnTo>
                    <a:pt x="2095500" y="0"/>
                  </a:lnTo>
                  <a:lnTo>
                    <a:pt x="2166130" y="342"/>
                  </a:lnTo>
                  <a:lnTo>
                    <a:pt x="2236172" y="1364"/>
                  </a:lnTo>
                  <a:lnTo>
                    <a:pt x="2305588" y="3053"/>
                  </a:lnTo>
                  <a:lnTo>
                    <a:pt x="2374343" y="5399"/>
                  </a:lnTo>
                  <a:lnTo>
                    <a:pt x="2442399" y="8391"/>
                  </a:lnTo>
                  <a:lnTo>
                    <a:pt x="2509720" y="12018"/>
                  </a:lnTo>
                  <a:lnTo>
                    <a:pt x="2576270" y="16270"/>
                  </a:lnTo>
                  <a:lnTo>
                    <a:pt x="2642012" y="21136"/>
                  </a:lnTo>
                  <a:lnTo>
                    <a:pt x="2706910" y="26604"/>
                  </a:lnTo>
                  <a:lnTo>
                    <a:pt x="2770927" y="32665"/>
                  </a:lnTo>
                  <a:lnTo>
                    <a:pt x="2834026" y="39307"/>
                  </a:lnTo>
                  <a:lnTo>
                    <a:pt x="2896171" y="46519"/>
                  </a:lnTo>
                  <a:lnTo>
                    <a:pt x="2957325" y="54291"/>
                  </a:lnTo>
                  <a:lnTo>
                    <a:pt x="3017453" y="62612"/>
                  </a:lnTo>
                  <a:lnTo>
                    <a:pt x="3076517" y="71471"/>
                  </a:lnTo>
                  <a:lnTo>
                    <a:pt x="3134480" y="80858"/>
                  </a:lnTo>
                  <a:lnTo>
                    <a:pt x="3191307" y="90760"/>
                  </a:lnTo>
                  <a:lnTo>
                    <a:pt x="3246961" y="101169"/>
                  </a:lnTo>
                  <a:lnTo>
                    <a:pt x="3301405" y="112072"/>
                  </a:lnTo>
                  <a:lnTo>
                    <a:pt x="3354602" y="123459"/>
                  </a:lnTo>
                  <a:lnTo>
                    <a:pt x="3406517" y="135320"/>
                  </a:lnTo>
                  <a:lnTo>
                    <a:pt x="3457113" y="147643"/>
                  </a:lnTo>
                  <a:lnTo>
                    <a:pt x="3506352" y="160418"/>
                  </a:lnTo>
                  <a:lnTo>
                    <a:pt x="3554199" y="173633"/>
                  </a:lnTo>
                  <a:lnTo>
                    <a:pt x="3600618" y="187279"/>
                  </a:lnTo>
                  <a:lnTo>
                    <a:pt x="3645571" y="201344"/>
                  </a:lnTo>
                  <a:lnTo>
                    <a:pt x="3689021" y="215817"/>
                  </a:lnTo>
                  <a:lnTo>
                    <a:pt x="3730934" y="230688"/>
                  </a:lnTo>
                  <a:lnTo>
                    <a:pt x="3771271" y="245945"/>
                  </a:lnTo>
                  <a:lnTo>
                    <a:pt x="3809997" y="261579"/>
                  </a:lnTo>
                  <a:lnTo>
                    <a:pt x="3847074" y="277578"/>
                  </a:lnTo>
                  <a:lnTo>
                    <a:pt x="3882467" y="293931"/>
                  </a:lnTo>
                  <a:lnTo>
                    <a:pt x="3948053" y="327658"/>
                  </a:lnTo>
                  <a:lnTo>
                    <a:pt x="4006462" y="362673"/>
                  </a:lnTo>
                  <a:lnTo>
                    <a:pt x="4057401" y="398889"/>
                  </a:lnTo>
                  <a:lnTo>
                    <a:pt x="4100580" y="436221"/>
                  </a:lnTo>
                  <a:lnTo>
                    <a:pt x="4135705" y="474581"/>
                  </a:lnTo>
                  <a:lnTo>
                    <a:pt x="4162483" y="513884"/>
                  </a:lnTo>
                  <a:lnTo>
                    <a:pt x="4180624" y="554042"/>
                  </a:lnTo>
                  <a:lnTo>
                    <a:pt x="4189835" y="594970"/>
                  </a:lnTo>
                  <a:lnTo>
                    <a:pt x="4191000" y="615696"/>
                  </a:lnTo>
                  <a:lnTo>
                    <a:pt x="4191000" y="3073908"/>
                  </a:lnTo>
                  <a:lnTo>
                    <a:pt x="4186364" y="3115180"/>
                  </a:lnTo>
                  <a:lnTo>
                    <a:pt x="4172652" y="3155713"/>
                  </a:lnTo>
                  <a:lnTo>
                    <a:pt x="4150155" y="3195420"/>
                  </a:lnTo>
                  <a:lnTo>
                    <a:pt x="4119167" y="3234217"/>
                  </a:lnTo>
                  <a:lnTo>
                    <a:pt x="4079979" y="3272017"/>
                  </a:lnTo>
                  <a:lnTo>
                    <a:pt x="4032884" y="3308737"/>
                  </a:lnTo>
                  <a:lnTo>
                    <a:pt x="3978173" y="3344291"/>
                  </a:lnTo>
                  <a:lnTo>
                    <a:pt x="3916139" y="3378593"/>
                  </a:lnTo>
                  <a:lnTo>
                    <a:pt x="3847074" y="3411559"/>
                  </a:lnTo>
                  <a:lnTo>
                    <a:pt x="3809997" y="3427514"/>
                  </a:lnTo>
                  <a:lnTo>
                    <a:pt x="3771271" y="3443103"/>
                  </a:lnTo>
                  <a:lnTo>
                    <a:pt x="3730934" y="3458315"/>
                  </a:lnTo>
                  <a:lnTo>
                    <a:pt x="3689021" y="3473140"/>
                  </a:lnTo>
                  <a:lnTo>
                    <a:pt x="3645571" y="3487567"/>
                  </a:lnTo>
                  <a:lnTo>
                    <a:pt x="3600618" y="3501585"/>
                  </a:lnTo>
                  <a:lnTo>
                    <a:pt x="3554199" y="3515184"/>
                  </a:lnTo>
                  <a:lnTo>
                    <a:pt x="3506352" y="3528353"/>
                  </a:lnTo>
                  <a:lnTo>
                    <a:pt x="3457113" y="3541082"/>
                  </a:lnTo>
                  <a:lnTo>
                    <a:pt x="3406517" y="3553359"/>
                  </a:lnTo>
                  <a:lnTo>
                    <a:pt x="3354602" y="3565174"/>
                  </a:lnTo>
                  <a:lnTo>
                    <a:pt x="3301405" y="3576517"/>
                  </a:lnTo>
                  <a:lnTo>
                    <a:pt x="3246961" y="3587376"/>
                  </a:lnTo>
                  <a:lnTo>
                    <a:pt x="3191307" y="3597742"/>
                  </a:lnTo>
                  <a:lnTo>
                    <a:pt x="3134480" y="3607603"/>
                  </a:lnTo>
                  <a:lnTo>
                    <a:pt x="3076517" y="3616949"/>
                  </a:lnTo>
                  <a:lnTo>
                    <a:pt x="3017453" y="3625769"/>
                  </a:lnTo>
                  <a:lnTo>
                    <a:pt x="2957325" y="3634052"/>
                  </a:lnTo>
                  <a:lnTo>
                    <a:pt x="2896171" y="3641789"/>
                  </a:lnTo>
                  <a:lnTo>
                    <a:pt x="2834026" y="3648968"/>
                  </a:lnTo>
                  <a:lnTo>
                    <a:pt x="2770927" y="3655578"/>
                  </a:lnTo>
                  <a:lnTo>
                    <a:pt x="2706910" y="3661610"/>
                  </a:lnTo>
                  <a:lnTo>
                    <a:pt x="2642012" y="3667052"/>
                  </a:lnTo>
                  <a:lnTo>
                    <a:pt x="2576270" y="3671893"/>
                  </a:lnTo>
                  <a:lnTo>
                    <a:pt x="2509720" y="3676124"/>
                  </a:lnTo>
                  <a:lnTo>
                    <a:pt x="2442399" y="3679732"/>
                  </a:lnTo>
                  <a:lnTo>
                    <a:pt x="2374343" y="3682709"/>
                  </a:lnTo>
                  <a:lnTo>
                    <a:pt x="2305588" y="3685043"/>
                  </a:lnTo>
                  <a:lnTo>
                    <a:pt x="2236172" y="3686723"/>
                  </a:lnTo>
                  <a:lnTo>
                    <a:pt x="2166130" y="3687739"/>
                  </a:lnTo>
                  <a:lnTo>
                    <a:pt x="2095500" y="3688080"/>
                  </a:lnTo>
                  <a:lnTo>
                    <a:pt x="2024959" y="3687739"/>
                  </a:lnTo>
                  <a:lnTo>
                    <a:pt x="1954999" y="3686723"/>
                  </a:lnTo>
                  <a:lnTo>
                    <a:pt x="1885658" y="3685043"/>
                  </a:lnTo>
                  <a:lnTo>
                    <a:pt x="1816971" y="3682709"/>
                  </a:lnTo>
                  <a:lnTo>
                    <a:pt x="1748976" y="3679732"/>
                  </a:lnTo>
                  <a:lnTo>
                    <a:pt x="1681710" y="3676124"/>
                  </a:lnTo>
                  <a:lnTo>
                    <a:pt x="1615208" y="3671893"/>
                  </a:lnTo>
                  <a:lnTo>
                    <a:pt x="1549509" y="3667052"/>
                  </a:lnTo>
                  <a:lnTo>
                    <a:pt x="1484648" y="3661610"/>
                  </a:lnTo>
                  <a:lnTo>
                    <a:pt x="1420663" y="3655578"/>
                  </a:lnTo>
                  <a:lnTo>
                    <a:pt x="1357590" y="3648968"/>
                  </a:lnTo>
                  <a:lnTo>
                    <a:pt x="1295466" y="3641789"/>
                  </a:lnTo>
                  <a:lnTo>
                    <a:pt x="1234328" y="3634052"/>
                  </a:lnTo>
                  <a:lnTo>
                    <a:pt x="1174213" y="3625769"/>
                  </a:lnTo>
                  <a:lnTo>
                    <a:pt x="1115156" y="3616949"/>
                  </a:lnTo>
                  <a:lnTo>
                    <a:pt x="1057196" y="3607603"/>
                  </a:lnTo>
                  <a:lnTo>
                    <a:pt x="1000368" y="3597742"/>
                  </a:lnTo>
                  <a:lnTo>
                    <a:pt x="944710" y="3587376"/>
                  </a:lnTo>
                  <a:lnTo>
                    <a:pt x="890259" y="3576517"/>
                  </a:lnTo>
                  <a:lnTo>
                    <a:pt x="837050" y="3565174"/>
                  </a:lnTo>
                  <a:lnTo>
                    <a:pt x="785122" y="3553359"/>
                  </a:lnTo>
                  <a:lnTo>
                    <a:pt x="734510" y="3541082"/>
                  </a:lnTo>
                  <a:lnTo>
                    <a:pt x="685251" y="3528353"/>
                  </a:lnTo>
                  <a:lnTo>
                    <a:pt x="637382" y="3515184"/>
                  </a:lnTo>
                  <a:lnTo>
                    <a:pt x="590941" y="3501585"/>
                  </a:lnTo>
                  <a:lnTo>
                    <a:pt x="545963" y="3487567"/>
                  </a:lnTo>
                  <a:lnTo>
                    <a:pt x="502485" y="3473140"/>
                  </a:lnTo>
                  <a:lnTo>
                    <a:pt x="460545" y="3458315"/>
                  </a:lnTo>
                  <a:lnTo>
                    <a:pt x="420179" y="3443103"/>
                  </a:lnTo>
                  <a:lnTo>
                    <a:pt x="381423" y="3427514"/>
                  </a:lnTo>
                  <a:lnTo>
                    <a:pt x="344315" y="3411559"/>
                  </a:lnTo>
                  <a:lnTo>
                    <a:pt x="308891" y="3395248"/>
                  </a:lnTo>
                  <a:lnTo>
                    <a:pt x="243243" y="3361604"/>
                  </a:lnTo>
                  <a:lnTo>
                    <a:pt x="184774" y="3326665"/>
                  </a:lnTo>
                  <a:lnTo>
                    <a:pt x="133776" y="3290518"/>
                  </a:lnTo>
                  <a:lnTo>
                    <a:pt x="90545" y="3253247"/>
                  </a:lnTo>
                  <a:lnTo>
                    <a:pt x="55374" y="3214937"/>
                  </a:lnTo>
                  <a:lnTo>
                    <a:pt x="28558" y="3175675"/>
                  </a:lnTo>
                  <a:lnTo>
                    <a:pt x="10391" y="3135544"/>
                  </a:lnTo>
                  <a:lnTo>
                    <a:pt x="1166" y="3094631"/>
                  </a:lnTo>
                  <a:lnTo>
                    <a:pt x="0" y="3073908"/>
                  </a:lnTo>
                  <a:lnTo>
                    <a:pt x="0" y="615696"/>
                  </a:lnTo>
                  <a:close/>
                </a:path>
              </a:pathLst>
            </a:custGeom>
            <a:ln w="320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41119" y="4221479"/>
              <a:ext cx="1257300" cy="1173480"/>
            </a:xfrm>
            <a:custGeom>
              <a:avLst/>
              <a:gdLst/>
              <a:ahLst/>
              <a:cxnLst/>
              <a:rect l="l" t="t" r="r" b="b"/>
              <a:pathLst>
                <a:path w="1257300" h="1173479">
                  <a:moveTo>
                    <a:pt x="1257300" y="1173479"/>
                  </a:moveTo>
                  <a:lnTo>
                    <a:pt x="0" y="1173479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11734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341119" y="4221479"/>
            <a:ext cx="1257300" cy="1173480"/>
          </a:xfrm>
          <a:prstGeom prst="rect">
            <a:avLst/>
          </a:prstGeom>
          <a:ln w="41148">
            <a:solidFill>
              <a:srgbClr val="000000"/>
            </a:solidFill>
          </a:ln>
        </p:spPr>
        <p:txBody>
          <a:bodyPr vert="horz" wrap="square" lIns="0" tIns="3752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55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E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29200" y="1906523"/>
            <a:ext cx="1257300" cy="4107179"/>
          </a:xfrm>
          <a:custGeom>
            <a:avLst/>
            <a:gdLst/>
            <a:ahLst/>
            <a:cxnLst/>
            <a:rect l="l" t="t" r="r" b="b"/>
            <a:pathLst>
              <a:path w="1257300" h="4107179">
                <a:moveTo>
                  <a:pt x="0" y="0"/>
                </a:moveTo>
                <a:lnTo>
                  <a:pt x="1257300" y="0"/>
                </a:lnTo>
                <a:lnTo>
                  <a:pt x="1257300" y="4107179"/>
                </a:lnTo>
                <a:lnTo>
                  <a:pt x="0" y="4107179"/>
                </a:lnTo>
                <a:lnTo>
                  <a:pt x="0" y="0"/>
                </a:lnTo>
                <a:close/>
              </a:path>
            </a:pathLst>
          </a:custGeom>
          <a:ln w="411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029200" y="5504688"/>
            <a:ext cx="1257300" cy="509270"/>
          </a:xfrm>
          <a:prstGeom prst="rect">
            <a:avLst/>
          </a:prstGeom>
          <a:ln w="4114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415" algn="ctr">
              <a:lnSpc>
                <a:spcPts val="1850"/>
              </a:lnSpc>
            </a:pPr>
            <a:r>
              <a:rPr sz="1750" b="1" spc="-10" dirty="0">
                <a:latin typeface="Arial" panose="020B0604020202020204"/>
                <a:cs typeface="Arial" panose="020B0604020202020204"/>
              </a:rPr>
              <a:t>Operating</a:t>
            </a:r>
            <a:endParaRPr sz="1750">
              <a:latin typeface="Arial" panose="020B0604020202020204"/>
              <a:cs typeface="Arial" panose="020B0604020202020204"/>
            </a:endParaRPr>
          </a:p>
          <a:p>
            <a:pPr marL="19050" algn="ctr">
              <a:lnSpc>
                <a:spcPct val="100000"/>
              </a:lnSpc>
              <a:spcBef>
                <a:spcPts val="10"/>
              </a:spcBef>
            </a:pPr>
            <a:r>
              <a:rPr sz="1750" b="1" spc="-10" dirty="0">
                <a:latin typeface="Arial" panose="020B0604020202020204"/>
                <a:cs typeface="Arial" panose="020B0604020202020204"/>
              </a:rPr>
              <a:t>System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08562" y="1901126"/>
            <a:ext cx="1298575" cy="3615054"/>
            <a:chOff x="5008562" y="1901126"/>
            <a:chExt cx="1298575" cy="3615054"/>
          </a:xfrm>
        </p:grpSpPr>
        <p:sp>
          <p:nvSpPr>
            <p:cNvPr id="12" name="object 12"/>
            <p:cNvSpPr/>
            <p:nvPr/>
          </p:nvSpPr>
          <p:spPr>
            <a:xfrm>
              <a:off x="5029200" y="1906524"/>
              <a:ext cx="1257300" cy="3604260"/>
            </a:xfrm>
            <a:custGeom>
              <a:avLst/>
              <a:gdLst/>
              <a:ahLst/>
              <a:cxnLst/>
              <a:rect l="l" t="t" r="r" b="b"/>
              <a:pathLst>
                <a:path w="1257300" h="3604260">
                  <a:moveTo>
                    <a:pt x="754380" y="0"/>
                  </a:moveTo>
                  <a:lnTo>
                    <a:pt x="0" y="922019"/>
                  </a:lnTo>
                </a:path>
                <a:path w="1257300" h="3604260">
                  <a:moveTo>
                    <a:pt x="1089659" y="0"/>
                  </a:moveTo>
                  <a:lnTo>
                    <a:pt x="0" y="1341119"/>
                  </a:lnTo>
                </a:path>
                <a:path w="1257300" h="3604260">
                  <a:moveTo>
                    <a:pt x="1257300" y="251460"/>
                  </a:moveTo>
                  <a:lnTo>
                    <a:pt x="0" y="1844039"/>
                  </a:lnTo>
                </a:path>
                <a:path w="1257300" h="3604260">
                  <a:moveTo>
                    <a:pt x="1257300" y="670560"/>
                  </a:moveTo>
                  <a:lnTo>
                    <a:pt x="0" y="2263140"/>
                  </a:lnTo>
                </a:path>
                <a:path w="1257300" h="3604260">
                  <a:moveTo>
                    <a:pt x="1257300" y="1089660"/>
                  </a:moveTo>
                  <a:lnTo>
                    <a:pt x="0" y="2682240"/>
                  </a:lnTo>
                </a:path>
                <a:path w="1257300" h="3604260">
                  <a:moveTo>
                    <a:pt x="1257300" y="1508760"/>
                  </a:moveTo>
                  <a:lnTo>
                    <a:pt x="0" y="3101340"/>
                  </a:lnTo>
                </a:path>
                <a:path w="1257300" h="3604260">
                  <a:moveTo>
                    <a:pt x="1257300" y="1927860"/>
                  </a:moveTo>
                  <a:lnTo>
                    <a:pt x="0" y="3520440"/>
                  </a:lnTo>
                </a:path>
                <a:path w="1257300" h="3604260">
                  <a:moveTo>
                    <a:pt x="419100" y="0"/>
                  </a:moveTo>
                  <a:lnTo>
                    <a:pt x="0" y="502919"/>
                  </a:lnTo>
                </a:path>
                <a:path w="1257300" h="3604260">
                  <a:moveTo>
                    <a:pt x="83819" y="0"/>
                  </a:moveTo>
                  <a:lnTo>
                    <a:pt x="0" y="83819"/>
                  </a:lnTo>
                </a:path>
                <a:path w="1257300" h="3604260">
                  <a:moveTo>
                    <a:pt x="1257300" y="2346960"/>
                  </a:moveTo>
                  <a:lnTo>
                    <a:pt x="251459" y="3604259"/>
                  </a:lnTo>
                </a:path>
                <a:path w="1257300" h="3604260">
                  <a:moveTo>
                    <a:pt x="1257300" y="2766060"/>
                  </a:moveTo>
                  <a:lnTo>
                    <a:pt x="586740" y="3604259"/>
                  </a:lnTo>
                </a:path>
                <a:path w="1257300" h="3604260">
                  <a:moveTo>
                    <a:pt x="1257300" y="3185159"/>
                  </a:moveTo>
                  <a:lnTo>
                    <a:pt x="922019" y="3604259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029200" y="2855976"/>
              <a:ext cx="1257300" cy="862965"/>
            </a:xfrm>
            <a:custGeom>
              <a:avLst/>
              <a:gdLst/>
              <a:ahLst/>
              <a:cxnLst/>
              <a:rect l="l" t="t" r="r" b="b"/>
              <a:pathLst>
                <a:path w="1257300" h="862964">
                  <a:moveTo>
                    <a:pt x="1257300" y="862583"/>
                  </a:moveTo>
                  <a:lnTo>
                    <a:pt x="0" y="862583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8625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029200" y="2855976"/>
              <a:ext cx="1257300" cy="862965"/>
            </a:xfrm>
            <a:custGeom>
              <a:avLst/>
              <a:gdLst/>
              <a:ahLst/>
              <a:cxnLst/>
              <a:rect l="l" t="t" r="r" b="b"/>
              <a:pathLst>
                <a:path w="1257300" h="862964">
                  <a:moveTo>
                    <a:pt x="0" y="0"/>
                  </a:moveTo>
                  <a:lnTo>
                    <a:pt x="1257300" y="0"/>
                  </a:lnTo>
                  <a:lnTo>
                    <a:pt x="1257300" y="862583"/>
                  </a:lnTo>
                  <a:lnTo>
                    <a:pt x="0" y="862583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049773" y="3064250"/>
            <a:ext cx="121666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C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08562" y="4897310"/>
            <a:ext cx="1298575" cy="628015"/>
            <a:chOff x="5008562" y="4897310"/>
            <a:chExt cx="1298575" cy="628015"/>
          </a:xfrm>
        </p:grpSpPr>
        <p:sp>
          <p:nvSpPr>
            <p:cNvPr id="17" name="object 17"/>
            <p:cNvSpPr/>
            <p:nvPr/>
          </p:nvSpPr>
          <p:spPr>
            <a:xfrm>
              <a:off x="5029200" y="4917947"/>
              <a:ext cx="1257300" cy="586740"/>
            </a:xfrm>
            <a:custGeom>
              <a:avLst/>
              <a:gdLst/>
              <a:ahLst/>
              <a:cxnLst/>
              <a:rect l="l" t="t" r="r" b="b"/>
              <a:pathLst>
                <a:path w="1257300" h="586739">
                  <a:moveTo>
                    <a:pt x="1257300" y="586739"/>
                  </a:moveTo>
                  <a:lnTo>
                    <a:pt x="0" y="586739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5867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029200" y="4917947"/>
              <a:ext cx="1257300" cy="586740"/>
            </a:xfrm>
            <a:custGeom>
              <a:avLst/>
              <a:gdLst/>
              <a:ahLst/>
              <a:cxnLst/>
              <a:rect l="l" t="t" r="r" b="b"/>
              <a:pathLst>
                <a:path w="1257300" h="586739">
                  <a:moveTo>
                    <a:pt x="0" y="0"/>
                  </a:moveTo>
                  <a:lnTo>
                    <a:pt x="1257300" y="0"/>
                  </a:lnTo>
                  <a:lnTo>
                    <a:pt x="1257300" y="586739"/>
                  </a:lnTo>
                  <a:lnTo>
                    <a:pt x="0" y="586739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049773" y="4987528"/>
            <a:ext cx="121666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D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008562" y="3697922"/>
            <a:ext cx="1298575" cy="1298575"/>
            <a:chOff x="5008562" y="3697922"/>
            <a:chExt cx="1298575" cy="1298575"/>
          </a:xfrm>
        </p:grpSpPr>
        <p:sp>
          <p:nvSpPr>
            <p:cNvPr id="21" name="object 21"/>
            <p:cNvSpPr/>
            <p:nvPr/>
          </p:nvSpPr>
          <p:spPr>
            <a:xfrm>
              <a:off x="5029200" y="3718559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1257300" y="1257300"/>
                  </a:moveTo>
                  <a:lnTo>
                    <a:pt x="0" y="1257300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1257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029200" y="3718559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049773" y="4124935"/>
            <a:ext cx="121666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A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28706" y="4601989"/>
            <a:ext cx="2273935" cy="8305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 marR="5080" indent="-26035">
              <a:lnSpc>
                <a:spcPts val="3170"/>
              </a:lnSpc>
              <a:spcBef>
                <a:spcPts val="195"/>
              </a:spcBef>
            </a:pPr>
            <a:r>
              <a:rPr sz="2650" b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Swapping</a:t>
            </a:r>
            <a:r>
              <a:rPr sz="2650" b="1" spc="-114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spc="-25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has </a:t>
            </a:r>
            <a:r>
              <a:rPr sz="2650" b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created</a:t>
            </a:r>
            <a:r>
              <a:rPr sz="2650" b="1" spc="-95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spc="-10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Holes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026914" y="1853945"/>
            <a:ext cx="2355850" cy="3484879"/>
            <a:chOff x="5026914" y="1853945"/>
            <a:chExt cx="2355850" cy="3484879"/>
          </a:xfrm>
        </p:grpSpPr>
        <p:sp>
          <p:nvSpPr>
            <p:cNvPr id="26" name="object 26"/>
            <p:cNvSpPr/>
            <p:nvPr/>
          </p:nvSpPr>
          <p:spPr>
            <a:xfrm>
              <a:off x="6137135" y="2209799"/>
              <a:ext cx="1245235" cy="3129280"/>
            </a:xfrm>
            <a:custGeom>
              <a:avLst/>
              <a:gdLst/>
              <a:ahLst/>
              <a:cxnLst/>
              <a:rect l="l" t="t" r="r" b="b"/>
              <a:pathLst>
                <a:path w="1245234" h="3129279">
                  <a:moveTo>
                    <a:pt x="989088" y="2939808"/>
                  </a:moveTo>
                  <a:lnTo>
                    <a:pt x="987564" y="2929128"/>
                  </a:lnTo>
                  <a:lnTo>
                    <a:pt x="82169" y="3082290"/>
                  </a:lnTo>
                  <a:lnTo>
                    <a:pt x="76200" y="3046488"/>
                  </a:lnTo>
                  <a:lnTo>
                    <a:pt x="0" y="3101352"/>
                  </a:lnTo>
                  <a:lnTo>
                    <a:pt x="89916" y="3128784"/>
                  </a:lnTo>
                  <a:lnTo>
                    <a:pt x="84328" y="3095256"/>
                  </a:lnTo>
                  <a:lnTo>
                    <a:pt x="83947" y="3092907"/>
                  </a:lnTo>
                  <a:lnTo>
                    <a:pt x="989088" y="2939808"/>
                  </a:lnTo>
                  <a:close/>
                </a:path>
                <a:path w="1245234" h="3129279">
                  <a:moveTo>
                    <a:pt x="1245120" y="2345436"/>
                  </a:moveTo>
                  <a:lnTo>
                    <a:pt x="125374" y="74142"/>
                  </a:lnTo>
                  <a:lnTo>
                    <a:pt x="152273" y="60960"/>
                  </a:lnTo>
                  <a:lnTo>
                    <a:pt x="158496" y="57912"/>
                  </a:lnTo>
                  <a:lnTo>
                    <a:pt x="83820" y="0"/>
                  </a:lnTo>
                  <a:lnTo>
                    <a:pt x="83820" y="94488"/>
                  </a:lnTo>
                  <a:lnTo>
                    <a:pt x="116192" y="78638"/>
                  </a:lnTo>
                  <a:lnTo>
                    <a:pt x="1234440" y="2350020"/>
                  </a:lnTo>
                  <a:lnTo>
                    <a:pt x="1245120" y="2345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047488" y="1874519"/>
              <a:ext cx="1257300" cy="981710"/>
            </a:xfrm>
            <a:custGeom>
              <a:avLst/>
              <a:gdLst/>
              <a:ahLst/>
              <a:cxnLst/>
              <a:rect l="l" t="t" r="r" b="b"/>
              <a:pathLst>
                <a:path w="1257300" h="981710">
                  <a:moveTo>
                    <a:pt x="1257300" y="981455"/>
                  </a:moveTo>
                  <a:lnTo>
                    <a:pt x="0" y="981455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9814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047488" y="1874519"/>
              <a:ext cx="1257300" cy="981710"/>
            </a:xfrm>
            <a:custGeom>
              <a:avLst/>
              <a:gdLst/>
              <a:ahLst/>
              <a:cxnLst/>
              <a:rect l="l" t="t" r="r" b="b"/>
              <a:pathLst>
                <a:path w="1257300" h="981710">
                  <a:moveTo>
                    <a:pt x="0" y="0"/>
                  </a:moveTo>
                  <a:lnTo>
                    <a:pt x="1257300" y="0"/>
                  </a:lnTo>
                  <a:lnTo>
                    <a:pt x="1257300" y="981455"/>
                  </a:lnTo>
                  <a:lnTo>
                    <a:pt x="0" y="981455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360697" y="1118114"/>
            <a:ext cx="65589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Its</a:t>
            </a:r>
            <a:r>
              <a:rPr sz="220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possible</a:t>
            </a:r>
            <a:r>
              <a:rPr sz="2200" spc="-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200" spc="-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combine</a:t>
            </a:r>
            <a:r>
              <a:rPr sz="22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all</a:t>
            </a:r>
            <a:r>
              <a:rPr sz="2200" spc="-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200" spc="-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holes</a:t>
            </a:r>
            <a:r>
              <a:rPr sz="2200" spc="-3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into</a:t>
            </a:r>
            <a:r>
              <a:rPr sz="2200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one</a:t>
            </a:r>
            <a:r>
              <a:rPr sz="2200" spc="-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big</a:t>
            </a:r>
            <a:r>
              <a:rPr sz="22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hole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21590">
              <a:lnSpc>
                <a:spcPct val="100000"/>
              </a:lnSpc>
            </a:pPr>
            <a:r>
              <a:rPr sz="2200" b="1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200" b="1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200" b="1" spc="-5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called</a:t>
            </a:r>
            <a:r>
              <a:rPr sz="2200" b="1" spc="-5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1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COMPACTION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58917" y="2142229"/>
            <a:ext cx="119824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020" algn="ctr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E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803622" y="5926412"/>
            <a:ext cx="4061460" cy="11899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637540" marR="601345" indent="431165">
              <a:lnSpc>
                <a:spcPts val="2870"/>
              </a:lnSpc>
              <a:spcBef>
                <a:spcPts val="445"/>
              </a:spcBef>
            </a:pPr>
            <a:r>
              <a:rPr sz="2650" b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650" b="1" spc="-55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exits</a:t>
            </a:r>
            <a:r>
              <a:rPr sz="2650" b="1" spc="-35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spc="-25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now</a:t>
            </a:r>
            <a:r>
              <a:rPr sz="2650" b="1" spc="660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No</a:t>
            </a:r>
            <a:r>
              <a:rPr sz="2650" b="1" spc="-4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Space</a:t>
            </a:r>
            <a:r>
              <a:rPr sz="2650" b="1" spc="-5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50" b="1" spc="-3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650" b="1" spc="-3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spc="-2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!!!</a:t>
            </a:r>
            <a:endParaRPr sz="26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3085"/>
              </a:lnSpc>
            </a:pPr>
            <a:r>
              <a:rPr sz="2650" b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Now</a:t>
            </a:r>
            <a:r>
              <a:rPr sz="2650" b="1" spc="-45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650" b="1" spc="-60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has</a:t>
            </a:r>
            <a:r>
              <a:rPr sz="2650" b="1" spc="-40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enough</a:t>
            </a:r>
            <a:r>
              <a:rPr sz="2650" b="1" spc="-45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spc="-10" dirty="0">
                <a:solidFill>
                  <a:srgbClr val="009900"/>
                </a:solidFill>
                <a:latin typeface="Arial" panose="020B0604020202020204"/>
                <a:cs typeface="Arial" panose="020B0604020202020204"/>
              </a:rPr>
              <a:t>space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3</a:t>
            </a:r>
            <a:r>
              <a:rPr spc="35" dirty="0"/>
              <a:t>3</a:t>
            </a:r>
            <a:endParaRPr spc="3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794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95" dirty="0"/>
              <a:t>Compaction</a:t>
            </a:r>
            <a:endParaRPr spc="95" dirty="0"/>
          </a:p>
        </p:txBody>
      </p:sp>
      <p:sp>
        <p:nvSpPr>
          <p:cNvPr id="3" name="object 3"/>
          <p:cNvSpPr txBox="1"/>
          <p:nvPr/>
        </p:nvSpPr>
        <p:spPr>
          <a:xfrm>
            <a:off x="574040" y="1825759"/>
            <a:ext cx="8817610" cy="306641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49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Compaction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involves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35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overhead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39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addresses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generated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relative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partition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location: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200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Then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Compaction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possible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36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How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much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should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allocated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9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process?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210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200" spc="-17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allocated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statically</a:t>
            </a:r>
            <a:r>
              <a:rPr sz="2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8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program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615950" marR="5080" lvl="1" indent="-251460">
              <a:lnSpc>
                <a:spcPts val="2420"/>
              </a:lnSpc>
              <a:spcBef>
                <a:spcPts val="445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950" algn="l"/>
              </a:tabLst>
            </a:pP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Then,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65" dirty="0">
                <a:latin typeface="Times New Roman" panose="02020603050405020304"/>
                <a:cs typeface="Times New Roman" panose="02020603050405020304"/>
              </a:rPr>
              <a:t>OS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45" dirty="0">
                <a:latin typeface="Times New Roman" panose="02020603050405020304"/>
                <a:cs typeface="Times New Roman" panose="02020603050405020304"/>
              </a:rPr>
              <a:t>knows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exactly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amount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4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allocated: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latin typeface="Courier New" panose="02070309020205020404"/>
                <a:cs typeface="Courier New" panose="02070309020205020404"/>
              </a:rPr>
              <a:t>executable </a:t>
            </a:r>
            <a:r>
              <a:rPr sz="2200" b="1" dirty="0">
                <a:latin typeface="Courier New" panose="02070309020205020404"/>
                <a:cs typeface="Courier New" panose="02070309020205020404"/>
              </a:rPr>
              <a:t>code</a:t>
            </a:r>
            <a:r>
              <a:rPr sz="22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2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22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200" b="1" spc="-10" dirty="0">
                <a:latin typeface="Courier New" panose="02070309020205020404"/>
                <a:cs typeface="Courier New" panose="02070309020205020404"/>
              </a:rPr>
              <a:t>variables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marL="312420" indent="-299720">
              <a:lnSpc>
                <a:spcPct val="100000"/>
              </a:lnSpc>
              <a:spcBef>
                <a:spcPts val="29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35" dirty="0">
                <a:latin typeface="Times New Roman" panose="02020603050405020304"/>
                <a:cs typeface="Times New Roman" panose="02020603050405020304"/>
              </a:rPr>
              <a:t>However,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allocated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dynamically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80" dirty="0">
                <a:latin typeface="Times New Roman" panose="02020603050405020304"/>
                <a:cs typeface="Times New Roman" panose="02020603050405020304"/>
              </a:rPr>
              <a:t>(say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20" dirty="0">
                <a:latin typeface="Courier New" panose="02070309020205020404"/>
                <a:cs typeface="Courier New" panose="02070309020205020404"/>
              </a:rPr>
              <a:t>new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)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3</a:t>
            </a:r>
            <a:r>
              <a:rPr spc="35" dirty="0"/>
              <a:t>4</a:t>
            </a:r>
            <a:endParaRPr spc="3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6285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114" dirty="0"/>
              <a:t> </a:t>
            </a:r>
            <a:r>
              <a:rPr spc="100" dirty="0"/>
              <a:t>allocation</a:t>
            </a:r>
            <a:r>
              <a:rPr spc="95" dirty="0"/>
              <a:t> </a:t>
            </a:r>
            <a:r>
              <a:rPr dirty="0"/>
              <a:t>for</a:t>
            </a:r>
            <a:r>
              <a:rPr spc="140" dirty="0"/>
              <a:t> </a:t>
            </a:r>
            <a:r>
              <a:rPr spc="60" dirty="0"/>
              <a:t>Processes</a:t>
            </a:r>
            <a:endParaRPr spc="60" dirty="0"/>
          </a:p>
        </p:txBody>
      </p:sp>
      <p:sp>
        <p:nvSpPr>
          <p:cNvPr id="3" name="object 3"/>
          <p:cNvSpPr txBox="1"/>
          <p:nvPr/>
        </p:nvSpPr>
        <p:spPr>
          <a:xfrm>
            <a:off x="522250" y="1505858"/>
            <a:ext cx="8921750" cy="334391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78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4" dirty="0">
                <a:latin typeface="Times New Roman" panose="02020603050405020304"/>
                <a:cs typeface="Times New Roman" panose="02020603050405020304"/>
              </a:rPr>
              <a:t>may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occur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whenever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9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tries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grow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68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9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hole</a:t>
            </a:r>
            <a:r>
              <a:rPr sz="2400" spc="-60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adjacent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growing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then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allowed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grow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68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5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another</a:t>
            </a:r>
            <a:r>
              <a:rPr sz="2400" spc="-55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400" spc="-50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adjacent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growing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process,</a:t>
            </a: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then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475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growing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should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55" dirty="0">
                <a:solidFill>
                  <a:srgbClr val="009900"/>
                </a:solidFill>
                <a:latin typeface="Times New Roman" panose="02020603050405020304"/>
                <a:cs typeface="Times New Roman" panose="02020603050405020304"/>
              </a:rPr>
              <a:t>moved</a:t>
            </a:r>
            <a:r>
              <a:rPr sz="2200" spc="-50" dirty="0">
                <a:solidFill>
                  <a:srgbClr val="0099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00990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200" spc="-25" dirty="0">
                <a:solidFill>
                  <a:srgbClr val="0099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85" dirty="0">
                <a:solidFill>
                  <a:srgbClr val="00990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200" spc="-45" dirty="0">
                <a:solidFill>
                  <a:srgbClr val="0099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90" dirty="0">
                <a:solidFill>
                  <a:srgbClr val="009900"/>
                </a:solidFill>
                <a:latin typeface="Times New Roman" panose="02020603050405020304"/>
                <a:cs typeface="Times New Roman" panose="02020603050405020304"/>
              </a:rPr>
              <a:t>larger</a:t>
            </a:r>
            <a:r>
              <a:rPr sz="2200" spc="-35" dirty="0">
                <a:solidFill>
                  <a:srgbClr val="0099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solidFill>
                  <a:srgbClr val="009900"/>
                </a:solidFill>
                <a:latin typeface="Times New Roman" panose="02020603050405020304"/>
                <a:cs typeface="Times New Roman" panose="02020603050405020304"/>
              </a:rPr>
              <a:t>hole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445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200" spc="-17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8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larger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hole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55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2200" spc="-50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40" dirty="0">
                <a:latin typeface="Times New Roman" panose="02020603050405020304"/>
                <a:cs typeface="Times New Roman" panose="02020603050405020304"/>
              </a:rPr>
              <a:t>available,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then,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processes</a:t>
            </a:r>
            <a:r>
              <a:rPr sz="2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should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45" dirty="0">
                <a:solidFill>
                  <a:srgbClr val="009900"/>
                </a:solidFill>
                <a:latin typeface="Times New Roman" panose="02020603050405020304"/>
                <a:cs typeface="Times New Roman" panose="02020603050405020304"/>
              </a:rPr>
              <a:t>swapped</a:t>
            </a:r>
            <a:r>
              <a:rPr sz="2200" spc="-20" dirty="0">
                <a:solidFill>
                  <a:srgbClr val="0099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5" dirty="0">
                <a:solidFill>
                  <a:srgbClr val="009900"/>
                </a:solidFill>
                <a:latin typeface="Times New Roman" panose="02020603050405020304"/>
                <a:cs typeface="Times New Roman" panose="02020603050405020304"/>
              </a:rPr>
              <a:t>out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430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200" spc="-17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8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5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cannot</a:t>
            </a:r>
            <a:r>
              <a:rPr sz="2200" spc="-55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40" dirty="0">
                <a:latin typeface="Times New Roman" panose="02020603050405020304"/>
                <a:cs typeface="Times New Roman" panose="02020603050405020304"/>
              </a:rPr>
              <a:t>swapped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out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70" dirty="0">
                <a:latin typeface="Times New Roman" panose="02020603050405020304"/>
                <a:cs typeface="Times New Roman" panose="02020603050405020304"/>
              </a:rPr>
              <a:t>(say,</a:t>
            </a: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there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not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enough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45" dirty="0">
                <a:latin typeface="Times New Roman" panose="02020603050405020304"/>
                <a:cs typeface="Times New Roman" panose="02020603050405020304"/>
              </a:rPr>
              <a:t>space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disk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916940" lvl="2" indent="-250825">
              <a:lnSpc>
                <a:spcPct val="100000"/>
              </a:lnSpc>
              <a:spcBef>
                <a:spcPts val="445"/>
              </a:spcBef>
              <a:buClr>
                <a:srgbClr val="E6B1AA"/>
              </a:buClr>
              <a:buSzPct val="84000"/>
              <a:buFont typeface="Webdings" panose="05030102010509060703"/>
              <a:buChar char="●"/>
              <a:tabLst>
                <a:tab pos="916940" algn="l"/>
              </a:tabLst>
            </a:pP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growing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65" dirty="0">
                <a:latin typeface="Times New Roman" panose="02020603050405020304"/>
                <a:cs typeface="Times New Roman" panose="02020603050405020304"/>
              </a:rPr>
              <a:t>has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solidFill>
                  <a:srgbClr val="009900"/>
                </a:solidFill>
                <a:latin typeface="Times New Roman" panose="02020603050405020304"/>
                <a:cs typeface="Times New Roman" panose="02020603050405020304"/>
              </a:rPr>
              <a:t>wait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916940" lvl="2" indent="-250825">
              <a:lnSpc>
                <a:spcPct val="100000"/>
              </a:lnSpc>
              <a:spcBef>
                <a:spcPts val="445"/>
              </a:spcBef>
              <a:buClr>
                <a:srgbClr val="E6B1AA"/>
              </a:buClr>
              <a:buSzPct val="84000"/>
              <a:buFont typeface="Webdings" panose="05030102010509060703"/>
              <a:buChar char="●"/>
              <a:tabLst>
                <a:tab pos="916940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should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solidFill>
                  <a:srgbClr val="CC3300"/>
                </a:solidFill>
                <a:latin typeface="Times New Roman" panose="02020603050405020304"/>
                <a:cs typeface="Times New Roman" panose="02020603050405020304"/>
              </a:rPr>
              <a:t>killed!!!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3</a:t>
            </a:r>
            <a:r>
              <a:rPr spc="35" dirty="0"/>
              <a:t>5</a:t>
            </a:r>
            <a:endParaRPr spc="3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6285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114" dirty="0"/>
              <a:t> </a:t>
            </a:r>
            <a:r>
              <a:rPr spc="100" dirty="0"/>
              <a:t>allocation</a:t>
            </a:r>
            <a:r>
              <a:rPr spc="95" dirty="0"/>
              <a:t> </a:t>
            </a:r>
            <a:r>
              <a:rPr dirty="0"/>
              <a:t>for</a:t>
            </a:r>
            <a:r>
              <a:rPr spc="140" dirty="0"/>
              <a:t> </a:t>
            </a:r>
            <a:r>
              <a:rPr spc="60" dirty="0"/>
              <a:t>Processes</a:t>
            </a:r>
            <a:endParaRPr spc="60" dirty="0"/>
          </a:p>
        </p:txBody>
      </p:sp>
      <p:sp>
        <p:nvSpPr>
          <p:cNvPr id="3" name="object 3"/>
          <p:cNvSpPr txBox="1"/>
          <p:nvPr/>
        </p:nvSpPr>
        <p:spPr>
          <a:xfrm>
            <a:off x="590836" y="1784658"/>
            <a:ext cx="6585584" cy="93091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78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most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processes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grow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they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run,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68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7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better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allocate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9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little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extra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9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process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05642" y="2975546"/>
            <a:ext cx="1298575" cy="4148454"/>
            <a:chOff x="4505642" y="2975546"/>
            <a:chExt cx="1298575" cy="4148454"/>
          </a:xfrm>
        </p:grpSpPr>
        <p:sp>
          <p:nvSpPr>
            <p:cNvPr id="5" name="object 5"/>
            <p:cNvSpPr/>
            <p:nvPr/>
          </p:nvSpPr>
          <p:spPr>
            <a:xfrm>
              <a:off x="4526279" y="2996183"/>
              <a:ext cx="1257300" cy="4107179"/>
            </a:xfrm>
            <a:custGeom>
              <a:avLst/>
              <a:gdLst/>
              <a:ahLst/>
              <a:cxnLst/>
              <a:rect l="l" t="t" r="r" b="b"/>
              <a:pathLst>
                <a:path w="1257300" h="4107179">
                  <a:moveTo>
                    <a:pt x="0" y="0"/>
                  </a:moveTo>
                  <a:lnTo>
                    <a:pt x="1257300" y="0"/>
                  </a:lnTo>
                  <a:lnTo>
                    <a:pt x="1257300" y="4107179"/>
                  </a:lnTo>
                  <a:lnTo>
                    <a:pt x="0" y="4107179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26279" y="6600443"/>
              <a:ext cx="1257300" cy="1905"/>
            </a:xfrm>
            <a:custGeom>
              <a:avLst/>
              <a:gdLst/>
              <a:ahLst/>
              <a:cxnLst/>
              <a:rect l="l" t="t" r="r" b="b"/>
              <a:pathLst>
                <a:path w="1257300" h="1904">
                  <a:moveTo>
                    <a:pt x="0" y="0"/>
                  </a:moveTo>
                  <a:lnTo>
                    <a:pt x="1257300" y="1524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546853" y="6548073"/>
            <a:ext cx="1216660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marR="60960" indent="-132715">
              <a:lnSpc>
                <a:spcPct val="101000"/>
              </a:lnSpc>
              <a:spcBef>
                <a:spcPts val="100"/>
              </a:spcBef>
            </a:pPr>
            <a:r>
              <a:rPr sz="1750" b="1" spc="-10" dirty="0">
                <a:latin typeface="Arial" panose="020B0604020202020204"/>
                <a:cs typeface="Arial" panose="020B0604020202020204"/>
              </a:rPr>
              <a:t>Operating System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05642" y="2990786"/>
            <a:ext cx="1298575" cy="3615054"/>
            <a:chOff x="4505642" y="2990786"/>
            <a:chExt cx="1298575" cy="3615054"/>
          </a:xfrm>
        </p:grpSpPr>
        <p:sp>
          <p:nvSpPr>
            <p:cNvPr id="9" name="object 9"/>
            <p:cNvSpPr/>
            <p:nvPr/>
          </p:nvSpPr>
          <p:spPr>
            <a:xfrm>
              <a:off x="4526279" y="2996183"/>
              <a:ext cx="1257300" cy="3604260"/>
            </a:xfrm>
            <a:custGeom>
              <a:avLst/>
              <a:gdLst/>
              <a:ahLst/>
              <a:cxnLst/>
              <a:rect l="l" t="t" r="r" b="b"/>
              <a:pathLst>
                <a:path w="1257300" h="3604259">
                  <a:moveTo>
                    <a:pt x="1089660" y="0"/>
                  </a:moveTo>
                  <a:lnTo>
                    <a:pt x="0" y="1341119"/>
                  </a:lnTo>
                </a:path>
                <a:path w="1257300" h="3604259">
                  <a:moveTo>
                    <a:pt x="1257300" y="251459"/>
                  </a:moveTo>
                  <a:lnTo>
                    <a:pt x="0" y="1844039"/>
                  </a:lnTo>
                </a:path>
                <a:path w="1257300" h="3604259">
                  <a:moveTo>
                    <a:pt x="1257300" y="670559"/>
                  </a:moveTo>
                  <a:lnTo>
                    <a:pt x="0" y="2263140"/>
                  </a:lnTo>
                </a:path>
                <a:path w="1257300" h="3604259">
                  <a:moveTo>
                    <a:pt x="1257300" y="1089659"/>
                  </a:moveTo>
                  <a:lnTo>
                    <a:pt x="0" y="2682240"/>
                  </a:lnTo>
                </a:path>
                <a:path w="1257300" h="3604259">
                  <a:moveTo>
                    <a:pt x="1257300" y="1508759"/>
                  </a:moveTo>
                  <a:lnTo>
                    <a:pt x="0" y="3101340"/>
                  </a:lnTo>
                </a:path>
                <a:path w="1257300" h="3604259">
                  <a:moveTo>
                    <a:pt x="1257300" y="1927860"/>
                  </a:moveTo>
                  <a:lnTo>
                    <a:pt x="0" y="3520440"/>
                  </a:lnTo>
                </a:path>
                <a:path w="1257300" h="3604259">
                  <a:moveTo>
                    <a:pt x="419100" y="0"/>
                  </a:moveTo>
                  <a:lnTo>
                    <a:pt x="0" y="502919"/>
                  </a:lnTo>
                </a:path>
                <a:path w="1257300" h="3604259">
                  <a:moveTo>
                    <a:pt x="83820" y="0"/>
                  </a:moveTo>
                  <a:lnTo>
                    <a:pt x="0" y="83819"/>
                  </a:lnTo>
                </a:path>
                <a:path w="1257300" h="3604259">
                  <a:moveTo>
                    <a:pt x="1257300" y="2346960"/>
                  </a:moveTo>
                  <a:lnTo>
                    <a:pt x="251460" y="3604260"/>
                  </a:lnTo>
                </a:path>
                <a:path w="1257300" h="3604259">
                  <a:moveTo>
                    <a:pt x="1257300" y="2766060"/>
                  </a:moveTo>
                  <a:lnTo>
                    <a:pt x="586739" y="3604260"/>
                  </a:lnTo>
                </a:path>
                <a:path w="1257300" h="3604259">
                  <a:moveTo>
                    <a:pt x="1257300" y="3185160"/>
                  </a:moveTo>
                  <a:lnTo>
                    <a:pt x="922020" y="360426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26279" y="5474207"/>
              <a:ext cx="1257300" cy="1104900"/>
            </a:xfrm>
            <a:custGeom>
              <a:avLst/>
              <a:gdLst/>
              <a:ahLst/>
              <a:cxnLst/>
              <a:rect l="l" t="t" r="r" b="b"/>
              <a:pathLst>
                <a:path w="1257300" h="1104900">
                  <a:moveTo>
                    <a:pt x="1257300" y="1104899"/>
                  </a:moveTo>
                  <a:lnTo>
                    <a:pt x="0" y="1104899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1104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6279" y="5474207"/>
              <a:ext cx="1257300" cy="1104900"/>
            </a:xfrm>
            <a:custGeom>
              <a:avLst/>
              <a:gdLst/>
              <a:ahLst/>
              <a:cxnLst/>
              <a:rect l="l" t="t" r="r" b="b"/>
              <a:pathLst>
                <a:path w="1257300" h="1104900">
                  <a:moveTo>
                    <a:pt x="0" y="0"/>
                  </a:moveTo>
                  <a:lnTo>
                    <a:pt x="1257300" y="0"/>
                  </a:lnTo>
                  <a:lnTo>
                    <a:pt x="1257300" y="1104899"/>
                  </a:lnTo>
                  <a:lnTo>
                    <a:pt x="0" y="1104899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546853" y="6004011"/>
            <a:ext cx="121666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A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05642" y="2943542"/>
            <a:ext cx="1298575" cy="1298575"/>
            <a:chOff x="4505642" y="2943542"/>
            <a:chExt cx="1298575" cy="1298575"/>
          </a:xfrm>
        </p:grpSpPr>
        <p:sp>
          <p:nvSpPr>
            <p:cNvPr id="14" name="object 14"/>
            <p:cNvSpPr/>
            <p:nvPr/>
          </p:nvSpPr>
          <p:spPr>
            <a:xfrm>
              <a:off x="4526279" y="2964179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1257300" y="1257300"/>
                  </a:moveTo>
                  <a:lnTo>
                    <a:pt x="0" y="1257300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1257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6279" y="2964179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546853" y="3567684"/>
            <a:ext cx="1216660" cy="6337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B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26279" y="3299459"/>
            <a:ext cx="1226820" cy="2699385"/>
            <a:chOff x="4526279" y="3299459"/>
            <a:chExt cx="1226820" cy="2699385"/>
          </a:xfrm>
        </p:grpSpPr>
        <p:sp>
          <p:nvSpPr>
            <p:cNvPr id="18" name="object 18"/>
            <p:cNvSpPr/>
            <p:nvPr/>
          </p:nvSpPr>
          <p:spPr>
            <a:xfrm>
              <a:off x="4526279" y="3551681"/>
              <a:ext cx="1226820" cy="2430780"/>
            </a:xfrm>
            <a:custGeom>
              <a:avLst/>
              <a:gdLst/>
              <a:ahLst/>
              <a:cxnLst/>
              <a:rect l="l" t="t" r="r" b="b"/>
              <a:pathLst>
                <a:path w="1226820" h="2430779">
                  <a:moveTo>
                    <a:pt x="0" y="2430779"/>
                  </a:moveTo>
                  <a:lnTo>
                    <a:pt x="1226820" y="2430779"/>
                  </a:lnTo>
                </a:path>
                <a:path w="1226820" h="2430779">
                  <a:moveTo>
                    <a:pt x="0" y="0"/>
                  </a:moveTo>
                  <a:lnTo>
                    <a:pt x="1226820" y="0"/>
                  </a:lnTo>
                </a:path>
              </a:pathLst>
            </a:custGeom>
            <a:ln w="3200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071871" y="5730239"/>
              <a:ext cx="83820" cy="2514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071871" y="3299459"/>
              <a:ext cx="83820" cy="25146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851397" y="5378958"/>
            <a:ext cx="116205" cy="1205865"/>
            <a:chOff x="5851397" y="5378958"/>
            <a:chExt cx="116205" cy="1205865"/>
          </a:xfrm>
        </p:grpSpPr>
        <p:sp>
          <p:nvSpPr>
            <p:cNvPr id="22" name="object 22"/>
            <p:cNvSpPr/>
            <p:nvPr/>
          </p:nvSpPr>
          <p:spPr>
            <a:xfrm>
              <a:off x="5867399" y="5981700"/>
              <a:ext cx="83820" cy="586740"/>
            </a:xfrm>
            <a:custGeom>
              <a:avLst/>
              <a:gdLst/>
              <a:ahLst/>
              <a:cxnLst/>
              <a:rect l="l" t="t" r="r" b="b"/>
              <a:pathLst>
                <a:path w="83820" h="586740">
                  <a:moveTo>
                    <a:pt x="0" y="0"/>
                  </a:moveTo>
                  <a:lnTo>
                    <a:pt x="16954" y="4000"/>
                  </a:lnTo>
                  <a:lnTo>
                    <a:pt x="30480" y="14859"/>
                  </a:lnTo>
                  <a:lnTo>
                    <a:pt x="39433" y="30860"/>
                  </a:lnTo>
                  <a:lnTo>
                    <a:pt x="42672" y="50292"/>
                  </a:lnTo>
                  <a:lnTo>
                    <a:pt x="42672" y="245364"/>
                  </a:lnTo>
                  <a:lnTo>
                    <a:pt x="45886" y="264556"/>
                  </a:lnTo>
                  <a:lnTo>
                    <a:pt x="54673" y="280035"/>
                  </a:lnTo>
                  <a:lnTo>
                    <a:pt x="67746" y="290369"/>
                  </a:lnTo>
                  <a:lnTo>
                    <a:pt x="83820" y="294132"/>
                  </a:lnTo>
                  <a:lnTo>
                    <a:pt x="67746" y="297894"/>
                  </a:lnTo>
                  <a:lnTo>
                    <a:pt x="54673" y="308229"/>
                  </a:lnTo>
                  <a:lnTo>
                    <a:pt x="45886" y="323707"/>
                  </a:lnTo>
                  <a:lnTo>
                    <a:pt x="42672" y="342900"/>
                  </a:lnTo>
                  <a:lnTo>
                    <a:pt x="42672" y="537972"/>
                  </a:lnTo>
                  <a:lnTo>
                    <a:pt x="39433" y="557164"/>
                  </a:lnTo>
                  <a:lnTo>
                    <a:pt x="30480" y="572643"/>
                  </a:lnTo>
                  <a:lnTo>
                    <a:pt x="16954" y="582977"/>
                  </a:lnTo>
                  <a:lnTo>
                    <a:pt x="0" y="586740"/>
                  </a:lnTo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867399" y="5394960"/>
              <a:ext cx="83820" cy="586740"/>
            </a:xfrm>
            <a:custGeom>
              <a:avLst/>
              <a:gdLst/>
              <a:ahLst/>
              <a:cxnLst/>
              <a:rect l="l" t="t" r="r" b="b"/>
              <a:pathLst>
                <a:path w="83820" h="586739">
                  <a:moveTo>
                    <a:pt x="0" y="0"/>
                  </a:moveTo>
                  <a:lnTo>
                    <a:pt x="16954" y="4000"/>
                  </a:lnTo>
                  <a:lnTo>
                    <a:pt x="30480" y="14859"/>
                  </a:lnTo>
                  <a:lnTo>
                    <a:pt x="39433" y="30860"/>
                  </a:lnTo>
                  <a:lnTo>
                    <a:pt x="42672" y="50292"/>
                  </a:lnTo>
                  <a:lnTo>
                    <a:pt x="42672" y="245364"/>
                  </a:lnTo>
                  <a:lnTo>
                    <a:pt x="45886" y="264556"/>
                  </a:lnTo>
                  <a:lnTo>
                    <a:pt x="54673" y="280035"/>
                  </a:lnTo>
                  <a:lnTo>
                    <a:pt x="67746" y="290369"/>
                  </a:lnTo>
                  <a:lnTo>
                    <a:pt x="83820" y="294132"/>
                  </a:lnTo>
                  <a:lnTo>
                    <a:pt x="67746" y="297894"/>
                  </a:lnTo>
                  <a:lnTo>
                    <a:pt x="54673" y="308229"/>
                  </a:lnTo>
                  <a:lnTo>
                    <a:pt x="45886" y="323707"/>
                  </a:lnTo>
                  <a:lnTo>
                    <a:pt x="42672" y="342900"/>
                  </a:lnTo>
                  <a:lnTo>
                    <a:pt x="42672" y="537972"/>
                  </a:lnTo>
                  <a:lnTo>
                    <a:pt x="39433" y="557164"/>
                  </a:lnTo>
                  <a:lnTo>
                    <a:pt x="30480" y="572643"/>
                  </a:lnTo>
                  <a:lnTo>
                    <a:pt x="16954" y="582977"/>
                  </a:lnTo>
                  <a:lnTo>
                    <a:pt x="0" y="586740"/>
                  </a:lnTo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039045" y="5239087"/>
            <a:ext cx="2501900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000"/>
              </a:lnSpc>
              <a:spcBef>
                <a:spcPts val="100"/>
              </a:spcBef>
            </a:pPr>
            <a:r>
              <a:rPr sz="2650" dirty="0">
                <a:latin typeface="Arial" panose="020B0604020202020204"/>
                <a:cs typeface="Arial" panose="020B0604020202020204"/>
              </a:rPr>
              <a:t>Room</a:t>
            </a:r>
            <a:r>
              <a:rPr sz="265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for</a:t>
            </a:r>
            <a:r>
              <a:rPr sz="265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650" spc="-10" dirty="0">
                <a:latin typeface="Arial" panose="020B0604020202020204"/>
                <a:cs typeface="Arial" panose="020B0604020202020204"/>
              </a:rPr>
              <a:t>growth </a:t>
            </a:r>
            <a:r>
              <a:rPr sz="2650" dirty="0">
                <a:latin typeface="Arial" panose="020B0604020202020204"/>
                <a:cs typeface="Arial" panose="020B0604020202020204"/>
              </a:rPr>
              <a:t>Actual</a:t>
            </a:r>
            <a:r>
              <a:rPr sz="265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in</a:t>
            </a:r>
            <a:r>
              <a:rPr sz="265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650" spc="-25" dirty="0">
                <a:latin typeface="Arial" panose="020B0604020202020204"/>
                <a:cs typeface="Arial" panose="020B0604020202020204"/>
              </a:rPr>
              <a:t>use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851397" y="3031998"/>
            <a:ext cx="116205" cy="1205865"/>
            <a:chOff x="5851397" y="3031998"/>
            <a:chExt cx="116205" cy="1205865"/>
          </a:xfrm>
        </p:grpSpPr>
        <p:sp>
          <p:nvSpPr>
            <p:cNvPr id="26" name="object 26"/>
            <p:cNvSpPr/>
            <p:nvPr/>
          </p:nvSpPr>
          <p:spPr>
            <a:xfrm>
              <a:off x="5867399" y="3634740"/>
              <a:ext cx="83820" cy="586740"/>
            </a:xfrm>
            <a:custGeom>
              <a:avLst/>
              <a:gdLst/>
              <a:ahLst/>
              <a:cxnLst/>
              <a:rect l="l" t="t" r="r" b="b"/>
              <a:pathLst>
                <a:path w="83820" h="586739">
                  <a:moveTo>
                    <a:pt x="0" y="0"/>
                  </a:moveTo>
                  <a:lnTo>
                    <a:pt x="16954" y="4000"/>
                  </a:lnTo>
                  <a:lnTo>
                    <a:pt x="30480" y="14859"/>
                  </a:lnTo>
                  <a:lnTo>
                    <a:pt x="39433" y="30860"/>
                  </a:lnTo>
                  <a:lnTo>
                    <a:pt x="42672" y="50292"/>
                  </a:lnTo>
                  <a:lnTo>
                    <a:pt x="42672" y="245364"/>
                  </a:lnTo>
                  <a:lnTo>
                    <a:pt x="45886" y="264556"/>
                  </a:lnTo>
                  <a:lnTo>
                    <a:pt x="54673" y="280035"/>
                  </a:lnTo>
                  <a:lnTo>
                    <a:pt x="67746" y="290369"/>
                  </a:lnTo>
                  <a:lnTo>
                    <a:pt x="83820" y="294132"/>
                  </a:lnTo>
                  <a:lnTo>
                    <a:pt x="67746" y="297894"/>
                  </a:lnTo>
                  <a:lnTo>
                    <a:pt x="54673" y="308229"/>
                  </a:lnTo>
                  <a:lnTo>
                    <a:pt x="45886" y="323707"/>
                  </a:lnTo>
                  <a:lnTo>
                    <a:pt x="42672" y="342900"/>
                  </a:lnTo>
                  <a:lnTo>
                    <a:pt x="42672" y="537972"/>
                  </a:lnTo>
                  <a:lnTo>
                    <a:pt x="39433" y="557164"/>
                  </a:lnTo>
                  <a:lnTo>
                    <a:pt x="30480" y="572643"/>
                  </a:lnTo>
                  <a:lnTo>
                    <a:pt x="16954" y="582977"/>
                  </a:lnTo>
                  <a:lnTo>
                    <a:pt x="0" y="586740"/>
                  </a:lnTo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867399" y="3048000"/>
              <a:ext cx="83820" cy="586740"/>
            </a:xfrm>
            <a:custGeom>
              <a:avLst/>
              <a:gdLst/>
              <a:ahLst/>
              <a:cxnLst/>
              <a:rect l="l" t="t" r="r" b="b"/>
              <a:pathLst>
                <a:path w="83820" h="586739">
                  <a:moveTo>
                    <a:pt x="0" y="0"/>
                  </a:moveTo>
                  <a:lnTo>
                    <a:pt x="16954" y="4000"/>
                  </a:lnTo>
                  <a:lnTo>
                    <a:pt x="30480" y="14859"/>
                  </a:lnTo>
                  <a:lnTo>
                    <a:pt x="39433" y="30860"/>
                  </a:lnTo>
                  <a:lnTo>
                    <a:pt x="42672" y="50292"/>
                  </a:lnTo>
                  <a:lnTo>
                    <a:pt x="42672" y="245364"/>
                  </a:lnTo>
                  <a:lnTo>
                    <a:pt x="45886" y="264556"/>
                  </a:lnTo>
                  <a:lnTo>
                    <a:pt x="54673" y="280035"/>
                  </a:lnTo>
                  <a:lnTo>
                    <a:pt x="67746" y="290369"/>
                  </a:lnTo>
                  <a:lnTo>
                    <a:pt x="83820" y="294132"/>
                  </a:lnTo>
                  <a:lnTo>
                    <a:pt x="67746" y="297894"/>
                  </a:lnTo>
                  <a:lnTo>
                    <a:pt x="54673" y="308229"/>
                  </a:lnTo>
                  <a:lnTo>
                    <a:pt x="45886" y="323707"/>
                  </a:lnTo>
                  <a:lnTo>
                    <a:pt x="42672" y="342900"/>
                  </a:lnTo>
                  <a:lnTo>
                    <a:pt x="42672" y="537972"/>
                  </a:lnTo>
                  <a:lnTo>
                    <a:pt x="39433" y="557164"/>
                  </a:lnTo>
                  <a:lnTo>
                    <a:pt x="30480" y="572643"/>
                  </a:lnTo>
                  <a:lnTo>
                    <a:pt x="16954" y="582977"/>
                  </a:lnTo>
                  <a:lnTo>
                    <a:pt x="0" y="586740"/>
                  </a:lnTo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6039045" y="2892124"/>
            <a:ext cx="2501900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000"/>
              </a:lnSpc>
              <a:spcBef>
                <a:spcPts val="100"/>
              </a:spcBef>
            </a:pPr>
            <a:r>
              <a:rPr sz="2650" dirty="0">
                <a:latin typeface="Arial" panose="020B0604020202020204"/>
                <a:cs typeface="Arial" panose="020B0604020202020204"/>
              </a:rPr>
              <a:t>Room</a:t>
            </a:r>
            <a:r>
              <a:rPr sz="265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for</a:t>
            </a:r>
            <a:r>
              <a:rPr sz="265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650" spc="-10" dirty="0">
                <a:latin typeface="Arial" panose="020B0604020202020204"/>
                <a:cs typeface="Arial" panose="020B0604020202020204"/>
              </a:rPr>
              <a:t>growth </a:t>
            </a:r>
            <a:r>
              <a:rPr sz="2650" dirty="0">
                <a:latin typeface="Arial" panose="020B0604020202020204"/>
                <a:cs typeface="Arial" panose="020B0604020202020204"/>
              </a:rPr>
              <a:t>Actual</a:t>
            </a:r>
            <a:r>
              <a:rPr sz="265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latin typeface="Arial" panose="020B0604020202020204"/>
                <a:cs typeface="Arial" panose="020B0604020202020204"/>
              </a:rPr>
              <a:t>in</a:t>
            </a:r>
            <a:r>
              <a:rPr sz="265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650" spc="-25" dirty="0">
                <a:latin typeface="Arial" panose="020B0604020202020204"/>
                <a:cs typeface="Arial" panose="020B0604020202020204"/>
              </a:rPr>
              <a:t>use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3</a:t>
            </a:r>
            <a:r>
              <a:rPr spc="35" dirty="0"/>
              <a:t>6</a:t>
            </a:r>
            <a:endParaRPr spc="3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422" y="372781"/>
            <a:ext cx="6162675" cy="561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114" dirty="0"/>
              <a:t> </a:t>
            </a:r>
            <a:r>
              <a:rPr spc="100" dirty="0"/>
              <a:t>allocation</a:t>
            </a:r>
            <a:r>
              <a:rPr spc="95" dirty="0"/>
              <a:t> </a:t>
            </a:r>
            <a:r>
              <a:rPr dirty="0"/>
              <a:t>for</a:t>
            </a:r>
            <a:r>
              <a:rPr spc="140" dirty="0"/>
              <a:t> </a:t>
            </a:r>
            <a:r>
              <a:rPr spc="60" dirty="0"/>
              <a:t>Processes</a:t>
            </a:r>
            <a:endParaRPr spc="60" dirty="0"/>
          </a:p>
        </p:txBody>
      </p:sp>
      <p:sp>
        <p:nvSpPr>
          <p:cNvPr id="3" name="object 3"/>
          <p:cNvSpPr txBox="1"/>
          <p:nvPr/>
        </p:nvSpPr>
        <p:spPr>
          <a:xfrm>
            <a:off x="612105" y="1181238"/>
            <a:ext cx="5111750" cy="12655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650" spc="-210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processes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have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two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growing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segments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500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Data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917575" lvl="2" indent="-251460">
              <a:lnSpc>
                <a:spcPct val="100000"/>
              </a:lnSpc>
              <a:spcBef>
                <a:spcPts val="500"/>
              </a:spcBef>
              <a:buClr>
                <a:srgbClr val="E6B1AA"/>
              </a:buClr>
              <a:buSzPct val="85000"/>
              <a:buFont typeface="Webdings" panose="05030102010509060703"/>
              <a:buChar char="●"/>
              <a:tabLst>
                <a:tab pos="917575" algn="l"/>
              </a:tabLst>
            </a:pPr>
            <a:r>
              <a:rPr sz="1950" spc="-114" dirty="0">
                <a:latin typeface="Times New Roman" panose="02020603050405020304"/>
                <a:cs typeface="Times New Roman" panose="02020603050405020304"/>
              </a:rPr>
              <a:t>(as</a:t>
            </a:r>
            <a:r>
              <a:rPr sz="19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114" dirty="0">
                <a:latin typeface="Times New Roman" panose="02020603050405020304"/>
                <a:cs typeface="Times New Roman" panose="02020603050405020304"/>
              </a:rPr>
              <a:t>heap</a:t>
            </a:r>
            <a:r>
              <a:rPr sz="19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6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9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114" dirty="0">
                <a:latin typeface="Times New Roman" panose="02020603050405020304"/>
                <a:cs typeface="Times New Roman" panose="02020603050405020304"/>
              </a:rPr>
              <a:t>dynamically</a:t>
            </a:r>
            <a:r>
              <a:rPr sz="19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90" dirty="0">
                <a:latin typeface="Times New Roman" panose="02020603050405020304"/>
                <a:cs typeface="Times New Roman" panose="02020603050405020304"/>
              </a:rPr>
              <a:t>allocated</a:t>
            </a:r>
            <a:r>
              <a:rPr sz="19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50" spc="-10" dirty="0">
                <a:latin typeface="Times New Roman" panose="02020603050405020304"/>
                <a:cs typeface="Times New Roman" panose="02020603050405020304"/>
              </a:rPr>
              <a:t>variables)</a:t>
            </a:r>
            <a:endParaRPr sz="1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4164" y="2473000"/>
            <a:ext cx="8121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95"/>
              </a:spcBef>
              <a:buClr>
                <a:srgbClr val="9A2D1F"/>
              </a:buClr>
              <a:buSzPct val="84000"/>
              <a:buFont typeface="Webdings" panose="05030102010509060703"/>
              <a:buChar char="●"/>
              <a:tabLst>
                <a:tab pos="263525" algn="l"/>
              </a:tabLst>
            </a:pP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Stack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83141" y="5758618"/>
            <a:ext cx="168021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dirty="0">
                <a:latin typeface="Arial" panose="020B0604020202020204"/>
                <a:cs typeface="Arial" panose="020B0604020202020204"/>
              </a:rPr>
              <a:t>Room</a:t>
            </a:r>
            <a:r>
              <a:rPr sz="175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750" dirty="0">
                <a:latin typeface="Arial" panose="020B0604020202020204"/>
                <a:cs typeface="Arial" panose="020B0604020202020204"/>
              </a:rPr>
              <a:t>for </a:t>
            </a:r>
            <a:r>
              <a:rPr sz="1750" spc="-10" dirty="0">
                <a:latin typeface="Arial" panose="020B0604020202020204"/>
                <a:cs typeface="Arial" panose="020B0604020202020204"/>
              </a:rPr>
              <a:t>growth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930582" y="2748470"/>
            <a:ext cx="1743710" cy="4645660"/>
            <a:chOff x="5930582" y="2748470"/>
            <a:chExt cx="1743710" cy="4645660"/>
          </a:xfrm>
        </p:grpSpPr>
        <p:sp>
          <p:nvSpPr>
            <p:cNvPr id="7" name="object 7"/>
            <p:cNvSpPr/>
            <p:nvPr/>
          </p:nvSpPr>
          <p:spPr>
            <a:xfrm>
              <a:off x="5951220" y="2769107"/>
              <a:ext cx="1702435" cy="4604385"/>
            </a:xfrm>
            <a:custGeom>
              <a:avLst/>
              <a:gdLst/>
              <a:ahLst/>
              <a:cxnLst/>
              <a:rect l="l" t="t" r="r" b="b"/>
              <a:pathLst>
                <a:path w="1702434" h="4604384">
                  <a:moveTo>
                    <a:pt x="0" y="0"/>
                  </a:moveTo>
                  <a:lnTo>
                    <a:pt x="1702308" y="0"/>
                  </a:lnTo>
                  <a:lnTo>
                    <a:pt x="1702308" y="4604004"/>
                  </a:lnTo>
                  <a:lnTo>
                    <a:pt x="0" y="4604004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951220" y="6809231"/>
              <a:ext cx="1702435" cy="1905"/>
            </a:xfrm>
            <a:custGeom>
              <a:avLst/>
              <a:gdLst/>
              <a:ahLst/>
              <a:cxnLst/>
              <a:rect l="l" t="t" r="r" b="b"/>
              <a:pathLst>
                <a:path w="1702434" h="1904">
                  <a:moveTo>
                    <a:pt x="0" y="0"/>
                  </a:moveTo>
                  <a:lnTo>
                    <a:pt x="1702308" y="1524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971794" y="6747760"/>
            <a:ext cx="166116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20"/>
              </a:spcBef>
            </a:pPr>
            <a:r>
              <a:rPr sz="1300" b="1" dirty="0">
                <a:latin typeface="Arial" panose="020B0604020202020204"/>
                <a:cs typeface="Arial" panose="020B0604020202020204"/>
              </a:rPr>
              <a:t>Operating</a:t>
            </a:r>
            <a:r>
              <a:rPr sz="1300" b="1" spc="30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spc="-10" dirty="0">
                <a:latin typeface="Arial" panose="020B0604020202020204"/>
                <a:cs typeface="Arial" panose="020B0604020202020204"/>
              </a:rPr>
              <a:t>System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30582" y="2763710"/>
            <a:ext cx="1743710" cy="4051300"/>
            <a:chOff x="5930582" y="2763710"/>
            <a:chExt cx="1743710" cy="4051300"/>
          </a:xfrm>
        </p:grpSpPr>
        <p:sp>
          <p:nvSpPr>
            <p:cNvPr id="11" name="object 11"/>
            <p:cNvSpPr/>
            <p:nvPr/>
          </p:nvSpPr>
          <p:spPr>
            <a:xfrm>
              <a:off x="5951220" y="2769108"/>
              <a:ext cx="1702435" cy="4040504"/>
            </a:xfrm>
            <a:custGeom>
              <a:avLst/>
              <a:gdLst/>
              <a:ahLst/>
              <a:cxnLst/>
              <a:rect l="l" t="t" r="r" b="b"/>
              <a:pathLst>
                <a:path w="1702434" h="4040504">
                  <a:moveTo>
                    <a:pt x="1475232" y="0"/>
                  </a:moveTo>
                  <a:lnTo>
                    <a:pt x="0" y="1502664"/>
                  </a:lnTo>
                </a:path>
                <a:path w="1702434" h="4040504">
                  <a:moveTo>
                    <a:pt x="1702308" y="281939"/>
                  </a:moveTo>
                  <a:lnTo>
                    <a:pt x="0" y="2072639"/>
                  </a:lnTo>
                </a:path>
                <a:path w="1702434" h="4040504">
                  <a:moveTo>
                    <a:pt x="1702308" y="751332"/>
                  </a:moveTo>
                  <a:lnTo>
                    <a:pt x="0" y="2535936"/>
                  </a:lnTo>
                </a:path>
                <a:path w="1702434" h="4040504">
                  <a:moveTo>
                    <a:pt x="1702308" y="1220723"/>
                  </a:moveTo>
                  <a:lnTo>
                    <a:pt x="0" y="3006851"/>
                  </a:lnTo>
                </a:path>
                <a:path w="1702434" h="4040504">
                  <a:moveTo>
                    <a:pt x="1702308" y="1691639"/>
                  </a:moveTo>
                  <a:lnTo>
                    <a:pt x="0" y="3476243"/>
                  </a:lnTo>
                </a:path>
                <a:path w="1702434" h="4040504">
                  <a:moveTo>
                    <a:pt x="1702308" y="2161032"/>
                  </a:moveTo>
                  <a:lnTo>
                    <a:pt x="0" y="3945636"/>
                  </a:lnTo>
                </a:path>
                <a:path w="1702434" h="4040504">
                  <a:moveTo>
                    <a:pt x="114300" y="0"/>
                  </a:moveTo>
                  <a:lnTo>
                    <a:pt x="0" y="94487"/>
                  </a:lnTo>
                </a:path>
                <a:path w="1702434" h="4040504">
                  <a:moveTo>
                    <a:pt x="1702308" y="2630423"/>
                  </a:moveTo>
                  <a:lnTo>
                    <a:pt x="341376" y="4040123"/>
                  </a:lnTo>
                </a:path>
                <a:path w="1702434" h="4040504">
                  <a:moveTo>
                    <a:pt x="1699260" y="3099816"/>
                  </a:moveTo>
                  <a:lnTo>
                    <a:pt x="795528" y="4040123"/>
                  </a:lnTo>
                </a:path>
                <a:path w="1702434" h="4040504">
                  <a:moveTo>
                    <a:pt x="1699260" y="3569208"/>
                  </a:moveTo>
                  <a:lnTo>
                    <a:pt x="1248156" y="4040123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51220" y="5353812"/>
              <a:ext cx="1702435" cy="1409700"/>
            </a:xfrm>
            <a:custGeom>
              <a:avLst/>
              <a:gdLst/>
              <a:ahLst/>
              <a:cxnLst/>
              <a:rect l="l" t="t" r="r" b="b"/>
              <a:pathLst>
                <a:path w="1702434" h="1409700">
                  <a:moveTo>
                    <a:pt x="1702308" y="1409700"/>
                  </a:moveTo>
                  <a:lnTo>
                    <a:pt x="0" y="1409700"/>
                  </a:lnTo>
                  <a:lnTo>
                    <a:pt x="0" y="0"/>
                  </a:lnTo>
                  <a:lnTo>
                    <a:pt x="1702308" y="0"/>
                  </a:lnTo>
                  <a:lnTo>
                    <a:pt x="1702308" y="1409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951220" y="5353812"/>
              <a:ext cx="1702435" cy="1409700"/>
            </a:xfrm>
            <a:custGeom>
              <a:avLst/>
              <a:gdLst/>
              <a:ahLst/>
              <a:cxnLst/>
              <a:rect l="l" t="t" r="r" b="b"/>
              <a:pathLst>
                <a:path w="1702434" h="1409700">
                  <a:moveTo>
                    <a:pt x="0" y="0"/>
                  </a:moveTo>
                  <a:lnTo>
                    <a:pt x="1702308" y="0"/>
                  </a:lnTo>
                  <a:lnTo>
                    <a:pt x="1702308" y="1409700"/>
                  </a:lnTo>
                  <a:lnTo>
                    <a:pt x="0" y="140970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971794" y="5366973"/>
            <a:ext cx="16611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036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Arial" panose="020B0604020202020204"/>
                <a:cs typeface="Arial" panose="020B0604020202020204"/>
              </a:rPr>
              <a:t>A-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Stack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71794" y="6115811"/>
            <a:ext cx="1661160" cy="26098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94970">
              <a:lnSpc>
                <a:spcPts val="2050"/>
              </a:lnSpc>
            </a:pPr>
            <a:r>
              <a:rPr sz="2200" spc="-10" dirty="0">
                <a:latin typeface="Arial" panose="020B0604020202020204"/>
                <a:cs typeface="Arial" panose="020B0604020202020204"/>
              </a:rPr>
              <a:t>A-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Data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71794" y="6397752"/>
            <a:ext cx="1661160" cy="3613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55575">
              <a:lnSpc>
                <a:spcPts val="2540"/>
              </a:lnSpc>
            </a:pPr>
            <a:r>
              <a:rPr sz="2200" spc="-10" dirty="0">
                <a:latin typeface="Arial" panose="020B0604020202020204"/>
                <a:cs typeface="Arial" panose="020B0604020202020204"/>
              </a:rPr>
              <a:t>A-Program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930582" y="2608262"/>
            <a:ext cx="1743710" cy="1450975"/>
            <a:chOff x="5930582" y="2608262"/>
            <a:chExt cx="1743710" cy="1450975"/>
          </a:xfrm>
        </p:grpSpPr>
        <p:sp>
          <p:nvSpPr>
            <p:cNvPr id="18" name="object 18"/>
            <p:cNvSpPr/>
            <p:nvPr/>
          </p:nvSpPr>
          <p:spPr>
            <a:xfrm>
              <a:off x="5951220" y="2628900"/>
              <a:ext cx="1702435" cy="1409700"/>
            </a:xfrm>
            <a:custGeom>
              <a:avLst/>
              <a:gdLst/>
              <a:ahLst/>
              <a:cxnLst/>
              <a:rect l="l" t="t" r="r" b="b"/>
              <a:pathLst>
                <a:path w="1702434" h="1409700">
                  <a:moveTo>
                    <a:pt x="1702308" y="1409700"/>
                  </a:moveTo>
                  <a:lnTo>
                    <a:pt x="0" y="1409700"/>
                  </a:lnTo>
                  <a:lnTo>
                    <a:pt x="0" y="0"/>
                  </a:lnTo>
                  <a:lnTo>
                    <a:pt x="1702308" y="0"/>
                  </a:lnTo>
                  <a:lnTo>
                    <a:pt x="1702308" y="1409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951220" y="2628900"/>
              <a:ext cx="1702435" cy="1409700"/>
            </a:xfrm>
            <a:custGeom>
              <a:avLst/>
              <a:gdLst/>
              <a:ahLst/>
              <a:cxnLst/>
              <a:rect l="l" t="t" r="r" b="b"/>
              <a:pathLst>
                <a:path w="1702434" h="1409700">
                  <a:moveTo>
                    <a:pt x="0" y="0"/>
                  </a:moveTo>
                  <a:lnTo>
                    <a:pt x="1702308" y="0"/>
                  </a:lnTo>
                  <a:lnTo>
                    <a:pt x="1702308" y="1409700"/>
                  </a:lnTo>
                  <a:lnTo>
                    <a:pt x="0" y="140970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971794" y="2642071"/>
            <a:ext cx="16611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036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Arial" panose="020B0604020202020204"/>
                <a:cs typeface="Arial" panose="020B0604020202020204"/>
              </a:rPr>
              <a:t>B-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Stack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71794" y="2951546"/>
            <a:ext cx="3591560" cy="7213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923415">
              <a:lnSpc>
                <a:spcPct val="100000"/>
              </a:lnSpc>
              <a:spcBef>
                <a:spcPts val="435"/>
              </a:spcBef>
            </a:pPr>
            <a:r>
              <a:rPr sz="1750" dirty="0">
                <a:latin typeface="Arial" panose="020B0604020202020204"/>
                <a:cs typeface="Arial" panose="020B0604020202020204"/>
              </a:rPr>
              <a:t>Room</a:t>
            </a:r>
            <a:r>
              <a:rPr sz="175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750" dirty="0">
                <a:latin typeface="Arial" panose="020B0604020202020204"/>
                <a:cs typeface="Arial" panose="020B0604020202020204"/>
              </a:rPr>
              <a:t>for </a:t>
            </a:r>
            <a:r>
              <a:rPr sz="1750" spc="-10" dirty="0">
                <a:latin typeface="Arial" panose="020B0604020202020204"/>
                <a:cs typeface="Arial" panose="020B0604020202020204"/>
              </a:rPr>
              <a:t>growth</a:t>
            </a:r>
            <a:endParaRPr sz="1750">
              <a:latin typeface="Arial" panose="020B0604020202020204"/>
              <a:cs typeface="Arial" panose="020B0604020202020204"/>
            </a:endParaRPr>
          </a:p>
          <a:p>
            <a:pPr marL="394970">
              <a:lnSpc>
                <a:spcPct val="100000"/>
              </a:lnSpc>
              <a:spcBef>
                <a:spcPts val="400"/>
              </a:spcBef>
            </a:pPr>
            <a:r>
              <a:rPr sz="2200" spc="-10" dirty="0">
                <a:latin typeface="Arial" panose="020B0604020202020204"/>
                <a:cs typeface="Arial" panose="020B0604020202020204"/>
              </a:rPr>
              <a:t>B-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Data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71794" y="3674364"/>
            <a:ext cx="1661160" cy="3441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55575">
              <a:lnSpc>
                <a:spcPts val="2525"/>
              </a:lnSpc>
            </a:pPr>
            <a:r>
              <a:rPr sz="2200" spc="-10" dirty="0">
                <a:latin typeface="Arial" panose="020B0604020202020204"/>
                <a:cs typeface="Arial" panose="020B0604020202020204"/>
              </a:rPr>
              <a:t>B-Program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766304" y="3005327"/>
            <a:ext cx="113030" cy="375285"/>
          </a:xfrm>
          <a:custGeom>
            <a:avLst/>
            <a:gdLst/>
            <a:ahLst/>
            <a:cxnLst/>
            <a:rect l="l" t="t" r="r" b="b"/>
            <a:pathLst>
              <a:path w="113029" h="375285">
                <a:moveTo>
                  <a:pt x="0" y="0"/>
                </a:moveTo>
                <a:lnTo>
                  <a:pt x="22312" y="2405"/>
                </a:lnTo>
                <a:lnTo>
                  <a:pt x="40195" y="8953"/>
                </a:lnTo>
                <a:lnTo>
                  <a:pt x="52077" y="18645"/>
                </a:lnTo>
                <a:lnTo>
                  <a:pt x="56387" y="30480"/>
                </a:lnTo>
                <a:lnTo>
                  <a:pt x="56387" y="155448"/>
                </a:lnTo>
                <a:lnTo>
                  <a:pt x="60912" y="168163"/>
                </a:lnTo>
                <a:lnTo>
                  <a:pt x="73152" y="178308"/>
                </a:lnTo>
                <a:lnTo>
                  <a:pt x="91106" y="185023"/>
                </a:lnTo>
                <a:lnTo>
                  <a:pt x="112775" y="187452"/>
                </a:lnTo>
                <a:lnTo>
                  <a:pt x="91106" y="189880"/>
                </a:lnTo>
                <a:lnTo>
                  <a:pt x="73152" y="196596"/>
                </a:lnTo>
                <a:lnTo>
                  <a:pt x="60912" y="206740"/>
                </a:lnTo>
                <a:lnTo>
                  <a:pt x="56387" y="219456"/>
                </a:lnTo>
                <a:lnTo>
                  <a:pt x="56387" y="344423"/>
                </a:lnTo>
                <a:lnTo>
                  <a:pt x="52077" y="356258"/>
                </a:lnTo>
                <a:lnTo>
                  <a:pt x="40195" y="365950"/>
                </a:lnTo>
                <a:lnTo>
                  <a:pt x="22312" y="372498"/>
                </a:lnTo>
                <a:lnTo>
                  <a:pt x="0" y="374904"/>
                </a:lnTo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766304" y="5728715"/>
            <a:ext cx="113030" cy="376555"/>
          </a:xfrm>
          <a:custGeom>
            <a:avLst/>
            <a:gdLst/>
            <a:ahLst/>
            <a:cxnLst/>
            <a:rect l="l" t="t" r="r" b="b"/>
            <a:pathLst>
              <a:path w="113029" h="376554">
                <a:moveTo>
                  <a:pt x="0" y="0"/>
                </a:moveTo>
                <a:lnTo>
                  <a:pt x="22312" y="2643"/>
                </a:lnTo>
                <a:lnTo>
                  <a:pt x="40195" y="9715"/>
                </a:lnTo>
                <a:lnTo>
                  <a:pt x="52077" y="19931"/>
                </a:lnTo>
                <a:lnTo>
                  <a:pt x="56387" y="32004"/>
                </a:lnTo>
                <a:lnTo>
                  <a:pt x="56387" y="156972"/>
                </a:lnTo>
                <a:lnTo>
                  <a:pt x="60912" y="169044"/>
                </a:lnTo>
                <a:lnTo>
                  <a:pt x="73152" y="179260"/>
                </a:lnTo>
                <a:lnTo>
                  <a:pt x="91106" y="186332"/>
                </a:lnTo>
                <a:lnTo>
                  <a:pt x="112775" y="188976"/>
                </a:lnTo>
                <a:lnTo>
                  <a:pt x="91106" y="191381"/>
                </a:lnTo>
                <a:lnTo>
                  <a:pt x="73152" y="197929"/>
                </a:lnTo>
                <a:lnTo>
                  <a:pt x="60912" y="207621"/>
                </a:lnTo>
                <a:lnTo>
                  <a:pt x="56387" y="219456"/>
                </a:lnTo>
                <a:lnTo>
                  <a:pt x="56387" y="344423"/>
                </a:lnTo>
                <a:lnTo>
                  <a:pt x="52077" y="356496"/>
                </a:lnTo>
                <a:lnTo>
                  <a:pt x="40195" y="366712"/>
                </a:lnTo>
                <a:lnTo>
                  <a:pt x="22312" y="373784"/>
                </a:lnTo>
                <a:lnTo>
                  <a:pt x="0" y="376428"/>
                </a:lnTo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5951220" y="2993135"/>
            <a:ext cx="1702435" cy="3404870"/>
            <a:chOff x="5951220" y="2993135"/>
            <a:chExt cx="1702435" cy="3404870"/>
          </a:xfrm>
        </p:grpSpPr>
        <p:sp>
          <p:nvSpPr>
            <p:cNvPr id="26" name="object 26"/>
            <p:cNvSpPr/>
            <p:nvPr/>
          </p:nvSpPr>
          <p:spPr>
            <a:xfrm>
              <a:off x="5951220" y="3005327"/>
              <a:ext cx="1697989" cy="375285"/>
            </a:xfrm>
            <a:custGeom>
              <a:avLst/>
              <a:gdLst/>
              <a:ahLst/>
              <a:cxnLst/>
              <a:rect l="l" t="t" r="r" b="b"/>
              <a:pathLst>
                <a:path w="1697990" h="375285">
                  <a:moveTo>
                    <a:pt x="0" y="374903"/>
                  </a:moveTo>
                  <a:lnTo>
                    <a:pt x="1697736" y="374903"/>
                  </a:lnTo>
                </a:path>
                <a:path w="1697990" h="375285">
                  <a:moveTo>
                    <a:pt x="0" y="0"/>
                  </a:moveTo>
                  <a:lnTo>
                    <a:pt x="1697736" y="0"/>
                  </a:lnTo>
                </a:path>
              </a:pathLst>
            </a:custGeom>
            <a:ln w="2133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951220" y="3653027"/>
              <a:ext cx="1702435" cy="21590"/>
            </a:xfrm>
            <a:custGeom>
              <a:avLst/>
              <a:gdLst/>
              <a:ahLst/>
              <a:cxnLst/>
              <a:rect l="l" t="t" r="r" b="b"/>
              <a:pathLst>
                <a:path w="1702434" h="21589">
                  <a:moveTo>
                    <a:pt x="0" y="0"/>
                  </a:moveTo>
                  <a:lnTo>
                    <a:pt x="1702308" y="0"/>
                  </a:lnTo>
                  <a:lnTo>
                    <a:pt x="1702308" y="21336"/>
                  </a:lnTo>
                  <a:lnTo>
                    <a:pt x="0" y="2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951220" y="5728715"/>
              <a:ext cx="1697989" cy="376555"/>
            </a:xfrm>
            <a:custGeom>
              <a:avLst/>
              <a:gdLst/>
              <a:ahLst/>
              <a:cxnLst/>
              <a:rect l="l" t="t" r="r" b="b"/>
              <a:pathLst>
                <a:path w="1697990" h="376554">
                  <a:moveTo>
                    <a:pt x="0" y="376427"/>
                  </a:moveTo>
                  <a:lnTo>
                    <a:pt x="1697736" y="376427"/>
                  </a:lnTo>
                </a:path>
                <a:path w="1697990" h="376554">
                  <a:moveTo>
                    <a:pt x="0" y="0"/>
                  </a:moveTo>
                  <a:lnTo>
                    <a:pt x="1697736" y="0"/>
                  </a:lnTo>
                </a:path>
              </a:pathLst>
            </a:custGeom>
            <a:ln w="2133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951220" y="6376415"/>
              <a:ext cx="1702435" cy="21590"/>
            </a:xfrm>
            <a:custGeom>
              <a:avLst/>
              <a:gdLst/>
              <a:ahLst/>
              <a:cxnLst/>
              <a:rect l="l" t="t" r="r" b="b"/>
              <a:pathLst>
                <a:path w="1702434" h="21589">
                  <a:moveTo>
                    <a:pt x="0" y="0"/>
                  </a:moveTo>
                  <a:lnTo>
                    <a:pt x="1702308" y="0"/>
                  </a:lnTo>
                  <a:lnTo>
                    <a:pt x="1702308" y="21336"/>
                  </a:lnTo>
                  <a:lnTo>
                    <a:pt x="0" y="2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743700" y="2993135"/>
              <a:ext cx="92964" cy="16764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3700" y="3244595"/>
              <a:ext cx="92964" cy="16764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3700" y="5675375"/>
              <a:ext cx="92964" cy="16764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3700" y="5926835"/>
              <a:ext cx="92964" cy="167640"/>
            </a:xfrm>
            <a:prstGeom prst="rect">
              <a:avLst/>
            </a:prstGeom>
          </p:spPr>
        </p:pic>
      </p:grpSp>
      <p:sp>
        <p:nvSpPr>
          <p:cNvPr id="34" name="object 3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25730" indent="-8255">
              <a:lnSpc>
                <a:spcPct val="102000"/>
              </a:lnSpc>
              <a:spcBef>
                <a:spcPts val="90"/>
              </a:spcBef>
              <a:buSzPct val="95000"/>
              <a:buChar char="•"/>
              <a:tabLst>
                <a:tab pos="99695" algn="l"/>
              </a:tabLst>
            </a:pPr>
            <a:r>
              <a:rPr dirty="0"/>
              <a:t>	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memory</a:t>
            </a:r>
            <a:r>
              <a:rPr spc="60" dirty="0"/>
              <a:t> </a:t>
            </a:r>
            <a:r>
              <a:rPr dirty="0"/>
              <a:t>can</a:t>
            </a:r>
            <a:r>
              <a:rPr spc="10" dirty="0"/>
              <a:t> </a:t>
            </a:r>
            <a:r>
              <a:rPr dirty="0"/>
              <a:t>be</a:t>
            </a:r>
            <a:r>
              <a:rPr spc="50" dirty="0"/>
              <a:t> </a:t>
            </a:r>
            <a:r>
              <a:rPr dirty="0"/>
              <a:t>used</a:t>
            </a:r>
            <a:r>
              <a:rPr spc="35" dirty="0"/>
              <a:t> </a:t>
            </a:r>
            <a:r>
              <a:rPr dirty="0"/>
              <a:t>by</a:t>
            </a:r>
            <a:r>
              <a:rPr spc="20" dirty="0"/>
              <a:t> </a:t>
            </a:r>
            <a:r>
              <a:rPr dirty="0"/>
              <a:t>either</a:t>
            </a:r>
            <a:r>
              <a:rPr spc="15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spc="-25" dirty="0"/>
              <a:t>the </a:t>
            </a:r>
            <a:r>
              <a:rPr dirty="0"/>
              <a:t>two</a:t>
            </a:r>
            <a:r>
              <a:rPr spc="30" dirty="0"/>
              <a:t> </a:t>
            </a:r>
            <a:r>
              <a:rPr spc="-10" dirty="0"/>
              <a:t>segments</a:t>
            </a:r>
            <a:endParaRPr spc="-10" dirty="0"/>
          </a:p>
          <a:p>
            <a:pPr marL="99695" indent="-95250">
              <a:lnSpc>
                <a:spcPct val="100000"/>
              </a:lnSpc>
              <a:spcBef>
                <a:spcPts val="515"/>
              </a:spcBef>
              <a:buSzPct val="95000"/>
              <a:buChar char="•"/>
              <a:tabLst>
                <a:tab pos="99695" algn="l"/>
              </a:tabLst>
            </a:pPr>
            <a:r>
              <a:rPr dirty="0"/>
              <a:t>If</a:t>
            </a:r>
            <a:r>
              <a:rPr spc="40" dirty="0"/>
              <a:t> </a:t>
            </a:r>
            <a:r>
              <a:rPr dirty="0"/>
              <a:t>it</a:t>
            </a:r>
            <a:r>
              <a:rPr spc="45" dirty="0"/>
              <a:t> </a:t>
            </a:r>
            <a:r>
              <a:rPr dirty="0"/>
              <a:t>runs</a:t>
            </a:r>
            <a:r>
              <a:rPr spc="20" dirty="0"/>
              <a:t> </a:t>
            </a:r>
            <a:r>
              <a:rPr dirty="0"/>
              <a:t>out</a:t>
            </a:r>
            <a:r>
              <a:rPr spc="2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process</a:t>
            </a:r>
            <a:r>
              <a:rPr spc="-5" dirty="0"/>
              <a:t> </a:t>
            </a:r>
            <a:r>
              <a:rPr spc="-10" dirty="0"/>
              <a:t>either</a:t>
            </a:r>
            <a:endParaRPr spc="-10" dirty="0"/>
          </a:p>
          <a:p>
            <a:pPr marL="515620" marR="5080">
              <a:lnSpc>
                <a:spcPts val="3170"/>
              </a:lnSpc>
              <a:spcBef>
                <a:spcPts val="725"/>
              </a:spcBef>
            </a:pPr>
            <a:r>
              <a:rPr sz="2650" spc="-300" dirty="0">
                <a:latin typeface="Times New Roman" panose="02020603050405020304"/>
                <a:cs typeface="Times New Roman" panose="02020603050405020304"/>
              </a:rPr>
              <a:t></a:t>
            </a:r>
            <a:r>
              <a:rPr sz="2650" spc="-300" dirty="0"/>
              <a:t>Has</a:t>
            </a:r>
            <a:r>
              <a:rPr sz="2650" dirty="0"/>
              <a:t> to</a:t>
            </a:r>
            <a:r>
              <a:rPr sz="2650" spc="-80" dirty="0"/>
              <a:t> </a:t>
            </a:r>
            <a:r>
              <a:rPr sz="2650" dirty="0"/>
              <a:t>be</a:t>
            </a:r>
            <a:r>
              <a:rPr sz="2650" spc="-20" dirty="0"/>
              <a:t> </a:t>
            </a:r>
            <a:r>
              <a:rPr sz="2650" dirty="0"/>
              <a:t>moved</a:t>
            </a:r>
            <a:r>
              <a:rPr sz="2650" spc="-25" dirty="0"/>
              <a:t> </a:t>
            </a:r>
            <a:r>
              <a:rPr sz="2650" dirty="0"/>
              <a:t>to</a:t>
            </a:r>
            <a:r>
              <a:rPr sz="2650" spc="-20" dirty="0"/>
              <a:t> </a:t>
            </a:r>
            <a:r>
              <a:rPr sz="2650" dirty="0"/>
              <a:t>a</a:t>
            </a:r>
            <a:r>
              <a:rPr sz="2650" spc="-45" dirty="0"/>
              <a:t> </a:t>
            </a:r>
            <a:r>
              <a:rPr sz="2650" spc="-50" dirty="0"/>
              <a:t>larger </a:t>
            </a:r>
            <a:r>
              <a:rPr sz="2650" spc="-20" dirty="0"/>
              <a:t>hole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515620">
              <a:lnSpc>
                <a:spcPct val="100000"/>
              </a:lnSpc>
              <a:spcBef>
                <a:spcPts val="520"/>
              </a:spcBef>
            </a:pPr>
            <a:r>
              <a:rPr sz="2650" spc="-380" dirty="0">
                <a:latin typeface="Times New Roman" panose="02020603050405020304"/>
                <a:cs typeface="Times New Roman" panose="02020603050405020304"/>
              </a:rPr>
              <a:t></a:t>
            </a:r>
            <a:r>
              <a:rPr sz="2650" spc="-380" dirty="0"/>
              <a:t>Or</a:t>
            </a:r>
            <a:r>
              <a:rPr sz="2650" spc="-5" dirty="0"/>
              <a:t> </a:t>
            </a:r>
            <a:r>
              <a:rPr sz="2650" dirty="0"/>
              <a:t>swapped</a:t>
            </a:r>
            <a:r>
              <a:rPr sz="2650" spc="-125" dirty="0"/>
              <a:t> </a:t>
            </a:r>
            <a:r>
              <a:rPr sz="2650" spc="-25" dirty="0"/>
              <a:t>out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515620">
              <a:lnSpc>
                <a:spcPct val="100000"/>
              </a:lnSpc>
              <a:spcBef>
                <a:spcPts val="620"/>
              </a:spcBef>
            </a:pPr>
            <a:r>
              <a:rPr sz="2650" spc="-380" dirty="0">
                <a:latin typeface="Times New Roman" panose="02020603050405020304"/>
                <a:cs typeface="Times New Roman" panose="02020603050405020304"/>
              </a:rPr>
              <a:t></a:t>
            </a:r>
            <a:r>
              <a:rPr sz="2650" spc="-380" dirty="0"/>
              <a:t>Or</a:t>
            </a:r>
            <a:r>
              <a:rPr sz="2650" spc="-10" dirty="0"/>
              <a:t> Killed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37" name="object 37"/>
          <p:cNvSpPr txBox="1"/>
          <p:nvPr/>
        </p:nvSpPr>
        <p:spPr>
          <a:xfrm>
            <a:off x="289052" y="7077995"/>
            <a:ext cx="24574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37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6285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90" dirty="0"/>
              <a:t>How</a:t>
            </a:r>
            <a:r>
              <a:rPr spc="105" dirty="0"/>
              <a:t> </a:t>
            </a:r>
            <a:r>
              <a:rPr spc="60" dirty="0"/>
              <a:t>to</a:t>
            </a:r>
            <a:r>
              <a:rPr spc="85" dirty="0"/>
              <a:t> </a:t>
            </a:r>
            <a:r>
              <a:rPr spc="170" dirty="0"/>
              <a:t>keep</a:t>
            </a:r>
            <a:r>
              <a:rPr spc="70" dirty="0"/>
              <a:t> </a:t>
            </a:r>
            <a:r>
              <a:rPr spc="125" dirty="0"/>
              <a:t>track</a:t>
            </a:r>
            <a:r>
              <a:rPr spc="80" dirty="0"/>
              <a:t> of</a:t>
            </a:r>
            <a:r>
              <a:rPr spc="90" dirty="0"/>
              <a:t> </a:t>
            </a:r>
            <a:r>
              <a:rPr spc="170" dirty="0"/>
              <a:t>Memory</a:t>
            </a:r>
            <a:endParaRPr spc="170" dirty="0"/>
          </a:p>
        </p:txBody>
      </p:sp>
      <p:sp>
        <p:nvSpPr>
          <p:cNvPr id="3" name="object 3"/>
          <p:cNvSpPr txBox="1"/>
          <p:nvPr/>
        </p:nvSpPr>
        <p:spPr>
          <a:xfrm>
            <a:off x="1093666" y="1620048"/>
            <a:ext cx="5358130" cy="242316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12420" indent="-311150">
              <a:lnSpc>
                <a:spcPct val="100000"/>
              </a:lnSpc>
              <a:spcBef>
                <a:spcPts val="69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254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28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30" dirty="0">
                <a:latin typeface="Times New Roman" panose="02020603050405020304"/>
                <a:cs typeface="Times New Roman" panose="02020603050405020304"/>
              </a:rPr>
              <a:t>need</a:t>
            </a:r>
            <a:r>
              <a:rPr sz="28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60" dirty="0">
                <a:latin typeface="Times New Roman" panose="02020603050405020304"/>
                <a:cs typeface="Times New Roman" panose="02020603050405020304"/>
              </a:rPr>
              <a:t>keep</a:t>
            </a:r>
            <a:r>
              <a:rPr sz="28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85" dirty="0">
                <a:latin typeface="Times New Roman" panose="02020603050405020304"/>
                <a:cs typeface="Times New Roman" panose="02020603050405020304"/>
              </a:rPr>
              <a:t>track</a:t>
            </a:r>
            <a:r>
              <a:rPr sz="28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5" dirty="0">
                <a:latin typeface="Times New Roman" panose="02020603050405020304"/>
                <a:cs typeface="Times New Roman" panose="02020603050405020304"/>
              </a:rPr>
              <a:t>of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Allocated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5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Free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311150">
              <a:lnSpc>
                <a:spcPct val="100000"/>
              </a:lnSpc>
              <a:spcBef>
                <a:spcPts val="62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7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8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60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28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1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 bitmaps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312420" indent="-311150">
              <a:lnSpc>
                <a:spcPct val="100000"/>
              </a:lnSpc>
              <a:spcBef>
                <a:spcPts val="67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7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60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28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1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5" dirty="0">
                <a:latin typeface="Times New Roman" panose="02020603050405020304"/>
                <a:cs typeface="Times New Roman" panose="02020603050405020304"/>
              </a:rPr>
              <a:t>linked</a:t>
            </a:r>
            <a:r>
              <a:rPr sz="28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60" dirty="0">
                <a:latin typeface="Times New Roman" panose="02020603050405020304"/>
                <a:cs typeface="Times New Roman" panose="02020603050405020304"/>
              </a:rPr>
              <a:t>lists</a:t>
            </a:r>
            <a:endParaRPr sz="28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3</a:t>
            </a:r>
            <a:r>
              <a:rPr spc="35" dirty="0"/>
              <a:t>8</a:t>
            </a:r>
            <a:endParaRPr spc="3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82372" y="3619993"/>
            <a:ext cx="49657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  <a:tabLst>
                <a:tab pos="418465" algn="l"/>
              </a:tabLst>
            </a:pP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spc="85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95500" y="3550920"/>
            <a:ext cx="754380" cy="502920"/>
          </a:xfrm>
          <a:custGeom>
            <a:avLst/>
            <a:gdLst/>
            <a:ahLst/>
            <a:cxnLst/>
            <a:rect l="l" t="t" r="r" b="b"/>
            <a:pathLst>
              <a:path w="754380" h="502920">
                <a:moveTo>
                  <a:pt x="0" y="502920"/>
                </a:moveTo>
                <a:lnTo>
                  <a:pt x="754379" y="502920"/>
                </a:lnTo>
                <a:lnTo>
                  <a:pt x="754379" y="0"/>
                </a:lnTo>
                <a:lnTo>
                  <a:pt x="0" y="0"/>
                </a:lnTo>
                <a:lnTo>
                  <a:pt x="0" y="502920"/>
                </a:lnTo>
                <a:close/>
              </a:path>
            </a:pathLst>
          </a:custGeom>
          <a:solidFill>
            <a:srgbClr val="B8D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364479" y="3550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502920"/>
                </a:moveTo>
                <a:lnTo>
                  <a:pt x="502919" y="502920"/>
                </a:lnTo>
                <a:lnTo>
                  <a:pt x="502919" y="0"/>
                </a:lnTo>
                <a:lnTo>
                  <a:pt x="0" y="0"/>
                </a:lnTo>
                <a:lnTo>
                  <a:pt x="0" y="502920"/>
                </a:lnTo>
                <a:close/>
              </a:path>
            </a:pathLst>
          </a:custGeom>
          <a:solidFill>
            <a:srgbClr val="B8D4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827405" y="3540125"/>
            <a:ext cx="8822690" cy="524510"/>
            <a:chOff x="827405" y="3540125"/>
            <a:chExt cx="8822690" cy="524510"/>
          </a:xfrm>
        </p:grpSpPr>
        <p:sp>
          <p:nvSpPr>
            <p:cNvPr id="6" name="object 6"/>
            <p:cNvSpPr/>
            <p:nvPr/>
          </p:nvSpPr>
          <p:spPr>
            <a:xfrm>
              <a:off x="8130539" y="3550920"/>
              <a:ext cx="1508760" cy="502920"/>
            </a:xfrm>
            <a:custGeom>
              <a:avLst/>
              <a:gdLst/>
              <a:ahLst/>
              <a:cxnLst/>
              <a:rect l="l" t="t" r="r" b="b"/>
              <a:pathLst>
                <a:path w="1508759" h="502920">
                  <a:moveTo>
                    <a:pt x="0" y="502920"/>
                  </a:moveTo>
                  <a:lnTo>
                    <a:pt x="1508759" y="502920"/>
                  </a:lnTo>
                  <a:lnTo>
                    <a:pt x="1508759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solidFill>
              <a:srgbClr val="B8D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38200" y="3550920"/>
              <a:ext cx="8801100" cy="502920"/>
            </a:xfrm>
            <a:custGeom>
              <a:avLst/>
              <a:gdLst/>
              <a:ahLst/>
              <a:cxnLst/>
              <a:rect l="l" t="t" r="r" b="b"/>
              <a:pathLst>
                <a:path w="8801100" h="502920">
                  <a:moveTo>
                    <a:pt x="0" y="0"/>
                  </a:moveTo>
                  <a:lnTo>
                    <a:pt x="8801100" y="0"/>
                  </a:lnTo>
                  <a:lnTo>
                    <a:pt x="880110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21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346960" y="3550920"/>
              <a:ext cx="0" cy="502920"/>
            </a:xfrm>
            <a:custGeom>
              <a:avLst/>
              <a:gdLst/>
              <a:ahLst/>
              <a:cxnLst/>
              <a:rect l="l" t="t" r="r" b="b"/>
              <a:pathLst>
                <a:path h="502920">
                  <a:moveTo>
                    <a:pt x="0" y="502920"/>
                  </a:moveTo>
                  <a:lnTo>
                    <a:pt x="0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5430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75" dirty="0"/>
              <a:t> </a:t>
            </a:r>
            <a:r>
              <a:rPr spc="200" dirty="0"/>
              <a:t>management</a:t>
            </a:r>
            <a:r>
              <a:rPr spc="70" dirty="0"/>
              <a:t> </a:t>
            </a:r>
            <a:r>
              <a:rPr spc="90" dirty="0"/>
              <a:t>with</a:t>
            </a:r>
            <a:r>
              <a:rPr spc="65" dirty="0"/>
              <a:t> </a:t>
            </a:r>
            <a:r>
              <a:rPr spc="130" dirty="0"/>
              <a:t>bitmaps</a:t>
            </a:r>
            <a:endParaRPr spc="130" dirty="0"/>
          </a:p>
        </p:txBody>
      </p:sp>
      <p:sp>
        <p:nvSpPr>
          <p:cNvPr id="10" name="object 10"/>
          <p:cNvSpPr txBox="1"/>
          <p:nvPr/>
        </p:nvSpPr>
        <p:spPr>
          <a:xfrm>
            <a:off x="590786" y="1787404"/>
            <a:ext cx="5869305" cy="13912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12420" indent="-311150">
              <a:lnSpc>
                <a:spcPct val="100000"/>
              </a:lnSpc>
              <a:spcBef>
                <a:spcPts val="69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7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8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8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50" dirty="0">
                <a:latin typeface="Times New Roman" panose="02020603050405020304"/>
                <a:cs typeface="Times New Roman" panose="02020603050405020304"/>
              </a:rPr>
              <a:t>divided</a:t>
            </a:r>
            <a:r>
              <a:rPr sz="28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35" dirty="0">
                <a:latin typeface="Times New Roman" panose="02020603050405020304"/>
                <a:cs typeface="Times New Roman" panose="02020603050405020304"/>
              </a:rPr>
              <a:t>up</a:t>
            </a:r>
            <a:r>
              <a:rPr sz="28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95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28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0" dirty="0">
                <a:latin typeface="Times New Roman" panose="02020603050405020304"/>
                <a:cs typeface="Times New Roman" panose="02020603050405020304"/>
              </a:rPr>
              <a:t>allocation</a:t>
            </a:r>
            <a:r>
              <a:rPr sz="28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40" dirty="0">
                <a:latin typeface="Times New Roman" panose="02020603050405020304"/>
                <a:cs typeface="Times New Roman" panose="02020603050405020304"/>
              </a:rPr>
              <a:t>units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2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90" dirty="0">
                <a:latin typeface="Times New Roman" panose="02020603050405020304"/>
                <a:cs typeface="Times New Roman" panose="02020603050405020304"/>
              </a:rPr>
              <a:t>Few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words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5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35" dirty="0">
                <a:latin typeface="Times New Roman" panose="02020603050405020304"/>
                <a:cs typeface="Times New Roman" panose="02020603050405020304"/>
              </a:rPr>
              <a:t>several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kilobytes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28015" y="3998550"/>
            <a:ext cx="21209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8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9639" y="3998550"/>
            <a:ext cx="39687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25" dirty="0">
                <a:latin typeface="Arial" panose="020B0604020202020204"/>
                <a:cs typeface="Arial" panose="020B0604020202020204"/>
              </a:rPr>
              <a:t>16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41321" y="3998550"/>
            <a:ext cx="39687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25" dirty="0">
                <a:latin typeface="Arial" panose="020B0604020202020204"/>
                <a:cs typeface="Arial" panose="020B0604020202020204"/>
              </a:rPr>
              <a:t>24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22007" y="3530282"/>
            <a:ext cx="4563110" cy="544195"/>
            <a:chOff x="822007" y="3530282"/>
            <a:chExt cx="4563110" cy="544195"/>
          </a:xfrm>
        </p:grpSpPr>
        <p:sp>
          <p:nvSpPr>
            <p:cNvPr id="15" name="object 15"/>
            <p:cNvSpPr/>
            <p:nvPr/>
          </p:nvSpPr>
          <p:spPr>
            <a:xfrm>
              <a:off x="4358640" y="3550920"/>
              <a:ext cx="1005840" cy="502920"/>
            </a:xfrm>
            <a:custGeom>
              <a:avLst/>
              <a:gdLst/>
              <a:ahLst/>
              <a:cxnLst/>
              <a:rect l="l" t="t" r="r" b="b"/>
              <a:pathLst>
                <a:path w="1005839" h="502920">
                  <a:moveTo>
                    <a:pt x="1005839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1005839" y="0"/>
                  </a:lnTo>
                  <a:lnTo>
                    <a:pt x="1005839" y="502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58640" y="3550920"/>
              <a:ext cx="1005840" cy="502920"/>
            </a:xfrm>
            <a:custGeom>
              <a:avLst/>
              <a:gdLst/>
              <a:ahLst/>
              <a:cxnLst/>
              <a:rect l="l" t="t" r="r" b="b"/>
              <a:pathLst>
                <a:path w="1005839" h="502920">
                  <a:moveTo>
                    <a:pt x="0" y="0"/>
                  </a:moveTo>
                  <a:lnTo>
                    <a:pt x="1005839" y="0"/>
                  </a:lnTo>
                  <a:lnTo>
                    <a:pt x="1005839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38199" y="3550920"/>
              <a:ext cx="1257300" cy="502920"/>
            </a:xfrm>
            <a:custGeom>
              <a:avLst/>
              <a:gdLst/>
              <a:ahLst/>
              <a:cxnLst/>
              <a:rect l="l" t="t" r="r" b="b"/>
              <a:pathLst>
                <a:path w="1257300" h="502920">
                  <a:moveTo>
                    <a:pt x="1257300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502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38199" y="3550920"/>
              <a:ext cx="1257300" cy="502920"/>
            </a:xfrm>
            <a:custGeom>
              <a:avLst/>
              <a:gdLst/>
              <a:ahLst/>
              <a:cxnLst/>
              <a:rect l="l" t="t" r="r" b="b"/>
              <a:pathLst>
                <a:path w="1257300" h="502920">
                  <a:moveTo>
                    <a:pt x="0" y="0"/>
                  </a:moveTo>
                  <a:lnTo>
                    <a:pt x="1257300" y="0"/>
                  </a:lnTo>
                  <a:lnTo>
                    <a:pt x="125730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849880" y="3550920"/>
              <a:ext cx="1508760" cy="502920"/>
            </a:xfrm>
            <a:custGeom>
              <a:avLst/>
              <a:gdLst/>
              <a:ahLst/>
              <a:cxnLst/>
              <a:rect l="l" t="t" r="r" b="b"/>
              <a:pathLst>
                <a:path w="1508760" h="502920">
                  <a:moveTo>
                    <a:pt x="1508760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1508760" y="0"/>
                  </a:lnTo>
                  <a:lnTo>
                    <a:pt x="1508760" y="502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849880" y="3550920"/>
              <a:ext cx="1508760" cy="502920"/>
            </a:xfrm>
            <a:custGeom>
              <a:avLst/>
              <a:gdLst/>
              <a:ahLst/>
              <a:cxnLst/>
              <a:rect l="l" t="t" r="r" b="b"/>
              <a:pathLst>
                <a:path w="1508760" h="502920">
                  <a:moveTo>
                    <a:pt x="0" y="0"/>
                  </a:moveTo>
                  <a:lnTo>
                    <a:pt x="1508760" y="0"/>
                  </a:lnTo>
                  <a:lnTo>
                    <a:pt x="150876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471236" y="3579449"/>
            <a:ext cx="152527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69365" algn="l"/>
              </a:tabLst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B</a:t>
            </a:r>
            <a:r>
              <a:rPr sz="2650" b="1" dirty="0">
                <a:latin typeface="Arial" panose="020B0604020202020204"/>
                <a:cs typeface="Arial" panose="020B0604020202020204"/>
              </a:rPr>
              <a:t>	</a:t>
            </a:r>
            <a:r>
              <a:rPr sz="2650" b="1" spc="-50" dirty="0">
                <a:latin typeface="Arial" panose="020B0604020202020204"/>
                <a:cs typeface="Arial" panose="020B0604020202020204"/>
              </a:rPr>
              <a:t>C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846762" y="3530282"/>
            <a:ext cx="1550035" cy="544195"/>
            <a:chOff x="5846762" y="3530282"/>
            <a:chExt cx="1550035" cy="544195"/>
          </a:xfrm>
        </p:grpSpPr>
        <p:sp>
          <p:nvSpPr>
            <p:cNvPr id="23" name="object 23"/>
            <p:cNvSpPr/>
            <p:nvPr/>
          </p:nvSpPr>
          <p:spPr>
            <a:xfrm>
              <a:off x="5867400" y="3550920"/>
              <a:ext cx="1508760" cy="502920"/>
            </a:xfrm>
            <a:custGeom>
              <a:avLst/>
              <a:gdLst/>
              <a:ahLst/>
              <a:cxnLst/>
              <a:rect l="l" t="t" r="r" b="b"/>
              <a:pathLst>
                <a:path w="1508759" h="502920">
                  <a:moveTo>
                    <a:pt x="1508759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1508759" y="0"/>
                  </a:lnTo>
                  <a:lnTo>
                    <a:pt x="1508759" y="502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867400" y="3550920"/>
              <a:ext cx="1508760" cy="502920"/>
            </a:xfrm>
            <a:custGeom>
              <a:avLst/>
              <a:gdLst/>
              <a:ahLst/>
              <a:cxnLst/>
              <a:rect l="l" t="t" r="r" b="b"/>
              <a:pathLst>
                <a:path w="1508759" h="502920">
                  <a:moveTo>
                    <a:pt x="0" y="0"/>
                  </a:moveTo>
                  <a:lnTo>
                    <a:pt x="1508759" y="0"/>
                  </a:lnTo>
                  <a:lnTo>
                    <a:pt x="1508759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488760" y="3579449"/>
            <a:ext cx="26797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D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84262" y="3530282"/>
            <a:ext cx="8308975" cy="544195"/>
            <a:chOff x="1084262" y="3530282"/>
            <a:chExt cx="8308975" cy="544195"/>
          </a:xfrm>
        </p:grpSpPr>
        <p:sp>
          <p:nvSpPr>
            <p:cNvPr id="27" name="object 27"/>
            <p:cNvSpPr/>
            <p:nvPr/>
          </p:nvSpPr>
          <p:spPr>
            <a:xfrm>
              <a:off x="1089660" y="3550920"/>
              <a:ext cx="8298180" cy="502920"/>
            </a:xfrm>
            <a:custGeom>
              <a:avLst/>
              <a:gdLst/>
              <a:ahLst/>
              <a:cxnLst/>
              <a:rect l="l" t="t" r="r" b="b"/>
              <a:pathLst>
                <a:path w="8298180" h="502920">
                  <a:moveTo>
                    <a:pt x="0" y="502920"/>
                  </a:moveTo>
                  <a:lnTo>
                    <a:pt x="0" y="0"/>
                  </a:lnTo>
                </a:path>
                <a:path w="8298180" h="502920">
                  <a:moveTo>
                    <a:pt x="251459" y="502920"/>
                  </a:moveTo>
                  <a:lnTo>
                    <a:pt x="251459" y="0"/>
                  </a:lnTo>
                </a:path>
                <a:path w="8298180" h="502920">
                  <a:moveTo>
                    <a:pt x="502919" y="502920"/>
                  </a:moveTo>
                  <a:lnTo>
                    <a:pt x="502919" y="0"/>
                  </a:lnTo>
                </a:path>
                <a:path w="8298180" h="502920">
                  <a:moveTo>
                    <a:pt x="754379" y="502920"/>
                  </a:moveTo>
                  <a:lnTo>
                    <a:pt x="754379" y="0"/>
                  </a:lnTo>
                </a:path>
                <a:path w="8298180" h="502920">
                  <a:moveTo>
                    <a:pt x="1005839" y="502920"/>
                  </a:moveTo>
                  <a:lnTo>
                    <a:pt x="1005839" y="0"/>
                  </a:lnTo>
                </a:path>
                <a:path w="8298180" h="502920">
                  <a:moveTo>
                    <a:pt x="1508760" y="502920"/>
                  </a:moveTo>
                  <a:lnTo>
                    <a:pt x="1508760" y="0"/>
                  </a:lnTo>
                </a:path>
                <a:path w="8298180" h="502920">
                  <a:moveTo>
                    <a:pt x="1760219" y="502920"/>
                  </a:moveTo>
                  <a:lnTo>
                    <a:pt x="1760219" y="0"/>
                  </a:lnTo>
                </a:path>
                <a:path w="8298180" h="502920">
                  <a:moveTo>
                    <a:pt x="2011680" y="502920"/>
                  </a:moveTo>
                  <a:lnTo>
                    <a:pt x="2011680" y="0"/>
                  </a:lnTo>
                </a:path>
                <a:path w="8298180" h="502920">
                  <a:moveTo>
                    <a:pt x="2263140" y="502920"/>
                  </a:moveTo>
                  <a:lnTo>
                    <a:pt x="2263140" y="0"/>
                  </a:lnTo>
                </a:path>
                <a:path w="8298180" h="502920">
                  <a:moveTo>
                    <a:pt x="2514599" y="502920"/>
                  </a:moveTo>
                  <a:lnTo>
                    <a:pt x="2514599" y="0"/>
                  </a:lnTo>
                </a:path>
                <a:path w="8298180" h="502920">
                  <a:moveTo>
                    <a:pt x="2766060" y="502920"/>
                  </a:moveTo>
                  <a:lnTo>
                    <a:pt x="2766060" y="0"/>
                  </a:lnTo>
                </a:path>
                <a:path w="8298180" h="502920">
                  <a:moveTo>
                    <a:pt x="3017519" y="502920"/>
                  </a:moveTo>
                  <a:lnTo>
                    <a:pt x="3017519" y="0"/>
                  </a:lnTo>
                </a:path>
                <a:path w="8298180" h="502920">
                  <a:moveTo>
                    <a:pt x="3268980" y="502920"/>
                  </a:moveTo>
                  <a:lnTo>
                    <a:pt x="3268980" y="0"/>
                  </a:lnTo>
                </a:path>
                <a:path w="8298180" h="502920">
                  <a:moveTo>
                    <a:pt x="4023359" y="502920"/>
                  </a:moveTo>
                  <a:lnTo>
                    <a:pt x="4023359" y="0"/>
                  </a:lnTo>
                </a:path>
                <a:path w="8298180" h="502920">
                  <a:moveTo>
                    <a:pt x="4274820" y="502920"/>
                  </a:moveTo>
                  <a:lnTo>
                    <a:pt x="4274820" y="0"/>
                  </a:lnTo>
                </a:path>
                <a:path w="8298180" h="502920">
                  <a:moveTo>
                    <a:pt x="4526280" y="502920"/>
                  </a:moveTo>
                  <a:lnTo>
                    <a:pt x="4526280" y="0"/>
                  </a:lnTo>
                </a:path>
                <a:path w="8298180" h="502920">
                  <a:moveTo>
                    <a:pt x="4777740" y="502920"/>
                  </a:moveTo>
                  <a:lnTo>
                    <a:pt x="4777740" y="0"/>
                  </a:lnTo>
                </a:path>
                <a:path w="8298180" h="502920">
                  <a:moveTo>
                    <a:pt x="5029199" y="502920"/>
                  </a:moveTo>
                  <a:lnTo>
                    <a:pt x="5029199" y="0"/>
                  </a:lnTo>
                </a:path>
                <a:path w="8298180" h="502920">
                  <a:moveTo>
                    <a:pt x="5280659" y="502920"/>
                  </a:moveTo>
                  <a:lnTo>
                    <a:pt x="5280659" y="0"/>
                  </a:lnTo>
                </a:path>
                <a:path w="8298180" h="502920">
                  <a:moveTo>
                    <a:pt x="5532120" y="502920"/>
                  </a:moveTo>
                  <a:lnTo>
                    <a:pt x="5532120" y="0"/>
                  </a:lnTo>
                </a:path>
                <a:path w="8298180" h="502920">
                  <a:moveTo>
                    <a:pt x="8046720" y="502920"/>
                  </a:moveTo>
                  <a:lnTo>
                    <a:pt x="8046720" y="0"/>
                  </a:lnTo>
                </a:path>
                <a:path w="8298180" h="502920">
                  <a:moveTo>
                    <a:pt x="8298180" y="502920"/>
                  </a:moveTo>
                  <a:lnTo>
                    <a:pt x="8298180" y="0"/>
                  </a:lnTo>
                </a:path>
                <a:path w="8298180" h="502920">
                  <a:moveTo>
                    <a:pt x="3520440" y="502920"/>
                  </a:moveTo>
                  <a:lnTo>
                    <a:pt x="3520440" y="0"/>
                  </a:lnTo>
                </a:path>
                <a:path w="8298180" h="502920">
                  <a:moveTo>
                    <a:pt x="3771899" y="502920"/>
                  </a:moveTo>
                  <a:lnTo>
                    <a:pt x="3771899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376159" y="3550920"/>
              <a:ext cx="754380" cy="502920"/>
            </a:xfrm>
            <a:custGeom>
              <a:avLst/>
              <a:gdLst/>
              <a:ahLst/>
              <a:cxnLst/>
              <a:rect l="l" t="t" r="r" b="b"/>
              <a:pathLst>
                <a:path w="754379" h="502920">
                  <a:moveTo>
                    <a:pt x="754380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754380" y="0"/>
                  </a:lnTo>
                  <a:lnTo>
                    <a:pt x="754380" y="502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376159" y="3550920"/>
              <a:ext cx="754380" cy="502920"/>
            </a:xfrm>
            <a:custGeom>
              <a:avLst/>
              <a:gdLst/>
              <a:ahLst/>
              <a:cxnLst/>
              <a:rect l="l" t="t" r="r" b="b"/>
              <a:pathLst>
                <a:path w="754379" h="502920">
                  <a:moveTo>
                    <a:pt x="0" y="0"/>
                  </a:moveTo>
                  <a:lnTo>
                    <a:pt x="754380" y="0"/>
                  </a:lnTo>
                  <a:lnTo>
                    <a:pt x="75438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7632954" y="3579449"/>
            <a:ext cx="24130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E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08659" y="3550920"/>
            <a:ext cx="8193405" cy="1007744"/>
            <a:chOff x="708659" y="3550920"/>
            <a:chExt cx="8193405" cy="1007744"/>
          </a:xfrm>
        </p:grpSpPr>
        <p:sp>
          <p:nvSpPr>
            <p:cNvPr id="32" name="object 32"/>
            <p:cNvSpPr/>
            <p:nvPr/>
          </p:nvSpPr>
          <p:spPr>
            <a:xfrm>
              <a:off x="6873239" y="3550920"/>
              <a:ext cx="1257300" cy="502920"/>
            </a:xfrm>
            <a:custGeom>
              <a:avLst/>
              <a:gdLst/>
              <a:ahLst/>
              <a:cxnLst/>
              <a:rect l="l" t="t" r="r" b="b"/>
              <a:pathLst>
                <a:path w="1257300" h="502920">
                  <a:moveTo>
                    <a:pt x="0" y="502920"/>
                  </a:moveTo>
                  <a:lnTo>
                    <a:pt x="0" y="0"/>
                  </a:lnTo>
                </a:path>
                <a:path w="1257300" h="502920">
                  <a:moveTo>
                    <a:pt x="251459" y="502920"/>
                  </a:moveTo>
                  <a:lnTo>
                    <a:pt x="251459" y="0"/>
                  </a:lnTo>
                </a:path>
                <a:path w="1257300" h="502920">
                  <a:moveTo>
                    <a:pt x="502919" y="502920"/>
                  </a:moveTo>
                  <a:lnTo>
                    <a:pt x="502919" y="0"/>
                  </a:lnTo>
                </a:path>
                <a:path w="1257300" h="502920">
                  <a:moveTo>
                    <a:pt x="754379" y="502920"/>
                  </a:moveTo>
                  <a:lnTo>
                    <a:pt x="754379" y="0"/>
                  </a:lnTo>
                </a:path>
                <a:path w="1257300" h="502920">
                  <a:moveTo>
                    <a:pt x="1005840" y="502920"/>
                  </a:moveTo>
                  <a:lnTo>
                    <a:pt x="1005840" y="0"/>
                  </a:lnTo>
                </a:path>
                <a:path w="1257300" h="502920">
                  <a:moveTo>
                    <a:pt x="1257300" y="502920"/>
                  </a:moveTo>
                  <a:lnTo>
                    <a:pt x="1257300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366747" y="3550919"/>
              <a:ext cx="535305" cy="503555"/>
            </a:xfrm>
            <a:custGeom>
              <a:avLst/>
              <a:gdLst/>
              <a:ahLst/>
              <a:cxnLst/>
              <a:rect l="l" t="t" r="r" b="b"/>
              <a:pathLst>
                <a:path w="535304" h="503554">
                  <a:moveTo>
                    <a:pt x="32004" y="377952"/>
                  </a:moveTo>
                  <a:lnTo>
                    <a:pt x="0" y="377952"/>
                  </a:lnTo>
                  <a:lnTo>
                    <a:pt x="0" y="502932"/>
                  </a:lnTo>
                  <a:lnTo>
                    <a:pt x="32004" y="502932"/>
                  </a:lnTo>
                  <a:lnTo>
                    <a:pt x="32004" y="377952"/>
                  </a:lnTo>
                  <a:close/>
                </a:path>
                <a:path w="535304" h="503554">
                  <a:moveTo>
                    <a:pt x="32004" y="158496"/>
                  </a:moveTo>
                  <a:lnTo>
                    <a:pt x="0" y="158496"/>
                  </a:lnTo>
                  <a:lnTo>
                    <a:pt x="0" y="283464"/>
                  </a:lnTo>
                  <a:lnTo>
                    <a:pt x="32004" y="283464"/>
                  </a:lnTo>
                  <a:lnTo>
                    <a:pt x="32004" y="158496"/>
                  </a:lnTo>
                  <a:close/>
                </a:path>
                <a:path w="535304" h="503554">
                  <a:moveTo>
                    <a:pt x="32004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32004" y="64008"/>
                  </a:lnTo>
                  <a:lnTo>
                    <a:pt x="32004" y="0"/>
                  </a:lnTo>
                  <a:close/>
                </a:path>
                <a:path w="535304" h="503554">
                  <a:moveTo>
                    <a:pt x="283476" y="377952"/>
                  </a:moveTo>
                  <a:lnTo>
                    <a:pt x="251460" y="377952"/>
                  </a:lnTo>
                  <a:lnTo>
                    <a:pt x="251460" y="502932"/>
                  </a:lnTo>
                  <a:lnTo>
                    <a:pt x="283476" y="502932"/>
                  </a:lnTo>
                  <a:lnTo>
                    <a:pt x="283476" y="377952"/>
                  </a:lnTo>
                  <a:close/>
                </a:path>
                <a:path w="535304" h="503554">
                  <a:moveTo>
                    <a:pt x="283476" y="158496"/>
                  </a:moveTo>
                  <a:lnTo>
                    <a:pt x="251460" y="158496"/>
                  </a:lnTo>
                  <a:lnTo>
                    <a:pt x="251460" y="283464"/>
                  </a:lnTo>
                  <a:lnTo>
                    <a:pt x="283476" y="283464"/>
                  </a:lnTo>
                  <a:lnTo>
                    <a:pt x="283476" y="158496"/>
                  </a:lnTo>
                  <a:close/>
                </a:path>
                <a:path w="535304" h="503554">
                  <a:moveTo>
                    <a:pt x="283476" y="0"/>
                  </a:moveTo>
                  <a:lnTo>
                    <a:pt x="251460" y="0"/>
                  </a:lnTo>
                  <a:lnTo>
                    <a:pt x="251460" y="64008"/>
                  </a:lnTo>
                  <a:lnTo>
                    <a:pt x="283476" y="64008"/>
                  </a:lnTo>
                  <a:lnTo>
                    <a:pt x="283476" y="0"/>
                  </a:lnTo>
                  <a:close/>
                </a:path>
                <a:path w="535304" h="503554">
                  <a:moveTo>
                    <a:pt x="534936" y="377952"/>
                  </a:moveTo>
                  <a:lnTo>
                    <a:pt x="502920" y="377952"/>
                  </a:lnTo>
                  <a:lnTo>
                    <a:pt x="502920" y="502932"/>
                  </a:lnTo>
                  <a:lnTo>
                    <a:pt x="534936" y="502932"/>
                  </a:lnTo>
                  <a:lnTo>
                    <a:pt x="534936" y="377952"/>
                  </a:lnTo>
                  <a:close/>
                </a:path>
                <a:path w="535304" h="503554">
                  <a:moveTo>
                    <a:pt x="534936" y="158496"/>
                  </a:moveTo>
                  <a:lnTo>
                    <a:pt x="502920" y="158496"/>
                  </a:lnTo>
                  <a:lnTo>
                    <a:pt x="502920" y="283464"/>
                  </a:lnTo>
                  <a:lnTo>
                    <a:pt x="534936" y="283464"/>
                  </a:lnTo>
                  <a:lnTo>
                    <a:pt x="534936" y="158496"/>
                  </a:lnTo>
                  <a:close/>
                </a:path>
                <a:path w="535304" h="503554">
                  <a:moveTo>
                    <a:pt x="534936" y="0"/>
                  </a:moveTo>
                  <a:lnTo>
                    <a:pt x="502920" y="0"/>
                  </a:lnTo>
                  <a:lnTo>
                    <a:pt x="502920" y="64008"/>
                  </a:lnTo>
                  <a:lnTo>
                    <a:pt x="534936" y="64008"/>
                  </a:lnTo>
                  <a:lnTo>
                    <a:pt x="5349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08660" y="3988307"/>
              <a:ext cx="2356485" cy="570230"/>
            </a:xfrm>
            <a:custGeom>
              <a:avLst/>
              <a:gdLst/>
              <a:ahLst/>
              <a:cxnLst/>
              <a:rect l="l" t="t" r="r" b="b"/>
              <a:pathLst>
                <a:path w="2356485" h="570229">
                  <a:moveTo>
                    <a:pt x="291084" y="86868"/>
                  </a:moveTo>
                  <a:lnTo>
                    <a:pt x="283692" y="68580"/>
                  </a:lnTo>
                  <a:lnTo>
                    <a:pt x="256032" y="0"/>
                  </a:lnTo>
                  <a:lnTo>
                    <a:pt x="207264" y="79248"/>
                  </a:lnTo>
                  <a:lnTo>
                    <a:pt x="243535" y="82550"/>
                  </a:lnTo>
                  <a:lnTo>
                    <a:pt x="240792" y="103632"/>
                  </a:lnTo>
                  <a:lnTo>
                    <a:pt x="234696" y="128016"/>
                  </a:lnTo>
                  <a:lnTo>
                    <a:pt x="227076" y="150876"/>
                  </a:lnTo>
                  <a:lnTo>
                    <a:pt x="220980" y="172212"/>
                  </a:lnTo>
                  <a:lnTo>
                    <a:pt x="202692" y="211836"/>
                  </a:lnTo>
                  <a:lnTo>
                    <a:pt x="182880" y="243840"/>
                  </a:lnTo>
                  <a:lnTo>
                    <a:pt x="178308" y="249936"/>
                  </a:lnTo>
                  <a:lnTo>
                    <a:pt x="172212" y="256032"/>
                  </a:lnTo>
                  <a:lnTo>
                    <a:pt x="167640" y="262128"/>
                  </a:lnTo>
                  <a:lnTo>
                    <a:pt x="161544" y="266700"/>
                  </a:lnTo>
                  <a:lnTo>
                    <a:pt x="156972" y="269748"/>
                  </a:lnTo>
                  <a:lnTo>
                    <a:pt x="150876" y="272796"/>
                  </a:lnTo>
                  <a:lnTo>
                    <a:pt x="146304" y="275844"/>
                  </a:lnTo>
                  <a:lnTo>
                    <a:pt x="141732" y="277368"/>
                  </a:lnTo>
                  <a:lnTo>
                    <a:pt x="135636" y="278892"/>
                  </a:lnTo>
                  <a:lnTo>
                    <a:pt x="129540" y="278892"/>
                  </a:lnTo>
                  <a:lnTo>
                    <a:pt x="117348" y="281940"/>
                  </a:lnTo>
                  <a:lnTo>
                    <a:pt x="80772" y="304800"/>
                  </a:lnTo>
                  <a:lnTo>
                    <a:pt x="74676" y="312420"/>
                  </a:lnTo>
                  <a:lnTo>
                    <a:pt x="68580" y="318516"/>
                  </a:lnTo>
                  <a:lnTo>
                    <a:pt x="64008" y="326136"/>
                  </a:lnTo>
                  <a:lnTo>
                    <a:pt x="57912" y="333756"/>
                  </a:lnTo>
                  <a:lnTo>
                    <a:pt x="48768" y="352044"/>
                  </a:lnTo>
                  <a:lnTo>
                    <a:pt x="30480" y="393192"/>
                  </a:lnTo>
                  <a:lnTo>
                    <a:pt x="15240" y="438912"/>
                  </a:lnTo>
                  <a:lnTo>
                    <a:pt x="1524" y="515112"/>
                  </a:lnTo>
                  <a:lnTo>
                    <a:pt x="0" y="542544"/>
                  </a:lnTo>
                  <a:lnTo>
                    <a:pt x="0" y="568452"/>
                  </a:lnTo>
                  <a:lnTo>
                    <a:pt x="9144" y="569988"/>
                  </a:lnTo>
                  <a:lnTo>
                    <a:pt x="10668" y="542544"/>
                  </a:lnTo>
                  <a:lnTo>
                    <a:pt x="12192" y="516636"/>
                  </a:lnTo>
                  <a:lnTo>
                    <a:pt x="15240" y="490728"/>
                  </a:lnTo>
                  <a:lnTo>
                    <a:pt x="19812" y="466344"/>
                  </a:lnTo>
                  <a:lnTo>
                    <a:pt x="25908" y="441960"/>
                  </a:lnTo>
                  <a:lnTo>
                    <a:pt x="33528" y="417576"/>
                  </a:lnTo>
                  <a:lnTo>
                    <a:pt x="39624" y="396240"/>
                  </a:lnTo>
                  <a:lnTo>
                    <a:pt x="57912" y="356616"/>
                  </a:lnTo>
                  <a:lnTo>
                    <a:pt x="77724" y="324612"/>
                  </a:lnTo>
                  <a:lnTo>
                    <a:pt x="82296" y="318516"/>
                  </a:lnTo>
                  <a:lnTo>
                    <a:pt x="92964" y="307848"/>
                  </a:lnTo>
                  <a:lnTo>
                    <a:pt x="99060" y="303276"/>
                  </a:lnTo>
                  <a:lnTo>
                    <a:pt x="103632" y="298704"/>
                  </a:lnTo>
                  <a:lnTo>
                    <a:pt x="109728" y="295656"/>
                  </a:lnTo>
                  <a:lnTo>
                    <a:pt x="114300" y="292608"/>
                  </a:lnTo>
                  <a:lnTo>
                    <a:pt x="120396" y="291084"/>
                  </a:lnTo>
                  <a:lnTo>
                    <a:pt x="124968" y="289560"/>
                  </a:lnTo>
                  <a:lnTo>
                    <a:pt x="137160" y="289560"/>
                  </a:lnTo>
                  <a:lnTo>
                    <a:pt x="149352" y="286512"/>
                  </a:lnTo>
                  <a:lnTo>
                    <a:pt x="185928" y="257556"/>
                  </a:lnTo>
                  <a:lnTo>
                    <a:pt x="196596" y="242316"/>
                  </a:lnTo>
                  <a:lnTo>
                    <a:pt x="202692" y="234696"/>
                  </a:lnTo>
                  <a:lnTo>
                    <a:pt x="220980" y="198120"/>
                  </a:lnTo>
                  <a:lnTo>
                    <a:pt x="237744" y="153924"/>
                  </a:lnTo>
                  <a:lnTo>
                    <a:pt x="249936" y="105156"/>
                  </a:lnTo>
                  <a:lnTo>
                    <a:pt x="253695" y="83477"/>
                  </a:lnTo>
                  <a:lnTo>
                    <a:pt x="291084" y="86868"/>
                  </a:lnTo>
                  <a:close/>
                </a:path>
                <a:path w="2356485" h="570229">
                  <a:moveTo>
                    <a:pt x="544068" y="85344"/>
                  </a:moveTo>
                  <a:lnTo>
                    <a:pt x="536879" y="68580"/>
                  </a:lnTo>
                  <a:lnTo>
                    <a:pt x="507492" y="0"/>
                  </a:lnTo>
                  <a:lnTo>
                    <a:pt x="460248" y="80772"/>
                  </a:lnTo>
                  <a:lnTo>
                    <a:pt x="497103" y="82791"/>
                  </a:lnTo>
                  <a:lnTo>
                    <a:pt x="495300" y="103632"/>
                  </a:lnTo>
                  <a:lnTo>
                    <a:pt x="490728" y="128016"/>
                  </a:lnTo>
                  <a:lnTo>
                    <a:pt x="481584" y="173736"/>
                  </a:lnTo>
                  <a:lnTo>
                    <a:pt x="477012" y="193548"/>
                  </a:lnTo>
                  <a:lnTo>
                    <a:pt x="470916" y="213360"/>
                  </a:lnTo>
                  <a:lnTo>
                    <a:pt x="463296" y="230124"/>
                  </a:lnTo>
                  <a:lnTo>
                    <a:pt x="457200" y="245364"/>
                  </a:lnTo>
                  <a:lnTo>
                    <a:pt x="454152" y="251460"/>
                  </a:lnTo>
                  <a:lnTo>
                    <a:pt x="449580" y="257556"/>
                  </a:lnTo>
                  <a:lnTo>
                    <a:pt x="443484" y="266700"/>
                  </a:lnTo>
                  <a:lnTo>
                    <a:pt x="432816" y="277368"/>
                  </a:lnTo>
                  <a:lnTo>
                    <a:pt x="432816" y="275844"/>
                  </a:lnTo>
                  <a:lnTo>
                    <a:pt x="429768" y="278892"/>
                  </a:lnTo>
                  <a:lnTo>
                    <a:pt x="429768" y="277368"/>
                  </a:lnTo>
                  <a:lnTo>
                    <a:pt x="425196" y="278892"/>
                  </a:lnTo>
                  <a:lnTo>
                    <a:pt x="423672" y="278892"/>
                  </a:lnTo>
                  <a:lnTo>
                    <a:pt x="419100" y="280416"/>
                  </a:lnTo>
                  <a:lnTo>
                    <a:pt x="417576" y="280416"/>
                  </a:lnTo>
                  <a:lnTo>
                    <a:pt x="414528" y="281940"/>
                  </a:lnTo>
                  <a:lnTo>
                    <a:pt x="413004" y="281940"/>
                  </a:lnTo>
                  <a:lnTo>
                    <a:pt x="409956" y="283464"/>
                  </a:lnTo>
                  <a:lnTo>
                    <a:pt x="408432" y="283464"/>
                  </a:lnTo>
                  <a:lnTo>
                    <a:pt x="403860" y="286512"/>
                  </a:lnTo>
                  <a:lnTo>
                    <a:pt x="400812" y="291084"/>
                  </a:lnTo>
                  <a:lnTo>
                    <a:pt x="391668" y="300228"/>
                  </a:lnTo>
                  <a:lnTo>
                    <a:pt x="388620" y="306324"/>
                  </a:lnTo>
                  <a:lnTo>
                    <a:pt x="384048" y="312420"/>
                  </a:lnTo>
                  <a:lnTo>
                    <a:pt x="377952" y="327660"/>
                  </a:lnTo>
                  <a:lnTo>
                    <a:pt x="361188" y="371856"/>
                  </a:lnTo>
                  <a:lnTo>
                    <a:pt x="345948" y="438912"/>
                  </a:lnTo>
                  <a:lnTo>
                    <a:pt x="338328" y="489204"/>
                  </a:lnTo>
                  <a:lnTo>
                    <a:pt x="335267" y="542544"/>
                  </a:lnTo>
                  <a:lnTo>
                    <a:pt x="335267" y="568452"/>
                  </a:lnTo>
                  <a:lnTo>
                    <a:pt x="344424" y="569988"/>
                  </a:lnTo>
                  <a:lnTo>
                    <a:pt x="345948" y="542544"/>
                  </a:lnTo>
                  <a:lnTo>
                    <a:pt x="348996" y="490728"/>
                  </a:lnTo>
                  <a:lnTo>
                    <a:pt x="352044" y="464820"/>
                  </a:lnTo>
                  <a:lnTo>
                    <a:pt x="356616" y="440436"/>
                  </a:lnTo>
                  <a:lnTo>
                    <a:pt x="359664" y="417576"/>
                  </a:lnTo>
                  <a:lnTo>
                    <a:pt x="365760" y="394716"/>
                  </a:lnTo>
                  <a:lnTo>
                    <a:pt x="370332" y="374904"/>
                  </a:lnTo>
                  <a:lnTo>
                    <a:pt x="376428" y="356616"/>
                  </a:lnTo>
                  <a:lnTo>
                    <a:pt x="384048" y="338328"/>
                  </a:lnTo>
                  <a:lnTo>
                    <a:pt x="387096" y="330708"/>
                  </a:lnTo>
                  <a:lnTo>
                    <a:pt x="390144" y="324612"/>
                  </a:lnTo>
                  <a:lnTo>
                    <a:pt x="393192" y="316992"/>
                  </a:lnTo>
                  <a:lnTo>
                    <a:pt x="397764" y="312420"/>
                  </a:lnTo>
                  <a:lnTo>
                    <a:pt x="400812" y="306324"/>
                  </a:lnTo>
                  <a:lnTo>
                    <a:pt x="403860" y="301752"/>
                  </a:lnTo>
                  <a:lnTo>
                    <a:pt x="408432" y="298704"/>
                  </a:lnTo>
                  <a:lnTo>
                    <a:pt x="411480" y="294132"/>
                  </a:lnTo>
                  <a:lnTo>
                    <a:pt x="420624" y="289560"/>
                  </a:lnTo>
                  <a:lnTo>
                    <a:pt x="429768" y="289560"/>
                  </a:lnTo>
                  <a:lnTo>
                    <a:pt x="432816" y="288036"/>
                  </a:lnTo>
                  <a:lnTo>
                    <a:pt x="434340" y="288036"/>
                  </a:lnTo>
                  <a:lnTo>
                    <a:pt x="437388" y="284988"/>
                  </a:lnTo>
                  <a:lnTo>
                    <a:pt x="438912" y="284988"/>
                  </a:lnTo>
                  <a:lnTo>
                    <a:pt x="441960" y="281940"/>
                  </a:lnTo>
                  <a:lnTo>
                    <a:pt x="446532" y="278892"/>
                  </a:lnTo>
                  <a:lnTo>
                    <a:pt x="448056" y="277368"/>
                  </a:lnTo>
                  <a:lnTo>
                    <a:pt x="451104" y="274320"/>
                  </a:lnTo>
                  <a:lnTo>
                    <a:pt x="454152" y="268224"/>
                  </a:lnTo>
                  <a:lnTo>
                    <a:pt x="458724" y="263652"/>
                  </a:lnTo>
                  <a:lnTo>
                    <a:pt x="461772" y="256032"/>
                  </a:lnTo>
                  <a:lnTo>
                    <a:pt x="466344" y="249936"/>
                  </a:lnTo>
                  <a:lnTo>
                    <a:pt x="469392" y="242316"/>
                  </a:lnTo>
                  <a:lnTo>
                    <a:pt x="492252" y="176784"/>
                  </a:lnTo>
                  <a:lnTo>
                    <a:pt x="505968" y="105156"/>
                  </a:lnTo>
                  <a:lnTo>
                    <a:pt x="507860" y="83375"/>
                  </a:lnTo>
                  <a:lnTo>
                    <a:pt x="544068" y="85344"/>
                  </a:lnTo>
                  <a:close/>
                </a:path>
                <a:path w="2356485" h="570229">
                  <a:moveTo>
                    <a:pt x="797052" y="167640"/>
                  </a:moveTo>
                  <a:lnTo>
                    <a:pt x="789559" y="150876"/>
                  </a:lnTo>
                  <a:lnTo>
                    <a:pt x="758952" y="82296"/>
                  </a:lnTo>
                  <a:lnTo>
                    <a:pt x="713232" y="164592"/>
                  </a:lnTo>
                  <a:lnTo>
                    <a:pt x="749960" y="165938"/>
                  </a:lnTo>
                  <a:lnTo>
                    <a:pt x="749808" y="167640"/>
                  </a:lnTo>
                  <a:lnTo>
                    <a:pt x="748284" y="188976"/>
                  </a:lnTo>
                  <a:lnTo>
                    <a:pt x="740664" y="243840"/>
                  </a:lnTo>
                  <a:lnTo>
                    <a:pt x="731520" y="284988"/>
                  </a:lnTo>
                  <a:lnTo>
                    <a:pt x="726948" y="295656"/>
                  </a:lnTo>
                  <a:lnTo>
                    <a:pt x="723900" y="303276"/>
                  </a:lnTo>
                  <a:lnTo>
                    <a:pt x="720852" y="309372"/>
                  </a:lnTo>
                  <a:lnTo>
                    <a:pt x="717804" y="312420"/>
                  </a:lnTo>
                  <a:lnTo>
                    <a:pt x="713232" y="312420"/>
                  </a:lnTo>
                  <a:lnTo>
                    <a:pt x="713232" y="313944"/>
                  </a:lnTo>
                  <a:lnTo>
                    <a:pt x="710184" y="313944"/>
                  </a:lnTo>
                  <a:lnTo>
                    <a:pt x="710184" y="315468"/>
                  </a:lnTo>
                  <a:lnTo>
                    <a:pt x="707136" y="316992"/>
                  </a:lnTo>
                  <a:lnTo>
                    <a:pt x="707136" y="318516"/>
                  </a:lnTo>
                  <a:lnTo>
                    <a:pt x="704088" y="320040"/>
                  </a:lnTo>
                  <a:lnTo>
                    <a:pt x="702564" y="324612"/>
                  </a:lnTo>
                  <a:lnTo>
                    <a:pt x="701040" y="327660"/>
                  </a:lnTo>
                  <a:lnTo>
                    <a:pt x="697992" y="332232"/>
                  </a:lnTo>
                  <a:lnTo>
                    <a:pt x="696468" y="338328"/>
                  </a:lnTo>
                  <a:lnTo>
                    <a:pt x="693420" y="348996"/>
                  </a:lnTo>
                  <a:lnTo>
                    <a:pt x="688848" y="362712"/>
                  </a:lnTo>
                  <a:lnTo>
                    <a:pt x="685800" y="377952"/>
                  </a:lnTo>
                  <a:lnTo>
                    <a:pt x="679704" y="414528"/>
                  </a:lnTo>
                  <a:lnTo>
                    <a:pt x="678180" y="434340"/>
                  </a:lnTo>
                  <a:lnTo>
                    <a:pt x="675132" y="454152"/>
                  </a:lnTo>
                  <a:lnTo>
                    <a:pt x="673608" y="477012"/>
                  </a:lnTo>
                  <a:lnTo>
                    <a:pt x="672084" y="498348"/>
                  </a:lnTo>
                  <a:lnTo>
                    <a:pt x="670560" y="522732"/>
                  </a:lnTo>
                  <a:lnTo>
                    <a:pt x="670560" y="568452"/>
                  </a:lnTo>
                  <a:lnTo>
                    <a:pt x="679704" y="569988"/>
                  </a:lnTo>
                  <a:lnTo>
                    <a:pt x="681228" y="522732"/>
                  </a:lnTo>
                  <a:lnTo>
                    <a:pt x="684276" y="477012"/>
                  </a:lnTo>
                  <a:lnTo>
                    <a:pt x="687324" y="434340"/>
                  </a:lnTo>
                  <a:lnTo>
                    <a:pt x="696468" y="381000"/>
                  </a:lnTo>
                  <a:lnTo>
                    <a:pt x="707136" y="341376"/>
                  </a:lnTo>
                  <a:lnTo>
                    <a:pt x="710184" y="332232"/>
                  </a:lnTo>
                  <a:lnTo>
                    <a:pt x="713232" y="326136"/>
                  </a:lnTo>
                  <a:lnTo>
                    <a:pt x="716280" y="323088"/>
                  </a:lnTo>
                  <a:lnTo>
                    <a:pt x="720852" y="323088"/>
                  </a:lnTo>
                  <a:lnTo>
                    <a:pt x="720852" y="321564"/>
                  </a:lnTo>
                  <a:lnTo>
                    <a:pt x="723900" y="321564"/>
                  </a:lnTo>
                  <a:lnTo>
                    <a:pt x="723900" y="320040"/>
                  </a:lnTo>
                  <a:lnTo>
                    <a:pt x="726948" y="318516"/>
                  </a:lnTo>
                  <a:lnTo>
                    <a:pt x="728472" y="315468"/>
                  </a:lnTo>
                  <a:lnTo>
                    <a:pt x="731520" y="312420"/>
                  </a:lnTo>
                  <a:lnTo>
                    <a:pt x="737616" y="300228"/>
                  </a:lnTo>
                  <a:lnTo>
                    <a:pt x="740664" y="288036"/>
                  </a:lnTo>
                  <a:lnTo>
                    <a:pt x="745236" y="275844"/>
                  </a:lnTo>
                  <a:lnTo>
                    <a:pt x="751332" y="245364"/>
                  </a:lnTo>
                  <a:lnTo>
                    <a:pt x="754380" y="227076"/>
                  </a:lnTo>
                  <a:lnTo>
                    <a:pt x="755904" y="208788"/>
                  </a:lnTo>
                  <a:lnTo>
                    <a:pt x="758952" y="188976"/>
                  </a:lnTo>
                  <a:lnTo>
                    <a:pt x="760476" y="169164"/>
                  </a:lnTo>
                  <a:lnTo>
                    <a:pt x="760730" y="166331"/>
                  </a:lnTo>
                  <a:lnTo>
                    <a:pt x="797052" y="167640"/>
                  </a:lnTo>
                  <a:close/>
                </a:path>
                <a:path w="2356485" h="570229">
                  <a:moveTo>
                    <a:pt x="1051560" y="83820"/>
                  </a:moveTo>
                  <a:lnTo>
                    <a:pt x="1044816" y="70104"/>
                  </a:lnTo>
                  <a:lnTo>
                    <a:pt x="1010412" y="0"/>
                  </a:lnTo>
                  <a:lnTo>
                    <a:pt x="967727" y="83820"/>
                  </a:lnTo>
                  <a:lnTo>
                    <a:pt x="1005840" y="83820"/>
                  </a:lnTo>
                  <a:lnTo>
                    <a:pt x="1005840" y="568452"/>
                  </a:lnTo>
                  <a:lnTo>
                    <a:pt x="1014984" y="568452"/>
                  </a:lnTo>
                  <a:lnTo>
                    <a:pt x="1014984" y="83820"/>
                  </a:lnTo>
                  <a:lnTo>
                    <a:pt x="1051560" y="83820"/>
                  </a:lnTo>
                  <a:close/>
                </a:path>
                <a:path w="2356485" h="570229">
                  <a:moveTo>
                    <a:pt x="1350264" y="516636"/>
                  </a:moveTo>
                  <a:lnTo>
                    <a:pt x="1348727" y="489204"/>
                  </a:lnTo>
                  <a:lnTo>
                    <a:pt x="1345679" y="440436"/>
                  </a:lnTo>
                  <a:lnTo>
                    <a:pt x="1342631" y="416052"/>
                  </a:lnTo>
                  <a:lnTo>
                    <a:pt x="1341107" y="393192"/>
                  </a:lnTo>
                  <a:lnTo>
                    <a:pt x="1335011" y="353568"/>
                  </a:lnTo>
                  <a:lnTo>
                    <a:pt x="1331963" y="336804"/>
                  </a:lnTo>
                  <a:lnTo>
                    <a:pt x="1328915" y="327660"/>
                  </a:lnTo>
                  <a:lnTo>
                    <a:pt x="1327391" y="320040"/>
                  </a:lnTo>
                  <a:lnTo>
                    <a:pt x="1322819" y="301752"/>
                  </a:lnTo>
                  <a:lnTo>
                    <a:pt x="1319771" y="297180"/>
                  </a:lnTo>
                  <a:lnTo>
                    <a:pt x="1317739" y="291084"/>
                  </a:lnTo>
                  <a:lnTo>
                    <a:pt x="1316723" y="288036"/>
                  </a:lnTo>
                  <a:lnTo>
                    <a:pt x="1309103" y="280416"/>
                  </a:lnTo>
                  <a:lnTo>
                    <a:pt x="1306055" y="280416"/>
                  </a:lnTo>
                  <a:lnTo>
                    <a:pt x="1304531" y="278892"/>
                  </a:lnTo>
                  <a:lnTo>
                    <a:pt x="1303007" y="278892"/>
                  </a:lnTo>
                  <a:lnTo>
                    <a:pt x="1299959" y="275844"/>
                  </a:lnTo>
                  <a:lnTo>
                    <a:pt x="1298435" y="272796"/>
                  </a:lnTo>
                  <a:lnTo>
                    <a:pt x="1293863" y="259080"/>
                  </a:lnTo>
                  <a:lnTo>
                    <a:pt x="1290815" y="252984"/>
                  </a:lnTo>
                  <a:lnTo>
                    <a:pt x="1289291" y="245364"/>
                  </a:lnTo>
                  <a:lnTo>
                    <a:pt x="1287767" y="239268"/>
                  </a:lnTo>
                  <a:lnTo>
                    <a:pt x="1286243" y="230124"/>
                  </a:lnTo>
                  <a:lnTo>
                    <a:pt x="1274051" y="152400"/>
                  </a:lnTo>
                  <a:lnTo>
                    <a:pt x="1271003" y="103632"/>
                  </a:lnTo>
                  <a:lnTo>
                    <a:pt x="1270101" y="83604"/>
                  </a:lnTo>
                  <a:lnTo>
                    <a:pt x="1306055" y="82296"/>
                  </a:lnTo>
                  <a:lnTo>
                    <a:pt x="1299514" y="70104"/>
                  </a:lnTo>
                  <a:lnTo>
                    <a:pt x="1261859" y="0"/>
                  </a:lnTo>
                  <a:lnTo>
                    <a:pt x="1222235" y="85344"/>
                  </a:lnTo>
                  <a:lnTo>
                    <a:pt x="1259420" y="83997"/>
                  </a:lnTo>
                  <a:lnTo>
                    <a:pt x="1260335" y="105156"/>
                  </a:lnTo>
                  <a:lnTo>
                    <a:pt x="1261859" y="129540"/>
                  </a:lnTo>
                  <a:lnTo>
                    <a:pt x="1264907" y="152400"/>
                  </a:lnTo>
                  <a:lnTo>
                    <a:pt x="1266431" y="175260"/>
                  </a:lnTo>
                  <a:lnTo>
                    <a:pt x="1272527" y="216408"/>
                  </a:lnTo>
                  <a:lnTo>
                    <a:pt x="1280147" y="248412"/>
                  </a:lnTo>
                  <a:lnTo>
                    <a:pt x="1281671" y="256032"/>
                  </a:lnTo>
                  <a:lnTo>
                    <a:pt x="1284719" y="268224"/>
                  </a:lnTo>
                  <a:lnTo>
                    <a:pt x="1287767" y="272796"/>
                  </a:lnTo>
                  <a:lnTo>
                    <a:pt x="1289291" y="277368"/>
                  </a:lnTo>
                  <a:lnTo>
                    <a:pt x="1292339" y="280416"/>
                  </a:lnTo>
                  <a:lnTo>
                    <a:pt x="1293863" y="283464"/>
                  </a:lnTo>
                  <a:lnTo>
                    <a:pt x="1293863" y="284988"/>
                  </a:lnTo>
                  <a:lnTo>
                    <a:pt x="1295387" y="286512"/>
                  </a:lnTo>
                  <a:lnTo>
                    <a:pt x="1296911" y="286512"/>
                  </a:lnTo>
                  <a:lnTo>
                    <a:pt x="1296911" y="288036"/>
                  </a:lnTo>
                  <a:lnTo>
                    <a:pt x="1298435" y="288036"/>
                  </a:lnTo>
                  <a:lnTo>
                    <a:pt x="1299959" y="289560"/>
                  </a:lnTo>
                  <a:lnTo>
                    <a:pt x="1303007" y="289560"/>
                  </a:lnTo>
                  <a:lnTo>
                    <a:pt x="1304531" y="291084"/>
                  </a:lnTo>
                  <a:lnTo>
                    <a:pt x="1304531" y="289560"/>
                  </a:lnTo>
                  <a:lnTo>
                    <a:pt x="1306055" y="292608"/>
                  </a:lnTo>
                  <a:lnTo>
                    <a:pt x="1306055" y="291084"/>
                  </a:lnTo>
                  <a:lnTo>
                    <a:pt x="1310627" y="300228"/>
                  </a:lnTo>
                  <a:lnTo>
                    <a:pt x="1312151" y="304800"/>
                  </a:lnTo>
                  <a:lnTo>
                    <a:pt x="1315199" y="316992"/>
                  </a:lnTo>
                  <a:lnTo>
                    <a:pt x="1318247" y="323088"/>
                  </a:lnTo>
                  <a:lnTo>
                    <a:pt x="1321295" y="338328"/>
                  </a:lnTo>
                  <a:lnTo>
                    <a:pt x="1324343" y="355092"/>
                  </a:lnTo>
                  <a:lnTo>
                    <a:pt x="1330439" y="394716"/>
                  </a:lnTo>
                  <a:lnTo>
                    <a:pt x="1331963" y="417576"/>
                  </a:lnTo>
                  <a:lnTo>
                    <a:pt x="1335011" y="440436"/>
                  </a:lnTo>
                  <a:lnTo>
                    <a:pt x="1336535" y="464820"/>
                  </a:lnTo>
                  <a:lnTo>
                    <a:pt x="1339583" y="516636"/>
                  </a:lnTo>
                  <a:lnTo>
                    <a:pt x="1341107" y="569988"/>
                  </a:lnTo>
                  <a:lnTo>
                    <a:pt x="1350264" y="568452"/>
                  </a:lnTo>
                  <a:lnTo>
                    <a:pt x="1350264" y="516636"/>
                  </a:lnTo>
                  <a:close/>
                </a:path>
                <a:path w="2356485" h="570229">
                  <a:moveTo>
                    <a:pt x="1685544" y="542544"/>
                  </a:moveTo>
                  <a:lnTo>
                    <a:pt x="1682483" y="489204"/>
                  </a:lnTo>
                  <a:lnTo>
                    <a:pt x="1674863" y="438912"/>
                  </a:lnTo>
                  <a:lnTo>
                    <a:pt x="1665719" y="393192"/>
                  </a:lnTo>
                  <a:lnTo>
                    <a:pt x="1653527" y="352044"/>
                  </a:lnTo>
                  <a:lnTo>
                    <a:pt x="1642859" y="327660"/>
                  </a:lnTo>
                  <a:lnTo>
                    <a:pt x="1636763" y="312420"/>
                  </a:lnTo>
                  <a:lnTo>
                    <a:pt x="1632191" y="306324"/>
                  </a:lnTo>
                  <a:lnTo>
                    <a:pt x="1629143" y="300228"/>
                  </a:lnTo>
                  <a:lnTo>
                    <a:pt x="1619999" y="291084"/>
                  </a:lnTo>
                  <a:lnTo>
                    <a:pt x="1616951" y="286512"/>
                  </a:lnTo>
                  <a:lnTo>
                    <a:pt x="1612379" y="283464"/>
                  </a:lnTo>
                  <a:lnTo>
                    <a:pt x="1610855" y="283464"/>
                  </a:lnTo>
                  <a:lnTo>
                    <a:pt x="1607807" y="281940"/>
                  </a:lnTo>
                  <a:lnTo>
                    <a:pt x="1606283" y="281940"/>
                  </a:lnTo>
                  <a:lnTo>
                    <a:pt x="1603235" y="280416"/>
                  </a:lnTo>
                  <a:lnTo>
                    <a:pt x="1601711" y="280416"/>
                  </a:lnTo>
                  <a:lnTo>
                    <a:pt x="1597139" y="278892"/>
                  </a:lnTo>
                  <a:lnTo>
                    <a:pt x="1594091" y="278892"/>
                  </a:lnTo>
                  <a:lnTo>
                    <a:pt x="1591043" y="277368"/>
                  </a:lnTo>
                  <a:lnTo>
                    <a:pt x="1591043" y="278892"/>
                  </a:lnTo>
                  <a:lnTo>
                    <a:pt x="1589519" y="277368"/>
                  </a:lnTo>
                  <a:lnTo>
                    <a:pt x="1587995" y="275844"/>
                  </a:lnTo>
                  <a:lnTo>
                    <a:pt x="1587995" y="277368"/>
                  </a:lnTo>
                  <a:lnTo>
                    <a:pt x="1584947" y="274320"/>
                  </a:lnTo>
                  <a:lnTo>
                    <a:pt x="1580375" y="271272"/>
                  </a:lnTo>
                  <a:lnTo>
                    <a:pt x="1571231" y="257556"/>
                  </a:lnTo>
                  <a:lnTo>
                    <a:pt x="1566659" y="251460"/>
                  </a:lnTo>
                  <a:lnTo>
                    <a:pt x="1563611" y="245364"/>
                  </a:lnTo>
                  <a:lnTo>
                    <a:pt x="1557515" y="230124"/>
                  </a:lnTo>
                  <a:lnTo>
                    <a:pt x="1549895" y="213360"/>
                  </a:lnTo>
                  <a:lnTo>
                    <a:pt x="1543799" y="193548"/>
                  </a:lnTo>
                  <a:lnTo>
                    <a:pt x="1539227" y="173736"/>
                  </a:lnTo>
                  <a:lnTo>
                    <a:pt x="1533131" y="150876"/>
                  </a:lnTo>
                  <a:lnTo>
                    <a:pt x="1530083" y="128016"/>
                  </a:lnTo>
                  <a:lnTo>
                    <a:pt x="1525511" y="103632"/>
                  </a:lnTo>
                  <a:lnTo>
                    <a:pt x="1523707" y="82791"/>
                  </a:lnTo>
                  <a:lnTo>
                    <a:pt x="1560563" y="80772"/>
                  </a:lnTo>
                  <a:lnTo>
                    <a:pt x="1553438" y="68580"/>
                  </a:lnTo>
                  <a:lnTo>
                    <a:pt x="1513319" y="0"/>
                  </a:lnTo>
                  <a:lnTo>
                    <a:pt x="1476743" y="85344"/>
                  </a:lnTo>
                  <a:lnTo>
                    <a:pt x="1512951" y="83375"/>
                  </a:lnTo>
                  <a:lnTo>
                    <a:pt x="1514843" y="105156"/>
                  </a:lnTo>
                  <a:lnTo>
                    <a:pt x="1523987" y="153924"/>
                  </a:lnTo>
                  <a:lnTo>
                    <a:pt x="1540751" y="216408"/>
                  </a:lnTo>
                  <a:lnTo>
                    <a:pt x="1551419" y="242316"/>
                  </a:lnTo>
                  <a:lnTo>
                    <a:pt x="1554467" y="249936"/>
                  </a:lnTo>
                  <a:lnTo>
                    <a:pt x="1578851" y="281940"/>
                  </a:lnTo>
                  <a:lnTo>
                    <a:pt x="1581899" y="284988"/>
                  </a:lnTo>
                  <a:lnTo>
                    <a:pt x="1583423" y="284988"/>
                  </a:lnTo>
                  <a:lnTo>
                    <a:pt x="1586471" y="288036"/>
                  </a:lnTo>
                  <a:lnTo>
                    <a:pt x="1587995" y="288036"/>
                  </a:lnTo>
                  <a:lnTo>
                    <a:pt x="1591043" y="289560"/>
                  </a:lnTo>
                  <a:lnTo>
                    <a:pt x="1598663" y="289560"/>
                  </a:lnTo>
                  <a:lnTo>
                    <a:pt x="1603235" y="291084"/>
                  </a:lnTo>
                  <a:lnTo>
                    <a:pt x="1609331" y="294132"/>
                  </a:lnTo>
                  <a:lnTo>
                    <a:pt x="1612379" y="298704"/>
                  </a:lnTo>
                  <a:lnTo>
                    <a:pt x="1616951" y="301752"/>
                  </a:lnTo>
                  <a:lnTo>
                    <a:pt x="1619999" y="306324"/>
                  </a:lnTo>
                  <a:lnTo>
                    <a:pt x="1623047" y="312420"/>
                  </a:lnTo>
                  <a:lnTo>
                    <a:pt x="1627619" y="316992"/>
                  </a:lnTo>
                  <a:lnTo>
                    <a:pt x="1630667" y="324612"/>
                  </a:lnTo>
                  <a:lnTo>
                    <a:pt x="1633715" y="330708"/>
                  </a:lnTo>
                  <a:lnTo>
                    <a:pt x="1636763" y="338328"/>
                  </a:lnTo>
                  <a:lnTo>
                    <a:pt x="1644383" y="356616"/>
                  </a:lnTo>
                  <a:lnTo>
                    <a:pt x="1648955" y="374904"/>
                  </a:lnTo>
                  <a:lnTo>
                    <a:pt x="1655051" y="394716"/>
                  </a:lnTo>
                  <a:lnTo>
                    <a:pt x="1664195" y="440436"/>
                  </a:lnTo>
                  <a:lnTo>
                    <a:pt x="1671815" y="490728"/>
                  </a:lnTo>
                  <a:lnTo>
                    <a:pt x="1674863" y="542544"/>
                  </a:lnTo>
                  <a:lnTo>
                    <a:pt x="1676387" y="569988"/>
                  </a:lnTo>
                  <a:lnTo>
                    <a:pt x="1685544" y="568452"/>
                  </a:lnTo>
                  <a:lnTo>
                    <a:pt x="1685544" y="542544"/>
                  </a:lnTo>
                  <a:close/>
                </a:path>
                <a:path w="2356485" h="570229">
                  <a:moveTo>
                    <a:pt x="2020824" y="542544"/>
                  </a:moveTo>
                  <a:lnTo>
                    <a:pt x="2013191" y="489204"/>
                  </a:lnTo>
                  <a:lnTo>
                    <a:pt x="1999475" y="438912"/>
                  </a:lnTo>
                  <a:lnTo>
                    <a:pt x="1979663" y="391668"/>
                  </a:lnTo>
                  <a:lnTo>
                    <a:pt x="1955279" y="352044"/>
                  </a:lnTo>
                  <a:lnTo>
                    <a:pt x="1943087" y="333756"/>
                  </a:lnTo>
                  <a:lnTo>
                    <a:pt x="1927847" y="318516"/>
                  </a:lnTo>
                  <a:lnTo>
                    <a:pt x="1921751" y="310896"/>
                  </a:lnTo>
                  <a:lnTo>
                    <a:pt x="1906511" y="298704"/>
                  </a:lnTo>
                  <a:lnTo>
                    <a:pt x="1897367" y="294132"/>
                  </a:lnTo>
                  <a:lnTo>
                    <a:pt x="1889747" y="289560"/>
                  </a:lnTo>
                  <a:lnTo>
                    <a:pt x="1874507" y="283464"/>
                  </a:lnTo>
                  <a:lnTo>
                    <a:pt x="1865363" y="280416"/>
                  </a:lnTo>
                  <a:lnTo>
                    <a:pt x="1857743" y="280416"/>
                  </a:lnTo>
                  <a:lnTo>
                    <a:pt x="1848599" y="278892"/>
                  </a:lnTo>
                  <a:lnTo>
                    <a:pt x="1840979" y="278892"/>
                  </a:lnTo>
                  <a:lnTo>
                    <a:pt x="1825739" y="275844"/>
                  </a:lnTo>
                  <a:lnTo>
                    <a:pt x="1819643" y="272796"/>
                  </a:lnTo>
                  <a:lnTo>
                    <a:pt x="1812023" y="269748"/>
                  </a:lnTo>
                  <a:lnTo>
                    <a:pt x="1796783" y="260604"/>
                  </a:lnTo>
                  <a:lnTo>
                    <a:pt x="1790687" y="256032"/>
                  </a:lnTo>
                  <a:lnTo>
                    <a:pt x="1775447" y="243840"/>
                  </a:lnTo>
                  <a:lnTo>
                    <a:pt x="1763255" y="228600"/>
                  </a:lnTo>
                  <a:lnTo>
                    <a:pt x="1749539" y="211836"/>
                  </a:lnTo>
                  <a:lnTo>
                    <a:pt x="1737347" y="192024"/>
                  </a:lnTo>
                  <a:lnTo>
                    <a:pt x="1726679" y="172212"/>
                  </a:lnTo>
                  <a:lnTo>
                    <a:pt x="1716011" y="150876"/>
                  </a:lnTo>
                  <a:lnTo>
                    <a:pt x="1708391" y="126492"/>
                  </a:lnTo>
                  <a:lnTo>
                    <a:pt x="1700771" y="103632"/>
                  </a:lnTo>
                  <a:lnTo>
                    <a:pt x="1696326" y="83134"/>
                  </a:lnTo>
                  <a:lnTo>
                    <a:pt x="1731251" y="79248"/>
                  </a:lnTo>
                  <a:lnTo>
                    <a:pt x="1724482" y="68580"/>
                  </a:lnTo>
                  <a:lnTo>
                    <a:pt x="1680959" y="0"/>
                  </a:lnTo>
                  <a:lnTo>
                    <a:pt x="1648955" y="88392"/>
                  </a:lnTo>
                  <a:lnTo>
                    <a:pt x="1686369" y="84239"/>
                  </a:lnTo>
                  <a:lnTo>
                    <a:pt x="1690103" y="106680"/>
                  </a:lnTo>
                  <a:lnTo>
                    <a:pt x="1706867" y="155448"/>
                  </a:lnTo>
                  <a:lnTo>
                    <a:pt x="1728203" y="198120"/>
                  </a:lnTo>
                  <a:lnTo>
                    <a:pt x="1754111" y="234696"/>
                  </a:lnTo>
                  <a:lnTo>
                    <a:pt x="1792211" y="269748"/>
                  </a:lnTo>
                  <a:lnTo>
                    <a:pt x="1831835" y="288036"/>
                  </a:lnTo>
                  <a:lnTo>
                    <a:pt x="1840979" y="289560"/>
                  </a:lnTo>
                  <a:lnTo>
                    <a:pt x="1856219" y="289560"/>
                  </a:lnTo>
                  <a:lnTo>
                    <a:pt x="1862315" y="291084"/>
                  </a:lnTo>
                  <a:lnTo>
                    <a:pt x="1869935" y="292608"/>
                  </a:lnTo>
                  <a:lnTo>
                    <a:pt x="1885175" y="298704"/>
                  </a:lnTo>
                  <a:lnTo>
                    <a:pt x="1892795" y="303276"/>
                  </a:lnTo>
                  <a:lnTo>
                    <a:pt x="1898891" y="307848"/>
                  </a:lnTo>
                  <a:lnTo>
                    <a:pt x="1906511" y="312420"/>
                  </a:lnTo>
                  <a:lnTo>
                    <a:pt x="1914131" y="318516"/>
                  </a:lnTo>
                  <a:lnTo>
                    <a:pt x="1920227" y="326136"/>
                  </a:lnTo>
                  <a:lnTo>
                    <a:pt x="1927847" y="332232"/>
                  </a:lnTo>
                  <a:lnTo>
                    <a:pt x="1933943" y="339852"/>
                  </a:lnTo>
                  <a:lnTo>
                    <a:pt x="1947659" y="356616"/>
                  </a:lnTo>
                  <a:lnTo>
                    <a:pt x="1959851" y="376428"/>
                  </a:lnTo>
                  <a:lnTo>
                    <a:pt x="1988807" y="441960"/>
                  </a:lnTo>
                  <a:lnTo>
                    <a:pt x="2002523" y="490728"/>
                  </a:lnTo>
                  <a:lnTo>
                    <a:pt x="2010143" y="542544"/>
                  </a:lnTo>
                  <a:lnTo>
                    <a:pt x="2011667" y="569988"/>
                  </a:lnTo>
                  <a:lnTo>
                    <a:pt x="2020824" y="568452"/>
                  </a:lnTo>
                  <a:lnTo>
                    <a:pt x="2020824" y="542544"/>
                  </a:lnTo>
                  <a:close/>
                </a:path>
                <a:path w="2356485" h="570229">
                  <a:moveTo>
                    <a:pt x="2356104" y="542544"/>
                  </a:moveTo>
                  <a:lnTo>
                    <a:pt x="2354567" y="528828"/>
                  </a:lnTo>
                  <a:lnTo>
                    <a:pt x="2351519" y="515112"/>
                  </a:lnTo>
                  <a:lnTo>
                    <a:pt x="2346947" y="489204"/>
                  </a:lnTo>
                  <a:lnTo>
                    <a:pt x="2328659" y="438912"/>
                  </a:lnTo>
                  <a:lnTo>
                    <a:pt x="2304275" y="391668"/>
                  </a:lnTo>
                  <a:lnTo>
                    <a:pt x="2275319" y="350520"/>
                  </a:lnTo>
                  <a:lnTo>
                    <a:pt x="2231123" y="310896"/>
                  </a:lnTo>
                  <a:lnTo>
                    <a:pt x="2202167" y="294132"/>
                  </a:lnTo>
                  <a:lnTo>
                    <a:pt x="2193023" y="289560"/>
                  </a:lnTo>
                  <a:lnTo>
                    <a:pt x="2182355" y="286512"/>
                  </a:lnTo>
                  <a:lnTo>
                    <a:pt x="2173211" y="283464"/>
                  </a:lnTo>
                  <a:lnTo>
                    <a:pt x="2162543" y="280416"/>
                  </a:lnTo>
                  <a:lnTo>
                    <a:pt x="2151875" y="280416"/>
                  </a:lnTo>
                  <a:lnTo>
                    <a:pt x="2142731" y="278892"/>
                  </a:lnTo>
                  <a:lnTo>
                    <a:pt x="2132063" y="278892"/>
                  </a:lnTo>
                  <a:lnTo>
                    <a:pt x="2068055" y="256032"/>
                  </a:lnTo>
                  <a:lnTo>
                    <a:pt x="2049767" y="242316"/>
                  </a:lnTo>
                  <a:lnTo>
                    <a:pt x="2042147" y="236220"/>
                  </a:lnTo>
                  <a:lnTo>
                    <a:pt x="1988807" y="172212"/>
                  </a:lnTo>
                  <a:lnTo>
                    <a:pt x="1964423" y="126492"/>
                  </a:lnTo>
                  <a:lnTo>
                    <a:pt x="1950758" y="82181"/>
                  </a:lnTo>
                  <a:lnTo>
                    <a:pt x="1985759" y="77724"/>
                  </a:lnTo>
                  <a:lnTo>
                    <a:pt x="1979485" y="68580"/>
                  </a:lnTo>
                  <a:lnTo>
                    <a:pt x="1932419" y="0"/>
                  </a:lnTo>
                  <a:lnTo>
                    <a:pt x="1901939" y="88392"/>
                  </a:lnTo>
                  <a:lnTo>
                    <a:pt x="1940344" y="83515"/>
                  </a:lnTo>
                  <a:lnTo>
                    <a:pt x="1946135" y="106680"/>
                  </a:lnTo>
                  <a:lnTo>
                    <a:pt x="1965947" y="155448"/>
                  </a:lnTo>
                  <a:lnTo>
                    <a:pt x="1993379" y="198120"/>
                  </a:lnTo>
                  <a:lnTo>
                    <a:pt x="2025383" y="236220"/>
                  </a:lnTo>
                  <a:lnTo>
                    <a:pt x="2061959" y="265176"/>
                  </a:lnTo>
                  <a:lnTo>
                    <a:pt x="2072627" y="269748"/>
                  </a:lnTo>
                  <a:lnTo>
                    <a:pt x="2081771" y="275844"/>
                  </a:lnTo>
                  <a:lnTo>
                    <a:pt x="2090915" y="278892"/>
                  </a:lnTo>
                  <a:lnTo>
                    <a:pt x="2101583" y="283464"/>
                  </a:lnTo>
                  <a:lnTo>
                    <a:pt x="2112251" y="286512"/>
                  </a:lnTo>
                  <a:lnTo>
                    <a:pt x="2121395" y="288036"/>
                  </a:lnTo>
                  <a:lnTo>
                    <a:pt x="2132063" y="289560"/>
                  </a:lnTo>
                  <a:lnTo>
                    <a:pt x="2150351" y="289560"/>
                  </a:lnTo>
                  <a:lnTo>
                    <a:pt x="2161019" y="291084"/>
                  </a:lnTo>
                  <a:lnTo>
                    <a:pt x="2206739" y="307848"/>
                  </a:lnTo>
                  <a:lnTo>
                    <a:pt x="2241791" y="333756"/>
                  </a:lnTo>
                  <a:lnTo>
                    <a:pt x="2250935" y="341376"/>
                  </a:lnTo>
                  <a:lnTo>
                    <a:pt x="2281415" y="376428"/>
                  </a:lnTo>
                  <a:lnTo>
                    <a:pt x="2319515" y="441960"/>
                  </a:lnTo>
                  <a:lnTo>
                    <a:pt x="2336279" y="490728"/>
                  </a:lnTo>
                  <a:lnTo>
                    <a:pt x="2343899" y="530352"/>
                  </a:lnTo>
                  <a:lnTo>
                    <a:pt x="2345423" y="542544"/>
                  </a:lnTo>
                  <a:lnTo>
                    <a:pt x="2345423" y="556260"/>
                  </a:lnTo>
                  <a:lnTo>
                    <a:pt x="2346947" y="569988"/>
                  </a:lnTo>
                  <a:lnTo>
                    <a:pt x="2356104" y="568452"/>
                  </a:lnTo>
                  <a:lnTo>
                    <a:pt x="2356104" y="542544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320305" y="3524485"/>
            <a:ext cx="29273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3975" b="1" spc="-1957" baseline="-9000" dirty="0">
                <a:latin typeface="Arial" panose="020B0604020202020204"/>
                <a:cs typeface="Arial" panose="020B0604020202020204"/>
              </a:rPr>
              <a:t>A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70559" y="6300215"/>
            <a:ext cx="2682240" cy="436245"/>
          </a:xfrm>
          <a:custGeom>
            <a:avLst/>
            <a:gdLst/>
            <a:ahLst/>
            <a:cxnLst/>
            <a:rect l="l" t="t" r="r" b="b"/>
            <a:pathLst>
              <a:path w="2682240" h="436245">
                <a:moveTo>
                  <a:pt x="2682240" y="435864"/>
                </a:moveTo>
                <a:lnTo>
                  <a:pt x="0" y="435864"/>
                </a:lnTo>
                <a:lnTo>
                  <a:pt x="0" y="0"/>
                </a:lnTo>
                <a:lnTo>
                  <a:pt x="2682240" y="0"/>
                </a:lnTo>
                <a:lnTo>
                  <a:pt x="2682240" y="4358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35538" y="4625797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70805" y="4625797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06073" y="4625797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41341" y="4625797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76609" y="4625797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263139" y="4556759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60" h="437514">
                <a:moveTo>
                  <a:pt x="251460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60" y="0"/>
                </a:lnTo>
                <a:lnTo>
                  <a:pt x="251460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598420" y="4556759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60" h="437514">
                <a:moveTo>
                  <a:pt x="251459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59" y="0"/>
                </a:lnTo>
                <a:lnTo>
                  <a:pt x="251459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933700" y="4556759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60" h="437514">
                <a:moveTo>
                  <a:pt x="251459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59" y="0"/>
                </a:lnTo>
                <a:lnTo>
                  <a:pt x="251459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35538" y="5044950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70805" y="5044950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6073" y="5044950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641341" y="5044950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976609" y="5044950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311877" y="5044950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647145" y="5044950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982412" y="5044950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86740" y="5394959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59" h="437514">
                <a:moveTo>
                  <a:pt x="251459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59" y="0"/>
                </a:lnTo>
                <a:lnTo>
                  <a:pt x="251459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635538" y="5463966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22019" y="5394959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59" h="437514">
                <a:moveTo>
                  <a:pt x="251460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60" y="0"/>
                </a:lnTo>
                <a:lnTo>
                  <a:pt x="251460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970805" y="5463966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927860" y="5394959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60" h="437514">
                <a:moveTo>
                  <a:pt x="251460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60" y="0"/>
                </a:lnTo>
                <a:lnTo>
                  <a:pt x="251460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1976609" y="5463966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263139" y="5394959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60" h="437514">
                <a:moveTo>
                  <a:pt x="251460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60" y="0"/>
                </a:lnTo>
                <a:lnTo>
                  <a:pt x="251460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2311877" y="5463966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598420" y="5394959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60" h="437514">
                <a:moveTo>
                  <a:pt x="251459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59" y="0"/>
                </a:lnTo>
                <a:lnTo>
                  <a:pt x="251459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647145" y="5463966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933700" y="5394959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60" h="437514">
                <a:moveTo>
                  <a:pt x="251459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59" y="0"/>
                </a:lnTo>
                <a:lnTo>
                  <a:pt x="251459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2982412" y="5463966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35538" y="5883119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70805" y="5883119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257300" y="5394959"/>
            <a:ext cx="251460" cy="856615"/>
          </a:xfrm>
          <a:custGeom>
            <a:avLst/>
            <a:gdLst/>
            <a:ahLst/>
            <a:cxnLst/>
            <a:rect l="l" t="t" r="r" b="b"/>
            <a:pathLst>
              <a:path w="251459" h="856614">
                <a:moveTo>
                  <a:pt x="251460" y="0"/>
                </a:moveTo>
                <a:lnTo>
                  <a:pt x="0" y="0"/>
                </a:lnTo>
                <a:lnTo>
                  <a:pt x="0" y="419100"/>
                </a:lnTo>
                <a:lnTo>
                  <a:pt x="0" y="437400"/>
                </a:lnTo>
                <a:lnTo>
                  <a:pt x="0" y="856500"/>
                </a:lnTo>
                <a:lnTo>
                  <a:pt x="251460" y="856500"/>
                </a:lnTo>
                <a:lnTo>
                  <a:pt x="251460" y="437400"/>
                </a:lnTo>
                <a:lnTo>
                  <a:pt x="251460" y="419100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1306073" y="5883119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592567" y="5394959"/>
            <a:ext cx="252095" cy="856615"/>
          </a:xfrm>
          <a:custGeom>
            <a:avLst/>
            <a:gdLst/>
            <a:ahLst/>
            <a:cxnLst/>
            <a:rect l="l" t="t" r="r" b="b"/>
            <a:pathLst>
              <a:path w="252094" h="856614">
                <a:moveTo>
                  <a:pt x="251472" y="0"/>
                </a:moveTo>
                <a:lnTo>
                  <a:pt x="0" y="0"/>
                </a:lnTo>
                <a:lnTo>
                  <a:pt x="0" y="419100"/>
                </a:lnTo>
                <a:lnTo>
                  <a:pt x="0" y="437400"/>
                </a:lnTo>
                <a:lnTo>
                  <a:pt x="0" y="856500"/>
                </a:lnTo>
                <a:lnTo>
                  <a:pt x="251472" y="856500"/>
                </a:lnTo>
                <a:lnTo>
                  <a:pt x="251472" y="437400"/>
                </a:lnTo>
                <a:lnTo>
                  <a:pt x="251472" y="419100"/>
                </a:lnTo>
                <a:lnTo>
                  <a:pt x="2514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1641341" y="5883119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927860" y="5814059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60" h="437514">
                <a:moveTo>
                  <a:pt x="251460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60" y="0"/>
                </a:lnTo>
                <a:lnTo>
                  <a:pt x="251460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1976609" y="5883119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263140" y="4975859"/>
            <a:ext cx="251460" cy="1275715"/>
          </a:xfrm>
          <a:custGeom>
            <a:avLst/>
            <a:gdLst/>
            <a:ahLst/>
            <a:cxnLst/>
            <a:rect l="l" t="t" r="r" b="b"/>
            <a:pathLst>
              <a:path w="251460" h="1275714">
                <a:moveTo>
                  <a:pt x="251460" y="0"/>
                </a:moveTo>
                <a:lnTo>
                  <a:pt x="0" y="0"/>
                </a:lnTo>
                <a:lnTo>
                  <a:pt x="0" y="437400"/>
                </a:lnTo>
                <a:lnTo>
                  <a:pt x="0" y="838200"/>
                </a:lnTo>
                <a:lnTo>
                  <a:pt x="0" y="873264"/>
                </a:lnTo>
                <a:lnTo>
                  <a:pt x="0" y="1275600"/>
                </a:lnTo>
                <a:lnTo>
                  <a:pt x="251460" y="1275600"/>
                </a:lnTo>
                <a:lnTo>
                  <a:pt x="251460" y="873264"/>
                </a:lnTo>
                <a:lnTo>
                  <a:pt x="251460" y="838200"/>
                </a:lnTo>
                <a:lnTo>
                  <a:pt x="251460" y="437400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598420" y="4975859"/>
            <a:ext cx="251460" cy="1275715"/>
          </a:xfrm>
          <a:custGeom>
            <a:avLst/>
            <a:gdLst/>
            <a:ahLst/>
            <a:cxnLst/>
            <a:rect l="l" t="t" r="r" b="b"/>
            <a:pathLst>
              <a:path w="251460" h="1275714">
                <a:moveTo>
                  <a:pt x="251460" y="0"/>
                </a:moveTo>
                <a:lnTo>
                  <a:pt x="0" y="0"/>
                </a:lnTo>
                <a:lnTo>
                  <a:pt x="0" y="437400"/>
                </a:lnTo>
                <a:lnTo>
                  <a:pt x="0" y="838200"/>
                </a:lnTo>
                <a:lnTo>
                  <a:pt x="0" y="873264"/>
                </a:lnTo>
                <a:lnTo>
                  <a:pt x="0" y="1275600"/>
                </a:lnTo>
                <a:lnTo>
                  <a:pt x="251460" y="1275600"/>
                </a:lnTo>
                <a:lnTo>
                  <a:pt x="251460" y="873264"/>
                </a:lnTo>
                <a:lnTo>
                  <a:pt x="251460" y="838200"/>
                </a:lnTo>
                <a:lnTo>
                  <a:pt x="251460" y="437400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933700" y="4975859"/>
            <a:ext cx="251460" cy="1275715"/>
          </a:xfrm>
          <a:custGeom>
            <a:avLst/>
            <a:gdLst/>
            <a:ahLst/>
            <a:cxnLst/>
            <a:rect l="l" t="t" r="r" b="b"/>
            <a:pathLst>
              <a:path w="251460" h="1275714">
                <a:moveTo>
                  <a:pt x="251447" y="0"/>
                </a:moveTo>
                <a:lnTo>
                  <a:pt x="0" y="0"/>
                </a:lnTo>
                <a:lnTo>
                  <a:pt x="0" y="437400"/>
                </a:lnTo>
                <a:lnTo>
                  <a:pt x="0" y="838200"/>
                </a:lnTo>
                <a:lnTo>
                  <a:pt x="0" y="873264"/>
                </a:lnTo>
                <a:lnTo>
                  <a:pt x="0" y="1275600"/>
                </a:lnTo>
                <a:lnTo>
                  <a:pt x="251447" y="1275600"/>
                </a:lnTo>
                <a:lnTo>
                  <a:pt x="251447" y="873264"/>
                </a:lnTo>
                <a:lnTo>
                  <a:pt x="251447" y="838200"/>
                </a:lnTo>
                <a:lnTo>
                  <a:pt x="251447" y="437400"/>
                </a:lnTo>
                <a:lnTo>
                  <a:pt x="2514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86740" y="4556759"/>
            <a:ext cx="251460" cy="1694814"/>
          </a:xfrm>
          <a:custGeom>
            <a:avLst/>
            <a:gdLst/>
            <a:ahLst/>
            <a:cxnLst/>
            <a:rect l="l" t="t" r="r" b="b"/>
            <a:pathLst>
              <a:path w="251459" h="1694814">
                <a:moveTo>
                  <a:pt x="251460" y="0"/>
                </a:moveTo>
                <a:lnTo>
                  <a:pt x="0" y="0"/>
                </a:lnTo>
                <a:lnTo>
                  <a:pt x="0" y="419100"/>
                </a:lnTo>
                <a:lnTo>
                  <a:pt x="0" y="437400"/>
                </a:lnTo>
                <a:lnTo>
                  <a:pt x="0" y="856500"/>
                </a:lnTo>
                <a:lnTo>
                  <a:pt x="0" y="1257300"/>
                </a:lnTo>
                <a:lnTo>
                  <a:pt x="0" y="1292364"/>
                </a:lnTo>
                <a:lnTo>
                  <a:pt x="0" y="1694700"/>
                </a:lnTo>
                <a:lnTo>
                  <a:pt x="251460" y="1694700"/>
                </a:lnTo>
                <a:lnTo>
                  <a:pt x="251460" y="419100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922020" y="4556759"/>
            <a:ext cx="251460" cy="1694814"/>
          </a:xfrm>
          <a:custGeom>
            <a:avLst/>
            <a:gdLst/>
            <a:ahLst/>
            <a:cxnLst/>
            <a:rect l="l" t="t" r="r" b="b"/>
            <a:pathLst>
              <a:path w="251459" h="1694814">
                <a:moveTo>
                  <a:pt x="251460" y="0"/>
                </a:moveTo>
                <a:lnTo>
                  <a:pt x="0" y="0"/>
                </a:lnTo>
                <a:lnTo>
                  <a:pt x="0" y="419100"/>
                </a:lnTo>
                <a:lnTo>
                  <a:pt x="0" y="437400"/>
                </a:lnTo>
                <a:lnTo>
                  <a:pt x="0" y="856500"/>
                </a:lnTo>
                <a:lnTo>
                  <a:pt x="0" y="1257300"/>
                </a:lnTo>
                <a:lnTo>
                  <a:pt x="0" y="1292364"/>
                </a:lnTo>
                <a:lnTo>
                  <a:pt x="0" y="1694700"/>
                </a:lnTo>
                <a:lnTo>
                  <a:pt x="251460" y="1694700"/>
                </a:lnTo>
                <a:lnTo>
                  <a:pt x="251460" y="419100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57300" y="4556759"/>
            <a:ext cx="251460" cy="1711960"/>
          </a:xfrm>
          <a:custGeom>
            <a:avLst/>
            <a:gdLst/>
            <a:ahLst/>
            <a:cxnLst/>
            <a:rect l="l" t="t" r="r" b="b"/>
            <a:pathLst>
              <a:path w="251459" h="1711960">
                <a:moveTo>
                  <a:pt x="251460" y="1275600"/>
                </a:moveTo>
                <a:lnTo>
                  <a:pt x="0" y="1275600"/>
                </a:lnTo>
                <a:lnTo>
                  <a:pt x="0" y="1711464"/>
                </a:lnTo>
                <a:lnTo>
                  <a:pt x="251460" y="1711464"/>
                </a:lnTo>
                <a:lnTo>
                  <a:pt x="251460" y="1275600"/>
                </a:lnTo>
                <a:close/>
              </a:path>
              <a:path w="251459" h="1711960">
                <a:moveTo>
                  <a:pt x="251460" y="0"/>
                </a:moveTo>
                <a:lnTo>
                  <a:pt x="0" y="0"/>
                </a:lnTo>
                <a:lnTo>
                  <a:pt x="0" y="419100"/>
                </a:lnTo>
                <a:lnTo>
                  <a:pt x="0" y="437400"/>
                </a:lnTo>
                <a:lnTo>
                  <a:pt x="0" y="856500"/>
                </a:lnTo>
                <a:lnTo>
                  <a:pt x="251460" y="856500"/>
                </a:lnTo>
                <a:lnTo>
                  <a:pt x="251460" y="437400"/>
                </a:lnTo>
                <a:lnTo>
                  <a:pt x="251460" y="419100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592567" y="4556759"/>
            <a:ext cx="252095" cy="1711960"/>
          </a:xfrm>
          <a:custGeom>
            <a:avLst/>
            <a:gdLst/>
            <a:ahLst/>
            <a:cxnLst/>
            <a:rect l="l" t="t" r="r" b="b"/>
            <a:pathLst>
              <a:path w="252094" h="1711960">
                <a:moveTo>
                  <a:pt x="251472" y="1275600"/>
                </a:moveTo>
                <a:lnTo>
                  <a:pt x="0" y="1275600"/>
                </a:lnTo>
                <a:lnTo>
                  <a:pt x="0" y="1711464"/>
                </a:lnTo>
                <a:lnTo>
                  <a:pt x="251472" y="1711464"/>
                </a:lnTo>
                <a:lnTo>
                  <a:pt x="251472" y="1275600"/>
                </a:lnTo>
                <a:close/>
              </a:path>
              <a:path w="252094" h="1711960">
                <a:moveTo>
                  <a:pt x="251472" y="0"/>
                </a:moveTo>
                <a:lnTo>
                  <a:pt x="0" y="0"/>
                </a:lnTo>
                <a:lnTo>
                  <a:pt x="0" y="419100"/>
                </a:lnTo>
                <a:lnTo>
                  <a:pt x="0" y="437400"/>
                </a:lnTo>
                <a:lnTo>
                  <a:pt x="0" y="856500"/>
                </a:lnTo>
                <a:lnTo>
                  <a:pt x="251472" y="856500"/>
                </a:lnTo>
                <a:lnTo>
                  <a:pt x="251472" y="437400"/>
                </a:lnTo>
                <a:lnTo>
                  <a:pt x="251472" y="419100"/>
                </a:lnTo>
                <a:lnTo>
                  <a:pt x="2514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927860" y="4556759"/>
            <a:ext cx="251460" cy="1711960"/>
          </a:xfrm>
          <a:custGeom>
            <a:avLst/>
            <a:gdLst/>
            <a:ahLst/>
            <a:cxnLst/>
            <a:rect l="l" t="t" r="r" b="b"/>
            <a:pathLst>
              <a:path w="251460" h="1711960">
                <a:moveTo>
                  <a:pt x="251460" y="0"/>
                </a:moveTo>
                <a:lnTo>
                  <a:pt x="0" y="0"/>
                </a:lnTo>
                <a:lnTo>
                  <a:pt x="0" y="419100"/>
                </a:lnTo>
                <a:lnTo>
                  <a:pt x="0" y="437400"/>
                </a:lnTo>
                <a:lnTo>
                  <a:pt x="0" y="856500"/>
                </a:lnTo>
                <a:lnTo>
                  <a:pt x="0" y="1275600"/>
                </a:lnTo>
                <a:lnTo>
                  <a:pt x="0" y="1292364"/>
                </a:lnTo>
                <a:lnTo>
                  <a:pt x="0" y="1711464"/>
                </a:lnTo>
                <a:lnTo>
                  <a:pt x="251460" y="1711464"/>
                </a:lnTo>
                <a:lnTo>
                  <a:pt x="251460" y="419100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1" name="object 81"/>
          <p:cNvGraphicFramePr>
            <a:graphicFrameLocks noGrp="1"/>
          </p:cNvGraphicFramePr>
          <p:nvPr/>
        </p:nvGraphicFramePr>
        <p:xfrm>
          <a:off x="570737" y="4540758"/>
          <a:ext cx="2790825" cy="2179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370"/>
                <a:gridCol w="335280"/>
                <a:gridCol w="335280"/>
                <a:gridCol w="335280"/>
                <a:gridCol w="335280"/>
                <a:gridCol w="335280"/>
                <a:gridCol w="335280"/>
                <a:gridCol w="377189"/>
              </a:tblGrid>
              <a:tr h="419100"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905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9054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9054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9054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9054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9054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8419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8419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8419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 gridSpan="8"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...</a:t>
                      </a:r>
                      <a:r>
                        <a:rPr sz="2200" spc="-6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…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…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92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82" name="object 82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84" name="object 8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3</a:t>
            </a:r>
            <a:r>
              <a:rPr spc="35" dirty="0"/>
              <a:t>9</a:t>
            </a:r>
            <a:endParaRPr spc="3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6285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75" dirty="0"/>
              <a:t> </a:t>
            </a:r>
            <a:r>
              <a:rPr spc="200" dirty="0"/>
              <a:t>management</a:t>
            </a:r>
            <a:r>
              <a:rPr spc="70" dirty="0"/>
              <a:t> </a:t>
            </a:r>
            <a:r>
              <a:rPr spc="90" dirty="0"/>
              <a:t>with</a:t>
            </a:r>
            <a:r>
              <a:rPr spc="65" dirty="0"/>
              <a:t> </a:t>
            </a:r>
            <a:r>
              <a:rPr spc="130" dirty="0"/>
              <a:t>bitmaps</a:t>
            </a:r>
            <a:endParaRPr spc="130" dirty="0"/>
          </a:p>
        </p:txBody>
      </p:sp>
      <p:sp>
        <p:nvSpPr>
          <p:cNvPr id="3" name="object 3"/>
          <p:cNvSpPr txBox="1"/>
          <p:nvPr/>
        </p:nvSpPr>
        <p:spPr>
          <a:xfrm>
            <a:off x="1093666" y="1609826"/>
            <a:ext cx="7248525" cy="32613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12420" indent="-311150">
              <a:lnSpc>
                <a:spcPct val="100000"/>
              </a:lnSpc>
              <a:spcBef>
                <a:spcPts val="770"/>
              </a:spcBef>
              <a:buClr>
                <a:srgbClr val="D34816"/>
              </a:buClr>
              <a:buSzPct val="79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229" dirty="0"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28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7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5" dirty="0">
                <a:latin typeface="Times New Roman" panose="02020603050405020304"/>
                <a:cs typeface="Times New Roman" panose="02020603050405020304"/>
              </a:rPr>
              <a:t>allocation</a:t>
            </a:r>
            <a:r>
              <a:rPr sz="28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80" dirty="0">
                <a:latin typeface="Times New Roman" panose="02020603050405020304"/>
                <a:cs typeface="Times New Roman" panose="02020603050405020304"/>
              </a:rPr>
              <a:t>unit</a:t>
            </a:r>
            <a:r>
              <a:rPr sz="28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8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important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312420" indent="-311150">
              <a:lnSpc>
                <a:spcPct val="100000"/>
              </a:lnSpc>
              <a:spcBef>
                <a:spcPts val="670"/>
              </a:spcBef>
              <a:buClr>
                <a:srgbClr val="D34816"/>
              </a:buClr>
              <a:buSzPct val="79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65" dirty="0">
                <a:latin typeface="Times New Roman" panose="02020603050405020304"/>
                <a:cs typeface="Times New Roman" panose="02020603050405020304"/>
              </a:rPr>
              <a:t>Smaller</a:t>
            </a:r>
            <a:r>
              <a:rPr sz="285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5" dirty="0">
                <a:latin typeface="Times New Roman" panose="02020603050405020304"/>
                <a:cs typeface="Times New Roman" panose="02020603050405020304"/>
              </a:rPr>
              <a:t>allocation</a:t>
            </a:r>
            <a:r>
              <a:rPr sz="28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0" dirty="0">
                <a:latin typeface="Times New Roman" panose="02020603050405020304"/>
                <a:cs typeface="Times New Roman" panose="02020603050405020304"/>
              </a:rPr>
              <a:t>unit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250825" marR="4035425" lvl="1" indent="-250825" algn="r">
              <a:lnSpc>
                <a:spcPct val="100000"/>
              </a:lnSpc>
              <a:spcBef>
                <a:spcPts val="520"/>
              </a:spcBef>
              <a:buClr>
                <a:srgbClr val="9A2D1F"/>
              </a:buClr>
              <a:buSzPct val="77000"/>
              <a:buFont typeface="Webdings" panose="05030102010509060703"/>
              <a:buChar char="●"/>
              <a:tabLst>
                <a:tab pos="250825" algn="l"/>
              </a:tabLst>
            </a:pP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Larger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bitmap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required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299720" marR="4111625" indent="-299720" algn="r">
              <a:lnSpc>
                <a:spcPct val="100000"/>
              </a:lnSpc>
              <a:spcBef>
                <a:spcPts val="610"/>
              </a:spcBef>
              <a:buClr>
                <a:srgbClr val="D34816"/>
              </a:buClr>
              <a:buSzPct val="79000"/>
              <a:buFont typeface="Webdings" panose="05030102010509060703"/>
              <a:buChar char="●"/>
              <a:tabLst>
                <a:tab pos="299720" algn="l"/>
              </a:tabLst>
            </a:pPr>
            <a:r>
              <a:rPr sz="2850" spc="-150" dirty="0">
                <a:latin typeface="Times New Roman" panose="02020603050405020304"/>
                <a:cs typeface="Times New Roman" panose="02020603050405020304"/>
              </a:rPr>
              <a:t>Larger</a:t>
            </a:r>
            <a:r>
              <a:rPr sz="28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5" dirty="0">
                <a:latin typeface="Times New Roman" panose="02020603050405020304"/>
                <a:cs typeface="Times New Roman" panose="02020603050405020304"/>
              </a:rPr>
              <a:t>allocation</a:t>
            </a:r>
            <a:r>
              <a:rPr sz="28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30" dirty="0">
                <a:latin typeface="Times New Roman" panose="02020603050405020304"/>
                <a:cs typeface="Times New Roman" panose="02020603050405020304"/>
              </a:rPr>
              <a:t>unit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520"/>
              </a:spcBef>
              <a:buClr>
                <a:srgbClr val="9A2D1F"/>
              </a:buClr>
              <a:buSzPct val="77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35" dirty="0">
                <a:latin typeface="Times New Roman" panose="02020603050405020304"/>
                <a:cs typeface="Times New Roman" panose="02020603050405020304"/>
              </a:rPr>
              <a:t>Smaller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bitmap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required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50825">
              <a:lnSpc>
                <a:spcPct val="100000"/>
              </a:lnSpc>
              <a:spcBef>
                <a:spcPts val="470"/>
              </a:spcBef>
              <a:buClr>
                <a:srgbClr val="9A2D1F"/>
              </a:buClr>
              <a:buSzPct val="77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will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wasted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916940" lvl="2" indent="-250825">
              <a:lnSpc>
                <a:spcPct val="100000"/>
              </a:lnSpc>
              <a:spcBef>
                <a:spcPts val="475"/>
              </a:spcBef>
              <a:buClr>
                <a:srgbClr val="E6B1AA"/>
              </a:buClr>
              <a:buSzPct val="84000"/>
              <a:buFont typeface="Webdings" panose="05030102010509060703"/>
              <a:buChar char="●"/>
              <a:tabLst>
                <a:tab pos="916940" algn="l"/>
              </a:tabLst>
            </a:pPr>
            <a:r>
              <a:rPr sz="2200" spc="-17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45" dirty="0"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4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exact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multiple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4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allocation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unit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284479" y="7077995"/>
            <a:ext cx="2552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40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6285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75" dirty="0"/>
              <a:t> </a:t>
            </a:r>
            <a:r>
              <a:rPr spc="200" dirty="0"/>
              <a:t>management</a:t>
            </a:r>
            <a:r>
              <a:rPr spc="70" dirty="0"/>
              <a:t> </a:t>
            </a:r>
            <a:r>
              <a:rPr spc="90" dirty="0"/>
              <a:t>with</a:t>
            </a:r>
            <a:r>
              <a:rPr spc="65" dirty="0"/>
              <a:t> </a:t>
            </a:r>
            <a:r>
              <a:rPr spc="130" dirty="0"/>
              <a:t>bitmaps</a:t>
            </a:r>
            <a:endParaRPr spc="130" dirty="0"/>
          </a:p>
        </p:txBody>
      </p:sp>
      <p:sp>
        <p:nvSpPr>
          <p:cNvPr id="3" name="object 3"/>
          <p:cNvSpPr txBox="1"/>
          <p:nvPr/>
        </p:nvSpPr>
        <p:spPr>
          <a:xfrm>
            <a:off x="590836" y="1793947"/>
            <a:ext cx="5577205" cy="1688464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49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254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bring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9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unit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39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Search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9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consecutive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bits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map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39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Search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slow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299720">
              <a:lnSpc>
                <a:spcPct val="100000"/>
              </a:lnSpc>
              <a:spcBef>
                <a:spcPts val="38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Since,</a:t>
            </a:r>
            <a:r>
              <a:rPr sz="24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4" dirty="0">
                <a:latin typeface="Times New Roman" panose="02020603050405020304"/>
                <a:cs typeface="Times New Roman" panose="02020603050405020304"/>
              </a:rPr>
              <a:t>may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cross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word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boundaries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73852" y="6263640"/>
            <a:ext cx="2682240" cy="436245"/>
          </a:xfrm>
          <a:custGeom>
            <a:avLst/>
            <a:gdLst/>
            <a:ahLst/>
            <a:cxnLst/>
            <a:rect l="l" t="t" r="r" b="b"/>
            <a:pathLst>
              <a:path w="2682240" h="436245">
                <a:moveTo>
                  <a:pt x="2682240" y="435863"/>
                </a:moveTo>
                <a:lnTo>
                  <a:pt x="0" y="435863"/>
                </a:lnTo>
                <a:lnTo>
                  <a:pt x="0" y="0"/>
                </a:lnTo>
                <a:lnTo>
                  <a:pt x="2682240" y="0"/>
                </a:lnTo>
                <a:lnTo>
                  <a:pt x="2682240" y="4358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37183" y="4589301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2587" y="4589301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7855" y="4589301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43123" y="4589301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78391" y="4589301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66431" y="4520184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59" h="437514">
                <a:moveTo>
                  <a:pt x="251460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60" y="0"/>
                </a:lnTo>
                <a:lnTo>
                  <a:pt x="251460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637183" y="5008318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72587" y="5008318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07855" y="5008318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43123" y="5008318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78391" y="5008318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13659" y="5008318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90032" y="5358383"/>
            <a:ext cx="922019" cy="437515"/>
          </a:xfrm>
          <a:custGeom>
            <a:avLst/>
            <a:gdLst/>
            <a:ahLst/>
            <a:cxnLst/>
            <a:rect l="l" t="t" r="r" b="b"/>
            <a:pathLst>
              <a:path w="922020" h="437514">
                <a:moveTo>
                  <a:pt x="251460" y="0"/>
                </a:moveTo>
                <a:lnTo>
                  <a:pt x="0" y="0"/>
                </a:lnTo>
                <a:lnTo>
                  <a:pt x="0" y="437388"/>
                </a:lnTo>
                <a:lnTo>
                  <a:pt x="251460" y="437388"/>
                </a:lnTo>
                <a:lnTo>
                  <a:pt x="251460" y="0"/>
                </a:lnTo>
                <a:close/>
              </a:path>
              <a:path w="922020" h="437514">
                <a:moveTo>
                  <a:pt x="586740" y="0"/>
                </a:moveTo>
                <a:lnTo>
                  <a:pt x="335280" y="0"/>
                </a:lnTo>
                <a:lnTo>
                  <a:pt x="335280" y="437388"/>
                </a:lnTo>
                <a:lnTo>
                  <a:pt x="586740" y="437388"/>
                </a:lnTo>
                <a:lnTo>
                  <a:pt x="586740" y="0"/>
                </a:lnTo>
                <a:close/>
              </a:path>
              <a:path w="922020" h="437514">
                <a:moveTo>
                  <a:pt x="922007" y="0"/>
                </a:moveTo>
                <a:lnTo>
                  <a:pt x="670560" y="0"/>
                </a:lnTo>
                <a:lnTo>
                  <a:pt x="670560" y="437388"/>
                </a:lnTo>
                <a:lnTo>
                  <a:pt x="922007" y="437388"/>
                </a:lnTo>
                <a:lnTo>
                  <a:pt x="922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307855" y="5427471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95871" y="5358384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59" h="437514">
                <a:moveTo>
                  <a:pt x="251459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59" y="0"/>
                </a:lnTo>
                <a:lnTo>
                  <a:pt x="251459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643123" y="5427471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31152" y="5358384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59" h="437514">
                <a:moveTo>
                  <a:pt x="251460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60" y="0"/>
                </a:lnTo>
                <a:lnTo>
                  <a:pt x="251460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978391" y="5427471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66431" y="5358384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59" h="437514">
                <a:moveTo>
                  <a:pt x="251460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60" y="0"/>
                </a:lnTo>
                <a:lnTo>
                  <a:pt x="251460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313659" y="5427471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601712" y="4520183"/>
            <a:ext cx="251460" cy="1275715"/>
          </a:xfrm>
          <a:custGeom>
            <a:avLst/>
            <a:gdLst/>
            <a:ahLst/>
            <a:cxnLst/>
            <a:rect l="l" t="t" r="r" b="b"/>
            <a:pathLst>
              <a:path w="251459" h="1275714">
                <a:moveTo>
                  <a:pt x="251460" y="0"/>
                </a:moveTo>
                <a:lnTo>
                  <a:pt x="0" y="0"/>
                </a:lnTo>
                <a:lnTo>
                  <a:pt x="0" y="419100"/>
                </a:lnTo>
                <a:lnTo>
                  <a:pt x="0" y="437388"/>
                </a:lnTo>
                <a:lnTo>
                  <a:pt x="0" y="838200"/>
                </a:lnTo>
                <a:lnTo>
                  <a:pt x="0" y="856488"/>
                </a:lnTo>
                <a:lnTo>
                  <a:pt x="0" y="1275588"/>
                </a:lnTo>
                <a:lnTo>
                  <a:pt x="251460" y="1275588"/>
                </a:lnTo>
                <a:lnTo>
                  <a:pt x="251460" y="856488"/>
                </a:lnTo>
                <a:lnTo>
                  <a:pt x="251460" y="838200"/>
                </a:lnTo>
                <a:lnTo>
                  <a:pt x="251460" y="437388"/>
                </a:lnTo>
                <a:lnTo>
                  <a:pt x="251460" y="419100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648926" y="5427471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36992" y="4520183"/>
            <a:ext cx="251460" cy="1275715"/>
          </a:xfrm>
          <a:custGeom>
            <a:avLst/>
            <a:gdLst/>
            <a:ahLst/>
            <a:cxnLst/>
            <a:rect l="l" t="t" r="r" b="b"/>
            <a:pathLst>
              <a:path w="251459" h="1275714">
                <a:moveTo>
                  <a:pt x="251460" y="0"/>
                </a:moveTo>
                <a:lnTo>
                  <a:pt x="0" y="0"/>
                </a:lnTo>
                <a:lnTo>
                  <a:pt x="0" y="419100"/>
                </a:lnTo>
                <a:lnTo>
                  <a:pt x="0" y="437388"/>
                </a:lnTo>
                <a:lnTo>
                  <a:pt x="0" y="838200"/>
                </a:lnTo>
                <a:lnTo>
                  <a:pt x="0" y="856488"/>
                </a:lnTo>
                <a:lnTo>
                  <a:pt x="0" y="1275588"/>
                </a:lnTo>
                <a:lnTo>
                  <a:pt x="251460" y="1275588"/>
                </a:lnTo>
                <a:lnTo>
                  <a:pt x="251460" y="856488"/>
                </a:lnTo>
                <a:lnTo>
                  <a:pt x="251460" y="838200"/>
                </a:lnTo>
                <a:lnTo>
                  <a:pt x="251460" y="437388"/>
                </a:lnTo>
                <a:lnTo>
                  <a:pt x="251460" y="419100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984194" y="5427471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37183" y="5846488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72587" y="5846488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60591" y="5777484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59" h="437514">
                <a:moveTo>
                  <a:pt x="251460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60" y="0"/>
                </a:lnTo>
                <a:lnTo>
                  <a:pt x="251460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307855" y="5846488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595871" y="5777484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59" h="437514">
                <a:moveTo>
                  <a:pt x="251459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59" y="0"/>
                </a:lnTo>
                <a:lnTo>
                  <a:pt x="251459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643123" y="5846488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931152" y="5777484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59" h="437514">
                <a:moveTo>
                  <a:pt x="251460" y="437388"/>
                </a:moveTo>
                <a:lnTo>
                  <a:pt x="0" y="437388"/>
                </a:lnTo>
                <a:lnTo>
                  <a:pt x="0" y="0"/>
                </a:lnTo>
                <a:lnTo>
                  <a:pt x="251460" y="0"/>
                </a:lnTo>
                <a:lnTo>
                  <a:pt x="251460" y="43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978391" y="5846488"/>
            <a:ext cx="155575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266432" y="4939283"/>
            <a:ext cx="251460" cy="1275715"/>
          </a:xfrm>
          <a:custGeom>
            <a:avLst/>
            <a:gdLst/>
            <a:ahLst/>
            <a:cxnLst/>
            <a:rect l="l" t="t" r="r" b="b"/>
            <a:pathLst>
              <a:path w="251459" h="1275714">
                <a:moveTo>
                  <a:pt x="251460" y="0"/>
                </a:moveTo>
                <a:lnTo>
                  <a:pt x="0" y="0"/>
                </a:lnTo>
                <a:lnTo>
                  <a:pt x="0" y="437388"/>
                </a:lnTo>
                <a:lnTo>
                  <a:pt x="0" y="838200"/>
                </a:lnTo>
                <a:lnTo>
                  <a:pt x="0" y="873252"/>
                </a:lnTo>
                <a:lnTo>
                  <a:pt x="0" y="1275588"/>
                </a:lnTo>
                <a:lnTo>
                  <a:pt x="251460" y="1275588"/>
                </a:lnTo>
                <a:lnTo>
                  <a:pt x="251460" y="873252"/>
                </a:lnTo>
                <a:lnTo>
                  <a:pt x="251460" y="838200"/>
                </a:lnTo>
                <a:lnTo>
                  <a:pt x="251460" y="437388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601712" y="5376671"/>
            <a:ext cx="251460" cy="838200"/>
          </a:xfrm>
          <a:custGeom>
            <a:avLst/>
            <a:gdLst/>
            <a:ahLst/>
            <a:cxnLst/>
            <a:rect l="l" t="t" r="r" b="b"/>
            <a:pathLst>
              <a:path w="251459" h="838200">
                <a:moveTo>
                  <a:pt x="251460" y="0"/>
                </a:moveTo>
                <a:lnTo>
                  <a:pt x="0" y="0"/>
                </a:lnTo>
                <a:lnTo>
                  <a:pt x="0" y="400812"/>
                </a:lnTo>
                <a:lnTo>
                  <a:pt x="0" y="435864"/>
                </a:lnTo>
                <a:lnTo>
                  <a:pt x="0" y="838200"/>
                </a:lnTo>
                <a:lnTo>
                  <a:pt x="251460" y="838200"/>
                </a:lnTo>
                <a:lnTo>
                  <a:pt x="251460" y="435864"/>
                </a:lnTo>
                <a:lnTo>
                  <a:pt x="251460" y="400812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936992" y="5376671"/>
            <a:ext cx="251460" cy="838200"/>
          </a:xfrm>
          <a:custGeom>
            <a:avLst/>
            <a:gdLst/>
            <a:ahLst/>
            <a:cxnLst/>
            <a:rect l="l" t="t" r="r" b="b"/>
            <a:pathLst>
              <a:path w="251459" h="838200">
                <a:moveTo>
                  <a:pt x="251460" y="0"/>
                </a:moveTo>
                <a:lnTo>
                  <a:pt x="0" y="0"/>
                </a:lnTo>
                <a:lnTo>
                  <a:pt x="0" y="400812"/>
                </a:lnTo>
                <a:lnTo>
                  <a:pt x="0" y="435864"/>
                </a:lnTo>
                <a:lnTo>
                  <a:pt x="0" y="838200"/>
                </a:lnTo>
                <a:lnTo>
                  <a:pt x="251460" y="838200"/>
                </a:lnTo>
                <a:lnTo>
                  <a:pt x="251460" y="435864"/>
                </a:lnTo>
                <a:lnTo>
                  <a:pt x="251460" y="400812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590032" y="4520183"/>
            <a:ext cx="922019" cy="1711960"/>
          </a:xfrm>
          <a:custGeom>
            <a:avLst/>
            <a:gdLst/>
            <a:ahLst/>
            <a:cxnLst/>
            <a:rect l="l" t="t" r="r" b="b"/>
            <a:pathLst>
              <a:path w="922020" h="1711960">
                <a:moveTo>
                  <a:pt x="251460" y="1257300"/>
                </a:moveTo>
                <a:lnTo>
                  <a:pt x="0" y="1257300"/>
                </a:lnTo>
                <a:lnTo>
                  <a:pt x="0" y="1694688"/>
                </a:lnTo>
                <a:lnTo>
                  <a:pt x="251460" y="1694688"/>
                </a:lnTo>
                <a:lnTo>
                  <a:pt x="251460" y="1257300"/>
                </a:lnTo>
                <a:close/>
              </a:path>
              <a:path w="922020" h="1711960">
                <a:moveTo>
                  <a:pt x="251460" y="0"/>
                </a:moveTo>
                <a:lnTo>
                  <a:pt x="0" y="0"/>
                </a:lnTo>
                <a:lnTo>
                  <a:pt x="0" y="419100"/>
                </a:lnTo>
                <a:lnTo>
                  <a:pt x="0" y="437388"/>
                </a:lnTo>
                <a:lnTo>
                  <a:pt x="0" y="856488"/>
                </a:lnTo>
                <a:lnTo>
                  <a:pt x="251460" y="856488"/>
                </a:lnTo>
                <a:lnTo>
                  <a:pt x="251460" y="437388"/>
                </a:lnTo>
                <a:lnTo>
                  <a:pt x="251460" y="419100"/>
                </a:lnTo>
                <a:lnTo>
                  <a:pt x="251460" y="0"/>
                </a:lnTo>
                <a:close/>
              </a:path>
              <a:path w="922020" h="1711960">
                <a:moveTo>
                  <a:pt x="586740" y="1257300"/>
                </a:moveTo>
                <a:lnTo>
                  <a:pt x="335280" y="1257300"/>
                </a:lnTo>
                <a:lnTo>
                  <a:pt x="335280" y="1694688"/>
                </a:lnTo>
                <a:lnTo>
                  <a:pt x="586740" y="1694688"/>
                </a:lnTo>
                <a:lnTo>
                  <a:pt x="586740" y="1257300"/>
                </a:lnTo>
                <a:close/>
              </a:path>
              <a:path w="922020" h="1711960">
                <a:moveTo>
                  <a:pt x="586740" y="0"/>
                </a:moveTo>
                <a:lnTo>
                  <a:pt x="335280" y="0"/>
                </a:lnTo>
                <a:lnTo>
                  <a:pt x="335280" y="419100"/>
                </a:lnTo>
                <a:lnTo>
                  <a:pt x="335280" y="437388"/>
                </a:lnTo>
                <a:lnTo>
                  <a:pt x="335280" y="856488"/>
                </a:lnTo>
                <a:lnTo>
                  <a:pt x="586740" y="856488"/>
                </a:lnTo>
                <a:lnTo>
                  <a:pt x="586740" y="437388"/>
                </a:lnTo>
                <a:lnTo>
                  <a:pt x="586740" y="419100"/>
                </a:lnTo>
                <a:lnTo>
                  <a:pt x="586740" y="0"/>
                </a:lnTo>
                <a:close/>
              </a:path>
              <a:path w="922020" h="1711960">
                <a:moveTo>
                  <a:pt x="922007" y="0"/>
                </a:moveTo>
                <a:lnTo>
                  <a:pt x="670560" y="0"/>
                </a:lnTo>
                <a:lnTo>
                  <a:pt x="670560" y="419100"/>
                </a:lnTo>
                <a:lnTo>
                  <a:pt x="670560" y="437388"/>
                </a:lnTo>
                <a:lnTo>
                  <a:pt x="670560" y="856488"/>
                </a:lnTo>
                <a:lnTo>
                  <a:pt x="670560" y="1275588"/>
                </a:lnTo>
                <a:lnTo>
                  <a:pt x="670560" y="1292352"/>
                </a:lnTo>
                <a:lnTo>
                  <a:pt x="670560" y="1711452"/>
                </a:lnTo>
                <a:lnTo>
                  <a:pt x="922007" y="1711452"/>
                </a:lnTo>
                <a:lnTo>
                  <a:pt x="922007" y="419100"/>
                </a:lnTo>
                <a:lnTo>
                  <a:pt x="922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595872" y="4520183"/>
            <a:ext cx="251460" cy="1711960"/>
          </a:xfrm>
          <a:custGeom>
            <a:avLst/>
            <a:gdLst/>
            <a:ahLst/>
            <a:cxnLst/>
            <a:rect l="l" t="t" r="r" b="b"/>
            <a:pathLst>
              <a:path w="251459" h="1711960">
                <a:moveTo>
                  <a:pt x="251460" y="0"/>
                </a:moveTo>
                <a:lnTo>
                  <a:pt x="0" y="0"/>
                </a:lnTo>
                <a:lnTo>
                  <a:pt x="0" y="419100"/>
                </a:lnTo>
                <a:lnTo>
                  <a:pt x="0" y="437388"/>
                </a:lnTo>
                <a:lnTo>
                  <a:pt x="0" y="856488"/>
                </a:lnTo>
                <a:lnTo>
                  <a:pt x="0" y="1275588"/>
                </a:lnTo>
                <a:lnTo>
                  <a:pt x="0" y="1292352"/>
                </a:lnTo>
                <a:lnTo>
                  <a:pt x="0" y="1711452"/>
                </a:lnTo>
                <a:lnTo>
                  <a:pt x="251460" y="1711452"/>
                </a:lnTo>
                <a:lnTo>
                  <a:pt x="251460" y="419100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931152" y="4520183"/>
            <a:ext cx="251460" cy="1711960"/>
          </a:xfrm>
          <a:custGeom>
            <a:avLst/>
            <a:gdLst/>
            <a:ahLst/>
            <a:cxnLst/>
            <a:rect l="l" t="t" r="r" b="b"/>
            <a:pathLst>
              <a:path w="251459" h="1711960">
                <a:moveTo>
                  <a:pt x="251460" y="0"/>
                </a:moveTo>
                <a:lnTo>
                  <a:pt x="0" y="0"/>
                </a:lnTo>
                <a:lnTo>
                  <a:pt x="0" y="419100"/>
                </a:lnTo>
                <a:lnTo>
                  <a:pt x="0" y="437388"/>
                </a:lnTo>
                <a:lnTo>
                  <a:pt x="0" y="856488"/>
                </a:lnTo>
                <a:lnTo>
                  <a:pt x="0" y="1275588"/>
                </a:lnTo>
                <a:lnTo>
                  <a:pt x="0" y="1292352"/>
                </a:lnTo>
                <a:lnTo>
                  <a:pt x="0" y="1711452"/>
                </a:lnTo>
                <a:lnTo>
                  <a:pt x="251460" y="1711452"/>
                </a:lnTo>
                <a:lnTo>
                  <a:pt x="251460" y="419100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5574029" y="4504182"/>
          <a:ext cx="2790825" cy="2178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370"/>
                <a:gridCol w="335280"/>
                <a:gridCol w="335280"/>
                <a:gridCol w="335280"/>
                <a:gridCol w="356235"/>
                <a:gridCol w="313055"/>
                <a:gridCol w="335914"/>
                <a:gridCol w="376555"/>
              </a:tblGrid>
              <a:tr h="418465"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CC33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CC3300"/>
                      </a:solidFill>
                      <a:prstDash val="solid"/>
                    </a:lnL>
                    <a:lnT w="38100">
                      <a:solidFill>
                        <a:srgbClr val="CC3300"/>
                      </a:solidFill>
                      <a:prstDash val="solid"/>
                    </a:lnT>
                    <a:lnB w="38100">
                      <a:solidFill>
                        <a:srgbClr val="CC33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CC3300"/>
                      </a:solidFill>
                      <a:prstDash val="solid"/>
                    </a:lnT>
                    <a:lnB w="38100">
                      <a:solidFill>
                        <a:srgbClr val="00C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CC3300"/>
                      </a:solidFill>
                      <a:prstDash val="solid"/>
                    </a:lnR>
                    <a:lnT w="38100">
                      <a:solidFill>
                        <a:srgbClr val="CC3300"/>
                      </a:solidFill>
                      <a:prstDash val="solid"/>
                    </a:lnT>
                    <a:lnB w="38100">
                      <a:solidFill>
                        <a:srgbClr val="00CC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T w="38100">
                      <a:solidFill>
                        <a:srgbClr val="CC33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CC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CC00"/>
                      </a:solidFill>
                      <a:prstDash val="solid"/>
                    </a:lnR>
                    <a:lnT w="38100">
                      <a:solidFill>
                        <a:srgbClr val="00CC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8419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8419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8419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8419" marB="0">
                    <a:lnL w="83819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8419" marB="0"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46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8419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8382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9054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9054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9054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R w="83819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83819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2920">
                <a:tc gridSpan="8"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...</a:t>
                      </a:r>
                      <a:r>
                        <a:rPr sz="2200" spc="-6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…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…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92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44" name="object 44"/>
          <p:cNvSpPr txBox="1"/>
          <p:nvPr/>
        </p:nvSpPr>
        <p:spPr>
          <a:xfrm>
            <a:off x="900188" y="4603434"/>
            <a:ext cx="2419350" cy="1283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Find</a:t>
            </a:r>
            <a:r>
              <a:rPr sz="1950" spc="3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run</a:t>
            </a:r>
            <a:r>
              <a:rPr sz="1950" spc="3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950" spc="2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length</a:t>
            </a:r>
            <a:r>
              <a:rPr sz="1950" spc="1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950" spc="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9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19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9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5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Find</a:t>
            </a:r>
            <a:r>
              <a:rPr sz="1950" spc="3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run</a:t>
            </a:r>
            <a:r>
              <a:rPr sz="1950" spc="3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950" spc="25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length</a:t>
            </a:r>
            <a:r>
              <a:rPr sz="1950" spc="1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950" spc="5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5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590032" y="5358384"/>
            <a:ext cx="670560" cy="419100"/>
          </a:xfrm>
          <a:custGeom>
            <a:avLst/>
            <a:gdLst/>
            <a:ahLst/>
            <a:cxnLst/>
            <a:rect l="l" t="t" r="r" b="b"/>
            <a:pathLst>
              <a:path w="670560" h="419100">
                <a:moveTo>
                  <a:pt x="0" y="0"/>
                </a:moveTo>
                <a:lnTo>
                  <a:pt x="670560" y="0"/>
                </a:lnTo>
                <a:lnTo>
                  <a:pt x="67056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ln w="32004">
            <a:solidFill>
              <a:srgbClr val="00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318759" y="5128259"/>
            <a:ext cx="3226435" cy="922019"/>
          </a:xfrm>
          <a:custGeom>
            <a:avLst/>
            <a:gdLst/>
            <a:ahLst/>
            <a:cxnLst/>
            <a:rect l="l" t="t" r="r" b="b"/>
            <a:pathLst>
              <a:path w="3226434" h="922020">
                <a:moveTo>
                  <a:pt x="3182291" y="478984"/>
                </a:moveTo>
                <a:lnTo>
                  <a:pt x="3185160" y="461772"/>
                </a:lnTo>
                <a:lnTo>
                  <a:pt x="3183636" y="441960"/>
                </a:lnTo>
                <a:lnTo>
                  <a:pt x="3183636" y="422148"/>
                </a:lnTo>
                <a:lnTo>
                  <a:pt x="3172968" y="342900"/>
                </a:lnTo>
                <a:lnTo>
                  <a:pt x="3165348" y="304800"/>
                </a:lnTo>
                <a:lnTo>
                  <a:pt x="3154680" y="268224"/>
                </a:lnTo>
                <a:lnTo>
                  <a:pt x="3128772" y="199644"/>
                </a:lnTo>
                <a:lnTo>
                  <a:pt x="3105912" y="153924"/>
                </a:lnTo>
                <a:lnTo>
                  <a:pt x="3096768" y="140208"/>
                </a:lnTo>
                <a:lnTo>
                  <a:pt x="3089148" y="128016"/>
                </a:lnTo>
                <a:lnTo>
                  <a:pt x="3061716" y="92964"/>
                </a:lnTo>
                <a:lnTo>
                  <a:pt x="3023616" y="60960"/>
                </a:lnTo>
                <a:lnTo>
                  <a:pt x="3015996" y="54864"/>
                </a:lnTo>
                <a:lnTo>
                  <a:pt x="3005328" y="50292"/>
                </a:lnTo>
                <a:lnTo>
                  <a:pt x="2997708" y="47244"/>
                </a:lnTo>
                <a:lnTo>
                  <a:pt x="2988564" y="44196"/>
                </a:lnTo>
                <a:lnTo>
                  <a:pt x="2979420" y="42672"/>
                </a:lnTo>
                <a:lnTo>
                  <a:pt x="2968752" y="42672"/>
                </a:lnTo>
                <a:lnTo>
                  <a:pt x="2970276" y="0"/>
                </a:lnTo>
                <a:lnTo>
                  <a:pt x="2994660" y="3048"/>
                </a:lnTo>
                <a:lnTo>
                  <a:pt x="3008376" y="6096"/>
                </a:lnTo>
                <a:lnTo>
                  <a:pt x="3020568" y="12192"/>
                </a:lnTo>
                <a:lnTo>
                  <a:pt x="3034284" y="18288"/>
                </a:lnTo>
                <a:lnTo>
                  <a:pt x="3046476" y="24384"/>
                </a:lnTo>
                <a:lnTo>
                  <a:pt x="3058668" y="33528"/>
                </a:lnTo>
                <a:lnTo>
                  <a:pt x="3069336" y="42672"/>
                </a:lnTo>
                <a:lnTo>
                  <a:pt x="3080004" y="53340"/>
                </a:lnTo>
                <a:lnTo>
                  <a:pt x="3092196" y="64008"/>
                </a:lnTo>
                <a:lnTo>
                  <a:pt x="3102864" y="76200"/>
                </a:lnTo>
                <a:lnTo>
                  <a:pt x="3112008" y="89916"/>
                </a:lnTo>
                <a:lnTo>
                  <a:pt x="3122676" y="103632"/>
                </a:lnTo>
                <a:lnTo>
                  <a:pt x="3150108" y="147828"/>
                </a:lnTo>
                <a:lnTo>
                  <a:pt x="3194304" y="254508"/>
                </a:lnTo>
                <a:lnTo>
                  <a:pt x="3204972" y="294132"/>
                </a:lnTo>
                <a:lnTo>
                  <a:pt x="3214116" y="333756"/>
                </a:lnTo>
                <a:lnTo>
                  <a:pt x="3223260" y="397764"/>
                </a:lnTo>
                <a:lnTo>
                  <a:pt x="3226308" y="440436"/>
                </a:lnTo>
                <a:lnTo>
                  <a:pt x="3226308" y="460248"/>
                </a:lnTo>
                <a:lnTo>
                  <a:pt x="3224403" y="475488"/>
                </a:lnTo>
                <a:lnTo>
                  <a:pt x="3183636" y="475488"/>
                </a:lnTo>
                <a:lnTo>
                  <a:pt x="3182291" y="478984"/>
                </a:lnTo>
                <a:close/>
              </a:path>
              <a:path w="3226434" h="922020">
                <a:moveTo>
                  <a:pt x="130394" y="459806"/>
                </a:moveTo>
                <a:lnTo>
                  <a:pt x="117348" y="419100"/>
                </a:lnTo>
                <a:lnTo>
                  <a:pt x="256032" y="440436"/>
                </a:lnTo>
                <a:lnTo>
                  <a:pt x="243459" y="452628"/>
                </a:lnTo>
                <a:lnTo>
                  <a:pt x="147828" y="452628"/>
                </a:lnTo>
                <a:lnTo>
                  <a:pt x="130394" y="459806"/>
                </a:lnTo>
                <a:close/>
              </a:path>
              <a:path w="3226434" h="922020">
                <a:moveTo>
                  <a:pt x="143431" y="500481"/>
                </a:moveTo>
                <a:lnTo>
                  <a:pt x="130394" y="459806"/>
                </a:lnTo>
                <a:lnTo>
                  <a:pt x="147828" y="452628"/>
                </a:lnTo>
                <a:lnTo>
                  <a:pt x="164592" y="492252"/>
                </a:lnTo>
                <a:lnTo>
                  <a:pt x="143431" y="500481"/>
                </a:lnTo>
                <a:close/>
              </a:path>
              <a:path w="3226434" h="922020">
                <a:moveTo>
                  <a:pt x="155448" y="537972"/>
                </a:moveTo>
                <a:lnTo>
                  <a:pt x="143431" y="500481"/>
                </a:lnTo>
                <a:lnTo>
                  <a:pt x="164592" y="492252"/>
                </a:lnTo>
                <a:lnTo>
                  <a:pt x="147828" y="452628"/>
                </a:lnTo>
                <a:lnTo>
                  <a:pt x="243459" y="452628"/>
                </a:lnTo>
                <a:lnTo>
                  <a:pt x="155448" y="537972"/>
                </a:lnTo>
                <a:close/>
              </a:path>
              <a:path w="3226434" h="922020">
                <a:moveTo>
                  <a:pt x="1613916" y="922020"/>
                </a:moveTo>
                <a:lnTo>
                  <a:pt x="1463040" y="920496"/>
                </a:lnTo>
                <a:lnTo>
                  <a:pt x="1315212" y="917448"/>
                </a:lnTo>
                <a:lnTo>
                  <a:pt x="1168908" y="911352"/>
                </a:lnTo>
                <a:lnTo>
                  <a:pt x="1027176" y="902208"/>
                </a:lnTo>
                <a:lnTo>
                  <a:pt x="888492" y="891540"/>
                </a:lnTo>
                <a:lnTo>
                  <a:pt x="693420" y="873252"/>
                </a:lnTo>
                <a:lnTo>
                  <a:pt x="515112" y="850392"/>
                </a:lnTo>
                <a:lnTo>
                  <a:pt x="460248" y="841248"/>
                </a:lnTo>
                <a:lnTo>
                  <a:pt x="406908" y="833628"/>
                </a:lnTo>
                <a:lnTo>
                  <a:pt x="265176" y="806196"/>
                </a:lnTo>
                <a:lnTo>
                  <a:pt x="224028" y="795528"/>
                </a:lnTo>
                <a:lnTo>
                  <a:pt x="185928" y="786384"/>
                </a:lnTo>
                <a:lnTo>
                  <a:pt x="120396" y="765048"/>
                </a:lnTo>
                <a:lnTo>
                  <a:pt x="67056" y="743712"/>
                </a:lnTo>
                <a:lnTo>
                  <a:pt x="28956" y="720852"/>
                </a:lnTo>
                <a:lnTo>
                  <a:pt x="15240" y="707136"/>
                </a:lnTo>
                <a:lnTo>
                  <a:pt x="13716" y="707136"/>
                </a:lnTo>
                <a:lnTo>
                  <a:pt x="12192" y="705612"/>
                </a:lnTo>
                <a:lnTo>
                  <a:pt x="12192" y="704088"/>
                </a:lnTo>
                <a:lnTo>
                  <a:pt x="4572" y="693420"/>
                </a:lnTo>
                <a:lnTo>
                  <a:pt x="3048" y="690372"/>
                </a:lnTo>
                <a:lnTo>
                  <a:pt x="3048" y="688848"/>
                </a:lnTo>
                <a:lnTo>
                  <a:pt x="1524" y="685800"/>
                </a:lnTo>
                <a:lnTo>
                  <a:pt x="0" y="675132"/>
                </a:lnTo>
                <a:lnTo>
                  <a:pt x="0" y="659892"/>
                </a:lnTo>
                <a:lnTo>
                  <a:pt x="4572" y="623316"/>
                </a:lnTo>
                <a:lnTo>
                  <a:pt x="7620" y="611124"/>
                </a:lnTo>
                <a:lnTo>
                  <a:pt x="12192" y="600456"/>
                </a:lnTo>
                <a:lnTo>
                  <a:pt x="21336" y="577596"/>
                </a:lnTo>
                <a:lnTo>
                  <a:pt x="45720" y="536448"/>
                </a:lnTo>
                <a:lnTo>
                  <a:pt x="79248" y="498348"/>
                </a:lnTo>
                <a:lnTo>
                  <a:pt x="117348" y="466344"/>
                </a:lnTo>
                <a:lnTo>
                  <a:pt x="118872" y="464820"/>
                </a:lnTo>
                <a:lnTo>
                  <a:pt x="120396" y="464820"/>
                </a:lnTo>
                <a:lnTo>
                  <a:pt x="121920" y="463296"/>
                </a:lnTo>
                <a:lnTo>
                  <a:pt x="130394" y="459806"/>
                </a:lnTo>
                <a:lnTo>
                  <a:pt x="143236" y="499872"/>
                </a:lnTo>
                <a:lnTo>
                  <a:pt x="141732" y="499872"/>
                </a:lnTo>
                <a:lnTo>
                  <a:pt x="137160" y="502920"/>
                </a:lnTo>
                <a:lnTo>
                  <a:pt x="137541" y="502920"/>
                </a:lnTo>
                <a:lnTo>
                  <a:pt x="124968" y="512064"/>
                </a:lnTo>
                <a:lnTo>
                  <a:pt x="94488" y="542544"/>
                </a:lnTo>
                <a:lnTo>
                  <a:pt x="70104" y="576072"/>
                </a:lnTo>
                <a:lnTo>
                  <a:pt x="51816" y="612648"/>
                </a:lnTo>
                <a:lnTo>
                  <a:pt x="48768" y="623316"/>
                </a:lnTo>
                <a:lnTo>
                  <a:pt x="45720" y="632460"/>
                </a:lnTo>
                <a:lnTo>
                  <a:pt x="42672" y="650748"/>
                </a:lnTo>
                <a:lnTo>
                  <a:pt x="41148" y="661416"/>
                </a:lnTo>
                <a:lnTo>
                  <a:pt x="41148" y="670560"/>
                </a:lnTo>
                <a:lnTo>
                  <a:pt x="39624" y="670560"/>
                </a:lnTo>
                <a:lnTo>
                  <a:pt x="42672" y="676656"/>
                </a:lnTo>
                <a:lnTo>
                  <a:pt x="43978" y="676656"/>
                </a:lnTo>
                <a:lnTo>
                  <a:pt x="47244" y="681228"/>
                </a:lnTo>
                <a:lnTo>
                  <a:pt x="48768" y="681228"/>
                </a:lnTo>
                <a:lnTo>
                  <a:pt x="54864" y="687324"/>
                </a:lnTo>
                <a:lnTo>
                  <a:pt x="55372" y="687324"/>
                </a:lnTo>
                <a:lnTo>
                  <a:pt x="65532" y="694944"/>
                </a:lnTo>
                <a:lnTo>
                  <a:pt x="83820" y="705612"/>
                </a:lnTo>
                <a:lnTo>
                  <a:pt x="106680" y="714756"/>
                </a:lnTo>
                <a:lnTo>
                  <a:pt x="132588" y="725424"/>
                </a:lnTo>
                <a:lnTo>
                  <a:pt x="163068" y="736092"/>
                </a:lnTo>
                <a:lnTo>
                  <a:pt x="196596" y="745236"/>
                </a:lnTo>
                <a:lnTo>
                  <a:pt x="234696" y="754380"/>
                </a:lnTo>
                <a:lnTo>
                  <a:pt x="274320" y="765048"/>
                </a:lnTo>
                <a:lnTo>
                  <a:pt x="364236" y="783336"/>
                </a:lnTo>
                <a:lnTo>
                  <a:pt x="414528" y="792480"/>
                </a:lnTo>
                <a:lnTo>
                  <a:pt x="466344" y="800100"/>
                </a:lnTo>
                <a:lnTo>
                  <a:pt x="521208" y="809244"/>
                </a:lnTo>
                <a:lnTo>
                  <a:pt x="637032" y="824484"/>
                </a:lnTo>
                <a:lnTo>
                  <a:pt x="697992" y="830580"/>
                </a:lnTo>
                <a:lnTo>
                  <a:pt x="760476" y="838200"/>
                </a:lnTo>
                <a:lnTo>
                  <a:pt x="891540" y="850392"/>
                </a:lnTo>
                <a:lnTo>
                  <a:pt x="1028700" y="861060"/>
                </a:lnTo>
                <a:lnTo>
                  <a:pt x="1170432" y="868680"/>
                </a:lnTo>
                <a:lnTo>
                  <a:pt x="1316736" y="874776"/>
                </a:lnTo>
                <a:lnTo>
                  <a:pt x="1464564" y="879348"/>
                </a:lnTo>
                <a:lnTo>
                  <a:pt x="1612392" y="880872"/>
                </a:lnTo>
                <a:lnTo>
                  <a:pt x="2221757" y="880872"/>
                </a:lnTo>
                <a:lnTo>
                  <a:pt x="2200656" y="883920"/>
                </a:lnTo>
                <a:lnTo>
                  <a:pt x="2057400" y="900684"/>
                </a:lnTo>
                <a:lnTo>
                  <a:pt x="1911096" y="912876"/>
                </a:lnTo>
                <a:lnTo>
                  <a:pt x="1763268" y="918972"/>
                </a:lnTo>
                <a:lnTo>
                  <a:pt x="1613916" y="922020"/>
                </a:lnTo>
                <a:close/>
              </a:path>
              <a:path w="3226434" h="922020">
                <a:moveTo>
                  <a:pt x="3182112" y="480060"/>
                </a:moveTo>
                <a:lnTo>
                  <a:pt x="3182291" y="478984"/>
                </a:lnTo>
                <a:lnTo>
                  <a:pt x="3183636" y="475488"/>
                </a:lnTo>
                <a:lnTo>
                  <a:pt x="3182112" y="480060"/>
                </a:lnTo>
                <a:close/>
              </a:path>
              <a:path w="3226434" h="922020">
                <a:moveTo>
                  <a:pt x="3223831" y="480060"/>
                </a:moveTo>
                <a:lnTo>
                  <a:pt x="3182112" y="480060"/>
                </a:lnTo>
                <a:lnTo>
                  <a:pt x="3183636" y="475488"/>
                </a:lnTo>
                <a:lnTo>
                  <a:pt x="3224403" y="475488"/>
                </a:lnTo>
                <a:lnTo>
                  <a:pt x="3223831" y="480060"/>
                </a:lnTo>
                <a:close/>
              </a:path>
              <a:path w="3226434" h="922020">
                <a:moveTo>
                  <a:pt x="3176016" y="495300"/>
                </a:moveTo>
                <a:lnTo>
                  <a:pt x="3182291" y="478984"/>
                </a:lnTo>
                <a:lnTo>
                  <a:pt x="3182112" y="480060"/>
                </a:lnTo>
                <a:lnTo>
                  <a:pt x="3223831" y="480060"/>
                </a:lnTo>
                <a:lnTo>
                  <a:pt x="3223260" y="484632"/>
                </a:lnTo>
                <a:lnTo>
                  <a:pt x="3223260" y="487680"/>
                </a:lnTo>
                <a:lnTo>
                  <a:pt x="3221627" y="492252"/>
                </a:lnTo>
                <a:lnTo>
                  <a:pt x="3177540" y="492252"/>
                </a:lnTo>
                <a:lnTo>
                  <a:pt x="3176016" y="495300"/>
                </a:lnTo>
                <a:close/>
              </a:path>
              <a:path w="3226434" h="922020">
                <a:moveTo>
                  <a:pt x="3213354" y="513588"/>
                </a:moveTo>
                <a:lnTo>
                  <a:pt x="3166872" y="513588"/>
                </a:lnTo>
                <a:lnTo>
                  <a:pt x="3177540" y="492252"/>
                </a:lnTo>
                <a:lnTo>
                  <a:pt x="3221627" y="492252"/>
                </a:lnTo>
                <a:lnTo>
                  <a:pt x="3215640" y="509016"/>
                </a:lnTo>
                <a:lnTo>
                  <a:pt x="3215640" y="512064"/>
                </a:lnTo>
                <a:lnTo>
                  <a:pt x="3214116" y="512064"/>
                </a:lnTo>
                <a:lnTo>
                  <a:pt x="3213354" y="513588"/>
                </a:lnTo>
                <a:close/>
              </a:path>
              <a:path w="3226434" h="922020">
                <a:moveTo>
                  <a:pt x="137160" y="502920"/>
                </a:moveTo>
                <a:lnTo>
                  <a:pt x="141732" y="499872"/>
                </a:lnTo>
                <a:lnTo>
                  <a:pt x="137978" y="502601"/>
                </a:lnTo>
                <a:lnTo>
                  <a:pt x="137160" y="502920"/>
                </a:lnTo>
                <a:close/>
              </a:path>
              <a:path w="3226434" h="922020">
                <a:moveTo>
                  <a:pt x="137978" y="502601"/>
                </a:moveTo>
                <a:lnTo>
                  <a:pt x="141732" y="499872"/>
                </a:lnTo>
                <a:lnTo>
                  <a:pt x="143236" y="499872"/>
                </a:lnTo>
                <a:lnTo>
                  <a:pt x="143431" y="500481"/>
                </a:lnTo>
                <a:lnTo>
                  <a:pt x="137978" y="502601"/>
                </a:lnTo>
                <a:close/>
              </a:path>
              <a:path w="3226434" h="922020">
                <a:moveTo>
                  <a:pt x="137541" y="502920"/>
                </a:moveTo>
                <a:lnTo>
                  <a:pt x="137160" y="502920"/>
                </a:lnTo>
                <a:lnTo>
                  <a:pt x="137978" y="502601"/>
                </a:lnTo>
                <a:lnTo>
                  <a:pt x="137541" y="502920"/>
                </a:lnTo>
                <a:close/>
              </a:path>
              <a:path w="3226434" h="922020">
                <a:moveTo>
                  <a:pt x="2221757" y="880872"/>
                </a:moveTo>
                <a:lnTo>
                  <a:pt x="1612392" y="880872"/>
                </a:lnTo>
                <a:lnTo>
                  <a:pt x="1760220" y="877824"/>
                </a:lnTo>
                <a:lnTo>
                  <a:pt x="1908048" y="870204"/>
                </a:lnTo>
                <a:lnTo>
                  <a:pt x="2052828" y="858012"/>
                </a:lnTo>
                <a:lnTo>
                  <a:pt x="2194560" y="842772"/>
                </a:lnTo>
                <a:lnTo>
                  <a:pt x="2331720" y="822960"/>
                </a:lnTo>
                <a:lnTo>
                  <a:pt x="2397252" y="812292"/>
                </a:lnTo>
                <a:lnTo>
                  <a:pt x="2462784" y="800100"/>
                </a:lnTo>
                <a:lnTo>
                  <a:pt x="2645664" y="758952"/>
                </a:lnTo>
                <a:lnTo>
                  <a:pt x="2756916" y="728472"/>
                </a:lnTo>
                <a:lnTo>
                  <a:pt x="2808732" y="711708"/>
                </a:lnTo>
                <a:lnTo>
                  <a:pt x="2857500" y="694944"/>
                </a:lnTo>
                <a:lnTo>
                  <a:pt x="2903220" y="678180"/>
                </a:lnTo>
                <a:lnTo>
                  <a:pt x="2947416" y="659892"/>
                </a:lnTo>
                <a:lnTo>
                  <a:pt x="2987040" y="641604"/>
                </a:lnTo>
                <a:lnTo>
                  <a:pt x="3023616" y="623316"/>
                </a:lnTo>
                <a:lnTo>
                  <a:pt x="3057144" y="605028"/>
                </a:lnTo>
                <a:lnTo>
                  <a:pt x="3113532" y="566928"/>
                </a:lnTo>
                <a:lnTo>
                  <a:pt x="3153156" y="530352"/>
                </a:lnTo>
                <a:lnTo>
                  <a:pt x="3168396" y="510540"/>
                </a:lnTo>
                <a:lnTo>
                  <a:pt x="3166872" y="513588"/>
                </a:lnTo>
                <a:lnTo>
                  <a:pt x="3213354" y="513588"/>
                </a:lnTo>
                <a:lnTo>
                  <a:pt x="3203448" y="533400"/>
                </a:lnTo>
                <a:lnTo>
                  <a:pt x="3201924" y="534924"/>
                </a:lnTo>
                <a:lnTo>
                  <a:pt x="3186684" y="556260"/>
                </a:lnTo>
                <a:lnTo>
                  <a:pt x="3140964" y="598932"/>
                </a:lnTo>
                <a:lnTo>
                  <a:pt x="3080004" y="640080"/>
                </a:lnTo>
                <a:lnTo>
                  <a:pt x="3044952" y="659892"/>
                </a:lnTo>
                <a:lnTo>
                  <a:pt x="3005328" y="679704"/>
                </a:lnTo>
                <a:lnTo>
                  <a:pt x="2964180" y="697992"/>
                </a:lnTo>
                <a:lnTo>
                  <a:pt x="2919984" y="716280"/>
                </a:lnTo>
                <a:lnTo>
                  <a:pt x="2871216" y="734568"/>
                </a:lnTo>
                <a:lnTo>
                  <a:pt x="2769108" y="768096"/>
                </a:lnTo>
                <a:lnTo>
                  <a:pt x="2714244" y="783336"/>
                </a:lnTo>
                <a:lnTo>
                  <a:pt x="2596896" y="813816"/>
                </a:lnTo>
                <a:lnTo>
                  <a:pt x="2470404" y="841248"/>
                </a:lnTo>
                <a:lnTo>
                  <a:pt x="2404872" y="853440"/>
                </a:lnTo>
                <a:lnTo>
                  <a:pt x="2337816" y="864108"/>
                </a:lnTo>
                <a:lnTo>
                  <a:pt x="2221757" y="880872"/>
                </a:lnTo>
                <a:close/>
              </a:path>
              <a:path w="3226434" h="922020">
                <a:moveTo>
                  <a:pt x="42018" y="672084"/>
                </a:moveTo>
                <a:lnTo>
                  <a:pt x="41148" y="672084"/>
                </a:lnTo>
                <a:lnTo>
                  <a:pt x="41148" y="665988"/>
                </a:lnTo>
                <a:lnTo>
                  <a:pt x="42018" y="672084"/>
                </a:lnTo>
                <a:close/>
              </a:path>
              <a:path w="3226434" h="922020">
                <a:moveTo>
                  <a:pt x="42672" y="676656"/>
                </a:moveTo>
                <a:lnTo>
                  <a:pt x="39624" y="670560"/>
                </a:lnTo>
                <a:lnTo>
                  <a:pt x="42345" y="674370"/>
                </a:lnTo>
                <a:lnTo>
                  <a:pt x="42672" y="676656"/>
                </a:lnTo>
                <a:close/>
              </a:path>
              <a:path w="3226434" h="922020">
                <a:moveTo>
                  <a:pt x="42345" y="674370"/>
                </a:moveTo>
                <a:lnTo>
                  <a:pt x="39624" y="670560"/>
                </a:lnTo>
                <a:lnTo>
                  <a:pt x="41148" y="670560"/>
                </a:lnTo>
                <a:lnTo>
                  <a:pt x="41148" y="672084"/>
                </a:lnTo>
                <a:lnTo>
                  <a:pt x="42018" y="672084"/>
                </a:lnTo>
                <a:lnTo>
                  <a:pt x="42345" y="674370"/>
                </a:lnTo>
                <a:close/>
              </a:path>
              <a:path w="3226434" h="922020">
                <a:moveTo>
                  <a:pt x="43978" y="676656"/>
                </a:moveTo>
                <a:lnTo>
                  <a:pt x="42672" y="676656"/>
                </a:lnTo>
                <a:lnTo>
                  <a:pt x="42345" y="674370"/>
                </a:lnTo>
                <a:lnTo>
                  <a:pt x="43978" y="676656"/>
                </a:lnTo>
                <a:close/>
              </a:path>
              <a:path w="3226434" h="922020">
                <a:moveTo>
                  <a:pt x="48768" y="681228"/>
                </a:moveTo>
                <a:lnTo>
                  <a:pt x="47244" y="681228"/>
                </a:lnTo>
                <a:lnTo>
                  <a:pt x="44196" y="676656"/>
                </a:lnTo>
                <a:lnTo>
                  <a:pt x="48768" y="681228"/>
                </a:lnTo>
                <a:close/>
              </a:path>
              <a:path w="3226434" h="922020">
                <a:moveTo>
                  <a:pt x="55372" y="687324"/>
                </a:moveTo>
                <a:lnTo>
                  <a:pt x="54864" y="687324"/>
                </a:lnTo>
                <a:lnTo>
                  <a:pt x="53340" y="685800"/>
                </a:lnTo>
                <a:lnTo>
                  <a:pt x="55372" y="687324"/>
                </a:lnTo>
                <a:close/>
              </a:path>
            </a:pathLst>
          </a:custGeom>
          <a:solidFill>
            <a:srgbClr val="00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49" name="object 49"/>
          <p:cNvSpPr txBox="1"/>
          <p:nvPr/>
        </p:nvSpPr>
        <p:spPr>
          <a:xfrm>
            <a:off x="292100" y="7077995"/>
            <a:ext cx="24130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41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5430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75" dirty="0"/>
              <a:t> </a:t>
            </a:r>
            <a:r>
              <a:rPr spc="200" dirty="0"/>
              <a:t>management</a:t>
            </a:r>
            <a:r>
              <a:rPr spc="65" dirty="0"/>
              <a:t> </a:t>
            </a:r>
            <a:r>
              <a:rPr spc="90" dirty="0"/>
              <a:t>with</a:t>
            </a:r>
            <a:r>
              <a:rPr spc="65" dirty="0"/>
              <a:t> </a:t>
            </a:r>
            <a:r>
              <a:rPr spc="100" dirty="0"/>
              <a:t>Linked</a:t>
            </a:r>
            <a:r>
              <a:rPr spc="30" dirty="0"/>
              <a:t> </a:t>
            </a:r>
            <a:r>
              <a:rPr spc="-10" dirty="0"/>
              <a:t>Lists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90766" y="1783931"/>
            <a:ext cx="4846955" cy="13855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12420" indent="-311150">
              <a:lnSpc>
                <a:spcPct val="100000"/>
              </a:lnSpc>
              <a:spcBef>
                <a:spcPts val="420"/>
              </a:spcBef>
              <a:buClr>
                <a:srgbClr val="D34816"/>
              </a:buClr>
              <a:buSzPct val="77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Linked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list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segments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24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Free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segments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950" dirty="0">
                <a:latin typeface="Times New Roman" panose="02020603050405020304"/>
                <a:cs typeface="Times New Roman" panose="02020603050405020304"/>
              </a:rPr>
              <a:t>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Holes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315" lvl="1" indent="-298450">
              <a:lnSpc>
                <a:spcPct val="100000"/>
              </a:lnSpc>
              <a:spcBef>
                <a:spcPts val="1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Allocated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segments</a:t>
            </a:r>
            <a:r>
              <a:rPr sz="26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950" dirty="0">
                <a:latin typeface="Times New Roman" panose="02020603050405020304"/>
                <a:cs typeface="Times New Roman" panose="02020603050405020304"/>
              </a:rPr>
              <a:t></a:t>
            </a:r>
            <a:r>
              <a:rPr sz="26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Processes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2372" y="3619993"/>
            <a:ext cx="49657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  <a:tabLst>
                <a:tab pos="418465" algn="l"/>
              </a:tabLst>
            </a:pP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spc="85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7405" y="3540125"/>
            <a:ext cx="8822690" cy="524510"/>
            <a:chOff x="827405" y="3540125"/>
            <a:chExt cx="8822690" cy="524510"/>
          </a:xfrm>
        </p:grpSpPr>
        <p:sp>
          <p:nvSpPr>
            <p:cNvPr id="6" name="object 6"/>
            <p:cNvSpPr/>
            <p:nvPr/>
          </p:nvSpPr>
          <p:spPr>
            <a:xfrm>
              <a:off x="2095500" y="3550919"/>
              <a:ext cx="7543800" cy="503555"/>
            </a:xfrm>
            <a:custGeom>
              <a:avLst/>
              <a:gdLst/>
              <a:ahLst/>
              <a:cxnLst/>
              <a:rect l="l" t="t" r="r" b="b"/>
              <a:pathLst>
                <a:path w="7543800" h="503554">
                  <a:moveTo>
                    <a:pt x="754367" y="0"/>
                  </a:moveTo>
                  <a:lnTo>
                    <a:pt x="0" y="0"/>
                  </a:lnTo>
                  <a:lnTo>
                    <a:pt x="0" y="502932"/>
                  </a:lnTo>
                  <a:lnTo>
                    <a:pt x="754367" y="502932"/>
                  </a:lnTo>
                  <a:lnTo>
                    <a:pt x="754367" y="0"/>
                  </a:lnTo>
                  <a:close/>
                </a:path>
                <a:path w="7543800" h="503554">
                  <a:moveTo>
                    <a:pt x="3771900" y="0"/>
                  </a:moveTo>
                  <a:lnTo>
                    <a:pt x="3268980" y="0"/>
                  </a:lnTo>
                  <a:lnTo>
                    <a:pt x="3268980" y="502932"/>
                  </a:lnTo>
                  <a:lnTo>
                    <a:pt x="3771900" y="502932"/>
                  </a:lnTo>
                  <a:lnTo>
                    <a:pt x="3771900" y="0"/>
                  </a:lnTo>
                  <a:close/>
                </a:path>
                <a:path w="7543800" h="503554">
                  <a:moveTo>
                    <a:pt x="7543800" y="0"/>
                  </a:moveTo>
                  <a:lnTo>
                    <a:pt x="6035040" y="0"/>
                  </a:lnTo>
                  <a:lnTo>
                    <a:pt x="6035040" y="502932"/>
                  </a:lnTo>
                  <a:lnTo>
                    <a:pt x="7543800" y="502932"/>
                  </a:lnTo>
                  <a:lnTo>
                    <a:pt x="7543800" y="0"/>
                  </a:lnTo>
                  <a:close/>
                </a:path>
              </a:pathLst>
            </a:custGeom>
            <a:solidFill>
              <a:srgbClr val="B8D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38200" y="3550920"/>
              <a:ext cx="8801100" cy="502920"/>
            </a:xfrm>
            <a:custGeom>
              <a:avLst/>
              <a:gdLst/>
              <a:ahLst/>
              <a:cxnLst/>
              <a:rect l="l" t="t" r="r" b="b"/>
              <a:pathLst>
                <a:path w="8801100" h="502920">
                  <a:moveTo>
                    <a:pt x="0" y="0"/>
                  </a:moveTo>
                  <a:lnTo>
                    <a:pt x="8801100" y="0"/>
                  </a:lnTo>
                  <a:lnTo>
                    <a:pt x="880110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21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346960" y="3550920"/>
              <a:ext cx="0" cy="502920"/>
            </a:xfrm>
            <a:custGeom>
              <a:avLst/>
              <a:gdLst/>
              <a:ahLst/>
              <a:cxnLst/>
              <a:rect l="l" t="t" r="r" b="b"/>
              <a:pathLst>
                <a:path h="502920">
                  <a:moveTo>
                    <a:pt x="0" y="502920"/>
                  </a:moveTo>
                  <a:lnTo>
                    <a:pt x="0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828015" y="3998550"/>
            <a:ext cx="21209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8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9639" y="3998550"/>
            <a:ext cx="39687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25" dirty="0">
                <a:latin typeface="Arial" panose="020B0604020202020204"/>
                <a:cs typeface="Arial" panose="020B0604020202020204"/>
              </a:rPr>
              <a:t>16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41321" y="3998550"/>
            <a:ext cx="39687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25" dirty="0">
                <a:latin typeface="Arial" panose="020B0604020202020204"/>
                <a:cs typeface="Arial" panose="020B0604020202020204"/>
              </a:rPr>
              <a:t>24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2007" y="3530282"/>
            <a:ext cx="4563110" cy="544195"/>
            <a:chOff x="822007" y="3530282"/>
            <a:chExt cx="4563110" cy="544195"/>
          </a:xfrm>
        </p:grpSpPr>
        <p:sp>
          <p:nvSpPr>
            <p:cNvPr id="13" name="object 13"/>
            <p:cNvSpPr/>
            <p:nvPr/>
          </p:nvSpPr>
          <p:spPr>
            <a:xfrm>
              <a:off x="4358640" y="3550920"/>
              <a:ext cx="1005840" cy="502920"/>
            </a:xfrm>
            <a:custGeom>
              <a:avLst/>
              <a:gdLst/>
              <a:ahLst/>
              <a:cxnLst/>
              <a:rect l="l" t="t" r="r" b="b"/>
              <a:pathLst>
                <a:path w="1005839" h="502920">
                  <a:moveTo>
                    <a:pt x="1005839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1005839" y="0"/>
                  </a:lnTo>
                  <a:lnTo>
                    <a:pt x="1005839" y="502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358640" y="3550920"/>
              <a:ext cx="1005840" cy="502920"/>
            </a:xfrm>
            <a:custGeom>
              <a:avLst/>
              <a:gdLst/>
              <a:ahLst/>
              <a:cxnLst/>
              <a:rect l="l" t="t" r="r" b="b"/>
              <a:pathLst>
                <a:path w="1005839" h="502920">
                  <a:moveTo>
                    <a:pt x="0" y="0"/>
                  </a:moveTo>
                  <a:lnTo>
                    <a:pt x="1005839" y="0"/>
                  </a:lnTo>
                  <a:lnTo>
                    <a:pt x="1005839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38199" y="3550920"/>
              <a:ext cx="1257300" cy="502920"/>
            </a:xfrm>
            <a:custGeom>
              <a:avLst/>
              <a:gdLst/>
              <a:ahLst/>
              <a:cxnLst/>
              <a:rect l="l" t="t" r="r" b="b"/>
              <a:pathLst>
                <a:path w="1257300" h="502920">
                  <a:moveTo>
                    <a:pt x="1257300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502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38199" y="3550920"/>
              <a:ext cx="1257300" cy="502920"/>
            </a:xfrm>
            <a:custGeom>
              <a:avLst/>
              <a:gdLst/>
              <a:ahLst/>
              <a:cxnLst/>
              <a:rect l="l" t="t" r="r" b="b"/>
              <a:pathLst>
                <a:path w="1257300" h="502920">
                  <a:moveTo>
                    <a:pt x="0" y="0"/>
                  </a:moveTo>
                  <a:lnTo>
                    <a:pt x="1257300" y="0"/>
                  </a:lnTo>
                  <a:lnTo>
                    <a:pt x="125730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849880" y="3550920"/>
              <a:ext cx="1508760" cy="502920"/>
            </a:xfrm>
            <a:custGeom>
              <a:avLst/>
              <a:gdLst/>
              <a:ahLst/>
              <a:cxnLst/>
              <a:rect l="l" t="t" r="r" b="b"/>
              <a:pathLst>
                <a:path w="1508760" h="502920">
                  <a:moveTo>
                    <a:pt x="1508760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1508760" y="0"/>
                  </a:lnTo>
                  <a:lnTo>
                    <a:pt x="1508760" y="502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849880" y="3550920"/>
              <a:ext cx="1508760" cy="502920"/>
            </a:xfrm>
            <a:custGeom>
              <a:avLst/>
              <a:gdLst/>
              <a:ahLst/>
              <a:cxnLst/>
              <a:rect l="l" t="t" r="r" b="b"/>
              <a:pathLst>
                <a:path w="1508760" h="502920">
                  <a:moveTo>
                    <a:pt x="0" y="0"/>
                  </a:moveTo>
                  <a:lnTo>
                    <a:pt x="1508760" y="0"/>
                  </a:lnTo>
                  <a:lnTo>
                    <a:pt x="150876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471236" y="3579449"/>
            <a:ext cx="152527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69365" algn="l"/>
              </a:tabLst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B</a:t>
            </a:r>
            <a:r>
              <a:rPr sz="2650" b="1" dirty="0">
                <a:latin typeface="Arial" panose="020B0604020202020204"/>
                <a:cs typeface="Arial" panose="020B0604020202020204"/>
              </a:rPr>
              <a:t>	</a:t>
            </a:r>
            <a:r>
              <a:rPr sz="2650" b="1" spc="-50" dirty="0">
                <a:latin typeface="Arial" panose="020B0604020202020204"/>
                <a:cs typeface="Arial" panose="020B0604020202020204"/>
              </a:rPr>
              <a:t>C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46762" y="3530282"/>
            <a:ext cx="1550035" cy="544195"/>
            <a:chOff x="5846762" y="3530282"/>
            <a:chExt cx="1550035" cy="544195"/>
          </a:xfrm>
        </p:grpSpPr>
        <p:sp>
          <p:nvSpPr>
            <p:cNvPr id="21" name="object 21"/>
            <p:cNvSpPr/>
            <p:nvPr/>
          </p:nvSpPr>
          <p:spPr>
            <a:xfrm>
              <a:off x="5867400" y="3550920"/>
              <a:ext cx="1508760" cy="502920"/>
            </a:xfrm>
            <a:custGeom>
              <a:avLst/>
              <a:gdLst/>
              <a:ahLst/>
              <a:cxnLst/>
              <a:rect l="l" t="t" r="r" b="b"/>
              <a:pathLst>
                <a:path w="1508759" h="502920">
                  <a:moveTo>
                    <a:pt x="1508759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1508759" y="0"/>
                  </a:lnTo>
                  <a:lnTo>
                    <a:pt x="1508759" y="502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867400" y="3550920"/>
              <a:ext cx="1508760" cy="502920"/>
            </a:xfrm>
            <a:custGeom>
              <a:avLst/>
              <a:gdLst/>
              <a:ahLst/>
              <a:cxnLst/>
              <a:rect l="l" t="t" r="r" b="b"/>
              <a:pathLst>
                <a:path w="1508759" h="502920">
                  <a:moveTo>
                    <a:pt x="0" y="0"/>
                  </a:moveTo>
                  <a:lnTo>
                    <a:pt x="1508759" y="0"/>
                  </a:lnTo>
                  <a:lnTo>
                    <a:pt x="1508759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488760" y="3579449"/>
            <a:ext cx="26797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D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84262" y="3530282"/>
            <a:ext cx="8308975" cy="544195"/>
            <a:chOff x="1084262" y="3530282"/>
            <a:chExt cx="8308975" cy="544195"/>
          </a:xfrm>
        </p:grpSpPr>
        <p:sp>
          <p:nvSpPr>
            <p:cNvPr id="25" name="object 25"/>
            <p:cNvSpPr/>
            <p:nvPr/>
          </p:nvSpPr>
          <p:spPr>
            <a:xfrm>
              <a:off x="1089660" y="3550920"/>
              <a:ext cx="8298180" cy="502920"/>
            </a:xfrm>
            <a:custGeom>
              <a:avLst/>
              <a:gdLst/>
              <a:ahLst/>
              <a:cxnLst/>
              <a:rect l="l" t="t" r="r" b="b"/>
              <a:pathLst>
                <a:path w="8298180" h="502920">
                  <a:moveTo>
                    <a:pt x="0" y="502920"/>
                  </a:moveTo>
                  <a:lnTo>
                    <a:pt x="0" y="0"/>
                  </a:lnTo>
                </a:path>
                <a:path w="8298180" h="502920">
                  <a:moveTo>
                    <a:pt x="251459" y="502920"/>
                  </a:moveTo>
                  <a:lnTo>
                    <a:pt x="251459" y="0"/>
                  </a:lnTo>
                </a:path>
                <a:path w="8298180" h="502920">
                  <a:moveTo>
                    <a:pt x="502919" y="502920"/>
                  </a:moveTo>
                  <a:lnTo>
                    <a:pt x="502919" y="0"/>
                  </a:lnTo>
                </a:path>
                <a:path w="8298180" h="502920">
                  <a:moveTo>
                    <a:pt x="754379" y="502920"/>
                  </a:moveTo>
                  <a:lnTo>
                    <a:pt x="754379" y="0"/>
                  </a:lnTo>
                </a:path>
                <a:path w="8298180" h="502920">
                  <a:moveTo>
                    <a:pt x="1005839" y="502920"/>
                  </a:moveTo>
                  <a:lnTo>
                    <a:pt x="1005839" y="0"/>
                  </a:lnTo>
                </a:path>
                <a:path w="8298180" h="502920">
                  <a:moveTo>
                    <a:pt x="1508760" y="502920"/>
                  </a:moveTo>
                  <a:lnTo>
                    <a:pt x="1508760" y="0"/>
                  </a:lnTo>
                </a:path>
                <a:path w="8298180" h="502920">
                  <a:moveTo>
                    <a:pt x="1760219" y="502920"/>
                  </a:moveTo>
                  <a:lnTo>
                    <a:pt x="1760219" y="0"/>
                  </a:lnTo>
                </a:path>
                <a:path w="8298180" h="502920">
                  <a:moveTo>
                    <a:pt x="2011680" y="502920"/>
                  </a:moveTo>
                  <a:lnTo>
                    <a:pt x="2011680" y="0"/>
                  </a:lnTo>
                </a:path>
                <a:path w="8298180" h="502920">
                  <a:moveTo>
                    <a:pt x="2263140" y="502920"/>
                  </a:moveTo>
                  <a:lnTo>
                    <a:pt x="2263140" y="0"/>
                  </a:lnTo>
                </a:path>
                <a:path w="8298180" h="502920">
                  <a:moveTo>
                    <a:pt x="2514599" y="502920"/>
                  </a:moveTo>
                  <a:lnTo>
                    <a:pt x="2514599" y="0"/>
                  </a:lnTo>
                </a:path>
                <a:path w="8298180" h="502920">
                  <a:moveTo>
                    <a:pt x="2766060" y="502920"/>
                  </a:moveTo>
                  <a:lnTo>
                    <a:pt x="2766060" y="0"/>
                  </a:lnTo>
                </a:path>
                <a:path w="8298180" h="502920">
                  <a:moveTo>
                    <a:pt x="3017519" y="502920"/>
                  </a:moveTo>
                  <a:lnTo>
                    <a:pt x="3017519" y="0"/>
                  </a:lnTo>
                </a:path>
                <a:path w="8298180" h="502920">
                  <a:moveTo>
                    <a:pt x="3268980" y="502920"/>
                  </a:moveTo>
                  <a:lnTo>
                    <a:pt x="3268980" y="0"/>
                  </a:lnTo>
                </a:path>
                <a:path w="8298180" h="502920">
                  <a:moveTo>
                    <a:pt x="4023359" y="502920"/>
                  </a:moveTo>
                  <a:lnTo>
                    <a:pt x="4023359" y="0"/>
                  </a:lnTo>
                </a:path>
                <a:path w="8298180" h="502920">
                  <a:moveTo>
                    <a:pt x="4274820" y="502920"/>
                  </a:moveTo>
                  <a:lnTo>
                    <a:pt x="4274820" y="0"/>
                  </a:lnTo>
                </a:path>
                <a:path w="8298180" h="502920">
                  <a:moveTo>
                    <a:pt x="4526280" y="502920"/>
                  </a:moveTo>
                  <a:lnTo>
                    <a:pt x="4526280" y="0"/>
                  </a:lnTo>
                </a:path>
                <a:path w="8298180" h="502920">
                  <a:moveTo>
                    <a:pt x="4777740" y="502920"/>
                  </a:moveTo>
                  <a:lnTo>
                    <a:pt x="4777740" y="0"/>
                  </a:lnTo>
                </a:path>
                <a:path w="8298180" h="502920">
                  <a:moveTo>
                    <a:pt x="5029199" y="502920"/>
                  </a:moveTo>
                  <a:lnTo>
                    <a:pt x="5029199" y="0"/>
                  </a:lnTo>
                </a:path>
                <a:path w="8298180" h="502920">
                  <a:moveTo>
                    <a:pt x="5280659" y="502920"/>
                  </a:moveTo>
                  <a:lnTo>
                    <a:pt x="5280659" y="0"/>
                  </a:lnTo>
                </a:path>
                <a:path w="8298180" h="502920">
                  <a:moveTo>
                    <a:pt x="5532120" y="502920"/>
                  </a:moveTo>
                  <a:lnTo>
                    <a:pt x="5532120" y="0"/>
                  </a:lnTo>
                </a:path>
                <a:path w="8298180" h="502920">
                  <a:moveTo>
                    <a:pt x="8046720" y="502920"/>
                  </a:moveTo>
                  <a:lnTo>
                    <a:pt x="8046720" y="0"/>
                  </a:lnTo>
                </a:path>
                <a:path w="8298180" h="502920">
                  <a:moveTo>
                    <a:pt x="8298180" y="502920"/>
                  </a:moveTo>
                  <a:lnTo>
                    <a:pt x="8298180" y="0"/>
                  </a:lnTo>
                </a:path>
                <a:path w="8298180" h="502920">
                  <a:moveTo>
                    <a:pt x="3520440" y="502920"/>
                  </a:moveTo>
                  <a:lnTo>
                    <a:pt x="3520440" y="0"/>
                  </a:lnTo>
                </a:path>
                <a:path w="8298180" h="502920">
                  <a:moveTo>
                    <a:pt x="3771899" y="502920"/>
                  </a:moveTo>
                  <a:lnTo>
                    <a:pt x="3771899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376159" y="3550920"/>
              <a:ext cx="754380" cy="502920"/>
            </a:xfrm>
            <a:custGeom>
              <a:avLst/>
              <a:gdLst/>
              <a:ahLst/>
              <a:cxnLst/>
              <a:rect l="l" t="t" r="r" b="b"/>
              <a:pathLst>
                <a:path w="754379" h="502920">
                  <a:moveTo>
                    <a:pt x="754380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754380" y="0"/>
                  </a:lnTo>
                  <a:lnTo>
                    <a:pt x="754380" y="502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376159" y="3550920"/>
              <a:ext cx="754380" cy="502920"/>
            </a:xfrm>
            <a:custGeom>
              <a:avLst/>
              <a:gdLst/>
              <a:ahLst/>
              <a:cxnLst/>
              <a:rect l="l" t="t" r="r" b="b"/>
              <a:pathLst>
                <a:path w="754379" h="502920">
                  <a:moveTo>
                    <a:pt x="0" y="0"/>
                  </a:moveTo>
                  <a:lnTo>
                    <a:pt x="754380" y="0"/>
                  </a:lnTo>
                  <a:lnTo>
                    <a:pt x="75438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7632954" y="3579449"/>
            <a:ext cx="24130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latin typeface="Arial" panose="020B0604020202020204"/>
                <a:cs typeface="Arial" panose="020B0604020202020204"/>
              </a:rPr>
              <a:t>E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6764" y="3545522"/>
            <a:ext cx="8884920" cy="1868805"/>
            <a:chOff x="16764" y="3545522"/>
            <a:chExt cx="8884920" cy="1868805"/>
          </a:xfrm>
        </p:grpSpPr>
        <p:sp>
          <p:nvSpPr>
            <p:cNvPr id="30" name="object 30"/>
            <p:cNvSpPr/>
            <p:nvPr/>
          </p:nvSpPr>
          <p:spPr>
            <a:xfrm>
              <a:off x="6873240" y="3550919"/>
              <a:ext cx="1257300" cy="502920"/>
            </a:xfrm>
            <a:custGeom>
              <a:avLst/>
              <a:gdLst/>
              <a:ahLst/>
              <a:cxnLst/>
              <a:rect l="l" t="t" r="r" b="b"/>
              <a:pathLst>
                <a:path w="1257300" h="502920">
                  <a:moveTo>
                    <a:pt x="0" y="502920"/>
                  </a:moveTo>
                  <a:lnTo>
                    <a:pt x="0" y="0"/>
                  </a:lnTo>
                </a:path>
                <a:path w="1257300" h="502920">
                  <a:moveTo>
                    <a:pt x="251459" y="502920"/>
                  </a:moveTo>
                  <a:lnTo>
                    <a:pt x="251459" y="0"/>
                  </a:lnTo>
                </a:path>
                <a:path w="1257300" h="502920">
                  <a:moveTo>
                    <a:pt x="502919" y="502920"/>
                  </a:moveTo>
                  <a:lnTo>
                    <a:pt x="502919" y="0"/>
                  </a:lnTo>
                </a:path>
                <a:path w="1257300" h="502920">
                  <a:moveTo>
                    <a:pt x="754379" y="502920"/>
                  </a:moveTo>
                  <a:lnTo>
                    <a:pt x="754379" y="0"/>
                  </a:lnTo>
                </a:path>
                <a:path w="1257300" h="502920">
                  <a:moveTo>
                    <a:pt x="1005840" y="502920"/>
                  </a:moveTo>
                  <a:lnTo>
                    <a:pt x="1005840" y="0"/>
                  </a:lnTo>
                </a:path>
                <a:path w="1257300" h="502920">
                  <a:moveTo>
                    <a:pt x="1257300" y="502920"/>
                  </a:moveTo>
                  <a:lnTo>
                    <a:pt x="1257300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366747" y="3550919"/>
              <a:ext cx="535305" cy="503555"/>
            </a:xfrm>
            <a:custGeom>
              <a:avLst/>
              <a:gdLst/>
              <a:ahLst/>
              <a:cxnLst/>
              <a:rect l="l" t="t" r="r" b="b"/>
              <a:pathLst>
                <a:path w="535304" h="503554">
                  <a:moveTo>
                    <a:pt x="32004" y="377952"/>
                  </a:moveTo>
                  <a:lnTo>
                    <a:pt x="0" y="377952"/>
                  </a:lnTo>
                  <a:lnTo>
                    <a:pt x="0" y="502932"/>
                  </a:lnTo>
                  <a:lnTo>
                    <a:pt x="32004" y="502932"/>
                  </a:lnTo>
                  <a:lnTo>
                    <a:pt x="32004" y="377952"/>
                  </a:lnTo>
                  <a:close/>
                </a:path>
                <a:path w="535304" h="503554">
                  <a:moveTo>
                    <a:pt x="32004" y="158496"/>
                  </a:moveTo>
                  <a:lnTo>
                    <a:pt x="0" y="158496"/>
                  </a:lnTo>
                  <a:lnTo>
                    <a:pt x="0" y="283464"/>
                  </a:lnTo>
                  <a:lnTo>
                    <a:pt x="32004" y="283464"/>
                  </a:lnTo>
                  <a:lnTo>
                    <a:pt x="32004" y="158496"/>
                  </a:lnTo>
                  <a:close/>
                </a:path>
                <a:path w="535304" h="503554">
                  <a:moveTo>
                    <a:pt x="32004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32004" y="64008"/>
                  </a:lnTo>
                  <a:lnTo>
                    <a:pt x="32004" y="0"/>
                  </a:lnTo>
                  <a:close/>
                </a:path>
                <a:path w="535304" h="503554">
                  <a:moveTo>
                    <a:pt x="283476" y="377952"/>
                  </a:moveTo>
                  <a:lnTo>
                    <a:pt x="251460" y="377952"/>
                  </a:lnTo>
                  <a:lnTo>
                    <a:pt x="251460" y="502932"/>
                  </a:lnTo>
                  <a:lnTo>
                    <a:pt x="283476" y="502932"/>
                  </a:lnTo>
                  <a:lnTo>
                    <a:pt x="283476" y="377952"/>
                  </a:lnTo>
                  <a:close/>
                </a:path>
                <a:path w="535304" h="503554">
                  <a:moveTo>
                    <a:pt x="283476" y="158496"/>
                  </a:moveTo>
                  <a:lnTo>
                    <a:pt x="251460" y="158496"/>
                  </a:lnTo>
                  <a:lnTo>
                    <a:pt x="251460" y="283464"/>
                  </a:lnTo>
                  <a:lnTo>
                    <a:pt x="283476" y="283464"/>
                  </a:lnTo>
                  <a:lnTo>
                    <a:pt x="283476" y="158496"/>
                  </a:lnTo>
                  <a:close/>
                </a:path>
                <a:path w="535304" h="503554">
                  <a:moveTo>
                    <a:pt x="283476" y="0"/>
                  </a:moveTo>
                  <a:lnTo>
                    <a:pt x="251460" y="0"/>
                  </a:lnTo>
                  <a:lnTo>
                    <a:pt x="251460" y="64008"/>
                  </a:lnTo>
                  <a:lnTo>
                    <a:pt x="283476" y="64008"/>
                  </a:lnTo>
                  <a:lnTo>
                    <a:pt x="283476" y="0"/>
                  </a:lnTo>
                  <a:close/>
                </a:path>
                <a:path w="535304" h="503554">
                  <a:moveTo>
                    <a:pt x="534936" y="377952"/>
                  </a:moveTo>
                  <a:lnTo>
                    <a:pt x="502920" y="377952"/>
                  </a:lnTo>
                  <a:lnTo>
                    <a:pt x="502920" y="502932"/>
                  </a:lnTo>
                  <a:lnTo>
                    <a:pt x="534936" y="502932"/>
                  </a:lnTo>
                  <a:lnTo>
                    <a:pt x="534936" y="377952"/>
                  </a:lnTo>
                  <a:close/>
                </a:path>
                <a:path w="535304" h="503554">
                  <a:moveTo>
                    <a:pt x="534936" y="158496"/>
                  </a:moveTo>
                  <a:lnTo>
                    <a:pt x="502920" y="158496"/>
                  </a:lnTo>
                  <a:lnTo>
                    <a:pt x="502920" y="283464"/>
                  </a:lnTo>
                  <a:lnTo>
                    <a:pt x="534936" y="283464"/>
                  </a:lnTo>
                  <a:lnTo>
                    <a:pt x="534936" y="158496"/>
                  </a:lnTo>
                  <a:close/>
                </a:path>
                <a:path w="535304" h="503554">
                  <a:moveTo>
                    <a:pt x="534936" y="0"/>
                  </a:moveTo>
                  <a:lnTo>
                    <a:pt x="502920" y="0"/>
                  </a:lnTo>
                  <a:lnTo>
                    <a:pt x="502920" y="64008"/>
                  </a:lnTo>
                  <a:lnTo>
                    <a:pt x="534936" y="64008"/>
                  </a:lnTo>
                  <a:lnTo>
                    <a:pt x="5349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38200" y="4895087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20">
                  <a:moveTo>
                    <a:pt x="0" y="0"/>
                  </a:moveTo>
                  <a:lnTo>
                    <a:pt x="2011679" y="0"/>
                  </a:lnTo>
                  <a:lnTo>
                    <a:pt x="2011679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341119" y="489508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0"/>
                  </a:moveTo>
                  <a:lnTo>
                    <a:pt x="0" y="502920"/>
                  </a:lnTo>
                </a:path>
                <a:path w="502919" h="502920">
                  <a:moveTo>
                    <a:pt x="502919" y="0"/>
                  </a:moveTo>
                  <a:lnTo>
                    <a:pt x="502919" y="50292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6764" y="4110227"/>
              <a:ext cx="2689860" cy="128777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320305" y="3524485"/>
            <a:ext cx="29273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3975" b="1" spc="-1957" baseline="-9000" dirty="0">
                <a:latin typeface="Arial" panose="020B0604020202020204"/>
                <a:cs typeface="Arial" panose="020B0604020202020204"/>
              </a:rPr>
              <a:t>A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38297" y="4922044"/>
            <a:ext cx="128968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9120" algn="l"/>
                <a:tab pos="1089660" algn="l"/>
              </a:tabLst>
            </a:pPr>
            <a:r>
              <a:rPr sz="2650" b="1" spc="-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650" b="1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650" b="1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650" b="1" spc="-6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5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535935" y="4880419"/>
            <a:ext cx="3012440" cy="535305"/>
            <a:chOff x="2535935" y="4880419"/>
            <a:chExt cx="3012440" cy="535305"/>
          </a:xfrm>
        </p:grpSpPr>
        <p:sp>
          <p:nvSpPr>
            <p:cNvPr id="38" name="object 38"/>
            <p:cNvSpPr/>
            <p:nvPr/>
          </p:nvSpPr>
          <p:spPr>
            <a:xfrm>
              <a:off x="2535935" y="5103876"/>
              <a:ext cx="998219" cy="83820"/>
            </a:xfrm>
            <a:custGeom>
              <a:avLst/>
              <a:gdLst/>
              <a:ahLst/>
              <a:cxnLst/>
              <a:rect l="l" t="t" r="r" b="b"/>
              <a:pathLst>
                <a:path w="998220" h="83820">
                  <a:moveTo>
                    <a:pt x="912876" y="83820"/>
                  </a:moveTo>
                  <a:lnTo>
                    <a:pt x="914400" y="0"/>
                  </a:lnTo>
                  <a:lnTo>
                    <a:pt x="986245" y="36576"/>
                  </a:lnTo>
                  <a:lnTo>
                    <a:pt x="928116" y="36576"/>
                  </a:lnTo>
                  <a:lnTo>
                    <a:pt x="928116" y="47244"/>
                  </a:lnTo>
                  <a:lnTo>
                    <a:pt x="988737" y="47244"/>
                  </a:lnTo>
                  <a:lnTo>
                    <a:pt x="912876" y="83820"/>
                  </a:lnTo>
                  <a:close/>
                </a:path>
                <a:path w="998220" h="83820">
                  <a:moveTo>
                    <a:pt x="509016" y="30480"/>
                  </a:moveTo>
                  <a:lnTo>
                    <a:pt x="0" y="30480"/>
                  </a:lnTo>
                  <a:lnTo>
                    <a:pt x="0" y="19812"/>
                  </a:lnTo>
                  <a:lnTo>
                    <a:pt x="225552" y="19812"/>
                  </a:lnTo>
                  <a:lnTo>
                    <a:pt x="266700" y="21336"/>
                  </a:lnTo>
                  <a:lnTo>
                    <a:pt x="324612" y="21336"/>
                  </a:lnTo>
                  <a:lnTo>
                    <a:pt x="342900" y="22860"/>
                  </a:lnTo>
                  <a:lnTo>
                    <a:pt x="406908" y="22860"/>
                  </a:lnTo>
                  <a:lnTo>
                    <a:pt x="420624" y="24384"/>
                  </a:lnTo>
                  <a:lnTo>
                    <a:pt x="455676" y="24384"/>
                  </a:lnTo>
                  <a:lnTo>
                    <a:pt x="464820" y="25908"/>
                  </a:lnTo>
                  <a:lnTo>
                    <a:pt x="487680" y="25908"/>
                  </a:lnTo>
                  <a:lnTo>
                    <a:pt x="492252" y="27432"/>
                  </a:lnTo>
                  <a:lnTo>
                    <a:pt x="499872" y="27432"/>
                  </a:lnTo>
                  <a:lnTo>
                    <a:pt x="499872" y="28956"/>
                  </a:lnTo>
                  <a:lnTo>
                    <a:pt x="504444" y="28956"/>
                  </a:lnTo>
                  <a:lnTo>
                    <a:pt x="509016" y="30480"/>
                  </a:lnTo>
                  <a:close/>
                </a:path>
                <a:path w="998220" h="83820">
                  <a:moveTo>
                    <a:pt x="541020" y="32004"/>
                  </a:moveTo>
                  <a:lnTo>
                    <a:pt x="266700" y="32004"/>
                  </a:lnTo>
                  <a:lnTo>
                    <a:pt x="225552" y="30480"/>
                  </a:lnTo>
                  <a:lnTo>
                    <a:pt x="531876" y="30480"/>
                  </a:lnTo>
                  <a:lnTo>
                    <a:pt x="541020" y="32004"/>
                  </a:lnTo>
                  <a:close/>
                </a:path>
                <a:path w="998220" h="83820">
                  <a:moveTo>
                    <a:pt x="589788" y="33528"/>
                  </a:moveTo>
                  <a:lnTo>
                    <a:pt x="359664" y="33528"/>
                  </a:lnTo>
                  <a:lnTo>
                    <a:pt x="342900" y="32004"/>
                  </a:lnTo>
                  <a:lnTo>
                    <a:pt x="576072" y="32004"/>
                  </a:lnTo>
                  <a:lnTo>
                    <a:pt x="589788" y="33528"/>
                  </a:lnTo>
                  <a:close/>
                </a:path>
                <a:path w="998220" h="83820">
                  <a:moveTo>
                    <a:pt x="672084" y="35052"/>
                  </a:moveTo>
                  <a:lnTo>
                    <a:pt x="432816" y="35052"/>
                  </a:lnTo>
                  <a:lnTo>
                    <a:pt x="419100" y="33528"/>
                  </a:lnTo>
                  <a:lnTo>
                    <a:pt x="653796" y="33528"/>
                  </a:lnTo>
                  <a:lnTo>
                    <a:pt x="672084" y="35052"/>
                  </a:lnTo>
                  <a:close/>
                </a:path>
                <a:path w="998220" h="83820">
                  <a:moveTo>
                    <a:pt x="813816" y="36576"/>
                  </a:moveTo>
                  <a:lnTo>
                    <a:pt x="473964" y="36576"/>
                  </a:lnTo>
                  <a:lnTo>
                    <a:pt x="464820" y="35052"/>
                  </a:lnTo>
                  <a:lnTo>
                    <a:pt x="771144" y="35052"/>
                  </a:lnTo>
                  <a:lnTo>
                    <a:pt x="813816" y="36576"/>
                  </a:lnTo>
                  <a:close/>
                </a:path>
                <a:path w="998220" h="83820">
                  <a:moveTo>
                    <a:pt x="913541" y="47244"/>
                  </a:moveTo>
                  <a:lnTo>
                    <a:pt x="813816" y="47244"/>
                  </a:lnTo>
                  <a:lnTo>
                    <a:pt x="771144" y="45720"/>
                  </a:lnTo>
                  <a:lnTo>
                    <a:pt x="690372" y="45720"/>
                  </a:lnTo>
                  <a:lnTo>
                    <a:pt x="672084" y="44196"/>
                  </a:lnTo>
                  <a:lnTo>
                    <a:pt x="605028" y="44196"/>
                  </a:lnTo>
                  <a:lnTo>
                    <a:pt x="589788" y="42672"/>
                  </a:lnTo>
                  <a:lnTo>
                    <a:pt x="551688" y="42672"/>
                  </a:lnTo>
                  <a:lnTo>
                    <a:pt x="541020" y="41148"/>
                  </a:lnTo>
                  <a:lnTo>
                    <a:pt x="515112" y="41148"/>
                  </a:lnTo>
                  <a:lnTo>
                    <a:pt x="509016" y="39624"/>
                  </a:lnTo>
                  <a:lnTo>
                    <a:pt x="498348" y="39624"/>
                  </a:lnTo>
                  <a:lnTo>
                    <a:pt x="496824" y="38100"/>
                  </a:lnTo>
                  <a:lnTo>
                    <a:pt x="490728" y="38100"/>
                  </a:lnTo>
                  <a:lnTo>
                    <a:pt x="486156" y="36576"/>
                  </a:lnTo>
                  <a:lnTo>
                    <a:pt x="913735" y="36576"/>
                  </a:lnTo>
                  <a:lnTo>
                    <a:pt x="913541" y="47244"/>
                  </a:lnTo>
                  <a:close/>
                </a:path>
                <a:path w="998220" h="83820">
                  <a:moveTo>
                    <a:pt x="988737" y="47244"/>
                  </a:moveTo>
                  <a:lnTo>
                    <a:pt x="928116" y="47244"/>
                  </a:lnTo>
                  <a:lnTo>
                    <a:pt x="928116" y="36576"/>
                  </a:lnTo>
                  <a:lnTo>
                    <a:pt x="986245" y="36576"/>
                  </a:lnTo>
                  <a:lnTo>
                    <a:pt x="998220" y="42672"/>
                  </a:lnTo>
                  <a:lnTo>
                    <a:pt x="988737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520439" y="489661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20">
                  <a:moveTo>
                    <a:pt x="0" y="0"/>
                  </a:moveTo>
                  <a:lnTo>
                    <a:pt x="2011679" y="0"/>
                  </a:lnTo>
                  <a:lnTo>
                    <a:pt x="2011679" y="502919"/>
                  </a:lnTo>
                  <a:lnTo>
                    <a:pt x="0" y="502919"/>
                  </a:lnTo>
                  <a:lnTo>
                    <a:pt x="0" y="0"/>
                  </a:lnTo>
                  <a:close/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023359" y="4896612"/>
              <a:ext cx="1005840" cy="502920"/>
            </a:xfrm>
            <a:custGeom>
              <a:avLst/>
              <a:gdLst/>
              <a:ahLst/>
              <a:cxnLst/>
              <a:rect l="l" t="t" r="r" b="b"/>
              <a:pathLst>
                <a:path w="1005839" h="502920">
                  <a:moveTo>
                    <a:pt x="0" y="0"/>
                  </a:moveTo>
                  <a:lnTo>
                    <a:pt x="0" y="502919"/>
                  </a:lnTo>
                </a:path>
                <a:path w="1005839" h="502920">
                  <a:moveTo>
                    <a:pt x="502920" y="0"/>
                  </a:moveTo>
                  <a:lnTo>
                    <a:pt x="502920" y="502919"/>
                  </a:lnTo>
                </a:path>
                <a:path w="1005839" h="502920">
                  <a:moveTo>
                    <a:pt x="1005840" y="0"/>
                  </a:moveTo>
                  <a:lnTo>
                    <a:pt x="1005840" y="502919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3620541" y="4922044"/>
            <a:ext cx="26797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H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187472" y="4923518"/>
            <a:ext cx="72263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22605" algn="l"/>
              </a:tabLst>
            </a:pPr>
            <a:r>
              <a:rPr sz="2650" b="1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650" b="1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650" b="1" spc="-5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3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218176" y="4880419"/>
            <a:ext cx="3012440" cy="535305"/>
            <a:chOff x="5218176" y="4880419"/>
            <a:chExt cx="3012440" cy="535305"/>
          </a:xfrm>
        </p:grpSpPr>
        <p:sp>
          <p:nvSpPr>
            <p:cNvPr id="44" name="object 44"/>
            <p:cNvSpPr/>
            <p:nvPr/>
          </p:nvSpPr>
          <p:spPr>
            <a:xfrm>
              <a:off x="5218176" y="5103876"/>
              <a:ext cx="998219" cy="83820"/>
            </a:xfrm>
            <a:custGeom>
              <a:avLst/>
              <a:gdLst/>
              <a:ahLst/>
              <a:cxnLst/>
              <a:rect l="l" t="t" r="r" b="b"/>
              <a:pathLst>
                <a:path w="998220" h="83820">
                  <a:moveTo>
                    <a:pt x="912876" y="83820"/>
                  </a:moveTo>
                  <a:lnTo>
                    <a:pt x="914400" y="0"/>
                  </a:lnTo>
                  <a:lnTo>
                    <a:pt x="986245" y="36576"/>
                  </a:lnTo>
                  <a:lnTo>
                    <a:pt x="928116" y="36576"/>
                  </a:lnTo>
                  <a:lnTo>
                    <a:pt x="928116" y="47244"/>
                  </a:lnTo>
                  <a:lnTo>
                    <a:pt x="988737" y="47244"/>
                  </a:lnTo>
                  <a:lnTo>
                    <a:pt x="912876" y="83820"/>
                  </a:lnTo>
                  <a:close/>
                </a:path>
                <a:path w="998220" h="83820">
                  <a:moveTo>
                    <a:pt x="509016" y="30480"/>
                  </a:moveTo>
                  <a:lnTo>
                    <a:pt x="0" y="30480"/>
                  </a:lnTo>
                  <a:lnTo>
                    <a:pt x="0" y="19812"/>
                  </a:lnTo>
                  <a:lnTo>
                    <a:pt x="225552" y="19812"/>
                  </a:lnTo>
                  <a:lnTo>
                    <a:pt x="266700" y="21336"/>
                  </a:lnTo>
                  <a:lnTo>
                    <a:pt x="324612" y="21336"/>
                  </a:lnTo>
                  <a:lnTo>
                    <a:pt x="342900" y="22860"/>
                  </a:lnTo>
                  <a:lnTo>
                    <a:pt x="406908" y="22860"/>
                  </a:lnTo>
                  <a:lnTo>
                    <a:pt x="420624" y="24384"/>
                  </a:lnTo>
                  <a:lnTo>
                    <a:pt x="455676" y="24384"/>
                  </a:lnTo>
                  <a:lnTo>
                    <a:pt x="464820" y="25908"/>
                  </a:lnTo>
                  <a:lnTo>
                    <a:pt x="487680" y="25908"/>
                  </a:lnTo>
                  <a:lnTo>
                    <a:pt x="492252" y="27432"/>
                  </a:lnTo>
                  <a:lnTo>
                    <a:pt x="499872" y="27432"/>
                  </a:lnTo>
                  <a:lnTo>
                    <a:pt x="499872" y="28956"/>
                  </a:lnTo>
                  <a:lnTo>
                    <a:pt x="504444" y="28956"/>
                  </a:lnTo>
                  <a:lnTo>
                    <a:pt x="509016" y="30480"/>
                  </a:lnTo>
                  <a:close/>
                </a:path>
                <a:path w="998220" h="83820">
                  <a:moveTo>
                    <a:pt x="541020" y="32004"/>
                  </a:moveTo>
                  <a:lnTo>
                    <a:pt x="266700" y="32004"/>
                  </a:lnTo>
                  <a:lnTo>
                    <a:pt x="225552" y="30480"/>
                  </a:lnTo>
                  <a:lnTo>
                    <a:pt x="531876" y="30480"/>
                  </a:lnTo>
                  <a:lnTo>
                    <a:pt x="541020" y="32004"/>
                  </a:lnTo>
                  <a:close/>
                </a:path>
                <a:path w="998220" h="83820">
                  <a:moveTo>
                    <a:pt x="589788" y="33528"/>
                  </a:moveTo>
                  <a:lnTo>
                    <a:pt x="359664" y="33528"/>
                  </a:lnTo>
                  <a:lnTo>
                    <a:pt x="342900" y="32004"/>
                  </a:lnTo>
                  <a:lnTo>
                    <a:pt x="576072" y="32004"/>
                  </a:lnTo>
                  <a:lnTo>
                    <a:pt x="589788" y="33528"/>
                  </a:lnTo>
                  <a:close/>
                </a:path>
                <a:path w="998220" h="83820">
                  <a:moveTo>
                    <a:pt x="672084" y="35052"/>
                  </a:moveTo>
                  <a:lnTo>
                    <a:pt x="432816" y="35052"/>
                  </a:lnTo>
                  <a:lnTo>
                    <a:pt x="419100" y="33528"/>
                  </a:lnTo>
                  <a:lnTo>
                    <a:pt x="653796" y="33528"/>
                  </a:lnTo>
                  <a:lnTo>
                    <a:pt x="672084" y="35052"/>
                  </a:lnTo>
                  <a:close/>
                </a:path>
                <a:path w="998220" h="83820">
                  <a:moveTo>
                    <a:pt x="813816" y="36576"/>
                  </a:moveTo>
                  <a:lnTo>
                    <a:pt x="473964" y="36576"/>
                  </a:lnTo>
                  <a:lnTo>
                    <a:pt x="464820" y="35052"/>
                  </a:lnTo>
                  <a:lnTo>
                    <a:pt x="771144" y="35052"/>
                  </a:lnTo>
                  <a:lnTo>
                    <a:pt x="813816" y="36576"/>
                  </a:lnTo>
                  <a:close/>
                </a:path>
                <a:path w="998220" h="83820">
                  <a:moveTo>
                    <a:pt x="913541" y="47244"/>
                  </a:moveTo>
                  <a:lnTo>
                    <a:pt x="813816" y="47244"/>
                  </a:lnTo>
                  <a:lnTo>
                    <a:pt x="771144" y="45720"/>
                  </a:lnTo>
                  <a:lnTo>
                    <a:pt x="690372" y="45720"/>
                  </a:lnTo>
                  <a:lnTo>
                    <a:pt x="672084" y="44196"/>
                  </a:lnTo>
                  <a:lnTo>
                    <a:pt x="605028" y="44196"/>
                  </a:lnTo>
                  <a:lnTo>
                    <a:pt x="589788" y="42672"/>
                  </a:lnTo>
                  <a:lnTo>
                    <a:pt x="551688" y="42672"/>
                  </a:lnTo>
                  <a:lnTo>
                    <a:pt x="541020" y="41148"/>
                  </a:lnTo>
                  <a:lnTo>
                    <a:pt x="515112" y="41148"/>
                  </a:lnTo>
                  <a:lnTo>
                    <a:pt x="509016" y="39624"/>
                  </a:lnTo>
                  <a:lnTo>
                    <a:pt x="498348" y="39624"/>
                  </a:lnTo>
                  <a:lnTo>
                    <a:pt x="496824" y="38100"/>
                  </a:lnTo>
                  <a:lnTo>
                    <a:pt x="490728" y="38100"/>
                  </a:lnTo>
                  <a:lnTo>
                    <a:pt x="486156" y="36576"/>
                  </a:lnTo>
                  <a:lnTo>
                    <a:pt x="913735" y="36576"/>
                  </a:lnTo>
                  <a:lnTo>
                    <a:pt x="913541" y="47244"/>
                  </a:lnTo>
                  <a:close/>
                </a:path>
                <a:path w="998220" h="83820">
                  <a:moveTo>
                    <a:pt x="988737" y="47244"/>
                  </a:moveTo>
                  <a:lnTo>
                    <a:pt x="928116" y="47244"/>
                  </a:lnTo>
                  <a:lnTo>
                    <a:pt x="928116" y="36576"/>
                  </a:lnTo>
                  <a:lnTo>
                    <a:pt x="986245" y="36576"/>
                  </a:lnTo>
                  <a:lnTo>
                    <a:pt x="998220" y="42672"/>
                  </a:lnTo>
                  <a:lnTo>
                    <a:pt x="988737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202680" y="4896612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20">
                  <a:moveTo>
                    <a:pt x="0" y="0"/>
                  </a:moveTo>
                  <a:lnTo>
                    <a:pt x="2011679" y="0"/>
                  </a:lnTo>
                  <a:lnTo>
                    <a:pt x="2011679" y="502919"/>
                  </a:lnTo>
                  <a:lnTo>
                    <a:pt x="0" y="502919"/>
                  </a:lnTo>
                  <a:lnTo>
                    <a:pt x="0" y="0"/>
                  </a:lnTo>
                  <a:close/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705600" y="4896612"/>
              <a:ext cx="1005840" cy="502920"/>
            </a:xfrm>
            <a:custGeom>
              <a:avLst/>
              <a:gdLst/>
              <a:ahLst/>
              <a:cxnLst/>
              <a:rect l="l" t="t" r="r" b="b"/>
              <a:pathLst>
                <a:path w="1005840" h="502920">
                  <a:moveTo>
                    <a:pt x="0" y="0"/>
                  </a:moveTo>
                  <a:lnTo>
                    <a:pt x="0" y="502919"/>
                  </a:lnTo>
                </a:path>
                <a:path w="1005840" h="502920">
                  <a:moveTo>
                    <a:pt x="502919" y="0"/>
                  </a:moveTo>
                  <a:lnTo>
                    <a:pt x="502919" y="502919"/>
                  </a:lnTo>
                </a:path>
                <a:path w="1005840" h="502920">
                  <a:moveTo>
                    <a:pt x="1005840" y="0"/>
                  </a:moveTo>
                  <a:lnTo>
                    <a:pt x="1005840" y="502919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6302784" y="4922044"/>
            <a:ext cx="249554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P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69715" y="4923518"/>
            <a:ext cx="72263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22605" algn="l"/>
              </a:tabLst>
            </a:pPr>
            <a:r>
              <a:rPr sz="2650" b="1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650" b="1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650" b="1" spc="-5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6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94360" y="5141976"/>
            <a:ext cx="7877809" cy="1445895"/>
            <a:chOff x="594360" y="5141976"/>
            <a:chExt cx="7877809" cy="1445895"/>
          </a:xfrm>
        </p:grpSpPr>
        <p:sp>
          <p:nvSpPr>
            <p:cNvPr id="50" name="object 50"/>
            <p:cNvSpPr/>
            <p:nvPr/>
          </p:nvSpPr>
          <p:spPr>
            <a:xfrm>
              <a:off x="594360" y="5141976"/>
              <a:ext cx="7877809" cy="1196340"/>
            </a:xfrm>
            <a:custGeom>
              <a:avLst/>
              <a:gdLst/>
              <a:ahLst/>
              <a:cxnLst/>
              <a:rect l="l" t="t" r="r" b="b"/>
              <a:pathLst>
                <a:path w="7877809" h="1196339">
                  <a:moveTo>
                    <a:pt x="7877556" y="298450"/>
                  </a:moveTo>
                  <a:lnTo>
                    <a:pt x="7866888" y="298450"/>
                  </a:lnTo>
                  <a:lnTo>
                    <a:pt x="7866888" y="284480"/>
                  </a:lnTo>
                  <a:lnTo>
                    <a:pt x="7863840" y="256540"/>
                  </a:lnTo>
                  <a:lnTo>
                    <a:pt x="7856220" y="217170"/>
                  </a:lnTo>
                  <a:lnTo>
                    <a:pt x="7836408" y="167640"/>
                  </a:lnTo>
                  <a:lnTo>
                    <a:pt x="7810500" y="121920"/>
                  </a:lnTo>
                  <a:lnTo>
                    <a:pt x="7776972" y="80010"/>
                  </a:lnTo>
                  <a:lnTo>
                    <a:pt x="7749540" y="55880"/>
                  </a:lnTo>
                  <a:lnTo>
                    <a:pt x="7731252" y="40640"/>
                  </a:lnTo>
                  <a:lnTo>
                    <a:pt x="7720584" y="34290"/>
                  </a:lnTo>
                  <a:lnTo>
                    <a:pt x="7709916" y="29210"/>
                  </a:lnTo>
                  <a:lnTo>
                    <a:pt x="7700772" y="24130"/>
                  </a:lnTo>
                  <a:lnTo>
                    <a:pt x="7679436" y="16510"/>
                  </a:lnTo>
                  <a:lnTo>
                    <a:pt x="7668768" y="15240"/>
                  </a:lnTo>
                  <a:lnTo>
                    <a:pt x="7658100" y="11430"/>
                  </a:lnTo>
                  <a:lnTo>
                    <a:pt x="7647432" y="10160"/>
                  </a:lnTo>
                  <a:lnTo>
                    <a:pt x="7636764" y="10160"/>
                  </a:lnTo>
                  <a:lnTo>
                    <a:pt x="7636764" y="0"/>
                  </a:lnTo>
                  <a:lnTo>
                    <a:pt x="7647432" y="1270"/>
                  </a:lnTo>
                  <a:lnTo>
                    <a:pt x="7659624" y="1270"/>
                  </a:lnTo>
                  <a:lnTo>
                    <a:pt x="7670292" y="3810"/>
                  </a:lnTo>
                  <a:lnTo>
                    <a:pt x="7682484" y="7620"/>
                  </a:lnTo>
                  <a:lnTo>
                    <a:pt x="7693152" y="10160"/>
                  </a:lnTo>
                  <a:lnTo>
                    <a:pt x="7714488" y="19050"/>
                  </a:lnTo>
                  <a:lnTo>
                    <a:pt x="7766304" y="55880"/>
                  </a:lnTo>
                  <a:lnTo>
                    <a:pt x="7802880" y="93980"/>
                  </a:lnTo>
                  <a:lnTo>
                    <a:pt x="7833360" y="138430"/>
                  </a:lnTo>
                  <a:lnTo>
                    <a:pt x="7856220" y="187960"/>
                  </a:lnTo>
                  <a:lnTo>
                    <a:pt x="7874508" y="255270"/>
                  </a:lnTo>
                  <a:lnTo>
                    <a:pt x="7877556" y="283210"/>
                  </a:lnTo>
                  <a:lnTo>
                    <a:pt x="7877556" y="298450"/>
                  </a:lnTo>
                  <a:close/>
                </a:path>
                <a:path w="7877809" h="1196339">
                  <a:moveTo>
                    <a:pt x="7865669" y="303022"/>
                  </a:moveTo>
                  <a:lnTo>
                    <a:pt x="7866888" y="295910"/>
                  </a:lnTo>
                  <a:lnTo>
                    <a:pt x="7866888" y="298450"/>
                  </a:lnTo>
                  <a:lnTo>
                    <a:pt x="7877556" y="298450"/>
                  </a:lnTo>
                  <a:lnTo>
                    <a:pt x="7877048" y="300990"/>
                  </a:lnTo>
                  <a:lnTo>
                    <a:pt x="7866888" y="300990"/>
                  </a:lnTo>
                  <a:lnTo>
                    <a:pt x="7865669" y="303022"/>
                  </a:lnTo>
                  <a:close/>
                </a:path>
                <a:path w="7877809" h="1196339">
                  <a:moveTo>
                    <a:pt x="7865364" y="304800"/>
                  </a:moveTo>
                  <a:lnTo>
                    <a:pt x="7865669" y="303022"/>
                  </a:lnTo>
                  <a:lnTo>
                    <a:pt x="7866888" y="300990"/>
                  </a:lnTo>
                  <a:lnTo>
                    <a:pt x="7865364" y="304800"/>
                  </a:lnTo>
                  <a:close/>
                </a:path>
                <a:path w="7877809" h="1196339">
                  <a:moveTo>
                    <a:pt x="7876286" y="304800"/>
                  </a:moveTo>
                  <a:lnTo>
                    <a:pt x="7865364" y="304800"/>
                  </a:lnTo>
                  <a:lnTo>
                    <a:pt x="7866888" y="300990"/>
                  </a:lnTo>
                  <a:lnTo>
                    <a:pt x="7877048" y="300990"/>
                  </a:lnTo>
                  <a:lnTo>
                    <a:pt x="7876286" y="304800"/>
                  </a:lnTo>
                  <a:close/>
                </a:path>
                <a:path w="7877809" h="1196339">
                  <a:moveTo>
                    <a:pt x="7874000" y="308610"/>
                  </a:moveTo>
                  <a:lnTo>
                    <a:pt x="7862316" y="308610"/>
                  </a:lnTo>
                  <a:lnTo>
                    <a:pt x="7865669" y="303022"/>
                  </a:lnTo>
                  <a:lnTo>
                    <a:pt x="7865364" y="304800"/>
                  </a:lnTo>
                  <a:lnTo>
                    <a:pt x="7876286" y="304800"/>
                  </a:lnTo>
                  <a:lnTo>
                    <a:pt x="7876032" y="306070"/>
                  </a:lnTo>
                  <a:lnTo>
                    <a:pt x="7876032" y="307340"/>
                  </a:lnTo>
                  <a:lnTo>
                    <a:pt x="7874508" y="307340"/>
                  </a:lnTo>
                  <a:lnTo>
                    <a:pt x="7874000" y="308610"/>
                  </a:lnTo>
                  <a:close/>
                </a:path>
                <a:path w="7877809" h="1196339">
                  <a:moveTo>
                    <a:pt x="7871460" y="314960"/>
                  </a:moveTo>
                  <a:lnTo>
                    <a:pt x="7856220" y="314960"/>
                  </a:lnTo>
                  <a:lnTo>
                    <a:pt x="7862316" y="307340"/>
                  </a:lnTo>
                  <a:lnTo>
                    <a:pt x="7862316" y="308610"/>
                  </a:lnTo>
                  <a:lnTo>
                    <a:pt x="7874000" y="308610"/>
                  </a:lnTo>
                  <a:lnTo>
                    <a:pt x="7871460" y="314960"/>
                  </a:lnTo>
                  <a:close/>
                </a:path>
                <a:path w="7877809" h="1196339">
                  <a:moveTo>
                    <a:pt x="174599" y="1158634"/>
                  </a:moveTo>
                  <a:lnTo>
                    <a:pt x="163068" y="1154430"/>
                  </a:lnTo>
                  <a:lnTo>
                    <a:pt x="161544" y="1154430"/>
                  </a:lnTo>
                  <a:lnTo>
                    <a:pt x="150876" y="1148080"/>
                  </a:lnTo>
                  <a:lnTo>
                    <a:pt x="118872" y="1125220"/>
                  </a:lnTo>
                  <a:lnTo>
                    <a:pt x="79248" y="1087120"/>
                  </a:lnTo>
                  <a:lnTo>
                    <a:pt x="47244" y="1041400"/>
                  </a:lnTo>
                  <a:lnTo>
                    <a:pt x="22860" y="991870"/>
                  </a:lnTo>
                  <a:lnTo>
                    <a:pt x="16764" y="979170"/>
                  </a:lnTo>
                  <a:lnTo>
                    <a:pt x="12192" y="965200"/>
                  </a:lnTo>
                  <a:lnTo>
                    <a:pt x="3048" y="924560"/>
                  </a:lnTo>
                  <a:lnTo>
                    <a:pt x="0" y="896620"/>
                  </a:lnTo>
                  <a:lnTo>
                    <a:pt x="0" y="881380"/>
                  </a:lnTo>
                  <a:lnTo>
                    <a:pt x="1524" y="873760"/>
                  </a:lnTo>
                  <a:lnTo>
                    <a:pt x="3048" y="872490"/>
                  </a:lnTo>
                  <a:lnTo>
                    <a:pt x="6096" y="866140"/>
                  </a:lnTo>
                  <a:lnTo>
                    <a:pt x="7620" y="866140"/>
                  </a:lnTo>
                  <a:lnTo>
                    <a:pt x="7620" y="864870"/>
                  </a:lnTo>
                  <a:lnTo>
                    <a:pt x="15240" y="858520"/>
                  </a:lnTo>
                  <a:lnTo>
                    <a:pt x="15240" y="857250"/>
                  </a:lnTo>
                  <a:lnTo>
                    <a:pt x="25908" y="850900"/>
                  </a:lnTo>
                  <a:lnTo>
                    <a:pt x="38100" y="843280"/>
                  </a:lnTo>
                  <a:lnTo>
                    <a:pt x="92964" y="822960"/>
                  </a:lnTo>
                  <a:lnTo>
                    <a:pt x="169164" y="802640"/>
                  </a:lnTo>
                  <a:lnTo>
                    <a:pt x="231648" y="789940"/>
                  </a:lnTo>
                  <a:lnTo>
                    <a:pt x="266700" y="782320"/>
                  </a:lnTo>
                  <a:lnTo>
                    <a:pt x="303276" y="777240"/>
                  </a:lnTo>
                  <a:lnTo>
                    <a:pt x="384048" y="764540"/>
                  </a:lnTo>
                  <a:lnTo>
                    <a:pt x="428244" y="756920"/>
                  </a:lnTo>
                  <a:lnTo>
                    <a:pt x="521208" y="744220"/>
                  </a:lnTo>
                  <a:lnTo>
                    <a:pt x="569976" y="739140"/>
                  </a:lnTo>
                  <a:lnTo>
                    <a:pt x="787908" y="713740"/>
                  </a:lnTo>
                  <a:lnTo>
                    <a:pt x="847344" y="709930"/>
                  </a:lnTo>
                  <a:lnTo>
                    <a:pt x="969264" y="697230"/>
                  </a:lnTo>
                  <a:lnTo>
                    <a:pt x="1033272" y="693420"/>
                  </a:lnTo>
                  <a:lnTo>
                    <a:pt x="1098804" y="687070"/>
                  </a:lnTo>
                  <a:lnTo>
                    <a:pt x="1165860" y="681990"/>
                  </a:lnTo>
                  <a:lnTo>
                    <a:pt x="1234440" y="675640"/>
                  </a:lnTo>
                  <a:lnTo>
                    <a:pt x="1522476" y="656590"/>
                  </a:lnTo>
                  <a:lnTo>
                    <a:pt x="2154936" y="622300"/>
                  </a:lnTo>
                  <a:lnTo>
                    <a:pt x="2668524" y="604520"/>
                  </a:lnTo>
                  <a:lnTo>
                    <a:pt x="3204972" y="591820"/>
                  </a:lnTo>
                  <a:lnTo>
                    <a:pt x="4672584" y="579120"/>
                  </a:lnTo>
                  <a:lnTo>
                    <a:pt x="5032248" y="571500"/>
                  </a:lnTo>
                  <a:lnTo>
                    <a:pt x="5382768" y="560070"/>
                  </a:lnTo>
                  <a:lnTo>
                    <a:pt x="6047232" y="530860"/>
                  </a:lnTo>
                  <a:lnTo>
                    <a:pt x="6501384" y="504190"/>
                  </a:lnTo>
                  <a:lnTo>
                    <a:pt x="6643116" y="492760"/>
                  </a:lnTo>
                  <a:lnTo>
                    <a:pt x="6711696" y="488950"/>
                  </a:lnTo>
                  <a:lnTo>
                    <a:pt x="6777228" y="482600"/>
                  </a:lnTo>
                  <a:lnTo>
                    <a:pt x="6969252" y="467360"/>
                  </a:lnTo>
                  <a:lnTo>
                    <a:pt x="7146036" y="448310"/>
                  </a:lnTo>
                  <a:lnTo>
                    <a:pt x="7200900" y="443230"/>
                  </a:lnTo>
                  <a:lnTo>
                    <a:pt x="7403592" y="419100"/>
                  </a:lnTo>
                  <a:lnTo>
                    <a:pt x="7491984" y="406400"/>
                  </a:lnTo>
                  <a:lnTo>
                    <a:pt x="7572756" y="393700"/>
                  </a:lnTo>
                  <a:lnTo>
                    <a:pt x="7609332" y="386080"/>
                  </a:lnTo>
                  <a:lnTo>
                    <a:pt x="7644384" y="381000"/>
                  </a:lnTo>
                  <a:lnTo>
                    <a:pt x="7676388" y="374650"/>
                  </a:lnTo>
                  <a:lnTo>
                    <a:pt x="7706868" y="367030"/>
                  </a:lnTo>
                  <a:lnTo>
                    <a:pt x="7734300" y="360680"/>
                  </a:lnTo>
                  <a:lnTo>
                    <a:pt x="7760208" y="354330"/>
                  </a:lnTo>
                  <a:lnTo>
                    <a:pt x="7781544" y="346710"/>
                  </a:lnTo>
                  <a:lnTo>
                    <a:pt x="7802880" y="340360"/>
                  </a:lnTo>
                  <a:lnTo>
                    <a:pt x="7819644" y="332740"/>
                  </a:lnTo>
                  <a:lnTo>
                    <a:pt x="7834884" y="327660"/>
                  </a:lnTo>
                  <a:lnTo>
                    <a:pt x="7847076" y="321310"/>
                  </a:lnTo>
                  <a:lnTo>
                    <a:pt x="7856220" y="313690"/>
                  </a:lnTo>
                  <a:lnTo>
                    <a:pt x="7856220" y="314960"/>
                  </a:lnTo>
                  <a:lnTo>
                    <a:pt x="7869936" y="314960"/>
                  </a:lnTo>
                  <a:lnTo>
                    <a:pt x="7824216" y="344170"/>
                  </a:lnTo>
                  <a:lnTo>
                    <a:pt x="7805928" y="350520"/>
                  </a:lnTo>
                  <a:lnTo>
                    <a:pt x="7786116" y="358140"/>
                  </a:lnTo>
                  <a:lnTo>
                    <a:pt x="7761732" y="363220"/>
                  </a:lnTo>
                  <a:lnTo>
                    <a:pt x="7737348" y="370840"/>
                  </a:lnTo>
                  <a:lnTo>
                    <a:pt x="7645908" y="391160"/>
                  </a:lnTo>
                  <a:lnTo>
                    <a:pt x="7574280" y="403860"/>
                  </a:lnTo>
                  <a:lnTo>
                    <a:pt x="7493508" y="416560"/>
                  </a:lnTo>
                  <a:lnTo>
                    <a:pt x="7405116" y="429260"/>
                  </a:lnTo>
                  <a:lnTo>
                    <a:pt x="7307580" y="441960"/>
                  </a:lnTo>
                  <a:lnTo>
                    <a:pt x="7255764" y="447040"/>
                  </a:lnTo>
                  <a:lnTo>
                    <a:pt x="7030212" y="472440"/>
                  </a:lnTo>
                  <a:lnTo>
                    <a:pt x="6970776" y="476250"/>
                  </a:lnTo>
                  <a:lnTo>
                    <a:pt x="6844284" y="488950"/>
                  </a:lnTo>
                  <a:lnTo>
                    <a:pt x="6778752" y="492760"/>
                  </a:lnTo>
                  <a:lnTo>
                    <a:pt x="6711696" y="499110"/>
                  </a:lnTo>
                  <a:lnTo>
                    <a:pt x="6502908" y="514350"/>
                  </a:lnTo>
                  <a:lnTo>
                    <a:pt x="6047232" y="542290"/>
                  </a:lnTo>
                  <a:lnTo>
                    <a:pt x="5722620" y="557530"/>
                  </a:lnTo>
                  <a:lnTo>
                    <a:pt x="5554980" y="562610"/>
                  </a:lnTo>
                  <a:lnTo>
                    <a:pt x="5382768" y="571500"/>
                  </a:lnTo>
                  <a:lnTo>
                    <a:pt x="5209032" y="575310"/>
                  </a:lnTo>
                  <a:lnTo>
                    <a:pt x="5032248" y="581660"/>
                  </a:lnTo>
                  <a:lnTo>
                    <a:pt x="4853940" y="584200"/>
                  </a:lnTo>
                  <a:lnTo>
                    <a:pt x="4672584" y="589280"/>
                  </a:lnTo>
                  <a:lnTo>
                    <a:pt x="4306824" y="594360"/>
                  </a:lnTo>
                  <a:lnTo>
                    <a:pt x="3204972" y="600710"/>
                  </a:lnTo>
                  <a:lnTo>
                    <a:pt x="2668524" y="614680"/>
                  </a:lnTo>
                  <a:lnTo>
                    <a:pt x="1990344" y="641350"/>
                  </a:lnTo>
                  <a:lnTo>
                    <a:pt x="1376172" y="675640"/>
                  </a:lnTo>
                  <a:lnTo>
                    <a:pt x="1234440" y="687070"/>
                  </a:lnTo>
                  <a:lnTo>
                    <a:pt x="1165860" y="690880"/>
                  </a:lnTo>
                  <a:lnTo>
                    <a:pt x="1100328" y="697230"/>
                  </a:lnTo>
                  <a:lnTo>
                    <a:pt x="1034796" y="702310"/>
                  </a:lnTo>
                  <a:lnTo>
                    <a:pt x="970788" y="708660"/>
                  </a:lnTo>
                  <a:lnTo>
                    <a:pt x="847344" y="718820"/>
                  </a:lnTo>
                  <a:lnTo>
                    <a:pt x="731520" y="731520"/>
                  </a:lnTo>
                  <a:lnTo>
                    <a:pt x="676656" y="736600"/>
                  </a:lnTo>
                  <a:lnTo>
                    <a:pt x="385572" y="773430"/>
                  </a:lnTo>
                  <a:lnTo>
                    <a:pt x="344424" y="779780"/>
                  </a:lnTo>
                  <a:lnTo>
                    <a:pt x="304800" y="787400"/>
                  </a:lnTo>
                  <a:lnTo>
                    <a:pt x="233172" y="800100"/>
                  </a:lnTo>
                  <a:lnTo>
                    <a:pt x="201168" y="807720"/>
                  </a:lnTo>
                  <a:lnTo>
                    <a:pt x="170688" y="812800"/>
                  </a:lnTo>
                  <a:lnTo>
                    <a:pt x="143256" y="819150"/>
                  </a:lnTo>
                  <a:lnTo>
                    <a:pt x="74676" y="839470"/>
                  </a:lnTo>
                  <a:lnTo>
                    <a:pt x="57912" y="847090"/>
                  </a:lnTo>
                  <a:lnTo>
                    <a:pt x="42672" y="853440"/>
                  </a:lnTo>
                  <a:lnTo>
                    <a:pt x="30480" y="861060"/>
                  </a:lnTo>
                  <a:lnTo>
                    <a:pt x="21336" y="866140"/>
                  </a:lnTo>
                  <a:lnTo>
                    <a:pt x="16459" y="871220"/>
                  </a:lnTo>
                  <a:lnTo>
                    <a:pt x="15240" y="871220"/>
                  </a:lnTo>
                  <a:lnTo>
                    <a:pt x="10668" y="878840"/>
                  </a:lnTo>
                  <a:lnTo>
                    <a:pt x="11887" y="878840"/>
                  </a:lnTo>
                  <a:lnTo>
                    <a:pt x="11277" y="881380"/>
                  </a:lnTo>
                  <a:lnTo>
                    <a:pt x="10668" y="881380"/>
                  </a:lnTo>
                  <a:lnTo>
                    <a:pt x="10668" y="895350"/>
                  </a:lnTo>
                  <a:lnTo>
                    <a:pt x="13716" y="923290"/>
                  </a:lnTo>
                  <a:lnTo>
                    <a:pt x="16764" y="937260"/>
                  </a:lnTo>
                  <a:lnTo>
                    <a:pt x="19812" y="948690"/>
                  </a:lnTo>
                  <a:lnTo>
                    <a:pt x="22860" y="962660"/>
                  </a:lnTo>
                  <a:lnTo>
                    <a:pt x="42672" y="1013460"/>
                  </a:lnTo>
                  <a:lnTo>
                    <a:pt x="71628" y="1060450"/>
                  </a:lnTo>
                  <a:lnTo>
                    <a:pt x="106680" y="1099820"/>
                  </a:lnTo>
                  <a:lnTo>
                    <a:pt x="135636" y="1125220"/>
                  </a:lnTo>
                  <a:lnTo>
                    <a:pt x="146304" y="1131570"/>
                  </a:lnTo>
                  <a:lnTo>
                    <a:pt x="156972" y="1139190"/>
                  </a:lnTo>
                  <a:lnTo>
                    <a:pt x="167640" y="1145540"/>
                  </a:lnTo>
                  <a:lnTo>
                    <a:pt x="166116" y="1145540"/>
                  </a:lnTo>
                  <a:lnTo>
                    <a:pt x="176679" y="1149391"/>
                  </a:lnTo>
                  <a:lnTo>
                    <a:pt x="174599" y="1158634"/>
                  </a:lnTo>
                  <a:close/>
                </a:path>
                <a:path w="7877809" h="1196339">
                  <a:moveTo>
                    <a:pt x="15240" y="872490"/>
                  </a:moveTo>
                  <a:lnTo>
                    <a:pt x="15240" y="871220"/>
                  </a:lnTo>
                  <a:lnTo>
                    <a:pt x="16459" y="871220"/>
                  </a:lnTo>
                  <a:lnTo>
                    <a:pt x="15240" y="872490"/>
                  </a:lnTo>
                  <a:close/>
                </a:path>
                <a:path w="7877809" h="1196339">
                  <a:moveTo>
                    <a:pt x="11887" y="878840"/>
                  </a:moveTo>
                  <a:lnTo>
                    <a:pt x="10668" y="878840"/>
                  </a:lnTo>
                  <a:lnTo>
                    <a:pt x="12192" y="877570"/>
                  </a:lnTo>
                  <a:lnTo>
                    <a:pt x="11887" y="878840"/>
                  </a:lnTo>
                  <a:close/>
                </a:path>
                <a:path w="7877809" h="1196339">
                  <a:moveTo>
                    <a:pt x="10668" y="883920"/>
                  </a:moveTo>
                  <a:lnTo>
                    <a:pt x="10668" y="881380"/>
                  </a:lnTo>
                  <a:lnTo>
                    <a:pt x="11277" y="881380"/>
                  </a:lnTo>
                  <a:lnTo>
                    <a:pt x="10668" y="883920"/>
                  </a:lnTo>
                  <a:close/>
                </a:path>
                <a:path w="7877809" h="1196339">
                  <a:moveTo>
                    <a:pt x="243548" y="1163320"/>
                  </a:moveTo>
                  <a:lnTo>
                    <a:pt x="187452" y="1163320"/>
                  </a:lnTo>
                  <a:lnTo>
                    <a:pt x="190500" y="1154430"/>
                  </a:lnTo>
                  <a:lnTo>
                    <a:pt x="176679" y="1149391"/>
                  </a:lnTo>
                  <a:lnTo>
                    <a:pt x="184404" y="1115060"/>
                  </a:lnTo>
                  <a:lnTo>
                    <a:pt x="243548" y="1163320"/>
                  </a:lnTo>
                  <a:close/>
                </a:path>
                <a:path w="7877809" h="1196339">
                  <a:moveTo>
                    <a:pt x="187452" y="1163320"/>
                  </a:moveTo>
                  <a:lnTo>
                    <a:pt x="174599" y="1158634"/>
                  </a:lnTo>
                  <a:lnTo>
                    <a:pt x="176679" y="1149391"/>
                  </a:lnTo>
                  <a:lnTo>
                    <a:pt x="190500" y="1154430"/>
                  </a:lnTo>
                  <a:lnTo>
                    <a:pt x="187452" y="1163320"/>
                  </a:lnTo>
                  <a:close/>
                </a:path>
                <a:path w="7877809" h="1196339">
                  <a:moveTo>
                    <a:pt x="166116" y="1196340"/>
                  </a:moveTo>
                  <a:lnTo>
                    <a:pt x="174599" y="1158634"/>
                  </a:lnTo>
                  <a:lnTo>
                    <a:pt x="187452" y="1163320"/>
                  </a:lnTo>
                  <a:lnTo>
                    <a:pt x="243548" y="1163320"/>
                  </a:lnTo>
                  <a:lnTo>
                    <a:pt x="257556" y="1174750"/>
                  </a:lnTo>
                  <a:lnTo>
                    <a:pt x="166116" y="11963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38200" y="6068567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20">
                  <a:moveTo>
                    <a:pt x="0" y="0"/>
                  </a:moveTo>
                  <a:lnTo>
                    <a:pt x="2011679" y="0"/>
                  </a:lnTo>
                  <a:lnTo>
                    <a:pt x="2011679" y="502919"/>
                  </a:lnTo>
                  <a:lnTo>
                    <a:pt x="0" y="502919"/>
                  </a:lnTo>
                  <a:lnTo>
                    <a:pt x="0" y="0"/>
                  </a:lnTo>
                  <a:close/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341120" y="6068567"/>
              <a:ext cx="1005840" cy="502920"/>
            </a:xfrm>
            <a:custGeom>
              <a:avLst/>
              <a:gdLst/>
              <a:ahLst/>
              <a:cxnLst/>
              <a:rect l="l" t="t" r="r" b="b"/>
              <a:pathLst>
                <a:path w="1005839" h="502920">
                  <a:moveTo>
                    <a:pt x="0" y="0"/>
                  </a:moveTo>
                  <a:lnTo>
                    <a:pt x="0" y="502919"/>
                  </a:lnTo>
                </a:path>
                <a:path w="1005839" h="502920">
                  <a:moveTo>
                    <a:pt x="502919" y="0"/>
                  </a:moveTo>
                  <a:lnTo>
                    <a:pt x="502919" y="502919"/>
                  </a:lnTo>
                </a:path>
                <a:path w="1005839" h="502920">
                  <a:moveTo>
                    <a:pt x="1005840" y="0"/>
                  </a:moveTo>
                  <a:lnTo>
                    <a:pt x="1005840" y="502919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598420" y="6275831"/>
              <a:ext cx="914400" cy="83820"/>
            </a:xfrm>
            <a:custGeom>
              <a:avLst/>
              <a:gdLst/>
              <a:ahLst/>
              <a:cxnLst/>
              <a:rect l="l" t="t" r="r" b="b"/>
              <a:pathLst>
                <a:path w="914400" h="83820">
                  <a:moveTo>
                    <a:pt x="830580" y="83820"/>
                  </a:moveTo>
                  <a:lnTo>
                    <a:pt x="830580" y="0"/>
                  </a:lnTo>
                  <a:lnTo>
                    <a:pt x="905086" y="36576"/>
                  </a:lnTo>
                  <a:lnTo>
                    <a:pt x="844296" y="36576"/>
                  </a:lnTo>
                  <a:lnTo>
                    <a:pt x="844296" y="47244"/>
                  </a:lnTo>
                  <a:lnTo>
                    <a:pt x="902425" y="47244"/>
                  </a:lnTo>
                  <a:lnTo>
                    <a:pt x="830580" y="83820"/>
                  </a:lnTo>
                  <a:close/>
                </a:path>
                <a:path w="914400" h="83820">
                  <a:moveTo>
                    <a:pt x="487680" y="32004"/>
                  </a:moveTo>
                  <a:lnTo>
                    <a:pt x="0" y="32004"/>
                  </a:lnTo>
                  <a:lnTo>
                    <a:pt x="0" y="21336"/>
                  </a:lnTo>
                  <a:lnTo>
                    <a:pt x="207264" y="21336"/>
                  </a:lnTo>
                  <a:lnTo>
                    <a:pt x="245364" y="22860"/>
                  </a:lnTo>
                  <a:lnTo>
                    <a:pt x="313944" y="22860"/>
                  </a:lnTo>
                  <a:lnTo>
                    <a:pt x="329184" y="24384"/>
                  </a:lnTo>
                  <a:lnTo>
                    <a:pt x="385572" y="24384"/>
                  </a:lnTo>
                  <a:lnTo>
                    <a:pt x="396240" y="25908"/>
                  </a:lnTo>
                  <a:lnTo>
                    <a:pt x="434340" y="25908"/>
                  </a:lnTo>
                  <a:lnTo>
                    <a:pt x="440436" y="27432"/>
                  </a:lnTo>
                  <a:lnTo>
                    <a:pt x="454152" y="27432"/>
                  </a:lnTo>
                  <a:lnTo>
                    <a:pt x="457200" y="28956"/>
                  </a:lnTo>
                  <a:lnTo>
                    <a:pt x="458724" y="28956"/>
                  </a:lnTo>
                  <a:lnTo>
                    <a:pt x="460248" y="30480"/>
                  </a:lnTo>
                  <a:lnTo>
                    <a:pt x="480060" y="30480"/>
                  </a:lnTo>
                  <a:lnTo>
                    <a:pt x="487680" y="32004"/>
                  </a:lnTo>
                  <a:close/>
                </a:path>
                <a:path w="914400" h="83820">
                  <a:moveTo>
                    <a:pt x="463296" y="30480"/>
                  </a:moveTo>
                  <a:lnTo>
                    <a:pt x="460248" y="30480"/>
                  </a:lnTo>
                  <a:lnTo>
                    <a:pt x="458724" y="28956"/>
                  </a:lnTo>
                  <a:lnTo>
                    <a:pt x="460248" y="28956"/>
                  </a:lnTo>
                  <a:lnTo>
                    <a:pt x="463296" y="30480"/>
                  </a:lnTo>
                  <a:close/>
                </a:path>
                <a:path w="914400" h="83820">
                  <a:moveTo>
                    <a:pt x="541020" y="33528"/>
                  </a:moveTo>
                  <a:lnTo>
                    <a:pt x="245364" y="33528"/>
                  </a:lnTo>
                  <a:lnTo>
                    <a:pt x="207264" y="32004"/>
                  </a:lnTo>
                  <a:lnTo>
                    <a:pt x="528828" y="32004"/>
                  </a:lnTo>
                  <a:lnTo>
                    <a:pt x="541020" y="33528"/>
                  </a:lnTo>
                  <a:close/>
                </a:path>
                <a:path w="914400" h="83820">
                  <a:moveTo>
                    <a:pt x="615696" y="35052"/>
                  </a:moveTo>
                  <a:lnTo>
                    <a:pt x="344424" y="35052"/>
                  </a:lnTo>
                  <a:lnTo>
                    <a:pt x="329184" y="33528"/>
                  </a:lnTo>
                  <a:lnTo>
                    <a:pt x="598932" y="33528"/>
                  </a:lnTo>
                  <a:lnTo>
                    <a:pt x="615696" y="35052"/>
                  </a:lnTo>
                  <a:close/>
                </a:path>
                <a:path w="914400" h="83820">
                  <a:moveTo>
                    <a:pt x="746760" y="36576"/>
                  </a:moveTo>
                  <a:lnTo>
                    <a:pt x="406908" y="36576"/>
                  </a:lnTo>
                  <a:lnTo>
                    <a:pt x="396240" y="35052"/>
                  </a:lnTo>
                  <a:lnTo>
                    <a:pt x="707136" y="35052"/>
                  </a:lnTo>
                  <a:lnTo>
                    <a:pt x="746760" y="36576"/>
                  </a:lnTo>
                  <a:close/>
                </a:path>
                <a:path w="914400" h="83820">
                  <a:moveTo>
                    <a:pt x="830580" y="47244"/>
                  </a:moveTo>
                  <a:lnTo>
                    <a:pt x="786384" y="47244"/>
                  </a:lnTo>
                  <a:lnTo>
                    <a:pt x="745236" y="45720"/>
                  </a:lnTo>
                  <a:lnTo>
                    <a:pt x="632460" y="45720"/>
                  </a:lnTo>
                  <a:lnTo>
                    <a:pt x="615696" y="44196"/>
                  </a:lnTo>
                  <a:lnTo>
                    <a:pt x="541020" y="44196"/>
                  </a:lnTo>
                  <a:lnTo>
                    <a:pt x="528828" y="42672"/>
                  </a:lnTo>
                  <a:lnTo>
                    <a:pt x="495300" y="42672"/>
                  </a:lnTo>
                  <a:lnTo>
                    <a:pt x="486156" y="41148"/>
                  </a:lnTo>
                  <a:lnTo>
                    <a:pt x="466344" y="41148"/>
                  </a:lnTo>
                  <a:lnTo>
                    <a:pt x="461772" y="39624"/>
                  </a:lnTo>
                  <a:lnTo>
                    <a:pt x="454152" y="39624"/>
                  </a:lnTo>
                  <a:lnTo>
                    <a:pt x="454152" y="38100"/>
                  </a:lnTo>
                  <a:lnTo>
                    <a:pt x="440436" y="38100"/>
                  </a:lnTo>
                  <a:lnTo>
                    <a:pt x="434340" y="36576"/>
                  </a:lnTo>
                  <a:lnTo>
                    <a:pt x="830580" y="36576"/>
                  </a:lnTo>
                  <a:lnTo>
                    <a:pt x="830580" y="47244"/>
                  </a:lnTo>
                  <a:close/>
                </a:path>
                <a:path w="914400" h="83820">
                  <a:moveTo>
                    <a:pt x="902425" y="47244"/>
                  </a:moveTo>
                  <a:lnTo>
                    <a:pt x="844296" y="47244"/>
                  </a:lnTo>
                  <a:lnTo>
                    <a:pt x="844296" y="36576"/>
                  </a:lnTo>
                  <a:lnTo>
                    <a:pt x="905086" y="36576"/>
                  </a:lnTo>
                  <a:lnTo>
                    <a:pt x="914400" y="41148"/>
                  </a:lnTo>
                  <a:lnTo>
                    <a:pt x="902425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500627" y="6068567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20">
                  <a:moveTo>
                    <a:pt x="0" y="0"/>
                  </a:moveTo>
                  <a:lnTo>
                    <a:pt x="2011680" y="0"/>
                  </a:lnTo>
                  <a:lnTo>
                    <a:pt x="2011680" y="502919"/>
                  </a:lnTo>
                  <a:lnTo>
                    <a:pt x="0" y="502919"/>
                  </a:lnTo>
                  <a:lnTo>
                    <a:pt x="0" y="0"/>
                  </a:lnTo>
                  <a:close/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003548" y="6068567"/>
              <a:ext cx="1005840" cy="502920"/>
            </a:xfrm>
            <a:custGeom>
              <a:avLst/>
              <a:gdLst/>
              <a:ahLst/>
              <a:cxnLst/>
              <a:rect l="l" t="t" r="r" b="b"/>
              <a:pathLst>
                <a:path w="1005839" h="502920">
                  <a:moveTo>
                    <a:pt x="0" y="0"/>
                  </a:moveTo>
                  <a:lnTo>
                    <a:pt x="0" y="502919"/>
                  </a:lnTo>
                </a:path>
                <a:path w="1005839" h="502920">
                  <a:moveTo>
                    <a:pt x="502920" y="0"/>
                  </a:moveTo>
                  <a:lnTo>
                    <a:pt x="502920" y="502919"/>
                  </a:lnTo>
                </a:path>
                <a:path w="1005839" h="502920">
                  <a:moveTo>
                    <a:pt x="1005839" y="0"/>
                  </a:moveTo>
                  <a:lnTo>
                    <a:pt x="1005839" y="502919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3599258" y="6095525"/>
            <a:ext cx="128968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1025" algn="l"/>
              </a:tabLst>
            </a:pPr>
            <a:r>
              <a:rPr sz="2650" b="1" spc="-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650" b="1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18</a:t>
            </a:r>
            <a:r>
              <a:rPr sz="2650" b="1" spc="3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spc="-5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2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301996" y="6052375"/>
            <a:ext cx="2908935" cy="535305"/>
            <a:chOff x="5301996" y="6052375"/>
            <a:chExt cx="2908935" cy="535305"/>
          </a:xfrm>
        </p:grpSpPr>
        <p:sp>
          <p:nvSpPr>
            <p:cNvPr id="58" name="object 58"/>
            <p:cNvSpPr/>
            <p:nvPr/>
          </p:nvSpPr>
          <p:spPr>
            <a:xfrm>
              <a:off x="5301996" y="6275832"/>
              <a:ext cx="893444" cy="83820"/>
            </a:xfrm>
            <a:custGeom>
              <a:avLst/>
              <a:gdLst/>
              <a:ahLst/>
              <a:cxnLst/>
              <a:rect l="l" t="t" r="r" b="b"/>
              <a:pathLst>
                <a:path w="893445" h="83820">
                  <a:moveTo>
                    <a:pt x="809244" y="83820"/>
                  </a:moveTo>
                  <a:lnTo>
                    <a:pt x="809244" y="0"/>
                  </a:lnTo>
                  <a:lnTo>
                    <a:pt x="883750" y="36576"/>
                  </a:lnTo>
                  <a:lnTo>
                    <a:pt x="822960" y="36576"/>
                  </a:lnTo>
                  <a:lnTo>
                    <a:pt x="822960" y="47244"/>
                  </a:lnTo>
                  <a:lnTo>
                    <a:pt x="881089" y="47244"/>
                  </a:lnTo>
                  <a:lnTo>
                    <a:pt x="809244" y="83820"/>
                  </a:lnTo>
                  <a:close/>
                </a:path>
                <a:path w="893445" h="83820">
                  <a:moveTo>
                    <a:pt x="475488" y="32004"/>
                  </a:moveTo>
                  <a:lnTo>
                    <a:pt x="0" y="32004"/>
                  </a:lnTo>
                  <a:lnTo>
                    <a:pt x="0" y="21336"/>
                  </a:lnTo>
                  <a:lnTo>
                    <a:pt x="202692" y="21336"/>
                  </a:lnTo>
                  <a:lnTo>
                    <a:pt x="239268" y="22860"/>
                  </a:lnTo>
                  <a:lnTo>
                    <a:pt x="306324" y="22860"/>
                  </a:lnTo>
                  <a:lnTo>
                    <a:pt x="321564" y="24384"/>
                  </a:lnTo>
                  <a:lnTo>
                    <a:pt x="376428" y="24384"/>
                  </a:lnTo>
                  <a:lnTo>
                    <a:pt x="387096" y="25908"/>
                  </a:lnTo>
                  <a:lnTo>
                    <a:pt x="423672" y="25908"/>
                  </a:lnTo>
                  <a:lnTo>
                    <a:pt x="431292" y="27432"/>
                  </a:lnTo>
                  <a:lnTo>
                    <a:pt x="443484" y="27432"/>
                  </a:lnTo>
                  <a:lnTo>
                    <a:pt x="446532" y="28956"/>
                  </a:lnTo>
                  <a:lnTo>
                    <a:pt x="448056" y="28956"/>
                  </a:lnTo>
                  <a:lnTo>
                    <a:pt x="449580" y="30480"/>
                  </a:lnTo>
                  <a:lnTo>
                    <a:pt x="467868" y="30480"/>
                  </a:lnTo>
                  <a:lnTo>
                    <a:pt x="475488" y="32004"/>
                  </a:lnTo>
                  <a:close/>
                </a:path>
                <a:path w="893445" h="83820">
                  <a:moveTo>
                    <a:pt x="452628" y="30480"/>
                  </a:moveTo>
                  <a:lnTo>
                    <a:pt x="449580" y="30480"/>
                  </a:lnTo>
                  <a:lnTo>
                    <a:pt x="448056" y="28956"/>
                  </a:lnTo>
                  <a:lnTo>
                    <a:pt x="449580" y="28956"/>
                  </a:lnTo>
                  <a:lnTo>
                    <a:pt x="452628" y="30480"/>
                  </a:lnTo>
                  <a:close/>
                </a:path>
                <a:path w="893445" h="83820">
                  <a:moveTo>
                    <a:pt x="528828" y="33528"/>
                  </a:moveTo>
                  <a:lnTo>
                    <a:pt x="239268" y="33528"/>
                  </a:lnTo>
                  <a:lnTo>
                    <a:pt x="202692" y="32004"/>
                  </a:lnTo>
                  <a:lnTo>
                    <a:pt x="516636" y="32004"/>
                  </a:lnTo>
                  <a:lnTo>
                    <a:pt x="528828" y="33528"/>
                  </a:lnTo>
                  <a:close/>
                </a:path>
                <a:path w="893445" h="83820">
                  <a:moveTo>
                    <a:pt x="601980" y="35052"/>
                  </a:moveTo>
                  <a:lnTo>
                    <a:pt x="336804" y="35052"/>
                  </a:lnTo>
                  <a:lnTo>
                    <a:pt x="321564" y="33528"/>
                  </a:lnTo>
                  <a:lnTo>
                    <a:pt x="585216" y="33528"/>
                  </a:lnTo>
                  <a:lnTo>
                    <a:pt x="601980" y="35052"/>
                  </a:lnTo>
                  <a:close/>
                </a:path>
                <a:path w="893445" h="83820">
                  <a:moveTo>
                    <a:pt x="728472" y="36576"/>
                  </a:moveTo>
                  <a:lnTo>
                    <a:pt x="397764" y="36576"/>
                  </a:lnTo>
                  <a:lnTo>
                    <a:pt x="387096" y="35052"/>
                  </a:lnTo>
                  <a:lnTo>
                    <a:pt x="690372" y="35052"/>
                  </a:lnTo>
                  <a:lnTo>
                    <a:pt x="728472" y="36576"/>
                  </a:lnTo>
                  <a:close/>
                </a:path>
                <a:path w="893445" h="83820">
                  <a:moveTo>
                    <a:pt x="809244" y="47244"/>
                  </a:moveTo>
                  <a:lnTo>
                    <a:pt x="768096" y="47244"/>
                  </a:lnTo>
                  <a:lnTo>
                    <a:pt x="728472" y="45720"/>
                  </a:lnTo>
                  <a:lnTo>
                    <a:pt x="617220" y="45720"/>
                  </a:lnTo>
                  <a:lnTo>
                    <a:pt x="601980" y="44196"/>
                  </a:lnTo>
                  <a:lnTo>
                    <a:pt x="528828" y="44196"/>
                  </a:lnTo>
                  <a:lnTo>
                    <a:pt x="515112" y="42672"/>
                  </a:lnTo>
                  <a:lnTo>
                    <a:pt x="484632" y="42672"/>
                  </a:lnTo>
                  <a:lnTo>
                    <a:pt x="475488" y="41148"/>
                  </a:lnTo>
                  <a:lnTo>
                    <a:pt x="455676" y="41148"/>
                  </a:lnTo>
                  <a:lnTo>
                    <a:pt x="451104" y="39624"/>
                  </a:lnTo>
                  <a:lnTo>
                    <a:pt x="443484" y="39624"/>
                  </a:lnTo>
                  <a:lnTo>
                    <a:pt x="443484" y="38100"/>
                  </a:lnTo>
                  <a:lnTo>
                    <a:pt x="429768" y="38100"/>
                  </a:lnTo>
                  <a:lnTo>
                    <a:pt x="423672" y="36576"/>
                  </a:lnTo>
                  <a:lnTo>
                    <a:pt x="809244" y="36576"/>
                  </a:lnTo>
                  <a:lnTo>
                    <a:pt x="809244" y="47244"/>
                  </a:lnTo>
                  <a:close/>
                </a:path>
                <a:path w="893445" h="83820">
                  <a:moveTo>
                    <a:pt x="881089" y="47244"/>
                  </a:moveTo>
                  <a:lnTo>
                    <a:pt x="822960" y="47244"/>
                  </a:lnTo>
                  <a:lnTo>
                    <a:pt x="822960" y="36576"/>
                  </a:lnTo>
                  <a:lnTo>
                    <a:pt x="883750" y="36576"/>
                  </a:lnTo>
                  <a:lnTo>
                    <a:pt x="893064" y="41148"/>
                  </a:lnTo>
                  <a:lnTo>
                    <a:pt x="881089" y="4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182868" y="6068568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79" h="502920">
                  <a:moveTo>
                    <a:pt x="0" y="0"/>
                  </a:moveTo>
                  <a:lnTo>
                    <a:pt x="2011679" y="0"/>
                  </a:lnTo>
                  <a:lnTo>
                    <a:pt x="2011679" y="502919"/>
                  </a:lnTo>
                  <a:lnTo>
                    <a:pt x="0" y="502919"/>
                  </a:lnTo>
                  <a:lnTo>
                    <a:pt x="0" y="0"/>
                  </a:lnTo>
                  <a:close/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685788" y="6068568"/>
              <a:ext cx="1005840" cy="502920"/>
            </a:xfrm>
            <a:custGeom>
              <a:avLst/>
              <a:gdLst/>
              <a:ahLst/>
              <a:cxnLst/>
              <a:rect l="l" t="t" r="r" b="b"/>
              <a:pathLst>
                <a:path w="1005840" h="502920">
                  <a:moveTo>
                    <a:pt x="0" y="0"/>
                  </a:moveTo>
                  <a:lnTo>
                    <a:pt x="0" y="502919"/>
                  </a:lnTo>
                </a:path>
                <a:path w="1005840" h="502920">
                  <a:moveTo>
                    <a:pt x="502920" y="0"/>
                  </a:moveTo>
                  <a:lnTo>
                    <a:pt x="502920" y="502919"/>
                  </a:lnTo>
                </a:path>
                <a:path w="1005840" h="502920">
                  <a:moveTo>
                    <a:pt x="1005840" y="0"/>
                  </a:moveTo>
                  <a:lnTo>
                    <a:pt x="1005840" y="502919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6281501" y="6095525"/>
            <a:ext cx="128968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1025" algn="l"/>
              </a:tabLst>
            </a:pPr>
            <a:r>
              <a:rPr sz="2650" b="1" spc="-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650" b="1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2650" b="1" spc="3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spc="-5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6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12897" y="6095525"/>
            <a:ext cx="153670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04520" algn="l"/>
              </a:tabLst>
            </a:pPr>
            <a:r>
              <a:rPr sz="2650" b="1" spc="-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650" b="1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650" b="1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14</a:t>
            </a:r>
            <a:r>
              <a:rPr sz="2650" b="1" spc="3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b="1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650" b="1" spc="235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25" b="1" spc="-75" baseline="160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sz="2625" baseline="160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10540" y="6332220"/>
            <a:ext cx="7731759" cy="1177925"/>
            <a:chOff x="510540" y="6332220"/>
            <a:chExt cx="7731759" cy="1177925"/>
          </a:xfrm>
        </p:grpSpPr>
        <p:sp>
          <p:nvSpPr>
            <p:cNvPr id="64" name="object 64"/>
            <p:cNvSpPr/>
            <p:nvPr/>
          </p:nvSpPr>
          <p:spPr>
            <a:xfrm>
              <a:off x="510540" y="6332220"/>
              <a:ext cx="7731759" cy="932180"/>
            </a:xfrm>
            <a:custGeom>
              <a:avLst/>
              <a:gdLst/>
              <a:ahLst/>
              <a:cxnLst/>
              <a:rect l="l" t="t" r="r" b="b"/>
              <a:pathLst>
                <a:path w="7731759" h="932179">
                  <a:moveTo>
                    <a:pt x="7731252" y="213360"/>
                  </a:moveTo>
                  <a:lnTo>
                    <a:pt x="7720584" y="213360"/>
                  </a:lnTo>
                  <a:lnTo>
                    <a:pt x="7720584" y="203200"/>
                  </a:lnTo>
                  <a:lnTo>
                    <a:pt x="7717536" y="185420"/>
                  </a:lnTo>
                  <a:lnTo>
                    <a:pt x="7714488" y="176530"/>
                  </a:lnTo>
                  <a:lnTo>
                    <a:pt x="7711440" y="165100"/>
                  </a:lnTo>
                  <a:lnTo>
                    <a:pt x="7708392" y="156210"/>
                  </a:lnTo>
                  <a:lnTo>
                    <a:pt x="7688580" y="121920"/>
                  </a:lnTo>
                  <a:lnTo>
                    <a:pt x="7661148" y="87630"/>
                  </a:lnTo>
                  <a:lnTo>
                    <a:pt x="7626096" y="60960"/>
                  </a:lnTo>
                  <a:lnTo>
                    <a:pt x="7606284" y="46990"/>
                  </a:lnTo>
                  <a:lnTo>
                    <a:pt x="7586472" y="35560"/>
                  </a:lnTo>
                  <a:lnTo>
                    <a:pt x="7565136" y="26670"/>
                  </a:lnTo>
                  <a:lnTo>
                    <a:pt x="7542276" y="19050"/>
                  </a:lnTo>
                  <a:lnTo>
                    <a:pt x="7519416" y="13970"/>
                  </a:lnTo>
                  <a:lnTo>
                    <a:pt x="7508748" y="11430"/>
                  </a:lnTo>
                  <a:lnTo>
                    <a:pt x="7496556" y="10160"/>
                  </a:lnTo>
                  <a:lnTo>
                    <a:pt x="7473696" y="10160"/>
                  </a:lnTo>
                  <a:lnTo>
                    <a:pt x="7473696" y="0"/>
                  </a:lnTo>
                  <a:lnTo>
                    <a:pt x="7498080" y="0"/>
                  </a:lnTo>
                  <a:lnTo>
                    <a:pt x="7510272" y="1270"/>
                  </a:lnTo>
                  <a:lnTo>
                    <a:pt x="7568184" y="17780"/>
                  </a:lnTo>
                  <a:lnTo>
                    <a:pt x="7610856" y="38100"/>
                  </a:lnTo>
                  <a:lnTo>
                    <a:pt x="7650480" y="64770"/>
                  </a:lnTo>
                  <a:lnTo>
                    <a:pt x="7682484" y="96520"/>
                  </a:lnTo>
                  <a:lnTo>
                    <a:pt x="7708392" y="133350"/>
                  </a:lnTo>
                  <a:lnTo>
                    <a:pt x="7717536" y="153670"/>
                  </a:lnTo>
                  <a:lnTo>
                    <a:pt x="7722108" y="162560"/>
                  </a:lnTo>
                  <a:lnTo>
                    <a:pt x="7725156" y="171450"/>
                  </a:lnTo>
                  <a:lnTo>
                    <a:pt x="7728204" y="182880"/>
                  </a:lnTo>
                  <a:lnTo>
                    <a:pt x="7729728" y="193040"/>
                  </a:lnTo>
                  <a:lnTo>
                    <a:pt x="7731252" y="201930"/>
                  </a:lnTo>
                  <a:lnTo>
                    <a:pt x="7731252" y="213360"/>
                  </a:lnTo>
                  <a:close/>
                </a:path>
                <a:path w="7731759" h="932179">
                  <a:moveTo>
                    <a:pt x="7719060" y="215900"/>
                  </a:moveTo>
                  <a:lnTo>
                    <a:pt x="7720584" y="210820"/>
                  </a:lnTo>
                  <a:lnTo>
                    <a:pt x="7720584" y="213360"/>
                  </a:lnTo>
                  <a:lnTo>
                    <a:pt x="7731252" y="213360"/>
                  </a:lnTo>
                  <a:lnTo>
                    <a:pt x="7731252" y="214630"/>
                  </a:lnTo>
                  <a:lnTo>
                    <a:pt x="7720584" y="214630"/>
                  </a:lnTo>
                  <a:lnTo>
                    <a:pt x="7719060" y="215900"/>
                  </a:lnTo>
                  <a:close/>
                </a:path>
                <a:path w="7731759" h="932179">
                  <a:moveTo>
                    <a:pt x="173830" y="894193"/>
                  </a:moveTo>
                  <a:lnTo>
                    <a:pt x="163068" y="890270"/>
                  </a:lnTo>
                  <a:lnTo>
                    <a:pt x="161544" y="890270"/>
                  </a:lnTo>
                  <a:lnTo>
                    <a:pt x="140208" y="880110"/>
                  </a:lnTo>
                  <a:lnTo>
                    <a:pt x="99060" y="850900"/>
                  </a:lnTo>
                  <a:lnTo>
                    <a:pt x="62484" y="816610"/>
                  </a:lnTo>
                  <a:lnTo>
                    <a:pt x="33528" y="775970"/>
                  </a:lnTo>
                  <a:lnTo>
                    <a:pt x="12192" y="734060"/>
                  </a:lnTo>
                  <a:lnTo>
                    <a:pt x="9144" y="721360"/>
                  </a:lnTo>
                  <a:lnTo>
                    <a:pt x="6096" y="711200"/>
                  </a:lnTo>
                  <a:lnTo>
                    <a:pt x="3048" y="698500"/>
                  </a:lnTo>
                  <a:lnTo>
                    <a:pt x="0" y="675640"/>
                  </a:lnTo>
                  <a:lnTo>
                    <a:pt x="0" y="661670"/>
                  </a:lnTo>
                  <a:lnTo>
                    <a:pt x="1524" y="657860"/>
                  </a:lnTo>
                  <a:lnTo>
                    <a:pt x="1524" y="656590"/>
                  </a:lnTo>
                  <a:lnTo>
                    <a:pt x="3048" y="655320"/>
                  </a:lnTo>
                  <a:lnTo>
                    <a:pt x="6096" y="650240"/>
                  </a:lnTo>
                  <a:lnTo>
                    <a:pt x="7620" y="650240"/>
                  </a:lnTo>
                  <a:lnTo>
                    <a:pt x="7620" y="648970"/>
                  </a:lnTo>
                  <a:lnTo>
                    <a:pt x="13716" y="642620"/>
                  </a:lnTo>
                  <a:lnTo>
                    <a:pt x="15240" y="642620"/>
                  </a:lnTo>
                  <a:lnTo>
                    <a:pt x="25908" y="636270"/>
                  </a:lnTo>
                  <a:lnTo>
                    <a:pt x="38100" y="629920"/>
                  </a:lnTo>
                  <a:lnTo>
                    <a:pt x="53340" y="626110"/>
                  </a:lnTo>
                  <a:lnTo>
                    <a:pt x="70104" y="619760"/>
                  </a:lnTo>
                  <a:lnTo>
                    <a:pt x="89916" y="613410"/>
                  </a:lnTo>
                  <a:lnTo>
                    <a:pt x="112776" y="607060"/>
                  </a:lnTo>
                  <a:lnTo>
                    <a:pt x="138684" y="603250"/>
                  </a:lnTo>
                  <a:lnTo>
                    <a:pt x="166116" y="596900"/>
                  </a:lnTo>
                  <a:lnTo>
                    <a:pt x="195072" y="591820"/>
                  </a:lnTo>
                  <a:lnTo>
                    <a:pt x="227076" y="585470"/>
                  </a:lnTo>
                  <a:lnTo>
                    <a:pt x="260604" y="580390"/>
                  </a:lnTo>
                  <a:lnTo>
                    <a:pt x="297180" y="575310"/>
                  </a:lnTo>
                  <a:lnTo>
                    <a:pt x="336804" y="568960"/>
                  </a:lnTo>
                  <a:lnTo>
                    <a:pt x="376428" y="565150"/>
                  </a:lnTo>
                  <a:lnTo>
                    <a:pt x="419100" y="558800"/>
                  </a:lnTo>
                  <a:lnTo>
                    <a:pt x="510540" y="549910"/>
                  </a:lnTo>
                  <a:lnTo>
                    <a:pt x="559308" y="543560"/>
                  </a:lnTo>
                  <a:lnTo>
                    <a:pt x="662940" y="534670"/>
                  </a:lnTo>
                  <a:lnTo>
                    <a:pt x="717804" y="528320"/>
                  </a:lnTo>
                  <a:lnTo>
                    <a:pt x="772668" y="523240"/>
                  </a:lnTo>
                  <a:lnTo>
                    <a:pt x="830580" y="519430"/>
                  </a:lnTo>
                  <a:lnTo>
                    <a:pt x="950976" y="509270"/>
                  </a:lnTo>
                  <a:lnTo>
                    <a:pt x="1013460" y="505460"/>
                  </a:lnTo>
                  <a:lnTo>
                    <a:pt x="1078992" y="500380"/>
                  </a:lnTo>
                  <a:lnTo>
                    <a:pt x="1211580" y="491490"/>
                  </a:lnTo>
                  <a:lnTo>
                    <a:pt x="2115312" y="447040"/>
                  </a:lnTo>
                  <a:lnTo>
                    <a:pt x="2279904" y="443230"/>
                  </a:lnTo>
                  <a:lnTo>
                    <a:pt x="2618232" y="431800"/>
                  </a:lnTo>
                  <a:lnTo>
                    <a:pt x="3503676" y="416560"/>
                  </a:lnTo>
                  <a:lnTo>
                    <a:pt x="4937760" y="406400"/>
                  </a:lnTo>
                  <a:lnTo>
                    <a:pt x="5111496" y="401320"/>
                  </a:lnTo>
                  <a:lnTo>
                    <a:pt x="5282184" y="398780"/>
                  </a:lnTo>
                  <a:lnTo>
                    <a:pt x="5615940" y="389890"/>
                  </a:lnTo>
                  <a:lnTo>
                    <a:pt x="6236208" y="365760"/>
                  </a:lnTo>
                  <a:lnTo>
                    <a:pt x="6380988" y="356870"/>
                  </a:lnTo>
                  <a:lnTo>
                    <a:pt x="6519672" y="351790"/>
                  </a:lnTo>
                  <a:lnTo>
                    <a:pt x="6652260" y="344170"/>
                  </a:lnTo>
                  <a:lnTo>
                    <a:pt x="6716268" y="339090"/>
                  </a:lnTo>
                  <a:lnTo>
                    <a:pt x="6778752" y="336550"/>
                  </a:lnTo>
                  <a:lnTo>
                    <a:pt x="6839712" y="331470"/>
                  </a:lnTo>
                  <a:lnTo>
                    <a:pt x="6957060" y="323850"/>
                  </a:lnTo>
                  <a:lnTo>
                    <a:pt x="7120128" y="309880"/>
                  </a:lnTo>
                  <a:lnTo>
                    <a:pt x="7170420" y="307340"/>
                  </a:lnTo>
                  <a:lnTo>
                    <a:pt x="7353300" y="289560"/>
                  </a:lnTo>
                  <a:lnTo>
                    <a:pt x="7431024" y="279400"/>
                  </a:lnTo>
                  <a:lnTo>
                    <a:pt x="7467600" y="275590"/>
                  </a:lnTo>
                  <a:lnTo>
                    <a:pt x="7502652" y="270510"/>
                  </a:lnTo>
                  <a:lnTo>
                    <a:pt x="7534656" y="265430"/>
                  </a:lnTo>
                  <a:lnTo>
                    <a:pt x="7563612" y="261620"/>
                  </a:lnTo>
                  <a:lnTo>
                    <a:pt x="7591044" y="255270"/>
                  </a:lnTo>
                  <a:lnTo>
                    <a:pt x="7615428" y="251460"/>
                  </a:lnTo>
                  <a:lnTo>
                    <a:pt x="7638288" y="246380"/>
                  </a:lnTo>
                  <a:lnTo>
                    <a:pt x="7658100" y="241300"/>
                  </a:lnTo>
                  <a:lnTo>
                    <a:pt x="7674864" y="237490"/>
                  </a:lnTo>
                  <a:lnTo>
                    <a:pt x="7690104" y="232410"/>
                  </a:lnTo>
                  <a:lnTo>
                    <a:pt x="7711440" y="223520"/>
                  </a:lnTo>
                  <a:lnTo>
                    <a:pt x="7709916" y="223520"/>
                  </a:lnTo>
                  <a:lnTo>
                    <a:pt x="7717536" y="218440"/>
                  </a:lnTo>
                  <a:lnTo>
                    <a:pt x="7716012" y="218440"/>
                  </a:lnTo>
                  <a:lnTo>
                    <a:pt x="7720584" y="214630"/>
                  </a:lnTo>
                  <a:lnTo>
                    <a:pt x="7731252" y="214630"/>
                  </a:lnTo>
                  <a:lnTo>
                    <a:pt x="7729728" y="218440"/>
                  </a:lnTo>
                  <a:lnTo>
                    <a:pt x="7729728" y="220980"/>
                  </a:lnTo>
                  <a:lnTo>
                    <a:pt x="7728204" y="220980"/>
                  </a:lnTo>
                  <a:lnTo>
                    <a:pt x="7723632" y="226060"/>
                  </a:lnTo>
                  <a:lnTo>
                    <a:pt x="7716012" y="231140"/>
                  </a:lnTo>
                  <a:lnTo>
                    <a:pt x="7716012" y="232410"/>
                  </a:lnTo>
                  <a:lnTo>
                    <a:pt x="7705344" y="237490"/>
                  </a:lnTo>
                  <a:lnTo>
                    <a:pt x="7693152" y="241300"/>
                  </a:lnTo>
                  <a:lnTo>
                    <a:pt x="7677912" y="246380"/>
                  </a:lnTo>
                  <a:lnTo>
                    <a:pt x="7659624" y="252730"/>
                  </a:lnTo>
                  <a:lnTo>
                    <a:pt x="7639812" y="256540"/>
                  </a:lnTo>
                  <a:lnTo>
                    <a:pt x="7616952" y="261620"/>
                  </a:lnTo>
                  <a:lnTo>
                    <a:pt x="7592568" y="265430"/>
                  </a:lnTo>
                  <a:lnTo>
                    <a:pt x="7536180" y="275590"/>
                  </a:lnTo>
                  <a:lnTo>
                    <a:pt x="7504176" y="280670"/>
                  </a:lnTo>
                  <a:lnTo>
                    <a:pt x="7432548" y="290830"/>
                  </a:lnTo>
                  <a:lnTo>
                    <a:pt x="7394448" y="294640"/>
                  </a:lnTo>
                  <a:lnTo>
                    <a:pt x="7353300" y="299720"/>
                  </a:lnTo>
                  <a:lnTo>
                    <a:pt x="7310628" y="303530"/>
                  </a:lnTo>
                  <a:lnTo>
                    <a:pt x="7219188" y="313690"/>
                  </a:lnTo>
                  <a:lnTo>
                    <a:pt x="7170420" y="316230"/>
                  </a:lnTo>
                  <a:lnTo>
                    <a:pt x="7120128" y="321310"/>
                  </a:lnTo>
                  <a:lnTo>
                    <a:pt x="7068312" y="325120"/>
                  </a:lnTo>
                  <a:lnTo>
                    <a:pt x="6957060" y="335280"/>
                  </a:lnTo>
                  <a:lnTo>
                    <a:pt x="6899148" y="337820"/>
                  </a:lnTo>
                  <a:lnTo>
                    <a:pt x="6839712" y="341630"/>
                  </a:lnTo>
                  <a:lnTo>
                    <a:pt x="6778752" y="346710"/>
                  </a:lnTo>
                  <a:lnTo>
                    <a:pt x="6519672" y="361950"/>
                  </a:lnTo>
                  <a:lnTo>
                    <a:pt x="5935980" y="388620"/>
                  </a:lnTo>
                  <a:lnTo>
                    <a:pt x="5451348" y="405130"/>
                  </a:lnTo>
                  <a:lnTo>
                    <a:pt x="4762500" y="420370"/>
                  </a:lnTo>
                  <a:lnTo>
                    <a:pt x="4227576" y="426720"/>
                  </a:lnTo>
                  <a:lnTo>
                    <a:pt x="3864864" y="426720"/>
                  </a:lnTo>
                  <a:lnTo>
                    <a:pt x="3145536" y="431800"/>
                  </a:lnTo>
                  <a:lnTo>
                    <a:pt x="2447544" y="447040"/>
                  </a:lnTo>
                  <a:lnTo>
                    <a:pt x="1642872" y="477520"/>
                  </a:lnTo>
                  <a:lnTo>
                    <a:pt x="1493520" y="485140"/>
                  </a:lnTo>
                  <a:lnTo>
                    <a:pt x="1014984" y="515620"/>
                  </a:lnTo>
                  <a:lnTo>
                    <a:pt x="891540" y="525780"/>
                  </a:lnTo>
                  <a:lnTo>
                    <a:pt x="832104" y="529590"/>
                  </a:lnTo>
                  <a:lnTo>
                    <a:pt x="774192" y="534670"/>
                  </a:lnTo>
                  <a:lnTo>
                    <a:pt x="717804" y="538480"/>
                  </a:lnTo>
                  <a:lnTo>
                    <a:pt x="664464" y="544830"/>
                  </a:lnTo>
                  <a:lnTo>
                    <a:pt x="611124" y="549910"/>
                  </a:lnTo>
                  <a:lnTo>
                    <a:pt x="560832" y="553720"/>
                  </a:lnTo>
                  <a:lnTo>
                    <a:pt x="512064" y="558800"/>
                  </a:lnTo>
                  <a:lnTo>
                    <a:pt x="466344" y="565150"/>
                  </a:lnTo>
                  <a:lnTo>
                    <a:pt x="420624" y="568960"/>
                  </a:lnTo>
                  <a:lnTo>
                    <a:pt x="377952" y="575310"/>
                  </a:lnTo>
                  <a:lnTo>
                    <a:pt x="298704" y="585470"/>
                  </a:lnTo>
                  <a:lnTo>
                    <a:pt x="262128" y="590550"/>
                  </a:lnTo>
                  <a:lnTo>
                    <a:pt x="228600" y="596900"/>
                  </a:lnTo>
                  <a:lnTo>
                    <a:pt x="196596" y="601980"/>
                  </a:lnTo>
                  <a:lnTo>
                    <a:pt x="167640" y="607060"/>
                  </a:lnTo>
                  <a:lnTo>
                    <a:pt x="140208" y="613410"/>
                  </a:lnTo>
                  <a:lnTo>
                    <a:pt x="115824" y="618490"/>
                  </a:lnTo>
                  <a:lnTo>
                    <a:pt x="92964" y="623570"/>
                  </a:lnTo>
                  <a:lnTo>
                    <a:pt x="73152" y="629920"/>
                  </a:lnTo>
                  <a:lnTo>
                    <a:pt x="56388" y="635000"/>
                  </a:lnTo>
                  <a:lnTo>
                    <a:pt x="41148" y="641350"/>
                  </a:lnTo>
                  <a:lnTo>
                    <a:pt x="28956" y="645160"/>
                  </a:lnTo>
                  <a:lnTo>
                    <a:pt x="19812" y="651510"/>
                  </a:lnTo>
                  <a:lnTo>
                    <a:pt x="21336" y="651510"/>
                  </a:lnTo>
                  <a:lnTo>
                    <a:pt x="13716" y="656590"/>
                  </a:lnTo>
                  <a:lnTo>
                    <a:pt x="15240" y="656590"/>
                  </a:lnTo>
                  <a:lnTo>
                    <a:pt x="12954" y="659130"/>
                  </a:lnTo>
                  <a:lnTo>
                    <a:pt x="12192" y="659130"/>
                  </a:lnTo>
                  <a:lnTo>
                    <a:pt x="10668" y="661670"/>
                  </a:lnTo>
                  <a:lnTo>
                    <a:pt x="11582" y="661670"/>
                  </a:lnTo>
                  <a:lnTo>
                    <a:pt x="10972" y="664210"/>
                  </a:lnTo>
                  <a:lnTo>
                    <a:pt x="10668" y="664210"/>
                  </a:lnTo>
                  <a:lnTo>
                    <a:pt x="10668" y="675640"/>
                  </a:lnTo>
                  <a:lnTo>
                    <a:pt x="18288" y="718820"/>
                  </a:lnTo>
                  <a:lnTo>
                    <a:pt x="42672" y="772160"/>
                  </a:lnTo>
                  <a:lnTo>
                    <a:pt x="71628" y="810260"/>
                  </a:lnTo>
                  <a:lnTo>
                    <a:pt x="105156" y="843280"/>
                  </a:lnTo>
                  <a:lnTo>
                    <a:pt x="144780" y="871220"/>
                  </a:lnTo>
                  <a:lnTo>
                    <a:pt x="166116" y="881380"/>
                  </a:lnTo>
                  <a:lnTo>
                    <a:pt x="170180" y="881380"/>
                  </a:lnTo>
                  <a:lnTo>
                    <a:pt x="176059" y="883217"/>
                  </a:lnTo>
                  <a:lnTo>
                    <a:pt x="173830" y="894193"/>
                  </a:lnTo>
                  <a:close/>
                </a:path>
                <a:path w="7731759" h="932179">
                  <a:moveTo>
                    <a:pt x="10668" y="661670"/>
                  </a:moveTo>
                  <a:lnTo>
                    <a:pt x="12192" y="659130"/>
                  </a:lnTo>
                  <a:lnTo>
                    <a:pt x="11914" y="660284"/>
                  </a:lnTo>
                  <a:lnTo>
                    <a:pt x="10668" y="661670"/>
                  </a:lnTo>
                  <a:close/>
                </a:path>
                <a:path w="7731759" h="932179">
                  <a:moveTo>
                    <a:pt x="11914" y="660284"/>
                  </a:moveTo>
                  <a:lnTo>
                    <a:pt x="12192" y="659130"/>
                  </a:lnTo>
                  <a:lnTo>
                    <a:pt x="12954" y="659130"/>
                  </a:lnTo>
                  <a:lnTo>
                    <a:pt x="11914" y="660284"/>
                  </a:lnTo>
                  <a:close/>
                </a:path>
                <a:path w="7731759" h="932179">
                  <a:moveTo>
                    <a:pt x="11582" y="661670"/>
                  </a:moveTo>
                  <a:lnTo>
                    <a:pt x="10668" y="661670"/>
                  </a:lnTo>
                  <a:lnTo>
                    <a:pt x="11914" y="660284"/>
                  </a:lnTo>
                  <a:lnTo>
                    <a:pt x="11582" y="661670"/>
                  </a:lnTo>
                  <a:close/>
                </a:path>
                <a:path w="7731759" h="932179">
                  <a:moveTo>
                    <a:pt x="10668" y="665480"/>
                  </a:moveTo>
                  <a:lnTo>
                    <a:pt x="10668" y="664210"/>
                  </a:lnTo>
                  <a:lnTo>
                    <a:pt x="10972" y="664210"/>
                  </a:lnTo>
                  <a:lnTo>
                    <a:pt x="10668" y="665480"/>
                  </a:lnTo>
                  <a:close/>
                </a:path>
                <a:path w="7731759" h="932179">
                  <a:moveTo>
                    <a:pt x="247599" y="899160"/>
                  </a:moveTo>
                  <a:lnTo>
                    <a:pt x="187452" y="899160"/>
                  </a:lnTo>
                  <a:lnTo>
                    <a:pt x="190500" y="887730"/>
                  </a:lnTo>
                  <a:lnTo>
                    <a:pt x="176059" y="883217"/>
                  </a:lnTo>
                  <a:lnTo>
                    <a:pt x="182880" y="849630"/>
                  </a:lnTo>
                  <a:lnTo>
                    <a:pt x="247599" y="899160"/>
                  </a:lnTo>
                  <a:close/>
                </a:path>
                <a:path w="7731759" h="932179">
                  <a:moveTo>
                    <a:pt x="170180" y="881380"/>
                  </a:moveTo>
                  <a:lnTo>
                    <a:pt x="166116" y="881380"/>
                  </a:lnTo>
                  <a:lnTo>
                    <a:pt x="166116" y="880110"/>
                  </a:lnTo>
                  <a:lnTo>
                    <a:pt x="170180" y="881380"/>
                  </a:lnTo>
                  <a:close/>
                </a:path>
                <a:path w="7731759" h="932179">
                  <a:moveTo>
                    <a:pt x="187452" y="899160"/>
                  </a:moveTo>
                  <a:lnTo>
                    <a:pt x="173830" y="894193"/>
                  </a:lnTo>
                  <a:lnTo>
                    <a:pt x="176059" y="883217"/>
                  </a:lnTo>
                  <a:lnTo>
                    <a:pt x="190500" y="887730"/>
                  </a:lnTo>
                  <a:lnTo>
                    <a:pt x="187452" y="899160"/>
                  </a:lnTo>
                  <a:close/>
                </a:path>
                <a:path w="7731759" h="932179">
                  <a:moveTo>
                    <a:pt x="166116" y="932180"/>
                  </a:moveTo>
                  <a:lnTo>
                    <a:pt x="173830" y="894193"/>
                  </a:lnTo>
                  <a:lnTo>
                    <a:pt x="187452" y="899160"/>
                  </a:lnTo>
                  <a:lnTo>
                    <a:pt x="247599" y="899160"/>
                  </a:lnTo>
                  <a:lnTo>
                    <a:pt x="257556" y="906780"/>
                  </a:lnTo>
                  <a:lnTo>
                    <a:pt x="166116" y="932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54379" y="6990587"/>
              <a:ext cx="2011680" cy="502920"/>
            </a:xfrm>
            <a:custGeom>
              <a:avLst/>
              <a:gdLst/>
              <a:ahLst/>
              <a:cxnLst/>
              <a:rect l="l" t="t" r="r" b="b"/>
              <a:pathLst>
                <a:path w="2011680" h="502920">
                  <a:moveTo>
                    <a:pt x="0" y="0"/>
                  </a:moveTo>
                  <a:lnTo>
                    <a:pt x="2011679" y="0"/>
                  </a:lnTo>
                  <a:lnTo>
                    <a:pt x="2011679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257300" y="6990587"/>
              <a:ext cx="1005840" cy="502920"/>
            </a:xfrm>
            <a:custGeom>
              <a:avLst/>
              <a:gdLst/>
              <a:ahLst/>
              <a:cxnLst/>
              <a:rect l="l" t="t" r="r" b="b"/>
              <a:pathLst>
                <a:path w="1005839" h="502920">
                  <a:moveTo>
                    <a:pt x="0" y="0"/>
                  </a:moveTo>
                  <a:lnTo>
                    <a:pt x="0" y="502920"/>
                  </a:lnTo>
                </a:path>
                <a:path w="1005839" h="502920">
                  <a:moveTo>
                    <a:pt x="502920" y="0"/>
                  </a:moveTo>
                  <a:lnTo>
                    <a:pt x="502920" y="502920"/>
                  </a:lnTo>
                </a:path>
                <a:path w="1005839" h="502920">
                  <a:moveTo>
                    <a:pt x="1005839" y="0"/>
                  </a:moveTo>
                  <a:lnTo>
                    <a:pt x="1005839" y="50292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535935" y="7225283"/>
              <a:ext cx="914400" cy="94615"/>
            </a:xfrm>
            <a:custGeom>
              <a:avLst/>
              <a:gdLst/>
              <a:ahLst/>
              <a:cxnLst/>
              <a:rect l="l" t="t" r="r" b="b"/>
              <a:pathLst>
                <a:path w="914400" h="94615">
                  <a:moveTo>
                    <a:pt x="126492" y="48768"/>
                  </a:moveTo>
                  <a:lnTo>
                    <a:pt x="85344" y="47244"/>
                  </a:lnTo>
                  <a:lnTo>
                    <a:pt x="0" y="47244"/>
                  </a:lnTo>
                  <a:lnTo>
                    <a:pt x="0" y="16764"/>
                  </a:lnTo>
                  <a:lnTo>
                    <a:pt x="126492" y="16764"/>
                  </a:lnTo>
                  <a:lnTo>
                    <a:pt x="126492" y="48768"/>
                  </a:lnTo>
                  <a:close/>
                </a:path>
                <a:path w="914400" h="94615">
                  <a:moveTo>
                    <a:pt x="345948" y="50292"/>
                  </a:moveTo>
                  <a:lnTo>
                    <a:pt x="280416" y="50292"/>
                  </a:lnTo>
                  <a:lnTo>
                    <a:pt x="262128" y="48768"/>
                  </a:lnTo>
                  <a:lnTo>
                    <a:pt x="219456" y="48768"/>
                  </a:lnTo>
                  <a:lnTo>
                    <a:pt x="220980" y="16764"/>
                  </a:lnTo>
                  <a:lnTo>
                    <a:pt x="245364" y="18288"/>
                  </a:lnTo>
                  <a:lnTo>
                    <a:pt x="329184" y="18288"/>
                  </a:lnTo>
                  <a:lnTo>
                    <a:pt x="344424" y="19812"/>
                  </a:lnTo>
                  <a:lnTo>
                    <a:pt x="345948" y="19812"/>
                  </a:lnTo>
                  <a:lnTo>
                    <a:pt x="345948" y="50292"/>
                  </a:lnTo>
                  <a:close/>
                </a:path>
                <a:path w="914400" h="94615">
                  <a:moveTo>
                    <a:pt x="565404" y="60960"/>
                  </a:moveTo>
                  <a:lnTo>
                    <a:pt x="553212" y="59436"/>
                  </a:lnTo>
                  <a:lnTo>
                    <a:pt x="504444" y="59436"/>
                  </a:lnTo>
                  <a:lnTo>
                    <a:pt x="495300" y="57912"/>
                  </a:lnTo>
                  <a:lnTo>
                    <a:pt x="470916" y="57912"/>
                  </a:lnTo>
                  <a:lnTo>
                    <a:pt x="464820" y="56388"/>
                  </a:lnTo>
                  <a:lnTo>
                    <a:pt x="455676" y="56388"/>
                  </a:lnTo>
                  <a:lnTo>
                    <a:pt x="454152" y="54864"/>
                  </a:lnTo>
                  <a:lnTo>
                    <a:pt x="452628" y="54864"/>
                  </a:lnTo>
                  <a:lnTo>
                    <a:pt x="450342" y="54102"/>
                  </a:lnTo>
                  <a:lnTo>
                    <a:pt x="449580" y="53340"/>
                  </a:lnTo>
                  <a:lnTo>
                    <a:pt x="438912" y="53340"/>
                  </a:lnTo>
                  <a:lnTo>
                    <a:pt x="441960" y="22860"/>
                  </a:lnTo>
                  <a:lnTo>
                    <a:pt x="455676" y="22860"/>
                  </a:lnTo>
                  <a:lnTo>
                    <a:pt x="458724" y="24384"/>
                  </a:lnTo>
                  <a:lnTo>
                    <a:pt x="460248" y="24384"/>
                  </a:lnTo>
                  <a:lnTo>
                    <a:pt x="462534" y="25146"/>
                  </a:lnTo>
                  <a:lnTo>
                    <a:pt x="463296" y="25908"/>
                  </a:lnTo>
                  <a:lnTo>
                    <a:pt x="487680" y="25908"/>
                  </a:lnTo>
                  <a:lnTo>
                    <a:pt x="496824" y="27432"/>
                  </a:lnTo>
                  <a:lnTo>
                    <a:pt x="528828" y="27432"/>
                  </a:lnTo>
                  <a:lnTo>
                    <a:pt x="541020" y="28956"/>
                  </a:lnTo>
                  <a:lnTo>
                    <a:pt x="565404" y="28956"/>
                  </a:lnTo>
                  <a:lnTo>
                    <a:pt x="565404" y="60960"/>
                  </a:lnTo>
                  <a:close/>
                </a:path>
                <a:path w="914400" h="94615">
                  <a:moveTo>
                    <a:pt x="462534" y="25146"/>
                  </a:moveTo>
                  <a:lnTo>
                    <a:pt x="460248" y="24384"/>
                  </a:lnTo>
                  <a:lnTo>
                    <a:pt x="461772" y="24384"/>
                  </a:lnTo>
                  <a:lnTo>
                    <a:pt x="462534" y="25146"/>
                  </a:lnTo>
                  <a:close/>
                </a:path>
                <a:path w="914400" h="94615">
                  <a:moveTo>
                    <a:pt x="464820" y="25908"/>
                  </a:moveTo>
                  <a:lnTo>
                    <a:pt x="463296" y="25908"/>
                  </a:lnTo>
                  <a:lnTo>
                    <a:pt x="462534" y="25146"/>
                  </a:lnTo>
                  <a:lnTo>
                    <a:pt x="464820" y="25908"/>
                  </a:lnTo>
                  <a:close/>
                </a:path>
                <a:path w="914400" h="94615">
                  <a:moveTo>
                    <a:pt x="451104" y="54864"/>
                  </a:moveTo>
                  <a:lnTo>
                    <a:pt x="449580" y="54864"/>
                  </a:lnTo>
                  <a:lnTo>
                    <a:pt x="445008" y="53340"/>
                  </a:lnTo>
                  <a:lnTo>
                    <a:pt x="448056" y="53340"/>
                  </a:lnTo>
                  <a:lnTo>
                    <a:pt x="450342" y="54102"/>
                  </a:lnTo>
                  <a:lnTo>
                    <a:pt x="451104" y="54864"/>
                  </a:lnTo>
                  <a:close/>
                </a:path>
                <a:path w="914400" h="94615">
                  <a:moveTo>
                    <a:pt x="452628" y="54864"/>
                  </a:moveTo>
                  <a:lnTo>
                    <a:pt x="451104" y="54864"/>
                  </a:lnTo>
                  <a:lnTo>
                    <a:pt x="450342" y="54102"/>
                  </a:lnTo>
                  <a:lnTo>
                    <a:pt x="452628" y="54864"/>
                  </a:lnTo>
                  <a:close/>
                </a:path>
                <a:path w="914400" h="94615">
                  <a:moveTo>
                    <a:pt x="784860" y="62484"/>
                  </a:moveTo>
                  <a:lnTo>
                    <a:pt x="659892" y="62484"/>
                  </a:lnTo>
                  <a:lnTo>
                    <a:pt x="659892" y="30480"/>
                  </a:lnTo>
                  <a:lnTo>
                    <a:pt x="705612" y="30480"/>
                  </a:lnTo>
                  <a:lnTo>
                    <a:pt x="745236" y="32004"/>
                  </a:lnTo>
                  <a:lnTo>
                    <a:pt x="786384" y="32004"/>
                  </a:lnTo>
                  <a:lnTo>
                    <a:pt x="784860" y="62484"/>
                  </a:lnTo>
                  <a:close/>
                </a:path>
                <a:path w="914400" h="94615">
                  <a:moveTo>
                    <a:pt x="819912" y="94488"/>
                  </a:moveTo>
                  <a:lnTo>
                    <a:pt x="819912" y="0"/>
                  </a:lnTo>
                  <a:lnTo>
                    <a:pt x="914400" y="47244"/>
                  </a:lnTo>
                  <a:lnTo>
                    <a:pt x="819912" y="94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732281" y="6880363"/>
            <a:ext cx="290258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90"/>
              </a:spcBef>
            </a:pPr>
            <a:r>
              <a:rPr sz="3975" b="1" baseline="-2200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50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</a:t>
            </a:r>
            <a:r>
              <a:rPr sz="3975" b="1" spc="-2122" baseline="-230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50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500" spc="-29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3975" b="1" spc="-1739" baseline="-230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150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1500" spc="9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7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3975" b="1" spc="-562" baseline="-23000" dirty="0">
                <a:solidFill>
                  <a:srgbClr val="00CC00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500" spc="-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50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spc="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50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500" spc="-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spc="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1500" spc="6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284479" y="7061707"/>
            <a:ext cx="25527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42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920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75" dirty="0"/>
              <a:t> </a:t>
            </a:r>
            <a:r>
              <a:rPr spc="200" dirty="0"/>
              <a:t>management</a:t>
            </a:r>
            <a:r>
              <a:rPr spc="65" dirty="0"/>
              <a:t> </a:t>
            </a:r>
            <a:r>
              <a:rPr spc="90" dirty="0"/>
              <a:t>with</a:t>
            </a:r>
            <a:r>
              <a:rPr spc="65" dirty="0"/>
              <a:t> </a:t>
            </a:r>
            <a:r>
              <a:rPr spc="100" dirty="0"/>
              <a:t>Linked</a:t>
            </a:r>
            <a:r>
              <a:rPr spc="30" dirty="0"/>
              <a:t> </a:t>
            </a:r>
            <a:r>
              <a:rPr spc="-10" dirty="0"/>
              <a:t>Lists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281698" y="4488667"/>
            <a:ext cx="42672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  <a:tabLst>
                <a:tab pos="348615" algn="l"/>
              </a:tabLst>
            </a:pP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spc="-13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1447" y="4398962"/>
            <a:ext cx="2970530" cy="460375"/>
            <a:chOff x="151447" y="4398962"/>
            <a:chExt cx="2970530" cy="460375"/>
          </a:xfrm>
        </p:grpSpPr>
        <p:sp>
          <p:nvSpPr>
            <p:cNvPr id="5" name="object 5"/>
            <p:cNvSpPr/>
            <p:nvPr/>
          </p:nvSpPr>
          <p:spPr>
            <a:xfrm>
              <a:off x="167640" y="4419600"/>
              <a:ext cx="2933700" cy="419100"/>
            </a:xfrm>
            <a:custGeom>
              <a:avLst/>
              <a:gdLst/>
              <a:ahLst/>
              <a:cxnLst/>
              <a:rect l="l" t="t" r="r" b="b"/>
              <a:pathLst>
                <a:path w="2933700" h="419100">
                  <a:moveTo>
                    <a:pt x="0" y="0"/>
                  </a:moveTo>
                  <a:lnTo>
                    <a:pt x="2933700" y="0"/>
                  </a:lnTo>
                  <a:lnTo>
                    <a:pt x="29337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ln w="21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7640" y="4419600"/>
              <a:ext cx="1049020" cy="419100"/>
            </a:xfrm>
            <a:custGeom>
              <a:avLst/>
              <a:gdLst/>
              <a:ahLst/>
              <a:cxnLst/>
              <a:rect l="l" t="t" r="r" b="b"/>
              <a:pathLst>
                <a:path w="1049020" h="419100">
                  <a:moveTo>
                    <a:pt x="1048512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1048512" y="0"/>
                  </a:lnTo>
                  <a:lnTo>
                    <a:pt x="1048512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7640" y="4419600"/>
              <a:ext cx="1049020" cy="419100"/>
            </a:xfrm>
            <a:custGeom>
              <a:avLst/>
              <a:gdLst/>
              <a:ahLst/>
              <a:cxnLst/>
              <a:rect l="l" t="t" r="r" b="b"/>
              <a:pathLst>
                <a:path w="1049020" h="419100">
                  <a:moveTo>
                    <a:pt x="0" y="0"/>
                  </a:moveTo>
                  <a:lnTo>
                    <a:pt x="1048512" y="0"/>
                  </a:lnTo>
                  <a:lnTo>
                    <a:pt x="1048512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44039" y="4419600"/>
              <a:ext cx="1257300" cy="419100"/>
            </a:xfrm>
            <a:custGeom>
              <a:avLst/>
              <a:gdLst/>
              <a:ahLst/>
              <a:cxnLst/>
              <a:rect l="l" t="t" r="r" b="b"/>
              <a:pathLst>
                <a:path w="1257300" h="419100">
                  <a:moveTo>
                    <a:pt x="1257300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44039" y="4419600"/>
              <a:ext cx="1257300" cy="419100"/>
            </a:xfrm>
            <a:custGeom>
              <a:avLst/>
              <a:gdLst/>
              <a:ahLst/>
              <a:cxnLst/>
              <a:rect l="l" t="t" r="r" b="b"/>
              <a:pathLst>
                <a:path w="1257300" h="419100">
                  <a:moveTo>
                    <a:pt x="0" y="0"/>
                  </a:moveTo>
                  <a:lnTo>
                    <a:pt x="1257300" y="0"/>
                  </a:lnTo>
                  <a:lnTo>
                    <a:pt x="12573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358686" y="4440424"/>
            <a:ext cx="22732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latin typeface="Arial" panose="020B0604020202020204"/>
                <a:cs typeface="Arial" panose="020B0604020202020204"/>
              </a:rPr>
              <a:t>B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2554" y="4398962"/>
            <a:ext cx="2525395" cy="460375"/>
            <a:chOff x="372554" y="4398962"/>
            <a:chExt cx="2525395" cy="460375"/>
          </a:xfrm>
        </p:grpSpPr>
        <p:sp>
          <p:nvSpPr>
            <p:cNvPr id="12" name="object 12"/>
            <p:cNvSpPr/>
            <p:nvPr/>
          </p:nvSpPr>
          <p:spPr>
            <a:xfrm>
              <a:off x="377951" y="4419600"/>
              <a:ext cx="628015" cy="419100"/>
            </a:xfrm>
            <a:custGeom>
              <a:avLst/>
              <a:gdLst/>
              <a:ahLst/>
              <a:cxnLst/>
              <a:rect l="l" t="t" r="r" b="b"/>
              <a:pathLst>
                <a:path w="628015" h="419100">
                  <a:moveTo>
                    <a:pt x="0" y="419100"/>
                  </a:moveTo>
                  <a:lnTo>
                    <a:pt x="0" y="0"/>
                  </a:lnTo>
                </a:path>
                <a:path w="628015" h="419100">
                  <a:moveTo>
                    <a:pt x="208788" y="419100"/>
                  </a:moveTo>
                  <a:lnTo>
                    <a:pt x="208788" y="0"/>
                  </a:lnTo>
                </a:path>
                <a:path w="628015" h="419100">
                  <a:moveTo>
                    <a:pt x="419100" y="419100"/>
                  </a:moveTo>
                  <a:lnTo>
                    <a:pt x="419100" y="0"/>
                  </a:lnTo>
                </a:path>
                <a:path w="628015" h="419100">
                  <a:moveTo>
                    <a:pt x="627887" y="419100"/>
                  </a:moveTo>
                  <a:lnTo>
                    <a:pt x="627887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13484" y="4419600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ln w="53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46706" y="4419600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ln w="53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054352" y="4419600"/>
              <a:ext cx="838200" cy="419100"/>
            </a:xfrm>
            <a:custGeom>
              <a:avLst/>
              <a:gdLst/>
              <a:ahLst/>
              <a:cxnLst/>
              <a:rect l="l" t="t" r="r" b="b"/>
              <a:pathLst>
                <a:path w="838200" h="419100">
                  <a:moveTo>
                    <a:pt x="0" y="419100"/>
                  </a:moveTo>
                  <a:lnTo>
                    <a:pt x="0" y="0"/>
                  </a:lnTo>
                </a:path>
                <a:path w="838200" h="419100">
                  <a:moveTo>
                    <a:pt x="208787" y="419100"/>
                  </a:moveTo>
                  <a:lnTo>
                    <a:pt x="208787" y="0"/>
                  </a:lnTo>
                </a:path>
                <a:path w="838200" h="419100">
                  <a:moveTo>
                    <a:pt x="419100" y="419100"/>
                  </a:moveTo>
                  <a:lnTo>
                    <a:pt x="419100" y="0"/>
                  </a:lnTo>
                </a:path>
                <a:path w="838200" h="419100">
                  <a:moveTo>
                    <a:pt x="627888" y="419100"/>
                  </a:moveTo>
                  <a:lnTo>
                    <a:pt x="627888" y="0"/>
                  </a:lnTo>
                </a:path>
                <a:path w="838200" h="419100">
                  <a:moveTo>
                    <a:pt x="838200" y="419100"/>
                  </a:moveTo>
                  <a:lnTo>
                    <a:pt x="838200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216152" y="4419600"/>
              <a:ext cx="628015" cy="419100"/>
            </a:xfrm>
            <a:custGeom>
              <a:avLst/>
              <a:gdLst/>
              <a:ahLst/>
              <a:cxnLst/>
              <a:rect l="l" t="t" r="r" b="b"/>
              <a:pathLst>
                <a:path w="628014" h="419100">
                  <a:moveTo>
                    <a:pt x="627887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627887" y="0"/>
                  </a:lnTo>
                  <a:lnTo>
                    <a:pt x="627887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216152" y="4419600"/>
              <a:ext cx="628015" cy="419100"/>
            </a:xfrm>
            <a:custGeom>
              <a:avLst/>
              <a:gdLst/>
              <a:ahLst/>
              <a:cxnLst/>
              <a:rect l="l" t="t" r="r" b="b"/>
              <a:pathLst>
                <a:path w="628014" h="419100">
                  <a:moveTo>
                    <a:pt x="0" y="0"/>
                  </a:moveTo>
                  <a:lnTo>
                    <a:pt x="627887" y="0"/>
                  </a:lnTo>
                  <a:lnTo>
                    <a:pt x="627887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430274" y="4440424"/>
            <a:ext cx="200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latin typeface="Arial" panose="020B0604020202020204"/>
                <a:cs typeface="Arial" panose="020B0604020202020204"/>
              </a:rPr>
              <a:t>X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9782" y="4449548"/>
            <a:ext cx="2019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300" b="1" spc="-1695" baseline="1000" dirty="0">
                <a:latin typeface="Arial" panose="020B0604020202020204"/>
                <a:cs typeface="Arial" panose="020B0604020202020204"/>
              </a:rPr>
              <a:t>A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24939" y="4419600"/>
            <a:ext cx="210820" cy="419100"/>
          </a:xfrm>
          <a:custGeom>
            <a:avLst/>
            <a:gdLst/>
            <a:ahLst/>
            <a:cxnLst/>
            <a:rect l="l" t="t" r="r" b="b"/>
            <a:pathLst>
              <a:path w="210819" h="419100">
                <a:moveTo>
                  <a:pt x="0" y="419100"/>
                </a:moveTo>
                <a:lnTo>
                  <a:pt x="0" y="0"/>
                </a:lnTo>
              </a:path>
              <a:path w="210819" h="419100">
                <a:moveTo>
                  <a:pt x="210312" y="419100"/>
                </a:moveTo>
                <a:lnTo>
                  <a:pt x="210312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99345" y="1737449"/>
            <a:ext cx="9465945" cy="243776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683260" indent="-670560">
              <a:lnSpc>
                <a:spcPct val="100000"/>
              </a:lnSpc>
              <a:spcBef>
                <a:spcPts val="78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683260" algn="l"/>
              </a:tabLst>
            </a:pPr>
            <a:r>
              <a:rPr sz="2400" spc="-135" dirty="0">
                <a:latin typeface="Times New Roman" panose="02020603050405020304"/>
                <a:cs typeface="Times New Roman" panose="02020603050405020304"/>
              </a:rPr>
              <a:t>Segment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list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sorted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addresses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83260" indent="-670560">
              <a:lnSpc>
                <a:spcPct val="100000"/>
              </a:lnSpc>
              <a:spcBef>
                <a:spcPts val="680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683260" algn="l"/>
              </a:tabLst>
            </a:pP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Sorting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helps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updating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list,</a:t>
            </a: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9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swapped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out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exits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83260" indent="-670560">
              <a:lnSpc>
                <a:spcPct val="100000"/>
              </a:lnSpc>
              <a:spcBef>
                <a:spcPts val="685"/>
              </a:spcBef>
              <a:buClr>
                <a:srgbClr val="D34816"/>
              </a:buClr>
              <a:buSzPct val="85000"/>
              <a:buFont typeface="Webdings" panose="05030102010509060703"/>
              <a:buChar char="●"/>
              <a:tabLst>
                <a:tab pos="683260" algn="l"/>
              </a:tabLst>
            </a:pPr>
            <a:r>
              <a:rPr sz="2400" spc="-3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process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usually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has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two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neighbors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365"/>
              </a:spcBef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5744210">
              <a:lnSpc>
                <a:spcPct val="100000"/>
              </a:lnSpc>
              <a:spcBef>
                <a:spcPts val="5"/>
              </a:spcBef>
            </a:pPr>
            <a:r>
              <a:rPr sz="26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Updating</a:t>
            </a:r>
            <a:r>
              <a:rPr sz="2650" spc="-4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50" spc="-85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list</a:t>
            </a:r>
            <a:r>
              <a:rPr sz="2650" spc="-9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10" dirty="0">
                <a:solidFill>
                  <a:srgbClr val="CC3300"/>
                </a:solidFill>
                <a:latin typeface="Arial" panose="020B0604020202020204"/>
                <a:cs typeface="Arial" panose="020B0604020202020204"/>
              </a:rPr>
              <a:t>requires</a:t>
            </a:r>
            <a:endParaRPr sz="2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18261" y="4458163"/>
            <a:ext cx="42672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  <a:tabLst>
                <a:tab pos="348615" algn="l"/>
              </a:tabLst>
            </a:pP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spc="-13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588067" y="4368482"/>
            <a:ext cx="2970530" cy="460375"/>
            <a:chOff x="3588067" y="4368482"/>
            <a:chExt cx="2970530" cy="460375"/>
          </a:xfrm>
        </p:grpSpPr>
        <p:sp>
          <p:nvSpPr>
            <p:cNvPr id="24" name="object 24"/>
            <p:cNvSpPr/>
            <p:nvPr/>
          </p:nvSpPr>
          <p:spPr>
            <a:xfrm>
              <a:off x="4652771" y="4389120"/>
              <a:ext cx="628015" cy="419100"/>
            </a:xfrm>
            <a:custGeom>
              <a:avLst/>
              <a:gdLst/>
              <a:ahLst/>
              <a:cxnLst/>
              <a:rect l="l" t="t" r="r" b="b"/>
              <a:pathLst>
                <a:path w="628014" h="419100">
                  <a:moveTo>
                    <a:pt x="0" y="419100"/>
                  </a:moveTo>
                  <a:lnTo>
                    <a:pt x="627887" y="419100"/>
                  </a:lnTo>
                  <a:lnTo>
                    <a:pt x="627887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B8D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604259" y="4389120"/>
              <a:ext cx="2933700" cy="419100"/>
            </a:xfrm>
            <a:custGeom>
              <a:avLst/>
              <a:gdLst/>
              <a:ahLst/>
              <a:cxnLst/>
              <a:rect l="l" t="t" r="r" b="b"/>
              <a:pathLst>
                <a:path w="2933700" h="419100">
                  <a:moveTo>
                    <a:pt x="0" y="0"/>
                  </a:moveTo>
                  <a:lnTo>
                    <a:pt x="2933700" y="0"/>
                  </a:lnTo>
                  <a:lnTo>
                    <a:pt x="29337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ln w="21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604259" y="4389120"/>
              <a:ext cx="1049020" cy="419100"/>
            </a:xfrm>
            <a:custGeom>
              <a:avLst/>
              <a:gdLst/>
              <a:ahLst/>
              <a:cxnLst/>
              <a:rect l="l" t="t" r="r" b="b"/>
              <a:pathLst>
                <a:path w="1049020" h="419100">
                  <a:moveTo>
                    <a:pt x="1048512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1048512" y="0"/>
                  </a:lnTo>
                  <a:lnTo>
                    <a:pt x="1048512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604259" y="4389120"/>
              <a:ext cx="1049020" cy="419100"/>
            </a:xfrm>
            <a:custGeom>
              <a:avLst/>
              <a:gdLst/>
              <a:ahLst/>
              <a:cxnLst/>
              <a:rect l="l" t="t" r="r" b="b"/>
              <a:pathLst>
                <a:path w="1049020" h="419100">
                  <a:moveTo>
                    <a:pt x="0" y="0"/>
                  </a:moveTo>
                  <a:lnTo>
                    <a:pt x="1048512" y="0"/>
                  </a:lnTo>
                  <a:lnTo>
                    <a:pt x="1048512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280659" y="4389120"/>
              <a:ext cx="1257300" cy="419100"/>
            </a:xfrm>
            <a:custGeom>
              <a:avLst/>
              <a:gdLst/>
              <a:ahLst/>
              <a:cxnLst/>
              <a:rect l="l" t="t" r="r" b="b"/>
              <a:pathLst>
                <a:path w="1257300" h="419100">
                  <a:moveTo>
                    <a:pt x="1257300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280659" y="4389120"/>
              <a:ext cx="1257300" cy="419100"/>
            </a:xfrm>
            <a:custGeom>
              <a:avLst/>
              <a:gdLst/>
              <a:ahLst/>
              <a:cxnLst/>
              <a:rect l="l" t="t" r="r" b="b"/>
              <a:pathLst>
                <a:path w="1257300" h="419100">
                  <a:moveTo>
                    <a:pt x="0" y="0"/>
                  </a:moveTo>
                  <a:lnTo>
                    <a:pt x="1257300" y="0"/>
                  </a:lnTo>
                  <a:lnTo>
                    <a:pt x="12573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795249" y="4411419"/>
            <a:ext cx="22732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latin typeface="Arial" panose="020B0604020202020204"/>
                <a:cs typeface="Arial" panose="020B0604020202020204"/>
              </a:rPr>
              <a:t>B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814571" y="4389120"/>
            <a:ext cx="2514600" cy="419100"/>
          </a:xfrm>
          <a:custGeom>
            <a:avLst/>
            <a:gdLst/>
            <a:ahLst/>
            <a:cxnLst/>
            <a:rect l="l" t="t" r="r" b="b"/>
            <a:pathLst>
              <a:path w="2514600" h="419100">
                <a:moveTo>
                  <a:pt x="0" y="419100"/>
                </a:moveTo>
                <a:lnTo>
                  <a:pt x="0" y="0"/>
                </a:lnTo>
              </a:path>
              <a:path w="2514600" h="419100">
                <a:moveTo>
                  <a:pt x="208787" y="419100"/>
                </a:moveTo>
                <a:lnTo>
                  <a:pt x="208787" y="0"/>
                </a:lnTo>
              </a:path>
              <a:path w="2514600" h="419100">
                <a:moveTo>
                  <a:pt x="419100" y="419100"/>
                </a:moveTo>
                <a:lnTo>
                  <a:pt x="419100" y="0"/>
                </a:lnTo>
              </a:path>
              <a:path w="2514600" h="419100">
                <a:moveTo>
                  <a:pt x="627887" y="419100"/>
                </a:moveTo>
                <a:lnTo>
                  <a:pt x="627887" y="0"/>
                </a:lnTo>
              </a:path>
              <a:path w="2514600" h="419100">
                <a:moveTo>
                  <a:pt x="838200" y="419100"/>
                </a:moveTo>
                <a:lnTo>
                  <a:pt x="838200" y="0"/>
                </a:lnTo>
              </a:path>
              <a:path w="2514600" h="419100">
                <a:moveTo>
                  <a:pt x="1466087" y="419100"/>
                </a:moveTo>
                <a:lnTo>
                  <a:pt x="1466087" y="0"/>
                </a:lnTo>
              </a:path>
              <a:path w="2514600" h="419100">
                <a:moveTo>
                  <a:pt x="1676400" y="419100"/>
                </a:moveTo>
                <a:lnTo>
                  <a:pt x="1676400" y="0"/>
                </a:lnTo>
              </a:path>
              <a:path w="2514600" h="419100">
                <a:moveTo>
                  <a:pt x="1885187" y="419100"/>
                </a:moveTo>
                <a:lnTo>
                  <a:pt x="1885187" y="0"/>
                </a:lnTo>
              </a:path>
              <a:path w="2514600" h="419100">
                <a:moveTo>
                  <a:pt x="2095500" y="419100"/>
                </a:moveTo>
                <a:lnTo>
                  <a:pt x="2095500" y="0"/>
                </a:lnTo>
              </a:path>
              <a:path w="2514600" h="419100">
                <a:moveTo>
                  <a:pt x="2304287" y="419100"/>
                </a:moveTo>
                <a:lnTo>
                  <a:pt x="2304287" y="0"/>
                </a:lnTo>
              </a:path>
              <a:path w="2514600" h="419100">
                <a:moveTo>
                  <a:pt x="2514600" y="419100"/>
                </a:moveTo>
                <a:lnTo>
                  <a:pt x="2514600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026346" y="4419044"/>
            <a:ext cx="2025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300" b="1" spc="-1695" baseline="1000" dirty="0">
                <a:latin typeface="Arial" panose="020B0604020202020204"/>
                <a:cs typeface="Arial" panose="020B0604020202020204"/>
              </a:rPr>
              <a:t>A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861559" y="4389120"/>
            <a:ext cx="210820" cy="419100"/>
          </a:xfrm>
          <a:custGeom>
            <a:avLst/>
            <a:gdLst/>
            <a:ahLst/>
            <a:cxnLst/>
            <a:rect l="l" t="t" r="r" b="b"/>
            <a:pathLst>
              <a:path w="210820" h="419100">
                <a:moveTo>
                  <a:pt x="0" y="419100"/>
                </a:moveTo>
                <a:lnTo>
                  <a:pt x="0" y="0"/>
                </a:lnTo>
              </a:path>
              <a:path w="210820" h="419100">
                <a:moveTo>
                  <a:pt x="210312" y="419100"/>
                </a:moveTo>
                <a:lnTo>
                  <a:pt x="210312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131372" y="4332193"/>
            <a:ext cx="38354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spc="2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➔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40045" y="4446552"/>
            <a:ext cx="196151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Replace</a:t>
            </a:r>
            <a:r>
              <a:rPr sz="2200" spc="-3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200" spc="-7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200" spc="-3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H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81698" y="5195834"/>
            <a:ext cx="42672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  <a:tabLst>
                <a:tab pos="348615" algn="l"/>
              </a:tabLst>
            </a:pP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spc="-13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51447" y="5106098"/>
            <a:ext cx="2961005" cy="460375"/>
            <a:chOff x="151447" y="5106098"/>
            <a:chExt cx="2961005" cy="460375"/>
          </a:xfrm>
        </p:grpSpPr>
        <p:sp>
          <p:nvSpPr>
            <p:cNvPr id="38" name="object 38"/>
            <p:cNvSpPr/>
            <p:nvPr/>
          </p:nvSpPr>
          <p:spPr>
            <a:xfrm>
              <a:off x="1844039" y="5126735"/>
              <a:ext cx="1257300" cy="419100"/>
            </a:xfrm>
            <a:custGeom>
              <a:avLst/>
              <a:gdLst/>
              <a:ahLst/>
              <a:cxnLst/>
              <a:rect l="l" t="t" r="r" b="b"/>
              <a:pathLst>
                <a:path w="1257300" h="419100">
                  <a:moveTo>
                    <a:pt x="0" y="419100"/>
                  </a:moveTo>
                  <a:lnTo>
                    <a:pt x="1257300" y="419100"/>
                  </a:lnTo>
                  <a:lnTo>
                    <a:pt x="1257300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B8D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67640" y="5126735"/>
              <a:ext cx="2933700" cy="419100"/>
            </a:xfrm>
            <a:custGeom>
              <a:avLst/>
              <a:gdLst/>
              <a:ahLst/>
              <a:cxnLst/>
              <a:rect l="l" t="t" r="r" b="b"/>
              <a:pathLst>
                <a:path w="2933700" h="419100">
                  <a:moveTo>
                    <a:pt x="0" y="0"/>
                  </a:moveTo>
                  <a:lnTo>
                    <a:pt x="2933700" y="0"/>
                  </a:lnTo>
                  <a:lnTo>
                    <a:pt x="29337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ln w="21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67640" y="5126735"/>
              <a:ext cx="1049020" cy="419100"/>
            </a:xfrm>
            <a:custGeom>
              <a:avLst/>
              <a:gdLst/>
              <a:ahLst/>
              <a:cxnLst/>
              <a:rect l="l" t="t" r="r" b="b"/>
              <a:pathLst>
                <a:path w="1049020" h="419100">
                  <a:moveTo>
                    <a:pt x="1048512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1048512" y="0"/>
                  </a:lnTo>
                  <a:lnTo>
                    <a:pt x="1048512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67640" y="5126735"/>
              <a:ext cx="1049020" cy="419100"/>
            </a:xfrm>
            <a:custGeom>
              <a:avLst/>
              <a:gdLst/>
              <a:ahLst/>
              <a:cxnLst/>
              <a:rect l="l" t="t" r="r" b="b"/>
              <a:pathLst>
                <a:path w="1049020" h="419100">
                  <a:moveTo>
                    <a:pt x="0" y="0"/>
                  </a:moveTo>
                  <a:lnTo>
                    <a:pt x="1048512" y="0"/>
                  </a:lnTo>
                  <a:lnTo>
                    <a:pt x="1048512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ln w="320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77951" y="5126735"/>
              <a:ext cx="628015" cy="419100"/>
            </a:xfrm>
            <a:custGeom>
              <a:avLst/>
              <a:gdLst/>
              <a:ahLst/>
              <a:cxnLst/>
              <a:rect l="l" t="t" r="r" b="b"/>
              <a:pathLst>
                <a:path w="628015" h="419100">
                  <a:moveTo>
                    <a:pt x="0" y="419100"/>
                  </a:moveTo>
                  <a:lnTo>
                    <a:pt x="0" y="0"/>
                  </a:lnTo>
                </a:path>
                <a:path w="628015" h="419100">
                  <a:moveTo>
                    <a:pt x="208788" y="419100"/>
                  </a:moveTo>
                  <a:lnTo>
                    <a:pt x="208788" y="0"/>
                  </a:lnTo>
                </a:path>
                <a:path w="628015" h="419100">
                  <a:moveTo>
                    <a:pt x="419100" y="419100"/>
                  </a:moveTo>
                  <a:lnTo>
                    <a:pt x="419100" y="0"/>
                  </a:lnTo>
                </a:path>
                <a:path w="628015" h="419100">
                  <a:moveTo>
                    <a:pt x="627887" y="419100"/>
                  </a:moveTo>
                  <a:lnTo>
                    <a:pt x="627887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213485" y="5126735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ln w="53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846707" y="5126735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ln w="53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054352" y="5126735"/>
              <a:ext cx="838200" cy="419100"/>
            </a:xfrm>
            <a:custGeom>
              <a:avLst/>
              <a:gdLst/>
              <a:ahLst/>
              <a:cxnLst/>
              <a:rect l="l" t="t" r="r" b="b"/>
              <a:pathLst>
                <a:path w="838200" h="419100">
                  <a:moveTo>
                    <a:pt x="0" y="419100"/>
                  </a:moveTo>
                  <a:lnTo>
                    <a:pt x="0" y="0"/>
                  </a:lnTo>
                </a:path>
                <a:path w="838200" h="419100">
                  <a:moveTo>
                    <a:pt x="208787" y="419100"/>
                  </a:moveTo>
                  <a:lnTo>
                    <a:pt x="208787" y="0"/>
                  </a:lnTo>
                </a:path>
                <a:path w="838200" h="419100">
                  <a:moveTo>
                    <a:pt x="419100" y="419100"/>
                  </a:moveTo>
                  <a:lnTo>
                    <a:pt x="419100" y="0"/>
                  </a:lnTo>
                </a:path>
                <a:path w="838200" h="419100">
                  <a:moveTo>
                    <a:pt x="627888" y="419100"/>
                  </a:moveTo>
                  <a:lnTo>
                    <a:pt x="627888" y="0"/>
                  </a:lnTo>
                </a:path>
                <a:path w="838200" h="419100">
                  <a:moveTo>
                    <a:pt x="838200" y="419100"/>
                  </a:moveTo>
                  <a:lnTo>
                    <a:pt x="838200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216151" y="5126735"/>
              <a:ext cx="628015" cy="419100"/>
            </a:xfrm>
            <a:custGeom>
              <a:avLst/>
              <a:gdLst/>
              <a:ahLst/>
              <a:cxnLst/>
              <a:rect l="l" t="t" r="r" b="b"/>
              <a:pathLst>
                <a:path w="628014" h="419100">
                  <a:moveTo>
                    <a:pt x="627887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627887" y="0"/>
                  </a:lnTo>
                  <a:lnTo>
                    <a:pt x="627887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216151" y="5126735"/>
              <a:ext cx="628015" cy="419100"/>
            </a:xfrm>
            <a:custGeom>
              <a:avLst/>
              <a:gdLst/>
              <a:ahLst/>
              <a:cxnLst/>
              <a:rect l="l" t="t" r="r" b="b"/>
              <a:pathLst>
                <a:path w="628014" h="419100">
                  <a:moveTo>
                    <a:pt x="0" y="0"/>
                  </a:moveTo>
                  <a:lnTo>
                    <a:pt x="627887" y="0"/>
                  </a:lnTo>
                  <a:lnTo>
                    <a:pt x="627887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1430274" y="5147591"/>
            <a:ext cx="200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latin typeface="Arial" panose="020B0604020202020204"/>
                <a:cs typeface="Arial" panose="020B0604020202020204"/>
              </a:rPr>
              <a:t>X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9782" y="5156715"/>
            <a:ext cx="2019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300" b="1" spc="-1695" baseline="1000" dirty="0">
                <a:latin typeface="Arial" panose="020B0604020202020204"/>
                <a:cs typeface="Arial" panose="020B0604020202020204"/>
              </a:rPr>
              <a:t>A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424939" y="5126735"/>
            <a:ext cx="210820" cy="419100"/>
          </a:xfrm>
          <a:custGeom>
            <a:avLst/>
            <a:gdLst/>
            <a:ahLst/>
            <a:cxnLst/>
            <a:rect l="l" t="t" r="r" b="b"/>
            <a:pathLst>
              <a:path w="210819" h="419100">
                <a:moveTo>
                  <a:pt x="0" y="419100"/>
                </a:moveTo>
                <a:lnTo>
                  <a:pt x="0" y="0"/>
                </a:lnTo>
              </a:path>
              <a:path w="210819" h="419100">
                <a:moveTo>
                  <a:pt x="210312" y="419100"/>
                </a:moveTo>
                <a:lnTo>
                  <a:pt x="210312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4718261" y="5165330"/>
            <a:ext cx="42672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  <a:tabLst>
                <a:tab pos="348615" algn="l"/>
              </a:tabLst>
            </a:pP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spc="-13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604259" y="5097779"/>
            <a:ext cx="1049020" cy="419100"/>
          </a:xfrm>
          <a:custGeom>
            <a:avLst/>
            <a:gdLst/>
            <a:ahLst/>
            <a:cxnLst/>
            <a:rect l="l" t="t" r="r" b="b"/>
            <a:pathLst>
              <a:path w="1049020" h="419100">
                <a:moveTo>
                  <a:pt x="1048512" y="419100"/>
                </a:moveTo>
                <a:lnTo>
                  <a:pt x="0" y="419100"/>
                </a:lnTo>
                <a:lnTo>
                  <a:pt x="0" y="0"/>
                </a:lnTo>
                <a:lnTo>
                  <a:pt x="1048512" y="0"/>
                </a:lnTo>
                <a:lnTo>
                  <a:pt x="1048512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3588258" y="5081778"/>
          <a:ext cx="3042285" cy="41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185"/>
                <a:gridCol w="208915"/>
                <a:gridCol w="210184"/>
                <a:gridCol w="208915"/>
                <a:gridCol w="210184"/>
                <a:gridCol w="208915"/>
                <a:gridCol w="210184"/>
                <a:gridCol w="208915"/>
                <a:gridCol w="210185"/>
                <a:gridCol w="208914"/>
                <a:gridCol w="210185"/>
                <a:gridCol w="208914"/>
                <a:gridCol w="210185"/>
                <a:gridCol w="208914"/>
              </a:tblGrid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3300" b="1" spc="-1695" baseline="100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2200" spc="-30" dirty="0"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</a:tr>
            </a:tbl>
          </a:graphicData>
        </a:graphic>
      </p:graphicFrame>
      <p:sp>
        <p:nvSpPr>
          <p:cNvPr id="54" name="object 54"/>
          <p:cNvSpPr txBox="1"/>
          <p:nvPr/>
        </p:nvSpPr>
        <p:spPr>
          <a:xfrm>
            <a:off x="6700418" y="5103334"/>
            <a:ext cx="29584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Two</a:t>
            </a:r>
            <a:r>
              <a:rPr sz="2200" spc="-8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entries</a:t>
            </a:r>
            <a:r>
              <a:rPr sz="2200" spc="-9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200" spc="-1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merged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81698" y="5866369"/>
            <a:ext cx="42672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  <a:tabLst>
                <a:tab pos="348615" algn="l"/>
              </a:tabLst>
            </a:pP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spc="-13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56845" y="5776658"/>
            <a:ext cx="2965450" cy="460375"/>
            <a:chOff x="156845" y="5776658"/>
            <a:chExt cx="2965450" cy="460375"/>
          </a:xfrm>
        </p:grpSpPr>
        <p:sp>
          <p:nvSpPr>
            <p:cNvPr id="57" name="object 57"/>
            <p:cNvSpPr/>
            <p:nvPr/>
          </p:nvSpPr>
          <p:spPr>
            <a:xfrm>
              <a:off x="167640" y="5797296"/>
              <a:ext cx="1049020" cy="419100"/>
            </a:xfrm>
            <a:custGeom>
              <a:avLst/>
              <a:gdLst/>
              <a:ahLst/>
              <a:cxnLst/>
              <a:rect l="l" t="t" r="r" b="b"/>
              <a:pathLst>
                <a:path w="1049020" h="419100">
                  <a:moveTo>
                    <a:pt x="0" y="419100"/>
                  </a:moveTo>
                  <a:lnTo>
                    <a:pt x="1048512" y="419100"/>
                  </a:lnTo>
                  <a:lnTo>
                    <a:pt x="1048512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B8D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67640" y="5797296"/>
              <a:ext cx="2933700" cy="419100"/>
            </a:xfrm>
            <a:custGeom>
              <a:avLst/>
              <a:gdLst/>
              <a:ahLst/>
              <a:cxnLst/>
              <a:rect l="l" t="t" r="r" b="b"/>
              <a:pathLst>
                <a:path w="2933700" h="419100">
                  <a:moveTo>
                    <a:pt x="0" y="0"/>
                  </a:moveTo>
                  <a:lnTo>
                    <a:pt x="2933700" y="0"/>
                  </a:lnTo>
                  <a:lnTo>
                    <a:pt x="29337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ln w="21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844040" y="5797296"/>
              <a:ext cx="1257300" cy="419100"/>
            </a:xfrm>
            <a:custGeom>
              <a:avLst/>
              <a:gdLst/>
              <a:ahLst/>
              <a:cxnLst/>
              <a:rect l="l" t="t" r="r" b="b"/>
              <a:pathLst>
                <a:path w="1257300" h="419100">
                  <a:moveTo>
                    <a:pt x="1257300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1257300" y="0"/>
                  </a:lnTo>
                  <a:lnTo>
                    <a:pt x="1257300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844040" y="5797296"/>
              <a:ext cx="1257300" cy="419100"/>
            </a:xfrm>
            <a:custGeom>
              <a:avLst/>
              <a:gdLst/>
              <a:ahLst/>
              <a:cxnLst/>
              <a:rect l="l" t="t" r="r" b="b"/>
              <a:pathLst>
                <a:path w="1257300" h="419100">
                  <a:moveTo>
                    <a:pt x="0" y="0"/>
                  </a:moveTo>
                  <a:lnTo>
                    <a:pt x="1257300" y="0"/>
                  </a:lnTo>
                  <a:lnTo>
                    <a:pt x="12573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2358686" y="5818127"/>
            <a:ext cx="22732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latin typeface="Arial" panose="020B0604020202020204"/>
                <a:cs typeface="Arial" panose="020B0604020202020204"/>
              </a:rPr>
              <a:t>B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72554" y="5776658"/>
            <a:ext cx="2525395" cy="462280"/>
            <a:chOff x="372554" y="5776658"/>
            <a:chExt cx="2525395" cy="462280"/>
          </a:xfrm>
        </p:grpSpPr>
        <p:sp>
          <p:nvSpPr>
            <p:cNvPr id="63" name="object 63"/>
            <p:cNvSpPr/>
            <p:nvPr/>
          </p:nvSpPr>
          <p:spPr>
            <a:xfrm>
              <a:off x="377951" y="5797296"/>
              <a:ext cx="628015" cy="436245"/>
            </a:xfrm>
            <a:custGeom>
              <a:avLst/>
              <a:gdLst/>
              <a:ahLst/>
              <a:cxnLst/>
              <a:rect l="l" t="t" r="r" b="b"/>
              <a:pathLst>
                <a:path w="628015" h="436245">
                  <a:moveTo>
                    <a:pt x="0" y="435863"/>
                  </a:moveTo>
                  <a:lnTo>
                    <a:pt x="0" y="16763"/>
                  </a:lnTo>
                </a:path>
                <a:path w="628015" h="436245">
                  <a:moveTo>
                    <a:pt x="208788" y="435863"/>
                  </a:moveTo>
                  <a:lnTo>
                    <a:pt x="208788" y="16763"/>
                  </a:lnTo>
                </a:path>
                <a:path w="628015" h="436245">
                  <a:moveTo>
                    <a:pt x="419100" y="419100"/>
                  </a:moveTo>
                  <a:lnTo>
                    <a:pt x="419100" y="0"/>
                  </a:lnTo>
                </a:path>
                <a:path w="628015" h="436245">
                  <a:moveTo>
                    <a:pt x="627887" y="419100"/>
                  </a:moveTo>
                  <a:lnTo>
                    <a:pt x="627887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213484" y="5797296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ln w="53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846706" y="5797296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ln w="53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054352" y="5797296"/>
              <a:ext cx="838200" cy="419100"/>
            </a:xfrm>
            <a:custGeom>
              <a:avLst/>
              <a:gdLst/>
              <a:ahLst/>
              <a:cxnLst/>
              <a:rect l="l" t="t" r="r" b="b"/>
              <a:pathLst>
                <a:path w="838200" h="419100">
                  <a:moveTo>
                    <a:pt x="0" y="419100"/>
                  </a:moveTo>
                  <a:lnTo>
                    <a:pt x="0" y="0"/>
                  </a:lnTo>
                </a:path>
                <a:path w="838200" h="419100">
                  <a:moveTo>
                    <a:pt x="208787" y="419100"/>
                  </a:moveTo>
                  <a:lnTo>
                    <a:pt x="208787" y="0"/>
                  </a:lnTo>
                </a:path>
                <a:path w="838200" h="419100">
                  <a:moveTo>
                    <a:pt x="419100" y="419100"/>
                  </a:moveTo>
                  <a:lnTo>
                    <a:pt x="419100" y="0"/>
                  </a:lnTo>
                </a:path>
                <a:path w="838200" h="419100">
                  <a:moveTo>
                    <a:pt x="627888" y="419100"/>
                  </a:moveTo>
                  <a:lnTo>
                    <a:pt x="627888" y="0"/>
                  </a:lnTo>
                </a:path>
                <a:path w="838200" h="419100">
                  <a:moveTo>
                    <a:pt x="838200" y="419100"/>
                  </a:moveTo>
                  <a:lnTo>
                    <a:pt x="838200" y="0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216152" y="5797296"/>
              <a:ext cx="628015" cy="419100"/>
            </a:xfrm>
            <a:custGeom>
              <a:avLst/>
              <a:gdLst/>
              <a:ahLst/>
              <a:cxnLst/>
              <a:rect l="l" t="t" r="r" b="b"/>
              <a:pathLst>
                <a:path w="628014" h="419100">
                  <a:moveTo>
                    <a:pt x="627887" y="419100"/>
                  </a:moveTo>
                  <a:lnTo>
                    <a:pt x="0" y="419100"/>
                  </a:lnTo>
                  <a:lnTo>
                    <a:pt x="0" y="0"/>
                  </a:lnTo>
                  <a:lnTo>
                    <a:pt x="627887" y="0"/>
                  </a:lnTo>
                  <a:lnTo>
                    <a:pt x="627887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216152" y="5797296"/>
              <a:ext cx="628015" cy="419100"/>
            </a:xfrm>
            <a:custGeom>
              <a:avLst/>
              <a:gdLst/>
              <a:ahLst/>
              <a:cxnLst/>
              <a:rect l="l" t="t" r="r" b="b"/>
              <a:pathLst>
                <a:path w="628014" h="419100">
                  <a:moveTo>
                    <a:pt x="0" y="0"/>
                  </a:moveTo>
                  <a:lnTo>
                    <a:pt x="627887" y="0"/>
                  </a:lnTo>
                  <a:lnTo>
                    <a:pt x="627887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1430274" y="5818127"/>
            <a:ext cx="200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latin typeface="Arial" panose="020B0604020202020204"/>
                <a:cs typeface="Arial" panose="020B0604020202020204"/>
              </a:rPr>
              <a:t>X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92073" y="5807964"/>
            <a:ext cx="200025" cy="398145"/>
          </a:xfrm>
          <a:prstGeom prst="rect">
            <a:avLst/>
          </a:prstGeom>
          <a:solidFill>
            <a:srgbClr val="B8D4FF"/>
          </a:solidFill>
        </p:spPr>
        <p:txBody>
          <a:bodyPr vert="horz" wrap="square" lIns="0" tIns="31115" rIns="0" bIns="0" rtlCol="0">
            <a:spAutoFit/>
          </a:bodyPr>
          <a:lstStyle/>
          <a:p>
            <a:pPr marL="61595">
              <a:lnSpc>
                <a:spcPct val="100000"/>
              </a:lnSpc>
              <a:spcBef>
                <a:spcPts val="245"/>
              </a:spcBef>
            </a:pPr>
            <a:r>
              <a:rPr sz="2200" spc="-50" dirty="0"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02386" y="5807964"/>
            <a:ext cx="198120" cy="398145"/>
          </a:xfrm>
          <a:prstGeom prst="rect">
            <a:avLst/>
          </a:prstGeom>
          <a:solidFill>
            <a:srgbClr val="B8D4FF"/>
          </a:solidFill>
        </p:spPr>
        <p:txBody>
          <a:bodyPr vert="horz" wrap="square" lIns="0" tIns="3111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245"/>
              </a:spcBef>
            </a:pPr>
            <a:r>
              <a:rPr sz="22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011174" y="5807964"/>
            <a:ext cx="184785" cy="398145"/>
          </a:xfrm>
          <a:prstGeom prst="rect">
            <a:avLst/>
          </a:prstGeom>
          <a:solidFill>
            <a:srgbClr val="B8D4FF"/>
          </a:solidFill>
        </p:spPr>
        <p:txBody>
          <a:bodyPr vert="horz" wrap="square" lIns="0" tIns="31115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245"/>
              </a:spcBef>
            </a:pPr>
            <a:r>
              <a:rPr sz="22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424939" y="5797296"/>
            <a:ext cx="210820" cy="419100"/>
          </a:xfrm>
          <a:custGeom>
            <a:avLst/>
            <a:gdLst/>
            <a:ahLst/>
            <a:cxnLst/>
            <a:rect l="l" t="t" r="r" b="b"/>
            <a:pathLst>
              <a:path w="210819" h="419100">
                <a:moveTo>
                  <a:pt x="0" y="419100"/>
                </a:moveTo>
                <a:lnTo>
                  <a:pt x="0" y="0"/>
                </a:lnTo>
              </a:path>
              <a:path w="210819" h="419100">
                <a:moveTo>
                  <a:pt x="210312" y="419100"/>
                </a:moveTo>
                <a:lnTo>
                  <a:pt x="210312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4718261" y="5835866"/>
            <a:ext cx="42672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  <a:tabLst>
                <a:tab pos="348615" algn="l"/>
              </a:tabLst>
            </a:pP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spc="-13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5280659" y="5768340"/>
            <a:ext cx="1257300" cy="419100"/>
          </a:xfrm>
          <a:custGeom>
            <a:avLst/>
            <a:gdLst/>
            <a:ahLst/>
            <a:cxnLst/>
            <a:rect l="l" t="t" r="r" b="b"/>
            <a:pathLst>
              <a:path w="1257300" h="419100">
                <a:moveTo>
                  <a:pt x="1257300" y="419100"/>
                </a:moveTo>
                <a:lnTo>
                  <a:pt x="0" y="419100"/>
                </a:lnTo>
                <a:lnTo>
                  <a:pt x="0" y="0"/>
                </a:lnTo>
                <a:lnTo>
                  <a:pt x="1257300" y="0"/>
                </a:lnTo>
                <a:lnTo>
                  <a:pt x="1257300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6" name="object 76"/>
          <p:cNvGraphicFramePr>
            <a:graphicFrameLocks noGrp="1"/>
          </p:cNvGraphicFramePr>
          <p:nvPr/>
        </p:nvGraphicFramePr>
        <p:xfrm>
          <a:off x="3583685" y="5747765"/>
          <a:ext cx="3152140" cy="41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185"/>
                <a:gridCol w="208915"/>
                <a:gridCol w="210184"/>
                <a:gridCol w="208915"/>
                <a:gridCol w="210184"/>
                <a:gridCol w="208915"/>
                <a:gridCol w="210184"/>
                <a:gridCol w="208915"/>
                <a:gridCol w="210185"/>
                <a:gridCol w="208914"/>
                <a:gridCol w="311150"/>
                <a:gridCol w="208914"/>
                <a:gridCol w="210185"/>
                <a:gridCol w="208914"/>
              </a:tblGrid>
              <a:tr h="41910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200" b="1" spc="-50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7" name="object 77"/>
          <p:cNvSpPr txBox="1"/>
          <p:nvPr/>
        </p:nvSpPr>
        <p:spPr>
          <a:xfrm>
            <a:off x="3131372" y="5039425"/>
            <a:ext cx="383540" cy="1098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spc="2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➔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650" spc="2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➔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700418" y="5772372"/>
            <a:ext cx="29584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Two</a:t>
            </a:r>
            <a:r>
              <a:rPr sz="2200" spc="-8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entries</a:t>
            </a:r>
            <a:r>
              <a:rPr sz="2200" spc="-9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200" spc="-1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merged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281698" y="6584158"/>
            <a:ext cx="42672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  <a:tabLst>
                <a:tab pos="348615" algn="l"/>
              </a:tabLst>
            </a:pP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spc="-13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216152" y="6515100"/>
            <a:ext cx="628015" cy="419100"/>
          </a:xfrm>
          <a:custGeom>
            <a:avLst/>
            <a:gdLst/>
            <a:ahLst/>
            <a:cxnLst/>
            <a:rect l="l" t="t" r="r" b="b"/>
            <a:pathLst>
              <a:path w="628014" h="419100">
                <a:moveTo>
                  <a:pt x="627887" y="419100"/>
                </a:moveTo>
                <a:lnTo>
                  <a:pt x="0" y="419100"/>
                </a:lnTo>
                <a:lnTo>
                  <a:pt x="0" y="0"/>
                </a:lnTo>
                <a:lnTo>
                  <a:pt x="627887" y="0"/>
                </a:lnTo>
                <a:lnTo>
                  <a:pt x="627887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1" name="object 81"/>
          <p:cNvGraphicFramePr>
            <a:graphicFrameLocks noGrp="1"/>
          </p:cNvGraphicFramePr>
          <p:nvPr/>
        </p:nvGraphicFramePr>
        <p:xfrm>
          <a:off x="156971" y="6494526"/>
          <a:ext cx="3031490" cy="41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185"/>
                <a:gridCol w="208915"/>
                <a:gridCol w="210184"/>
                <a:gridCol w="208915"/>
                <a:gridCol w="210184"/>
                <a:gridCol w="208915"/>
                <a:gridCol w="210184"/>
                <a:gridCol w="208915"/>
                <a:gridCol w="210185"/>
                <a:gridCol w="208914"/>
                <a:gridCol w="210185"/>
                <a:gridCol w="208914"/>
                <a:gridCol w="210185"/>
                <a:gridCol w="208914"/>
              </a:tblGrid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200" b="1" spc="-50" dirty="0">
                          <a:latin typeface="Arial" panose="020B0604020202020204"/>
                          <a:cs typeface="Arial" panose="020B0604020202020204"/>
                        </a:rPr>
                        <a:t>X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</a:tr>
            </a:tbl>
          </a:graphicData>
        </a:graphic>
      </p:graphicFrame>
      <p:sp>
        <p:nvSpPr>
          <p:cNvPr id="82" name="object 82"/>
          <p:cNvSpPr txBox="1"/>
          <p:nvPr/>
        </p:nvSpPr>
        <p:spPr>
          <a:xfrm>
            <a:off x="4718261" y="6553655"/>
            <a:ext cx="42672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0"/>
              </a:lnSpc>
              <a:tabLst>
                <a:tab pos="348615" algn="l"/>
              </a:tabLst>
            </a:pP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spc="-13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20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200" spc="-50" dirty="0">
                <a:solidFill>
                  <a:srgbClr val="33CCF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83" name="object 83"/>
          <p:cNvGraphicFramePr>
            <a:graphicFrameLocks noGrp="1"/>
          </p:cNvGraphicFramePr>
          <p:nvPr/>
        </p:nvGraphicFramePr>
        <p:xfrm>
          <a:off x="3593591" y="6473952"/>
          <a:ext cx="3031490" cy="418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185"/>
                <a:gridCol w="208915"/>
                <a:gridCol w="210184"/>
                <a:gridCol w="208915"/>
                <a:gridCol w="210184"/>
                <a:gridCol w="208915"/>
                <a:gridCol w="210184"/>
                <a:gridCol w="208915"/>
                <a:gridCol w="210185"/>
                <a:gridCol w="208914"/>
                <a:gridCol w="210185"/>
                <a:gridCol w="208914"/>
                <a:gridCol w="210185"/>
                <a:gridCol w="208914"/>
              </a:tblGrid>
              <a:tr h="4184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8D4FF"/>
                    </a:solidFill>
                  </a:tcPr>
                </a:tc>
              </a:tr>
            </a:tbl>
          </a:graphicData>
        </a:graphic>
      </p:graphicFrame>
      <p:sp>
        <p:nvSpPr>
          <p:cNvPr id="84" name="object 84"/>
          <p:cNvSpPr txBox="1"/>
          <p:nvPr/>
        </p:nvSpPr>
        <p:spPr>
          <a:xfrm>
            <a:off x="3131372" y="6427695"/>
            <a:ext cx="38354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spc="2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➔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700418" y="6490161"/>
            <a:ext cx="31730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Three</a:t>
            </a:r>
            <a:r>
              <a:rPr sz="220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entries</a:t>
            </a:r>
            <a:r>
              <a:rPr sz="2200" spc="-5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200" spc="-6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merged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88" name="object 8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4</a:t>
            </a:r>
            <a:r>
              <a:rPr spc="35" dirty="0"/>
              <a:t>3</a:t>
            </a:r>
            <a:endParaRPr spc="3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775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75" dirty="0"/>
              <a:t> </a:t>
            </a:r>
            <a:r>
              <a:rPr spc="50" dirty="0"/>
              <a:t>Allocation</a:t>
            </a:r>
            <a:r>
              <a:rPr spc="55" dirty="0"/>
              <a:t> </a:t>
            </a:r>
            <a:r>
              <a:rPr spc="100" dirty="0"/>
              <a:t>with</a:t>
            </a:r>
            <a:r>
              <a:rPr spc="65" dirty="0"/>
              <a:t> </a:t>
            </a:r>
            <a:r>
              <a:rPr spc="100" dirty="0"/>
              <a:t>Linked</a:t>
            </a:r>
            <a:r>
              <a:rPr spc="70" dirty="0"/>
              <a:t> </a:t>
            </a:r>
            <a:r>
              <a:rPr spc="-10" dirty="0"/>
              <a:t>Lists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093666" y="1609826"/>
            <a:ext cx="7762240" cy="37077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12420" indent="-311150">
              <a:lnSpc>
                <a:spcPct val="100000"/>
              </a:lnSpc>
              <a:spcBef>
                <a:spcPts val="77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90" dirty="0">
                <a:latin typeface="Times New Roman" panose="02020603050405020304"/>
                <a:cs typeface="Times New Roman" panose="02020603050405020304"/>
              </a:rPr>
              <a:t>Several</a:t>
            </a:r>
            <a:r>
              <a:rPr sz="28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35" dirty="0">
                <a:latin typeface="Times New Roman" panose="02020603050405020304"/>
                <a:cs typeface="Times New Roman" panose="02020603050405020304"/>
              </a:rPr>
              <a:t>algorithms</a:t>
            </a:r>
            <a:r>
              <a:rPr sz="28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0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8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55" dirty="0">
                <a:latin typeface="Times New Roman" panose="02020603050405020304"/>
                <a:cs typeface="Times New Roman" panose="02020603050405020304"/>
              </a:rPr>
              <a:t>allocating</a:t>
            </a:r>
            <a:r>
              <a:rPr sz="28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85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8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50" dirty="0">
                <a:latin typeface="Times New Roman" panose="02020603050405020304"/>
                <a:cs typeface="Times New Roman" panose="02020603050405020304"/>
              </a:rPr>
              <a:t>linked</a:t>
            </a:r>
            <a:r>
              <a:rPr sz="28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0" dirty="0">
                <a:latin typeface="Times New Roman" panose="02020603050405020304"/>
                <a:cs typeface="Times New Roman" panose="02020603050405020304"/>
              </a:rPr>
              <a:t>list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312420" indent="-311150">
              <a:lnSpc>
                <a:spcPct val="100000"/>
              </a:lnSpc>
              <a:spcBef>
                <a:spcPts val="67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b="1" spc="-254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FIRST</a:t>
            </a:r>
            <a:r>
              <a:rPr sz="2850" b="1" spc="-5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b="1" spc="-2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FIT: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95" dirty="0">
                <a:latin typeface="Times New Roman" panose="02020603050405020304"/>
                <a:cs typeface="Times New Roman" panose="02020603050405020304"/>
              </a:rPr>
              <a:t>Scan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segment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list,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until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6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3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hole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large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enough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7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found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6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Split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hole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two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pieces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(if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exact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match)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7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new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5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unused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memory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311150">
              <a:lnSpc>
                <a:spcPct val="100000"/>
              </a:lnSpc>
              <a:spcBef>
                <a:spcPts val="62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5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20" dirty="0">
                <a:latin typeface="Times New Roman" panose="02020603050405020304"/>
                <a:cs typeface="Times New Roman" panose="02020603050405020304"/>
              </a:rPr>
              <a:t>algorithm</a:t>
            </a:r>
            <a:r>
              <a:rPr sz="28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8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60" dirty="0">
                <a:latin typeface="Times New Roman" panose="02020603050405020304"/>
                <a:cs typeface="Times New Roman" panose="02020603050405020304"/>
              </a:rPr>
              <a:t>fast</a:t>
            </a:r>
            <a:r>
              <a:rPr sz="28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65" dirty="0">
                <a:latin typeface="Times New Roman" panose="02020603050405020304"/>
                <a:cs typeface="Times New Roman" panose="02020603050405020304"/>
              </a:rPr>
              <a:t>since</a:t>
            </a:r>
            <a:r>
              <a:rPr sz="28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8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55" dirty="0">
                <a:latin typeface="Times New Roman" panose="02020603050405020304"/>
                <a:cs typeface="Times New Roman" panose="02020603050405020304"/>
              </a:rPr>
              <a:t>searches</a:t>
            </a:r>
            <a:r>
              <a:rPr sz="28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2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55" dirty="0">
                <a:latin typeface="Times New Roman" panose="02020603050405020304"/>
                <a:cs typeface="Times New Roman" panose="02020603050405020304"/>
              </a:rPr>
              <a:t>little</a:t>
            </a:r>
            <a:r>
              <a:rPr sz="28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4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possible</a:t>
            </a:r>
            <a:endParaRPr sz="28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4</a:t>
            </a:r>
            <a:r>
              <a:rPr spc="35" dirty="0"/>
              <a:t>4</a:t>
            </a:r>
            <a:endParaRPr spc="3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5430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75" dirty="0"/>
              <a:t> </a:t>
            </a:r>
            <a:r>
              <a:rPr spc="50" dirty="0"/>
              <a:t>Allocation</a:t>
            </a:r>
            <a:r>
              <a:rPr spc="55" dirty="0"/>
              <a:t> </a:t>
            </a:r>
            <a:r>
              <a:rPr spc="100" dirty="0"/>
              <a:t>with</a:t>
            </a:r>
            <a:r>
              <a:rPr spc="65" dirty="0"/>
              <a:t> </a:t>
            </a:r>
            <a:r>
              <a:rPr spc="100" dirty="0"/>
              <a:t>Linked</a:t>
            </a:r>
            <a:r>
              <a:rPr spc="70" dirty="0"/>
              <a:t> </a:t>
            </a:r>
            <a:r>
              <a:rPr spc="-10" dirty="0"/>
              <a:t>Lists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093666" y="1620048"/>
            <a:ext cx="8335009" cy="276479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12420" indent="-311150">
              <a:lnSpc>
                <a:spcPct val="100000"/>
              </a:lnSpc>
              <a:spcBef>
                <a:spcPts val="69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b="1" spc="-28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NEXT</a:t>
            </a:r>
            <a:r>
              <a:rPr sz="2850" b="1" spc="-2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b="1" spc="-28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FIT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Works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55" dirty="0">
                <a:latin typeface="Times New Roman" panose="02020603050405020304"/>
                <a:cs typeface="Times New Roman" panose="02020603050405020304"/>
              </a:rPr>
              <a:t>same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First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Fit,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except,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5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35" dirty="0">
                <a:latin typeface="Times New Roman" panose="02020603050405020304"/>
                <a:cs typeface="Times New Roman" panose="02020603050405020304"/>
              </a:rPr>
              <a:t>Does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95" dirty="0">
                <a:latin typeface="Times New Roman" panose="02020603050405020304"/>
                <a:cs typeface="Times New Roman" panose="02020603050405020304"/>
              </a:rPr>
              <a:t>always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start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searching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beginning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7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Rather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starts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searching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list,</a:t>
            </a:r>
            <a:r>
              <a:rPr sz="24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where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left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last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marR="5080" indent="-311150">
              <a:lnSpc>
                <a:spcPct val="100000"/>
              </a:lnSpc>
              <a:spcBef>
                <a:spcPts val="605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70" dirty="0">
                <a:latin typeface="Times New Roman" panose="02020603050405020304"/>
                <a:cs typeface="Times New Roman" panose="02020603050405020304"/>
              </a:rPr>
              <a:t>Simulations</a:t>
            </a:r>
            <a:r>
              <a:rPr sz="28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15" dirty="0">
                <a:latin typeface="Times New Roman" panose="02020603050405020304"/>
                <a:cs typeface="Times New Roman" panose="02020603050405020304"/>
              </a:rPr>
              <a:t>show,</a:t>
            </a:r>
            <a:r>
              <a:rPr sz="285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8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00" dirty="0">
                <a:latin typeface="Times New Roman" panose="02020603050405020304"/>
                <a:cs typeface="Times New Roman" panose="02020603050405020304"/>
              </a:rPr>
              <a:t>gives</a:t>
            </a:r>
            <a:r>
              <a:rPr sz="28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25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28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40" dirty="0">
                <a:latin typeface="Times New Roman" panose="02020603050405020304"/>
                <a:cs typeface="Times New Roman" panose="02020603050405020304"/>
              </a:rPr>
              <a:t>better</a:t>
            </a:r>
            <a:r>
              <a:rPr sz="28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20" dirty="0">
                <a:latin typeface="Times New Roman" panose="02020603050405020304"/>
                <a:cs typeface="Times New Roman" panose="02020603050405020304"/>
              </a:rPr>
              <a:t>performance</a:t>
            </a:r>
            <a:r>
              <a:rPr sz="28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30" dirty="0"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28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First </a:t>
            </a:r>
            <a:r>
              <a:rPr sz="2850" spc="-25" dirty="0">
                <a:latin typeface="Times New Roman" panose="02020603050405020304"/>
                <a:cs typeface="Times New Roman" panose="02020603050405020304"/>
              </a:rPr>
              <a:t>Fit</a:t>
            </a:r>
            <a:endParaRPr sz="28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4</a:t>
            </a:r>
            <a:r>
              <a:rPr spc="35" dirty="0"/>
              <a:t>5</a:t>
            </a:r>
            <a:endParaRPr spc="3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920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75" dirty="0"/>
              <a:t> </a:t>
            </a:r>
            <a:r>
              <a:rPr spc="50" dirty="0"/>
              <a:t>Allocation</a:t>
            </a:r>
            <a:r>
              <a:rPr spc="55" dirty="0"/>
              <a:t> </a:t>
            </a:r>
            <a:r>
              <a:rPr spc="100" dirty="0"/>
              <a:t>with</a:t>
            </a:r>
            <a:r>
              <a:rPr spc="65" dirty="0"/>
              <a:t> </a:t>
            </a:r>
            <a:r>
              <a:rPr spc="100" dirty="0"/>
              <a:t>Linked</a:t>
            </a:r>
            <a:r>
              <a:rPr spc="70" dirty="0"/>
              <a:t> </a:t>
            </a:r>
            <a:r>
              <a:rPr spc="-10" dirty="0"/>
              <a:t>Lists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093666" y="1620048"/>
            <a:ext cx="7835265" cy="422402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12420" indent="-311150">
              <a:lnSpc>
                <a:spcPct val="100000"/>
              </a:lnSpc>
              <a:spcBef>
                <a:spcPts val="69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b="1" spc="-30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BEST</a:t>
            </a:r>
            <a:r>
              <a:rPr sz="2850" b="1" spc="-5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b="1" spc="-28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FIT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Search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entire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list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5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204" dirty="0">
                <a:latin typeface="Times New Roman" panose="02020603050405020304"/>
                <a:cs typeface="Times New Roman" panose="02020603050405020304"/>
              </a:rPr>
              <a:t>Take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smallest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hole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adequate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311150">
              <a:lnSpc>
                <a:spcPct val="100000"/>
              </a:lnSpc>
              <a:spcBef>
                <a:spcPts val="62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95" dirty="0">
                <a:latin typeface="Times New Roman" panose="02020603050405020304"/>
                <a:cs typeface="Times New Roman" panose="02020603050405020304"/>
              </a:rPr>
              <a:t>Best</a:t>
            </a:r>
            <a:r>
              <a:rPr sz="28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35" dirty="0">
                <a:latin typeface="Times New Roman" panose="02020603050405020304"/>
                <a:cs typeface="Times New Roman" panose="02020603050405020304"/>
              </a:rPr>
              <a:t>Fit</a:t>
            </a:r>
            <a:r>
              <a:rPr sz="2850" spc="-65" dirty="0">
                <a:latin typeface="Times New Roman" panose="02020603050405020304"/>
                <a:cs typeface="Times New Roman" panose="02020603050405020304"/>
              </a:rPr>
              <a:t> tries</a:t>
            </a:r>
            <a:r>
              <a:rPr sz="285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55" dirty="0">
                <a:latin typeface="Times New Roman" panose="02020603050405020304"/>
                <a:cs typeface="Times New Roman" panose="02020603050405020304"/>
              </a:rPr>
              <a:t>find</a:t>
            </a:r>
            <a:r>
              <a:rPr sz="28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7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5" dirty="0">
                <a:latin typeface="Times New Roman" panose="02020603050405020304"/>
                <a:cs typeface="Times New Roman" panose="02020603050405020304"/>
              </a:rPr>
              <a:t>hole</a:t>
            </a:r>
            <a:r>
              <a:rPr sz="28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0" dirty="0">
                <a:latin typeface="Times New Roman" panose="02020603050405020304"/>
                <a:cs typeface="Times New Roman" panose="02020603050405020304"/>
              </a:rPr>
              <a:t>closest</a:t>
            </a:r>
            <a:r>
              <a:rPr sz="28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80" dirty="0"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28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7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8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312420" indent="-311150">
              <a:lnSpc>
                <a:spcPct val="100000"/>
              </a:lnSpc>
              <a:spcBef>
                <a:spcPts val="67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85" dirty="0">
                <a:latin typeface="Times New Roman" panose="02020603050405020304"/>
                <a:cs typeface="Times New Roman" panose="02020603050405020304"/>
              </a:rPr>
              <a:t>Slower</a:t>
            </a:r>
            <a:r>
              <a:rPr sz="28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0" dirty="0"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28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00" dirty="0">
                <a:latin typeface="Times New Roman" panose="02020603050405020304"/>
                <a:cs typeface="Times New Roman" panose="02020603050405020304"/>
              </a:rPr>
              <a:t>First</a:t>
            </a:r>
            <a:r>
              <a:rPr sz="28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25" dirty="0">
                <a:latin typeface="Times New Roman" panose="02020603050405020304"/>
                <a:cs typeface="Times New Roman" panose="02020603050405020304"/>
              </a:rPr>
              <a:t>Fit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2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Every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80" dirty="0">
                <a:latin typeface="Times New Roman" panose="02020603050405020304"/>
                <a:cs typeface="Times New Roman" panose="02020603050405020304"/>
              </a:rPr>
              <a:t>has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search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entire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list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12420" indent="-311150">
              <a:lnSpc>
                <a:spcPct val="100000"/>
              </a:lnSpc>
              <a:spcBef>
                <a:spcPts val="615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spc="-180" dirty="0">
                <a:latin typeface="Times New Roman" panose="02020603050405020304"/>
                <a:cs typeface="Times New Roman" panose="02020603050405020304"/>
              </a:rPr>
              <a:t>But</a:t>
            </a:r>
            <a:r>
              <a:rPr sz="28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10" dirty="0">
                <a:latin typeface="Times New Roman" panose="02020603050405020304"/>
                <a:cs typeface="Times New Roman" panose="02020603050405020304"/>
              </a:rPr>
              <a:t>still</a:t>
            </a:r>
            <a:r>
              <a:rPr sz="28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10" dirty="0">
                <a:latin typeface="Times New Roman" panose="02020603050405020304"/>
                <a:cs typeface="Times New Roman" panose="02020603050405020304"/>
              </a:rPr>
              <a:t>results</a:t>
            </a:r>
            <a:r>
              <a:rPr sz="28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4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00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28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3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8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0" dirty="0">
                <a:latin typeface="Times New Roman" panose="02020603050405020304"/>
                <a:cs typeface="Times New Roman" panose="02020603050405020304"/>
              </a:rPr>
              <a:t>wastage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2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Tends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fill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up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memory,</a:t>
            </a:r>
            <a:r>
              <a:rPr sz="24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tiny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useless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holes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5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First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Fit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generates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larger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holes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average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pc="35" dirty="0"/>
              <a:t>4</a:t>
            </a:r>
            <a:r>
              <a:rPr spc="35" dirty="0"/>
              <a:t>6</a:t>
            </a:r>
            <a:endParaRPr spc="3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775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Memory</a:t>
            </a:r>
            <a:r>
              <a:rPr spc="75" dirty="0"/>
              <a:t> </a:t>
            </a:r>
            <a:r>
              <a:rPr spc="50" dirty="0"/>
              <a:t>Allocation</a:t>
            </a:r>
            <a:r>
              <a:rPr spc="55" dirty="0"/>
              <a:t> </a:t>
            </a:r>
            <a:r>
              <a:rPr spc="100" dirty="0"/>
              <a:t>with</a:t>
            </a:r>
            <a:r>
              <a:rPr spc="65" dirty="0"/>
              <a:t> </a:t>
            </a:r>
            <a:r>
              <a:rPr spc="100" dirty="0"/>
              <a:t>Linked</a:t>
            </a:r>
            <a:r>
              <a:rPr spc="70" dirty="0"/>
              <a:t> </a:t>
            </a:r>
            <a:r>
              <a:rPr spc="-10" dirty="0"/>
              <a:t>Lists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093666" y="1620048"/>
            <a:ext cx="7322184" cy="225107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12420" indent="-311150">
              <a:lnSpc>
                <a:spcPct val="100000"/>
              </a:lnSpc>
              <a:spcBef>
                <a:spcPts val="690"/>
              </a:spcBef>
              <a:buClr>
                <a:srgbClr val="D34816"/>
              </a:buClr>
              <a:buSzPct val="82000"/>
              <a:buFont typeface="Webdings" panose="05030102010509060703"/>
              <a:buChar char="●"/>
              <a:tabLst>
                <a:tab pos="312420" algn="l"/>
              </a:tabLst>
            </a:pPr>
            <a:r>
              <a:rPr sz="2850" b="1" spc="-27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WORST</a:t>
            </a:r>
            <a:r>
              <a:rPr sz="2850" b="1" spc="-2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b="1" spc="-28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FIT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2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204" dirty="0">
                <a:latin typeface="Times New Roman" panose="02020603050405020304"/>
                <a:cs typeface="Times New Roman" panose="02020603050405020304"/>
              </a:rPr>
              <a:t>Take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largest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hole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available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55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220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that,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hole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broken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55" dirty="0">
                <a:latin typeface="Times New Roman" panose="02020603050405020304"/>
                <a:cs typeface="Times New Roman" panose="02020603050405020304"/>
              </a:rPr>
              <a:t>off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will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large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enough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useful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47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What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larger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holes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left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worst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fit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not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useful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615315" lvl="1" indent="-273050">
              <a:lnSpc>
                <a:spcPct val="100000"/>
              </a:lnSpc>
              <a:spcBef>
                <a:spcPts val="540"/>
              </a:spcBef>
              <a:buClr>
                <a:srgbClr val="9A2D1F"/>
              </a:buClr>
              <a:buSzPct val="85000"/>
              <a:buFont typeface="Webdings" panose="05030102010509060703"/>
              <a:buChar char="●"/>
              <a:tabLst>
                <a:tab pos="615315" algn="l"/>
              </a:tabLst>
            </a:pPr>
            <a:r>
              <a:rPr sz="2400" spc="910" dirty="0">
                <a:latin typeface="Times New Roman" panose="02020603050405020304"/>
                <a:cs typeface="Times New Roman" panose="02020603050405020304"/>
              </a:rPr>
              <a:t>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wasted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Best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Fit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290575" y="7077995"/>
            <a:ext cx="24130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47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815" y="1011398"/>
            <a:ext cx="2152650" cy="561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b="0" spc="-120" dirty="0">
                <a:solidFill>
                  <a:srgbClr val="3366FF"/>
                </a:solidFill>
                <a:latin typeface="Arial" panose="020B0604020202020204"/>
                <a:cs typeface="Arial" panose="020B0604020202020204"/>
              </a:rPr>
              <a:t>References</a:t>
            </a:r>
            <a:endParaRPr b="0" spc="-120" dirty="0">
              <a:solidFill>
                <a:srgbClr val="3366F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0955" y="1604959"/>
            <a:ext cx="8388985" cy="26238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24485" indent="-323850">
              <a:lnSpc>
                <a:spcPct val="100000"/>
              </a:lnSpc>
              <a:spcBef>
                <a:spcPts val="785"/>
              </a:spcBef>
              <a:buClr>
                <a:srgbClr val="D34816"/>
              </a:buClr>
              <a:buSzPct val="80000"/>
              <a:buFont typeface="Webdings" panose="05030102010509060703"/>
              <a:buChar char="●"/>
              <a:tabLst>
                <a:tab pos="324485" algn="l"/>
              </a:tabLst>
            </a:pP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Chapter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3,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Modern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Operating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23850" marR="17780" indent="-323850">
              <a:lnSpc>
                <a:spcPct val="101000"/>
              </a:lnSpc>
              <a:spcBef>
                <a:spcPts val="660"/>
              </a:spcBef>
              <a:buClr>
                <a:srgbClr val="D34816"/>
              </a:buClr>
              <a:buSzPct val="80000"/>
              <a:buFont typeface="Webdings" panose="05030102010509060703"/>
              <a:buChar char="●"/>
              <a:tabLst>
                <a:tab pos="325120" algn="l"/>
              </a:tabLst>
            </a:pPr>
            <a:r>
              <a:rPr sz="3050" u="sng" spc="-3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 panose="02020603050405020304"/>
                <a:cs typeface="Times New Roman" panose="02020603050405020304"/>
                <a:hlinkClick r:id="rId1"/>
              </a:rPr>
              <a:t>http://cseweb.ucsd.edu/classes/sp00/cse120_A/mem.</a:t>
            </a:r>
            <a:r>
              <a:rPr sz="3050" u="none" spc="-30" dirty="0">
                <a:solidFill>
                  <a:srgbClr val="CC99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u="none" spc="-30" dirty="0">
                <a:solidFill>
                  <a:srgbClr val="CC99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u="sng" spc="-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 panose="02020603050405020304"/>
                <a:cs typeface="Times New Roman" panose="02020603050405020304"/>
              </a:rPr>
              <a:t>html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23850" marR="478790" indent="-323850">
              <a:lnSpc>
                <a:spcPct val="101000"/>
              </a:lnSpc>
              <a:spcBef>
                <a:spcPts val="665"/>
              </a:spcBef>
              <a:buClr>
                <a:srgbClr val="D34816"/>
              </a:buClr>
              <a:buSzPct val="80000"/>
              <a:buFont typeface="Webdings" panose="05030102010509060703"/>
              <a:buChar char="●"/>
              <a:tabLst>
                <a:tab pos="325120" algn="l"/>
              </a:tabLst>
            </a:pP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Operating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Concepts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(Silberschatz,</a:t>
            </a:r>
            <a:r>
              <a:rPr sz="3050" spc="-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9</a:t>
            </a:r>
            <a:r>
              <a:rPr sz="3075" baseline="24000" dirty="0">
                <a:latin typeface="Times New Roman" panose="02020603050405020304"/>
                <a:cs typeface="Times New Roman" panose="02020603050405020304"/>
              </a:rPr>
              <a:t>th</a:t>
            </a:r>
            <a:r>
              <a:rPr sz="3075" spc="277" baseline="2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edition) 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Chapter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8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dirty="0"/>
              <a:t>CS-2006</a:t>
            </a:r>
            <a:r>
              <a:rPr spc="135" dirty="0"/>
              <a:t> </a:t>
            </a:r>
            <a:r>
              <a:rPr dirty="0"/>
              <a:t>Operating</a:t>
            </a:r>
            <a:r>
              <a:rPr spc="100" dirty="0"/>
              <a:t> </a:t>
            </a:r>
            <a:r>
              <a:rPr spc="-10" dirty="0"/>
              <a:t>Systems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284479" y="7077995"/>
            <a:ext cx="2552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48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99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12605</Words>
  <Application>WPS Presentation</Application>
  <PresentationFormat>On-screen Show (4:3)</PresentationFormat>
  <Paragraphs>1130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6" baseType="lpstr">
      <vt:lpstr>Arial</vt:lpstr>
      <vt:lpstr>SimSun</vt:lpstr>
      <vt:lpstr>Wingdings</vt:lpstr>
      <vt:lpstr>Liberation Sans Narrow</vt:lpstr>
      <vt:lpstr>Segoe Print</vt:lpstr>
      <vt:lpstr>Arial</vt:lpstr>
      <vt:lpstr>Times New Roman</vt:lpstr>
      <vt:lpstr>Webdings</vt:lpstr>
      <vt:lpstr>Microsoft YaHei</vt:lpstr>
      <vt:lpstr>Arial Unicode MS</vt:lpstr>
      <vt:lpstr>Calibri</vt:lpstr>
      <vt:lpstr>Courier New</vt:lpstr>
      <vt:lpstr>Office Theme</vt:lpstr>
      <vt:lpstr>Operating Systems CS2006</vt:lpstr>
      <vt:lpstr>Background</vt:lpstr>
      <vt:lpstr>Background</vt:lpstr>
      <vt:lpstr>Memory Manager</vt:lpstr>
      <vt:lpstr>Memory Management Requirements</vt:lpstr>
      <vt:lpstr>Requirements: Relocation</vt:lpstr>
      <vt:lpstr>Relocation and Protection</vt:lpstr>
      <vt:lpstr>Relocation and Protection</vt:lpstr>
      <vt:lpstr>Relocation and Protection</vt:lpstr>
      <vt:lpstr>Requirements: Protection</vt:lpstr>
      <vt:lpstr>Relocation and Protection</vt:lpstr>
      <vt:lpstr>Hardware Address Protection</vt:lpstr>
      <vt:lpstr>Memory-Management Unit (MMU)</vt:lpstr>
      <vt:lpstr>Hardware Support for Relocation and Limit Registers</vt:lpstr>
      <vt:lpstr>Logical vs. Physical Address Space</vt:lpstr>
      <vt:lpstr>Memory Management/Organization</vt:lpstr>
      <vt:lpstr>Uni-programming</vt:lpstr>
      <vt:lpstr>Multi-programming systems</vt:lpstr>
      <vt:lpstr>Memory Allocation Mechanisms</vt:lpstr>
      <vt:lpstr>Multiprogramming with Fixed Partitions</vt:lpstr>
      <vt:lpstr>Multiprogramming with Fixed Partitions</vt:lpstr>
      <vt:lpstr>Multiprogramming with Fixed Partitions</vt:lpstr>
      <vt:lpstr>Internal Fragmentation</vt:lpstr>
      <vt:lpstr>Swapping</vt:lpstr>
      <vt:lpstr>Swapping</vt:lpstr>
      <vt:lpstr>Schematic View of Swapping</vt:lpstr>
      <vt:lpstr>Swapping</vt:lpstr>
      <vt:lpstr>Swapping</vt:lpstr>
      <vt:lpstr>Compaction</vt:lpstr>
      <vt:lpstr>Memory allocation for Processes</vt:lpstr>
      <vt:lpstr>Memory allocation for Processes</vt:lpstr>
      <vt:lpstr>Memory allocation for Processes</vt:lpstr>
      <vt:lpstr>How to keep track of Memory</vt:lpstr>
      <vt:lpstr>Memory management with bitmaps</vt:lpstr>
      <vt:lpstr>Memory management with bitmaps</vt:lpstr>
      <vt:lpstr>Memory management with bitmaps</vt:lpstr>
      <vt:lpstr>Memory management with Linked Lists</vt:lpstr>
      <vt:lpstr>Memory management with Linked Lists</vt:lpstr>
      <vt:lpstr>Memory Allocation with Linked Lists</vt:lpstr>
      <vt:lpstr>Memory Allocation with Linked Lists</vt:lpstr>
      <vt:lpstr>Memory Allocation with Linked Lists</vt:lpstr>
      <vt:lpstr>Memory Allocation with Linked Lists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CS2006</dc:title>
  <dc:creator>rana.asif</dc:creator>
  <cp:lastModifiedBy>ibtis</cp:lastModifiedBy>
  <cp:revision>5</cp:revision>
  <dcterms:created xsi:type="dcterms:W3CDTF">2024-11-20T08:00:00Z</dcterms:created>
  <dcterms:modified xsi:type="dcterms:W3CDTF">2025-04-30T07:49:52Z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2022-03-25T15:00:00Z</vt:filetime>
  </property>
  <property fmtid="{D5CDD505-2E9C-101B-9397-08002B2CF9AE}" pid="3" name="LastSaved">
    <vt:filetime>2024-11-20T15:00:00Z</vt:filetime>
  </property>
  <property fmtid="{D5CDD505-2E9C-101B-9397-08002B2CF9AE}" pid="4" name="Producer">
    <vt:lpwstr>3-Heights(TM) PDF Security Shell 4.8.25.2 (http://www.pdf-tools.com)</vt:lpwstr>
  </property>
  <property fmtid="{D5CDD505-2E9C-101B-9397-08002B2CF9AE}" pid="5" name="ICV">
    <vt:lpwstr>49927B49093C476A9E319A21F9384950_12</vt:lpwstr>
  </property>
  <property fmtid="{D5CDD505-2E9C-101B-9397-08002B2CF9AE}" pid="6" name="KSOProductBuildVer">
    <vt:lpwstr>1033-12.2.0.20326</vt:lpwstr>
  </property>
</Properties>
</file>