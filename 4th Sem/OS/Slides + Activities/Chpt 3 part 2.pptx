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6"/>
  </p:notesMasterIdLst>
  <p:sldIdLst>
    <p:sldId id="256" r:id="rId3"/>
    <p:sldId id="363" r:id="rId4"/>
    <p:sldId id="362" r:id="rId5"/>
    <p:sldId id="366" r:id="rId6"/>
    <p:sldId id="365" r:id="rId7"/>
    <p:sldId id="364"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367" r:id="rId34"/>
    <p:sldId id="287" r:id="rId35"/>
    <p:sldId id="368" r:id="rId36"/>
    <p:sldId id="307" r:id="rId37"/>
    <p:sldId id="369" r:id="rId38"/>
    <p:sldId id="370" r:id="rId39"/>
    <p:sldId id="371" r:id="rId40"/>
    <p:sldId id="308" r:id="rId41"/>
    <p:sldId id="309" r:id="rId42"/>
    <p:sldId id="288" r:id="rId43"/>
    <p:sldId id="289" r:id="rId44"/>
    <p:sldId id="378" r:id="rId45"/>
    <p:sldId id="379" r:id="rId46"/>
    <p:sldId id="380" r:id="rId47"/>
    <p:sldId id="290" r:id="rId48"/>
    <p:sldId id="291" r:id="rId49"/>
    <p:sldId id="292" r:id="rId50"/>
    <p:sldId id="372" r:id="rId51"/>
    <p:sldId id="293" r:id="rId52"/>
    <p:sldId id="374" r:id="rId53"/>
    <p:sldId id="294" r:id="rId54"/>
    <p:sldId id="375" r:id="rId55"/>
    <p:sldId id="295" r:id="rId56"/>
    <p:sldId id="296" r:id="rId57"/>
    <p:sldId id="300" r:id="rId58"/>
    <p:sldId id="352" r:id="rId59"/>
    <p:sldId id="353" r:id="rId60"/>
    <p:sldId id="354" r:id="rId61"/>
    <p:sldId id="376" r:id="rId62"/>
    <p:sldId id="382" r:id="rId63"/>
    <p:sldId id="381" r:id="rId64"/>
    <p:sldId id="301" r:id="rId65"/>
  </p:sldIdLst>
  <p:sldSz cx="10058400" cy="7772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78" userDrawn="1">
          <p15:clr>
            <a:srgbClr val="A4A3A4"/>
          </p15:clr>
        </p15:guide>
        <p15:guide id="2" pos="21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78"/>
        <p:guide pos="212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notesMaster" Target="notesMasters/notesMaster1.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92672" cy="33147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8356234" y="0"/>
            <a:ext cx="6392672" cy="331474"/>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5394198" y="825818"/>
            <a:ext cx="3963924" cy="222970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475232" y="3179397"/>
            <a:ext cx="11801856" cy="260132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6275066"/>
            <a:ext cx="6392672" cy="33147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8356234" y="6275066"/>
            <a:ext cx="6392672" cy="331474"/>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93625" y="709647"/>
            <a:ext cx="7871149" cy="696594"/>
          </a:xfrm>
          <a:prstGeom prst="rect">
            <a:avLst/>
          </a:prstGeom>
        </p:spPr>
        <p:txBody>
          <a:bodyPr wrap="square" lIns="0" tIns="0" rIns="0" bIns="0">
            <a:spAutoFit/>
          </a:bodyPr>
          <a:lstStyle>
            <a:lvl1pPr>
              <a:defRPr b="0" i="0">
                <a:solidFill>
                  <a:schemeClr val="tx1"/>
                </a:solidFill>
              </a:defRPr>
            </a:lvl1pPr>
          </a:lstStyle>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1500" b="0" i="0">
                <a:solidFill>
                  <a:srgbClr val="696464"/>
                </a:solidFill>
                <a:latin typeface="Arial" panose="020B0604020202020204"/>
                <a:cs typeface="Arial" panose="020B0604020202020204"/>
              </a:defRPr>
            </a:lvl1pPr>
          </a:lstStyle>
          <a:p>
            <a:pPr marL="12700">
              <a:lnSpc>
                <a:spcPts val="1790"/>
              </a:lnSpc>
            </a:pPr>
            <a:r>
              <a:rPr spc="15" dirty="0"/>
              <a:t>CS-2006 Operating</a:t>
            </a:r>
            <a:r>
              <a:rPr spc="-45" dirty="0"/>
              <a:t> </a:t>
            </a:r>
            <a:r>
              <a:rPr spc="10" dirty="0"/>
              <a:t>Systems</a:t>
            </a:r>
            <a:endParaRPr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500" b="0" i="0">
                <a:solidFill>
                  <a:schemeClr val="bg1"/>
                </a:solidFill>
                <a:latin typeface="Trebuchet MS" panose="020B0603020202020204"/>
                <a:cs typeface="Trebuchet MS" panose="020B0603020202020204"/>
              </a:defRPr>
            </a:lvl1pPr>
          </a:lstStyle>
          <a:p>
            <a:pPr marL="12700">
              <a:lnSpc>
                <a:spcPct val="100000"/>
              </a:lnSpc>
              <a:spcBef>
                <a:spcPts val="5"/>
              </a:spcBef>
            </a:pPr>
            <a:r>
              <a:rPr spc="114" dirty="0"/>
              <a:t>2</a:t>
            </a:r>
            <a:fld id="{81D60167-4931-47E6-BA6A-407CBD079E47}" type="slidenum">
              <a:rPr spc="114" dirty="0"/>
            </a:fld>
            <a:endParaRPr spc="114"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00AF50"/>
                </a:solidFill>
                <a:latin typeface="Arial" panose="020B0604020202020204"/>
                <a:cs typeface="Arial" panose="020B0604020202020204"/>
              </a:defRPr>
            </a:lvl1pPr>
          </a:lstStyle>
          <a:p/>
        </p:txBody>
      </p:sp>
      <p:sp>
        <p:nvSpPr>
          <p:cNvPr id="3" name="Holder 3"/>
          <p:cNvSpPr>
            <a:spLocks noGrp="1"/>
          </p:cNvSpPr>
          <p:nvPr>
            <p:ph type="body" idx="1"/>
          </p:nvPr>
        </p:nvSpPr>
        <p:spPr/>
        <p:txBody>
          <a:bodyPr lIns="0" tIns="0" rIns="0" bIns="0"/>
          <a:lstStyle>
            <a:lvl1pPr>
              <a:defRPr sz="2200" b="1" i="1">
                <a:solidFill>
                  <a:schemeClr val="tx1"/>
                </a:solidFill>
                <a:latin typeface="Courier New" panose="02070309020205020404"/>
                <a:cs typeface="Courier New" panose="02070309020205020404"/>
              </a:defRPr>
            </a:lvl1pPr>
          </a:lstStyle>
          <a:p/>
        </p:txBody>
      </p:sp>
      <p:sp>
        <p:nvSpPr>
          <p:cNvPr id="4" name="Holder 4"/>
          <p:cNvSpPr>
            <a:spLocks noGrp="1"/>
          </p:cNvSpPr>
          <p:nvPr>
            <p:ph type="ftr" sz="quarter" idx="5"/>
          </p:nvPr>
        </p:nvSpPr>
        <p:spPr/>
        <p:txBody>
          <a:bodyPr lIns="0" tIns="0" rIns="0" bIns="0"/>
          <a:lstStyle>
            <a:lvl1pPr>
              <a:defRPr sz="1500" b="0" i="0">
                <a:solidFill>
                  <a:srgbClr val="696464"/>
                </a:solidFill>
                <a:latin typeface="Arial" panose="020B0604020202020204"/>
                <a:cs typeface="Arial" panose="020B0604020202020204"/>
              </a:defRPr>
            </a:lvl1pPr>
          </a:lstStyle>
          <a:p>
            <a:pPr marL="12700">
              <a:lnSpc>
                <a:spcPts val="1790"/>
              </a:lnSpc>
            </a:pPr>
            <a:r>
              <a:rPr spc="15" dirty="0"/>
              <a:t>CS-2006 Operating</a:t>
            </a:r>
            <a:r>
              <a:rPr spc="-45" dirty="0"/>
              <a:t> </a:t>
            </a:r>
            <a:r>
              <a:rPr spc="10" dirty="0"/>
              <a:t>Systems</a:t>
            </a:r>
            <a:endParaRPr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500" b="0" i="0">
                <a:solidFill>
                  <a:schemeClr val="bg1"/>
                </a:solidFill>
                <a:latin typeface="Trebuchet MS" panose="020B0603020202020204"/>
                <a:cs typeface="Trebuchet MS" panose="020B0603020202020204"/>
              </a:defRPr>
            </a:lvl1pPr>
          </a:lstStyle>
          <a:p>
            <a:pPr marL="12700">
              <a:lnSpc>
                <a:spcPct val="100000"/>
              </a:lnSpc>
              <a:spcBef>
                <a:spcPts val="5"/>
              </a:spcBef>
            </a:pPr>
            <a:r>
              <a:rPr spc="114" dirty="0"/>
              <a:t>2</a:t>
            </a:r>
            <a:fld id="{81D60167-4931-47E6-BA6A-407CBD079E47}" type="slidenum">
              <a:rPr spc="114" dirty="0"/>
            </a:fld>
            <a:endParaRPr spc="114"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00AF50"/>
                </a:solidFill>
                <a:latin typeface="Arial" panose="020B0604020202020204"/>
                <a:cs typeface="Arial" panose="020B0604020202020204"/>
              </a:defRPr>
            </a:lvl1pPr>
          </a:lstStyle>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500" b="0" i="0">
                <a:solidFill>
                  <a:srgbClr val="696464"/>
                </a:solidFill>
                <a:latin typeface="Arial" panose="020B0604020202020204"/>
                <a:cs typeface="Arial" panose="020B0604020202020204"/>
              </a:defRPr>
            </a:lvl1pPr>
          </a:lstStyle>
          <a:p>
            <a:pPr marL="12700">
              <a:lnSpc>
                <a:spcPts val="1790"/>
              </a:lnSpc>
            </a:pPr>
            <a:r>
              <a:rPr spc="15" dirty="0"/>
              <a:t>CS-2006 Operating</a:t>
            </a:r>
            <a:r>
              <a:rPr spc="-45" dirty="0"/>
              <a:t> </a:t>
            </a:r>
            <a:r>
              <a:rPr spc="10" dirty="0"/>
              <a:t>Systems</a:t>
            </a:r>
            <a:endParaRPr spc="10"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1500" b="0" i="0">
                <a:solidFill>
                  <a:schemeClr val="bg1"/>
                </a:solidFill>
                <a:latin typeface="Trebuchet MS" panose="020B0603020202020204"/>
                <a:cs typeface="Trebuchet MS" panose="020B0603020202020204"/>
              </a:defRPr>
            </a:lvl1pPr>
          </a:lstStyle>
          <a:p>
            <a:pPr marL="12700">
              <a:lnSpc>
                <a:spcPct val="100000"/>
              </a:lnSpc>
              <a:spcBef>
                <a:spcPts val="5"/>
              </a:spcBef>
            </a:pPr>
            <a:r>
              <a:rPr spc="114" dirty="0"/>
              <a:t>2</a:t>
            </a:r>
            <a:fld id="{81D60167-4931-47E6-BA6A-407CBD079E47}" type="slidenum">
              <a:rPr spc="114" dirty="0"/>
            </a:fld>
            <a:endParaRPr spc="114"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00AF50"/>
                </a:solidFill>
                <a:latin typeface="Arial" panose="020B0604020202020204"/>
                <a:cs typeface="Arial" panose="020B0604020202020204"/>
              </a:defRPr>
            </a:lvl1pPr>
          </a:lstStyle>
          <a:p/>
        </p:txBody>
      </p:sp>
      <p:sp>
        <p:nvSpPr>
          <p:cNvPr id="3" name="Holder 3"/>
          <p:cNvSpPr>
            <a:spLocks noGrp="1"/>
          </p:cNvSpPr>
          <p:nvPr>
            <p:ph type="ftr" sz="quarter" idx="5"/>
          </p:nvPr>
        </p:nvSpPr>
        <p:spPr/>
        <p:txBody>
          <a:bodyPr lIns="0" tIns="0" rIns="0" bIns="0"/>
          <a:lstStyle>
            <a:lvl1pPr>
              <a:defRPr sz="1500" b="0" i="0">
                <a:solidFill>
                  <a:srgbClr val="696464"/>
                </a:solidFill>
                <a:latin typeface="Arial" panose="020B0604020202020204"/>
                <a:cs typeface="Arial" panose="020B0604020202020204"/>
              </a:defRPr>
            </a:lvl1pPr>
          </a:lstStyle>
          <a:p>
            <a:pPr marL="12700">
              <a:lnSpc>
                <a:spcPts val="1790"/>
              </a:lnSpc>
            </a:pPr>
            <a:r>
              <a:rPr spc="15" dirty="0"/>
              <a:t>CS-2006 Operating</a:t>
            </a:r>
            <a:r>
              <a:rPr spc="-45" dirty="0"/>
              <a:t> </a:t>
            </a:r>
            <a:r>
              <a:rPr spc="10" dirty="0"/>
              <a:t>Systems</a:t>
            </a:r>
            <a:endParaRPr spc="10"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1500" b="0" i="0">
                <a:solidFill>
                  <a:schemeClr val="bg1"/>
                </a:solidFill>
                <a:latin typeface="Trebuchet MS" panose="020B0603020202020204"/>
                <a:cs typeface="Trebuchet MS" panose="020B0603020202020204"/>
              </a:defRPr>
            </a:lvl1pPr>
          </a:lstStyle>
          <a:p>
            <a:pPr marL="12700">
              <a:lnSpc>
                <a:spcPct val="100000"/>
              </a:lnSpc>
              <a:spcBef>
                <a:spcPts val="5"/>
              </a:spcBef>
            </a:pPr>
            <a:r>
              <a:rPr spc="114" dirty="0"/>
              <a:t>2</a:t>
            </a:r>
            <a:fld id="{81D60167-4931-47E6-BA6A-407CBD079E47}" type="slidenum">
              <a:rPr spc="114" dirty="0"/>
            </a:fld>
            <a:endParaRPr spc="114"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500" b="0" i="0">
                <a:solidFill>
                  <a:srgbClr val="696464"/>
                </a:solidFill>
                <a:latin typeface="Arial" panose="020B0604020202020204"/>
                <a:cs typeface="Arial" panose="020B0604020202020204"/>
              </a:defRPr>
            </a:lvl1pPr>
          </a:lstStyle>
          <a:p>
            <a:pPr marL="12700">
              <a:lnSpc>
                <a:spcPts val="1790"/>
              </a:lnSpc>
            </a:pPr>
            <a:r>
              <a:rPr spc="15" dirty="0"/>
              <a:t>CS-2006 Operating</a:t>
            </a:r>
            <a:r>
              <a:rPr spc="-45" dirty="0"/>
              <a:t> </a:t>
            </a:r>
            <a:r>
              <a:rPr spc="10" dirty="0"/>
              <a:t>Systems</a:t>
            </a:r>
            <a:endParaRPr spc="10"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1500" b="0" i="0">
                <a:solidFill>
                  <a:schemeClr val="bg1"/>
                </a:solidFill>
                <a:latin typeface="Trebuchet MS" panose="020B0603020202020204"/>
                <a:cs typeface="Trebuchet MS" panose="020B0603020202020204"/>
              </a:defRPr>
            </a:lvl1pPr>
          </a:lstStyle>
          <a:p>
            <a:pPr marL="12700">
              <a:lnSpc>
                <a:spcPct val="100000"/>
              </a:lnSpc>
              <a:spcBef>
                <a:spcPts val="5"/>
              </a:spcBef>
            </a:pPr>
            <a:r>
              <a:rPr spc="114" dirty="0"/>
              <a:t>2</a:t>
            </a:r>
            <a:fld id="{81D60167-4931-47E6-BA6A-407CBD079E47}" type="slidenum">
              <a:rPr spc="114" dirty="0"/>
            </a:fld>
            <a:endParaRPr spc="114" dirty="0"/>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0103" y="192023"/>
            <a:ext cx="9915525" cy="7362825"/>
          </a:xfrm>
          <a:custGeom>
            <a:avLst/>
            <a:gdLst/>
            <a:ahLst/>
            <a:cxnLst/>
            <a:rect l="l" t="t" r="r" b="b"/>
            <a:pathLst>
              <a:path w="9915525" h="7362825">
                <a:moveTo>
                  <a:pt x="0" y="362711"/>
                </a:moveTo>
                <a:lnTo>
                  <a:pt x="3324" y="313316"/>
                </a:lnTo>
                <a:lnTo>
                  <a:pt x="13003" y="265994"/>
                </a:lnTo>
                <a:lnTo>
                  <a:pt x="28598" y="221170"/>
                </a:lnTo>
                <a:lnTo>
                  <a:pt x="49671" y="179267"/>
                </a:lnTo>
                <a:lnTo>
                  <a:pt x="75781" y="140708"/>
                </a:lnTo>
                <a:lnTo>
                  <a:pt x="106489" y="105917"/>
                </a:lnTo>
                <a:lnTo>
                  <a:pt x="141357" y="75318"/>
                </a:lnTo>
                <a:lnTo>
                  <a:pt x="179944" y="49332"/>
                </a:lnTo>
                <a:lnTo>
                  <a:pt x="221813" y="28384"/>
                </a:lnTo>
                <a:lnTo>
                  <a:pt x="266523" y="12897"/>
                </a:lnTo>
                <a:lnTo>
                  <a:pt x="313636" y="3294"/>
                </a:lnTo>
                <a:lnTo>
                  <a:pt x="362712" y="0"/>
                </a:lnTo>
                <a:lnTo>
                  <a:pt x="9552432" y="0"/>
                </a:lnTo>
                <a:lnTo>
                  <a:pt x="9601827" y="3294"/>
                </a:lnTo>
                <a:lnTo>
                  <a:pt x="9649149" y="12897"/>
                </a:lnTo>
                <a:lnTo>
                  <a:pt x="9693973" y="28384"/>
                </a:lnTo>
                <a:lnTo>
                  <a:pt x="9735876" y="49332"/>
                </a:lnTo>
                <a:lnTo>
                  <a:pt x="9774435" y="75318"/>
                </a:lnTo>
                <a:lnTo>
                  <a:pt x="9809226" y="105917"/>
                </a:lnTo>
                <a:lnTo>
                  <a:pt x="9839825" y="140708"/>
                </a:lnTo>
                <a:lnTo>
                  <a:pt x="9865811" y="179267"/>
                </a:lnTo>
                <a:lnTo>
                  <a:pt x="9886759" y="221170"/>
                </a:lnTo>
                <a:lnTo>
                  <a:pt x="9902246" y="265994"/>
                </a:lnTo>
                <a:lnTo>
                  <a:pt x="9911849" y="313316"/>
                </a:lnTo>
                <a:lnTo>
                  <a:pt x="9915144" y="362711"/>
                </a:lnTo>
                <a:lnTo>
                  <a:pt x="9915144" y="6999731"/>
                </a:lnTo>
                <a:lnTo>
                  <a:pt x="9911849" y="7048807"/>
                </a:lnTo>
                <a:lnTo>
                  <a:pt x="9902246" y="7095920"/>
                </a:lnTo>
                <a:lnTo>
                  <a:pt x="9886759" y="7140630"/>
                </a:lnTo>
                <a:lnTo>
                  <a:pt x="9865811" y="7182499"/>
                </a:lnTo>
                <a:lnTo>
                  <a:pt x="9839825" y="7221086"/>
                </a:lnTo>
                <a:lnTo>
                  <a:pt x="9809225" y="7255954"/>
                </a:lnTo>
                <a:lnTo>
                  <a:pt x="9774435" y="7286662"/>
                </a:lnTo>
                <a:lnTo>
                  <a:pt x="9735876" y="7312772"/>
                </a:lnTo>
                <a:lnTo>
                  <a:pt x="9693973" y="7333845"/>
                </a:lnTo>
                <a:lnTo>
                  <a:pt x="9649149" y="7349440"/>
                </a:lnTo>
                <a:lnTo>
                  <a:pt x="9601827" y="7359119"/>
                </a:lnTo>
                <a:lnTo>
                  <a:pt x="9552432" y="7362443"/>
                </a:lnTo>
                <a:lnTo>
                  <a:pt x="362712" y="7362443"/>
                </a:lnTo>
                <a:lnTo>
                  <a:pt x="313636" y="7359119"/>
                </a:lnTo>
                <a:lnTo>
                  <a:pt x="266523" y="7349440"/>
                </a:lnTo>
                <a:lnTo>
                  <a:pt x="221813" y="7333845"/>
                </a:lnTo>
                <a:lnTo>
                  <a:pt x="179944" y="7312772"/>
                </a:lnTo>
                <a:lnTo>
                  <a:pt x="141357" y="7286662"/>
                </a:lnTo>
                <a:lnTo>
                  <a:pt x="106489" y="7255954"/>
                </a:lnTo>
                <a:lnTo>
                  <a:pt x="75781" y="7221086"/>
                </a:lnTo>
                <a:lnTo>
                  <a:pt x="49671" y="7182499"/>
                </a:lnTo>
                <a:lnTo>
                  <a:pt x="28598" y="7140630"/>
                </a:lnTo>
                <a:lnTo>
                  <a:pt x="13003" y="7095920"/>
                </a:lnTo>
                <a:lnTo>
                  <a:pt x="3324" y="7048807"/>
                </a:lnTo>
                <a:lnTo>
                  <a:pt x="0" y="6999731"/>
                </a:lnTo>
                <a:lnTo>
                  <a:pt x="0" y="362711"/>
                </a:lnTo>
                <a:close/>
              </a:path>
            </a:pathLst>
          </a:custGeom>
          <a:ln w="7620">
            <a:solidFill>
              <a:srgbClr val="000000"/>
            </a:solidFill>
          </a:ln>
        </p:spPr>
        <p:txBody>
          <a:bodyPr wrap="square" lIns="0" tIns="0" rIns="0" bIns="0" rtlCol="0"/>
          <a:lstStyle/>
          <a:p/>
        </p:txBody>
      </p:sp>
      <p:sp>
        <p:nvSpPr>
          <p:cNvPr id="2" name="Holder 2"/>
          <p:cNvSpPr>
            <a:spLocks noGrp="1"/>
          </p:cNvSpPr>
          <p:nvPr>
            <p:ph type="title"/>
          </p:nvPr>
        </p:nvSpPr>
        <p:spPr>
          <a:xfrm>
            <a:off x="1400533" y="590902"/>
            <a:ext cx="7257333" cy="629285"/>
          </a:xfrm>
          <a:prstGeom prst="rect">
            <a:avLst/>
          </a:prstGeom>
        </p:spPr>
        <p:txBody>
          <a:bodyPr wrap="square" lIns="0" tIns="0" rIns="0" bIns="0">
            <a:spAutoFit/>
          </a:bodyPr>
          <a:lstStyle>
            <a:lvl1pPr>
              <a:defRPr sz="3950" b="1" i="0">
                <a:solidFill>
                  <a:srgbClr val="00AF50"/>
                </a:solidFill>
                <a:latin typeface="Arial" panose="020B0604020202020204"/>
                <a:cs typeface="Arial" panose="020B0604020202020204"/>
              </a:defRPr>
            </a:lvl1pPr>
          </a:lstStyle>
          <a:p/>
        </p:txBody>
      </p:sp>
      <p:sp>
        <p:nvSpPr>
          <p:cNvPr id="3" name="Holder 3"/>
          <p:cNvSpPr>
            <a:spLocks noGrp="1"/>
          </p:cNvSpPr>
          <p:nvPr>
            <p:ph type="body" idx="1"/>
          </p:nvPr>
        </p:nvSpPr>
        <p:spPr>
          <a:xfrm>
            <a:off x="506951" y="1602168"/>
            <a:ext cx="9044305" cy="4954270"/>
          </a:xfrm>
          <a:prstGeom prst="rect">
            <a:avLst/>
          </a:prstGeom>
        </p:spPr>
        <p:txBody>
          <a:bodyPr wrap="square" lIns="0" tIns="0" rIns="0" bIns="0">
            <a:spAutoFit/>
          </a:bodyPr>
          <a:lstStyle>
            <a:lvl1pPr>
              <a:defRPr sz="2200" b="1" i="1">
                <a:solidFill>
                  <a:schemeClr val="tx1"/>
                </a:solidFill>
                <a:latin typeface="Courier New" panose="02070309020205020404"/>
                <a:cs typeface="Courier New" panose="02070309020205020404"/>
              </a:defRPr>
            </a:lvl1pPr>
          </a:lstStyle>
          <a:p/>
        </p:txBody>
      </p:sp>
      <p:sp>
        <p:nvSpPr>
          <p:cNvPr id="4" name="Holder 4"/>
          <p:cNvSpPr>
            <a:spLocks noGrp="1"/>
          </p:cNvSpPr>
          <p:nvPr>
            <p:ph type="ftr" sz="quarter" idx="5"/>
          </p:nvPr>
        </p:nvSpPr>
        <p:spPr>
          <a:xfrm>
            <a:off x="1093724" y="7039050"/>
            <a:ext cx="2503170" cy="243840"/>
          </a:xfrm>
          <a:prstGeom prst="rect">
            <a:avLst/>
          </a:prstGeom>
        </p:spPr>
        <p:txBody>
          <a:bodyPr wrap="square" lIns="0" tIns="0" rIns="0" bIns="0">
            <a:spAutoFit/>
          </a:bodyPr>
          <a:lstStyle>
            <a:lvl1pPr>
              <a:defRPr sz="1500" b="0" i="0">
                <a:solidFill>
                  <a:srgbClr val="696464"/>
                </a:solidFill>
                <a:latin typeface="Arial" panose="020B0604020202020204"/>
                <a:cs typeface="Arial" panose="020B0604020202020204"/>
              </a:defRPr>
            </a:lvl1pPr>
          </a:lstStyle>
          <a:p>
            <a:pPr marL="12700">
              <a:lnSpc>
                <a:spcPts val="1790"/>
              </a:lnSpc>
            </a:pPr>
            <a:r>
              <a:rPr spc="15" dirty="0"/>
              <a:t>CS-2006 Operating</a:t>
            </a:r>
            <a:r>
              <a:rPr spc="-45" dirty="0"/>
              <a:t> </a:t>
            </a:r>
            <a:r>
              <a:rPr spc="10" dirty="0"/>
              <a:t>Systems</a:t>
            </a:r>
            <a:endParaRPr spc="10" dirty="0"/>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284479" y="7077995"/>
            <a:ext cx="280670" cy="247015"/>
          </a:xfrm>
          <a:prstGeom prst="rect">
            <a:avLst/>
          </a:prstGeom>
        </p:spPr>
        <p:txBody>
          <a:bodyPr wrap="square" lIns="0" tIns="0" rIns="0" bIns="0">
            <a:spAutoFit/>
          </a:bodyPr>
          <a:lstStyle>
            <a:lvl1pPr>
              <a:defRPr sz="1500" b="0" i="0">
                <a:solidFill>
                  <a:schemeClr val="bg1"/>
                </a:solidFill>
                <a:latin typeface="Trebuchet MS" panose="020B0603020202020204"/>
                <a:cs typeface="Trebuchet MS" panose="020B0603020202020204"/>
              </a:defRPr>
            </a:lvl1pPr>
          </a:lstStyle>
          <a:p>
            <a:pPr marL="12700">
              <a:lnSpc>
                <a:spcPct val="100000"/>
              </a:lnSpc>
              <a:spcBef>
                <a:spcPts val="5"/>
              </a:spcBef>
            </a:pPr>
            <a:r>
              <a:rPr spc="114" dirty="0"/>
              <a:t>2</a:t>
            </a:r>
            <a:fld id="{81D60167-4931-47E6-BA6A-407CBD079E47}" type="slidenum">
              <a:rPr spc="114" dirty="0"/>
            </a:fld>
            <a:endParaRPr spc="114"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png"/><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5" Type="http://schemas.openxmlformats.org/officeDocument/2006/relationships/slideLayout" Target="../slideLayouts/slideLayout2.xml"/><Relationship Id="rId44" Type="http://schemas.openxmlformats.org/officeDocument/2006/relationships/image" Target="../media/image48.png"/><Relationship Id="rId43" Type="http://schemas.openxmlformats.org/officeDocument/2006/relationships/image" Target="../media/image47.png"/><Relationship Id="rId42" Type="http://schemas.openxmlformats.org/officeDocument/2006/relationships/image" Target="../media/image46.png"/><Relationship Id="rId41" Type="http://schemas.openxmlformats.org/officeDocument/2006/relationships/image" Target="../media/image45.png"/><Relationship Id="rId40" Type="http://schemas.openxmlformats.org/officeDocument/2006/relationships/image" Target="../media/image44.png"/><Relationship Id="rId4" Type="http://schemas.openxmlformats.org/officeDocument/2006/relationships/image" Target="../media/image8.png"/><Relationship Id="rId39" Type="http://schemas.openxmlformats.org/officeDocument/2006/relationships/image" Target="../media/image43.png"/><Relationship Id="rId38" Type="http://schemas.openxmlformats.org/officeDocument/2006/relationships/image" Target="../media/image42.png"/><Relationship Id="rId37" Type="http://schemas.openxmlformats.org/officeDocument/2006/relationships/image" Target="../media/image41.png"/><Relationship Id="rId36" Type="http://schemas.openxmlformats.org/officeDocument/2006/relationships/image" Target="../media/image40.png"/><Relationship Id="rId35" Type="http://schemas.openxmlformats.org/officeDocument/2006/relationships/image" Target="../media/image39.png"/><Relationship Id="rId34" Type="http://schemas.openxmlformats.org/officeDocument/2006/relationships/image" Target="../media/image38.png"/><Relationship Id="rId33" Type="http://schemas.openxmlformats.org/officeDocument/2006/relationships/image" Target="../media/image37.png"/><Relationship Id="rId32" Type="http://schemas.openxmlformats.org/officeDocument/2006/relationships/image" Target="../media/image36.png"/><Relationship Id="rId31" Type="http://schemas.openxmlformats.org/officeDocument/2006/relationships/image" Target="../media/image35.png"/><Relationship Id="rId30" Type="http://schemas.openxmlformats.org/officeDocument/2006/relationships/image" Target="../media/image34.png"/><Relationship Id="rId3" Type="http://schemas.openxmlformats.org/officeDocument/2006/relationships/image" Target="../media/image7.png"/><Relationship Id="rId29" Type="http://schemas.openxmlformats.org/officeDocument/2006/relationships/image" Target="../media/image33.png"/><Relationship Id="rId28" Type="http://schemas.openxmlformats.org/officeDocument/2006/relationships/image" Target="../media/image32.png"/><Relationship Id="rId27" Type="http://schemas.openxmlformats.org/officeDocument/2006/relationships/image" Target="../media/image31.png"/><Relationship Id="rId26" Type="http://schemas.openxmlformats.org/officeDocument/2006/relationships/image" Target="../media/image30.png"/><Relationship Id="rId25" Type="http://schemas.openxmlformats.org/officeDocument/2006/relationships/image" Target="../media/image29.png"/><Relationship Id="rId24" Type="http://schemas.openxmlformats.org/officeDocument/2006/relationships/image" Target="../media/image28.png"/><Relationship Id="rId23" Type="http://schemas.openxmlformats.org/officeDocument/2006/relationships/image" Target="../media/image27.png"/><Relationship Id="rId22" Type="http://schemas.openxmlformats.org/officeDocument/2006/relationships/image" Target="../media/image26.png"/><Relationship Id="rId21" Type="http://schemas.openxmlformats.org/officeDocument/2006/relationships/image" Target="../media/image25.png"/><Relationship Id="rId20" Type="http://schemas.openxmlformats.org/officeDocument/2006/relationships/image" Target="../media/image24.png"/><Relationship Id="rId2" Type="http://schemas.openxmlformats.org/officeDocument/2006/relationships/image" Target="../media/image6.png"/><Relationship Id="rId19" Type="http://schemas.openxmlformats.org/officeDocument/2006/relationships/image" Target="../media/image23.png"/><Relationship Id="rId18" Type="http://schemas.openxmlformats.org/officeDocument/2006/relationships/image" Target="../media/image22.png"/><Relationship Id="rId17" Type="http://schemas.openxmlformats.org/officeDocument/2006/relationships/image" Target="../media/image21.png"/><Relationship Id="rId16" Type="http://schemas.openxmlformats.org/officeDocument/2006/relationships/image" Target="../media/image20.png"/><Relationship Id="rId15" Type="http://schemas.openxmlformats.org/officeDocument/2006/relationships/image" Target="../media/image19.png"/><Relationship Id="rId14" Type="http://schemas.openxmlformats.org/officeDocument/2006/relationships/image" Target="../media/image18.png"/><Relationship Id="rId13" Type="http://schemas.openxmlformats.org/officeDocument/2006/relationships/image" Target="../media/image17.png"/><Relationship Id="rId12" Type="http://schemas.openxmlformats.org/officeDocument/2006/relationships/image" Target="../media/image16.png"/><Relationship Id="rId11" Type="http://schemas.openxmlformats.org/officeDocument/2006/relationships/image" Target="../media/image15.png"/><Relationship Id="rId10" Type="http://schemas.openxmlformats.org/officeDocument/2006/relationships/image" Target="../media/image14.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9.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7.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85444" y="1035288"/>
            <a:ext cx="4203700" cy="1668780"/>
          </a:xfrm>
          <a:prstGeom prst="rect">
            <a:avLst/>
          </a:prstGeom>
        </p:spPr>
        <p:txBody>
          <a:bodyPr vert="horz" wrap="square" lIns="0" tIns="11430" rIns="0" bIns="0" rtlCol="0">
            <a:spAutoFit/>
          </a:bodyPr>
          <a:lstStyle/>
          <a:p>
            <a:pPr marL="1219200" marR="5080" indent="-1207135">
              <a:lnSpc>
                <a:spcPct val="112000"/>
              </a:lnSpc>
              <a:spcBef>
                <a:spcPts val="90"/>
              </a:spcBef>
            </a:pPr>
            <a:r>
              <a:rPr sz="4800" b="0" spc="-150" dirty="0">
                <a:solidFill>
                  <a:srgbClr val="0070BF"/>
                </a:solidFill>
                <a:latin typeface="Times New Roman" panose="02020603050405020304"/>
                <a:cs typeface="Times New Roman" panose="02020603050405020304"/>
              </a:rPr>
              <a:t>Operating </a:t>
            </a:r>
            <a:r>
              <a:rPr sz="4800" b="0" spc="-300" dirty="0">
                <a:solidFill>
                  <a:srgbClr val="0070BF"/>
                </a:solidFill>
                <a:latin typeface="Times New Roman" panose="02020603050405020304"/>
                <a:cs typeface="Times New Roman" panose="02020603050405020304"/>
              </a:rPr>
              <a:t>Systems  </a:t>
            </a:r>
            <a:r>
              <a:rPr sz="4800" b="0" spc="-270" dirty="0">
                <a:solidFill>
                  <a:srgbClr val="0070BF"/>
                </a:solidFill>
                <a:latin typeface="Times New Roman" panose="02020603050405020304"/>
                <a:cs typeface="Times New Roman" panose="02020603050405020304"/>
              </a:rPr>
              <a:t>CS2006</a:t>
            </a:r>
            <a:endParaRPr sz="4800">
              <a:latin typeface="Times New Roman" panose="02020603050405020304"/>
              <a:cs typeface="Times New Roman" panose="02020603050405020304"/>
            </a:endParaRPr>
          </a:p>
        </p:txBody>
      </p:sp>
      <p:sp>
        <p:nvSpPr>
          <p:cNvPr id="3" name="object 3"/>
          <p:cNvSpPr txBox="1">
            <a:spLocks noGrp="1"/>
          </p:cNvSpPr>
          <p:nvPr>
            <p:ph type="body" idx="1"/>
          </p:nvPr>
        </p:nvSpPr>
        <p:spPr>
          <a:xfrm>
            <a:off x="506951" y="1602168"/>
            <a:ext cx="9044305" cy="4169410"/>
          </a:xfrm>
          <a:prstGeom prst="rect">
            <a:avLst/>
          </a:prstGeom>
        </p:spPr>
        <p:txBody>
          <a:bodyPr vert="horz" wrap="square" lIns="0" tIns="1752412" rIns="0" bIns="0" rtlCol="0">
            <a:spAutoFit/>
          </a:bodyPr>
          <a:lstStyle/>
          <a:p>
            <a:pPr marL="312420" algn="ctr">
              <a:lnSpc>
                <a:spcPct val="100000"/>
              </a:lnSpc>
              <a:spcBef>
                <a:spcPts val="685"/>
              </a:spcBef>
            </a:pPr>
            <a:r>
              <a:rPr lang="en-US" sz="3500" b="0" i="0" spc="-130" dirty="0">
                <a:latin typeface="Times New Roman" panose="02020603050405020304"/>
                <a:cs typeface="Times New Roman" panose="02020603050405020304"/>
              </a:rPr>
              <a:t>Chapter:3</a:t>
            </a:r>
            <a:endParaRPr lang="en-US" sz="3500" b="0" i="0" spc="-130" dirty="0">
              <a:latin typeface="Times New Roman" panose="02020603050405020304"/>
              <a:cs typeface="Times New Roman" panose="02020603050405020304"/>
            </a:endParaRPr>
          </a:p>
          <a:p>
            <a:pPr marL="312420" algn="ctr">
              <a:lnSpc>
                <a:spcPct val="100000"/>
              </a:lnSpc>
              <a:spcBef>
                <a:spcPts val="685"/>
              </a:spcBef>
            </a:pPr>
            <a:r>
              <a:rPr sz="3500" i="0" spc="-130" dirty="0">
                <a:solidFill>
                  <a:srgbClr val="FF0000"/>
                </a:solidFill>
                <a:latin typeface="Trebuchet MS" panose="020B0603020202020204"/>
                <a:cs typeface="Trebuchet MS" panose="020B0603020202020204"/>
              </a:rPr>
              <a:t>Inter-Process </a:t>
            </a:r>
            <a:r>
              <a:rPr sz="3500" i="0" spc="-114" dirty="0">
                <a:solidFill>
                  <a:srgbClr val="FF0000"/>
                </a:solidFill>
                <a:latin typeface="Trebuchet MS" panose="020B0603020202020204"/>
                <a:cs typeface="Trebuchet MS" panose="020B0603020202020204"/>
              </a:rPr>
              <a:t>Communication</a:t>
            </a:r>
            <a:r>
              <a:rPr sz="3500" i="0" spc="-325" dirty="0">
                <a:solidFill>
                  <a:srgbClr val="FF0000"/>
                </a:solidFill>
                <a:latin typeface="Trebuchet MS" panose="020B0603020202020204"/>
                <a:cs typeface="Trebuchet MS" panose="020B0603020202020204"/>
              </a:rPr>
              <a:t> </a:t>
            </a:r>
            <a:r>
              <a:rPr sz="3500" i="0" spc="25" dirty="0">
                <a:solidFill>
                  <a:srgbClr val="FF0000"/>
                </a:solidFill>
                <a:latin typeface="Trebuchet MS" panose="020B0603020202020204"/>
                <a:cs typeface="Trebuchet MS" panose="020B0603020202020204"/>
              </a:rPr>
              <a:t>(IPC)</a:t>
            </a:r>
            <a:endParaRPr sz="3500" i="0" spc="25" dirty="0">
              <a:solidFill>
                <a:srgbClr val="FF0000"/>
              </a:solidFill>
              <a:latin typeface="Trebuchet MS" panose="020B0603020202020204"/>
              <a:cs typeface="Trebuchet MS" panose="020B0603020202020204"/>
            </a:endParaRPr>
          </a:p>
          <a:p>
            <a:pPr marL="312420" algn="ctr">
              <a:lnSpc>
                <a:spcPct val="100000"/>
              </a:lnSpc>
              <a:spcBef>
                <a:spcPts val="685"/>
              </a:spcBef>
            </a:pPr>
            <a:r>
              <a:rPr lang="en-US" sz="3500" i="0" spc="25" dirty="0">
                <a:solidFill>
                  <a:srgbClr val="FF0000"/>
                </a:solidFill>
                <a:latin typeface="Trebuchet MS" panose="020B0603020202020204"/>
                <a:cs typeface="Trebuchet MS" panose="020B0603020202020204"/>
              </a:rPr>
              <a:t>Part:2</a:t>
            </a:r>
            <a:endParaRPr sz="3500">
              <a:latin typeface="Trebuchet MS" panose="020B0603020202020204"/>
              <a:cs typeface="Trebuchet MS" panose="020B0603020202020204"/>
            </a:endParaRPr>
          </a:p>
          <a:p>
            <a:pPr marL="317500" algn="ctr">
              <a:lnSpc>
                <a:spcPct val="100000"/>
              </a:lnSpc>
              <a:spcBef>
                <a:spcPts val="685"/>
              </a:spcBef>
            </a:pPr>
            <a:endParaRPr sz="3500">
              <a:latin typeface="Times New Roman" panose="02020603050405020304"/>
              <a:cs typeface="Times New Roman" panose="02020603050405020304"/>
            </a:endParaRPr>
          </a:p>
        </p:txBody>
      </p:sp>
      <p:sp>
        <p:nvSpPr>
          <p:cNvPr id="5" name="object 5"/>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7" name="object 7"/>
          <p:cNvSpPr txBox="1"/>
          <p:nvPr/>
        </p:nvSpPr>
        <p:spPr>
          <a:xfrm>
            <a:off x="316991" y="7077995"/>
            <a:ext cx="191135" cy="247650"/>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z="1500" spc="110" dirty="0">
                <a:solidFill>
                  <a:srgbClr val="FFFFFF"/>
                </a:solidFill>
                <a:latin typeface="Trebuchet MS" panose="020B0603020202020204"/>
                <a:cs typeface="Trebuchet MS" panose="020B0603020202020204"/>
              </a:rPr>
            </a:fld>
            <a:endParaRPr sz="1500">
              <a:latin typeface="Trebuchet MS" panose="020B0603020202020204"/>
              <a:cs typeface="Trebuchet MS" panose="020B0603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914555" y="2819117"/>
            <a:ext cx="7871149" cy="607695"/>
          </a:xfrm>
        </p:spPr>
        <p:txBody>
          <a:bodyPr/>
          <a:p>
            <a:r>
              <a:rPr lang="en-US"/>
              <a:t>Overview</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00533" y="590902"/>
            <a:ext cx="7257333" cy="607695"/>
          </a:xfrm>
        </p:spPr>
        <p:txBody>
          <a:bodyPr/>
          <a:p>
            <a:r>
              <a:rPr lang="en-US"/>
              <a:t>Zombie Vs Orphan</a:t>
            </a:r>
            <a:endParaRPr lang="en-US"/>
          </a:p>
        </p:txBody>
      </p:sp>
      <p:sp>
        <p:nvSpPr>
          <p:cNvPr id="3" name="Text Placeholder 2"/>
          <p:cNvSpPr>
            <a:spLocks noGrp="1"/>
          </p:cNvSpPr>
          <p:nvPr>
            <p:ph type="body" idx="1"/>
          </p:nvPr>
        </p:nvSpPr>
        <p:spPr>
          <a:xfrm>
            <a:off x="506951" y="1602168"/>
            <a:ext cx="9044305" cy="4862830"/>
          </a:xfrm>
        </p:spPr>
        <p:txBody>
          <a:bodyPr/>
          <a:p>
            <a:r>
              <a:rPr lang="en-US" sz="3200" i="0">
                <a:latin typeface="Times New Roman" panose="02020603050405020304" pitchFamily="18" charset="0"/>
                <a:cs typeface="Times New Roman" panose="02020603050405020304" pitchFamily="18" charset="0"/>
              </a:rPr>
              <a:t>1- Re-aping a process</a:t>
            </a:r>
            <a:endParaRPr lang="en-US" sz="3200" i="0">
              <a:latin typeface="Times New Roman" panose="02020603050405020304" pitchFamily="18" charset="0"/>
              <a:cs typeface="Times New Roman" panose="02020603050405020304" pitchFamily="18" charset="0"/>
            </a:endParaRPr>
          </a:p>
          <a:p>
            <a:r>
              <a:rPr lang="en-US" altLang="en-US" sz="2800" b="0" i="0">
                <a:latin typeface="Times New Roman" panose="02020603050405020304" pitchFamily="18" charset="0"/>
                <a:cs typeface="Times New Roman" panose="02020603050405020304" pitchFamily="18" charset="0"/>
              </a:rPr>
              <a:t>When a parent process (</a:t>
            </a:r>
            <a:r>
              <a:rPr lang="en-US" altLang="en-US" sz="2800" i="0">
                <a:latin typeface="Times New Roman" panose="02020603050405020304" pitchFamily="18" charset="0"/>
                <a:cs typeface="Times New Roman" panose="02020603050405020304" pitchFamily="18" charset="0"/>
              </a:rPr>
              <a:t>waits</a:t>
            </a:r>
            <a:r>
              <a:rPr lang="en-US" altLang="en-US" sz="2800" b="0" i="0">
                <a:latin typeface="Times New Roman" panose="02020603050405020304" pitchFamily="18" charset="0"/>
                <a:cs typeface="Times New Roman" panose="02020603050405020304" pitchFamily="18" charset="0"/>
              </a:rPr>
              <a:t>) and then removes a child process's PCB (Process Control Block) after the child </a:t>
            </a:r>
            <a:r>
              <a:rPr lang="en-US" altLang="en-US" sz="2800" i="0">
                <a:latin typeface="Times New Roman" panose="02020603050405020304" pitchFamily="18" charset="0"/>
                <a:cs typeface="Times New Roman" panose="02020603050405020304" pitchFamily="18" charset="0"/>
              </a:rPr>
              <a:t>exits</a:t>
            </a:r>
            <a:r>
              <a:rPr lang="en-US" altLang="en-US" sz="2800" b="0" i="0">
                <a:latin typeface="Times New Roman" panose="02020603050405020304" pitchFamily="18" charset="0"/>
                <a:cs typeface="Times New Roman" panose="02020603050405020304" pitchFamily="18" charset="0"/>
              </a:rPr>
              <a:t>, freeing its resources and fully terminating it.</a:t>
            </a:r>
            <a:endParaRPr lang="en-US" altLang="en-US" sz="2800" b="0" i="0">
              <a:latin typeface="Times New Roman" panose="02020603050405020304" pitchFamily="18" charset="0"/>
              <a:cs typeface="Times New Roman" panose="02020603050405020304" pitchFamily="18" charset="0"/>
            </a:endParaRPr>
          </a:p>
          <a:p>
            <a:r>
              <a:rPr lang="en-US" altLang="en-US" sz="2800" b="0" i="0">
                <a:latin typeface="Times New Roman" panose="02020603050405020304" pitchFamily="18" charset="0"/>
                <a:cs typeface="Times New Roman" panose="02020603050405020304" pitchFamily="18" charset="0"/>
              </a:rPr>
              <a:t>“Check child process state by using </a:t>
            </a:r>
            <a:r>
              <a:rPr lang="en-US" altLang="en-US" sz="2800" i="0">
                <a:latin typeface="Times New Roman" panose="02020603050405020304" pitchFamily="18" charset="0"/>
                <a:cs typeface="Times New Roman" panose="02020603050405020304" pitchFamily="18" charset="0"/>
              </a:rPr>
              <a:t>sleep</a:t>
            </a:r>
            <a:r>
              <a:rPr lang="en-US" altLang="en-US" sz="2800" b="0" i="0">
                <a:latin typeface="Times New Roman" panose="02020603050405020304" pitchFamily="18" charset="0"/>
                <a:cs typeface="Times New Roman" panose="02020603050405020304" pitchFamily="18" charset="0"/>
              </a:rPr>
              <a:t>(100) call.”</a:t>
            </a:r>
            <a:endParaRPr lang="en-US" altLang="en-US" sz="2800" b="0" i="0">
              <a:latin typeface="Times New Roman" panose="02020603050405020304" pitchFamily="18" charset="0"/>
              <a:cs typeface="Times New Roman" panose="02020603050405020304" pitchFamily="18" charset="0"/>
            </a:endParaRPr>
          </a:p>
          <a:p>
            <a:r>
              <a:rPr lang="en-US" sz="3200" i="0">
                <a:latin typeface="Times New Roman" panose="02020603050405020304" pitchFamily="18" charset="0"/>
                <a:cs typeface="Times New Roman" panose="02020603050405020304" pitchFamily="18" charset="0"/>
              </a:rPr>
              <a:t>2- Reparenting a process</a:t>
            </a:r>
            <a:endParaRPr lang="en-US" sz="3200" i="0">
              <a:latin typeface="Times New Roman" panose="02020603050405020304" pitchFamily="18" charset="0"/>
              <a:cs typeface="Times New Roman" panose="02020603050405020304" pitchFamily="18" charset="0"/>
            </a:endParaRPr>
          </a:p>
          <a:p>
            <a:r>
              <a:rPr lang="en-US" altLang="en-US" sz="2800" b="0" i="0">
                <a:latin typeface="Times New Roman" panose="02020603050405020304" pitchFamily="18" charset="0"/>
                <a:cs typeface="Times New Roman" panose="02020603050405020304" pitchFamily="18" charset="0"/>
              </a:rPr>
              <a:t>Happens when the parent process of a child terminates before the child does. The orphaned process is typically reparented to the </a:t>
            </a:r>
            <a:r>
              <a:rPr lang="en-US" altLang="en-US" sz="2800" i="0">
                <a:latin typeface="Times New Roman" panose="02020603050405020304" pitchFamily="18" charset="0"/>
                <a:cs typeface="Times New Roman" panose="02020603050405020304" pitchFamily="18" charset="0"/>
              </a:rPr>
              <a:t>init </a:t>
            </a:r>
            <a:r>
              <a:rPr lang="en-US" altLang="en-US" sz="2800" b="0" i="0">
                <a:latin typeface="Times New Roman" panose="02020603050405020304" pitchFamily="18" charset="0"/>
                <a:cs typeface="Times New Roman" panose="02020603050405020304" pitchFamily="18" charset="0"/>
              </a:rPr>
              <a:t>process (PID 1 in Linux) to ensure it has proper process management.</a:t>
            </a:r>
            <a:endParaRPr lang="en-US" altLang="en-US" sz="2800" b="0" i="0">
              <a:latin typeface="Times New Roman" panose="02020603050405020304" pitchFamily="18" charset="0"/>
              <a:cs typeface="Times New Roman" panose="02020603050405020304" pitchFamily="18" charset="0"/>
            </a:endParaRPr>
          </a:p>
          <a:p>
            <a:endParaRPr lang="en-US" altLang="en-US" sz="2800" b="0" i="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1400533" y="286102"/>
            <a:ext cx="7257333" cy="607695"/>
          </a:xfrm>
        </p:spPr>
        <p:txBody>
          <a:bodyPr/>
          <a:p>
            <a:r>
              <a:rPr lang="en-US" altLang="en-US"/>
              <a:t>Process states: more detail</a:t>
            </a:r>
            <a:endParaRPr lang="en-US" altLang="en-US"/>
          </a:p>
        </p:txBody>
      </p:sp>
      <p:pic>
        <p:nvPicPr>
          <p:cNvPr id="4" name="Picture 3"/>
          <p:cNvPicPr/>
          <p:nvPr/>
        </p:nvPicPr>
        <p:blipFill>
          <a:blip r:embed="rId1"/>
          <a:stretch>
            <a:fillRect/>
          </a:stretch>
        </p:blipFill>
        <p:spPr>
          <a:xfrm>
            <a:off x="609600" y="1066800"/>
            <a:ext cx="8822055" cy="6366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57150" y="3546475"/>
            <a:ext cx="10130790" cy="591185"/>
          </a:xfrm>
        </p:spPr>
        <p:txBody>
          <a:bodyPr wrap="square">
            <a:noAutofit/>
          </a:bodyPr>
          <a:p>
            <a:r>
              <a:rPr lang="en-US" sz="3200"/>
              <a:t>				Orphan Process</a:t>
            </a:r>
            <a:endParaRPr lang="en-US" sz="3200"/>
          </a:p>
        </p:txBody>
      </p:sp>
      <p:pic>
        <p:nvPicPr>
          <p:cNvPr id="7" name="Picture 6"/>
          <p:cNvPicPr/>
          <p:nvPr/>
        </p:nvPicPr>
        <p:blipFill>
          <a:blip r:embed="rId1"/>
          <a:stretch>
            <a:fillRect/>
          </a:stretch>
        </p:blipFill>
        <p:spPr>
          <a:xfrm>
            <a:off x="0" y="-76200"/>
            <a:ext cx="10020300" cy="3661410"/>
          </a:xfrm>
          <a:prstGeom prst="rect">
            <a:avLst/>
          </a:prstGeom>
        </p:spPr>
      </p:pic>
      <p:pic>
        <p:nvPicPr>
          <p:cNvPr id="4" name="Picture 3"/>
          <p:cNvPicPr>
            <a:picLocks noChangeAspect="1"/>
          </p:cNvPicPr>
          <p:nvPr/>
        </p:nvPicPr>
        <p:blipFill>
          <a:blip r:embed="rId2"/>
          <a:stretch>
            <a:fillRect/>
          </a:stretch>
        </p:blipFill>
        <p:spPr>
          <a:xfrm>
            <a:off x="-635" y="4144010"/>
            <a:ext cx="10059035" cy="36283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430530" y="365760"/>
            <a:ext cx="9326245" cy="71393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630448"/>
            <a:ext cx="5798185" cy="696595"/>
          </a:xfrm>
          <a:prstGeom prst="rect">
            <a:avLst/>
          </a:prstGeom>
        </p:spPr>
        <p:txBody>
          <a:bodyPr vert="horz" wrap="square" lIns="0" tIns="12700" rIns="0" bIns="0" rtlCol="0">
            <a:spAutoFit/>
          </a:bodyPr>
          <a:lstStyle/>
          <a:p>
            <a:pPr marL="12700">
              <a:lnSpc>
                <a:spcPct val="100000"/>
              </a:lnSpc>
              <a:spcBef>
                <a:spcPts val="100"/>
              </a:spcBef>
            </a:pPr>
            <a:r>
              <a:rPr sz="4400" b="0" spc="-140" dirty="0">
                <a:solidFill>
                  <a:srgbClr val="696464"/>
                </a:solidFill>
                <a:latin typeface="Trebuchet MS" panose="020B0603020202020204"/>
                <a:cs typeface="Trebuchet MS" panose="020B0603020202020204"/>
              </a:rPr>
              <a:t>What’s </a:t>
            </a:r>
            <a:r>
              <a:rPr sz="4400" b="0" spc="-135" dirty="0">
                <a:solidFill>
                  <a:srgbClr val="696464"/>
                </a:solidFill>
                <a:latin typeface="Trebuchet MS" panose="020B0603020202020204"/>
                <a:cs typeface="Trebuchet MS" panose="020B0603020202020204"/>
              </a:rPr>
              <a:t>in </a:t>
            </a:r>
            <a:r>
              <a:rPr sz="4400" b="0" spc="-190" dirty="0">
                <a:solidFill>
                  <a:srgbClr val="696464"/>
                </a:solidFill>
                <a:latin typeface="Trebuchet MS" panose="020B0603020202020204"/>
                <a:cs typeface="Trebuchet MS" panose="020B0603020202020204"/>
              </a:rPr>
              <a:t>today’s</a:t>
            </a:r>
            <a:r>
              <a:rPr sz="4400" b="0" spc="-490" dirty="0">
                <a:solidFill>
                  <a:srgbClr val="696464"/>
                </a:solidFill>
                <a:latin typeface="Trebuchet MS" panose="020B0603020202020204"/>
                <a:cs typeface="Trebuchet MS" panose="020B0603020202020204"/>
              </a:rPr>
              <a:t> </a:t>
            </a:r>
            <a:r>
              <a:rPr sz="4400" b="0" spc="-185" dirty="0">
                <a:solidFill>
                  <a:srgbClr val="696464"/>
                </a:solidFill>
                <a:latin typeface="Trebuchet MS" panose="020B0603020202020204"/>
                <a:cs typeface="Trebuchet MS" panose="020B0603020202020204"/>
              </a:rPr>
              <a:t>lecture</a:t>
            </a:r>
            <a:endParaRPr sz="4400">
              <a:latin typeface="Trebuchet MS" panose="020B0603020202020204"/>
              <a:cs typeface="Trebuchet MS" panose="020B0603020202020204"/>
            </a:endParaRPr>
          </a:p>
        </p:txBody>
      </p:sp>
      <p:sp>
        <p:nvSpPr>
          <p:cNvPr id="3" name="object 3"/>
          <p:cNvSpPr txBox="1"/>
          <p:nvPr/>
        </p:nvSpPr>
        <p:spPr>
          <a:xfrm>
            <a:off x="1093655" y="1604959"/>
            <a:ext cx="5582285" cy="3345179"/>
          </a:xfrm>
          <a:prstGeom prst="rect">
            <a:avLst/>
          </a:prstGeom>
        </p:spPr>
        <p:txBody>
          <a:bodyPr vert="horz" wrap="square" lIns="0" tIns="99695" rIns="0" bIns="0" rtlCol="0">
            <a:spAutoFit/>
          </a:bodyPr>
          <a:lstStyle/>
          <a:p>
            <a:pPr marL="577850" indent="-565785">
              <a:lnSpc>
                <a:spcPct val="100000"/>
              </a:lnSpc>
              <a:spcBef>
                <a:spcPts val="785"/>
              </a:spcBef>
              <a:buClr>
                <a:srgbClr val="D34816"/>
              </a:buClr>
              <a:buSzPct val="85000"/>
              <a:buAutoNum type="arabicPeriod"/>
              <a:tabLst>
                <a:tab pos="577850" algn="l"/>
                <a:tab pos="578485" algn="l"/>
              </a:tabLst>
            </a:pPr>
            <a:r>
              <a:rPr sz="3050" spc="-145" dirty="0">
                <a:latin typeface="Times New Roman" panose="02020603050405020304"/>
                <a:cs typeface="Times New Roman" panose="02020603050405020304"/>
              </a:rPr>
              <a:t>Process</a:t>
            </a:r>
            <a:r>
              <a:rPr sz="3050" spc="-70" dirty="0">
                <a:latin typeface="Times New Roman" panose="02020603050405020304"/>
                <a:cs typeface="Times New Roman" panose="02020603050405020304"/>
              </a:rPr>
              <a:t> </a:t>
            </a:r>
            <a:r>
              <a:rPr sz="3050" spc="-105" dirty="0">
                <a:latin typeface="Times New Roman" panose="02020603050405020304"/>
                <a:cs typeface="Times New Roman" panose="02020603050405020304"/>
              </a:rPr>
              <a:t>Concept</a:t>
            </a:r>
            <a:endParaRPr sz="3050">
              <a:latin typeface="Times New Roman" panose="02020603050405020304"/>
              <a:cs typeface="Times New Roman" panose="02020603050405020304"/>
            </a:endParaRPr>
          </a:p>
          <a:p>
            <a:pPr marL="577850" indent="-565785">
              <a:lnSpc>
                <a:spcPct val="100000"/>
              </a:lnSpc>
              <a:spcBef>
                <a:spcPts val="700"/>
              </a:spcBef>
              <a:buClr>
                <a:srgbClr val="D34816"/>
              </a:buClr>
              <a:buSzPct val="85000"/>
              <a:buAutoNum type="arabicPeriod"/>
              <a:tabLst>
                <a:tab pos="577850" algn="l"/>
                <a:tab pos="578485" algn="l"/>
              </a:tabLst>
            </a:pPr>
            <a:r>
              <a:rPr sz="3050" spc="-145" dirty="0">
                <a:latin typeface="Times New Roman" panose="02020603050405020304"/>
                <a:cs typeface="Times New Roman" panose="02020603050405020304"/>
              </a:rPr>
              <a:t>Process </a:t>
            </a:r>
            <a:r>
              <a:rPr sz="3050" spc="-175" dirty="0">
                <a:latin typeface="Times New Roman" panose="02020603050405020304"/>
                <a:cs typeface="Times New Roman" panose="02020603050405020304"/>
              </a:rPr>
              <a:t>Manager</a:t>
            </a:r>
            <a:r>
              <a:rPr sz="3050" spc="-5" dirty="0">
                <a:latin typeface="Times New Roman" panose="02020603050405020304"/>
                <a:cs typeface="Times New Roman" panose="02020603050405020304"/>
              </a:rPr>
              <a:t> </a:t>
            </a:r>
            <a:r>
              <a:rPr sz="3050" spc="-140" dirty="0">
                <a:latin typeface="Times New Roman" panose="02020603050405020304"/>
                <a:cs typeface="Times New Roman" panose="02020603050405020304"/>
              </a:rPr>
              <a:t>Responsibilities</a:t>
            </a:r>
            <a:endParaRPr sz="3050">
              <a:latin typeface="Times New Roman" panose="02020603050405020304"/>
              <a:cs typeface="Times New Roman" panose="02020603050405020304"/>
            </a:endParaRPr>
          </a:p>
          <a:p>
            <a:pPr marL="577850" indent="-565785">
              <a:lnSpc>
                <a:spcPct val="100000"/>
              </a:lnSpc>
              <a:spcBef>
                <a:spcPts val="695"/>
              </a:spcBef>
              <a:buClr>
                <a:srgbClr val="D34816"/>
              </a:buClr>
              <a:buSzPct val="85000"/>
              <a:buAutoNum type="arabicPeriod"/>
              <a:tabLst>
                <a:tab pos="577850" algn="l"/>
                <a:tab pos="578485" algn="l"/>
              </a:tabLst>
            </a:pPr>
            <a:r>
              <a:rPr sz="3050" spc="-145" dirty="0">
                <a:latin typeface="Times New Roman" panose="02020603050405020304"/>
                <a:cs typeface="Times New Roman" panose="02020603050405020304"/>
              </a:rPr>
              <a:t>Process</a:t>
            </a:r>
            <a:r>
              <a:rPr sz="3050" spc="-70" dirty="0">
                <a:latin typeface="Times New Roman" panose="02020603050405020304"/>
                <a:cs typeface="Times New Roman" panose="02020603050405020304"/>
              </a:rPr>
              <a:t> </a:t>
            </a:r>
            <a:r>
              <a:rPr sz="3050" spc="-165" dirty="0">
                <a:latin typeface="Times New Roman" panose="02020603050405020304"/>
                <a:cs typeface="Times New Roman" panose="02020603050405020304"/>
              </a:rPr>
              <a:t>Scheduling</a:t>
            </a:r>
            <a:endParaRPr sz="3050">
              <a:latin typeface="Times New Roman" panose="02020603050405020304"/>
              <a:cs typeface="Times New Roman" panose="02020603050405020304"/>
            </a:endParaRPr>
          </a:p>
          <a:p>
            <a:pPr marL="577850" indent="-565785">
              <a:lnSpc>
                <a:spcPct val="100000"/>
              </a:lnSpc>
              <a:spcBef>
                <a:spcPts val="695"/>
              </a:spcBef>
              <a:buClr>
                <a:srgbClr val="D34816"/>
              </a:buClr>
              <a:buSzPct val="85000"/>
              <a:buAutoNum type="arabicPeriod"/>
              <a:tabLst>
                <a:tab pos="577850" algn="l"/>
                <a:tab pos="578485" algn="l"/>
              </a:tabLst>
            </a:pPr>
            <a:r>
              <a:rPr sz="3050" spc="-95" dirty="0">
                <a:latin typeface="Times New Roman" panose="02020603050405020304"/>
                <a:cs typeface="Times New Roman" panose="02020603050405020304"/>
              </a:rPr>
              <a:t>Operations </a:t>
            </a:r>
            <a:r>
              <a:rPr sz="3050" spc="-110" dirty="0">
                <a:latin typeface="Times New Roman" panose="02020603050405020304"/>
                <a:cs typeface="Times New Roman" panose="02020603050405020304"/>
              </a:rPr>
              <a:t>on</a:t>
            </a:r>
            <a:r>
              <a:rPr sz="3050" spc="-85" dirty="0">
                <a:latin typeface="Times New Roman" panose="02020603050405020304"/>
                <a:cs typeface="Times New Roman" panose="02020603050405020304"/>
              </a:rPr>
              <a:t> </a:t>
            </a:r>
            <a:r>
              <a:rPr sz="3050" spc="-150" dirty="0">
                <a:latin typeface="Times New Roman" panose="02020603050405020304"/>
                <a:cs typeface="Times New Roman" panose="02020603050405020304"/>
              </a:rPr>
              <a:t>Processes</a:t>
            </a:r>
            <a:endParaRPr sz="3050">
              <a:latin typeface="Times New Roman" panose="02020603050405020304"/>
              <a:cs typeface="Times New Roman" panose="02020603050405020304"/>
            </a:endParaRPr>
          </a:p>
          <a:p>
            <a:pPr marL="577850" indent="-565785">
              <a:lnSpc>
                <a:spcPct val="100000"/>
              </a:lnSpc>
              <a:spcBef>
                <a:spcPts val="695"/>
              </a:spcBef>
              <a:buClr>
                <a:srgbClr val="D34816"/>
              </a:buClr>
              <a:buSzPct val="85000"/>
              <a:buAutoNum type="arabicPeriod"/>
              <a:tabLst>
                <a:tab pos="577850" algn="l"/>
                <a:tab pos="578485" algn="l"/>
              </a:tabLst>
            </a:pPr>
            <a:r>
              <a:rPr sz="3050" b="1" spc="-85" dirty="0">
                <a:solidFill>
                  <a:srgbClr val="FF0000"/>
                </a:solidFill>
                <a:latin typeface="Trebuchet MS" panose="020B0603020202020204"/>
                <a:cs typeface="Trebuchet MS" panose="020B0603020202020204"/>
              </a:rPr>
              <a:t>Cooperating</a:t>
            </a:r>
            <a:r>
              <a:rPr sz="3050" b="1" spc="-280" dirty="0">
                <a:solidFill>
                  <a:srgbClr val="FF0000"/>
                </a:solidFill>
                <a:latin typeface="Trebuchet MS" panose="020B0603020202020204"/>
                <a:cs typeface="Trebuchet MS" panose="020B0603020202020204"/>
              </a:rPr>
              <a:t> </a:t>
            </a:r>
            <a:r>
              <a:rPr sz="3050" b="1" spc="-175" dirty="0">
                <a:solidFill>
                  <a:srgbClr val="FF0000"/>
                </a:solidFill>
                <a:latin typeface="Trebuchet MS" panose="020B0603020202020204"/>
                <a:cs typeface="Trebuchet MS" panose="020B0603020202020204"/>
              </a:rPr>
              <a:t>Processes</a:t>
            </a:r>
            <a:endParaRPr sz="3050">
              <a:latin typeface="Trebuchet MS" panose="020B0603020202020204"/>
              <a:cs typeface="Trebuchet MS" panose="020B0603020202020204"/>
            </a:endParaRPr>
          </a:p>
          <a:p>
            <a:pPr marL="577850" indent="-565785">
              <a:lnSpc>
                <a:spcPct val="100000"/>
              </a:lnSpc>
              <a:spcBef>
                <a:spcPts val="695"/>
              </a:spcBef>
              <a:buClr>
                <a:srgbClr val="D34816"/>
              </a:buClr>
              <a:buSzPct val="85000"/>
              <a:buAutoNum type="arabicPeriod"/>
              <a:tabLst>
                <a:tab pos="577850" algn="l"/>
                <a:tab pos="578485" algn="l"/>
              </a:tabLst>
            </a:pPr>
            <a:r>
              <a:rPr sz="3050" b="1" spc="-95" dirty="0">
                <a:solidFill>
                  <a:srgbClr val="FF0000"/>
                </a:solidFill>
                <a:latin typeface="Trebuchet MS" panose="020B0603020202020204"/>
                <a:cs typeface="Trebuchet MS" panose="020B0603020202020204"/>
              </a:rPr>
              <a:t>Inter-process</a:t>
            </a:r>
            <a:r>
              <a:rPr sz="3050" b="1" spc="-280" dirty="0">
                <a:solidFill>
                  <a:srgbClr val="FF0000"/>
                </a:solidFill>
                <a:latin typeface="Trebuchet MS" panose="020B0603020202020204"/>
                <a:cs typeface="Trebuchet MS" panose="020B0603020202020204"/>
              </a:rPr>
              <a:t> </a:t>
            </a:r>
            <a:r>
              <a:rPr sz="3050" b="1" spc="-95" dirty="0">
                <a:solidFill>
                  <a:srgbClr val="FF0000"/>
                </a:solidFill>
                <a:latin typeface="Trebuchet MS" panose="020B0603020202020204"/>
                <a:cs typeface="Trebuchet MS" panose="020B0603020202020204"/>
              </a:rPr>
              <a:t>Communication</a:t>
            </a:r>
            <a:endParaRPr sz="3050">
              <a:latin typeface="Trebuchet MS" panose="020B0603020202020204"/>
              <a:cs typeface="Trebuchet MS" panose="020B06030202020202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p:nvPr/>
        </p:nvSpPr>
        <p:spPr>
          <a:xfrm>
            <a:off x="316991" y="7077995"/>
            <a:ext cx="191135" cy="247650"/>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z="1500" spc="110" dirty="0">
                <a:solidFill>
                  <a:srgbClr val="FFFFFF"/>
                </a:solidFill>
                <a:latin typeface="Trebuchet MS" panose="020B0603020202020204"/>
                <a:cs typeface="Trebuchet MS" panose="020B0603020202020204"/>
              </a:rPr>
            </a:fld>
            <a:endParaRPr sz="1500">
              <a:latin typeface="Trebuchet MS" panose="020B0603020202020204"/>
              <a:cs typeface="Trebuchet MS" panose="020B0603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9096" y="535956"/>
            <a:ext cx="2874010" cy="696595"/>
          </a:xfrm>
          <a:prstGeom prst="rect">
            <a:avLst/>
          </a:prstGeom>
        </p:spPr>
        <p:txBody>
          <a:bodyPr vert="horz" wrap="square" lIns="0" tIns="12700" rIns="0" bIns="0" rtlCol="0">
            <a:spAutoFit/>
          </a:bodyPr>
          <a:lstStyle/>
          <a:p>
            <a:pPr marL="12700">
              <a:lnSpc>
                <a:spcPct val="100000"/>
              </a:lnSpc>
              <a:spcBef>
                <a:spcPts val="100"/>
              </a:spcBef>
            </a:pPr>
            <a:r>
              <a:rPr sz="4400" spc="-275" dirty="0"/>
              <a:t>Introduction</a:t>
            </a:r>
            <a:endParaRPr sz="440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5" name="object 5"/>
          <p:cNvSpPr txBox="1"/>
          <p:nvPr/>
        </p:nvSpPr>
        <p:spPr>
          <a:xfrm>
            <a:off x="316991" y="7077995"/>
            <a:ext cx="191135" cy="247650"/>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z="1500" spc="110" dirty="0">
                <a:solidFill>
                  <a:srgbClr val="FFFFFF"/>
                </a:solidFill>
                <a:latin typeface="Trebuchet MS" panose="020B0603020202020204"/>
                <a:cs typeface="Trebuchet MS" panose="020B0603020202020204"/>
              </a:rPr>
            </a:fld>
            <a:endParaRPr sz="1500">
              <a:latin typeface="Trebuchet MS" panose="020B0603020202020204"/>
              <a:cs typeface="Trebuchet MS" panose="020B0603020202020204"/>
            </a:endParaRPr>
          </a:p>
        </p:txBody>
      </p:sp>
      <p:sp>
        <p:nvSpPr>
          <p:cNvPr id="3" name="object 3"/>
          <p:cNvSpPr txBox="1"/>
          <p:nvPr/>
        </p:nvSpPr>
        <p:spPr>
          <a:xfrm>
            <a:off x="601511" y="1576892"/>
            <a:ext cx="8864600" cy="3836035"/>
          </a:xfrm>
          <a:prstGeom prst="rect">
            <a:avLst/>
          </a:prstGeom>
        </p:spPr>
        <p:txBody>
          <a:bodyPr vert="horz" wrap="square" lIns="0" tIns="12065" rIns="0" bIns="0" rtlCol="0">
            <a:spAutoFit/>
          </a:bodyPr>
          <a:lstStyle/>
          <a:p>
            <a:pPr marL="312420" marR="5715" indent="-300355">
              <a:lnSpc>
                <a:spcPct val="100000"/>
              </a:lnSpc>
              <a:spcBef>
                <a:spcPts val="95"/>
              </a:spcBef>
              <a:buClr>
                <a:srgbClr val="D34816"/>
              </a:buClr>
              <a:buSzPct val="84000"/>
              <a:buFont typeface="Webdings" panose="05030102010509060703"/>
              <a:buChar char=""/>
              <a:tabLst>
                <a:tab pos="312420" algn="l"/>
                <a:tab pos="313055" algn="l"/>
              </a:tabLst>
            </a:pPr>
            <a:r>
              <a:rPr sz="2850" spc="-365" dirty="0">
                <a:latin typeface="Times New Roman" panose="02020603050405020304"/>
                <a:cs typeface="Times New Roman" panose="02020603050405020304"/>
              </a:rPr>
              <a:t>A </a:t>
            </a:r>
            <a:r>
              <a:rPr lang="en-US" sz="2850" spc="-365" dirty="0">
                <a:latin typeface="Times New Roman" panose="02020603050405020304"/>
                <a:cs typeface="Times New Roman" panose="02020603050405020304"/>
              </a:rPr>
              <a:t> </a:t>
            </a:r>
            <a:r>
              <a:rPr sz="2850" spc="-135" dirty="0">
                <a:latin typeface="Times New Roman" panose="02020603050405020304"/>
                <a:cs typeface="Times New Roman" panose="02020603050405020304"/>
              </a:rPr>
              <a:t>process </a:t>
            </a:r>
            <a:r>
              <a:rPr sz="2850" spc="-200" dirty="0">
                <a:latin typeface="Times New Roman" panose="02020603050405020304"/>
                <a:cs typeface="Times New Roman" panose="02020603050405020304"/>
              </a:rPr>
              <a:t>has </a:t>
            </a:r>
            <a:r>
              <a:rPr sz="2850" spc="-190" dirty="0">
                <a:latin typeface="Times New Roman" panose="02020603050405020304"/>
                <a:cs typeface="Times New Roman" panose="02020603050405020304"/>
              </a:rPr>
              <a:t>access </a:t>
            </a:r>
            <a:r>
              <a:rPr sz="2850" spc="-45" dirty="0">
                <a:latin typeface="Times New Roman" panose="02020603050405020304"/>
                <a:cs typeface="Times New Roman" panose="02020603050405020304"/>
              </a:rPr>
              <a:t>to </a:t>
            </a:r>
            <a:r>
              <a:rPr sz="2850" spc="-95" dirty="0">
                <a:latin typeface="Times New Roman" panose="02020603050405020304"/>
                <a:cs typeface="Times New Roman" panose="02020603050405020304"/>
              </a:rPr>
              <a:t>the </a:t>
            </a:r>
            <a:r>
              <a:rPr sz="2850" spc="-125" dirty="0">
                <a:latin typeface="Times New Roman" panose="02020603050405020304"/>
                <a:cs typeface="Times New Roman" panose="02020603050405020304"/>
              </a:rPr>
              <a:t>memory </a:t>
            </a:r>
            <a:r>
              <a:rPr sz="2850" spc="-155" dirty="0">
                <a:latin typeface="Times New Roman" panose="02020603050405020304"/>
                <a:cs typeface="Times New Roman" panose="02020603050405020304"/>
              </a:rPr>
              <a:t>which </a:t>
            </a:r>
            <a:r>
              <a:rPr sz="2850" spc="-100" dirty="0">
                <a:latin typeface="Times New Roman" panose="02020603050405020304"/>
                <a:cs typeface="Times New Roman" panose="02020603050405020304"/>
              </a:rPr>
              <a:t>constitutes </a:t>
            </a:r>
            <a:r>
              <a:rPr sz="2850" spc="-110" dirty="0">
                <a:latin typeface="Times New Roman" panose="02020603050405020304"/>
                <a:cs typeface="Times New Roman" panose="02020603050405020304"/>
              </a:rPr>
              <a:t>its </a:t>
            </a:r>
            <a:r>
              <a:rPr sz="2850" spc="-155" dirty="0">
                <a:latin typeface="Times New Roman" panose="02020603050405020304"/>
                <a:cs typeface="Times New Roman" panose="02020603050405020304"/>
              </a:rPr>
              <a:t>own  </a:t>
            </a:r>
            <a:r>
              <a:rPr sz="2850" spc="-145" dirty="0">
                <a:latin typeface="Times New Roman" panose="02020603050405020304"/>
                <a:cs typeface="Times New Roman" panose="02020603050405020304"/>
              </a:rPr>
              <a:t>address</a:t>
            </a:r>
            <a:r>
              <a:rPr sz="2850" spc="-100" dirty="0">
                <a:latin typeface="Times New Roman" panose="02020603050405020304"/>
                <a:cs typeface="Times New Roman" panose="02020603050405020304"/>
              </a:rPr>
              <a:t> </a:t>
            </a:r>
            <a:r>
              <a:rPr sz="2850" spc="-130" dirty="0">
                <a:latin typeface="Times New Roman" panose="02020603050405020304"/>
                <a:cs typeface="Times New Roman" panose="02020603050405020304"/>
              </a:rPr>
              <a:t>space.</a:t>
            </a:r>
            <a:endParaRPr sz="2850">
              <a:latin typeface="Times New Roman" panose="02020603050405020304"/>
              <a:cs typeface="Times New Roman" panose="02020603050405020304"/>
            </a:endParaRPr>
          </a:p>
          <a:p>
            <a:pPr marL="312420" marR="6985" indent="-300355">
              <a:lnSpc>
                <a:spcPct val="100000"/>
              </a:lnSpc>
              <a:spcBef>
                <a:spcPts val="660"/>
              </a:spcBef>
              <a:buClr>
                <a:srgbClr val="D34816"/>
              </a:buClr>
              <a:buSzPct val="84000"/>
              <a:buFont typeface="Webdings" panose="05030102010509060703"/>
              <a:buChar char=""/>
              <a:tabLst>
                <a:tab pos="312420" algn="l"/>
                <a:tab pos="313055" algn="l"/>
              </a:tabLst>
            </a:pPr>
            <a:r>
              <a:rPr sz="2850" spc="-120" dirty="0">
                <a:latin typeface="Times New Roman" panose="02020603050405020304"/>
                <a:cs typeface="Times New Roman" panose="02020603050405020304"/>
              </a:rPr>
              <a:t>When </a:t>
            </a:r>
            <a:r>
              <a:rPr sz="2850" spc="-225" dirty="0">
                <a:latin typeface="Times New Roman" panose="02020603050405020304"/>
                <a:cs typeface="Times New Roman" panose="02020603050405020304"/>
              </a:rPr>
              <a:t>a </a:t>
            </a:r>
            <a:r>
              <a:rPr sz="2850" spc="-135" dirty="0">
                <a:latin typeface="Times New Roman" panose="02020603050405020304"/>
                <a:cs typeface="Times New Roman" panose="02020603050405020304"/>
              </a:rPr>
              <a:t>child </a:t>
            </a:r>
            <a:r>
              <a:rPr sz="2850" spc="-140" dirty="0">
                <a:latin typeface="Times New Roman" panose="02020603050405020304"/>
                <a:cs typeface="Times New Roman" panose="02020603050405020304"/>
              </a:rPr>
              <a:t>process </a:t>
            </a:r>
            <a:r>
              <a:rPr sz="2850" spc="-180" dirty="0">
                <a:latin typeface="Times New Roman" panose="02020603050405020304"/>
                <a:cs typeface="Times New Roman" panose="02020603050405020304"/>
              </a:rPr>
              <a:t>is </a:t>
            </a:r>
            <a:r>
              <a:rPr sz="2850" spc="-75" dirty="0">
                <a:latin typeface="Times New Roman" panose="02020603050405020304"/>
                <a:cs typeface="Times New Roman" panose="02020603050405020304"/>
              </a:rPr>
              <a:t>created, </a:t>
            </a:r>
            <a:r>
              <a:rPr sz="2850" spc="-85" dirty="0">
                <a:latin typeface="Times New Roman" panose="02020603050405020304"/>
                <a:cs typeface="Times New Roman" panose="02020603050405020304"/>
              </a:rPr>
              <a:t>the </a:t>
            </a:r>
            <a:r>
              <a:rPr sz="2850" spc="-160" dirty="0">
                <a:latin typeface="Times New Roman" panose="02020603050405020304"/>
                <a:cs typeface="Times New Roman" panose="02020603050405020304"/>
              </a:rPr>
              <a:t>only </a:t>
            </a:r>
            <a:r>
              <a:rPr sz="2850" spc="-235" dirty="0">
                <a:latin typeface="Times New Roman" panose="02020603050405020304"/>
                <a:cs typeface="Times New Roman" panose="02020603050405020304"/>
              </a:rPr>
              <a:t>way </a:t>
            </a:r>
            <a:r>
              <a:rPr sz="2850" spc="-45" dirty="0">
                <a:latin typeface="Times New Roman" panose="02020603050405020304"/>
                <a:cs typeface="Times New Roman" panose="02020603050405020304"/>
              </a:rPr>
              <a:t>to </a:t>
            </a:r>
            <a:r>
              <a:rPr sz="2850" spc="-140" dirty="0">
                <a:latin typeface="Times New Roman" panose="02020603050405020304"/>
                <a:cs typeface="Times New Roman" panose="02020603050405020304"/>
              </a:rPr>
              <a:t>communicate  </a:t>
            </a:r>
            <a:r>
              <a:rPr sz="2850" spc="-114" dirty="0">
                <a:latin typeface="Times New Roman" panose="02020603050405020304"/>
                <a:cs typeface="Times New Roman" panose="02020603050405020304"/>
              </a:rPr>
              <a:t>between </a:t>
            </a:r>
            <a:r>
              <a:rPr sz="2850" spc="-225" dirty="0">
                <a:latin typeface="Times New Roman" panose="02020603050405020304"/>
                <a:cs typeface="Times New Roman" panose="02020603050405020304"/>
              </a:rPr>
              <a:t>a </a:t>
            </a:r>
            <a:r>
              <a:rPr sz="2850" spc="-90" dirty="0">
                <a:latin typeface="Times New Roman" panose="02020603050405020304"/>
                <a:cs typeface="Times New Roman" panose="02020603050405020304"/>
              </a:rPr>
              <a:t>parent </a:t>
            </a:r>
            <a:r>
              <a:rPr sz="2850" spc="-160" dirty="0">
                <a:latin typeface="Times New Roman" panose="02020603050405020304"/>
                <a:cs typeface="Times New Roman" panose="02020603050405020304"/>
              </a:rPr>
              <a:t>and </a:t>
            </a:r>
            <a:r>
              <a:rPr sz="2850" spc="-225" dirty="0">
                <a:latin typeface="Times New Roman" panose="02020603050405020304"/>
                <a:cs typeface="Times New Roman" panose="02020603050405020304"/>
              </a:rPr>
              <a:t>a </a:t>
            </a:r>
            <a:r>
              <a:rPr sz="2850" spc="-130" dirty="0">
                <a:latin typeface="Times New Roman" panose="02020603050405020304"/>
                <a:cs typeface="Times New Roman" panose="02020603050405020304"/>
              </a:rPr>
              <a:t>child </a:t>
            </a:r>
            <a:r>
              <a:rPr sz="2850" spc="-135" dirty="0">
                <a:latin typeface="Times New Roman" panose="02020603050405020304"/>
                <a:cs typeface="Times New Roman" panose="02020603050405020304"/>
              </a:rPr>
              <a:t>process</a:t>
            </a:r>
            <a:r>
              <a:rPr sz="2850" spc="-65" dirty="0">
                <a:latin typeface="Times New Roman" panose="02020603050405020304"/>
                <a:cs typeface="Times New Roman" panose="02020603050405020304"/>
              </a:rPr>
              <a:t> </a:t>
            </a:r>
            <a:r>
              <a:rPr sz="2850" spc="-110" dirty="0">
                <a:latin typeface="Times New Roman" panose="02020603050405020304"/>
                <a:cs typeface="Times New Roman" panose="02020603050405020304"/>
              </a:rPr>
              <a:t>is:</a:t>
            </a:r>
            <a:endParaRPr sz="2850">
              <a:latin typeface="Times New Roman" panose="02020603050405020304"/>
              <a:cs typeface="Times New Roman" panose="02020603050405020304"/>
            </a:endParaRPr>
          </a:p>
          <a:p>
            <a:pPr marL="364490">
              <a:lnSpc>
                <a:spcPct val="100000"/>
              </a:lnSpc>
              <a:spcBef>
                <a:spcPts val="445"/>
              </a:spcBef>
            </a:pPr>
            <a:r>
              <a:rPr sz="2400" spc="-1050" dirty="0">
                <a:solidFill>
                  <a:srgbClr val="9A2D1F"/>
                </a:solidFill>
                <a:latin typeface="Webdings" panose="05030102010509060703"/>
                <a:cs typeface="Webdings" panose="05030102010509060703"/>
              </a:rPr>
              <a:t></a:t>
            </a:r>
            <a:r>
              <a:rPr sz="2400" spc="25" dirty="0">
                <a:solidFill>
                  <a:srgbClr val="9A2D1F"/>
                </a:solidFill>
                <a:latin typeface="Times New Roman" panose="02020603050405020304"/>
                <a:cs typeface="Times New Roman" panose="02020603050405020304"/>
              </a:rPr>
              <a:t> </a:t>
            </a:r>
            <a:r>
              <a:rPr sz="2850" spc="-140" dirty="0">
                <a:latin typeface="Times New Roman" panose="02020603050405020304"/>
                <a:cs typeface="Times New Roman" panose="02020603050405020304"/>
              </a:rPr>
              <a:t>The </a:t>
            </a:r>
            <a:r>
              <a:rPr sz="2850" spc="-85" dirty="0">
                <a:latin typeface="Times New Roman" panose="02020603050405020304"/>
                <a:cs typeface="Times New Roman" panose="02020603050405020304"/>
              </a:rPr>
              <a:t>parent </a:t>
            </a:r>
            <a:r>
              <a:rPr sz="2850" spc="-140" dirty="0">
                <a:latin typeface="Times New Roman" panose="02020603050405020304"/>
                <a:cs typeface="Times New Roman" panose="02020603050405020304"/>
              </a:rPr>
              <a:t>receives </a:t>
            </a:r>
            <a:r>
              <a:rPr sz="2850" spc="-95" dirty="0">
                <a:latin typeface="Times New Roman" panose="02020603050405020304"/>
                <a:cs typeface="Times New Roman" panose="02020603050405020304"/>
              </a:rPr>
              <a:t>the </a:t>
            </a:r>
            <a:r>
              <a:rPr sz="2850" spc="-80" dirty="0">
                <a:latin typeface="Times New Roman" panose="02020603050405020304"/>
                <a:cs typeface="Times New Roman" panose="02020603050405020304"/>
              </a:rPr>
              <a:t>exit </a:t>
            </a:r>
            <a:r>
              <a:rPr sz="2850" spc="-125" dirty="0">
                <a:latin typeface="Times New Roman" panose="02020603050405020304"/>
                <a:cs typeface="Times New Roman" panose="02020603050405020304"/>
              </a:rPr>
              <a:t>status </a:t>
            </a:r>
            <a:r>
              <a:rPr sz="2850" spc="-160" dirty="0">
                <a:latin typeface="Times New Roman" panose="02020603050405020304"/>
                <a:cs typeface="Times New Roman" panose="02020603050405020304"/>
              </a:rPr>
              <a:t>of </a:t>
            </a:r>
            <a:r>
              <a:rPr sz="2850" spc="-85" dirty="0">
                <a:latin typeface="Times New Roman" panose="02020603050405020304"/>
                <a:cs typeface="Times New Roman" panose="02020603050405020304"/>
              </a:rPr>
              <a:t>the</a:t>
            </a:r>
            <a:r>
              <a:rPr sz="2850" spc="260" dirty="0">
                <a:latin typeface="Times New Roman" panose="02020603050405020304"/>
                <a:cs typeface="Times New Roman" panose="02020603050405020304"/>
              </a:rPr>
              <a:t> </a:t>
            </a:r>
            <a:r>
              <a:rPr sz="2850" spc="-130" dirty="0">
                <a:latin typeface="Times New Roman" panose="02020603050405020304"/>
                <a:cs typeface="Times New Roman" panose="02020603050405020304"/>
              </a:rPr>
              <a:t>child</a:t>
            </a:r>
            <a:endParaRPr sz="2850">
              <a:latin typeface="Times New Roman" panose="02020603050405020304"/>
              <a:cs typeface="Times New Roman" panose="02020603050405020304"/>
            </a:endParaRPr>
          </a:p>
          <a:p>
            <a:pPr marL="312420" marR="5080" indent="-300355">
              <a:lnSpc>
                <a:spcPts val="3370"/>
              </a:lnSpc>
              <a:spcBef>
                <a:spcPts val="885"/>
              </a:spcBef>
              <a:buClr>
                <a:srgbClr val="D34816"/>
              </a:buClr>
              <a:buSzPct val="84000"/>
              <a:buFont typeface="Webdings" panose="05030102010509060703"/>
              <a:buChar char=""/>
              <a:tabLst>
                <a:tab pos="312420" algn="l"/>
                <a:tab pos="313055" algn="l"/>
              </a:tabLst>
            </a:pPr>
            <a:r>
              <a:rPr sz="2850" spc="-254" dirty="0">
                <a:latin typeface="Times New Roman" panose="02020603050405020304"/>
                <a:cs typeface="Times New Roman" panose="02020603050405020304"/>
              </a:rPr>
              <a:t>So </a:t>
            </a:r>
            <a:r>
              <a:rPr sz="2850" spc="-135" dirty="0">
                <a:latin typeface="Times New Roman" panose="02020603050405020304"/>
                <a:cs typeface="Times New Roman" panose="02020603050405020304"/>
              </a:rPr>
              <a:t>far, </a:t>
            </a:r>
            <a:r>
              <a:rPr sz="2850" spc="-200" dirty="0">
                <a:latin typeface="Times New Roman" panose="02020603050405020304"/>
                <a:cs typeface="Times New Roman" panose="02020603050405020304"/>
              </a:rPr>
              <a:t>we’ve </a:t>
            </a:r>
            <a:r>
              <a:rPr sz="2850" spc="-160" dirty="0">
                <a:latin typeface="Times New Roman" panose="02020603050405020304"/>
                <a:cs typeface="Times New Roman" panose="02020603050405020304"/>
              </a:rPr>
              <a:t>discussed </a:t>
            </a:r>
            <a:r>
              <a:rPr sz="2850" spc="-135" dirty="0">
                <a:latin typeface="Times New Roman" panose="02020603050405020304"/>
                <a:cs typeface="Times New Roman" panose="02020603050405020304"/>
              </a:rPr>
              <a:t>communication </a:t>
            </a:r>
            <a:r>
              <a:rPr sz="2850" spc="-165" dirty="0">
                <a:latin typeface="Times New Roman" panose="02020603050405020304"/>
                <a:cs typeface="Times New Roman" panose="02020603050405020304"/>
              </a:rPr>
              <a:t>mechanisms </a:t>
            </a:r>
            <a:r>
              <a:rPr sz="2850" spc="-160" dirty="0">
                <a:latin typeface="Times New Roman" panose="02020603050405020304"/>
                <a:cs typeface="Times New Roman" panose="02020603050405020304"/>
              </a:rPr>
              <a:t>only </a:t>
            </a:r>
            <a:r>
              <a:rPr sz="2850" spc="-105" dirty="0">
                <a:latin typeface="Times New Roman" panose="02020603050405020304"/>
                <a:cs typeface="Times New Roman" panose="02020603050405020304"/>
              </a:rPr>
              <a:t>during  </a:t>
            </a:r>
            <a:r>
              <a:rPr sz="2850" spc="-135" dirty="0">
                <a:latin typeface="Times New Roman" panose="02020603050405020304"/>
                <a:cs typeface="Times New Roman" panose="02020603050405020304"/>
              </a:rPr>
              <a:t>process</a:t>
            </a:r>
            <a:r>
              <a:rPr sz="2850" spc="-70" dirty="0">
                <a:latin typeface="Times New Roman" panose="02020603050405020304"/>
                <a:cs typeface="Times New Roman" panose="02020603050405020304"/>
              </a:rPr>
              <a:t> </a:t>
            </a:r>
            <a:r>
              <a:rPr sz="2850" spc="-60" dirty="0">
                <a:latin typeface="Times New Roman" panose="02020603050405020304"/>
                <a:cs typeface="Times New Roman" panose="02020603050405020304"/>
              </a:rPr>
              <a:t>creation/termination</a:t>
            </a:r>
            <a:endParaRPr sz="2850">
              <a:latin typeface="Times New Roman" panose="02020603050405020304"/>
              <a:cs typeface="Times New Roman" panose="02020603050405020304"/>
            </a:endParaRPr>
          </a:p>
          <a:p>
            <a:pPr marL="312420" indent="-300355">
              <a:lnSpc>
                <a:spcPct val="100000"/>
              </a:lnSpc>
              <a:spcBef>
                <a:spcPts val="570"/>
              </a:spcBef>
              <a:buClr>
                <a:srgbClr val="D34816"/>
              </a:buClr>
              <a:buSzPct val="84000"/>
              <a:buFont typeface="Webdings" panose="05030102010509060703"/>
              <a:buChar char=""/>
              <a:tabLst>
                <a:tab pos="312420" algn="l"/>
                <a:tab pos="313055" algn="l"/>
              </a:tabLst>
            </a:pPr>
            <a:r>
              <a:rPr sz="2850" spc="-145" dirty="0">
                <a:latin typeface="Times New Roman" panose="02020603050405020304"/>
                <a:cs typeface="Times New Roman" panose="02020603050405020304"/>
              </a:rPr>
              <a:t>Processes </a:t>
            </a:r>
            <a:r>
              <a:rPr sz="2850" spc="-245" dirty="0">
                <a:latin typeface="Times New Roman" panose="02020603050405020304"/>
                <a:cs typeface="Times New Roman" panose="02020603050405020304"/>
              </a:rPr>
              <a:t>may </a:t>
            </a:r>
            <a:r>
              <a:rPr sz="2850" spc="-110" dirty="0">
                <a:latin typeface="Times New Roman" panose="02020603050405020304"/>
                <a:cs typeface="Times New Roman" panose="02020603050405020304"/>
              </a:rPr>
              <a:t>need </a:t>
            </a:r>
            <a:r>
              <a:rPr sz="2850" spc="-45" dirty="0">
                <a:latin typeface="Times New Roman" panose="02020603050405020304"/>
                <a:cs typeface="Times New Roman" panose="02020603050405020304"/>
              </a:rPr>
              <a:t>to </a:t>
            </a:r>
            <a:r>
              <a:rPr sz="2850" spc="-140" dirty="0">
                <a:latin typeface="Times New Roman" panose="02020603050405020304"/>
                <a:cs typeface="Times New Roman" panose="02020603050405020304"/>
              </a:rPr>
              <a:t>communicate </a:t>
            </a:r>
            <a:r>
              <a:rPr sz="2850" spc="-110" dirty="0">
                <a:latin typeface="Times New Roman" panose="02020603050405020304"/>
                <a:cs typeface="Times New Roman" panose="02020603050405020304"/>
              </a:rPr>
              <a:t>during </a:t>
            </a:r>
            <a:r>
              <a:rPr sz="2850" spc="-70" dirty="0">
                <a:latin typeface="Times New Roman" panose="02020603050405020304"/>
                <a:cs typeface="Times New Roman" panose="02020603050405020304"/>
              </a:rPr>
              <a:t>their </a:t>
            </a:r>
            <a:r>
              <a:rPr sz="2850" spc="-135" dirty="0">
                <a:latin typeface="Times New Roman" panose="02020603050405020304"/>
                <a:cs typeface="Times New Roman" panose="02020603050405020304"/>
              </a:rPr>
              <a:t>life</a:t>
            </a:r>
            <a:r>
              <a:rPr sz="2850" spc="-155" dirty="0">
                <a:latin typeface="Times New Roman" panose="02020603050405020304"/>
                <a:cs typeface="Times New Roman" panose="02020603050405020304"/>
              </a:rPr>
              <a:t> </a:t>
            </a:r>
            <a:r>
              <a:rPr sz="2850" spc="-70" dirty="0">
                <a:latin typeface="Times New Roman" panose="02020603050405020304"/>
                <a:cs typeface="Times New Roman" panose="02020603050405020304"/>
              </a:rPr>
              <a:t>time.</a:t>
            </a:r>
            <a:endParaRPr sz="2850">
              <a:latin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392579"/>
            <a:ext cx="5425440" cy="696595"/>
          </a:xfrm>
          <a:prstGeom prst="rect">
            <a:avLst/>
          </a:prstGeom>
        </p:spPr>
        <p:txBody>
          <a:bodyPr vert="horz" wrap="square" lIns="0" tIns="12700" rIns="0" bIns="0" rtlCol="0">
            <a:spAutoFit/>
          </a:bodyPr>
          <a:lstStyle/>
          <a:p>
            <a:pPr marL="12700">
              <a:lnSpc>
                <a:spcPct val="100000"/>
              </a:lnSpc>
              <a:spcBef>
                <a:spcPts val="100"/>
              </a:spcBef>
            </a:pPr>
            <a:r>
              <a:rPr sz="4400" spc="-315" dirty="0"/>
              <a:t>Cooperating</a:t>
            </a:r>
            <a:r>
              <a:rPr sz="4400" spc="-204" dirty="0"/>
              <a:t> </a:t>
            </a:r>
            <a:r>
              <a:rPr sz="4400" spc="-345" dirty="0"/>
              <a:t>Processes</a:t>
            </a:r>
            <a:endParaRPr sz="4400"/>
          </a:p>
        </p:txBody>
      </p:sp>
      <p:sp>
        <p:nvSpPr>
          <p:cNvPr id="3" name="object 3"/>
          <p:cNvSpPr txBox="1"/>
          <p:nvPr/>
        </p:nvSpPr>
        <p:spPr>
          <a:xfrm>
            <a:off x="759964" y="1253705"/>
            <a:ext cx="8935720" cy="5623560"/>
          </a:xfrm>
          <a:prstGeom prst="rect">
            <a:avLst/>
          </a:prstGeom>
        </p:spPr>
        <p:txBody>
          <a:bodyPr vert="horz" wrap="square" lIns="0" tIns="12065" rIns="0" bIns="0" rtlCol="0">
            <a:spAutoFit/>
          </a:bodyPr>
          <a:lstStyle/>
          <a:p>
            <a:pPr marL="312420" marR="5080" indent="-300355">
              <a:lnSpc>
                <a:spcPct val="101000"/>
              </a:lnSpc>
              <a:spcBef>
                <a:spcPts val="95"/>
              </a:spcBef>
              <a:buClr>
                <a:srgbClr val="D34816"/>
              </a:buClr>
              <a:buSzPct val="85000"/>
              <a:buFont typeface="Webdings" panose="05030102010509060703"/>
              <a:buChar char=""/>
              <a:tabLst>
                <a:tab pos="313055" algn="l"/>
                <a:tab pos="5814060" algn="l"/>
                <a:tab pos="6750050" algn="l"/>
                <a:tab pos="8003540" algn="l"/>
                <a:tab pos="8477885" algn="l"/>
              </a:tabLst>
            </a:pPr>
            <a:r>
              <a:rPr sz="3050" b="1" spc="285" dirty="0">
                <a:solidFill>
                  <a:srgbClr val="0000FF"/>
                </a:solidFill>
                <a:latin typeface="Trebuchet MS" panose="020B0603020202020204"/>
                <a:cs typeface="Trebuchet MS" panose="020B0603020202020204"/>
              </a:rPr>
              <a:t>I</a:t>
            </a:r>
            <a:r>
              <a:rPr sz="3050" b="1" spc="-75" dirty="0">
                <a:solidFill>
                  <a:srgbClr val="0000FF"/>
                </a:solidFill>
                <a:latin typeface="Trebuchet MS" panose="020B0603020202020204"/>
                <a:cs typeface="Trebuchet MS" panose="020B0603020202020204"/>
              </a:rPr>
              <a:t>n</a:t>
            </a:r>
            <a:r>
              <a:rPr sz="3050" b="1" spc="-15" dirty="0">
                <a:solidFill>
                  <a:srgbClr val="0000FF"/>
                </a:solidFill>
                <a:latin typeface="Trebuchet MS" panose="020B0603020202020204"/>
                <a:cs typeface="Trebuchet MS" panose="020B0603020202020204"/>
              </a:rPr>
              <a:t>d</a:t>
            </a:r>
            <a:r>
              <a:rPr sz="3050" b="1" spc="-310" dirty="0">
                <a:solidFill>
                  <a:srgbClr val="0000FF"/>
                </a:solidFill>
                <a:latin typeface="Trebuchet MS" panose="020B0603020202020204"/>
                <a:cs typeface="Trebuchet MS" panose="020B0603020202020204"/>
              </a:rPr>
              <a:t>e</a:t>
            </a:r>
            <a:r>
              <a:rPr sz="3050" b="1" spc="-25" dirty="0">
                <a:solidFill>
                  <a:srgbClr val="0000FF"/>
                </a:solidFill>
                <a:latin typeface="Trebuchet MS" panose="020B0603020202020204"/>
                <a:cs typeface="Trebuchet MS" panose="020B0603020202020204"/>
              </a:rPr>
              <a:t>p</a:t>
            </a:r>
            <a:r>
              <a:rPr sz="3050" b="1" spc="-310" dirty="0">
                <a:solidFill>
                  <a:srgbClr val="0000FF"/>
                </a:solidFill>
                <a:latin typeface="Trebuchet MS" panose="020B0603020202020204"/>
                <a:cs typeface="Trebuchet MS" panose="020B0603020202020204"/>
              </a:rPr>
              <a:t>e</a:t>
            </a:r>
            <a:r>
              <a:rPr sz="3050" b="1" spc="-75" dirty="0">
                <a:solidFill>
                  <a:srgbClr val="0000FF"/>
                </a:solidFill>
                <a:latin typeface="Trebuchet MS" panose="020B0603020202020204"/>
                <a:cs typeface="Trebuchet MS" panose="020B0603020202020204"/>
              </a:rPr>
              <a:t>n</a:t>
            </a:r>
            <a:r>
              <a:rPr sz="3050" b="1" spc="-15" dirty="0">
                <a:solidFill>
                  <a:srgbClr val="0000FF"/>
                </a:solidFill>
                <a:latin typeface="Trebuchet MS" panose="020B0603020202020204"/>
                <a:cs typeface="Trebuchet MS" panose="020B0603020202020204"/>
              </a:rPr>
              <a:t>d</a:t>
            </a:r>
            <a:r>
              <a:rPr sz="3050" b="1" spc="-310" dirty="0">
                <a:solidFill>
                  <a:srgbClr val="0000FF"/>
                </a:solidFill>
                <a:latin typeface="Trebuchet MS" panose="020B0603020202020204"/>
                <a:cs typeface="Trebuchet MS" panose="020B0603020202020204"/>
              </a:rPr>
              <a:t>e</a:t>
            </a:r>
            <a:r>
              <a:rPr sz="3050" b="1" spc="-75" dirty="0">
                <a:solidFill>
                  <a:srgbClr val="0000FF"/>
                </a:solidFill>
                <a:latin typeface="Trebuchet MS" panose="020B0603020202020204"/>
                <a:cs typeface="Trebuchet MS" panose="020B0603020202020204"/>
              </a:rPr>
              <a:t>n</a:t>
            </a:r>
            <a:r>
              <a:rPr sz="3050" b="1" spc="-150" dirty="0">
                <a:solidFill>
                  <a:srgbClr val="0000FF"/>
                </a:solidFill>
                <a:latin typeface="Trebuchet MS" panose="020B0603020202020204"/>
                <a:cs typeface="Trebuchet MS" panose="020B0603020202020204"/>
              </a:rPr>
              <a:t>t</a:t>
            </a:r>
            <a:r>
              <a:rPr sz="3050" b="1" spc="229" dirty="0">
                <a:solidFill>
                  <a:srgbClr val="0000FF"/>
                </a:solidFill>
                <a:latin typeface="Trebuchet MS" panose="020B0603020202020204"/>
                <a:cs typeface="Trebuchet MS" panose="020B0603020202020204"/>
              </a:rPr>
              <a:t> </a:t>
            </a:r>
            <a:r>
              <a:rPr sz="3050" spc="-110" dirty="0">
                <a:latin typeface="Times New Roman" panose="02020603050405020304"/>
                <a:cs typeface="Times New Roman" panose="02020603050405020304"/>
              </a:rPr>
              <a:t>p</a:t>
            </a:r>
            <a:r>
              <a:rPr sz="3050" dirty="0">
                <a:latin typeface="Times New Roman" panose="02020603050405020304"/>
                <a:cs typeface="Times New Roman" panose="02020603050405020304"/>
              </a:rPr>
              <a:t>r</a:t>
            </a:r>
            <a:r>
              <a:rPr sz="3050" spc="-110" dirty="0">
                <a:latin typeface="Times New Roman" panose="02020603050405020304"/>
                <a:cs typeface="Times New Roman" panose="02020603050405020304"/>
              </a:rPr>
              <a:t>o</a:t>
            </a:r>
            <a:r>
              <a:rPr sz="3050" spc="-185" dirty="0">
                <a:latin typeface="Times New Roman" panose="02020603050405020304"/>
                <a:cs typeface="Times New Roman" panose="02020603050405020304"/>
              </a:rPr>
              <a:t>c</a:t>
            </a:r>
            <a:r>
              <a:rPr sz="3050" spc="-95" dirty="0">
                <a:latin typeface="Times New Roman" panose="02020603050405020304"/>
                <a:cs typeface="Times New Roman" panose="02020603050405020304"/>
              </a:rPr>
              <a:t>e</a:t>
            </a:r>
            <a:r>
              <a:rPr sz="3050" spc="-235" dirty="0">
                <a:latin typeface="Times New Roman" panose="02020603050405020304"/>
                <a:cs typeface="Times New Roman" panose="02020603050405020304"/>
              </a:rPr>
              <a:t>s</a:t>
            </a:r>
            <a:r>
              <a:rPr sz="3050" spc="-225" dirty="0">
                <a:latin typeface="Times New Roman" panose="02020603050405020304"/>
                <a:cs typeface="Times New Roman" panose="02020603050405020304"/>
              </a:rPr>
              <a:t>s</a:t>
            </a:r>
            <a:r>
              <a:rPr sz="3050" spc="365" dirty="0">
                <a:latin typeface="Times New Roman" panose="02020603050405020304"/>
                <a:cs typeface="Times New Roman" panose="02020603050405020304"/>
              </a:rPr>
              <a:t> </a:t>
            </a:r>
            <a:r>
              <a:rPr sz="3050" spc="-155" dirty="0">
                <a:latin typeface="Times New Roman" panose="02020603050405020304"/>
                <a:cs typeface="Times New Roman" panose="02020603050405020304"/>
              </a:rPr>
              <a:t>c</a:t>
            </a:r>
            <a:r>
              <a:rPr sz="3050" spc="-250" dirty="0">
                <a:latin typeface="Times New Roman" panose="02020603050405020304"/>
                <a:cs typeface="Times New Roman" panose="02020603050405020304"/>
              </a:rPr>
              <a:t>a</a:t>
            </a:r>
            <a:r>
              <a:rPr sz="3050" spc="-110" dirty="0">
                <a:latin typeface="Times New Roman" panose="02020603050405020304"/>
                <a:cs typeface="Times New Roman" panose="02020603050405020304"/>
              </a:rPr>
              <a:t>nno</a:t>
            </a:r>
            <a:r>
              <a:rPr sz="3050" spc="50" dirty="0">
                <a:latin typeface="Times New Roman" panose="02020603050405020304"/>
                <a:cs typeface="Times New Roman" panose="02020603050405020304"/>
              </a:rPr>
              <a:t>t</a:t>
            </a:r>
            <a:r>
              <a:rPr sz="3050" spc="370" dirty="0">
                <a:latin typeface="Times New Roman" panose="02020603050405020304"/>
                <a:cs typeface="Times New Roman" panose="02020603050405020304"/>
              </a:rPr>
              <a:t> </a:t>
            </a:r>
            <a:r>
              <a:rPr sz="3050" spc="-220" dirty="0">
                <a:latin typeface="Times New Roman" panose="02020603050405020304"/>
                <a:cs typeface="Times New Roman" panose="02020603050405020304"/>
              </a:rPr>
              <a:t>a</a:t>
            </a:r>
            <a:r>
              <a:rPr sz="3050" spc="-250" dirty="0">
                <a:latin typeface="Times New Roman" panose="02020603050405020304"/>
                <a:cs typeface="Times New Roman" panose="02020603050405020304"/>
              </a:rPr>
              <a:t>f</a:t>
            </a:r>
            <a:r>
              <a:rPr sz="3050" spc="-215" dirty="0">
                <a:latin typeface="Times New Roman" panose="02020603050405020304"/>
                <a:cs typeface="Times New Roman" panose="02020603050405020304"/>
              </a:rPr>
              <a:t>f</a:t>
            </a:r>
            <a:r>
              <a:rPr sz="3050" spc="-95" dirty="0">
                <a:latin typeface="Times New Roman" panose="02020603050405020304"/>
                <a:cs typeface="Times New Roman" panose="02020603050405020304"/>
              </a:rPr>
              <a:t>e</a:t>
            </a:r>
            <a:r>
              <a:rPr sz="3050" spc="-185" dirty="0">
                <a:latin typeface="Times New Roman" panose="02020603050405020304"/>
                <a:cs typeface="Times New Roman" panose="02020603050405020304"/>
              </a:rPr>
              <a:t>c</a:t>
            </a:r>
            <a:r>
              <a:rPr sz="3050" spc="50" dirty="0">
                <a:latin typeface="Times New Roman" panose="02020603050405020304"/>
                <a:cs typeface="Times New Roman" panose="02020603050405020304"/>
              </a:rPr>
              <a:t>t</a:t>
            </a:r>
            <a:r>
              <a:rPr sz="3050" dirty="0">
                <a:latin typeface="Times New Roman" panose="02020603050405020304"/>
                <a:cs typeface="Times New Roman" panose="02020603050405020304"/>
              </a:rPr>
              <a:t>	</a:t>
            </a:r>
            <a:r>
              <a:rPr sz="3050" spc="-140" dirty="0">
                <a:latin typeface="Times New Roman" panose="02020603050405020304"/>
                <a:cs typeface="Times New Roman" panose="02020603050405020304"/>
              </a:rPr>
              <a:t>o</a:t>
            </a:r>
            <a:r>
              <a:rPr sz="3050" spc="45" dirty="0">
                <a:latin typeface="Times New Roman" panose="02020603050405020304"/>
                <a:cs typeface="Times New Roman" panose="02020603050405020304"/>
              </a:rPr>
              <a:t>r</a:t>
            </a:r>
            <a:r>
              <a:rPr sz="3050" spc="365" dirty="0">
                <a:latin typeface="Times New Roman" panose="02020603050405020304"/>
                <a:cs typeface="Times New Roman" panose="02020603050405020304"/>
              </a:rPr>
              <a:t> </a:t>
            </a:r>
            <a:r>
              <a:rPr sz="3050" spc="-140" dirty="0">
                <a:latin typeface="Times New Roman" panose="02020603050405020304"/>
                <a:cs typeface="Times New Roman" panose="02020603050405020304"/>
              </a:rPr>
              <a:t>b</a:t>
            </a:r>
            <a:r>
              <a:rPr sz="3050" spc="-105" dirty="0">
                <a:latin typeface="Times New Roman" panose="02020603050405020304"/>
                <a:cs typeface="Times New Roman" panose="02020603050405020304"/>
              </a:rPr>
              <a:t>e</a:t>
            </a:r>
            <a:r>
              <a:rPr sz="3050" dirty="0">
                <a:latin typeface="Times New Roman" panose="02020603050405020304"/>
                <a:cs typeface="Times New Roman" panose="02020603050405020304"/>
              </a:rPr>
              <a:t>	</a:t>
            </a:r>
            <a:r>
              <a:rPr sz="3050" spc="-250" dirty="0">
                <a:latin typeface="Times New Roman" panose="02020603050405020304"/>
                <a:cs typeface="Times New Roman" panose="02020603050405020304"/>
              </a:rPr>
              <a:t>a</a:t>
            </a:r>
            <a:r>
              <a:rPr sz="3050" spc="-215" dirty="0">
                <a:latin typeface="Times New Roman" panose="02020603050405020304"/>
                <a:cs typeface="Times New Roman" panose="02020603050405020304"/>
              </a:rPr>
              <a:t>ff</a:t>
            </a:r>
            <a:r>
              <a:rPr sz="3050" spc="-95" dirty="0">
                <a:latin typeface="Times New Roman" panose="02020603050405020304"/>
                <a:cs typeface="Times New Roman" panose="02020603050405020304"/>
              </a:rPr>
              <a:t>e</a:t>
            </a:r>
            <a:r>
              <a:rPr sz="3050" spc="-185" dirty="0">
                <a:latin typeface="Times New Roman" panose="02020603050405020304"/>
                <a:cs typeface="Times New Roman" panose="02020603050405020304"/>
              </a:rPr>
              <a:t>c</a:t>
            </a:r>
            <a:r>
              <a:rPr sz="3050" spc="40" dirty="0">
                <a:latin typeface="Times New Roman" panose="02020603050405020304"/>
                <a:cs typeface="Times New Roman" panose="02020603050405020304"/>
              </a:rPr>
              <a:t>t</a:t>
            </a:r>
            <a:r>
              <a:rPr sz="3050" spc="-125" dirty="0">
                <a:latin typeface="Times New Roman" panose="02020603050405020304"/>
                <a:cs typeface="Times New Roman" panose="02020603050405020304"/>
              </a:rPr>
              <a:t>e</a:t>
            </a:r>
            <a:r>
              <a:rPr sz="3050" spc="-114" dirty="0">
                <a:latin typeface="Times New Roman" panose="02020603050405020304"/>
                <a:cs typeface="Times New Roman" panose="02020603050405020304"/>
              </a:rPr>
              <a:t>d</a:t>
            </a:r>
            <a:r>
              <a:rPr sz="3050" dirty="0">
                <a:latin typeface="Times New Roman" panose="02020603050405020304"/>
                <a:cs typeface="Times New Roman" panose="02020603050405020304"/>
              </a:rPr>
              <a:t>	</a:t>
            </a:r>
            <a:r>
              <a:rPr sz="3050" spc="-235" dirty="0">
                <a:latin typeface="Times New Roman" panose="02020603050405020304"/>
                <a:cs typeface="Times New Roman" panose="02020603050405020304"/>
              </a:rPr>
              <a:t>b</a:t>
            </a:r>
            <a:r>
              <a:rPr sz="3050" spc="-240" dirty="0">
                <a:latin typeface="Times New Roman" panose="02020603050405020304"/>
                <a:cs typeface="Times New Roman" panose="02020603050405020304"/>
              </a:rPr>
              <a:t>y</a:t>
            </a:r>
            <a:r>
              <a:rPr sz="3050" dirty="0">
                <a:latin typeface="Times New Roman" panose="02020603050405020304"/>
                <a:cs typeface="Times New Roman" panose="02020603050405020304"/>
              </a:rPr>
              <a:t>	</a:t>
            </a:r>
            <a:r>
              <a:rPr sz="3050" spc="40" dirty="0">
                <a:latin typeface="Times New Roman" panose="02020603050405020304"/>
                <a:cs typeface="Times New Roman" panose="02020603050405020304"/>
              </a:rPr>
              <a:t>t</a:t>
            </a:r>
            <a:r>
              <a:rPr sz="3050" spc="-170" dirty="0">
                <a:latin typeface="Times New Roman" panose="02020603050405020304"/>
                <a:cs typeface="Times New Roman" panose="02020603050405020304"/>
              </a:rPr>
              <a:t>h</a:t>
            </a:r>
            <a:r>
              <a:rPr sz="3050" spc="-75" dirty="0">
                <a:latin typeface="Times New Roman" panose="02020603050405020304"/>
                <a:cs typeface="Times New Roman" panose="02020603050405020304"/>
              </a:rPr>
              <a:t>e  </a:t>
            </a:r>
            <a:r>
              <a:rPr sz="3050" spc="-110" dirty="0">
                <a:latin typeface="Times New Roman" panose="02020603050405020304"/>
                <a:cs typeface="Times New Roman" panose="02020603050405020304"/>
              </a:rPr>
              <a:t>execution </a:t>
            </a:r>
            <a:r>
              <a:rPr sz="3050" spc="-165" dirty="0">
                <a:latin typeface="Times New Roman" panose="02020603050405020304"/>
                <a:cs typeface="Times New Roman" panose="02020603050405020304"/>
              </a:rPr>
              <a:t>of </a:t>
            </a:r>
            <a:r>
              <a:rPr sz="3050" spc="-95" dirty="0">
                <a:latin typeface="Times New Roman" panose="02020603050405020304"/>
                <a:cs typeface="Times New Roman" panose="02020603050405020304"/>
              </a:rPr>
              <a:t>another</a:t>
            </a:r>
            <a:r>
              <a:rPr sz="3050" spc="5" dirty="0">
                <a:latin typeface="Times New Roman" panose="02020603050405020304"/>
                <a:cs typeface="Times New Roman" panose="02020603050405020304"/>
              </a:rPr>
              <a:t> </a:t>
            </a:r>
            <a:r>
              <a:rPr sz="3050" spc="-110" dirty="0">
                <a:latin typeface="Times New Roman" panose="02020603050405020304"/>
                <a:cs typeface="Times New Roman" panose="02020603050405020304"/>
              </a:rPr>
              <a:t>process.</a:t>
            </a:r>
            <a:endParaRPr sz="3050">
              <a:latin typeface="Times New Roman" panose="02020603050405020304"/>
              <a:cs typeface="Times New Roman" panose="02020603050405020304"/>
            </a:endParaRPr>
          </a:p>
          <a:p>
            <a:pPr marL="312420" marR="5715" indent="-300355">
              <a:lnSpc>
                <a:spcPct val="101000"/>
              </a:lnSpc>
              <a:spcBef>
                <a:spcPts val="660"/>
              </a:spcBef>
              <a:buClr>
                <a:srgbClr val="D34816"/>
              </a:buClr>
              <a:buSzPct val="85000"/>
              <a:buFont typeface="Webdings" panose="05030102010509060703"/>
              <a:buChar char=""/>
              <a:tabLst>
                <a:tab pos="313055" algn="l"/>
                <a:tab pos="2601595" algn="l"/>
                <a:tab pos="3858895" algn="l"/>
                <a:tab pos="4547870" algn="l"/>
                <a:tab pos="5531485" algn="l"/>
                <a:tab pos="6059805" algn="l"/>
                <a:tab pos="6608445" algn="l"/>
                <a:tab pos="7932420" algn="l"/>
                <a:tab pos="8476615" algn="l"/>
              </a:tabLst>
            </a:pPr>
            <a:r>
              <a:rPr sz="3050" b="1" spc="10" dirty="0">
                <a:solidFill>
                  <a:srgbClr val="0000FF"/>
                </a:solidFill>
                <a:latin typeface="Trebuchet MS" panose="020B0603020202020204"/>
                <a:cs typeface="Trebuchet MS" panose="020B0603020202020204"/>
              </a:rPr>
              <a:t>C</a:t>
            </a:r>
            <a:r>
              <a:rPr sz="3050" b="1" spc="-35" dirty="0">
                <a:solidFill>
                  <a:srgbClr val="0000FF"/>
                </a:solidFill>
                <a:latin typeface="Trebuchet MS" panose="020B0603020202020204"/>
                <a:cs typeface="Trebuchet MS" panose="020B0603020202020204"/>
              </a:rPr>
              <a:t>o</a:t>
            </a:r>
            <a:r>
              <a:rPr sz="3050" b="1" spc="-65" dirty="0">
                <a:solidFill>
                  <a:srgbClr val="0000FF"/>
                </a:solidFill>
                <a:latin typeface="Trebuchet MS" panose="020B0603020202020204"/>
                <a:cs typeface="Trebuchet MS" panose="020B0603020202020204"/>
              </a:rPr>
              <a:t>o</a:t>
            </a:r>
            <a:r>
              <a:rPr sz="3050" b="1" spc="-55" dirty="0">
                <a:solidFill>
                  <a:srgbClr val="0000FF"/>
                </a:solidFill>
                <a:latin typeface="Trebuchet MS" panose="020B0603020202020204"/>
                <a:cs typeface="Trebuchet MS" panose="020B0603020202020204"/>
              </a:rPr>
              <a:t>p</a:t>
            </a:r>
            <a:r>
              <a:rPr sz="3050" b="1" spc="-280" dirty="0">
                <a:solidFill>
                  <a:srgbClr val="0000FF"/>
                </a:solidFill>
                <a:latin typeface="Trebuchet MS" panose="020B0603020202020204"/>
                <a:cs typeface="Trebuchet MS" panose="020B0603020202020204"/>
              </a:rPr>
              <a:t>e</a:t>
            </a:r>
            <a:r>
              <a:rPr sz="3050" b="1" spc="-75" dirty="0">
                <a:solidFill>
                  <a:srgbClr val="0000FF"/>
                </a:solidFill>
                <a:latin typeface="Trebuchet MS" panose="020B0603020202020204"/>
                <a:cs typeface="Trebuchet MS" panose="020B0603020202020204"/>
              </a:rPr>
              <a:t>r</a:t>
            </a:r>
            <a:r>
              <a:rPr sz="3050" b="1" spc="-240" dirty="0">
                <a:solidFill>
                  <a:srgbClr val="0000FF"/>
                </a:solidFill>
                <a:latin typeface="Trebuchet MS" panose="020B0603020202020204"/>
                <a:cs typeface="Trebuchet MS" panose="020B0603020202020204"/>
              </a:rPr>
              <a:t>a</a:t>
            </a:r>
            <a:r>
              <a:rPr sz="3050" b="1" spc="-165" dirty="0">
                <a:solidFill>
                  <a:srgbClr val="0000FF"/>
                </a:solidFill>
                <a:latin typeface="Trebuchet MS" panose="020B0603020202020204"/>
                <a:cs typeface="Trebuchet MS" panose="020B0603020202020204"/>
              </a:rPr>
              <a:t>t</a:t>
            </a:r>
            <a:r>
              <a:rPr sz="3050" b="1" spc="-20" dirty="0">
                <a:solidFill>
                  <a:srgbClr val="0000FF"/>
                </a:solidFill>
                <a:latin typeface="Trebuchet MS" panose="020B0603020202020204"/>
                <a:cs typeface="Trebuchet MS" panose="020B0603020202020204"/>
              </a:rPr>
              <a:t>i</a:t>
            </a:r>
            <a:r>
              <a:rPr sz="3050" b="1" spc="-75" dirty="0">
                <a:solidFill>
                  <a:srgbClr val="0000FF"/>
                </a:solidFill>
                <a:latin typeface="Trebuchet MS" panose="020B0603020202020204"/>
                <a:cs typeface="Trebuchet MS" panose="020B0603020202020204"/>
              </a:rPr>
              <a:t>n</a:t>
            </a:r>
            <a:r>
              <a:rPr sz="3050" b="1" spc="40" dirty="0">
                <a:solidFill>
                  <a:srgbClr val="0000FF"/>
                </a:solidFill>
                <a:latin typeface="Trebuchet MS" panose="020B0603020202020204"/>
                <a:cs typeface="Trebuchet MS" panose="020B0603020202020204"/>
              </a:rPr>
              <a:t>g</a:t>
            </a:r>
            <a:r>
              <a:rPr sz="3050" b="1" dirty="0">
                <a:solidFill>
                  <a:srgbClr val="0000FF"/>
                </a:solidFill>
                <a:latin typeface="Trebuchet MS" panose="020B0603020202020204"/>
                <a:cs typeface="Trebuchet MS" panose="020B0603020202020204"/>
              </a:rPr>
              <a:t>	</a:t>
            </a:r>
            <a:r>
              <a:rPr sz="3050" spc="-110" dirty="0">
                <a:latin typeface="Times New Roman" panose="02020603050405020304"/>
                <a:cs typeface="Times New Roman" panose="02020603050405020304"/>
              </a:rPr>
              <a:t>p</a:t>
            </a:r>
            <a:r>
              <a:rPr sz="3050" dirty="0">
                <a:latin typeface="Times New Roman" panose="02020603050405020304"/>
                <a:cs typeface="Times New Roman" panose="02020603050405020304"/>
              </a:rPr>
              <a:t>r</a:t>
            </a:r>
            <a:r>
              <a:rPr sz="3050" spc="-110" dirty="0">
                <a:latin typeface="Times New Roman" panose="02020603050405020304"/>
                <a:cs typeface="Times New Roman" panose="02020603050405020304"/>
              </a:rPr>
              <a:t>o</a:t>
            </a:r>
            <a:r>
              <a:rPr sz="3050" spc="-185" dirty="0">
                <a:latin typeface="Times New Roman" panose="02020603050405020304"/>
                <a:cs typeface="Times New Roman" panose="02020603050405020304"/>
              </a:rPr>
              <a:t>c</a:t>
            </a:r>
            <a:r>
              <a:rPr sz="3050" spc="-95" dirty="0">
                <a:latin typeface="Times New Roman" panose="02020603050405020304"/>
                <a:cs typeface="Times New Roman" panose="02020603050405020304"/>
              </a:rPr>
              <a:t>e</a:t>
            </a:r>
            <a:r>
              <a:rPr sz="3050" spc="-235" dirty="0">
                <a:latin typeface="Times New Roman" panose="02020603050405020304"/>
                <a:cs typeface="Times New Roman" panose="02020603050405020304"/>
              </a:rPr>
              <a:t>s</a:t>
            </a:r>
            <a:r>
              <a:rPr sz="3050" spc="-225" dirty="0">
                <a:latin typeface="Times New Roman" panose="02020603050405020304"/>
                <a:cs typeface="Times New Roman" panose="02020603050405020304"/>
              </a:rPr>
              <a:t>s</a:t>
            </a:r>
            <a:r>
              <a:rPr sz="3050" dirty="0">
                <a:latin typeface="Times New Roman" panose="02020603050405020304"/>
                <a:cs typeface="Times New Roman" panose="02020603050405020304"/>
              </a:rPr>
              <a:t>	</a:t>
            </a:r>
            <a:r>
              <a:rPr sz="3050" spc="-155" dirty="0">
                <a:latin typeface="Times New Roman" panose="02020603050405020304"/>
                <a:cs typeface="Times New Roman" panose="02020603050405020304"/>
              </a:rPr>
              <a:t>c</a:t>
            </a:r>
            <a:r>
              <a:rPr sz="3050" spc="-250" dirty="0">
                <a:latin typeface="Times New Roman" panose="02020603050405020304"/>
                <a:cs typeface="Times New Roman" panose="02020603050405020304"/>
              </a:rPr>
              <a:t>a</a:t>
            </a:r>
            <a:r>
              <a:rPr sz="3050" spc="-114" dirty="0">
                <a:latin typeface="Times New Roman" panose="02020603050405020304"/>
                <a:cs typeface="Times New Roman" panose="02020603050405020304"/>
              </a:rPr>
              <a:t>n</a:t>
            </a:r>
            <a:r>
              <a:rPr sz="3050" dirty="0">
                <a:latin typeface="Times New Roman" panose="02020603050405020304"/>
                <a:cs typeface="Times New Roman" panose="02020603050405020304"/>
              </a:rPr>
              <a:t>	</a:t>
            </a:r>
            <a:r>
              <a:rPr sz="3050" spc="-250" dirty="0">
                <a:latin typeface="Times New Roman" panose="02020603050405020304"/>
                <a:cs typeface="Times New Roman" panose="02020603050405020304"/>
              </a:rPr>
              <a:t>a</a:t>
            </a:r>
            <a:r>
              <a:rPr sz="3050" spc="-215" dirty="0">
                <a:latin typeface="Times New Roman" panose="02020603050405020304"/>
                <a:cs typeface="Times New Roman" panose="02020603050405020304"/>
              </a:rPr>
              <a:t>ff</a:t>
            </a:r>
            <a:r>
              <a:rPr sz="3050" spc="-125" dirty="0">
                <a:latin typeface="Times New Roman" panose="02020603050405020304"/>
                <a:cs typeface="Times New Roman" panose="02020603050405020304"/>
              </a:rPr>
              <a:t>e</a:t>
            </a:r>
            <a:r>
              <a:rPr sz="3050" spc="-155" dirty="0">
                <a:latin typeface="Times New Roman" panose="02020603050405020304"/>
                <a:cs typeface="Times New Roman" panose="02020603050405020304"/>
              </a:rPr>
              <a:t>c</a:t>
            </a:r>
            <a:r>
              <a:rPr sz="3050" spc="50" dirty="0">
                <a:latin typeface="Times New Roman" panose="02020603050405020304"/>
                <a:cs typeface="Times New Roman" panose="02020603050405020304"/>
              </a:rPr>
              <a:t>t</a:t>
            </a:r>
            <a:r>
              <a:rPr sz="3050" dirty="0">
                <a:latin typeface="Times New Roman" panose="02020603050405020304"/>
                <a:cs typeface="Times New Roman" panose="02020603050405020304"/>
              </a:rPr>
              <a:t>	</a:t>
            </a:r>
            <a:r>
              <a:rPr sz="3050" spc="-110" dirty="0">
                <a:latin typeface="Times New Roman" panose="02020603050405020304"/>
                <a:cs typeface="Times New Roman" panose="02020603050405020304"/>
              </a:rPr>
              <a:t>o</a:t>
            </a:r>
            <a:r>
              <a:rPr sz="3050" spc="45" dirty="0">
                <a:latin typeface="Times New Roman" panose="02020603050405020304"/>
                <a:cs typeface="Times New Roman" panose="02020603050405020304"/>
              </a:rPr>
              <a:t>r</a:t>
            </a:r>
            <a:r>
              <a:rPr sz="3050" dirty="0">
                <a:latin typeface="Times New Roman" panose="02020603050405020304"/>
                <a:cs typeface="Times New Roman" panose="02020603050405020304"/>
              </a:rPr>
              <a:t>	</a:t>
            </a:r>
            <a:r>
              <a:rPr sz="3050" spc="-140" dirty="0">
                <a:latin typeface="Times New Roman" panose="02020603050405020304"/>
                <a:cs typeface="Times New Roman" panose="02020603050405020304"/>
              </a:rPr>
              <a:t>b</a:t>
            </a:r>
            <a:r>
              <a:rPr sz="3050" spc="-105" dirty="0">
                <a:latin typeface="Times New Roman" panose="02020603050405020304"/>
                <a:cs typeface="Times New Roman" panose="02020603050405020304"/>
              </a:rPr>
              <a:t>e</a:t>
            </a:r>
            <a:r>
              <a:rPr sz="3050" dirty="0">
                <a:latin typeface="Times New Roman" panose="02020603050405020304"/>
                <a:cs typeface="Times New Roman" panose="02020603050405020304"/>
              </a:rPr>
              <a:t>	</a:t>
            </a:r>
            <a:r>
              <a:rPr sz="3050" spc="-220" dirty="0">
                <a:latin typeface="Times New Roman" panose="02020603050405020304"/>
                <a:cs typeface="Times New Roman" panose="02020603050405020304"/>
              </a:rPr>
              <a:t>a</a:t>
            </a:r>
            <a:r>
              <a:rPr sz="3050" spc="-215" dirty="0">
                <a:latin typeface="Times New Roman" panose="02020603050405020304"/>
                <a:cs typeface="Times New Roman" panose="02020603050405020304"/>
              </a:rPr>
              <a:t>ff</a:t>
            </a:r>
            <a:r>
              <a:rPr sz="3050" spc="-125" dirty="0">
                <a:latin typeface="Times New Roman" panose="02020603050405020304"/>
                <a:cs typeface="Times New Roman" panose="02020603050405020304"/>
              </a:rPr>
              <a:t>e</a:t>
            </a:r>
            <a:r>
              <a:rPr sz="3050" spc="-185" dirty="0">
                <a:latin typeface="Times New Roman" panose="02020603050405020304"/>
                <a:cs typeface="Times New Roman" panose="02020603050405020304"/>
              </a:rPr>
              <a:t>c</a:t>
            </a:r>
            <a:r>
              <a:rPr sz="3050" spc="40" dirty="0">
                <a:latin typeface="Times New Roman" panose="02020603050405020304"/>
                <a:cs typeface="Times New Roman" panose="02020603050405020304"/>
              </a:rPr>
              <a:t>t</a:t>
            </a:r>
            <a:r>
              <a:rPr sz="3050" spc="-95" dirty="0">
                <a:latin typeface="Times New Roman" panose="02020603050405020304"/>
                <a:cs typeface="Times New Roman" panose="02020603050405020304"/>
              </a:rPr>
              <a:t>e</a:t>
            </a:r>
            <a:r>
              <a:rPr sz="3050" spc="-114" dirty="0">
                <a:latin typeface="Times New Roman" panose="02020603050405020304"/>
                <a:cs typeface="Times New Roman" panose="02020603050405020304"/>
              </a:rPr>
              <a:t>d</a:t>
            </a:r>
            <a:r>
              <a:rPr sz="3050" dirty="0">
                <a:latin typeface="Times New Roman" panose="02020603050405020304"/>
                <a:cs typeface="Times New Roman" panose="02020603050405020304"/>
              </a:rPr>
              <a:t>	</a:t>
            </a:r>
            <a:r>
              <a:rPr sz="3050" spc="-200" dirty="0">
                <a:latin typeface="Times New Roman" panose="02020603050405020304"/>
                <a:cs typeface="Times New Roman" panose="02020603050405020304"/>
              </a:rPr>
              <a:t>b</a:t>
            </a:r>
            <a:r>
              <a:rPr sz="3050" spc="-240" dirty="0">
                <a:latin typeface="Times New Roman" panose="02020603050405020304"/>
                <a:cs typeface="Times New Roman" panose="02020603050405020304"/>
              </a:rPr>
              <a:t>y</a:t>
            </a:r>
            <a:r>
              <a:rPr sz="3050" dirty="0">
                <a:latin typeface="Times New Roman" panose="02020603050405020304"/>
                <a:cs typeface="Times New Roman" panose="02020603050405020304"/>
              </a:rPr>
              <a:t>	</a:t>
            </a:r>
            <a:r>
              <a:rPr sz="3050" spc="40" dirty="0">
                <a:latin typeface="Times New Roman" panose="02020603050405020304"/>
                <a:cs typeface="Times New Roman" panose="02020603050405020304"/>
              </a:rPr>
              <a:t>t</a:t>
            </a:r>
            <a:r>
              <a:rPr sz="3050" spc="-170" dirty="0">
                <a:latin typeface="Times New Roman" panose="02020603050405020304"/>
                <a:cs typeface="Times New Roman" panose="02020603050405020304"/>
              </a:rPr>
              <a:t>h</a:t>
            </a:r>
            <a:r>
              <a:rPr sz="3050" spc="-75" dirty="0">
                <a:latin typeface="Times New Roman" panose="02020603050405020304"/>
                <a:cs typeface="Times New Roman" panose="02020603050405020304"/>
              </a:rPr>
              <a:t>e  </a:t>
            </a:r>
            <a:r>
              <a:rPr sz="3050" spc="-110" dirty="0">
                <a:latin typeface="Times New Roman" panose="02020603050405020304"/>
                <a:cs typeface="Times New Roman" panose="02020603050405020304"/>
              </a:rPr>
              <a:t>execution </a:t>
            </a:r>
            <a:r>
              <a:rPr sz="3050" spc="-165" dirty="0">
                <a:latin typeface="Times New Roman" panose="02020603050405020304"/>
                <a:cs typeface="Times New Roman" panose="02020603050405020304"/>
              </a:rPr>
              <a:t>of </a:t>
            </a:r>
            <a:r>
              <a:rPr sz="3050" spc="-95" dirty="0">
                <a:latin typeface="Times New Roman" panose="02020603050405020304"/>
                <a:cs typeface="Times New Roman" panose="02020603050405020304"/>
              </a:rPr>
              <a:t>another</a:t>
            </a:r>
            <a:r>
              <a:rPr sz="3050" spc="5" dirty="0">
                <a:latin typeface="Times New Roman" panose="02020603050405020304"/>
                <a:cs typeface="Times New Roman" panose="02020603050405020304"/>
              </a:rPr>
              <a:t> </a:t>
            </a:r>
            <a:r>
              <a:rPr sz="3050" spc="-135" dirty="0">
                <a:latin typeface="Times New Roman" panose="02020603050405020304"/>
                <a:cs typeface="Times New Roman" panose="02020603050405020304"/>
              </a:rPr>
              <a:t>process</a:t>
            </a:r>
            <a:endParaRPr sz="3050">
              <a:latin typeface="Times New Roman" panose="02020603050405020304"/>
              <a:cs typeface="Times New Roman" panose="02020603050405020304"/>
            </a:endParaRPr>
          </a:p>
          <a:p>
            <a:pPr marL="312420" indent="-300355">
              <a:lnSpc>
                <a:spcPct val="100000"/>
              </a:lnSpc>
              <a:spcBef>
                <a:spcPts val="695"/>
              </a:spcBef>
              <a:buClr>
                <a:srgbClr val="D34816"/>
              </a:buClr>
              <a:buSzPct val="85000"/>
              <a:buFont typeface="Webdings" panose="05030102010509060703"/>
              <a:buChar char=""/>
              <a:tabLst>
                <a:tab pos="313055" algn="l"/>
              </a:tabLst>
            </a:pPr>
            <a:r>
              <a:rPr sz="3050" spc="-195" dirty="0">
                <a:latin typeface="Times New Roman" panose="02020603050405020304"/>
                <a:cs typeface="Times New Roman" panose="02020603050405020304"/>
              </a:rPr>
              <a:t>Advantages </a:t>
            </a:r>
            <a:r>
              <a:rPr sz="3050" spc="-165" dirty="0">
                <a:latin typeface="Times New Roman" panose="02020603050405020304"/>
                <a:cs typeface="Times New Roman" panose="02020603050405020304"/>
              </a:rPr>
              <a:t>of </a:t>
            </a:r>
            <a:r>
              <a:rPr sz="3050" spc="-135" dirty="0">
                <a:latin typeface="Times New Roman" panose="02020603050405020304"/>
                <a:cs typeface="Times New Roman" panose="02020603050405020304"/>
              </a:rPr>
              <a:t>process</a:t>
            </a:r>
            <a:r>
              <a:rPr sz="3050" spc="110" dirty="0">
                <a:latin typeface="Times New Roman" panose="02020603050405020304"/>
                <a:cs typeface="Times New Roman" panose="02020603050405020304"/>
              </a:rPr>
              <a:t> </a:t>
            </a:r>
            <a:r>
              <a:rPr sz="3050" spc="-105" dirty="0">
                <a:latin typeface="Times New Roman" panose="02020603050405020304"/>
                <a:cs typeface="Times New Roman" panose="02020603050405020304"/>
              </a:rPr>
              <a:t>cooperation</a:t>
            </a:r>
            <a:endParaRPr sz="3050">
              <a:latin typeface="Times New Roman" panose="02020603050405020304"/>
              <a:cs typeface="Times New Roman" panose="02020603050405020304"/>
            </a:endParaRPr>
          </a:p>
          <a:p>
            <a:pPr marL="615950" lvl="1" indent="-252095">
              <a:lnSpc>
                <a:spcPct val="100000"/>
              </a:lnSpc>
              <a:spcBef>
                <a:spcPts val="510"/>
              </a:spcBef>
              <a:buClr>
                <a:srgbClr val="9A2D1F"/>
              </a:buClr>
              <a:buSzPct val="85000"/>
              <a:buFont typeface="Webdings" panose="05030102010509060703"/>
              <a:buChar char=""/>
              <a:tabLst>
                <a:tab pos="616585" algn="l"/>
              </a:tabLst>
            </a:pPr>
            <a:r>
              <a:rPr sz="2650" spc="-120" dirty="0">
                <a:latin typeface="Times New Roman" panose="02020603050405020304"/>
                <a:cs typeface="Times New Roman" panose="02020603050405020304"/>
              </a:rPr>
              <a:t>Information</a:t>
            </a:r>
            <a:r>
              <a:rPr sz="2650" spc="-55" dirty="0">
                <a:latin typeface="Times New Roman" panose="02020603050405020304"/>
                <a:cs typeface="Times New Roman" panose="02020603050405020304"/>
              </a:rPr>
              <a:t> </a:t>
            </a:r>
            <a:r>
              <a:rPr sz="2650" spc="-145" dirty="0">
                <a:latin typeface="Times New Roman" panose="02020603050405020304"/>
                <a:cs typeface="Times New Roman" panose="02020603050405020304"/>
              </a:rPr>
              <a:t>sharing</a:t>
            </a:r>
            <a:endParaRPr sz="2650">
              <a:latin typeface="Times New Roman" panose="02020603050405020304"/>
              <a:cs typeface="Times New Roman" panose="02020603050405020304"/>
            </a:endParaRPr>
          </a:p>
          <a:p>
            <a:pPr marL="615950" lvl="1" indent="-252095">
              <a:lnSpc>
                <a:spcPct val="100000"/>
              </a:lnSpc>
              <a:spcBef>
                <a:spcPts val="420"/>
              </a:spcBef>
              <a:buClr>
                <a:srgbClr val="9A2D1F"/>
              </a:buClr>
              <a:buSzPct val="85000"/>
              <a:buFont typeface="Webdings" panose="05030102010509060703"/>
              <a:buChar char=""/>
              <a:tabLst>
                <a:tab pos="616585" algn="l"/>
              </a:tabLst>
            </a:pPr>
            <a:r>
              <a:rPr sz="2650" spc="-114" dirty="0">
                <a:latin typeface="Times New Roman" panose="02020603050405020304"/>
                <a:cs typeface="Times New Roman" panose="02020603050405020304"/>
              </a:rPr>
              <a:t>Computation</a:t>
            </a:r>
            <a:r>
              <a:rPr sz="2650" spc="-55" dirty="0">
                <a:latin typeface="Times New Roman" panose="02020603050405020304"/>
                <a:cs typeface="Times New Roman" panose="02020603050405020304"/>
              </a:rPr>
              <a:t> </a:t>
            </a:r>
            <a:r>
              <a:rPr sz="2650" spc="-120" dirty="0">
                <a:latin typeface="Times New Roman" panose="02020603050405020304"/>
                <a:cs typeface="Times New Roman" panose="02020603050405020304"/>
              </a:rPr>
              <a:t>speed-up</a:t>
            </a:r>
            <a:endParaRPr sz="2650">
              <a:latin typeface="Times New Roman" panose="02020603050405020304"/>
              <a:cs typeface="Times New Roman" panose="02020603050405020304"/>
            </a:endParaRPr>
          </a:p>
          <a:p>
            <a:pPr marL="615950" lvl="1" indent="-252095">
              <a:lnSpc>
                <a:spcPct val="100000"/>
              </a:lnSpc>
              <a:spcBef>
                <a:spcPts val="430"/>
              </a:spcBef>
              <a:buClr>
                <a:srgbClr val="9A2D1F"/>
              </a:buClr>
              <a:buSzPct val="85000"/>
              <a:buFont typeface="Webdings" panose="05030102010509060703"/>
              <a:buChar char=""/>
              <a:tabLst>
                <a:tab pos="616585" algn="l"/>
              </a:tabLst>
            </a:pPr>
            <a:r>
              <a:rPr sz="2650" spc="-125" dirty="0">
                <a:latin typeface="Times New Roman" panose="02020603050405020304"/>
                <a:cs typeface="Times New Roman" panose="02020603050405020304"/>
              </a:rPr>
              <a:t>Modularity</a:t>
            </a:r>
            <a:endParaRPr sz="2650">
              <a:latin typeface="Times New Roman" panose="02020603050405020304"/>
              <a:cs typeface="Times New Roman" panose="02020603050405020304"/>
            </a:endParaRPr>
          </a:p>
          <a:p>
            <a:pPr marL="615950" lvl="1" indent="-252095">
              <a:lnSpc>
                <a:spcPct val="100000"/>
              </a:lnSpc>
              <a:spcBef>
                <a:spcPts val="435"/>
              </a:spcBef>
              <a:buClr>
                <a:srgbClr val="9A2D1F"/>
              </a:buClr>
              <a:buSzPct val="85000"/>
              <a:buFont typeface="Webdings" panose="05030102010509060703"/>
              <a:buChar char=""/>
              <a:tabLst>
                <a:tab pos="616585" algn="l"/>
              </a:tabLst>
            </a:pPr>
            <a:r>
              <a:rPr sz="2650" spc="-145" dirty="0">
                <a:latin typeface="Times New Roman" panose="02020603050405020304"/>
                <a:cs typeface="Times New Roman" panose="02020603050405020304"/>
              </a:rPr>
              <a:t>Convenience</a:t>
            </a:r>
            <a:endParaRPr sz="2650">
              <a:latin typeface="Times New Roman" panose="02020603050405020304"/>
              <a:cs typeface="Times New Roman" panose="02020603050405020304"/>
            </a:endParaRPr>
          </a:p>
          <a:p>
            <a:pPr marL="312420" indent="-300355">
              <a:lnSpc>
                <a:spcPts val="3580"/>
              </a:lnSpc>
              <a:spcBef>
                <a:spcPts val="65"/>
              </a:spcBef>
              <a:buClr>
                <a:srgbClr val="D34816"/>
              </a:buClr>
              <a:buSzPct val="85000"/>
              <a:buFont typeface="Webdings" panose="05030102010509060703"/>
              <a:buChar char=""/>
              <a:tabLst>
                <a:tab pos="313055" algn="l"/>
              </a:tabLst>
            </a:pPr>
            <a:r>
              <a:rPr sz="3050" spc="-145" dirty="0">
                <a:latin typeface="Times New Roman" panose="02020603050405020304"/>
                <a:cs typeface="Times New Roman" panose="02020603050405020304"/>
              </a:rPr>
              <a:t>Dangers </a:t>
            </a:r>
            <a:r>
              <a:rPr sz="3050" spc="-165" dirty="0">
                <a:latin typeface="Times New Roman" panose="02020603050405020304"/>
                <a:cs typeface="Times New Roman" panose="02020603050405020304"/>
              </a:rPr>
              <a:t>of </a:t>
            </a:r>
            <a:r>
              <a:rPr sz="3050" spc="-135" dirty="0">
                <a:latin typeface="Times New Roman" panose="02020603050405020304"/>
                <a:cs typeface="Times New Roman" panose="02020603050405020304"/>
              </a:rPr>
              <a:t>process</a:t>
            </a:r>
            <a:r>
              <a:rPr sz="3050" spc="90" dirty="0">
                <a:latin typeface="Times New Roman" panose="02020603050405020304"/>
                <a:cs typeface="Times New Roman" panose="02020603050405020304"/>
              </a:rPr>
              <a:t> </a:t>
            </a:r>
            <a:r>
              <a:rPr sz="3050" spc="-110" dirty="0">
                <a:latin typeface="Times New Roman" panose="02020603050405020304"/>
                <a:cs typeface="Times New Roman" panose="02020603050405020304"/>
              </a:rPr>
              <a:t>cooperation</a:t>
            </a:r>
            <a:endParaRPr sz="3050">
              <a:latin typeface="Times New Roman" panose="02020603050405020304"/>
              <a:cs typeface="Times New Roman" panose="02020603050405020304"/>
            </a:endParaRPr>
          </a:p>
          <a:p>
            <a:pPr marL="615950" lvl="1" indent="-252095">
              <a:lnSpc>
                <a:spcPts val="3020"/>
              </a:lnSpc>
              <a:buClr>
                <a:srgbClr val="9A2D1F"/>
              </a:buClr>
              <a:buSzPct val="85000"/>
              <a:buFont typeface="Webdings" panose="05030102010509060703"/>
              <a:buChar char=""/>
              <a:tabLst>
                <a:tab pos="616585" algn="l"/>
              </a:tabLst>
            </a:pPr>
            <a:r>
              <a:rPr sz="2650" spc="-150" dirty="0">
                <a:latin typeface="Times New Roman" panose="02020603050405020304"/>
                <a:cs typeface="Times New Roman" panose="02020603050405020304"/>
              </a:rPr>
              <a:t>Data </a:t>
            </a:r>
            <a:r>
              <a:rPr sz="2650" spc="-55" dirty="0">
                <a:latin typeface="Times New Roman" panose="02020603050405020304"/>
                <a:cs typeface="Times New Roman" panose="02020603050405020304"/>
              </a:rPr>
              <a:t>corruption, </a:t>
            </a:r>
            <a:r>
              <a:rPr sz="2650" spc="-120" dirty="0">
                <a:latin typeface="Times New Roman" panose="02020603050405020304"/>
                <a:cs typeface="Times New Roman" panose="02020603050405020304"/>
              </a:rPr>
              <a:t>deadlocks, </a:t>
            </a:r>
            <a:r>
              <a:rPr sz="2650" spc="-130" dirty="0">
                <a:latin typeface="Times New Roman" panose="02020603050405020304"/>
                <a:cs typeface="Times New Roman" panose="02020603050405020304"/>
              </a:rPr>
              <a:t>increased</a:t>
            </a:r>
            <a:r>
              <a:rPr sz="2650" spc="-190" dirty="0">
                <a:latin typeface="Times New Roman" panose="02020603050405020304"/>
                <a:cs typeface="Times New Roman" panose="02020603050405020304"/>
              </a:rPr>
              <a:t> </a:t>
            </a:r>
            <a:r>
              <a:rPr sz="2650" spc="-125" dirty="0">
                <a:latin typeface="Times New Roman" panose="02020603050405020304"/>
                <a:cs typeface="Times New Roman" panose="02020603050405020304"/>
              </a:rPr>
              <a:t>complexity</a:t>
            </a:r>
            <a:endParaRPr sz="2650">
              <a:latin typeface="Times New Roman" panose="02020603050405020304"/>
              <a:cs typeface="Times New Roman" panose="02020603050405020304"/>
            </a:endParaRPr>
          </a:p>
          <a:p>
            <a:pPr marL="615950" lvl="1" indent="-252095">
              <a:lnSpc>
                <a:spcPts val="3100"/>
              </a:lnSpc>
              <a:buClr>
                <a:srgbClr val="9A2D1F"/>
              </a:buClr>
              <a:buSzPct val="85000"/>
              <a:buFont typeface="Webdings" panose="05030102010509060703"/>
              <a:buChar char=""/>
              <a:tabLst>
                <a:tab pos="616585" algn="l"/>
              </a:tabLst>
            </a:pPr>
            <a:r>
              <a:rPr sz="2650" spc="-130" dirty="0">
                <a:latin typeface="Times New Roman" panose="02020603050405020304"/>
                <a:cs typeface="Times New Roman" panose="02020603050405020304"/>
              </a:rPr>
              <a:t>Requires </a:t>
            </a:r>
            <a:r>
              <a:rPr sz="2650" spc="-140" dirty="0">
                <a:latin typeface="Times New Roman" panose="02020603050405020304"/>
                <a:cs typeface="Times New Roman" panose="02020603050405020304"/>
              </a:rPr>
              <a:t>processes </a:t>
            </a:r>
            <a:r>
              <a:rPr sz="2650" spc="-50" dirty="0">
                <a:latin typeface="Times New Roman" panose="02020603050405020304"/>
                <a:cs typeface="Times New Roman" panose="02020603050405020304"/>
              </a:rPr>
              <a:t>to </a:t>
            </a:r>
            <a:r>
              <a:rPr sz="2650" spc="-140" dirty="0">
                <a:latin typeface="Times New Roman" panose="02020603050405020304"/>
                <a:cs typeface="Times New Roman" panose="02020603050405020304"/>
              </a:rPr>
              <a:t>synchronize </a:t>
            </a:r>
            <a:r>
              <a:rPr sz="2650" spc="-75" dirty="0">
                <a:latin typeface="Times New Roman" panose="02020603050405020304"/>
                <a:cs typeface="Times New Roman" panose="02020603050405020304"/>
              </a:rPr>
              <a:t>their</a:t>
            </a:r>
            <a:r>
              <a:rPr sz="2650" spc="85" dirty="0">
                <a:latin typeface="Times New Roman" panose="02020603050405020304"/>
                <a:cs typeface="Times New Roman" panose="02020603050405020304"/>
              </a:rPr>
              <a:t> </a:t>
            </a:r>
            <a:r>
              <a:rPr sz="2650" spc="-140" dirty="0">
                <a:latin typeface="Times New Roman" panose="02020603050405020304"/>
                <a:cs typeface="Times New Roman" panose="02020603050405020304"/>
              </a:rPr>
              <a:t>processing</a:t>
            </a:r>
            <a:endParaRPr sz="26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p:nvPr/>
        </p:nvSpPr>
        <p:spPr>
          <a:xfrm>
            <a:off x="316991" y="7077995"/>
            <a:ext cx="191135" cy="247650"/>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z="1500" spc="110" dirty="0">
                <a:solidFill>
                  <a:srgbClr val="FFFFFF"/>
                </a:solidFill>
                <a:latin typeface="Trebuchet MS" panose="020B0603020202020204"/>
                <a:cs typeface="Trebuchet MS" panose="020B0603020202020204"/>
              </a:rPr>
            </a:fld>
            <a:endParaRPr sz="1500">
              <a:latin typeface="Trebuchet MS" panose="020B0603020202020204"/>
              <a:cs typeface="Trebuchet MS" panose="020B0603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6966" y="1095263"/>
            <a:ext cx="8182609" cy="696595"/>
          </a:xfrm>
          <a:prstGeom prst="rect">
            <a:avLst/>
          </a:prstGeom>
        </p:spPr>
        <p:txBody>
          <a:bodyPr vert="horz" wrap="square" lIns="0" tIns="12700" rIns="0" bIns="0" rtlCol="0">
            <a:spAutoFit/>
          </a:bodyPr>
          <a:lstStyle/>
          <a:p>
            <a:pPr marL="12700">
              <a:lnSpc>
                <a:spcPct val="100000"/>
              </a:lnSpc>
              <a:spcBef>
                <a:spcPts val="100"/>
              </a:spcBef>
            </a:pPr>
            <a:r>
              <a:rPr sz="4400" spc="-315" dirty="0"/>
              <a:t>Inter-Process </a:t>
            </a:r>
            <a:r>
              <a:rPr sz="4400" spc="-310" dirty="0"/>
              <a:t>Communication</a:t>
            </a:r>
            <a:r>
              <a:rPr sz="4400" spc="-30" dirty="0"/>
              <a:t> </a:t>
            </a:r>
            <a:r>
              <a:rPr sz="4400" spc="-310" dirty="0"/>
              <a:t>(IPC)</a:t>
            </a:r>
            <a:endParaRPr sz="4400"/>
          </a:p>
        </p:txBody>
      </p:sp>
      <p:sp>
        <p:nvSpPr>
          <p:cNvPr id="3" name="object 3"/>
          <p:cNvSpPr txBox="1"/>
          <p:nvPr/>
        </p:nvSpPr>
        <p:spPr>
          <a:xfrm>
            <a:off x="5579847" y="2204770"/>
            <a:ext cx="3870960" cy="495934"/>
          </a:xfrm>
          <a:prstGeom prst="rect">
            <a:avLst/>
          </a:prstGeom>
        </p:spPr>
        <p:txBody>
          <a:bodyPr vert="horz" wrap="square" lIns="0" tIns="16510" rIns="0" bIns="0" rtlCol="0">
            <a:spAutoFit/>
          </a:bodyPr>
          <a:lstStyle/>
          <a:p>
            <a:pPr marL="12700">
              <a:lnSpc>
                <a:spcPct val="100000"/>
              </a:lnSpc>
              <a:spcBef>
                <a:spcPts val="130"/>
              </a:spcBef>
              <a:tabLst>
                <a:tab pos="591820" algn="l"/>
                <a:tab pos="2777490" algn="l"/>
                <a:tab pos="3564890" algn="l"/>
              </a:tabLst>
            </a:pPr>
            <a:r>
              <a:rPr sz="3050" spc="40" dirty="0">
                <a:latin typeface="Times New Roman" panose="02020603050405020304"/>
                <a:cs typeface="Times New Roman" panose="02020603050405020304"/>
              </a:rPr>
              <a:t>t</a:t>
            </a:r>
            <a:r>
              <a:rPr sz="3050" spc="-114" dirty="0">
                <a:latin typeface="Times New Roman" panose="02020603050405020304"/>
                <a:cs typeface="Times New Roman" panose="02020603050405020304"/>
              </a:rPr>
              <a:t>o</a:t>
            </a:r>
            <a:r>
              <a:rPr sz="3050" dirty="0">
                <a:latin typeface="Times New Roman" panose="02020603050405020304"/>
                <a:cs typeface="Times New Roman" panose="02020603050405020304"/>
              </a:rPr>
              <a:t>	</a:t>
            </a:r>
            <a:r>
              <a:rPr sz="3050" spc="-155" dirty="0">
                <a:latin typeface="Times New Roman" panose="02020603050405020304"/>
                <a:cs typeface="Times New Roman" panose="02020603050405020304"/>
              </a:rPr>
              <a:t>c</a:t>
            </a:r>
            <a:r>
              <a:rPr sz="3050" spc="-140" dirty="0">
                <a:latin typeface="Times New Roman" panose="02020603050405020304"/>
                <a:cs typeface="Times New Roman" panose="02020603050405020304"/>
              </a:rPr>
              <a:t>o</a:t>
            </a:r>
            <a:r>
              <a:rPr sz="3050" spc="-155" dirty="0">
                <a:latin typeface="Times New Roman" panose="02020603050405020304"/>
                <a:cs typeface="Times New Roman" panose="02020603050405020304"/>
              </a:rPr>
              <a:t>m</a:t>
            </a:r>
            <a:r>
              <a:rPr sz="3050" spc="-185" dirty="0">
                <a:latin typeface="Times New Roman" panose="02020603050405020304"/>
                <a:cs typeface="Times New Roman" panose="02020603050405020304"/>
              </a:rPr>
              <a:t>m</a:t>
            </a:r>
            <a:r>
              <a:rPr sz="3050" spc="-140" dirty="0">
                <a:latin typeface="Times New Roman" panose="02020603050405020304"/>
                <a:cs typeface="Times New Roman" panose="02020603050405020304"/>
              </a:rPr>
              <a:t>u</a:t>
            </a:r>
            <a:r>
              <a:rPr sz="3050" spc="-110" dirty="0">
                <a:latin typeface="Times New Roman" panose="02020603050405020304"/>
                <a:cs typeface="Times New Roman" panose="02020603050405020304"/>
              </a:rPr>
              <a:t>n</a:t>
            </a:r>
            <a:r>
              <a:rPr sz="3050" spc="-145" dirty="0">
                <a:latin typeface="Times New Roman" panose="02020603050405020304"/>
                <a:cs typeface="Times New Roman" panose="02020603050405020304"/>
              </a:rPr>
              <a:t>i</a:t>
            </a:r>
            <a:r>
              <a:rPr sz="3050" spc="-155" dirty="0">
                <a:latin typeface="Times New Roman" panose="02020603050405020304"/>
                <a:cs typeface="Times New Roman" panose="02020603050405020304"/>
              </a:rPr>
              <a:t>c</a:t>
            </a:r>
            <a:r>
              <a:rPr sz="3050" spc="-280" dirty="0">
                <a:latin typeface="Times New Roman" panose="02020603050405020304"/>
                <a:cs typeface="Times New Roman" panose="02020603050405020304"/>
              </a:rPr>
              <a:t>a</a:t>
            </a:r>
            <a:r>
              <a:rPr sz="3050" spc="40" dirty="0">
                <a:latin typeface="Times New Roman" panose="02020603050405020304"/>
                <a:cs typeface="Times New Roman" panose="02020603050405020304"/>
              </a:rPr>
              <a:t>t</a:t>
            </a:r>
            <a:r>
              <a:rPr sz="3050" spc="-105" dirty="0">
                <a:latin typeface="Times New Roman" panose="02020603050405020304"/>
                <a:cs typeface="Times New Roman" panose="02020603050405020304"/>
              </a:rPr>
              <a:t>e</a:t>
            </a:r>
            <a:r>
              <a:rPr sz="3050" dirty="0">
                <a:latin typeface="Times New Roman" panose="02020603050405020304"/>
                <a:cs typeface="Times New Roman" panose="02020603050405020304"/>
              </a:rPr>
              <a:t>	</a:t>
            </a:r>
            <a:r>
              <a:rPr sz="3050" spc="-250" dirty="0">
                <a:latin typeface="Times New Roman" panose="02020603050405020304"/>
                <a:cs typeface="Times New Roman" panose="02020603050405020304"/>
              </a:rPr>
              <a:t>a</a:t>
            </a:r>
            <a:r>
              <a:rPr sz="3050" spc="-110" dirty="0">
                <a:latin typeface="Times New Roman" panose="02020603050405020304"/>
                <a:cs typeface="Times New Roman" panose="02020603050405020304"/>
              </a:rPr>
              <a:t>n</a:t>
            </a:r>
            <a:r>
              <a:rPr sz="3050" spc="-114" dirty="0">
                <a:latin typeface="Times New Roman" panose="02020603050405020304"/>
                <a:cs typeface="Times New Roman" panose="02020603050405020304"/>
              </a:rPr>
              <a:t>d</a:t>
            </a:r>
            <a:r>
              <a:rPr sz="3050" dirty="0">
                <a:latin typeface="Times New Roman" panose="02020603050405020304"/>
                <a:cs typeface="Times New Roman" panose="02020603050405020304"/>
              </a:rPr>
              <a:t>	</a:t>
            </a:r>
            <a:r>
              <a:rPr sz="3050" spc="40" dirty="0">
                <a:latin typeface="Times New Roman" panose="02020603050405020304"/>
                <a:cs typeface="Times New Roman" panose="02020603050405020304"/>
              </a:rPr>
              <a:t>t</a:t>
            </a:r>
            <a:r>
              <a:rPr sz="3050" spc="-114" dirty="0">
                <a:latin typeface="Times New Roman" panose="02020603050405020304"/>
                <a:cs typeface="Times New Roman" panose="02020603050405020304"/>
              </a:rPr>
              <a:t>o</a:t>
            </a:r>
            <a:endParaRPr sz="3050">
              <a:latin typeface="Times New Roman" panose="02020603050405020304"/>
              <a:cs typeface="Times New Roman" panose="02020603050405020304"/>
            </a:endParaRPr>
          </a:p>
        </p:txBody>
      </p:sp>
      <p:sp>
        <p:nvSpPr>
          <p:cNvPr id="4" name="object 4"/>
          <p:cNvSpPr txBox="1"/>
          <p:nvPr/>
        </p:nvSpPr>
        <p:spPr>
          <a:xfrm>
            <a:off x="1076946" y="2204652"/>
            <a:ext cx="4239895" cy="2442845"/>
          </a:xfrm>
          <a:prstGeom prst="rect">
            <a:avLst/>
          </a:prstGeom>
        </p:spPr>
        <p:txBody>
          <a:bodyPr vert="horz" wrap="square" lIns="0" tIns="12065" rIns="0" bIns="0" rtlCol="0">
            <a:spAutoFit/>
          </a:bodyPr>
          <a:lstStyle/>
          <a:p>
            <a:pPr marL="312420" marR="5080" indent="-300355">
              <a:lnSpc>
                <a:spcPct val="101000"/>
              </a:lnSpc>
              <a:spcBef>
                <a:spcPts val="95"/>
              </a:spcBef>
              <a:buClr>
                <a:srgbClr val="D34816"/>
              </a:buClr>
              <a:buSzPct val="85000"/>
              <a:buFont typeface="Webdings" panose="05030102010509060703"/>
              <a:buChar char=""/>
              <a:tabLst>
                <a:tab pos="313055" algn="l"/>
                <a:tab pos="2204085" algn="l"/>
                <a:tab pos="2905760" algn="l"/>
              </a:tabLst>
            </a:pPr>
            <a:r>
              <a:rPr sz="3050" spc="-340" dirty="0">
                <a:latin typeface="Times New Roman" panose="02020603050405020304"/>
                <a:cs typeface="Times New Roman" panose="02020603050405020304"/>
              </a:rPr>
              <a:t>M</a:t>
            </a:r>
            <a:r>
              <a:rPr sz="3050" spc="-125" dirty="0">
                <a:latin typeface="Times New Roman" panose="02020603050405020304"/>
                <a:cs typeface="Times New Roman" panose="02020603050405020304"/>
              </a:rPr>
              <a:t>e</a:t>
            </a:r>
            <a:r>
              <a:rPr sz="3050" spc="-95" dirty="0">
                <a:latin typeface="Times New Roman" panose="02020603050405020304"/>
                <a:cs typeface="Times New Roman" panose="02020603050405020304"/>
              </a:rPr>
              <a:t>c</a:t>
            </a:r>
            <a:r>
              <a:rPr sz="3050" spc="-170" dirty="0">
                <a:latin typeface="Times New Roman" panose="02020603050405020304"/>
                <a:cs typeface="Times New Roman" panose="02020603050405020304"/>
              </a:rPr>
              <a:t>h</a:t>
            </a:r>
            <a:r>
              <a:rPr sz="3050" spc="-220" dirty="0">
                <a:latin typeface="Times New Roman" panose="02020603050405020304"/>
                <a:cs typeface="Times New Roman" panose="02020603050405020304"/>
              </a:rPr>
              <a:t>a</a:t>
            </a:r>
            <a:r>
              <a:rPr sz="3050" spc="-140" dirty="0">
                <a:latin typeface="Times New Roman" panose="02020603050405020304"/>
                <a:cs typeface="Times New Roman" panose="02020603050405020304"/>
              </a:rPr>
              <a:t>n</a:t>
            </a:r>
            <a:r>
              <a:rPr sz="3050" spc="-145" dirty="0">
                <a:latin typeface="Times New Roman" panose="02020603050405020304"/>
                <a:cs typeface="Times New Roman" panose="02020603050405020304"/>
              </a:rPr>
              <a:t>i</a:t>
            </a:r>
            <a:r>
              <a:rPr sz="3050" spc="-235" dirty="0">
                <a:latin typeface="Times New Roman" panose="02020603050405020304"/>
                <a:cs typeface="Times New Roman" panose="02020603050405020304"/>
              </a:rPr>
              <a:t>s</a:t>
            </a:r>
            <a:r>
              <a:rPr sz="3050" spc="-155" dirty="0">
                <a:latin typeface="Times New Roman" panose="02020603050405020304"/>
                <a:cs typeface="Times New Roman" panose="02020603050405020304"/>
              </a:rPr>
              <a:t>m</a:t>
            </a:r>
            <a:r>
              <a:rPr sz="3050" dirty="0">
                <a:latin typeface="Times New Roman" panose="02020603050405020304"/>
                <a:cs typeface="Times New Roman" panose="02020603050405020304"/>
              </a:rPr>
              <a:t>	</a:t>
            </a:r>
            <a:r>
              <a:rPr sz="3050" spc="-215" dirty="0">
                <a:latin typeface="Times New Roman" panose="02020603050405020304"/>
                <a:cs typeface="Times New Roman" panose="02020603050405020304"/>
              </a:rPr>
              <a:t>f</a:t>
            </a:r>
            <a:r>
              <a:rPr sz="3050" spc="-110" dirty="0">
                <a:latin typeface="Times New Roman" panose="02020603050405020304"/>
                <a:cs typeface="Times New Roman" panose="02020603050405020304"/>
              </a:rPr>
              <a:t>o</a:t>
            </a:r>
            <a:r>
              <a:rPr sz="3050" spc="45" dirty="0">
                <a:latin typeface="Times New Roman" panose="02020603050405020304"/>
                <a:cs typeface="Times New Roman" panose="02020603050405020304"/>
              </a:rPr>
              <a:t>r</a:t>
            </a:r>
            <a:r>
              <a:rPr sz="3050" dirty="0">
                <a:latin typeface="Times New Roman" panose="02020603050405020304"/>
                <a:cs typeface="Times New Roman" panose="02020603050405020304"/>
              </a:rPr>
              <a:t>	</a:t>
            </a:r>
            <a:r>
              <a:rPr sz="3050" spc="-110" dirty="0">
                <a:latin typeface="Times New Roman" panose="02020603050405020304"/>
                <a:cs typeface="Times New Roman" panose="02020603050405020304"/>
              </a:rPr>
              <a:t>p</a:t>
            </a:r>
            <a:r>
              <a:rPr sz="3050" dirty="0">
                <a:latin typeface="Times New Roman" panose="02020603050405020304"/>
                <a:cs typeface="Times New Roman" panose="02020603050405020304"/>
              </a:rPr>
              <a:t>r</a:t>
            </a:r>
            <a:r>
              <a:rPr sz="3050" spc="-110" dirty="0">
                <a:latin typeface="Times New Roman" panose="02020603050405020304"/>
                <a:cs typeface="Times New Roman" panose="02020603050405020304"/>
              </a:rPr>
              <a:t>o</a:t>
            </a:r>
            <a:r>
              <a:rPr sz="3050" spc="-185" dirty="0">
                <a:latin typeface="Times New Roman" panose="02020603050405020304"/>
                <a:cs typeface="Times New Roman" panose="02020603050405020304"/>
              </a:rPr>
              <a:t>c</a:t>
            </a:r>
            <a:r>
              <a:rPr sz="3050" spc="-95" dirty="0">
                <a:latin typeface="Times New Roman" panose="02020603050405020304"/>
                <a:cs typeface="Times New Roman" panose="02020603050405020304"/>
              </a:rPr>
              <a:t>e</a:t>
            </a:r>
            <a:r>
              <a:rPr sz="3050" spc="-235" dirty="0">
                <a:latin typeface="Times New Roman" panose="02020603050405020304"/>
                <a:cs typeface="Times New Roman" panose="02020603050405020304"/>
              </a:rPr>
              <a:t>ss</a:t>
            </a:r>
            <a:r>
              <a:rPr sz="3050" spc="-125" dirty="0">
                <a:latin typeface="Times New Roman" panose="02020603050405020304"/>
                <a:cs typeface="Times New Roman" panose="02020603050405020304"/>
              </a:rPr>
              <a:t>e</a:t>
            </a:r>
            <a:r>
              <a:rPr sz="3050" spc="-170" dirty="0">
                <a:latin typeface="Times New Roman" panose="02020603050405020304"/>
                <a:cs typeface="Times New Roman" panose="02020603050405020304"/>
              </a:rPr>
              <a:t>s  </a:t>
            </a:r>
            <a:r>
              <a:rPr sz="3050" spc="-140" dirty="0">
                <a:latin typeface="Times New Roman" panose="02020603050405020304"/>
                <a:cs typeface="Times New Roman" panose="02020603050405020304"/>
              </a:rPr>
              <a:t>synchronize </a:t>
            </a:r>
            <a:r>
              <a:rPr sz="3050" spc="-70" dirty="0">
                <a:latin typeface="Times New Roman" panose="02020603050405020304"/>
                <a:cs typeface="Times New Roman" panose="02020603050405020304"/>
              </a:rPr>
              <a:t>their</a:t>
            </a:r>
            <a:r>
              <a:rPr sz="3050" spc="-85" dirty="0">
                <a:latin typeface="Times New Roman" panose="02020603050405020304"/>
                <a:cs typeface="Times New Roman" panose="02020603050405020304"/>
              </a:rPr>
              <a:t> </a:t>
            </a:r>
            <a:r>
              <a:rPr sz="3050" spc="-110" dirty="0">
                <a:latin typeface="Times New Roman" panose="02020603050405020304"/>
                <a:cs typeface="Times New Roman" panose="02020603050405020304"/>
              </a:rPr>
              <a:t>actions.</a:t>
            </a:r>
            <a:endParaRPr sz="3050">
              <a:latin typeface="Times New Roman" panose="02020603050405020304"/>
              <a:cs typeface="Times New Roman" panose="02020603050405020304"/>
            </a:endParaRPr>
          </a:p>
          <a:p>
            <a:pPr marL="300355" marR="1704340" indent="-300355" algn="r">
              <a:lnSpc>
                <a:spcPct val="100000"/>
              </a:lnSpc>
              <a:spcBef>
                <a:spcPts val="695"/>
              </a:spcBef>
              <a:buClr>
                <a:srgbClr val="D34816"/>
              </a:buClr>
              <a:buSzPct val="85000"/>
              <a:buFont typeface="Webdings" panose="05030102010509060703"/>
              <a:buChar char=""/>
              <a:tabLst>
                <a:tab pos="300355" algn="l"/>
              </a:tabLst>
            </a:pPr>
            <a:r>
              <a:rPr sz="3050" spc="-275" dirty="0">
                <a:latin typeface="Times New Roman" panose="02020603050405020304"/>
                <a:cs typeface="Times New Roman" panose="02020603050405020304"/>
              </a:rPr>
              <a:t>Two </a:t>
            </a:r>
            <a:r>
              <a:rPr sz="3050" spc="-160" dirty="0">
                <a:latin typeface="Times New Roman" panose="02020603050405020304"/>
                <a:cs typeface="Times New Roman" panose="02020603050405020304"/>
              </a:rPr>
              <a:t>main</a:t>
            </a:r>
            <a:r>
              <a:rPr sz="3050" spc="40" dirty="0">
                <a:latin typeface="Times New Roman" panose="02020603050405020304"/>
                <a:cs typeface="Times New Roman" panose="02020603050405020304"/>
              </a:rPr>
              <a:t> </a:t>
            </a:r>
            <a:r>
              <a:rPr sz="3050" spc="-130" dirty="0">
                <a:latin typeface="Times New Roman" panose="02020603050405020304"/>
                <a:cs typeface="Times New Roman" panose="02020603050405020304"/>
              </a:rPr>
              <a:t>types</a:t>
            </a:r>
            <a:endParaRPr sz="3050">
              <a:latin typeface="Times New Roman" panose="02020603050405020304"/>
              <a:cs typeface="Times New Roman" panose="02020603050405020304"/>
            </a:endParaRPr>
          </a:p>
          <a:p>
            <a:pPr marL="251460" marR="1682115" lvl="1" indent="-251460" algn="r">
              <a:lnSpc>
                <a:spcPct val="100000"/>
              </a:lnSpc>
              <a:spcBef>
                <a:spcPts val="510"/>
              </a:spcBef>
              <a:buClr>
                <a:srgbClr val="9A2D1F"/>
              </a:buClr>
              <a:buSzPct val="85000"/>
              <a:buFont typeface="Webdings" panose="05030102010509060703"/>
              <a:buChar char=""/>
              <a:tabLst>
                <a:tab pos="251460" algn="l"/>
              </a:tabLst>
            </a:pPr>
            <a:r>
              <a:rPr sz="2650" spc="-165" dirty="0">
                <a:solidFill>
                  <a:srgbClr val="FF0000"/>
                </a:solidFill>
                <a:latin typeface="Times New Roman" panose="02020603050405020304"/>
                <a:cs typeface="Times New Roman" panose="02020603050405020304"/>
              </a:rPr>
              <a:t>Shared</a:t>
            </a:r>
            <a:r>
              <a:rPr sz="2650" spc="-160" dirty="0">
                <a:solidFill>
                  <a:srgbClr val="FF0000"/>
                </a:solidFill>
                <a:latin typeface="Times New Roman" panose="02020603050405020304"/>
                <a:cs typeface="Times New Roman" panose="02020603050405020304"/>
              </a:rPr>
              <a:t> </a:t>
            </a:r>
            <a:r>
              <a:rPr sz="2650" spc="-150" dirty="0">
                <a:solidFill>
                  <a:srgbClr val="FF0000"/>
                </a:solidFill>
                <a:latin typeface="Times New Roman" panose="02020603050405020304"/>
                <a:cs typeface="Times New Roman" panose="02020603050405020304"/>
              </a:rPr>
              <a:t>Memory</a:t>
            </a:r>
            <a:endParaRPr sz="2650">
              <a:latin typeface="Times New Roman" panose="02020603050405020304"/>
              <a:cs typeface="Times New Roman" panose="02020603050405020304"/>
            </a:endParaRPr>
          </a:p>
          <a:p>
            <a:pPr marL="251460" marR="1675130" lvl="1" indent="-251460" algn="r">
              <a:lnSpc>
                <a:spcPct val="100000"/>
              </a:lnSpc>
              <a:spcBef>
                <a:spcPts val="420"/>
              </a:spcBef>
              <a:buClr>
                <a:srgbClr val="9A2D1F"/>
              </a:buClr>
              <a:buSzPct val="85000"/>
              <a:buFont typeface="Webdings" panose="05030102010509060703"/>
              <a:buChar char=""/>
              <a:tabLst>
                <a:tab pos="251460" algn="l"/>
              </a:tabLst>
            </a:pPr>
            <a:r>
              <a:rPr sz="2650" spc="-200" dirty="0">
                <a:solidFill>
                  <a:srgbClr val="FF0000"/>
                </a:solidFill>
                <a:latin typeface="Times New Roman" panose="02020603050405020304"/>
                <a:cs typeface="Times New Roman" panose="02020603050405020304"/>
              </a:rPr>
              <a:t>Message</a:t>
            </a:r>
            <a:r>
              <a:rPr sz="2650" spc="-155" dirty="0">
                <a:solidFill>
                  <a:srgbClr val="FF0000"/>
                </a:solidFill>
                <a:latin typeface="Times New Roman" panose="02020603050405020304"/>
                <a:cs typeface="Times New Roman" panose="02020603050405020304"/>
              </a:rPr>
              <a:t> </a:t>
            </a:r>
            <a:r>
              <a:rPr sz="2650" spc="-190" dirty="0">
                <a:solidFill>
                  <a:srgbClr val="FF0000"/>
                </a:solidFill>
                <a:latin typeface="Times New Roman" panose="02020603050405020304"/>
                <a:cs typeface="Times New Roman" panose="02020603050405020304"/>
              </a:rPr>
              <a:t>Passing</a:t>
            </a:r>
            <a:endParaRPr sz="2650">
              <a:latin typeface="Times New Roman" panose="02020603050405020304"/>
              <a:cs typeface="Times New Roman" panose="02020603050405020304"/>
            </a:endParaRPr>
          </a:p>
        </p:txBody>
      </p:sp>
      <p:sp>
        <p:nvSpPr>
          <p:cNvPr id="5" name="object 5"/>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7" name="object 7"/>
          <p:cNvSpPr txBox="1"/>
          <p:nvPr/>
        </p:nvSpPr>
        <p:spPr>
          <a:xfrm>
            <a:off x="316991" y="7077995"/>
            <a:ext cx="191135" cy="247650"/>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z="1500" spc="110" dirty="0">
                <a:solidFill>
                  <a:srgbClr val="FFFFFF"/>
                </a:solidFill>
                <a:latin typeface="Trebuchet MS" panose="020B0603020202020204"/>
                <a:cs typeface="Trebuchet MS" panose="020B0603020202020204"/>
              </a:rPr>
            </a:fld>
            <a:endParaRPr sz="1500">
              <a:latin typeface="Trebuchet MS" panose="020B0603020202020204"/>
              <a:cs typeface="Trebuchet MS" panose="020B0603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8568" y="301364"/>
            <a:ext cx="5866765" cy="696595"/>
          </a:xfrm>
          <a:prstGeom prst="rect">
            <a:avLst/>
          </a:prstGeom>
        </p:spPr>
        <p:txBody>
          <a:bodyPr vert="horz" wrap="square" lIns="0" tIns="12700" rIns="0" bIns="0" rtlCol="0">
            <a:spAutoFit/>
          </a:bodyPr>
          <a:lstStyle/>
          <a:p>
            <a:pPr marL="12700">
              <a:lnSpc>
                <a:spcPct val="100000"/>
              </a:lnSpc>
              <a:spcBef>
                <a:spcPts val="100"/>
              </a:spcBef>
            </a:pPr>
            <a:r>
              <a:rPr sz="4400" spc="-320" dirty="0"/>
              <a:t>Communications</a:t>
            </a:r>
            <a:r>
              <a:rPr sz="4400" spc="-175" dirty="0"/>
              <a:t> </a:t>
            </a:r>
            <a:r>
              <a:rPr sz="4400" spc="-260" dirty="0"/>
              <a:t>Models</a:t>
            </a:r>
            <a:endParaRPr sz="4400"/>
          </a:p>
        </p:txBody>
      </p:sp>
      <p:sp>
        <p:nvSpPr>
          <p:cNvPr id="3" name="object 3"/>
          <p:cNvSpPr/>
          <p:nvPr/>
        </p:nvSpPr>
        <p:spPr>
          <a:xfrm>
            <a:off x="3259835" y="6524243"/>
            <a:ext cx="266699" cy="245363"/>
          </a:xfrm>
          <a:prstGeom prst="rect">
            <a:avLst/>
          </a:prstGeom>
          <a:blipFill>
            <a:blip r:embed="rId1" cstate="print"/>
            <a:stretch>
              <a:fillRect/>
            </a:stretch>
          </a:blipFill>
        </p:spPr>
        <p:txBody>
          <a:bodyPr wrap="square" lIns="0" tIns="0" rIns="0" bIns="0" rtlCol="0"/>
          <a:lstStyle/>
          <a:p/>
        </p:txBody>
      </p:sp>
      <p:grpSp>
        <p:nvGrpSpPr>
          <p:cNvPr id="4" name="object 4"/>
          <p:cNvGrpSpPr/>
          <p:nvPr/>
        </p:nvGrpSpPr>
        <p:grpSpPr>
          <a:xfrm>
            <a:off x="6777228" y="6524243"/>
            <a:ext cx="268605" cy="245745"/>
            <a:chOff x="6777228" y="6524243"/>
            <a:chExt cx="268605" cy="245745"/>
          </a:xfrm>
        </p:grpSpPr>
        <p:sp>
          <p:nvSpPr>
            <p:cNvPr id="5" name="object 5"/>
            <p:cNvSpPr/>
            <p:nvPr/>
          </p:nvSpPr>
          <p:spPr>
            <a:xfrm>
              <a:off x="6777228" y="6524243"/>
              <a:ext cx="56515" cy="245745"/>
            </a:xfrm>
            <a:custGeom>
              <a:avLst/>
              <a:gdLst/>
              <a:ahLst/>
              <a:cxnLst/>
              <a:rect l="l" t="t" r="r" b="b"/>
              <a:pathLst>
                <a:path w="56515" h="245745">
                  <a:moveTo>
                    <a:pt x="51219" y="245363"/>
                  </a:moveTo>
                  <a:lnTo>
                    <a:pt x="32924" y="245363"/>
                  </a:lnTo>
                  <a:lnTo>
                    <a:pt x="24431" y="229623"/>
                  </a:lnTo>
                  <a:lnTo>
                    <a:pt x="11429" y="199072"/>
                  </a:lnTo>
                  <a:lnTo>
                    <a:pt x="3000" y="166520"/>
                  </a:lnTo>
                  <a:lnTo>
                    <a:pt x="0" y="129538"/>
                  </a:lnTo>
                  <a:lnTo>
                    <a:pt x="2785" y="96226"/>
                  </a:lnTo>
                  <a:lnTo>
                    <a:pt x="10858" y="64198"/>
                  </a:lnTo>
                  <a:lnTo>
                    <a:pt x="23788" y="32456"/>
                  </a:lnTo>
                  <a:lnTo>
                    <a:pt x="41147" y="0"/>
                  </a:lnTo>
                  <a:lnTo>
                    <a:pt x="56387" y="0"/>
                  </a:lnTo>
                  <a:lnTo>
                    <a:pt x="42147" y="30861"/>
                  </a:lnTo>
                  <a:lnTo>
                    <a:pt x="31622" y="60579"/>
                  </a:lnTo>
                  <a:lnTo>
                    <a:pt x="25098" y="94297"/>
                  </a:lnTo>
                  <a:lnTo>
                    <a:pt x="22859" y="137160"/>
                  </a:lnTo>
                  <a:lnTo>
                    <a:pt x="25550" y="169521"/>
                  </a:lnTo>
                  <a:lnTo>
                    <a:pt x="32956" y="199453"/>
                  </a:lnTo>
                  <a:lnTo>
                    <a:pt x="44076" y="229100"/>
                  </a:lnTo>
                  <a:lnTo>
                    <a:pt x="51219" y="245363"/>
                  </a:lnTo>
                  <a:close/>
                </a:path>
              </a:pathLst>
            </a:custGeom>
            <a:solidFill>
              <a:srgbClr val="231F1F"/>
            </a:solidFill>
          </p:spPr>
          <p:txBody>
            <a:bodyPr wrap="square" lIns="0" tIns="0" rIns="0" bIns="0" rtlCol="0"/>
            <a:lstStyle/>
            <a:p/>
          </p:txBody>
        </p:sp>
        <p:sp>
          <p:nvSpPr>
            <p:cNvPr id="6" name="object 6"/>
            <p:cNvSpPr/>
            <p:nvPr/>
          </p:nvSpPr>
          <p:spPr>
            <a:xfrm>
              <a:off x="6858000" y="6528815"/>
              <a:ext cx="111252" cy="202692"/>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6989064" y="6524243"/>
              <a:ext cx="56515" cy="245745"/>
            </a:xfrm>
            <a:custGeom>
              <a:avLst/>
              <a:gdLst/>
              <a:ahLst/>
              <a:cxnLst/>
              <a:rect l="l" t="t" r="r" b="b"/>
              <a:pathLst>
                <a:path w="56515" h="245745">
                  <a:moveTo>
                    <a:pt x="23605" y="245363"/>
                  </a:moveTo>
                  <a:lnTo>
                    <a:pt x="7081" y="245363"/>
                  </a:lnTo>
                  <a:lnTo>
                    <a:pt x="14239" y="229957"/>
                  </a:lnTo>
                  <a:lnTo>
                    <a:pt x="24765" y="200596"/>
                  </a:lnTo>
                  <a:lnTo>
                    <a:pt x="31289" y="166949"/>
                  </a:lnTo>
                  <a:lnTo>
                    <a:pt x="33528" y="123444"/>
                  </a:lnTo>
                  <a:lnTo>
                    <a:pt x="30861" y="90439"/>
                  </a:lnTo>
                  <a:lnTo>
                    <a:pt x="23622" y="60579"/>
                  </a:lnTo>
                  <a:lnTo>
                    <a:pt x="12954" y="31289"/>
                  </a:lnTo>
                  <a:lnTo>
                    <a:pt x="0" y="0"/>
                  </a:lnTo>
                  <a:lnTo>
                    <a:pt x="15240" y="0"/>
                  </a:lnTo>
                  <a:lnTo>
                    <a:pt x="31956" y="31813"/>
                  </a:lnTo>
                  <a:lnTo>
                    <a:pt x="44958" y="62484"/>
                  </a:lnTo>
                  <a:lnTo>
                    <a:pt x="53387" y="94297"/>
                  </a:lnTo>
                  <a:lnTo>
                    <a:pt x="56388" y="129540"/>
                  </a:lnTo>
                  <a:lnTo>
                    <a:pt x="53601" y="164592"/>
                  </a:lnTo>
                  <a:lnTo>
                    <a:pt x="45529" y="197358"/>
                  </a:lnTo>
                  <a:lnTo>
                    <a:pt x="32599" y="228981"/>
                  </a:lnTo>
                  <a:lnTo>
                    <a:pt x="23605" y="245363"/>
                  </a:lnTo>
                  <a:close/>
                </a:path>
              </a:pathLst>
            </a:custGeom>
            <a:solidFill>
              <a:srgbClr val="231F1F"/>
            </a:solidFill>
          </p:spPr>
          <p:txBody>
            <a:bodyPr wrap="square" lIns="0" tIns="0" rIns="0" bIns="0" rtlCol="0"/>
            <a:lstStyle/>
            <a:p/>
          </p:txBody>
        </p:sp>
      </p:grpSp>
      <p:grpSp>
        <p:nvGrpSpPr>
          <p:cNvPr id="8" name="object 8"/>
          <p:cNvGrpSpPr/>
          <p:nvPr/>
        </p:nvGrpSpPr>
        <p:grpSpPr>
          <a:xfrm>
            <a:off x="1786127" y="2007107"/>
            <a:ext cx="3215640" cy="4334510"/>
            <a:chOff x="1786127" y="2007107"/>
            <a:chExt cx="3215640" cy="4334510"/>
          </a:xfrm>
        </p:grpSpPr>
        <p:sp>
          <p:nvSpPr>
            <p:cNvPr id="9" name="object 9"/>
            <p:cNvSpPr/>
            <p:nvPr/>
          </p:nvSpPr>
          <p:spPr>
            <a:xfrm>
              <a:off x="2129028" y="2013203"/>
              <a:ext cx="2531745" cy="702945"/>
            </a:xfrm>
            <a:custGeom>
              <a:avLst/>
              <a:gdLst/>
              <a:ahLst/>
              <a:cxnLst/>
              <a:rect l="l" t="t" r="r" b="b"/>
              <a:pathLst>
                <a:path w="2531745" h="702944">
                  <a:moveTo>
                    <a:pt x="0" y="0"/>
                  </a:moveTo>
                  <a:lnTo>
                    <a:pt x="0" y="702564"/>
                  </a:lnTo>
                  <a:lnTo>
                    <a:pt x="2531364" y="702564"/>
                  </a:lnTo>
                  <a:lnTo>
                    <a:pt x="2531364" y="0"/>
                  </a:lnTo>
                  <a:lnTo>
                    <a:pt x="0" y="0"/>
                  </a:lnTo>
                  <a:close/>
                </a:path>
              </a:pathLst>
            </a:custGeom>
            <a:solidFill>
              <a:srgbClr val="C6E9FB"/>
            </a:solidFill>
          </p:spPr>
          <p:txBody>
            <a:bodyPr wrap="square" lIns="0" tIns="0" rIns="0" bIns="0" rtlCol="0"/>
            <a:lstStyle/>
            <a:p/>
          </p:txBody>
        </p:sp>
        <p:sp>
          <p:nvSpPr>
            <p:cNvPr id="10" name="object 10"/>
            <p:cNvSpPr/>
            <p:nvPr/>
          </p:nvSpPr>
          <p:spPr>
            <a:xfrm>
              <a:off x="2129027" y="2013203"/>
              <a:ext cx="2531745" cy="702945"/>
            </a:xfrm>
            <a:custGeom>
              <a:avLst/>
              <a:gdLst/>
              <a:ahLst/>
              <a:cxnLst/>
              <a:rect l="l" t="t" r="r" b="b"/>
              <a:pathLst>
                <a:path w="2531745" h="702944">
                  <a:moveTo>
                    <a:pt x="2531363" y="702564"/>
                  </a:moveTo>
                  <a:lnTo>
                    <a:pt x="0" y="702564"/>
                  </a:lnTo>
                  <a:lnTo>
                    <a:pt x="0" y="0"/>
                  </a:lnTo>
                </a:path>
                <a:path w="2531745" h="702944">
                  <a:moveTo>
                    <a:pt x="2531363" y="0"/>
                  </a:moveTo>
                  <a:lnTo>
                    <a:pt x="2531363" y="702564"/>
                  </a:lnTo>
                </a:path>
              </a:pathLst>
            </a:custGeom>
            <a:ln w="12192">
              <a:solidFill>
                <a:srgbClr val="231F1F"/>
              </a:solidFill>
            </a:ln>
          </p:spPr>
          <p:txBody>
            <a:bodyPr wrap="square" lIns="0" tIns="0" rIns="0" bIns="0" rtlCol="0"/>
            <a:lstStyle/>
            <a:p/>
          </p:txBody>
        </p:sp>
        <p:sp>
          <p:nvSpPr>
            <p:cNvPr id="11" name="object 11"/>
            <p:cNvSpPr/>
            <p:nvPr/>
          </p:nvSpPr>
          <p:spPr>
            <a:xfrm>
              <a:off x="2129027" y="2715768"/>
              <a:ext cx="2531745" cy="591820"/>
            </a:xfrm>
            <a:custGeom>
              <a:avLst/>
              <a:gdLst/>
              <a:ahLst/>
              <a:cxnLst/>
              <a:rect l="l" t="t" r="r" b="b"/>
              <a:pathLst>
                <a:path w="2531745" h="591820">
                  <a:moveTo>
                    <a:pt x="2531363" y="591311"/>
                  </a:moveTo>
                  <a:lnTo>
                    <a:pt x="0" y="591311"/>
                  </a:lnTo>
                  <a:lnTo>
                    <a:pt x="0" y="0"/>
                  </a:lnTo>
                  <a:lnTo>
                    <a:pt x="2531363" y="0"/>
                  </a:lnTo>
                  <a:lnTo>
                    <a:pt x="2531363" y="591311"/>
                  </a:lnTo>
                  <a:close/>
                </a:path>
              </a:pathLst>
            </a:custGeom>
            <a:solidFill>
              <a:srgbClr val="C6E9FB"/>
            </a:solidFill>
          </p:spPr>
          <p:txBody>
            <a:bodyPr wrap="square" lIns="0" tIns="0" rIns="0" bIns="0" rtlCol="0"/>
            <a:lstStyle/>
            <a:p/>
          </p:txBody>
        </p:sp>
        <p:sp>
          <p:nvSpPr>
            <p:cNvPr id="12" name="object 12"/>
            <p:cNvSpPr/>
            <p:nvPr/>
          </p:nvSpPr>
          <p:spPr>
            <a:xfrm>
              <a:off x="2129027" y="2715768"/>
              <a:ext cx="2531745" cy="591820"/>
            </a:xfrm>
            <a:custGeom>
              <a:avLst/>
              <a:gdLst/>
              <a:ahLst/>
              <a:cxnLst/>
              <a:rect l="l" t="t" r="r" b="b"/>
              <a:pathLst>
                <a:path w="2531745" h="591820">
                  <a:moveTo>
                    <a:pt x="2531363" y="591311"/>
                  </a:moveTo>
                  <a:lnTo>
                    <a:pt x="0" y="591311"/>
                  </a:lnTo>
                  <a:lnTo>
                    <a:pt x="0" y="0"/>
                  </a:lnTo>
                  <a:lnTo>
                    <a:pt x="2531363" y="0"/>
                  </a:lnTo>
                  <a:lnTo>
                    <a:pt x="2531363" y="591311"/>
                  </a:lnTo>
                  <a:close/>
                </a:path>
              </a:pathLst>
            </a:custGeom>
            <a:ln w="12191">
              <a:solidFill>
                <a:srgbClr val="231F1F"/>
              </a:solidFill>
            </a:ln>
          </p:spPr>
          <p:txBody>
            <a:bodyPr wrap="square" lIns="0" tIns="0" rIns="0" bIns="0" rtlCol="0"/>
            <a:lstStyle/>
            <a:p/>
          </p:txBody>
        </p:sp>
        <p:sp>
          <p:nvSpPr>
            <p:cNvPr id="13" name="object 13"/>
            <p:cNvSpPr/>
            <p:nvPr/>
          </p:nvSpPr>
          <p:spPr>
            <a:xfrm>
              <a:off x="2129027" y="4942332"/>
              <a:ext cx="2531745" cy="424180"/>
            </a:xfrm>
            <a:custGeom>
              <a:avLst/>
              <a:gdLst/>
              <a:ahLst/>
              <a:cxnLst/>
              <a:rect l="l" t="t" r="r" b="b"/>
              <a:pathLst>
                <a:path w="2531745" h="424179">
                  <a:moveTo>
                    <a:pt x="2531363" y="423672"/>
                  </a:moveTo>
                  <a:lnTo>
                    <a:pt x="0" y="423672"/>
                  </a:lnTo>
                  <a:lnTo>
                    <a:pt x="0" y="0"/>
                  </a:lnTo>
                  <a:lnTo>
                    <a:pt x="2531363" y="0"/>
                  </a:lnTo>
                  <a:lnTo>
                    <a:pt x="2531363" y="423672"/>
                  </a:lnTo>
                  <a:close/>
                </a:path>
              </a:pathLst>
            </a:custGeom>
            <a:solidFill>
              <a:srgbClr val="D1D3D4"/>
            </a:solidFill>
          </p:spPr>
          <p:txBody>
            <a:bodyPr wrap="square" lIns="0" tIns="0" rIns="0" bIns="0" rtlCol="0"/>
            <a:lstStyle/>
            <a:p/>
          </p:txBody>
        </p:sp>
        <p:sp>
          <p:nvSpPr>
            <p:cNvPr id="14" name="object 14"/>
            <p:cNvSpPr/>
            <p:nvPr/>
          </p:nvSpPr>
          <p:spPr>
            <a:xfrm>
              <a:off x="2129027" y="4942332"/>
              <a:ext cx="2531745" cy="424180"/>
            </a:xfrm>
            <a:custGeom>
              <a:avLst/>
              <a:gdLst/>
              <a:ahLst/>
              <a:cxnLst/>
              <a:rect l="l" t="t" r="r" b="b"/>
              <a:pathLst>
                <a:path w="2531745" h="424179">
                  <a:moveTo>
                    <a:pt x="2531363" y="423672"/>
                  </a:moveTo>
                  <a:lnTo>
                    <a:pt x="0" y="423672"/>
                  </a:lnTo>
                  <a:lnTo>
                    <a:pt x="0" y="0"/>
                  </a:lnTo>
                  <a:lnTo>
                    <a:pt x="2531363" y="0"/>
                  </a:lnTo>
                  <a:lnTo>
                    <a:pt x="2531363" y="423672"/>
                  </a:lnTo>
                  <a:close/>
                </a:path>
              </a:pathLst>
            </a:custGeom>
            <a:ln w="12191">
              <a:solidFill>
                <a:srgbClr val="231F1F"/>
              </a:solidFill>
            </a:ln>
          </p:spPr>
          <p:txBody>
            <a:bodyPr wrap="square" lIns="0" tIns="0" rIns="0" bIns="0" rtlCol="0"/>
            <a:lstStyle/>
            <a:p/>
          </p:txBody>
        </p:sp>
        <p:sp>
          <p:nvSpPr>
            <p:cNvPr id="15" name="object 15"/>
            <p:cNvSpPr/>
            <p:nvPr/>
          </p:nvSpPr>
          <p:spPr>
            <a:xfrm>
              <a:off x="2129027" y="2013203"/>
              <a:ext cx="2531745" cy="4322445"/>
            </a:xfrm>
            <a:custGeom>
              <a:avLst/>
              <a:gdLst/>
              <a:ahLst/>
              <a:cxnLst/>
              <a:rect l="l" t="t" r="r" b="b"/>
              <a:pathLst>
                <a:path w="2531745" h="4322445">
                  <a:moveTo>
                    <a:pt x="2531363" y="4322064"/>
                  </a:moveTo>
                  <a:lnTo>
                    <a:pt x="0" y="4322064"/>
                  </a:lnTo>
                  <a:lnTo>
                    <a:pt x="0" y="0"/>
                  </a:lnTo>
                </a:path>
                <a:path w="2531745" h="4322445">
                  <a:moveTo>
                    <a:pt x="2531363" y="0"/>
                  </a:moveTo>
                  <a:lnTo>
                    <a:pt x="2531363" y="4322064"/>
                  </a:lnTo>
                </a:path>
              </a:pathLst>
            </a:custGeom>
            <a:ln w="12192">
              <a:solidFill>
                <a:srgbClr val="231F1F"/>
              </a:solidFill>
            </a:ln>
          </p:spPr>
          <p:txBody>
            <a:bodyPr wrap="square" lIns="0" tIns="0" rIns="0" bIns="0" rtlCol="0"/>
            <a:lstStyle/>
            <a:p/>
          </p:txBody>
        </p:sp>
        <p:sp>
          <p:nvSpPr>
            <p:cNvPr id="16" name="object 16"/>
            <p:cNvSpPr/>
            <p:nvPr/>
          </p:nvSpPr>
          <p:spPr>
            <a:xfrm>
              <a:off x="2860547" y="2299716"/>
              <a:ext cx="111252" cy="204216"/>
            </a:xfrm>
            <a:prstGeom prst="rect">
              <a:avLst/>
            </a:prstGeom>
            <a:blipFill>
              <a:blip r:embed="rId3" cstate="print"/>
              <a:stretch>
                <a:fillRect/>
              </a:stretch>
            </a:blipFill>
          </p:spPr>
          <p:txBody>
            <a:bodyPr wrap="square" lIns="0" tIns="0" rIns="0" bIns="0" rtlCol="0"/>
            <a:lstStyle/>
            <a:p/>
          </p:txBody>
        </p:sp>
        <p:sp>
          <p:nvSpPr>
            <p:cNvPr id="17" name="object 17"/>
            <p:cNvSpPr/>
            <p:nvPr/>
          </p:nvSpPr>
          <p:spPr>
            <a:xfrm>
              <a:off x="3002267" y="2299715"/>
              <a:ext cx="573405" cy="153035"/>
            </a:xfrm>
            <a:custGeom>
              <a:avLst/>
              <a:gdLst/>
              <a:ahLst/>
              <a:cxnLst/>
              <a:rect l="l" t="t" r="r" b="b"/>
              <a:pathLst>
                <a:path w="573404" h="153035">
                  <a:moveTo>
                    <a:pt x="62496" y="0"/>
                  </a:moveTo>
                  <a:lnTo>
                    <a:pt x="54876" y="0"/>
                  </a:lnTo>
                  <a:lnTo>
                    <a:pt x="44272" y="1930"/>
                  </a:lnTo>
                  <a:lnTo>
                    <a:pt x="35255" y="7429"/>
                  </a:lnTo>
                  <a:lnTo>
                    <a:pt x="27647" y="16078"/>
                  </a:lnTo>
                  <a:lnTo>
                    <a:pt x="21336" y="27432"/>
                  </a:lnTo>
                  <a:lnTo>
                    <a:pt x="21336" y="4572"/>
                  </a:lnTo>
                  <a:lnTo>
                    <a:pt x="0" y="4572"/>
                  </a:lnTo>
                  <a:lnTo>
                    <a:pt x="0" y="147840"/>
                  </a:lnTo>
                  <a:lnTo>
                    <a:pt x="21336" y="147840"/>
                  </a:lnTo>
                  <a:lnTo>
                    <a:pt x="21336" y="64008"/>
                  </a:lnTo>
                  <a:lnTo>
                    <a:pt x="23558" y="49707"/>
                  </a:lnTo>
                  <a:lnTo>
                    <a:pt x="29921" y="37528"/>
                  </a:lnTo>
                  <a:lnTo>
                    <a:pt x="39992" y="29083"/>
                  </a:lnTo>
                  <a:lnTo>
                    <a:pt x="46913" y="27432"/>
                  </a:lnTo>
                  <a:lnTo>
                    <a:pt x="53352" y="25908"/>
                  </a:lnTo>
                  <a:lnTo>
                    <a:pt x="62496" y="25908"/>
                  </a:lnTo>
                  <a:lnTo>
                    <a:pt x="62496" y="0"/>
                  </a:lnTo>
                  <a:close/>
                </a:path>
                <a:path w="573404" h="153035">
                  <a:moveTo>
                    <a:pt x="192036" y="76200"/>
                  </a:moveTo>
                  <a:lnTo>
                    <a:pt x="188074" y="48869"/>
                  </a:lnTo>
                  <a:lnTo>
                    <a:pt x="176415" y="24384"/>
                  </a:lnTo>
                  <a:lnTo>
                    <a:pt x="171450" y="19812"/>
                  </a:lnTo>
                  <a:lnTo>
                    <a:pt x="169176" y="17716"/>
                  </a:lnTo>
                  <a:lnTo>
                    <a:pt x="169176" y="76200"/>
                  </a:lnTo>
                  <a:lnTo>
                    <a:pt x="167716" y="92252"/>
                  </a:lnTo>
                  <a:lnTo>
                    <a:pt x="162128" y="109740"/>
                  </a:lnTo>
                  <a:lnTo>
                    <a:pt x="150520" y="123786"/>
                  </a:lnTo>
                  <a:lnTo>
                    <a:pt x="131076" y="129552"/>
                  </a:lnTo>
                  <a:lnTo>
                    <a:pt x="112496" y="123786"/>
                  </a:lnTo>
                  <a:lnTo>
                    <a:pt x="101358" y="109740"/>
                  </a:lnTo>
                  <a:lnTo>
                    <a:pt x="95923" y="92252"/>
                  </a:lnTo>
                  <a:lnTo>
                    <a:pt x="94500" y="76200"/>
                  </a:lnTo>
                  <a:lnTo>
                    <a:pt x="95923" y="58394"/>
                  </a:lnTo>
                  <a:lnTo>
                    <a:pt x="131076" y="19812"/>
                  </a:lnTo>
                  <a:lnTo>
                    <a:pt x="167716" y="58394"/>
                  </a:lnTo>
                  <a:lnTo>
                    <a:pt x="169176" y="76200"/>
                  </a:lnTo>
                  <a:lnTo>
                    <a:pt x="169176" y="17716"/>
                  </a:lnTo>
                  <a:lnTo>
                    <a:pt x="157314" y="6769"/>
                  </a:lnTo>
                  <a:lnTo>
                    <a:pt x="131076" y="0"/>
                  </a:lnTo>
                  <a:lnTo>
                    <a:pt x="104419" y="6769"/>
                  </a:lnTo>
                  <a:lnTo>
                    <a:pt x="85928" y="24384"/>
                  </a:lnTo>
                  <a:lnTo>
                    <a:pt x="75133" y="48869"/>
                  </a:lnTo>
                  <a:lnTo>
                    <a:pt x="71640" y="76200"/>
                  </a:lnTo>
                  <a:lnTo>
                    <a:pt x="75133" y="103949"/>
                  </a:lnTo>
                  <a:lnTo>
                    <a:pt x="85928" y="127838"/>
                  </a:lnTo>
                  <a:lnTo>
                    <a:pt x="104419" y="144576"/>
                  </a:lnTo>
                  <a:lnTo>
                    <a:pt x="131076" y="150888"/>
                  </a:lnTo>
                  <a:lnTo>
                    <a:pt x="157314" y="144576"/>
                  </a:lnTo>
                  <a:lnTo>
                    <a:pt x="174447" y="129552"/>
                  </a:lnTo>
                  <a:lnTo>
                    <a:pt x="176415" y="127838"/>
                  </a:lnTo>
                  <a:lnTo>
                    <a:pt x="188074" y="103949"/>
                  </a:lnTo>
                  <a:lnTo>
                    <a:pt x="192036" y="76200"/>
                  </a:lnTo>
                  <a:close/>
                </a:path>
                <a:path w="573404" h="153035">
                  <a:moveTo>
                    <a:pt x="317004" y="50292"/>
                  </a:moveTo>
                  <a:lnTo>
                    <a:pt x="312826" y="32791"/>
                  </a:lnTo>
                  <a:lnTo>
                    <a:pt x="304241" y="16573"/>
                  </a:lnTo>
                  <a:lnTo>
                    <a:pt x="290207" y="4648"/>
                  </a:lnTo>
                  <a:lnTo>
                    <a:pt x="269760" y="0"/>
                  </a:lnTo>
                  <a:lnTo>
                    <a:pt x="241350" y="6172"/>
                  </a:lnTo>
                  <a:lnTo>
                    <a:pt x="221945" y="23050"/>
                  </a:lnTo>
                  <a:lnTo>
                    <a:pt x="210820" y="48221"/>
                  </a:lnTo>
                  <a:lnTo>
                    <a:pt x="207276" y="79248"/>
                  </a:lnTo>
                  <a:lnTo>
                    <a:pt x="211175" y="108038"/>
                  </a:lnTo>
                  <a:lnTo>
                    <a:pt x="222516" y="131254"/>
                  </a:lnTo>
                  <a:lnTo>
                    <a:pt x="240703" y="146761"/>
                  </a:lnTo>
                  <a:lnTo>
                    <a:pt x="265188" y="152400"/>
                  </a:lnTo>
                  <a:lnTo>
                    <a:pt x="288277" y="147053"/>
                  </a:lnTo>
                  <a:lnTo>
                    <a:pt x="303669" y="133540"/>
                  </a:lnTo>
                  <a:lnTo>
                    <a:pt x="312762" y="115760"/>
                  </a:lnTo>
                  <a:lnTo>
                    <a:pt x="317004" y="97536"/>
                  </a:lnTo>
                  <a:lnTo>
                    <a:pt x="295668" y="97536"/>
                  </a:lnTo>
                  <a:lnTo>
                    <a:pt x="291757" y="111544"/>
                  </a:lnTo>
                  <a:lnTo>
                    <a:pt x="285000" y="121539"/>
                  </a:lnTo>
                  <a:lnTo>
                    <a:pt x="275945" y="127546"/>
                  </a:lnTo>
                  <a:lnTo>
                    <a:pt x="265188" y="129540"/>
                  </a:lnTo>
                  <a:lnTo>
                    <a:pt x="247484" y="124421"/>
                  </a:lnTo>
                  <a:lnTo>
                    <a:pt x="236804" y="111442"/>
                  </a:lnTo>
                  <a:lnTo>
                    <a:pt x="231533" y="94183"/>
                  </a:lnTo>
                  <a:lnTo>
                    <a:pt x="230136" y="76200"/>
                  </a:lnTo>
                  <a:lnTo>
                    <a:pt x="231965" y="56464"/>
                  </a:lnTo>
                  <a:lnTo>
                    <a:pt x="237947" y="38290"/>
                  </a:lnTo>
                  <a:lnTo>
                    <a:pt x="248780" y="24980"/>
                  </a:lnTo>
                  <a:lnTo>
                    <a:pt x="265188" y="19812"/>
                  </a:lnTo>
                  <a:lnTo>
                    <a:pt x="277444" y="22009"/>
                  </a:lnTo>
                  <a:lnTo>
                    <a:pt x="286715" y="28194"/>
                  </a:lnTo>
                  <a:lnTo>
                    <a:pt x="292823" y="37820"/>
                  </a:lnTo>
                  <a:lnTo>
                    <a:pt x="295668" y="50292"/>
                  </a:lnTo>
                  <a:lnTo>
                    <a:pt x="317004" y="50292"/>
                  </a:lnTo>
                  <a:close/>
                </a:path>
                <a:path w="573404" h="153035">
                  <a:moveTo>
                    <a:pt x="451116" y="83820"/>
                  </a:moveTo>
                  <a:lnTo>
                    <a:pt x="449033" y="64008"/>
                  </a:lnTo>
                  <a:lnTo>
                    <a:pt x="447446" y="48869"/>
                  </a:lnTo>
                  <a:lnTo>
                    <a:pt x="436638" y="22479"/>
                  </a:lnTo>
                  <a:lnTo>
                    <a:pt x="433806" y="19812"/>
                  </a:lnTo>
                  <a:lnTo>
                    <a:pt x="428256" y="14592"/>
                  </a:lnTo>
                  <a:lnTo>
                    <a:pt x="428256" y="64008"/>
                  </a:lnTo>
                  <a:lnTo>
                    <a:pt x="355092" y="64008"/>
                  </a:lnTo>
                  <a:lnTo>
                    <a:pt x="358000" y="47459"/>
                  </a:lnTo>
                  <a:lnTo>
                    <a:pt x="365760" y="33337"/>
                  </a:lnTo>
                  <a:lnTo>
                    <a:pt x="376961" y="23507"/>
                  </a:lnTo>
                  <a:lnTo>
                    <a:pt x="390144" y="19812"/>
                  </a:lnTo>
                  <a:lnTo>
                    <a:pt x="407250" y="23507"/>
                  </a:lnTo>
                  <a:lnTo>
                    <a:pt x="418338" y="33337"/>
                  </a:lnTo>
                  <a:lnTo>
                    <a:pt x="424865" y="47459"/>
                  </a:lnTo>
                  <a:lnTo>
                    <a:pt x="428256" y="64008"/>
                  </a:lnTo>
                  <a:lnTo>
                    <a:pt x="428256" y="14592"/>
                  </a:lnTo>
                  <a:lnTo>
                    <a:pt x="418960" y="5816"/>
                  </a:lnTo>
                  <a:lnTo>
                    <a:pt x="394716" y="0"/>
                  </a:lnTo>
                  <a:lnTo>
                    <a:pt x="367195" y="6172"/>
                  </a:lnTo>
                  <a:lnTo>
                    <a:pt x="348234" y="23050"/>
                  </a:lnTo>
                  <a:lnTo>
                    <a:pt x="337286" y="48221"/>
                  </a:lnTo>
                  <a:lnTo>
                    <a:pt x="333756" y="79248"/>
                  </a:lnTo>
                  <a:lnTo>
                    <a:pt x="337426" y="108038"/>
                  </a:lnTo>
                  <a:lnTo>
                    <a:pt x="348234" y="131267"/>
                  </a:lnTo>
                  <a:lnTo>
                    <a:pt x="365912" y="146761"/>
                  </a:lnTo>
                  <a:lnTo>
                    <a:pt x="390144" y="152412"/>
                  </a:lnTo>
                  <a:lnTo>
                    <a:pt x="403771" y="151384"/>
                  </a:lnTo>
                  <a:lnTo>
                    <a:pt x="436626" y="129552"/>
                  </a:lnTo>
                  <a:lnTo>
                    <a:pt x="442353" y="119646"/>
                  </a:lnTo>
                  <a:lnTo>
                    <a:pt x="446201" y="109169"/>
                  </a:lnTo>
                  <a:lnTo>
                    <a:pt x="448068" y="102108"/>
                  </a:lnTo>
                  <a:lnTo>
                    <a:pt x="425208" y="102108"/>
                  </a:lnTo>
                  <a:lnTo>
                    <a:pt x="422986" y="111544"/>
                  </a:lnTo>
                  <a:lnTo>
                    <a:pt x="416623" y="120408"/>
                  </a:lnTo>
                  <a:lnTo>
                    <a:pt x="406552" y="126974"/>
                  </a:lnTo>
                  <a:lnTo>
                    <a:pt x="393192" y="129552"/>
                  </a:lnTo>
                  <a:lnTo>
                    <a:pt x="376961" y="126695"/>
                  </a:lnTo>
                  <a:lnTo>
                    <a:pt x="364998" y="118122"/>
                  </a:lnTo>
                  <a:lnTo>
                    <a:pt x="357619" y="103835"/>
                  </a:lnTo>
                  <a:lnTo>
                    <a:pt x="355092" y="83820"/>
                  </a:lnTo>
                  <a:lnTo>
                    <a:pt x="451116" y="83820"/>
                  </a:lnTo>
                  <a:close/>
                </a:path>
                <a:path w="573404" h="153035">
                  <a:moveTo>
                    <a:pt x="573036" y="103632"/>
                  </a:moveTo>
                  <a:lnTo>
                    <a:pt x="539508" y="67056"/>
                  </a:lnTo>
                  <a:lnTo>
                    <a:pt x="505993" y="56375"/>
                  </a:lnTo>
                  <a:lnTo>
                    <a:pt x="498932" y="53149"/>
                  </a:lnTo>
                  <a:lnTo>
                    <a:pt x="494995" y="48514"/>
                  </a:lnTo>
                  <a:lnTo>
                    <a:pt x="493788" y="41148"/>
                  </a:lnTo>
                  <a:lnTo>
                    <a:pt x="496735" y="30099"/>
                  </a:lnTo>
                  <a:lnTo>
                    <a:pt x="503694" y="23622"/>
                  </a:lnTo>
                  <a:lnTo>
                    <a:pt x="511784" y="20574"/>
                  </a:lnTo>
                  <a:lnTo>
                    <a:pt x="518172" y="19812"/>
                  </a:lnTo>
                  <a:lnTo>
                    <a:pt x="534504" y="22339"/>
                  </a:lnTo>
                  <a:lnTo>
                    <a:pt x="543699" y="28575"/>
                  </a:lnTo>
                  <a:lnTo>
                    <a:pt x="547738" y="36537"/>
                  </a:lnTo>
                  <a:lnTo>
                    <a:pt x="548652" y="44196"/>
                  </a:lnTo>
                  <a:lnTo>
                    <a:pt x="569988" y="44196"/>
                  </a:lnTo>
                  <a:lnTo>
                    <a:pt x="568769" y="34086"/>
                  </a:lnTo>
                  <a:lnTo>
                    <a:pt x="562559" y="19240"/>
                  </a:lnTo>
                  <a:lnTo>
                    <a:pt x="547484" y="5842"/>
                  </a:lnTo>
                  <a:lnTo>
                    <a:pt x="519696" y="0"/>
                  </a:lnTo>
                  <a:lnTo>
                    <a:pt x="502018" y="2654"/>
                  </a:lnTo>
                  <a:lnTo>
                    <a:pt x="486930" y="10858"/>
                  </a:lnTo>
                  <a:lnTo>
                    <a:pt x="476402" y="25082"/>
                  </a:lnTo>
                  <a:lnTo>
                    <a:pt x="472452" y="45720"/>
                  </a:lnTo>
                  <a:lnTo>
                    <a:pt x="474395" y="58280"/>
                  </a:lnTo>
                  <a:lnTo>
                    <a:pt x="525792" y="88392"/>
                  </a:lnTo>
                  <a:lnTo>
                    <a:pt x="538429" y="91922"/>
                  </a:lnTo>
                  <a:lnTo>
                    <a:pt x="546938" y="96012"/>
                  </a:lnTo>
                  <a:lnTo>
                    <a:pt x="551713" y="101257"/>
                  </a:lnTo>
                  <a:lnTo>
                    <a:pt x="553224" y="108204"/>
                  </a:lnTo>
                  <a:lnTo>
                    <a:pt x="550811" y="118618"/>
                  </a:lnTo>
                  <a:lnTo>
                    <a:pt x="544271" y="125158"/>
                  </a:lnTo>
                  <a:lnTo>
                    <a:pt x="534568" y="128574"/>
                  </a:lnTo>
                  <a:lnTo>
                    <a:pt x="522744" y="129540"/>
                  </a:lnTo>
                  <a:lnTo>
                    <a:pt x="505282" y="126974"/>
                  </a:lnTo>
                  <a:lnTo>
                    <a:pt x="495122" y="120396"/>
                  </a:lnTo>
                  <a:lnTo>
                    <a:pt x="490372" y="111544"/>
                  </a:lnTo>
                  <a:lnTo>
                    <a:pt x="489216" y="102108"/>
                  </a:lnTo>
                  <a:lnTo>
                    <a:pt x="469404" y="102108"/>
                  </a:lnTo>
                  <a:lnTo>
                    <a:pt x="470662" y="117043"/>
                  </a:lnTo>
                  <a:lnTo>
                    <a:pt x="477215" y="133540"/>
                  </a:lnTo>
                  <a:lnTo>
                    <a:pt x="493191" y="146900"/>
                  </a:lnTo>
                  <a:lnTo>
                    <a:pt x="522744" y="152400"/>
                  </a:lnTo>
                  <a:lnTo>
                    <a:pt x="542810" y="149072"/>
                  </a:lnTo>
                  <a:lnTo>
                    <a:pt x="558749" y="139446"/>
                  </a:lnTo>
                  <a:lnTo>
                    <a:pt x="569239" y="124117"/>
                  </a:lnTo>
                  <a:lnTo>
                    <a:pt x="573036" y="103632"/>
                  </a:lnTo>
                  <a:close/>
                </a:path>
              </a:pathLst>
            </a:custGeom>
            <a:solidFill>
              <a:srgbClr val="231F1F"/>
            </a:solidFill>
          </p:spPr>
          <p:txBody>
            <a:bodyPr wrap="square" lIns="0" tIns="0" rIns="0" bIns="0" rtlCol="0"/>
            <a:lstStyle/>
            <a:p/>
          </p:txBody>
        </p:sp>
        <p:sp>
          <p:nvSpPr>
            <p:cNvPr id="18" name="object 18"/>
            <p:cNvSpPr/>
            <p:nvPr/>
          </p:nvSpPr>
          <p:spPr>
            <a:xfrm>
              <a:off x="3595116" y="2299716"/>
              <a:ext cx="103632" cy="152400"/>
            </a:xfrm>
            <a:prstGeom prst="rect">
              <a:avLst/>
            </a:prstGeom>
            <a:blipFill>
              <a:blip r:embed="rId4" cstate="print"/>
              <a:stretch>
                <a:fillRect/>
              </a:stretch>
            </a:blipFill>
          </p:spPr>
          <p:txBody>
            <a:bodyPr wrap="square" lIns="0" tIns="0" rIns="0" bIns="0" rtlCol="0"/>
            <a:lstStyle/>
            <a:p/>
          </p:txBody>
        </p:sp>
        <p:sp>
          <p:nvSpPr>
            <p:cNvPr id="19" name="object 19"/>
            <p:cNvSpPr/>
            <p:nvPr/>
          </p:nvSpPr>
          <p:spPr>
            <a:xfrm>
              <a:off x="3781044" y="2247900"/>
              <a:ext cx="156972" cy="199644"/>
            </a:xfrm>
            <a:prstGeom prst="rect">
              <a:avLst/>
            </a:prstGeom>
            <a:blipFill>
              <a:blip r:embed="rId5" cstate="print"/>
              <a:stretch>
                <a:fillRect/>
              </a:stretch>
            </a:blipFill>
          </p:spPr>
          <p:txBody>
            <a:bodyPr wrap="square" lIns="0" tIns="0" rIns="0" bIns="0" rtlCol="0"/>
            <a:lstStyle/>
            <a:p/>
          </p:txBody>
        </p:sp>
        <p:sp>
          <p:nvSpPr>
            <p:cNvPr id="20" name="object 20"/>
            <p:cNvSpPr/>
            <p:nvPr/>
          </p:nvSpPr>
          <p:spPr>
            <a:xfrm>
              <a:off x="2531363" y="5093208"/>
              <a:ext cx="172212" cy="149352"/>
            </a:xfrm>
            <a:prstGeom prst="rect">
              <a:avLst/>
            </a:prstGeom>
            <a:blipFill>
              <a:blip r:embed="rId6" cstate="print"/>
              <a:stretch>
                <a:fillRect/>
              </a:stretch>
            </a:blipFill>
          </p:spPr>
          <p:txBody>
            <a:bodyPr wrap="square" lIns="0" tIns="0" rIns="0" bIns="0" rtlCol="0"/>
            <a:lstStyle/>
            <a:p/>
          </p:txBody>
        </p:sp>
        <p:sp>
          <p:nvSpPr>
            <p:cNvPr id="21" name="object 21"/>
            <p:cNvSpPr/>
            <p:nvPr/>
          </p:nvSpPr>
          <p:spPr>
            <a:xfrm>
              <a:off x="2730995" y="5093207"/>
              <a:ext cx="634365" cy="208915"/>
            </a:xfrm>
            <a:custGeom>
              <a:avLst/>
              <a:gdLst/>
              <a:ahLst/>
              <a:cxnLst/>
              <a:rect l="l" t="t" r="r" b="b"/>
              <a:pathLst>
                <a:path w="634364" h="208914">
                  <a:moveTo>
                    <a:pt x="117360" y="83820"/>
                  </a:moveTo>
                  <a:lnTo>
                    <a:pt x="115544" y="65532"/>
                  </a:lnTo>
                  <a:lnTo>
                    <a:pt x="113906" y="48869"/>
                  </a:lnTo>
                  <a:lnTo>
                    <a:pt x="103454" y="22479"/>
                  </a:lnTo>
                  <a:lnTo>
                    <a:pt x="102235" y="21336"/>
                  </a:lnTo>
                  <a:lnTo>
                    <a:pt x="94500" y="14020"/>
                  </a:lnTo>
                  <a:lnTo>
                    <a:pt x="94500" y="65532"/>
                  </a:lnTo>
                  <a:lnTo>
                    <a:pt x="24384" y="65532"/>
                  </a:lnTo>
                  <a:lnTo>
                    <a:pt x="27076" y="48348"/>
                  </a:lnTo>
                  <a:lnTo>
                    <a:pt x="34480" y="34290"/>
                  </a:lnTo>
                  <a:lnTo>
                    <a:pt x="45605" y="24815"/>
                  </a:lnTo>
                  <a:lnTo>
                    <a:pt x="59436" y="21336"/>
                  </a:lnTo>
                  <a:lnTo>
                    <a:pt x="76492" y="24815"/>
                  </a:lnTo>
                  <a:lnTo>
                    <a:pt x="87249" y="34290"/>
                  </a:lnTo>
                  <a:lnTo>
                    <a:pt x="92875" y="48348"/>
                  </a:lnTo>
                  <a:lnTo>
                    <a:pt x="94500" y="65532"/>
                  </a:lnTo>
                  <a:lnTo>
                    <a:pt x="94500" y="14020"/>
                  </a:lnTo>
                  <a:lnTo>
                    <a:pt x="85852" y="5816"/>
                  </a:lnTo>
                  <a:lnTo>
                    <a:pt x="60960" y="0"/>
                  </a:lnTo>
                  <a:lnTo>
                    <a:pt x="34086" y="6197"/>
                  </a:lnTo>
                  <a:lnTo>
                    <a:pt x="15049" y="23241"/>
                  </a:lnTo>
                  <a:lnTo>
                    <a:pt x="3746" y="48869"/>
                  </a:lnTo>
                  <a:lnTo>
                    <a:pt x="0" y="80772"/>
                  </a:lnTo>
                  <a:lnTo>
                    <a:pt x="4127" y="110210"/>
                  </a:lnTo>
                  <a:lnTo>
                    <a:pt x="15811" y="133362"/>
                  </a:lnTo>
                  <a:lnTo>
                    <a:pt x="34086" y="148501"/>
                  </a:lnTo>
                  <a:lnTo>
                    <a:pt x="57912" y="153936"/>
                  </a:lnTo>
                  <a:lnTo>
                    <a:pt x="70891" y="152717"/>
                  </a:lnTo>
                  <a:lnTo>
                    <a:pt x="80581" y="149936"/>
                  </a:lnTo>
                  <a:lnTo>
                    <a:pt x="87706" y="146862"/>
                  </a:lnTo>
                  <a:lnTo>
                    <a:pt x="92964" y="144792"/>
                  </a:lnTo>
                  <a:lnTo>
                    <a:pt x="114401" y="111137"/>
                  </a:lnTo>
                  <a:lnTo>
                    <a:pt x="115836" y="105156"/>
                  </a:lnTo>
                  <a:lnTo>
                    <a:pt x="94500" y="105156"/>
                  </a:lnTo>
                  <a:lnTo>
                    <a:pt x="91401" y="113309"/>
                  </a:lnTo>
                  <a:lnTo>
                    <a:pt x="84582" y="122313"/>
                  </a:lnTo>
                  <a:lnTo>
                    <a:pt x="74345" y="129590"/>
                  </a:lnTo>
                  <a:lnTo>
                    <a:pt x="60960" y="132600"/>
                  </a:lnTo>
                  <a:lnTo>
                    <a:pt x="44958" y="129260"/>
                  </a:lnTo>
                  <a:lnTo>
                    <a:pt x="33528" y="119646"/>
                  </a:lnTo>
                  <a:lnTo>
                    <a:pt x="26670" y="104305"/>
                  </a:lnTo>
                  <a:lnTo>
                    <a:pt x="24384" y="83820"/>
                  </a:lnTo>
                  <a:lnTo>
                    <a:pt x="117360" y="83820"/>
                  </a:lnTo>
                  <a:close/>
                </a:path>
                <a:path w="634364" h="208914">
                  <a:moveTo>
                    <a:pt x="242328" y="105156"/>
                  </a:moveTo>
                  <a:lnTo>
                    <a:pt x="205752" y="67056"/>
                  </a:lnTo>
                  <a:lnTo>
                    <a:pt x="172885" y="57658"/>
                  </a:lnTo>
                  <a:lnTo>
                    <a:pt x="165366" y="53911"/>
                  </a:lnTo>
                  <a:lnTo>
                    <a:pt x="161264" y="48755"/>
                  </a:lnTo>
                  <a:lnTo>
                    <a:pt x="160032" y="41148"/>
                  </a:lnTo>
                  <a:lnTo>
                    <a:pt x="163029" y="30340"/>
                  </a:lnTo>
                  <a:lnTo>
                    <a:pt x="170319" y="24384"/>
                  </a:lnTo>
                  <a:lnTo>
                    <a:pt x="179311" y="21869"/>
                  </a:lnTo>
                  <a:lnTo>
                    <a:pt x="187464" y="21336"/>
                  </a:lnTo>
                  <a:lnTo>
                    <a:pt x="202907" y="23888"/>
                  </a:lnTo>
                  <a:lnTo>
                    <a:pt x="211658" y="30289"/>
                  </a:lnTo>
                  <a:lnTo>
                    <a:pt x="215531" y="38696"/>
                  </a:lnTo>
                  <a:lnTo>
                    <a:pt x="216420" y="47244"/>
                  </a:lnTo>
                  <a:lnTo>
                    <a:pt x="236232" y="47244"/>
                  </a:lnTo>
                  <a:lnTo>
                    <a:pt x="235280" y="35369"/>
                  </a:lnTo>
                  <a:lnTo>
                    <a:pt x="229755" y="19621"/>
                  </a:lnTo>
                  <a:lnTo>
                    <a:pt x="215658" y="5892"/>
                  </a:lnTo>
                  <a:lnTo>
                    <a:pt x="188988" y="0"/>
                  </a:lnTo>
                  <a:lnTo>
                    <a:pt x="170434" y="2667"/>
                  </a:lnTo>
                  <a:lnTo>
                    <a:pt x="154889" y="11049"/>
                  </a:lnTo>
                  <a:lnTo>
                    <a:pt x="144195" y="25717"/>
                  </a:lnTo>
                  <a:lnTo>
                    <a:pt x="140220" y="47244"/>
                  </a:lnTo>
                  <a:lnTo>
                    <a:pt x="142405" y="59563"/>
                  </a:lnTo>
                  <a:lnTo>
                    <a:pt x="148602" y="69151"/>
                  </a:lnTo>
                  <a:lnTo>
                    <a:pt x="158216" y="76187"/>
                  </a:lnTo>
                  <a:lnTo>
                    <a:pt x="170700" y="80772"/>
                  </a:lnTo>
                  <a:lnTo>
                    <a:pt x="206603" y="91948"/>
                  </a:lnTo>
                  <a:lnTo>
                    <a:pt x="214134" y="96202"/>
                  </a:lnTo>
                  <a:lnTo>
                    <a:pt x="218224" y="101904"/>
                  </a:lnTo>
                  <a:lnTo>
                    <a:pt x="219468" y="109728"/>
                  </a:lnTo>
                  <a:lnTo>
                    <a:pt x="217081" y="119735"/>
                  </a:lnTo>
                  <a:lnTo>
                    <a:pt x="210705" y="126873"/>
                  </a:lnTo>
                  <a:lnTo>
                    <a:pt x="201460" y="131165"/>
                  </a:lnTo>
                  <a:lnTo>
                    <a:pt x="190512" y="132588"/>
                  </a:lnTo>
                  <a:lnTo>
                    <a:pt x="172605" y="129540"/>
                  </a:lnTo>
                  <a:lnTo>
                    <a:pt x="162699" y="121920"/>
                  </a:lnTo>
                  <a:lnTo>
                    <a:pt x="157937" y="112014"/>
                  </a:lnTo>
                  <a:lnTo>
                    <a:pt x="155460" y="102108"/>
                  </a:lnTo>
                  <a:lnTo>
                    <a:pt x="135648" y="102108"/>
                  </a:lnTo>
                  <a:lnTo>
                    <a:pt x="137147" y="117919"/>
                  </a:lnTo>
                  <a:lnTo>
                    <a:pt x="144221" y="134874"/>
                  </a:lnTo>
                  <a:lnTo>
                    <a:pt x="160718" y="148399"/>
                  </a:lnTo>
                  <a:lnTo>
                    <a:pt x="190512" y="153924"/>
                  </a:lnTo>
                  <a:lnTo>
                    <a:pt x="210820" y="150596"/>
                  </a:lnTo>
                  <a:lnTo>
                    <a:pt x="227279" y="140970"/>
                  </a:lnTo>
                  <a:lnTo>
                    <a:pt x="238302" y="125641"/>
                  </a:lnTo>
                  <a:lnTo>
                    <a:pt x="242328" y="105156"/>
                  </a:lnTo>
                  <a:close/>
                </a:path>
                <a:path w="634364" h="208914">
                  <a:moveTo>
                    <a:pt x="365772" y="105156"/>
                  </a:moveTo>
                  <a:lnTo>
                    <a:pt x="329196" y="67056"/>
                  </a:lnTo>
                  <a:lnTo>
                    <a:pt x="296329" y="57658"/>
                  </a:lnTo>
                  <a:lnTo>
                    <a:pt x="288810" y="53911"/>
                  </a:lnTo>
                  <a:lnTo>
                    <a:pt x="284708" y="48755"/>
                  </a:lnTo>
                  <a:lnTo>
                    <a:pt x="283476" y="41148"/>
                  </a:lnTo>
                  <a:lnTo>
                    <a:pt x="286473" y="30340"/>
                  </a:lnTo>
                  <a:lnTo>
                    <a:pt x="293763" y="24384"/>
                  </a:lnTo>
                  <a:lnTo>
                    <a:pt x="302755" y="21869"/>
                  </a:lnTo>
                  <a:lnTo>
                    <a:pt x="310908" y="21336"/>
                  </a:lnTo>
                  <a:lnTo>
                    <a:pt x="326351" y="23888"/>
                  </a:lnTo>
                  <a:lnTo>
                    <a:pt x="335102" y="30289"/>
                  </a:lnTo>
                  <a:lnTo>
                    <a:pt x="338975" y="38696"/>
                  </a:lnTo>
                  <a:lnTo>
                    <a:pt x="339864" y="47244"/>
                  </a:lnTo>
                  <a:lnTo>
                    <a:pt x="359676" y="47244"/>
                  </a:lnTo>
                  <a:lnTo>
                    <a:pt x="358724" y="35369"/>
                  </a:lnTo>
                  <a:lnTo>
                    <a:pt x="353199" y="19621"/>
                  </a:lnTo>
                  <a:lnTo>
                    <a:pt x="339102" y="5892"/>
                  </a:lnTo>
                  <a:lnTo>
                    <a:pt x="312432" y="0"/>
                  </a:lnTo>
                  <a:lnTo>
                    <a:pt x="293230" y="2667"/>
                  </a:lnTo>
                  <a:lnTo>
                    <a:pt x="277761" y="11049"/>
                  </a:lnTo>
                  <a:lnTo>
                    <a:pt x="267423" y="25717"/>
                  </a:lnTo>
                  <a:lnTo>
                    <a:pt x="263664" y="47244"/>
                  </a:lnTo>
                  <a:lnTo>
                    <a:pt x="265849" y="59563"/>
                  </a:lnTo>
                  <a:lnTo>
                    <a:pt x="272046" y="69151"/>
                  </a:lnTo>
                  <a:lnTo>
                    <a:pt x="281660" y="76187"/>
                  </a:lnTo>
                  <a:lnTo>
                    <a:pt x="294144" y="80772"/>
                  </a:lnTo>
                  <a:lnTo>
                    <a:pt x="330047" y="91948"/>
                  </a:lnTo>
                  <a:lnTo>
                    <a:pt x="337578" y="96202"/>
                  </a:lnTo>
                  <a:lnTo>
                    <a:pt x="341668" y="101904"/>
                  </a:lnTo>
                  <a:lnTo>
                    <a:pt x="342912" y="109728"/>
                  </a:lnTo>
                  <a:lnTo>
                    <a:pt x="340525" y="119735"/>
                  </a:lnTo>
                  <a:lnTo>
                    <a:pt x="334149" y="126873"/>
                  </a:lnTo>
                  <a:lnTo>
                    <a:pt x="324904" y="131165"/>
                  </a:lnTo>
                  <a:lnTo>
                    <a:pt x="313956" y="132588"/>
                  </a:lnTo>
                  <a:lnTo>
                    <a:pt x="296049" y="129540"/>
                  </a:lnTo>
                  <a:lnTo>
                    <a:pt x="286143" y="121920"/>
                  </a:lnTo>
                  <a:lnTo>
                    <a:pt x="281381" y="112014"/>
                  </a:lnTo>
                  <a:lnTo>
                    <a:pt x="278904" y="102108"/>
                  </a:lnTo>
                  <a:lnTo>
                    <a:pt x="259092" y="102108"/>
                  </a:lnTo>
                  <a:lnTo>
                    <a:pt x="260591" y="117919"/>
                  </a:lnTo>
                  <a:lnTo>
                    <a:pt x="267665" y="134874"/>
                  </a:lnTo>
                  <a:lnTo>
                    <a:pt x="284162" y="148399"/>
                  </a:lnTo>
                  <a:lnTo>
                    <a:pt x="313956" y="153924"/>
                  </a:lnTo>
                  <a:lnTo>
                    <a:pt x="334264" y="150596"/>
                  </a:lnTo>
                  <a:lnTo>
                    <a:pt x="350723" y="140970"/>
                  </a:lnTo>
                  <a:lnTo>
                    <a:pt x="361746" y="125641"/>
                  </a:lnTo>
                  <a:lnTo>
                    <a:pt x="365772" y="105156"/>
                  </a:lnTo>
                  <a:close/>
                </a:path>
                <a:path w="634364" h="208914">
                  <a:moveTo>
                    <a:pt x="504456" y="129552"/>
                  </a:moveTo>
                  <a:lnTo>
                    <a:pt x="501408" y="132600"/>
                  </a:lnTo>
                  <a:lnTo>
                    <a:pt x="493788" y="132600"/>
                  </a:lnTo>
                  <a:lnTo>
                    <a:pt x="489216" y="129552"/>
                  </a:lnTo>
                  <a:lnTo>
                    <a:pt x="489216" y="74688"/>
                  </a:lnTo>
                  <a:lnTo>
                    <a:pt x="489127" y="39344"/>
                  </a:lnTo>
                  <a:lnTo>
                    <a:pt x="469595" y="6096"/>
                  </a:lnTo>
                  <a:lnTo>
                    <a:pt x="441972" y="0"/>
                  </a:lnTo>
                  <a:lnTo>
                    <a:pt x="421017" y="2692"/>
                  </a:lnTo>
                  <a:lnTo>
                    <a:pt x="404622" y="11239"/>
                  </a:lnTo>
                  <a:lnTo>
                    <a:pt x="393954" y="26365"/>
                  </a:lnTo>
                  <a:lnTo>
                    <a:pt x="390144" y="48768"/>
                  </a:lnTo>
                  <a:lnTo>
                    <a:pt x="408444" y="48768"/>
                  </a:lnTo>
                  <a:lnTo>
                    <a:pt x="411086" y="39344"/>
                  </a:lnTo>
                  <a:lnTo>
                    <a:pt x="415874" y="30480"/>
                  </a:lnTo>
                  <a:lnTo>
                    <a:pt x="424942" y="23914"/>
                  </a:lnTo>
                  <a:lnTo>
                    <a:pt x="440448" y="21336"/>
                  </a:lnTo>
                  <a:lnTo>
                    <a:pt x="452678" y="22555"/>
                  </a:lnTo>
                  <a:lnTo>
                    <a:pt x="461784" y="26479"/>
                  </a:lnTo>
                  <a:lnTo>
                    <a:pt x="467448" y="33553"/>
                  </a:lnTo>
                  <a:lnTo>
                    <a:pt x="469404" y="44196"/>
                  </a:lnTo>
                  <a:lnTo>
                    <a:pt x="469404" y="57924"/>
                  </a:lnTo>
                  <a:lnTo>
                    <a:pt x="469404" y="74688"/>
                  </a:lnTo>
                  <a:lnTo>
                    <a:pt x="469404" y="97548"/>
                  </a:lnTo>
                  <a:lnTo>
                    <a:pt x="465785" y="112026"/>
                  </a:lnTo>
                  <a:lnTo>
                    <a:pt x="456450" y="123075"/>
                  </a:lnTo>
                  <a:lnTo>
                    <a:pt x="443687" y="130124"/>
                  </a:lnTo>
                  <a:lnTo>
                    <a:pt x="429780" y="132600"/>
                  </a:lnTo>
                  <a:lnTo>
                    <a:pt x="418896" y="130898"/>
                  </a:lnTo>
                  <a:lnTo>
                    <a:pt x="411302" y="125933"/>
                  </a:lnTo>
                  <a:lnTo>
                    <a:pt x="406844" y="117805"/>
                  </a:lnTo>
                  <a:lnTo>
                    <a:pt x="405384" y="106692"/>
                  </a:lnTo>
                  <a:lnTo>
                    <a:pt x="408419" y="95618"/>
                  </a:lnTo>
                  <a:lnTo>
                    <a:pt x="415874" y="88976"/>
                  </a:lnTo>
                  <a:lnTo>
                    <a:pt x="425323" y="85471"/>
                  </a:lnTo>
                  <a:lnTo>
                    <a:pt x="434352" y="83832"/>
                  </a:lnTo>
                  <a:lnTo>
                    <a:pt x="450113" y="81749"/>
                  </a:lnTo>
                  <a:lnTo>
                    <a:pt x="459879" y="79832"/>
                  </a:lnTo>
                  <a:lnTo>
                    <a:pt x="465632" y="77609"/>
                  </a:lnTo>
                  <a:lnTo>
                    <a:pt x="469404" y="74688"/>
                  </a:lnTo>
                  <a:lnTo>
                    <a:pt x="469404" y="57924"/>
                  </a:lnTo>
                  <a:lnTo>
                    <a:pt x="463308" y="60972"/>
                  </a:lnTo>
                  <a:lnTo>
                    <a:pt x="458736" y="60972"/>
                  </a:lnTo>
                  <a:lnTo>
                    <a:pt x="402056" y="73113"/>
                  </a:lnTo>
                  <a:lnTo>
                    <a:pt x="384048" y="111264"/>
                  </a:lnTo>
                  <a:lnTo>
                    <a:pt x="387032" y="128854"/>
                  </a:lnTo>
                  <a:lnTo>
                    <a:pt x="395287" y="142316"/>
                  </a:lnTo>
                  <a:lnTo>
                    <a:pt x="407847" y="150901"/>
                  </a:lnTo>
                  <a:lnTo>
                    <a:pt x="423684" y="153936"/>
                  </a:lnTo>
                  <a:lnTo>
                    <a:pt x="440270" y="151625"/>
                  </a:lnTo>
                  <a:lnTo>
                    <a:pt x="453593" y="145745"/>
                  </a:lnTo>
                  <a:lnTo>
                    <a:pt x="463753" y="137858"/>
                  </a:lnTo>
                  <a:lnTo>
                    <a:pt x="468299" y="132600"/>
                  </a:lnTo>
                  <a:lnTo>
                    <a:pt x="470928" y="129552"/>
                  </a:lnTo>
                  <a:lnTo>
                    <a:pt x="471500" y="137375"/>
                  </a:lnTo>
                  <a:lnTo>
                    <a:pt x="474357" y="144221"/>
                  </a:lnTo>
                  <a:lnTo>
                    <a:pt x="481215" y="149047"/>
                  </a:lnTo>
                  <a:lnTo>
                    <a:pt x="493788" y="150888"/>
                  </a:lnTo>
                  <a:lnTo>
                    <a:pt x="496836" y="150888"/>
                  </a:lnTo>
                  <a:lnTo>
                    <a:pt x="501408" y="149364"/>
                  </a:lnTo>
                  <a:lnTo>
                    <a:pt x="504456" y="149364"/>
                  </a:lnTo>
                  <a:lnTo>
                    <a:pt x="504456" y="132600"/>
                  </a:lnTo>
                  <a:lnTo>
                    <a:pt x="504456" y="129552"/>
                  </a:lnTo>
                  <a:close/>
                </a:path>
                <a:path w="634364" h="208914">
                  <a:moveTo>
                    <a:pt x="633996" y="4572"/>
                  </a:moveTo>
                  <a:lnTo>
                    <a:pt x="614184" y="4572"/>
                  </a:lnTo>
                  <a:lnTo>
                    <a:pt x="614184" y="25908"/>
                  </a:lnTo>
                  <a:lnTo>
                    <a:pt x="612660" y="25908"/>
                  </a:lnTo>
                  <a:lnTo>
                    <a:pt x="612660" y="83832"/>
                  </a:lnTo>
                  <a:lnTo>
                    <a:pt x="609320" y="106883"/>
                  </a:lnTo>
                  <a:lnTo>
                    <a:pt x="600849" y="121932"/>
                  </a:lnTo>
                  <a:lnTo>
                    <a:pt x="589508" y="130124"/>
                  </a:lnTo>
                  <a:lnTo>
                    <a:pt x="577608" y="132600"/>
                  </a:lnTo>
                  <a:lnTo>
                    <a:pt x="562724" y="128066"/>
                  </a:lnTo>
                  <a:lnTo>
                    <a:pt x="552272" y="115836"/>
                  </a:lnTo>
                  <a:lnTo>
                    <a:pt x="546100" y="97878"/>
                  </a:lnTo>
                  <a:lnTo>
                    <a:pt x="544080" y="76212"/>
                  </a:lnTo>
                  <a:lnTo>
                    <a:pt x="544626" y="59918"/>
                  </a:lnTo>
                  <a:lnTo>
                    <a:pt x="548462" y="41910"/>
                  </a:lnTo>
                  <a:lnTo>
                    <a:pt x="558863" y="27343"/>
                  </a:lnTo>
                  <a:lnTo>
                    <a:pt x="579132" y="21336"/>
                  </a:lnTo>
                  <a:lnTo>
                    <a:pt x="597865" y="27889"/>
                  </a:lnTo>
                  <a:lnTo>
                    <a:pt x="607898" y="44005"/>
                  </a:lnTo>
                  <a:lnTo>
                    <a:pt x="611911" y="64414"/>
                  </a:lnTo>
                  <a:lnTo>
                    <a:pt x="612660" y="83832"/>
                  </a:lnTo>
                  <a:lnTo>
                    <a:pt x="612660" y="25908"/>
                  </a:lnTo>
                  <a:lnTo>
                    <a:pt x="610095" y="21336"/>
                  </a:lnTo>
                  <a:lnTo>
                    <a:pt x="608228" y="18008"/>
                  </a:lnTo>
                  <a:lnTo>
                    <a:pt x="601230" y="9525"/>
                  </a:lnTo>
                  <a:lnTo>
                    <a:pt x="590791" y="2768"/>
                  </a:lnTo>
                  <a:lnTo>
                    <a:pt x="576084" y="0"/>
                  </a:lnTo>
                  <a:lnTo>
                    <a:pt x="552958" y="5626"/>
                  </a:lnTo>
                  <a:lnTo>
                    <a:pt x="536257" y="20955"/>
                  </a:lnTo>
                  <a:lnTo>
                    <a:pt x="526148" y="43726"/>
                  </a:lnTo>
                  <a:lnTo>
                    <a:pt x="522732" y="71628"/>
                  </a:lnTo>
                  <a:lnTo>
                    <a:pt x="525310" y="99275"/>
                  </a:lnTo>
                  <a:lnTo>
                    <a:pt x="534162" y="125933"/>
                  </a:lnTo>
                  <a:lnTo>
                    <a:pt x="551027" y="145999"/>
                  </a:lnTo>
                  <a:lnTo>
                    <a:pt x="577608" y="153936"/>
                  </a:lnTo>
                  <a:lnTo>
                    <a:pt x="589292" y="152311"/>
                  </a:lnTo>
                  <a:lnTo>
                    <a:pt x="599135" y="147840"/>
                  </a:lnTo>
                  <a:lnTo>
                    <a:pt x="606958" y="141071"/>
                  </a:lnTo>
                  <a:lnTo>
                    <a:pt x="612660" y="132600"/>
                  </a:lnTo>
                  <a:lnTo>
                    <a:pt x="612622" y="141071"/>
                  </a:lnTo>
                  <a:lnTo>
                    <a:pt x="612089" y="154508"/>
                  </a:lnTo>
                  <a:lnTo>
                    <a:pt x="608088" y="171081"/>
                  </a:lnTo>
                  <a:lnTo>
                    <a:pt x="597230" y="184797"/>
                  </a:lnTo>
                  <a:lnTo>
                    <a:pt x="576084" y="190512"/>
                  </a:lnTo>
                  <a:lnTo>
                    <a:pt x="570268" y="190144"/>
                  </a:lnTo>
                  <a:lnTo>
                    <a:pt x="561606" y="187655"/>
                  </a:lnTo>
                  <a:lnTo>
                    <a:pt x="552932" y="180860"/>
                  </a:lnTo>
                  <a:lnTo>
                    <a:pt x="547128" y="167652"/>
                  </a:lnTo>
                  <a:lnTo>
                    <a:pt x="525780" y="167652"/>
                  </a:lnTo>
                  <a:lnTo>
                    <a:pt x="533171" y="189509"/>
                  </a:lnTo>
                  <a:lnTo>
                    <a:pt x="545985" y="201942"/>
                  </a:lnTo>
                  <a:lnTo>
                    <a:pt x="560501" y="207505"/>
                  </a:lnTo>
                  <a:lnTo>
                    <a:pt x="573036" y="208800"/>
                  </a:lnTo>
                  <a:lnTo>
                    <a:pt x="608279" y="200609"/>
                  </a:lnTo>
                  <a:lnTo>
                    <a:pt x="617588" y="190512"/>
                  </a:lnTo>
                  <a:lnTo>
                    <a:pt x="626376" y="180987"/>
                  </a:lnTo>
                  <a:lnTo>
                    <a:pt x="633044" y="157365"/>
                  </a:lnTo>
                  <a:lnTo>
                    <a:pt x="633996" y="137172"/>
                  </a:lnTo>
                  <a:lnTo>
                    <a:pt x="633996" y="25908"/>
                  </a:lnTo>
                  <a:lnTo>
                    <a:pt x="633996" y="4572"/>
                  </a:lnTo>
                  <a:close/>
                </a:path>
              </a:pathLst>
            </a:custGeom>
            <a:solidFill>
              <a:srgbClr val="231F1F"/>
            </a:solidFill>
          </p:spPr>
          <p:txBody>
            <a:bodyPr wrap="square" lIns="0" tIns="0" rIns="0" bIns="0" rtlCol="0"/>
            <a:lstStyle/>
            <a:p/>
          </p:txBody>
        </p:sp>
        <p:sp>
          <p:nvSpPr>
            <p:cNvPr id="22" name="object 22"/>
            <p:cNvSpPr/>
            <p:nvPr/>
          </p:nvSpPr>
          <p:spPr>
            <a:xfrm>
              <a:off x="3390900" y="5093208"/>
              <a:ext cx="115824" cy="153924"/>
            </a:xfrm>
            <a:prstGeom prst="rect">
              <a:avLst/>
            </a:prstGeom>
            <a:blipFill>
              <a:blip r:embed="rId7" cstate="print"/>
              <a:stretch>
                <a:fillRect/>
              </a:stretch>
            </a:blipFill>
          </p:spPr>
          <p:txBody>
            <a:bodyPr wrap="square" lIns="0" tIns="0" rIns="0" bIns="0" rtlCol="0"/>
            <a:lstStyle/>
            <a:p/>
          </p:txBody>
        </p:sp>
        <p:sp>
          <p:nvSpPr>
            <p:cNvPr id="23" name="object 23"/>
            <p:cNvSpPr/>
            <p:nvPr/>
          </p:nvSpPr>
          <p:spPr>
            <a:xfrm>
              <a:off x="3595116" y="5093208"/>
              <a:ext cx="112776" cy="207264"/>
            </a:xfrm>
            <a:prstGeom prst="rect">
              <a:avLst/>
            </a:prstGeom>
            <a:blipFill>
              <a:blip r:embed="rId8" cstate="print"/>
              <a:stretch>
                <a:fillRect/>
              </a:stretch>
            </a:blipFill>
          </p:spPr>
          <p:txBody>
            <a:bodyPr wrap="square" lIns="0" tIns="0" rIns="0" bIns="0" rtlCol="0"/>
            <a:lstStyle/>
            <a:p/>
          </p:txBody>
        </p:sp>
        <p:sp>
          <p:nvSpPr>
            <p:cNvPr id="24" name="object 24"/>
            <p:cNvSpPr/>
            <p:nvPr/>
          </p:nvSpPr>
          <p:spPr>
            <a:xfrm>
              <a:off x="3739895" y="5097780"/>
              <a:ext cx="103632" cy="149352"/>
            </a:xfrm>
            <a:prstGeom prst="rect">
              <a:avLst/>
            </a:prstGeom>
            <a:blipFill>
              <a:blip r:embed="rId9" cstate="print"/>
              <a:stretch>
                <a:fillRect/>
              </a:stretch>
            </a:blipFill>
          </p:spPr>
          <p:txBody>
            <a:bodyPr wrap="square" lIns="0" tIns="0" rIns="0" bIns="0" rtlCol="0"/>
            <a:lstStyle/>
            <a:p/>
          </p:txBody>
        </p:sp>
        <p:sp>
          <p:nvSpPr>
            <p:cNvPr id="25" name="object 25"/>
            <p:cNvSpPr/>
            <p:nvPr/>
          </p:nvSpPr>
          <p:spPr>
            <a:xfrm>
              <a:off x="3869435" y="5093208"/>
              <a:ext cx="117348" cy="153924"/>
            </a:xfrm>
            <a:prstGeom prst="rect">
              <a:avLst/>
            </a:prstGeom>
            <a:blipFill>
              <a:blip r:embed="rId10" cstate="print"/>
              <a:stretch>
                <a:fillRect/>
              </a:stretch>
            </a:blipFill>
          </p:spPr>
          <p:txBody>
            <a:bodyPr wrap="square" lIns="0" tIns="0" rIns="0" bIns="0" rtlCol="0"/>
            <a:lstStyle/>
            <a:p/>
          </p:txBody>
        </p:sp>
        <p:sp>
          <p:nvSpPr>
            <p:cNvPr id="26" name="object 26"/>
            <p:cNvSpPr/>
            <p:nvPr/>
          </p:nvSpPr>
          <p:spPr>
            <a:xfrm>
              <a:off x="4014216" y="5097780"/>
              <a:ext cx="102108" cy="149352"/>
            </a:xfrm>
            <a:prstGeom prst="rect">
              <a:avLst/>
            </a:prstGeom>
            <a:blipFill>
              <a:blip r:embed="rId11" cstate="print"/>
              <a:stretch>
                <a:fillRect/>
              </a:stretch>
            </a:blipFill>
          </p:spPr>
          <p:txBody>
            <a:bodyPr wrap="square" lIns="0" tIns="0" rIns="0" bIns="0" rtlCol="0"/>
            <a:lstStyle/>
            <a:p/>
          </p:txBody>
        </p:sp>
        <p:sp>
          <p:nvSpPr>
            <p:cNvPr id="27" name="object 27"/>
            <p:cNvSpPr/>
            <p:nvPr/>
          </p:nvSpPr>
          <p:spPr>
            <a:xfrm>
              <a:off x="4143755" y="5093208"/>
              <a:ext cx="117348" cy="153924"/>
            </a:xfrm>
            <a:prstGeom prst="rect">
              <a:avLst/>
            </a:prstGeom>
            <a:blipFill>
              <a:blip r:embed="rId12" cstate="print"/>
              <a:stretch>
                <a:fillRect/>
              </a:stretch>
            </a:blipFill>
          </p:spPr>
          <p:txBody>
            <a:bodyPr wrap="square" lIns="0" tIns="0" rIns="0" bIns="0" rtlCol="0"/>
            <a:lstStyle/>
            <a:p/>
          </p:txBody>
        </p:sp>
        <p:sp>
          <p:nvSpPr>
            <p:cNvPr id="28" name="object 28"/>
            <p:cNvSpPr/>
            <p:nvPr/>
          </p:nvSpPr>
          <p:spPr>
            <a:xfrm>
              <a:off x="3073908" y="5935980"/>
              <a:ext cx="234696" cy="201168"/>
            </a:xfrm>
            <a:prstGeom prst="rect">
              <a:avLst/>
            </a:prstGeom>
            <a:blipFill>
              <a:blip r:embed="rId13" cstate="print"/>
              <a:stretch>
                <a:fillRect/>
              </a:stretch>
            </a:blipFill>
          </p:spPr>
          <p:txBody>
            <a:bodyPr wrap="square" lIns="0" tIns="0" rIns="0" bIns="0" rtlCol="0"/>
            <a:lstStyle/>
            <a:p/>
          </p:txBody>
        </p:sp>
        <p:sp>
          <p:nvSpPr>
            <p:cNvPr id="29" name="object 29"/>
            <p:cNvSpPr/>
            <p:nvPr/>
          </p:nvSpPr>
          <p:spPr>
            <a:xfrm>
              <a:off x="3337560" y="5984748"/>
              <a:ext cx="60960" cy="147955"/>
            </a:xfrm>
            <a:custGeom>
              <a:avLst/>
              <a:gdLst/>
              <a:ahLst/>
              <a:cxnLst/>
              <a:rect l="l" t="t" r="r" b="b"/>
              <a:pathLst>
                <a:path w="60960" h="147954">
                  <a:moveTo>
                    <a:pt x="42171" y="27432"/>
                  </a:moveTo>
                  <a:lnTo>
                    <a:pt x="19812" y="27432"/>
                  </a:lnTo>
                  <a:lnTo>
                    <a:pt x="27265" y="16073"/>
                  </a:lnTo>
                  <a:lnTo>
                    <a:pt x="36004" y="7429"/>
                  </a:lnTo>
                  <a:lnTo>
                    <a:pt x="46172" y="1928"/>
                  </a:lnTo>
                  <a:lnTo>
                    <a:pt x="57912" y="0"/>
                  </a:lnTo>
                  <a:lnTo>
                    <a:pt x="60960" y="0"/>
                  </a:lnTo>
                  <a:lnTo>
                    <a:pt x="60960" y="24384"/>
                  </a:lnTo>
                  <a:lnTo>
                    <a:pt x="53340" y="24384"/>
                  </a:lnTo>
                  <a:lnTo>
                    <a:pt x="42171" y="27432"/>
                  </a:lnTo>
                  <a:close/>
                </a:path>
                <a:path w="60960" h="147954">
                  <a:moveTo>
                    <a:pt x="22860" y="147828"/>
                  </a:moveTo>
                  <a:lnTo>
                    <a:pt x="0" y="147828"/>
                  </a:lnTo>
                  <a:lnTo>
                    <a:pt x="0" y="4572"/>
                  </a:lnTo>
                  <a:lnTo>
                    <a:pt x="19812" y="4572"/>
                  </a:lnTo>
                  <a:lnTo>
                    <a:pt x="19812" y="27432"/>
                  </a:lnTo>
                  <a:lnTo>
                    <a:pt x="42171" y="27432"/>
                  </a:lnTo>
                  <a:lnTo>
                    <a:pt x="40862" y="27789"/>
                  </a:lnTo>
                  <a:lnTo>
                    <a:pt x="31242" y="36766"/>
                  </a:lnTo>
                  <a:lnTo>
                    <a:pt x="25050" y="49458"/>
                  </a:lnTo>
                  <a:lnTo>
                    <a:pt x="22860" y="64008"/>
                  </a:lnTo>
                  <a:lnTo>
                    <a:pt x="22860" y="147828"/>
                  </a:lnTo>
                  <a:close/>
                </a:path>
              </a:pathLst>
            </a:custGeom>
            <a:solidFill>
              <a:srgbClr val="231F1F"/>
            </a:solidFill>
          </p:spPr>
          <p:txBody>
            <a:bodyPr wrap="square" lIns="0" tIns="0" rIns="0" bIns="0" rtlCol="0"/>
            <a:lstStyle/>
            <a:p/>
          </p:txBody>
        </p:sp>
        <p:sp>
          <p:nvSpPr>
            <p:cNvPr id="30" name="object 30"/>
            <p:cNvSpPr/>
            <p:nvPr/>
          </p:nvSpPr>
          <p:spPr>
            <a:xfrm>
              <a:off x="3418332" y="5984748"/>
              <a:ext cx="102108" cy="147828"/>
            </a:xfrm>
            <a:prstGeom prst="rect">
              <a:avLst/>
            </a:prstGeom>
            <a:blipFill>
              <a:blip r:embed="rId14" cstate="print"/>
              <a:stretch>
                <a:fillRect/>
              </a:stretch>
            </a:blipFill>
          </p:spPr>
          <p:txBody>
            <a:bodyPr wrap="square" lIns="0" tIns="0" rIns="0" bIns="0" rtlCol="0"/>
            <a:lstStyle/>
            <a:p/>
          </p:txBody>
        </p:sp>
        <p:sp>
          <p:nvSpPr>
            <p:cNvPr id="31" name="object 31"/>
            <p:cNvSpPr/>
            <p:nvPr/>
          </p:nvSpPr>
          <p:spPr>
            <a:xfrm>
              <a:off x="3547872" y="5984748"/>
              <a:ext cx="115824" cy="152400"/>
            </a:xfrm>
            <a:prstGeom prst="rect">
              <a:avLst/>
            </a:prstGeom>
            <a:blipFill>
              <a:blip r:embed="rId15" cstate="print"/>
              <a:stretch>
                <a:fillRect/>
              </a:stretch>
            </a:blipFill>
          </p:spPr>
          <p:txBody>
            <a:bodyPr wrap="square" lIns="0" tIns="0" rIns="0" bIns="0" rtlCol="0"/>
            <a:lstStyle/>
            <a:p/>
          </p:txBody>
        </p:sp>
        <p:sp>
          <p:nvSpPr>
            <p:cNvPr id="32" name="object 32"/>
            <p:cNvSpPr/>
            <p:nvPr/>
          </p:nvSpPr>
          <p:spPr>
            <a:xfrm>
              <a:off x="3691127" y="5935980"/>
              <a:ext cx="22860" cy="196850"/>
            </a:xfrm>
            <a:custGeom>
              <a:avLst/>
              <a:gdLst/>
              <a:ahLst/>
              <a:cxnLst/>
              <a:rect l="l" t="t" r="r" b="b"/>
              <a:pathLst>
                <a:path w="22860" h="196850">
                  <a:moveTo>
                    <a:pt x="22860" y="196595"/>
                  </a:moveTo>
                  <a:lnTo>
                    <a:pt x="0" y="196595"/>
                  </a:lnTo>
                  <a:lnTo>
                    <a:pt x="0" y="0"/>
                  </a:lnTo>
                  <a:lnTo>
                    <a:pt x="22860" y="0"/>
                  </a:lnTo>
                  <a:lnTo>
                    <a:pt x="22860" y="196595"/>
                  </a:lnTo>
                  <a:close/>
                </a:path>
              </a:pathLst>
            </a:custGeom>
            <a:solidFill>
              <a:srgbClr val="231F1F"/>
            </a:solidFill>
          </p:spPr>
          <p:txBody>
            <a:bodyPr wrap="square" lIns="0" tIns="0" rIns="0" bIns="0" rtlCol="0"/>
            <a:lstStyle/>
            <a:p/>
          </p:txBody>
        </p:sp>
        <p:sp>
          <p:nvSpPr>
            <p:cNvPr id="33" name="object 33"/>
            <p:cNvSpPr/>
            <p:nvPr/>
          </p:nvSpPr>
          <p:spPr>
            <a:xfrm>
              <a:off x="4660392" y="2359152"/>
              <a:ext cx="327660" cy="3211195"/>
            </a:xfrm>
            <a:custGeom>
              <a:avLst/>
              <a:gdLst/>
              <a:ahLst/>
              <a:cxnLst/>
              <a:rect l="l" t="t" r="r" b="b"/>
              <a:pathLst>
                <a:path w="327660" h="3211195">
                  <a:moveTo>
                    <a:pt x="91439" y="3211067"/>
                  </a:moveTo>
                  <a:lnTo>
                    <a:pt x="327660" y="3211067"/>
                  </a:lnTo>
                  <a:lnTo>
                    <a:pt x="327660" y="0"/>
                  </a:lnTo>
                  <a:lnTo>
                    <a:pt x="0" y="0"/>
                  </a:lnTo>
                </a:path>
              </a:pathLst>
            </a:custGeom>
            <a:ln w="27432">
              <a:solidFill>
                <a:srgbClr val="231F1F"/>
              </a:solidFill>
            </a:ln>
          </p:spPr>
          <p:txBody>
            <a:bodyPr wrap="square" lIns="0" tIns="0" rIns="0" bIns="0" rtlCol="0"/>
            <a:lstStyle/>
            <a:p/>
          </p:txBody>
        </p:sp>
        <p:sp>
          <p:nvSpPr>
            <p:cNvPr id="34" name="object 34"/>
            <p:cNvSpPr/>
            <p:nvPr/>
          </p:nvSpPr>
          <p:spPr>
            <a:xfrm>
              <a:off x="4668011" y="5509260"/>
              <a:ext cx="125095" cy="119380"/>
            </a:xfrm>
            <a:custGeom>
              <a:avLst/>
              <a:gdLst/>
              <a:ahLst/>
              <a:cxnLst/>
              <a:rect l="l" t="t" r="r" b="b"/>
              <a:pathLst>
                <a:path w="125095" h="119379">
                  <a:moveTo>
                    <a:pt x="124967" y="118872"/>
                  </a:moveTo>
                  <a:lnTo>
                    <a:pt x="0" y="60960"/>
                  </a:lnTo>
                  <a:lnTo>
                    <a:pt x="124967" y="0"/>
                  </a:lnTo>
                  <a:lnTo>
                    <a:pt x="102108" y="60960"/>
                  </a:lnTo>
                  <a:lnTo>
                    <a:pt x="124967" y="118872"/>
                  </a:lnTo>
                  <a:close/>
                </a:path>
              </a:pathLst>
            </a:custGeom>
            <a:solidFill>
              <a:srgbClr val="231F1F"/>
            </a:solidFill>
          </p:spPr>
          <p:txBody>
            <a:bodyPr wrap="square" lIns="0" tIns="0" rIns="0" bIns="0" rtlCol="0"/>
            <a:lstStyle/>
            <a:p/>
          </p:txBody>
        </p:sp>
        <p:sp>
          <p:nvSpPr>
            <p:cNvPr id="35" name="object 35"/>
            <p:cNvSpPr/>
            <p:nvPr/>
          </p:nvSpPr>
          <p:spPr>
            <a:xfrm>
              <a:off x="1799843" y="3011424"/>
              <a:ext cx="329565" cy="2559050"/>
            </a:xfrm>
            <a:custGeom>
              <a:avLst/>
              <a:gdLst/>
              <a:ahLst/>
              <a:cxnLst/>
              <a:rect l="l" t="t" r="r" b="b"/>
              <a:pathLst>
                <a:path w="329564" h="2559050">
                  <a:moveTo>
                    <a:pt x="240792" y="2558795"/>
                  </a:moveTo>
                  <a:lnTo>
                    <a:pt x="0" y="2558795"/>
                  </a:lnTo>
                  <a:lnTo>
                    <a:pt x="0" y="0"/>
                  </a:lnTo>
                  <a:lnTo>
                    <a:pt x="329184" y="0"/>
                  </a:lnTo>
                </a:path>
              </a:pathLst>
            </a:custGeom>
            <a:ln w="27432">
              <a:solidFill>
                <a:srgbClr val="231F1F"/>
              </a:solidFill>
            </a:ln>
          </p:spPr>
          <p:txBody>
            <a:bodyPr wrap="square" lIns="0" tIns="0" rIns="0" bIns="0" rtlCol="0"/>
            <a:lstStyle/>
            <a:p/>
          </p:txBody>
        </p:sp>
        <p:sp>
          <p:nvSpPr>
            <p:cNvPr id="36" name="object 36"/>
            <p:cNvSpPr/>
            <p:nvPr/>
          </p:nvSpPr>
          <p:spPr>
            <a:xfrm>
              <a:off x="2001011" y="5509260"/>
              <a:ext cx="125095" cy="119380"/>
            </a:xfrm>
            <a:custGeom>
              <a:avLst/>
              <a:gdLst/>
              <a:ahLst/>
              <a:cxnLst/>
              <a:rect l="l" t="t" r="r" b="b"/>
              <a:pathLst>
                <a:path w="125094" h="119379">
                  <a:moveTo>
                    <a:pt x="0" y="118872"/>
                  </a:moveTo>
                  <a:lnTo>
                    <a:pt x="22859" y="60960"/>
                  </a:lnTo>
                  <a:lnTo>
                    <a:pt x="0" y="0"/>
                  </a:lnTo>
                  <a:lnTo>
                    <a:pt x="124967" y="60960"/>
                  </a:lnTo>
                  <a:lnTo>
                    <a:pt x="0" y="118872"/>
                  </a:lnTo>
                  <a:close/>
                </a:path>
              </a:pathLst>
            </a:custGeom>
            <a:solidFill>
              <a:srgbClr val="231F1F"/>
            </a:solidFill>
          </p:spPr>
          <p:txBody>
            <a:bodyPr wrap="square" lIns="0" tIns="0" rIns="0" bIns="0" rtlCol="0"/>
            <a:lstStyle/>
            <a:p/>
          </p:txBody>
        </p:sp>
        <p:sp>
          <p:nvSpPr>
            <p:cNvPr id="37" name="object 37"/>
            <p:cNvSpPr/>
            <p:nvPr/>
          </p:nvSpPr>
          <p:spPr>
            <a:xfrm>
              <a:off x="2860547" y="2950464"/>
              <a:ext cx="111252" cy="207264"/>
            </a:xfrm>
            <a:prstGeom prst="rect">
              <a:avLst/>
            </a:prstGeom>
            <a:blipFill>
              <a:blip r:embed="rId16" cstate="print"/>
              <a:stretch>
                <a:fillRect/>
              </a:stretch>
            </a:blipFill>
          </p:spPr>
          <p:txBody>
            <a:bodyPr wrap="square" lIns="0" tIns="0" rIns="0" bIns="0" rtlCol="0"/>
            <a:lstStyle/>
            <a:p/>
          </p:txBody>
        </p:sp>
        <p:sp>
          <p:nvSpPr>
            <p:cNvPr id="38" name="object 38"/>
            <p:cNvSpPr/>
            <p:nvPr/>
          </p:nvSpPr>
          <p:spPr>
            <a:xfrm>
              <a:off x="3002267" y="2950463"/>
              <a:ext cx="573405" cy="154305"/>
            </a:xfrm>
            <a:custGeom>
              <a:avLst/>
              <a:gdLst/>
              <a:ahLst/>
              <a:cxnLst/>
              <a:rect l="l" t="t" r="r" b="b"/>
              <a:pathLst>
                <a:path w="573404" h="154305">
                  <a:moveTo>
                    <a:pt x="62496" y="0"/>
                  </a:moveTo>
                  <a:lnTo>
                    <a:pt x="54876" y="0"/>
                  </a:lnTo>
                  <a:lnTo>
                    <a:pt x="44919" y="2146"/>
                  </a:lnTo>
                  <a:lnTo>
                    <a:pt x="35826" y="8001"/>
                  </a:lnTo>
                  <a:lnTo>
                    <a:pt x="27863" y="16725"/>
                  </a:lnTo>
                  <a:lnTo>
                    <a:pt x="21336" y="27432"/>
                  </a:lnTo>
                  <a:lnTo>
                    <a:pt x="21336" y="4572"/>
                  </a:lnTo>
                  <a:lnTo>
                    <a:pt x="0" y="4572"/>
                  </a:lnTo>
                  <a:lnTo>
                    <a:pt x="0" y="149364"/>
                  </a:lnTo>
                  <a:lnTo>
                    <a:pt x="21336" y="149364"/>
                  </a:lnTo>
                  <a:lnTo>
                    <a:pt x="21336" y="65532"/>
                  </a:lnTo>
                  <a:lnTo>
                    <a:pt x="23558" y="50342"/>
                  </a:lnTo>
                  <a:lnTo>
                    <a:pt x="29921" y="37719"/>
                  </a:lnTo>
                  <a:lnTo>
                    <a:pt x="39992" y="29108"/>
                  </a:lnTo>
                  <a:lnTo>
                    <a:pt x="46964" y="27432"/>
                  </a:lnTo>
                  <a:lnTo>
                    <a:pt x="53352" y="25908"/>
                  </a:lnTo>
                  <a:lnTo>
                    <a:pt x="62496" y="25908"/>
                  </a:lnTo>
                  <a:lnTo>
                    <a:pt x="62496" y="0"/>
                  </a:lnTo>
                  <a:close/>
                </a:path>
                <a:path w="573404" h="154305">
                  <a:moveTo>
                    <a:pt x="192036" y="77724"/>
                  </a:moveTo>
                  <a:lnTo>
                    <a:pt x="188074" y="49517"/>
                  </a:lnTo>
                  <a:lnTo>
                    <a:pt x="176415" y="24574"/>
                  </a:lnTo>
                  <a:lnTo>
                    <a:pt x="172935" y="21336"/>
                  </a:lnTo>
                  <a:lnTo>
                    <a:pt x="169176" y="17843"/>
                  </a:lnTo>
                  <a:lnTo>
                    <a:pt x="169176" y="77724"/>
                  </a:lnTo>
                  <a:lnTo>
                    <a:pt x="167716" y="94018"/>
                  </a:lnTo>
                  <a:lnTo>
                    <a:pt x="162128" y="112026"/>
                  </a:lnTo>
                  <a:lnTo>
                    <a:pt x="150520" y="126593"/>
                  </a:lnTo>
                  <a:lnTo>
                    <a:pt x="131076" y="132600"/>
                  </a:lnTo>
                  <a:lnTo>
                    <a:pt x="112496" y="126593"/>
                  </a:lnTo>
                  <a:lnTo>
                    <a:pt x="101358" y="112026"/>
                  </a:lnTo>
                  <a:lnTo>
                    <a:pt x="95923" y="94018"/>
                  </a:lnTo>
                  <a:lnTo>
                    <a:pt x="94500" y="77724"/>
                  </a:lnTo>
                  <a:lnTo>
                    <a:pt x="95923" y="60566"/>
                  </a:lnTo>
                  <a:lnTo>
                    <a:pt x="101358" y="42100"/>
                  </a:lnTo>
                  <a:lnTo>
                    <a:pt x="112496" y="27368"/>
                  </a:lnTo>
                  <a:lnTo>
                    <a:pt x="131076" y="21336"/>
                  </a:lnTo>
                  <a:lnTo>
                    <a:pt x="150520" y="27368"/>
                  </a:lnTo>
                  <a:lnTo>
                    <a:pt x="162128" y="42100"/>
                  </a:lnTo>
                  <a:lnTo>
                    <a:pt x="167716" y="60566"/>
                  </a:lnTo>
                  <a:lnTo>
                    <a:pt x="169176" y="77724"/>
                  </a:lnTo>
                  <a:lnTo>
                    <a:pt x="169176" y="17843"/>
                  </a:lnTo>
                  <a:lnTo>
                    <a:pt x="157314" y="6794"/>
                  </a:lnTo>
                  <a:lnTo>
                    <a:pt x="131076" y="0"/>
                  </a:lnTo>
                  <a:lnTo>
                    <a:pt x="104419" y="6794"/>
                  </a:lnTo>
                  <a:lnTo>
                    <a:pt x="85928" y="24574"/>
                  </a:lnTo>
                  <a:lnTo>
                    <a:pt x="75133" y="49517"/>
                  </a:lnTo>
                  <a:lnTo>
                    <a:pt x="71640" y="77724"/>
                  </a:lnTo>
                  <a:lnTo>
                    <a:pt x="75133" y="105067"/>
                  </a:lnTo>
                  <a:lnTo>
                    <a:pt x="85928" y="129552"/>
                  </a:lnTo>
                  <a:lnTo>
                    <a:pt x="104419" y="147167"/>
                  </a:lnTo>
                  <a:lnTo>
                    <a:pt x="131076" y="153936"/>
                  </a:lnTo>
                  <a:lnTo>
                    <a:pt x="157314" y="147167"/>
                  </a:lnTo>
                  <a:lnTo>
                    <a:pt x="173101" y="132600"/>
                  </a:lnTo>
                  <a:lnTo>
                    <a:pt x="176415" y="129552"/>
                  </a:lnTo>
                  <a:lnTo>
                    <a:pt x="188074" y="105067"/>
                  </a:lnTo>
                  <a:lnTo>
                    <a:pt x="192036" y="77724"/>
                  </a:lnTo>
                  <a:close/>
                </a:path>
                <a:path w="573404" h="154305">
                  <a:moveTo>
                    <a:pt x="317004" y="53340"/>
                  </a:moveTo>
                  <a:lnTo>
                    <a:pt x="312826" y="34086"/>
                  </a:lnTo>
                  <a:lnTo>
                    <a:pt x="304241" y="16954"/>
                  </a:lnTo>
                  <a:lnTo>
                    <a:pt x="290207" y="4699"/>
                  </a:lnTo>
                  <a:lnTo>
                    <a:pt x="269760" y="0"/>
                  </a:lnTo>
                  <a:lnTo>
                    <a:pt x="241350" y="6223"/>
                  </a:lnTo>
                  <a:lnTo>
                    <a:pt x="221945" y="23431"/>
                  </a:lnTo>
                  <a:lnTo>
                    <a:pt x="210820" y="49517"/>
                  </a:lnTo>
                  <a:lnTo>
                    <a:pt x="207276" y="82296"/>
                  </a:lnTo>
                  <a:lnTo>
                    <a:pt x="211175" y="110858"/>
                  </a:lnTo>
                  <a:lnTo>
                    <a:pt x="222516" y="133540"/>
                  </a:lnTo>
                  <a:lnTo>
                    <a:pt x="240703" y="148526"/>
                  </a:lnTo>
                  <a:lnTo>
                    <a:pt x="265188" y="153924"/>
                  </a:lnTo>
                  <a:lnTo>
                    <a:pt x="288277" y="148551"/>
                  </a:lnTo>
                  <a:lnTo>
                    <a:pt x="303669" y="134874"/>
                  </a:lnTo>
                  <a:lnTo>
                    <a:pt x="312762" y="116636"/>
                  </a:lnTo>
                  <a:lnTo>
                    <a:pt x="317004" y="97536"/>
                  </a:lnTo>
                  <a:lnTo>
                    <a:pt x="295668" y="97536"/>
                  </a:lnTo>
                  <a:lnTo>
                    <a:pt x="291757" y="113309"/>
                  </a:lnTo>
                  <a:lnTo>
                    <a:pt x="285000" y="124206"/>
                  </a:lnTo>
                  <a:lnTo>
                    <a:pt x="275945" y="130543"/>
                  </a:lnTo>
                  <a:lnTo>
                    <a:pt x="265188" y="132588"/>
                  </a:lnTo>
                  <a:lnTo>
                    <a:pt x="247484" y="127444"/>
                  </a:lnTo>
                  <a:lnTo>
                    <a:pt x="236804" y="114300"/>
                  </a:lnTo>
                  <a:lnTo>
                    <a:pt x="231533" y="96583"/>
                  </a:lnTo>
                  <a:lnTo>
                    <a:pt x="230136" y="77724"/>
                  </a:lnTo>
                  <a:lnTo>
                    <a:pt x="231965" y="57988"/>
                  </a:lnTo>
                  <a:lnTo>
                    <a:pt x="237947" y="39814"/>
                  </a:lnTo>
                  <a:lnTo>
                    <a:pt x="248780" y="26504"/>
                  </a:lnTo>
                  <a:lnTo>
                    <a:pt x="265188" y="21336"/>
                  </a:lnTo>
                  <a:lnTo>
                    <a:pt x="277444" y="23558"/>
                  </a:lnTo>
                  <a:lnTo>
                    <a:pt x="286715" y="29908"/>
                  </a:lnTo>
                  <a:lnTo>
                    <a:pt x="292823" y="39992"/>
                  </a:lnTo>
                  <a:lnTo>
                    <a:pt x="295668" y="53340"/>
                  </a:lnTo>
                  <a:lnTo>
                    <a:pt x="317004" y="53340"/>
                  </a:lnTo>
                  <a:close/>
                </a:path>
                <a:path w="573404" h="154305">
                  <a:moveTo>
                    <a:pt x="451116" y="83820"/>
                  </a:moveTo>
                  <a:lnTo>
                    <a:pt x="449160" y="65532"/>
                  </a:lnTo>
                  <a:lnTo>
                    <a:pt x="447446" y="49517"/>
                  </a:lnTo>
                  <a:lnTo>
                    <a:pt x="436638" y="23050"/>
                  </a:lnTo>
                  <a:lnTo>
                    <a:pt x="434848" y="21336"/>
                  </a:lnTo>
                  <a:lnTo>
                    <a:pt x="428256" y="14998"/>
                  </a:lnTo>
                  <a:lnTo>
                    <a:pt x="428256" y="65532"/>
                  </a:lnTo>
                  <a:lnTo>
                    <a:pt x="355092" y="65532"/>
                  </a:lnTo>
                  <a:lnTo>
                    <a:pt x="376961" y="25031"/>
                  </a:lnTo>
                  <a:lnTo>
                    <a:pt x="418338" y="34861"/>
                  </a:lnTo>
                  <a:lnTo>
                    <a:pt x="428256" y="65532"/>
                  </a:lnTo>
                  <a:lnTo>
                    <a:pt x="428256" y="14998"/>
                  </a:lnTo>
                  <a:lnTo>
                    <a:pt x="418960" y="6032"/>
                  </a:lnTo>
                  <a:lnTo>
                    <a:pt x="394716" y="0"/>
                  </a:lnTo>
                  <a:lnTo>
                    <a:pt x="367195" y="6223"/>
                  </a:lnTo>
                  <a:lnTo>
                    <a:pt x="348234" y="23431"/>
                  </a:lnTo>
                  <a:lnTo>
                    <a:pt x="337286" y="49517"/>
                  </a:lnTo>
                  <a:lnTo>
                    <a:pt x="333756" y="82296"/>
                  </a:lnTo>
                  <a:lnTo>
                    <a:pt x="337426" y="110858"/>
                  </a:lnTo>
                  <a:lnTo>
                    <a:pt x="348234" y="133553"/>
                  </a:lnTo>
                  <a:lnTo>
                    <a:pt x="365912" y="148526"/>
                  </a:lnTo>
                  <a:lnTo>
                    <a:pt x="390144" y="153936"/>
                  </a:lnTo>
                  <a:lnTo>
                    <a:pt x="403771" y="152717"/>
                  </a:lnTo>
                  <a:lnTo>
                    <a:pt x="413385" y="149936"/>
                  </a:lnTo>
                  <a:lnTo>
                    <a:pt x="420154" y="146862"/>
                  </a:lnTo>
                  <a:lnTo>
                    <a:pt x="425208" y="144792"/>
                  </a:lnTo>
                  <a:lnTo>
                    <a:pt x="446201" y="112001"/>
                  </a:lnTo>
                  <a:lnTo>
                    <a:pt x="448068" y="105156"/>
                  </a:lnTo>
                  <a:lnTo>
                    <a:pt x="425208" y="105156"/>
                  </a:lnTo>
                  <a:lnTo>
                    <a:pt x="422986" y="113309"/>
                  </a:lnTo>
                  <a:lnTo>
                    <a:pt x="416623" y="122313"/>
                  </a:lnTo>
                  <a:lnTo>
                    <a:pt x="406552" y="129590"/>
                  </a:lnTo>
                  <a:lnTo>
                    <a:pt x="393192" y="132600"/>
                  </a:lnTo>
                  <a:lnTo>
                    <a:pt x="376961" y="129260"/>
                  </a:lnTo>
                  <a:lnTo>
                    <a:pt x="364998" y="119646"/>
                  </a:lnTo>
                  <a:lnTo>
                    <a:pt x="357619" y="104305"/>
                  </a:lnTo>
                  <a:lnTo>
                    <a:pt x="355092" y="83820"/>
                  </a:lnTo>
                  <a:lnTo>
                    <a:pt x="451116" y="83820"/>
                  </a:lnTo>
                  <a:close/>
                </a:path>
                <a:path w="573404" h="154305">
                  <a:moveTo>
                    <a:pt x="573036" y="105156"/>
                  </a:moveTo>
                  <a:lnTo>
                    <a:pt x="539508" y="67056"/>
                  </a:lnTo>
                  <a:lnTo>
                    <a:pt x="516648" y="60960"/>
                  </a:lnTo>
                  <a:lnTo>
                    <a:pt x="505993" y="57683"/>
                  </a:lnTo>
                  <a:lnTo>
                    <a:pt x="498932" y="54102"/>
                  </a:lnTo>
                  <a:lnTo>
                    <a:pt x="494995" y="49390"/>
                  </a:lnTo>
                  <a:lnTo>
                    <a:pt x="493788" y="42672"/>
                  </a:lnTo>
                  <a:lnTo>
                    <a:pt x="496735" y="30988"/>
                  </a:lnTo>
                  <a:lnTo>
                    <a:pt x="503694" y="24574"/>
                  </a:lnTo>
                  <a:lnTo>
                    <a:pt x="511784" y="21894"/>
                  </a:lnTo>
                  <a:lnTo>
                    <a:pt x="518172" y="21336"/>
                  </a:lnTo>
                  <a:lnTo>
                    <a:pt x="534504" y="24104"/>
                  </a:lnTo>
                  <a:lnTo>
                    <a:pt x="543699" y="30861"/>
                  </a:lnTo>
                  <a:lnTo>
                    <a:pt x="547738" y="39344"/>
                  </a:lnTo>
                  <a:lnTo>
                    <a:pt x="548652" y="47244"/>
                  </a:lnTo>
                  <a:lnTo>
                    <a:pt x="569988" y="47244"/>
                  </a:lnTo>
                  <a:lnTo>
                    <a:pt x="568769" y="36004"/>
                  </a:lnTo>
                  <a:lnTo>
                    <a:pt x="562559" y="20193"/>
                  </a:lnTo>
                  <a:lnTo>
                    <a:pt x="547484" y="6096"/>
                  </a:lnTo>
                  <a:lnTo>
                    <a:pt x="519696" y="0"/>
                  </a:lnTo>
                  <a:lnTo>
                    <a:pt x="502018" y="2667"/>
                  </a:lnTo>
                  <a:lnTo>
                    <a:pt x="486930" y="11049"/>
                  </a:lnTo>
                  <a:lnTo>
                    <a:pt x="476402" y="25717"/>
                  </a:lnTo>
                  <a:lnTo>
                    <a:pt x="472452" y="47244"/>
                  </a:lnTo>
                  <a:lnTo>
                    <a:pt x="474395" y="59804"/>
                  </a:lnTo>
                  <a:lnTo>
                    <a:pt x="480072" y="69913"/>
                  </a:lnTo>
                  <a:lnTo>
                    <a:pt x="489165" y="77470"/>
                  </a:lnTo>
                  <a:lnTo>
                    <a:pt x="501408" y="82296"/>
                  </a:lnTo>
                  <a:lnTo>
                    <a:pt x="525792" y="88392"/>
                  </a:lnTo>
                  <a:lnTo>
                    <a:pt x="538429" y="91948"/>
                  </a:lnTo>
                  <a:lnTo>
                    <a:pt x="546938" y="96202"/>
                  </a:lnTo>
                  <a:lnTo>
                    <a:pt x="551713" y="101904"/>
                  </a:lnTo>
                  <a:lnTo>
                    <a:pt x="553224" y="109728"/>
                  </a:lnTo>
                  <a:lnTo>
                    <a:pt x="550811" y="120383"/>
                  </a:lnTo>
                  <a:lnTo>
                    <a:pt x="544271" y="127444"/>
                  </a:lnTo>
                  <a:lnTo>
                    <a:pt x="534568" y="131381"/>
                  </a:lnTo>
                  <a:lnTo>
                    <a:pt x="522744" y="132588"/>
                  </a:lnTo>
                  <a:lnTo>
                    <a:pt x="505282" y="129540"/>
                  </a:lnTo>
                  <a:lnTo>
                    <a:pt x="495122" y="121920"/>
                  </a:lnTo>
                  <a:lnTo>
                    <a:pt x="490372" y="112014"/>
                  </a:lnTo>
                  <a:lnTo>
                    <a:pt x="489216" y="102108"/>
                  </a:lnTo>
                  <a:lnTo>
                    <a:pt x="469404" y="102108"/>
                  </a:lnTo>
                  <a:lnTo>
                    <a:pt x="470662" y="118567"/>
                  </a:lnTo>
                  <a:lnTo>
                    <a:pt x="477215" y="135445"/>
                  </a:lnTo>
                  <a:lnTo>
                    <a:pt x="493191" y="148615"/>
                  </a:lnTo>
                  <a:lnTo>
                    <a:pt x="522744" y="153924"/>
                  </a:lnTo>
                  <a:lnTo>
                    <a:pt x="542810" y="150596"/>
                  </a:lnTo>
                  <a:lnTo>
                    <a:pt x="558749" y="140970"/>
                  </a:lnTo>
                  <a:lnTo>
                    <a:pt x="569239" y="125641"/>
                  </a:lnTo>
                  <a:lnTo>
                    <a:pt x="573036" y="105156"/>
                  </a:lnTo>
                  <a:close/>
                </a:path>
              </a:pathLst>
            </a:custGeom>
            <a:solidFill>
              <a:srgbClr val="231F1F"/>
            </a:solidFill>
          </p:spPr>
          <p:txBody>
            <a:bodyPr wrap="square" lIns="0" tIns="0" rIns="0" bIns="0" rtlCol="0"/>
            <a:lstStyle/>
            <a:p/>
          </p:txBody>
        </p:sp>
        <p:sp>
          <p:nvSpPr>
            <p:cNvPr id="39" name="object 39"/>
            <p:cNvSpPr/>
            <p:nvPr/>
          </p:nvSpPr>
          <p:spPr>
            <a:xfrm>
              <a:off x="3595116" y="2950464"/>
              <a:ext cx="103632" cy="153924"/>
            </a:xfrm>
            <a:prstGeom prst="rect">
              <a:avLst/>
            </a:prstGeom>
            <a:blipFill>
              <a:blip r:embed="rId17" cstate="print"/>
              <a:stretch>
                <a:fillRect/>
              </a:stretch>
            </a:blipFill>
          </p:spPr>
          <p:txBody>
            <a:bodyPr wrap="square" lIns="0" tIns="0" rIns="0" bIns="0" rtlCol="0"/>
            <a:lstStyle/>
            <a:p/>
          </p:txBody>
        </p:sp>
        <p:sp>
          <p:nvSpPr>
            <p:cNvPr id="40" name="object 40"/>
            <p:cNvSpPr/>
            <p:nvPr/>
          </p:nvSpPr>
          <p:spPr>
            <a:xfrm>
              <a:off x="3796283" y="2901696"/>
              <a:ext cx="135636" cy="198120"/>
            </a:xfrm>
            <a:prstGeom prst="rect">
              <a:avLst/>
            </a:prstGeom>
            <a:blipFill>
              <a:blip r:embed="rId18" cstate="print"/>
              <a:stretch>
                <a:fillRect/>
              </a:stretch>
            </a:blipFill>
          </p:spPr>
          <p:txBody>
            <a:bodyPr wrap="square" lIns="0" tIns="0" rIns="0" bIns="0" rtlCol="0"/>
            <a:lstStyle/>
            <a:p/>
          </p:txBody>
        </p:sp>
        <p:sp>
          <p:nvSpPr>
            <p:cNvPr id="41" name="object 41"/>
            <p:cNvSpPr/>
            <p:nvPr/>
          </p:nvSpPr>
          <p:spPr>
            <a:xfrm>
              <a:off x="2129027" y="5366004"/>
              <a:ext cx="421005" cy="407034"/>
            </a:xfrm>
            <a:custGeom>
              <a:avLst/>
              <a:gdLst/>
              <a:ahLst/>
              <a:cxnLst/>
              <a:rect l="l" t="t" r="r" b="b"/>
              <a:pathLst>
                <a:path w="421005" h="407035">
                  <a:moveTo>
                    <a:pt x="420623" y="406908"/>
                  </a:moveTo>
                  <a:lnTo>
                    <a:pt x="0" y="406908"/>
                  </a:lnTo>
                  <a:lnTo>
                    <a:pt x="0" y="0"/>
                  </a:lnTo>
                  <a:lnTo>
                    <a:pt x="420623" y="0"/>
                  </a:lnTo>
                  <a:lnTo>
                    <a:pt x="420623" y="406908"/>
                  </a:lnTo>
                  <a:close/>
                </a:path>
              </a:pathLst>
            </a:custGeom>
            <a:solidFill>
              <a:srgbClr val="D1D3D4"/>
            </a:solidFill>
          </p:spPr>
          <p:txBody>
            <a:bodyPr wrap="square" lIns="0" tIns="0" rIns="0" bIns="0" rtlCol="0"/>
            <a:lstStyle/>
            <a:p/>
          </p:txBody>
        </p:sp>
        <p:sp>
          <p:nvSpPr>
            <p:cNvPr id="42" name="object 42"/>
            <p:cNvSpPr/>
            <p:nvPr/>
          </p:nvSpPr>
          <p:spPr>
            <a:xfrm>
              <a:off x="2129027" y="5366004"/>
              <a:ext cx="421005" cy="407034"/>
            </a:xfrm>
            <a:custGeom>
              <a:avLst/>
              <a:gdLst/>
              <a:ahLst/>
              <a:cxnLst/>
              <a:rect l="l" t="t" r="r" b="b"/>
              <a:pathLst>
                <a:path w="421005" h="407035">
                  <a:moveTo>
                    <a:pt x="420623" y="406908"/>
                  </a:moveTo>
                  <a:lnTo>
                    <a:pt x="0" y="406908"/>
                  </a:lnTo>
                  <a:lnTo>
                    <a:pt x="0" y="0"/>
                  </a:lnTo>
                  <a:lnTo>
                    <a:pt x="420623" y="0"/>
                  </a:lnTo>
                  <a:lnTo>
                    <a:pt x="420623" y="406908"/>
                  </a:lnTo>
                  <a:close/>
                </a:path>
              </a:pathLst>
            </a:custGeom>
            <a:ln w="12192">
              <a:solidFill>
                <a:srgbClr val="231F1F"/>
              </a:solidFill>
            </a:ln>
          </p:spPr>
          <p:txBody>
            <a:bodyPr wrap="square" lIns="0" tIns="0" rIns="0" bIns="0" rtlCol="0"/>
            <a:lstStyle/>
            <a:p/>
          </p:txBody>
        </p:sp>
        <p:sp>
          <p:nvSpPr>
            <p:cNvPr id="43" name="object 43"/>
            <p:cNvSpPr/>
            <p:nvPr/>
          </p:nvSpPr>
          <p:spPr>
            <a:xfrm>
              <a:off x="2549651" y="5366004"/>
              <a:ext cx="422275" cy="407034"/>
            </a:xfrm>
            <a:custGeom>
              <a:avLst/>
              <a:gdLst/>
              <a:ahLst/>
              <a:cxnLst/>
              <a:rect l="l" t="t" r="r" b="b"/>
              <a:pathLst>
                <a:path w="422275" h="407035">
                  <a:moveTo>
                    <a:pt x="422148" y="406908"/>
                  </a:moveTo>
                  <a:lnTo>
                    <a:pt x="0" y="406908"/>
                  </a:lnTo>
                  <a:lnTo>
                    <a:pt x="0" y="0"/>
                  </a:lnTo>
                  <a:lnTo>
                    <a:pt x="422148" y="0"/>
                  </a:lnTo>
                  <a:lnTo>
                    <a:pt x="422148" y="406908"/>
                  </a:lnTo>
                  <a:close/>
                </a:path>
              </a:pathLst>
            </a:custGeom>
            <a:solidFill>
              <a:srgbClr val="D1D3D4"/>
            </a:solidFill>
          </p:spPr>
          <p:txBody>
            <a:bodyPr wrap="square" lIns="0" tIns="0" rIns="0" bIns="0" rtlCol="0"/>
            <a:lstStyle/>
            <a:p/>
          </p:txBody>
        </p:sp>
        <p:sp>
          <p:nvSpPr>
            <p:cNvPr id="44" name="object 44"/>
            <p:cNvSpPr/>
            <p:nvPr/>
          </p:nvSpPr>
          <p:spPr>
            <a:xfrm>
              <a:off x="2549651" y="5366004"/>
              <a:ext cx="422275" cy="407034"/>
            </a:xfrm>
            <a:custGeom>
              <a:avLst/>
              <a:gdLst/>
              <a:ahLst/>
              <a:cxnLst/>
              <a:rect l="l" t="t" r="r" b="b"/>
              <a:pathLst>
                <a:path w="422275" h="407035">
                  <a:moveTo>
                    <a:pt x="422148" y="406908"/>
                  </a:moveTo>
                  <a:lnTo>
                    <a:pt x="0" y="406908"/>
                  </a:lnTo>
                  <a:lnTo>
                    <a:pt x="0" y="0"/>
                  </a:lnTo>
                  <a:lnTo>
                    <a:pt x="422148" y="0"/>
                  </a:lnTo>
                  <a:lnTo>
                    <a:pt x="422148" y="406908"/>
                  </a:lnTo>
                  <a:close/>
                </a:path>
              </a:pathLst>
            </a:custGeom>
            <a:ln w="12192">
              <a:solidFill>
                <a:srgbClr val="231F1F"/>
              </a:solidFill>
            </a:ln>
          </p:spPr>
          <p:txBody>
            <a:bodyPr wrap="square" lIns="0" tIns="0" rIns="0" bIns="0" rtlCol="0"/>
            <a:lstStyle/>
            <a:p/>
          </p:txBody>
        </p:sp>
        <p:sp>
          <p:nvSpPr>
            <p:cNvPr id="45" name="object 45"/>
            <p:cNvSpPr/>
            <p:nvPr/>
          </p:nvSpPr>
          <p:spPr>
            <a:xfrm>
              <a:off x="2971800" y="5366004"/>
              <a:ext cx="424180" cy="407034"/>
            </a:xfrm>
            <a:custGeom>
              <a:avLst/>
              <a:gdLst/>
              <a:ahLst/>
              <a:cxnLst/>
              <a:rect l="l" t="t" r="r" b="b"/>
              <a:pathLst>
                <a:path w="424179" h="407035">
                  <a:moveTo>
                    <a:pt x="423672" y="406908"/>
                  </a:moveTo>
                  <a:lnTo>
                    <a:pt x="0" y="406908"/>
                  </a:lnTo>
                  <a:lnTo>
                    <a:pt x="0" y="0"/>
                  </a:lnTo>
                  <a:lnTo>
                    <a:pt x="423672" y="0"/>
                  </a:lnTo>
                  <a:lnTo>
                    <a:pt x="423672" y="406908"/>
                  </a:lnTo>
                  <a:close/>
                </a:path>
              </a:pathLst>
            </a:custGeom>
            <a:solidFill>
              <a:srgbClr val="D1D3D4"/>
            </a:solidFill>
          </p:spPr>
          <p:txBody>
            <a:bodyPr wrap="square" lIns="0" tIns="0" rIns="0" bIns="0" rtlCol="0"/>
            <a:lstStyle/>
            <a:p/>
          </p:txBody>
        </p:sp>
        <p:sp>
          <p:nvSpPr>
            <p:cNvPr id="46" name="object 46"/>
            <p:cNvSpPr/>
            <p:nvPr/>
          </p:nvSpPr>
          <p:spPr>
            <a:xfrm>
              <a:off x="2971800" y="5366004"/>
              <a:ext cx="424180" cy="407034"/>
            </a:xfrm>
            <a:custGeom>
              <a:avLst/>
              <a:gdLst/>
              <a:ahLst/>
              <a:cxnLst/>
              <a:rect l="l" t="t" r="r" b="b"/>
              <a:pathLst>
                <a:path w="424179" h="407035">
                  <a:moveTo>
                    <a:pt x="423672" y="406908"/>
                  </a:moveTo>
                  <a:lnTo>
                    <a:pt x="0" y="406908"/>
                  </a:lnTo>
                  <a:lnTo>
                    <a:pt x="0" y="0"/>
                  </a:lnTo>
                  <a:lnTo>
                    <a:pt x="423672" y="0"/>
                  </a:lnTo>
                  <a:lnTo>
                    <a:pt x="423672" y="406908"/>
                  </a:lnTo>
                  <a:close/>
                </a:path>
              </a:pathLst>
            </a:custGeom>
            <a:ln w="12192">
              <a:solidFill>
                <a:srgbClr val="231F1F"/>
              </a:solidFill>
            </a:ln>
          </p:spPr>
          <p:txBody>
            <a:bodyPr wrap="square" lIns="0" tIns="0" rIns="0" bIns="0" rtlCol="0"/>
            <a:lstStyle/>
            <a:p/>
          </p:txBody>
        </p:sp>
        <p:sp>
          <p:nvSpPr>
            <p:cNvPr id="47" name="object 47"/>
            <p:cNvSpPr/>
            <p:nvPr/>
          </p:nvSpPr>
          <p:spPr>
            <a:xfrm>
              <a:off x="3395472" y="5366004"/>
              <a:ext cx="421005" cy="407034"/>
            </a:xfrm>
            <a:custGeom>
              <a:avLst/>
              <a:gdLst/>
              <a:ahLst/>
              <a:cxnLst/>
              <a:rect l="l" t="t" r="r" b="b"/>
              <a:pathLst>
                <a:path w="421004" h="407035">
                  <a:moveTo>
                    <a:pt x="420624" y="406908"/>
                  </a:moveTo>
                  <a:lnTo>
                    <a:pt x="0" y="406908"/>
                  </a:lnTo>
                  <a:lnTo>
                    <a:pt x="0" y="0"/>
                  </a:lnTo>
                  <a:lnTo>
                    <a:pt x="420624" y="0"/>
                  </a:lnTo>
                  <a:lnTo>
                    <a:pt x="420624" y="406908"/>
                  </a:lnTo>
                  <a:close/>
                </a:path>
              </a:pathLst>
            </a:custGeom>
            <a:solidFill>
              <a:srgbClr val="D1D3D4"/>
            </a:solidFill>
          </p:spPr>
          <p:txBody>
            <a:bodyPr wrap="square" lIns="0" tIns="0" rIns="0" bIns="0" rtlCol="0"/>
            <a:lstStyle/>
            <a:p/>
          </p:txBody>
        </p:sp>
        <p:sp>
          <p:nvSpPr>
            <p:cNvPr id="48" name="object 48"/>
            <p:cNvSpPr/>
            <p:nvPr/>
          </p:nvSpPr>
          <p:spPr>
            <a:xfrm>
              <a:off x="3395472" y="5366004"/>
              <a:ext cx="421005" cy="407034"/>
            </a:xfrm>
            <a:custGeom>
              <a:avLst/>
              <a:gdLst/>
              <a:ahLst/>
              <a:cxnLst/>
              <a:rect l="l" t="t" r="r" b="b"/>
              <a:pathLst>
                <a:path w="421004" h="407035">
                  <a:moveTo>
                    <a:pt x="420624" y="406908"/>
                  </a:moveTo>
                  <a:lnTo>
                    <a:pt x="0" y="406908"/>
                  </a:lnTo>
                  <a:lnTo>
                    <a:pt x="0" y="0"/>
                  </a:lnTo>
                  <a:lnTo>
                    <a:pt x="420624" y="0"/>
                  </a:lnTo>
                  <a:lnTo>
                    <a:pt x="420624" y="406908"/>
                  </a:lnTo>
                  <a:close/>
                </a:path>
              </a:pathLst>
            </a:custGeom>
            <a:ln w="12191">
              <a:solidFill>
                <a:srgbClr val="231F1F"/>
              </a:solidFill>
            </a:ln>
          </p:spPr>
          <p:txBody>
            <a:bodyPr wrap="square" lIns="0" tIns="0" rIns="0" bIns="0" rtlCol="0"/>
            <a:lstStyle/>
            <a:p/>
          </p:txBody>
        </p:sp>
        <p:sp>
          <p:nvSpPr>
            <p:cNvPr id="49" name="object 49"/>
            <p:cNvSpPr/>
            <p:nvPr/>
          </p:nvSpPr>
          <p:spPr>
            <a:xfrm>
              <a:off x="3816095" y="5366004"/>
              <a:ext cx="422275" cy="407034"/>
            </a:xfrm>
            <a:custGeom>
              <a:avLst/>
              <a:gdLst/>
              <a:ahLst/>
              <a:cxnLst/>
              <a:rect l="l" t="t" r="r" b="b"/>
              <a:pathLst>
                <a:path w="422275" h="407035">
                  <a:moveTo>
                    <a:pt x="422147" y="406908"/>
                  </a:moveTo>
                  <a:lnTo>
                    <a:pt x="0" y="406908"/>
                  </a:lnTo>
                  <a:lnTo>
                    <a:pt x="0" y="0"/>
                  </a:lnTo>
                  <a:lnTo>
                    <a:pt x="422147" y="0"/>
                  </a:lnTo>
                  <a:lnTo>
                    <a:pt x="422147" y="406908"/>
                  </a:lnTo>
                  <a:close/>
                </a:path>
              </a:pathLst>
            </a:custGeom>
            <a:solidFill>
              <a:srgbClr val="D1D3D4"/>
            </a:solidFill>
          </p:spPr>
          <p:txBody>
            <a:bodyPr wrap="square" lIns="0" tIns="0" rIns="0" bIns="0" rtlCol="0"/>
            <a:lstStyle/>
            <a:p/>
          </p:txBody>
        </p:sp>
        <p:sp>
          <p:nvSpPr>
            <p:cNvPr id="50" name="object 50"/>
            <p:cNvSpPr/>
            <p:nvPr/>
          </p:nvSpPr>
          <p:spPr>
            <a:xfrm>
              <a:off x="3816095" y="5366004"/>
              <a:ext cx="422275" cy="407034"/>
            </a:xfrm>
            <a:custGeom>
              <a:avLst/>
              <a:gdLst/>
              <a:ahLst/>
              <a:cxnLst/>
              <a:rect l="l" t="t" r="r" b="b"/>
              <a:pathLst>
                <a:path w="422275" h="407035">
                  <a:moveTo>
                    <a:pt x="422147" y="406908"/>
                  </a:moveTo>
                  <a:lnTo>
                    <a:pt x="0" y="406908"/>
                  </a:lnTo>
                  <a:lnTo>
                    <a:pt x="0" y="0"/>
                  </a:lnTo>
                  <a:lnTo>
                    <a:pt x="422147" y="0"/>
                  </a:lnTo>
                  <a:lnTo>
                    <a:pt x="422147" y="406908"/>
                  </a:lnTo>
                  <a:close/>
                </a:path>
              </a:pathLst>
            </a:custGeom>
            <a:ln w="12191">
              <a:solidFill>
                <a:srgbClr val="231F1F"/>
              </a:solidFill>
            </a:ln>
          </p:spPr>
          <p:txBody>
            <a:bodyPr wrap="square" lIns="0" tIns="0" rIns="0" bIns="0" rtlCol="0"/>
            <a:lstStyle/>
            <a:p/>
          </p:txBody>
        </p:sp>
        <p:sp>
          <p:nvSpPr>
            <p:cNvPr id="51" name="object 51"/>
            <p:cNvSpPr/>
            <p:nvPr/>
          </p:nvSpPr>
          <p:spPr>
            <a:xfrm>
              <a:off x="4238244" y="5366004"/>
              <a:ext cx="422275" cy="407034"/>
            </a:xfrm>
            <a:custGeom>
              <a:avLst/>
              <a:gdLst/>
              <a:ahLst/>
              <a:cxnLst/>
              <a:rect l="l" t="t" r="r" b="b"/>
              <a:pathLst>
                <a:path w="422275" h="407035">
                  <a:moveTo>
                    <a:pt x="422148" y="406908"/>
                  </a:moveTo>
                  <a:lnTo>
                    <a:pt x="0" y="406908"/>
                  </a:lnTo>
                  <a:lnTo>
                    <a:pt x="0" y="0"/>
                  </a:lnTo>
                  <a:lnTo>
                    <a:pt x="422148" y="0"/>
                  </a:lnTo>
                  <a:lnTo>
                    <a:pt x="422148" y="406908"/>
                  </a:lnTo>
                  <a:close/>
                </a:path>
              </a:pathLst>
            </a:custGeom>
            <a:solidFill>
              <a:srgbClr val="D1D3D4"/>
            </a:solidFill>
          </p:spPr>
          <p:txBody>
            <a:bodyPr wrap="square" lIns="0" tIns="0" rIns="0" bIns="0" rtlCol="0"/>
            <a:lstStyle/>
            <a:p/>
          </p:txBody>
        </p:sp>
        <p:sp>
          <p:nvSpPr>
            <p:cNvPr id="52" name="object 52"/>
            <p:cNvSpPr/>
            <p:nvPr/>
          </p:nvSpPr>
          <p:spPr>
            <a:xfrm>
              <a:off x="4238244" y="5366004"/>
              <a:ext cx="422275" cy="407034"/>
            </a:xfrm>
            <a:custGeom>
              <a:avLst/>
              <a:gdLst/>
              <a:ahLst/>
              <a:cxnLst/>
              <a:rect l="l" t="t" r="r" b="b"/>
              <a:pathLst>
                <a:path w="422275" h="407035">
                  <a:moveTo>
                    <a:pt x="422148" y="406908"/>
                  </a:moveTo>
                  <a:lnTo>
                    <a:pt x="0" y="406908"/>
                  </a:lnTo>
                  <a:lnTo>
                    <a:pt x="0" y="0"/>
                  </a:lnTo>
                  <a:lnTo>
                    <a:pt x="422148" y="0"/>
                  </a:lnTo>
                  <a:lnTo>
                    <a:pt x="422148" y="406908"/>
                  </a:lnTo>
                  <a:close/>
                </a:path>
              </a:pathLst>
            </a:custGeom>
            <a:ln w="12192">
              <a:solidFill>
                <a:srgbClr val="231F1F"/>
              </a:solidFill>
            </a:ln>
          </p:spPr>
          <p:txBody>
            <a:bodyPr wrap="square" lIns="0" tIns="0" rIns="0" bIns="0" rtlCol="0"/>
            <a:lstStyle/>
            <a:p/>
          </p:txBody>
        </p:sp>
        <p:sp>
          <p:nvSpPr>
            <p:cNvPr id="53" name="object 53"/>
            <p:cNvSpPr/>
            <p:nvPr/>
          </p:nvSpPr>
          <p:spPr>
            <a:xfrm>
              <a:off x="2200655" y="5477256"/>
              <a:ext cx="170687" cy="149351"/>
            </a:xfrm>
            <a:prstGeom prst="rect">
              <a:avLst/>
            </a:prstGeom>
            <a:blipFill>
              <a:blip r:embed="rId19" cstate="print"/>
              <a:stretch>
                <a:fillRect/>
              </a:stretch>
            </a:blipFill>
          </p:spPr>
          <p:txBody>
            <a:bodyPr wrap="square" lIns="0" tIns="0" rIns="0" bIns="0" rtlCol="0"/>
            <a:lstStyle/>
            <a:p/>
          </p:txBody>
        </p:sp>
        <p:sp>
          <p:nvSpPr>
            <p:cNvPr id="54" name="object 54"/>
            <p:cNvSpPr/>
            <p:nvPr/>
          </p:nvSpPr>
          <p:spPr>
            <a:xfrm>
              <a:off x="2395727" y="5538216"/>
              <a:ext cx="92964" cy="155448"/>
            </a:xfrm>
            <a:prstGeom prst="rect">
              <a:avLst/>
            </a:prstGeom>
            <a:blipFill>
              <a:blip r:embed="rId20" cstate="print"/>
              <a:stretch>
                <a:fillRect/>
              </a:stretch>
            </a:blipFill>
          </p:spPr>
          <p:txBody>
            <a:bodyPr wrap="square" lIns="0" tIns="0" rIns="0" bIns="0" rtlCol="0"/>
            <a:lstStyle/>
            <a:p/>
          </p:txBody>
        </p:sp>
        <p:sp>
          <p:nvSpPr>
            <p:cNvPr id="55" name="object 55"/>
            <p:cNvSpPr/>
            <p:nvPr/>
          </p:nvSpPr>
          <p:spPr>
            <a:xfrm>
              <a:off x="2621280" y="5477256"/>
              <a:ext cx="170688" cy="149352"/>
            </a:xfrm>
            <a:prstGeom prst="rect">
              <a:avLst/>
            </a:prstGeom>
            <a:blipFill>
              <a:blip r:embed="rId21" cstate="print"/>
              <a:stretch>
                <a:fillRect/>
              </a:stretch>
            </a:blipFill>
          </p:spPr>
          <p:txBody>
            <a:bodyPr wrap="square" lIns="0" tIns="0" rIns="0" bIns="0" rtlCol="0"/>
            <a:lstStyle/>
            <a:p/>
          </p:txBody>
        </p:sp>
        <p:sp>
          <p:nvSpPr>
            <p:cNvPr id="56" name="object 56"/>
            <p:cNvSpPr/>
            <p:nvPr/>
          </p:nvSpPr>
          <p:spPr>
            <a:xfrm>
              <a:off x="2830067" y="5538216"/>
              <a:ext cx="48895" cy="151130"/>
            </a:xfrm>
            <a:custGeom>
              <a:avLst/>
              <a:gdLst/>
              <a:ahLst/>
              <a:cxnLst/>
              <a:rect l="l" t="t" r="r" b="b"/>
              <a:pathLst>
                <a:path w="48894" h="151129">
                  <a:moveTo>
                    <a:pt x="48768" y="150876"/>
                  </a:moveTo>
                  <a:lnTo>
                    <a:pt x="32004" y="150876"/>
                  </a:lnTo>
                  <a:lnTo>
                    <a:pt x="32004" y="44195"/>
                  </a:lnTo>
                  <a:lnTo>
                    <a:pt x="0" y="44195"/>
                  </a:lnTo>
                  <a:lnTo>
                    <a:pt x="0" y="27432"/>
                  </a:lnTo>
                  <a:lnTo>
                    <a:pt x="14501" y="25074"/>
                  </a:lnTo>
                  <a:lnTo>
                    <a:pt x="24574" y="21145"/>
                  </a:lnTo>
                  <a:lnTo>
                    <a:pt x="31503" y="13501"/>
                  </a:lnTo>
                  <a:lnTo>
                    <a:pt x="36576" y="0"/>
                  </a:lnTo>
                  <a:lnTo>
                    <a:pt x="48768" y="0"/>
                  </a:lnTo>
                  <a:lnTo>
                    <a:pt x="48768" y="150876"/>
                  </a:lnTo>
                  <a:close/>
                </a:path>
              </a:pathLst>
            </a:custGeom>
            <a:solidFill>
              <a:srgbClr val="231F1F"/>
            </a:solidFill>
          </p:spPr>
          <p:txBody>
            <a:bodyPr wrap="square" lIns="0" tIns="0" rIns="0" bIns="0" rtlCol="0"/>
            <a:lstStyle/>
            <a:p/>
          </p:txBody>
        </p:sp>
        <p:sp>
          <p:nvSpPr>
            <p:cNvPr id="57" name="object 57"/>
            <p:cNvSpPr/>
            <p:nvPr/>
          </p:nvSpPr>
          <p:spPr>
            <a:xfrm>
              <a:off x="3043427" y="5477256"/>
              <a:ext cx="172212" cy="149352"/>
            </a:xfrm>
            <a:prstGeom prst="rect">
              <a:avLst/>
            </a:prstGeom>
            <a:blipFill>
              <a:blip r:embed="rId22" cstate="print"/>
              <a:stretch>
                <a:fillRect/>
              </a:stretch>
            </a:blipFill>
          </p:spPr>
          <p:txBody>
            <a:bodyPr wrap="square" lIns="0" tIns="0" rIns="0" bIns="0" rtlCol="0"/>
            <a:lstStyle/>
            <a:p/>
          </p:txBody>
        </p:sp>
        <p:sp>
          <p:nvSpPr>
            <p:cNvPr id="58" name="object 58"/>
            <p:cNvSpPr/>
            <p:nvPr/>
          </p:nvSpPr>
          <p:spPr>
            <a:xfrm>
              <a:off x="3236975" y="5538216"/>
              <a:ext cx="92963" cy="150875"/>
            </a:xfrm>
            <a:prstGeom prst="rect">
              <a:avLst/>
            </a:prstGeom>
            <a:blipFill>
              <a:blip r:embed="rId23" cstate="print"/>
              <a:stretch>
                <a:fillRect/>
              </a:stretch>
            </a:blipFill>
          </p:spPr>
          <p:txBody>
            <a:bodyPr wrap="square" lIns="0" tIns="0" rIns="0" bIns="0" rtlCol="0"/>
            <a:lstStyle/>
            <a:p/>
          </p:txBody>
        </p:sp>
        <p:sp>
          <p:nvSpPr>
            <p:cNvPr id="59" name="object 59"/>
            <p:cNvSpPr/>
            <p:nvPr/>
          </p:nvSpPr>
          <p:spPr>
            <a:xfrm>
              <a:off x="3945636" y="5605272"/>
              <a:ext cx="163195" cy="30480"/>
            </a:xfrm>
            <a:custGeom>
              <a:avLst/>
              <a:gdLst/>
              <a:ahLst/>
              <a:cxnLst/>
              <a:rect l="l" t="t" r="r" b="b"/>
              <a:pathLst>
                <a:path w="163195" h="30479">
                  <a:moveTo>
                    <a:pt x="25908" y="0"/>
                  </a:moveTo>
                  <a:lnTo>
                    <a:pt x="0" y="0"/>
                  </a:lnTo>
                  <a:lnTo>
                    <a:pt x="0" y="30480"/>
                  </a:lnTo>
                  <a:lnTo>
                    <a:pt x="25908" y="30480"/>
                  </a:lnTo>
                  <a:lnTo>
                    <a:pt x="25908" y="0"/>
                  </a:lnTo>
                  <a:close/>
                </a:path>
                <a:path w="163195" h="30479">
                  <a:moveTo>
                    <a:pt x="92964" y="0"/>
                  </a:moveTo>
                  <a:lnTo>
                    <a:pt x="68580" y="0"/>
                  </a:lnTo>
                  <a:lnTo>
                    <a:pt x="68580" y="30480"/>
                  </a:lnTo>
                  <a:lnTo>
                    <a:pt x="92964" y="30480"/>
                  </a:lnTo>
                  <a:lnTo>
                    <a:pt x="92964" y="0"/>
                  </a:lnTo>
                  <a:close/>
                </a:path>
                <a:path w="163195" h="30479">
                  <a:moveTo>
                    <a:pt x="163068" y="0"/>
                  </a:moveTo>
                  <a:lnTo>
                    <a:pt x="135636" y="0"/>
                  </a:lnTo>
                  <a:lnTo>
                    <a:pt x="135636" y="30480"/>
                  </a:lnTo>
                  <a:lnTo>
                    <a:pt x="163068" y="30480"/>
                  </a:lnTo>
                  <a:lnTo>
                    <a:pt x="163068" y="0"/>
                  </a:lnTo>
                  <a:close/>
                </a:path>
              </a:pathLst>
            </a:custGeom>
            <a:solidFill>
              <a:srgbClr val="231F1F"/>
            </a:solidFill>
          </p:spPr>
          <p:txBody>
            <a:bodyPr wrap="square" lIns="0" tIns="0" rIns="0" bIns="0" rtlCol="0"/>
            <a:lstStyle/>
            <a:p/>
          </p:txBody>
        </p:sp>
        <p:sp>
          <p:nvSpPr>
            <p:cNvPr id="60" name="object 60"/>
            <p:cNvSpPr/>
            <p:nvPr/>
          </p:nvSpPr>
          <p:spPr>
            <a:xfrm>
              <a:off x="3465576" y="5477256"/>
              <a:ext cx="172212" cy="149352"/>
            </a:xfrm>
            <a:prstGeom prst="rect">
              <a:avLst/>
            </a:prstGeom>
            <a:blipFill>
              <a:blip r:embed="rId24" cstate="print"/>
              <a:stretch>
                <a:fillRect/>
              </a:stretch>
            </a:blipFill>
          </p:spPr>
          <p:txBody>
            <a:bodyPr wrap="square" lIns="0" tIns="0" rIns="0" bIns="0" rtlCol="0"/>
            <a:lstStyle/>
            <a:p/>
          </p:txBody>
        </p:sp>
        <p:sp>
          <p:nvSpPr>
            <p:cNvPr id="61" name="object 61"/>
            <p:cNvSpPr/>
            <p:nvPr/>
          </p:nvSpPr>
          <p:spPr>
            <a:xfrm>
              <a:off x="3660648" y="5538216"/>
              <a:ext cx="94488" cy="155448"/>
            </a:xfrm>
            <a:prstGeom prst="rect">
              <a:avLst/>
            </a:prstGeom>
            <a:blipFill>
              <a:blip r:embed="rId25" cstate="print"/>
              <a:stretch>
                <a:fillRect/>
              </a:stretch>
            </a:blipFill>
          </p:spPr>
          <p:txBody>
            <a:bodyPr wrap="square" lIns="0" tIns="0" rIns="0" bIns="0" rtlCol="0"/>
            <a:lstStyle/>
            <a:p/>
          </p:txBody>
        </p:sp>
        <p:sp>
          <p:nvSpPr>
            <p:cNvPr id="62" name="object 62"/>
            <p:cNvSpPr/>
            <p:nvPr/>
          </p:nvSpPr>
          <p:spPr>
            <a:xfrm>
              <a:off x="4308348" y="5477256"/>
              <a:ext cx="172212" cy="149352"/>
            </a:xfrm>
            <a:prstGeom prst="rect">
              <a:avLst/>
            </a:prstGeom>
            <a:blipFill>
              <a:blip r:embed="rId26" cstate="print"/>
              <a:stretch>
                <a:fillRect/>
              </a:stretch>
            </a:blipFill>
          </p:spPr>
          <p:txBody>
            <a:bodyPr wrap="square" lIns="0" tIns="0" rIns="0" bIns="0" rtlCol="0"/>
            <a:lstStyle/>
            <a:p/>
          </p:txBody>
        </p:sp>
        <p:sp>
          <p:nvSpPr>
            <p:cNvPr id="63" name="object 63"/>
            <p:cNvSpPr/>
            <p:nvPr/>
          </p:nvSpPr>
          <p:spPr>
            <a:xfrm>
              <a:off x="4509516" y="5571744"/>
              <a:ext cx="82296" cy="117348"/>
            </a:xfrm>
            <a:prstGeom prst="rect">
              <a:avLst/>
            </a:prstGeom>
            <a:blipFill>
              <a:blip r:embed="rId27" cstate="print"/>
              <a:stretch>
                <a:fillRect/>
              </a:stretch>
            </a:blipFill>
          </p:spPr>
          <p:txBody>
            <a:bodyPr wrap="square" lIns="0" tIns="0" rIns="0" bIns="0" rtlCol="0"/>
            <a:lstStyle/>
            <a:p/>
          </p:txBody>
        </p:sp>
      </p:grpSp>
      <p:grpSp>
        <p:nvGrpSpPr>
          <p:cNvPr id="64" name="object 64"/>
          <p:cNvGrpSpPr/>
          <p:nvPr/>
        </p:nvGrpSpPr>
        <p:grpSpPr>
          <a:xfrm>
            <a:off x="5303520" y="2007107"/>
            <a:ext cx="3194685" cy="4334510"/>
            <a:chOff x="5303520" y="2007107"/>
            <a:chExt cx="3194685" cy="4334510"/>
          </a:xfrm>
        </p:grpSpPr>
        <p:sp>
          <p:nvSpPr>
            <p:cNvPr id="65" name="object 65"/>
            <p:cNvSpPr/>
            <p:nvPr/>
          </p:nvSpPr>
          <p:spPr>
            <a:xfrm>
              <a:off x="5646420" y="2013203"/>
              <a:ext cx="2531745" cy="702945"/>
            </a:xfrm>
            <a:custGeom>
              <a:avLst/>
              <a:gdLst/>
              <a:ahLst/>
              <a:cxnLst/>
              <a:rect l="l" t="t" r="r" b="b"/>
              <a:pathLst>
                <a:path w="2531745" h="702944">
                  <a:moveTo>
                    <a:pt x="0" y="0"/>
                  </a:moveTo>
                  <a:lnTo>
                    <a:pt x="0" y="702564"/>
                  </a:lnTo>
                  <a:lnTo>
                    <a:pt x="2531363" y="702564"/>
                  </a:lnTo>
                  <a:lnTo>
                    <a:pt x="2531363" y="0"/>
                  </a:lnTo>
                  <a:lnTo>
                    <a:pt x="0" y="0"/>
                  </a:lnTo>
                  <a:close/>
                </a:path>
              </a:pathLst>
            </a:custGeom>
            <a:solidFill>
              <a:srgbClr val="C6E9FB"/>
            </a:solidFill>
          </p:spPr>
          <p:txBody>
            <a:bodyPr wrap="square" lIns="0" tIns="0" rIns="0" bIns="0" rtlCol="0"/>
            <a:lstStyle/>
            <a:p/>
          </p:txBody>
        </p:sp>
        <p:sp>
          <p:nvSpPr>
            <p:cNvPr id="66" name="object 66"/>
            <p:cNvSpPr/>
            <p:nvPr/>
          </p:nvSpPr>
          <p:spPr>
            <a:xfrm>
              <a:off x="5646420" y="2013203"/>
              <a:ext cx="2531745" cy="702945"/>
            </a:xfrm>
            <a:custGeom>
              <a:avLst/>
              <a:gdLst/>
              <a:ahLst/>
              <a:cxnLst/>
              <a:rect l="l" t="t" r="r" b="b"/>
              <a:pathLst>
                <a:path w="2531745" h="702944">
                  <a:moveTo>
                    <a:pt x="2531364" y="702564"/>
                  </a:moveTo>
                  <a:lnTo>
                    <a:pt x="0" y="702564"/>
                  </a:lnTo>
                  <a:lnTo>
                    <a:pt x="0" y="0"/>
                  </a:lnTo>
                </a:path>
                <a:path w="2531745" h="702944">
                  <a:moveTo>
                    <a:pt x="2531364" y="0"/>
                  </a:moveTo>
                  <a:lnTo>
                    <a:pt x="2531364" y="702564"/>
                  </a:lnTo>
                </a:path>
              </a:pathLst>
            </a:custGeom>
            <a:ln w="12192">
              <a:solidFill>
                <a:srgbClr val="231F1F"/>
              </a:solidFill>
            </a:ln>
          </p:spPr>
          <p:txBody>
            <a:bodyPr wrap="square" lIns="0" tIns="0" rIns="0" bIns="0" rtlCol="0"/>
            <a:lstStyle/>
            <a:p/>
          </p:txBody>
        </p:sp>
        <p:sp>
          <p:nvSpPr>
            <p:cNvPr id="67" name="object 67"/>
            <p:cNvSpPr/>
            <p:nvPr/>
          </p:nvSpPr>
          <p:spPr>
            <a:xfrm>
              <a:off x="5646420" y="3086100"/>
              <a:ext cx="2531745" cy="711835"/>
            </a:xfrm>
            <a:custGeom>
              <a:avLst/>
              <a:gdLst/>
              <a:ahLst/>
              <a:cxnLst/>
              <a:rect l="l" t="t" r="r" b="b"/>
              <a:pathLst>
                <a:path w="2531745" h="711835">
                  <a:moveTo>
                    <a:pt x="2531364" y="711708"/>
                  </a:moveTo>
                  <a:lnTo>
                    <a:pt x="0" y="711708"/>
                  </a:lnTo>
                  <a:lnTo>
                    <a:pt x="0" y="0"/>
                  </a:lnTo>
                  <a:lnTo>
                    <a:pt x="2531364" y="0"/>
                  </a:lnTo>
                  <a:lnTo>
                    <a:pt x="2531364" y="711708"/>
                  </a:lnTo>
                  <a:close/>
                </a:path>
              </a:pathLst>
            </a:custGeom>
            <a:solidFill>
              <a:srgbClr val="C6E9FB"/>
            </a:solidFill>
          </p:spPr>
          <p:txBody>
            <a:bodyPr wrap="square" lIns="0" tIns="0" rIns="0" bIns="0" rtlCol="0"/>
            <a:lstStyle/>
            <a:p/>
          </p:txBody>
        </p:sp>
        <p:sp>
          <p:nvSpPr>
            <p:cNvPr id="68" name="object 68"/>
            <p:cNvSpPr/>
            <p:nvPr/>
          </p:nvSpPr>
          <p:spPr>
            <a:xfrm>
              <a:off x="5646420" y="3086100"/>
              <a:ext cx="2531745" cy="711835"/>
            </a:xfrm>
            <a:custGeom>
              <a:avLst/>
              <a:gdLst/>
              <a:ahLst/>
              <a:cxnLst/>
              <a:rect l="l" t="t" r="r" b="b"/>
              <a:pathLst>
                <a:path w="2531745" h="711835">
                  <a:moveTo>
                    <a:pt x="2531364" y="711708"/>
                  </a:moveTo>
                  <a:lnTo>
                    <a:pt x="0" y="711708"/>
                  </a:lnTo>
                  <a:lnTo>
                    <a:pt x="0" y="0"/>
                  </a:lnTo>
                  <a:lnTo>
                    <a:pt x="2531364" y="0"/>
                  </a:lnTo>
                  <a:lnTo>
                    <a:pt x="2531364" y="711708"/>
                  </a:lnTo>
                  <a:close/>
                </a:path>
              </a:pathLst>
            </a:custGeom>
            <a:ln w="12192">
              <a:solidFill>
                <a:srgbClr val="231F1F"/>
              </a:solidFill>
            </a:ln>
          </p:spPr>
          <p:txBody>
            <a:bodyPr wrap="square" lIns="0" tIns="0" rIns="0" bIns="0" rtlCol="0"/>
            <a:lstStyle/>
            <a:p/>
          </p:txBody>
        </p:sp>
        <p:sp>
          <p:nvSpPr>
            <p:cNvPr id="69" name="object 69"/>
            <p:cNvSpPr/>
            <p:nvPr/>
          </p:nvSpPr>
          <p:spPr>
            <a:xfrm>
              <a:off x="5646420" y="5394960"/>
              <a:ext cx="2531745" cy="940435"/>
            </a:xfrm>
            <a:custGeom>
              <a:avLst/>
              <a:gdLst/>
              <a:ahLst/>
              <a:cxnLst/>
              <a:rect l="l" t="t" r="r" b="b"/>
              <a:pathLst>
                <a:path w="2531745" h="940435">
                  <a:moveTo>
                    <a:pt x="2531364" y="940308"/>
                  </a:moveTo>
                  <a:lnTo>
                    <a:pt x="0" y="940308"/>
                  </a:lnTo>
                  <a:lnTo>
                    <a:pt x="0" y="0"/>
                  </a:lnTo>
                  <a:lnTo>
                    <a:pt x="2531364" y="0"/>
                  </a:lnTo>
                  <a:lnTo>
                    <a:pt x="2531364" y="940308"/>
                  </a:lnTo>
                  <a:close/>
                </a:path>
              </a:pathLst>
            </a:custGeom>
            <a:solidFill>
              <a:srgbClr val="D1D3D4"/>
            </a:solidFill>
          </p:spPr>
          <p:txBody>
            <a:bodyPr wrap="square" lIns="0" tIns="0" rIns="0" bIns="0" rtlCol="0"/>
            <a:lstStyle/>
            <a:p/>
          </p:txBody>
        </p:sp>
        <p:sp>
          <p:nvSpPr>
            <p:cNvPr id="70" name="object 70"/>
            <p:cNvSpPr/>
            <p:nvPr/>
          </p:nvSpPr>
          <p:spPr>
            <a:xfrm>
              <a:off x="5646420" y="5394960"/>
              <a:ext cx="2531745" cy="940435"/>
            </a:xfrm>
            <a:custGeom>
              <a:avLst/>
              <a:gdLst/>
              <a:ahLst/>
              <a:cxnLst/>
              <a:rect l="l" t="t" r="r" b="b"/>
              <a:pathLst>
                <a:path w="2531745" h="940435">
                  <a:moveTo>
                    <a:pt x="2531364" y="940308"/>
                  </a:moveTo>
                  <a:lnTo>
                    <a:pt x="0" y="940308"/>
                  </a:lnTo>
                  <a:lnTo>
                    <a:pt x="0" y="0"/>
                  </a:lnTo>
                  <a:lnTo>
                    <a:pt x="2531364" y="0"/>
                  </a:lnTo>
                  <a:lnTo>
                    <a:pt x="2531364" y="940308"/>
                  </a:lnTo>
                  <a:close/>
                </a:path>
              </a:pathLst>
            </a:custGeom>
            <a:ln w="12192">
              <a:solidFill>
                <a:srgbClr val="231F1F"/>
              </a:solidFill>
            </a:ln>
          </p:spPr>
          <p:txBody>
            <a:bodyPr wrap="square" lIns="0" tIns="0" rIns="0" bIns="0" rtlCol="0"/>
            <a:lstStyle/>
            <a:p/>
          </p:txBody>
        </p:sp>
        <p:sp>
          <p:nvSpPr>
            <p:cNvPr id="71" name="object 71"/>
            <p:cNvSpPr/>
            <p:nvPr/>
          </p:nvSpPr>
          <p:spPr>
            <a:xfrm>
              <a:off x="5646420" y="2013203"/>
              <a:ext cx="2531745" cy="4322445"/>
            </a:xfrm>
            <a:custGeom>
              <a:avLst/>
              <a:gdLst/>
              <a:ahLst/>
              <a:cxnLst/>
              <a:rect l="l" t="t" r="r" b="b"/>
              <a:pathLst>
                <a:path w="2531745" h="4322445">
                  <a:moveTo>
                    <a:pt x="2531364" y="4322064"/>
                  </a:moveTo>
                  <a:lnTo>
                    <a:pt x="0" y="4322064"/>
                  </a:lnTo>
                  <a:lnTo>
                    <a:pt x="0" y="0"/>
                  </a:lnTo>
                </a:path>
                <a:path w="2531745" h="4322445">
                  <a:moveTo>
                    <a:pt x="2531364" y="0"/>
                  </a:moveTo>
                  <a:lnTo>
                    <a:pt x="2531364" y="4322064"/>
                  </a:lnTo>
                </a:path>
              </a:pathLst>
            </a:custGeom>
            <a:ln w="12192">
              <a:solidFill>
                <a:srgbClr val="231F1F"/>
              </a:solidFill>
            </a:ln>
          </p:spPr>
          <p:txBody>
            <a:bodyPr wrap="square" lIns="0" tIns="0" rIns="0" bIns="0" rtlCol="0"/>
            <a:lstStyle/>
            <a:p/>
          </p:txBody>
        </p:sp>
        <p:sp>
          <p:nvSpPr>
            <p:cNvPr id="72" name="object 72"/>
            <p:cNvSpPr/>
            <p:nvPr/>
          </p:nvSpPr>
          <p:spPr>
            <a:xfrm>
              <a:off x="8177784" y="2901696"/>
              <a:ext cx="320040" cy="539750"/>
            </a:xfrm>
            <a:custGeom>
              <a:avLst/>
              <a:gdLst/>
              <a:ahLst/>
              <a:cxnLst/>
              <a:rect l="l" t="t" r="r" b="b"/>
              <a:pathLst>
                <a:path w="320040" h="539750">
                  <a:moveTo>
                    <a:pt x="320040" y="539495"/>
                  </a:moveTo>
                  <a:lnTo>
                    <a:pt x="0" y="539495"/>
                  </a:lnTo>
                </a:path>
                <a:path w="320040" h="539750">
                  <a:moveTo>
                    <a:pt x="83820" y="0"/>
                  </a:moveTo>
                  <a:lnTo>
                    <a:pt x="320040" y="0"/>
                  </a:lnTo>
                </a:path>
              </a:pathLst>
            </a:custGeom>
            <a:ln w="27432">
              <a:solidFill>
                <a:srgbClr val="231F1F"/>
              </a:solidFill>
            </a:ln>
          </p:spPr>
          <p:txBody>
            <a:bodyPr wrap="square" lIns="0" tIns="0" rIns="0" bIns="0" rtlCol="0"/>
            <a:lstStyle/>
            <a:p/>
          </p:txBody>
        </p:sp>
        <p:sp>
          <p:nvSpPr>
            <p:cNvPr id="73" name="object 73"/>
            <p:cNvSpPr/>
            <p:nvPr/>
          </p:nvSpPr>
          <p:spPr>
            <a:xfrm>
              <a:off x="8177784" y="2840736"/>
              <a:ext cx="123825" cy="119380"/>
            </a:xfrm>
            <a:custGeom>
              <a:avLst/>
              <a:gdLst/>
              <a:ahLst/>
              <a:cxnLst/>
              <a:rect l="l" t="t" r="r" b="b"/>
              <a:pathLst>
                <a:path w="123825" h="119380">
                  <a:moveTo>
                    <a:pt x="123444" y="118872"/>
                  </a:moveTo>
                  <a:lnTo>
                    <a:pt x="0" y="60959"/>
                  </a:lnTo>
                  <a:lnTo>
                    <a:pt x="123444" y="0"/>
                  </a:lnTo>
                  <a:lnTo>
                    <a:pt x="100584" y="60959"/>
                  </a:lnTo>
                  <a:lnTo>
                    <a:pt x="123444" y="118872"/>
                  </a:lnTo>
                  <a:close/>
                </a:path>
              </a:pathLst>
            </a:custGeom>
            <a:solidFill>
              <a:srgbClr val="231F1F"/>
            </a:solidFill>
          </p:spPr>
          <p:txBody>
            <a:bodyPr wrap="square" lIns="0" tIns="0" rIns="0" bIns="0" rtlCol="0"/>
            <a:lstStyle/>
            <a:p/>
          </p:txBody>
        </p:sp>
        <p:sp>
          <p:nvSpPr>
            <p:cNvPr id="74" name="object 74"/>
            <p:cNvSpPr/>
            <p:nvPr/>
          </p:nvSpPr>
          <p:spPr>
            <a:xfrm>
              <a:off x="5317236" y="2359152"/>
              <a:ext cx="329565" cy="542925"/>
            </a:xfrm>
            <a:custGeom>
              <a:avLst/>
              <a:gdLst/>
              <a:ahLst/>
              <a:cxnLst/>
              <a:rect l="l" t="t" r="r" b="b"/>
              <a:pathLst>
                <a:path w="329564" h="542925">
                  <a:moveTo>
                    <a:pt x="245363" y="542544"/>
                  </a:moveTo>
                  <a:lnTo>
                    <a:pt x="0" y="542544"/>
                  </a:lnTo>
                  <a:lnTo>
                    <a:pt x="0" y="0"/>
                  </a:lnTo>
                  <a:lnTo>
                    <a:pt x="329183" y="0"/>
                  </a:lnTo>
                </a:path>
              </a:pathLst>
            </a:custGeom>
            <a:ln w="27432">
              <a:solidFill>
                <a:srgbClr val="231F1F"/>
              </a:solidFill>
            </a:ln>
          </p:spPr>
          <p:txBody>
            <a:bodyPr wrap="square" lIns="0" tIns="0" rIns="0" bIns="0" rtlCol="0"/>
            <a:lstStyle/>
            <a:p/>
          </p:txBody>
        </p:sp>
        <p:sp>
          <p:nvSpPr>
            <p:cNvPr id="75" name="object 75"/>
            <p:cNvSpPr/>
            <p:nvPr/>
          </p:nvSpPr>
          <p:spPr>
            <a:xfrm>
              <a:off x="5521452" y="2840736"/>
              <a:ext cx="125095" cy="119380"/>
            </a:xfrm>
            <a:custGeom>
              <a:avLst/>
              <a:gdLst/>
              <a:ahLst/>
              <a:cxnLst/>
              <a:rect l="l" t="t" r="r" b="b"/>
              <a:pathLst>
                <a:path w="125095" h="119380">
                  <a:moveTo>
                    <a:pt x="0" y="118872"/>
                  </a:moveTo>
                  <a:lnTo>
                    <a:pt x="22860" y="60959"/>
                  </a:lnTo>
                  <a:lnTo>
                    <a:pt x="0" y="0"/>
                  </a:lnTo>
                  <a:lnTo>
                    <a:pt x="124967" y="60959"/>
                  </a:lnTo>
                  <a:lnTo>
                    <a:pt x="0" y="118872"/>
                  </a:lnTo>
                  <a:close/>
                </a:path>
              </a:pathLst>
            </a:custGeom>
            <a:solidFill>
              <a:srgbClr val="231F1F"/>
            </a:solidFill>
          </p:spPr>
          <p:txBody>
            <a:bodyPr wrap="square" lIns="0" tIns="0" rIns="0" bIns="0" rtlCol="0"/>
            <a:lstStyle/>
            <a:p/>
          </p:txBody>
        </p:sp>
        <p:sp>
          <p:nvSpPr>
            <p:cNvPr id="76" name="object 76"/>
            <p:cNvSpPr/>
            <p:nvPr/>
          </p:nvSpPr>
          <p:spPr>
            <a:xfrm>
              <a:off x="6376416" y="2299716"/>
              <a:ext cx="112776" cy="204216"/>
            </a:xfrm>
            <a:prstGeom prst="rect">
              <a:avLst/>
            </a:prstGeom>
            <a:blipFill>
              <a:blip r:embed="rId28" cstate="print"/>
              <a:stretch>
                <a:fillRect/>
              </a:stretch>
            </a:blipFill>
          </p:spPr>
          <p:txBody>
            <a:bodyPr wrap="square" lIns="0" tIns="0" rIns="0" bIns="0" rtlCol="0"/>
            <a:lstStyle/>
            <a:p/>
          </p:txBody>
        </p:sp>
        <p:sp>
          <p:nvSpPr>
            <p:cNvPr id="77" name="object 77"/>
            <p:cNvSpPr/>
            <p:nvPr/>
          </p:nvSpPr>
          <p:spPr>
            <a:xfrm>
              <a:off x="6518135" y="2299715"/>
              <a:ext cx="699770" cy="153035"/>
            </a:xfrm>
            <a:custGeom>
              <a:avLst/>
              <a:gdLst/>
              <a:ahLst/>
              <a:cxnLst/>
              <a:rect l="l" t="t" r="r" b="b"/>
              <a:pathLst>
                <a:path w="699770" h="153035">
                  <a:moveTo>
                    <a:pt x="64008" y="0"/>
                  </a:moveTo>
                  <a:lnTo>
                    <a:pt x="57912" y="0"/>
                  </a:lnTo>
                  <a:lnTo>
                    <a:pt x="46443" y="1930"/>
                  </a:lnTo>
                  <a:lnTo>
                    <a:pt x="36957" y="7429"/>
                  </a:lnTo>
                  <a:lnTo>
                    <a:pt x="29197" y="16078"/>
                  </a:lnTo>
                  <a:lnTo>
                    <a:pt x="22860" y="27432"/>
                  </a:lnTo>
                  <a:lnTo>
                    <a:pt x="21336" y="27432"/>
                  </a:lnTo>
                  <a:lnTo>
                    <a:pt x="21336" y="4572"/>
                  </a:lnTo>
                  <a:lnTo>
                    <a:pt x="0" y="4572"/>
                  </a:lnTo>
                  <a:lnTo>
                    <a:pt x="0" y="147828"/>
                  </a:lnTo>
                  <a:lnTo>
                    <a:pt x="22860" y="147828"/>
                  </a:lnTo>
                  <a:lnTo>
                    <a:pt x="22860" y="64008"/>
                  </a:lnTo>
                  <a:lnTo>
                    <a:pt x="25107" y="49707"/>
                  </a:lnTo>
                  <a:lnTo>
                    <a:pt x="31623" y="37528"/>
                  </a:lnTo>
                  <a:lnTo>
                    <a:pt x="42151" y="29083"/>
                  </a:lnTo>
                  <a:lnTo>
                    <a:pt x="56388" y="25908"/>
                  </a:lnTo>
                  <a:lnTo>
                    <a:pt x="64008" y="25908"/>
                  </a:lnTo>
                  <a:lnTo>
                    <a:pt x="64008" y="0"/>
                  </a:lnTo>
                  <a:close/>
                </a:path>
                <a:path w="699770" h="153035">
                  <a:moveTo>
                    <a:pt x="192036" y="76200"/>
                  </a:moveTo>
                  <a:lnTo>
                    <a:pt x="188531" y="48869"/>
                  </a:lnTo>
                  <a:lnTo>
                    <a:pt x="177749" y="24384"/>
                  </a:lnTo>
                  <a:lnTo>
                    <a:pt x="172948" y="19812"/>
                  </a:lnTo>
                  <a:lnTo>
                    <a:pt x="169176" y="16230"/>
                  </a:lnTo>
                  <a:lnTo>
                    <a:pt x="169176" y="76200"/>
                  </a:lnTo>
                  <a:lnTo>
                    <a:pt x="167741" y="92252"/>
                  </a:lnTo>
                  <a:lnTo>
                    <a:pt x="162318" y="109740"/>
                  </a:lnTo>
                  <a:lnTo>
                    <a:pt x="151168" y="123786"/>
                  </a:lnTo>
                  <a:lnTo>
                    <a:pt x="132600" y="129552"/>
                  </a:lnTo>
                  <a:lnTo>
                    <a:pt x="113144" y="123786"/>
                  </a:lnTo>
                  <a:lnTo>
                    <a:pt x="101549" y="109740"/>
                  </a:lnTo>
                  <a:lnTo>
                    <a:pt x="95948" y="92252"/>
                  </a:lnTo>
                  <a:lnTo>
                    <a:pt x="94500" y="76200"/>
                  </a:lnTo>
                  <a:lnTo>
                    <a:pt x="95948" y="58394"/>
                  </a:lnTo>
                  <a:lnTo>
                    <a:pt x="101549" y="40005"/>
                  </a:lnTo>
                  <a:lnTo>
                    <a:pt x="113144" y="25628"/>
                  </a:lnTo>
                  <a:lnTo>
                    <a:pt x="132600" y="19812"/>
                  </a:lnTo>
                  <a:lnTo>
                    <a:pt x="151168" y="25628"/>
                  </a:lnTo>
                  <a:lnTo>
                    <a:pt x="162318" y="40005"/>
                  </a:lnTo>
                  <a:lnTo>
                    <a:pt x="167741" y="58394"/>
                  </a:lnTo>
                  <a:lnTo>
                    <a:pt x="169176" y="76200"/>
                  </a:lnTo>
                  <a:lnTo>
                    <a:pt x="169176" y="16230"/>
                  </a:lnTo>
                  <a:lnTo>
                    <a:pt x="159245" y="6769"/>
                  </a:lnTo>
                  <a:lnTo>
                    <a:pt x="132600" y="0"/>
                  </a:lnTo>
                  <a:lnTo>
                    <a:pt x="105714" y="6769"/>
                  </a:lnTo>
                  <a:lnTo>
                    <a:pt x="86690" y="24384"/>
                  </a:lnTo>
                  <a:lnTo>
                    <a:pt x="75374" y="48869"/>
                  </a:lnTo>
                  <a:lnTo>
                    <a:pt x="71640" y="76200"/>
                  </a:lnTo>
                  <a:lnTo>
                    <a:pt x="75374" y="103949"/>
                  </a:lnTo>
                  <a:lnTo>
                    <a:pt x="86690" y="127838"/>
                  </a:lnTo>
                  <a:lnTo>
                    <a:pt x="105714" y="144576"/>
                  </a:lnTo>
                  <a:lnTo>
                    <a:pt x="132600" y="150888"/>
                  </a:lnTo>
                  <a:lnTo>
                    <a:pt x="159245" y="144576"/>
                  </a:lnTo>
                  <a:lnTo>
                    <a:pt x="175844" y="129552"/>
                  </a:lnTo>
                  <a:lnTo>
                    <a:pt x="177749" y="127838"/>
                  </a:lnTo>
                  <a:lnTo>
                    <a:pt x="188531" y="103949"/>
                  </a:lnTo>
                  <a:lnTo>
                    <a:pt x="192036" y="76200"/>
                  </a:lnTo>
                  <a:close/>
                </a:path>
                <a:path w="699770" h="153035">
                  <a:moveTo>
                    <a:pt x="318516" y="50292"/>
                  </a:moveTo>
                  <a:lnTo>
                    <a:pt x="315188" y="32791"/>
                  </a:lnTo>
                  <a:lnTo>
                    <a:pt x="306705" y="16573"/>
                  </a:lnTo>
                  <a:lnTo>
                    <a:pt x="291947" y="4648"/>
                  </a:lnTo>
                  <a:lnTo>
                    <a:pt x="269748" y="0"/>
                  </a:lnTo>
                  <a:lnTo>
                    <a:pt x="242633" y="6172"/>
                  </a:lnTo>
                  <a:lnTo>
                    <a:pt x="223075" y="23050"/>
                  </a:lnTo>
                  <a:lnTo>
                    <a:pt x="211251" y="48221"/>
                  </a:lnTo>
                  <a:lnTo>
                    <a:pt x="207264" y="79248"/>
                  </a:lnTo>
                  <a:lnTo>
                    <a:pt x="211391" y="108038"/>
                  </a:lnTo>
                  <a:lnTo>
                    <a:pt x="223075" y="131254"/>
                  </a:lnTo>
                  <a:lnTo>
                    <a:pt x="241350" y="146761"/>
                  </a:lnTo>
                  <a:lnTo>
                    <a:pt x="265176" y="152400"/>
                  </a:lnTo>
                  <a:lnTo>
                    <a:pt x="290017" y="147053"/>
                  </a:lnTo>
                  <a:lnTo>
                    <a:pt x="306133" y="133540"/>
                  </a:lnTo>
                  <a:lnTo>
                    <a:pt x="315112" y="115760"/>
                  </a:lnTo>
                  <a:lnTo>
                    <a:pt x="318516" y="97536"/>
                  </a:lnTo>
                  <a:lnTo>
                    <a:pt x="298704" y="97536"/>
                  </a:lnTo>
                  <a:lnTo>
                    <a:pt x="293941" y="111544"/>
                  </a:lnTo>
                  <a:lnTo>
                    <a:pt x="286893" y="121539"/>
                  </a:lnTo>
                  <a:lnTo>
                    <a:pt x="278130" y="127546"/>
                  </a:lnTo>
                  <a:lnTo>
                    <a:pt x="268224" y="129540"/>
                  </a:lnTo>
                  <a:lnTo>
                    <a:pt x="249250" y="124421"/>
                  </a:lnTo>
                  <a:lnTo>
                    <a:pt x="238696" y="111442"/>
                  </a:lnTo>
                  <a:lnTo>
                    <a:pt x="234149" y="94183"/>
                  </a:lnTo>
                  <a:lnTo>
                    <a:pt x="233172" y="76200"/>
                  </a:lnTo>
                  <a:lnTo>
                    <a:pt x="234797" y="56464"/>
                  </a:lnTo>
                  <a:lnTo>
                    <a:pt x="240411" y="38290"/>
                  </a:lnTo>
                  <a:lnTo>
                    <a:pt x="251180" y="24980"/>
                  </a:lnTo>
                  <a:lnTo>
                    <a:pt x="268224" y="19812"/>
                  </a:lnTo>
                  <a:lnTo>
                    <a:pt x="280060" y="22009"/>
                  </a:lnTo>
                  <a:lnTo>
                    <a:pt x="288607" y="28194"/>
                  </a:lnTo>
                  <a:lnTo>
                    <a:pt x="294589" y="37820"/>
                  </a:lnTo>
                  <a:lnTo>
                    <a:pt x="298704" y="50292"/>
                  </a:lnTo>
                  <a:lnTo>
                    <a:pt x="318516" y="50292"/>
                  </a:lnTo>
                  <a:close/>
                </a:path>
                <a:path w="699770" h="153035">
                  <a:moveTo>
                    <a:pt x="451116" y="83820"/>
                  </a:moveTo>
                  <a:lnTo>
                    <a:pt x="449186" y="64008"/>
                  </a:lnTo>
                  <a:lnTo>
                    <a:pt x="447700" y="48869"/>
                  </a:lnTo>
                  <a:lnTo>
                    <a:pt x="437591" y="22479"/>
                  </a:lnTo>
                  <a:lnTo>
                    <a:pt x="434911" y="19812"/>
                  </a:lnTo>
                  <a:lnTo>
                    <a:pt x="428256" y="13169"/>
                  </a:lnTo>
                  <a:lnTo>
                    <a:pt x="428256" y="64008"/>
                  </a:lnTo>
                  <a:lnTo>
                    <a:pt x="358140" y="64008"/>
                  </a:lnTo>
                  <a:lnTo>
                    <a:pt x="378714" y="23507"/>
                  </a:lnTo>
                  <a:lnTo>
                    <a:pt x="420433" y="33337"/>
                  </a:lnTo>
                  <a:lnTo>
                    <a:pt x="428256" y="64008"/>
                  </a:lnTo>
                  <a:lnTo>
                    <a:pt x="428256" y="13169"/>
                  </a:lnTo>
                  <a:lnTo>
                    <a:pt x="420890" y="5816"/>
                  </a:lnTo>
                  <a:lnTo>
                    <a:pt x="397764" y="0"/>
                  </a:lnTo>
                  <a:lnTo>
                    <a:pt x="369366" y="6172"/>
                  </a:lnTo>
                  <a:lnTo>
                    <a:pt x="349948" y="23050"/>
                  </a:lnTo>
                  <a:lnTo>
                    <a:pt x="338836" y="48221"/>
                  </a:lnTo>
                  <a:lnTo>
                    <a:pt x="335280" y="79248"/>
                  </a:lnTo>
                  <a:lnTo>
                    <a:pt x="339166" y="108038"/>
                  </a:lnTo>
                  <a:lnTo>
                    <a:pt x="350329" y="131267"/>
                  </a:lnTo>
                  <a:lnTo>
                    <a:pt x="368071" y="146761"/>
                  </a:lnTo>
                  <a:lnTo>
                    <a:pt x="391668" y="152412"/>
                  </a:lnTo>
                  <a:lnTo>
                    <a:pt x="404863" y="151384"/>
                  </a:lnTo>
                  <a:lnTo>
                    <a:pt x="437464" y="129552"/>
                  </a:lnTo>
                  <a:lnTo>
                    <a:pt x="443115" y="119646"/>
                  </a:lnTo>
                  <a:lnTo>
                    <a:pt x="446874" y="109169"/>
                  </a:lnTo>
                  <a:lnTo>
                    <a:pt x="448068" y="102108"/>
                  </a:lnTo>
                  <a:lnTo>
                    <a:pt x="428256" y="102108"/>
                  </a:lnTo>
                  <a:lnTo>
                    <a:pt x="426008" y="111544"/>
                  </a:lnTo>
                  <a:lnTo>
                    <a:pt x="419481" y="120408"/>
                  </a:lnTo>
                  <a:lnTo>
                    <a:pt x="408965" y="126974"/>
                  </a:lnTo>
                  <a:lnTo>
                    <a:pt x="394716" y="129552"/>
                  </a:lnTo>
                  <a:lnTo>
                    <a:pt x="378714" y="126695"/>
                  </a:lnTo>
                  <a:lnTo>
                    <a:pt x="367284" y="118122"/>
                  </a:lnTo>
                  <a:lnTo>
                    <a:pt x="360426" y="103835"/>
                  </a:lnTo>
                  <a:lnTo>
                    <a:pt x="358140" y="83820"/>
                  </a:lnTo>
                  <a:lnTo>
                    <a:pt x="451116" y="83820"/>
                  </a:lnTo>
                  <a:close/>
                </a:path>
                <a:path w="699770" h="153035">
                  <a:moveTo>
                    <a:pt x="576084" y="103632"/>
                  </a:moveTo>
                  <a:lnTo>
                    <a:pt x="539508" y="67056"/>
                  </a:lnTo>
                  <a:lnTo>
                    <a:pt x="507517" y="56375"/>
                  </a:lnTo>
                  <a:lnTo>
                    <a:pt x="500456" y="53149"/>
                  </a:lnTo>
                  <a:lnTo>
                    <a:pt x="496519" y="48514"/>
                  </a:lnTo>
                  <a:lnTo>
                    <a:pt x="495312" y="41148"/>
                  </a:lnTo>
                  <a:lnTo>
                    <a:pt x="498500" y="30099"/>
                  </a:lnTo>
                  <a:lnTo>
                    <a:pt x="505980" y="23622"/>
                  </a:lnTo>
                  <a:lnTo>
                    <a:pt x="514591" y="20574"/>
                  </a:lnTo>
                  <a:lnTo>
                    <a:pt x="521220" y="19812"/>
                  </a:lnTo>
                  <a:lnTo>
                    <a:pt x="536905" y="22339"/>
                  </a:lnTo>
                  <a:lnTo>
                    <a:pt x="546176" y="28575"/>
                  </a:lnTo>
                  <a:lnTo>
                    <a:pt x="550570" y="36537"/>
                  </a:lnTo>
                  <a:lnTo>
                    <a:pt x="551700" y="44196"/>
                  </a:lnTo>
                  <a:lnTo>
                    <a:pt x="571512" y="44196"/>
                  </a:lnTo>
                  <a:lnTo>
                    <a:pt x="570318" y="34086"/>
                  </a:lnTo>
                  <a:lnTo>
                    <a:pt x="564273" y="19240"/>
                  </a:lnTo>
                  <a:lnTo>
                    <a:pt x="549643" y="5842"/>
                  </a:lnTo>
                  <a:lnTo>
                    <a:pt x="522744" y="0"/>
                  </a:lnTo>
                  <a:lnTo>
                    <a:pt x="504837" y="2654"/>
                  </a:lnTo>
                  <a:lnTo>
                    <a:pt x="489216" y="10858"/>
                  </a:lnTo>
                  <a:lnTo>
                    <a:pt x="478167" y="25082"/>
                  </a:lnTo>
                  <a:lnTo>
                    <a:pt x="473976" y="45720"/>
                  </a:lnTo>
                  <a:lnTo>
                    <a:pt x="476161" y="58280"/>
                  </a:lnTo>
                  <a:lnTo>
                    <a:pt x="482358" y="68389"/>
                  </a:lnTo>
                  <a:lnTo>
                    <a:pt x="491972" y="75946"/>
                  </a:lnTo>
                  <a:lnTo>
                    <a:pt x="504456" y="80772"/>
                  </a:lnTo>
                  <a:lnTo>
                    <a:pt x="540359" y="91922"/>
                  </a:lnTo>
                  <a:lnTo>
                    <a:pt x="547890" y="96012"/>
                  </a:lnTo>
                  <a:lnTo>
                    <a:pt x="551980" y="101257"/>
                  </a:lnTo>
                  <a:lnTo>
                    <a:pt x="553224" y="108204"/>
                  </a:lnTo>
                  <a:lnTo>
                    <a:pt x="551053" y="118618"/>
                  </a:lnTo>
                  <a:lnTo>
                    <a:pt x="545033" y="125158"/>
                  </a:lnTo>
                  <a:lnTo>
                    <a:pt x="535863" y="128574"/>
                  </a:lnTo>
                  <a:lnTo>
                    <a:pt x="524268" y="129540"/>
                  </a:lnTo>
                  <a:lnTo>
                    <a:pt x="506361" y="126974"/>
                  </a:lnTo>
                  <a:lnTo>
                    <a:pt x="496455" y="120396"/>
                  </a:lnTo>
                  <a:lnTo>
                    <a:pt x="491693" y="111544"/>
                  </a:lnTo>
                  <a:lnTo>
                    <a:pt x="489216" y="102108"/>
                  </a:lnTo>
                  <a:lnTo>
                    <a:pt x="469404" y="102108"/>
                  </a:lnTo>
                  <a:lnTo>
                    <a:pt x="471754" y="117043"/>
                  </a:lnTo>
                  <a:lnTo>
                    <a:pt x="479120" y="133540"/>
                  </a:lnTo>
                  <a:lnTo>
                    <a:pt x="495325" y="146900"/>
                  </a:lnTo>
                  <a:lnTo>
                    <a:pt x="524268" y="152400"/>
                  </a:lnTo>
                  <a:lnTo>
                    <a:pt x="544576" y="149072"/>
                  </a:lnTo>
                  <a:lnTo>
                    <a:pt x="561035" y="139446"/>
                  </a:lnTo>
                  <a:lnTo>
                    <a:pt x="572058" y="124117"/>
                  </a:lnTo>
                  <a:lnTo>
                    <a:pt x="576084" y="103632"/>
                  </a:lnTo>
                  <a:close/>
                </a:path>
                <a:path w="699770" h="153035">
                  <a:moveTo>
                    <a:pt x="699528" y="103632"/>
                  </a:moveTo>
                  <a:lnTo>
                    <a:pt x="662952" y="67056"/>
                  </a:lnTo>
                  <a:lnTo>
                    <a:pt x="630732" y="56375"/>
                  </a:lnTo>
                  <a:lnTo>
                    <a:pt x="623138" y="53149"/>
                  </a:lnTo>
                  <a:lnTo>
                    <a:pt x="618680" y="48514"/>
                  </a:lnTo>
                  <a:lnTo>
                    <a:pt x="617232" y="41148"/>
                  </a:lnTo>
                  <a:lnTo>
                    <a:pt x="620445" y="30099"/>
                  </a:lnTo>
                  <a:lnTo>
                    <a:pt x="628091" y="23622"/>
                  </a:lnTo>
                  <a:lnTo>
                    <a:pt x="637159" y="20574"/>
                  </a:lnTo>
                  <a:lnTo>
                    <a:pt x="644664" y="19812"/>
                  </a:lnTo>
                  <a:lnTo>
                    <a:pt x="659917" y="22339"/>
                  </a:lnTo>
                  <a:lnTo>
                    <a:pt x="668477" y="28575"/>
                  </a:lnTo>
                  <a:lnTo>
                    <a:pt x="672731" y="36537"/>
                  </a:lnTo>
                  <a:lnTo>
                    <a:pt x="675144" y="44196"/>
                  </a:lnTo>
                  <a:lnTo>
                    <a:pt x="694956" y="44196"/>
                  </a:lnTo>
                  <a:lnTo>
                    <a:pt x="693762" y="34086"/>
                  </a:lnTo>
                  <a:lnTo>
                    <a:pt x="687717" y="19240"/>
                  </a:lnTo>
                  <a:lnTo>
                    <a:pt x="673087" y="5842"/>
                  </a:lnTo>
                  <a:lnTo>
                    <a:pt x="646188" y="0"/>
                  </a:lnTo>
                  <a:lnTo>
                    <a:pt x="628040" y="2654"/>
                  </a:lnTo>
                  <a:lnTo>
                    <a:pt x="611898" y="10858"/>
                  </a:lnTo>
                  <a:lnTo>
                    <a:pt x="600316" y="25082"/>
                  </a:lnTo>
                  <a:lnTo>
                    <a:pt x="595896" y="45720"/>
                  </a:lnTo>
                  <a:lnTo>
                    <a:pt x="598322" y="58280"/>
                  </a:lnTo>
                  <a:lnTo>
                    <a:pt x="605040" y="68389"/>
                  </a:lnTo>
                  <a:lnTo>
                    <a:pt x="615175" y="75946"/>
                  </a:lnTo>
                  <a:lnTo>
                    <a:pt x="627900" y="80772"/>
                  </a:lnTo>
                  <a:lnTo>
                    <a:pt x="663803" y="91922"/>
                  </a:lnTo>
                  <a:lnTo>
                    <a:pt x="671334" y="96012"/>
                  </a:lnTo>
                  <a:lnTo>
                    <a:pt x="675424" y="101257"/>
                  </a:lnTo>
                  <a:lnTo>
                    <a:pt x="676668" y="108204"/>
                  </a:lnTo>
                  <a:lnTo>
                    <a:pt x="674497" y="118618"/>
                  </a:lnTo>
                  <a:lnTo>
                    <a:pt x="668477" y="125158"/>
                  </a:lnTo>
                  <a:lnTo>
                    <a:pt x="659307" y="128574"/>
                  </a:lnTo>
                  <a:lnTo>
                    <a:pt x="647712" y="129540"/>
                  </a:lnTo>
                  <a:lnTo>
                    <a:pt x="629805" y="126974"/>
                  </a:lnTo>
                  <a:lnTo>
                    <a:pt x="619899" y="120396"/>
                  </a:lnTo>
                  <a:lnTo>
                    <a:pt x="615137" y="111544"/>
                  </a:lnTo>
                  <a:lnTo>
                    <a:pt x="612660" y="102108"/>
                  </a:lnTo>
                  <a:lnTo>
                    <a:pt x="592848" y="102108"/>
                  </a:lnTo>
                  <a:lnTo>
                    <a:pt x="594766" y="117043"/>
                  </a:lnTo>
                  <a:lnTo>
                    <a:pt x="601421" y="133540"/>
                  </a:lnTo>
                  <a:lnTo>
                    <a:pt x="617486" y="146900"/>
                  </a:lnTo>
                  <a:lnTo>
                    <a:pt x="647712" y="152400"/>
                  </a:lnTo>
                  <a:lnTo>
                    <a:pt x="668020" y="149072"/>
                  </a:lnTo>
                  <a:lnTo>
                    <a:pt x="684479" y="139446"/>
                  </a:lnTo>
                  <a:lnTo>
                    <a:pt x="695502" y="124117"/>
                  </a:lnTo>
                  <a:lnTo>
                    <a:pt x="699528" y="103632"/>
                  </a:lnTo>
                  <a:close/>
                </a:path>
              </a:pathLst>
            </a:custGeom>
            <a:solidFill>
              <a:srgbClr val="231F1F"/>
            </a:solidFill>
          </p:spPr>
          <p:txBody>
            <a:bodyPr wrap="square" lIns="0" tIns="0" rIns="0" bIns="0" rtlCol="0"/>
            <a:lstStyle/>
            <a:p/>
          </p:txBody>
        </p:sp>
        <p:sp>
          <p:nvSpPr>
            <p:cNvPr id="78" name="object 78"/>
            <p:cNvSpPr/>
            <p:nvPr/>
          </p:nvSpPr>
          <p:spPr>
            <a:xfrm>
              <a:off x="7299960" y="2247900"/>
              <a:ext cx="155448" cy="199644"/>
            </a:xfrm>
            <a:prstGeom prst="rect">
              <a:avLst/>
            </a:prstGeom>
            <a:blipFill>
              <a:blip r:embed="rId29" cstate="print"/>
              <a:stretch>
                <a:fillRect/>
              </a:stretch>
            </a:blipFill>
          </p:spPr>
          <p:txBody>
            <a:bodyPr wrap="square" lIns="0" tIns="0" rIns="0" bIns="0" rtlCol="0"/>
            <a:lstStyle/>
            <a:p/>
          </p:txBody>
        </p:sp>
        <p:sp>
          <p:nvSpPr>
            <p:cNvPr id="79" name="object 79"/>
            <p:cNvSpPr/>
            <p:nvPr/>
          </p:nvSpPr>
          <p:spPr>
            <a:xfrm>
              <a:off x="6062472" y="2816352"/>
              <a:ext cx="106680" cy="152400"/>
            </a:xfrm>
            <a:prstGeom prst="rect">
              <a:avLst/>
            </a:prstGeom>
            <a:blipFill>
              <a:blip r:embed="rId30" cstate="print"/>
              <a:stretch>
                <a:fillRect/>
              </a:stretch>
            </a:blipFill>
          </p:spPr>
          <p:txBody>
            <a:bodyPr wrap="square" lIns="0" tIns="0" rIns="0" bIns="0" rtlCol="0"/>
            <a:lstStyle/>
            <a:p/>
          </p:txBody>
        </p:sp>
        <p:sp>
          <p:nvSpPr>
            <p:cNvPr id="80" name="object 80"/>
            <p:cNvSpPr/>
            <p:nvPr/>
          </p:nvSpPr>
          <p:spPr>
            <a:xfrm>
              <a:off x="6193536" y="2764536"/>
              <a:ext cx="105156" cy="199644"/>
            </a:xfrm>
            <a:prstGeom prst="rect">
              <a:avLst/>
            </a:prstGeom>
            <a:blipFill>
              <a:blip r:embed="rId31" cstate="print"/>
              <a:stretch>
                <a:fillRect/>
              </a:stretch>
            </a:blipFill>
          </p:spPr>
          <p:txBody>
            <a:bodyPr wrap="square" lIns="0" tIns="0" rIns="0" bIns="0" rtlCol="0"/>
            <a:lstStyle/>
            <a:p/>
          </p:txBody>
        </p:sp>
        <p:sp>
          <p:nvSpPr>
            <p:cNvPr id="81" name="object 81"/>
            <p:cNvSpPr/>
            <p:nvPr/>
          </p:nvSpPr>
          <p:spPr>
            <a:xfrm>
              <a:off x="6323076" y="2816352"/>
              <a:ext cx="121920" cy="152400"/>
            </a:xfrm>
            <a:prstGeom prst="rect">
              <a:avLst/>
            </a:prstGeom>
            <a:blipFill>
              <a:blip r:embed="rId32" cstate="print"/>
              <a:stretch>
                <a:fillRect/>
              </a:stretch>
            </a:blipFill>
          </p:spPr>
          <p:txBody>
            <a:bodyPr wrap="square" lIns="0" tIns="0" rIns="0" bIns="0" rtlCol="0"/>
            <a:lstStyle/>
            <a:p/>
          </p:txBody>
        </p:sp>
        <p:sp>
          <p:nvSpPr>
            <p:cNvPr id="82" name="object 82"/>
            <p:cNvSpPr/>
            <p:nvPr/>
          </p:nvSpPr>
          <p:spPr>
            <a:xfrm>
              <a:off x="6470904" y="2816352"/>
              <a:ext cx="188976" cy="152400"/>
            </a:xfrm>
            <a:prstGeom prst="rect">
              <a:avLst/>
            </a:prstGeom>
            <a:blipFill>
              <a:blip r:embed="rId33" cstate="print"/>
              <a:stretch>
                <a:fillRect/>
              </a:stretch>
            </a:blipFill>
          </p:spPr>
          <p:txBody>
            <a:bodyPr wrap="square" lIns="0" tIns="0" rIns="0" bIns="0" rtlCol="0"/>
            <a:lstStyle/>
            <a:p/>
          </p:txBody>
        </p:sp>
        <p:sp>
          <p:nvSpPr>
            <p:cNvPr id="83" name="object 83"/>
            <p:cNvSpPr/>
            <p:nvPr/>
          </p:nvSpPr>
          <p:spPr>
            <a:xfrm>
              <a:off x="6681216" y="2764536"/>
              <a:ext cx="112776" cy="204216"/>
            </a:xfrm>
            <a:prstGeom prst="rect">
              <a:avLst/>
            </a:prstGeom>
            <a:blipFill>
              <a:blip r:embed="rId34" cstate="print"/>
              <a:stretch>
                <a:fillRect/>
              </a:stretch>
            </a:blipFill>
          </p:spPr>
          <p:txBody>
            <a:bodyPr wrap="square" lIns="0" tIns="0" rIns="0" bIns="0" rtlCol="0"/>
            <a:lstStyle/>
            <a:p/>
          </p:txBody>
        </p:sp>
        <p:sp>
          <p:nvSpPr>
            <p:cNvPr id="84" name="object 84"/>
            <p:cNvSpPr/>
            <p:nvPr/>
          </p:nvSpPr>
          <p:spPr>
            <a:xfrm>
              <a:off x="6893052" y="2816352"/>
              <a:ext cx="172211" cy="147827"/>
            </a:xfrm>
            <a:prstGeom prst="rect">
              <a:avLst/>
            </a:prstGeom>
            <a:blipFill>
              <a:blip r:embed="rId35" cstate="print"/>
              <a:stretch>
                <a:fillRect/>
              </a:stretch>
            </a:blipFill>
          </p:spPr>
          <p:txBody>
            <a:bodyPr wrap="square" lIns="0" tIns="0" rIns="0" bIns="0" rtlCol="0"/>
            <a:lstStyle/>
            <a:p/>
          </p:txBody>
        </p:sp>
        <p:sp>
          <p:nvSpPr>
            <p:cNvPr id="85" name="object 85"/>
            <p:cNvSpPr/>
            <p:nvPr/>
          </p:nvSpPr>
          <p:spPr>
            <a:xfrm>
              <a:off x="7092696" y="2816352"/>
              <a:ext cx="117348" cy="152400"/>
            </a:xfrm>
            <a:prstGeom prst="rect">
              <a:avLst/>
            </a:prstGeom>
            <a:blipFill>
              <a:blip r:embed="rId36" cstate="print"/>
              <a:stretch>
                <a:fillRect/>
              </a:stretch>
            </a:blipFill>
          </p:spPr>
          <p:txBody>
            <a:bodyPr wrap="square" lIns="0" tIns="0" rIns="0" bIns="0" rtlCol="0"/>
            <a:lstStyle/>
            <a:p/>
          </p:txBody>
        </p:sp>
        <p:sp>
          <p:nvSpPr>
            <p:cNvPr id="86" name="object 86"/>
            <p:cNvSpPr/>
            <p:nvPr/>
          </p:nvSpPr>
          <p:spPr>
            <a:xfrm>
              <a:off x="7235952" y="2816352"/>
              <a:ext cx="172212" cy="147828"/>
            </a:xfrm>
            <a:prstGeom prst="rect">
              <a:avLst/>
            </a:prstGeom>
            <a:blipFill>
              <a:blip r:embed="rId37" cstate="print"/>
              <a:stretch>
                <a:fillRect/>
              </a:stretch>
            </a:blipFill>
          </p:spPr>
          <p:txBody>
            <a:bodyPr wrap="square" lIns="0" tIns="0" rIns="0" bIns="0" rtlCol="0"/>
            <a:lstStyle/>
            <a:p/>
          </p:txBody>
        </p:sp>
        <p:sp>
          <p:nvSpPr>
            <p:cNvPr id="87" name="object 87"/>
            <p:cNvSpPr/>
            <p:nvPr/>
          </p:nvSpPr>
          <p:spPr>
            <a:xfrm>
              <a:off x="7434072" y="2816352"/>
              <a:ext cx="118872" cy="152400"/>
            </a:xfrm>
            <a:prstGeom prst="rect">
              <a:avLst/>
            </a:prstGeom>
            <a:blipFill>
              <a:blip r:embed="rId38" cstate="print"/>
              <a:stretch>
                <a:fillRect/>
              </a:stretch>
            </a:blipFill>
          </p:spPr>
          <p:txBody>
            <a:bodyPr wrap="square" lIns="0" tIns="0" rIns="0" bIns="0" rtlCol="0"/>
            <a:lstStyle/>
            <a:p/>
          </p:txBody>
        </p:sp>
        <p:sp>
          <p:nvSpPr>
            <p:cNvPr id="88" name="object 88"/>
            <p:cNvSpPr/>
            <p:nvPr/>
          </p:nvSpPr>
          <p:spPr>
            <a:xfrm>
              <a:off x="7581900" y="2816352"/>
              <a:ext cx="182880" cy="205740"/>
            </a:xfrm>
            <a:prstGeom prst="rect">
              <a:avLst/>
            </a:prstGeom>
            <a:blipFill>
              <a:blip r:embed="rId39" cstate="print"/>
              <a:stretch>
                <a:fillRect/>
              </a:stretch>
            </a:blipFill>
          </p:spPr>
          <p:txBody>
            <a:bodyPr wrap="square" lIns="0" tIns="0" rIns="0" bIns="0" rtlCol="0"/>
            <a:lstStyle/>
            <a:p/>
          </p:txBody>
        </p:sp>
        <p:sp>
          <p:nvSpPr>
            <p:cNvPr id="89" name="object 89"/>
            <p:cNvSpPr/>
            <p:nvPr/>
          </p:nvSpPr>
          <p:spPr>
            <a:xfrm>
              <a:off x="6592824" y="5756148"/>
              <a:ext cx="231648" cy="202692"/>
            </a:xfrm>
            <a:prstGeom prst="rect">
              <a:avLst/>
            </a:prstGeom>
            <a:blipFill>
              <a:blip r:embed="rId40" cstate="print"/>
              <a:stretch>
                <a:fillRect/>
              </a:stretch>
            </a:blipFill>
          </p:spPr>
          <p:txBody>
            <a:bodyPr wrap="square" lIns="0" tIns="0" rIns="0" bIns="0" rtlCol="0"/>
            <a:lstStyle/>
            <a:p/>
          </p:txBody>
        </p:sp>
        <p:sp>
          <p:nvSpPr>
            <p:cNvPr id="90" name="object 90"/>
            <p:cNvSpPr/>
            <p:nvPr/>
          </p:nvSpPr>
          <p:spPr>
            <a:xfrm>
              <a:off x="6854952" y="5804916"/>
              <a:ext cx="184404" cy="149352"/>
            </a:xfrm>
            <a:prstGeom prst="rect">
              <a:avLst/>
            </a:prstGeom>
            <a:blipFill>
              <a:blip r:embed="rId41" cstate="print"/>
              <a:stretch>
                <a:fillRect/>
              </a:stretch>
            </a:blipFill>
          </p:spPr>
          <p:txBody>
            <a:bodyPr wrap="square" lIns="0" tIns="0" rIns="0" bIns="0" rtlCol="0"/>
            <a:lstStyle/>
            <a:p/>
          </p:txBody>
        </p:sp>
        <p:sp>
          <p:nvSpPr>
            <p:cNvPr id="91" name="object 91"/>
            <p:cNvSpPr/>
            <p:nvPr/>
          </p:nvSpPr>
          <p:spPr>
            <a:xfrm>
              <a:off x="7065264" y="5804916"/>
              <a:ext cx="117348" cy="153924"/>
            </a:xfrm>
            <a:prstGeom prst="rect">
              <a:avLst/>
            </a:prstGeom>
            <a:blipFill>
              <a:blip r:embed="rId42" cstate="print"/>
              <a:stretch>
                <a:fillRect/>
              </a:stretch>
            </a:blipFill>
          </p:spPr>
          <p:txBody>
            <a:bodyPr wrap="square" lIns="0" tIns="0" rIns="0" bIns="0" rtlCol="0"/>
            <a:lstStyle/>
            <a:p/>
          </p:txBody>
        </p:sp>
        <p:sp>
          <p:nvSpPr>
            <p:cNvPr id="92" name="object 92"/>
            <p:cNvSpPr/>
            <p:nvPr/>
          </p:nvSpPr>
          <p:spPr>
            <a:xfrm>
              <a:off x="7210044" y="5756148"/>
              <a:ext cx="20320" cy="198120"/>
            </a:xfrm>
            <a:custGeom>
              <a:avLst/>
              <a:gdLst/>
              <a:ahLst/>
              <a:cxnLst/>
              <a:rect l="l" t="t" r="r" b="b"/>
              <a:pathLst>
                <a:path w="20320" h="198120">
                  <a:moveTo>
                    <a:pt x="19811" y="198120"/>
                  </a:moveTo>
                  <a:lnTo>
                    <a:pt x="0" y="198120"/>
                  </a:lnTo>
                  <a:lnTo>
                    <a:pt x="0" y="0"/>
                  </a:lnTo>
                  <a:lnTo>
                    <a:pt x="19811" y="0"/>
                  </a:lnTo>
                  <a:lnTo>
                    <a:pt x="19811" y="198120"/>
                  </a:lnTo>
                  <a:close/>
                </a:path>
              </a:pathLst>
            </a:custGeom>
            <a:solidFill>
              <a:srgbClr val="231F1F"/>
            </a:solidFill>
          </p:spPr>
          <p:txBody>
            <a:bodyPr wrap="square" lIns="0" tIns="0" rIns="0" bIns="0" rtlCol="0"/>
            <a:lstStyle/>
            <a:p/>
          </p:txBody>
        </p:sp>
        <p:sp>
          <p:nvSpPr>
            <p:cNvPr id="93" name="object 93"/>
            <p:cNvSpPr/>
            <p:nvPr/>
          </p:nvSpPr>
          <p:spPr>
            <a:xfrm>
              <a:off x="6376416" y="3374136"/>
              <a:ext cx="112776" cy="230124"/>
            </a:xfrm>
            <a:prstGeom prst="rect">
              <a:avLst/>
            </a:prstGeom>
            <a:blipFill>
              <a:blip r:embed="rId43" cstate="print"/>
              <a:stretch>
                <a:fillRect/>
              </a:stretch>
            </a:blipFill>
          </p:spPr>
          <p:txBody>
            <a:bodyPr wrap="square" lIns="0" tIns="0" rIns="0" bIns="0" rtlCol="0"/>
            <a:lstStyle/>
            <a:p/>
          </p:txBody>
        </p:sp>
        <p:sp>
          <p:nvSpPr>
            <p:cNvPr id="94" name="object 94"/>
            <p:cNvSpPr/>
            <p:nvPr/>
          </p:nvSpPr>
          <p:spPr>
            <a:xfrm>
              <a:off x="6518135" y="3374135"/>
              <a:ext cx="699770" cy="169545"/>
            </a:xfrm>
            <a:custGeom>
              <a:avLst/>
              <a:gdLst/>
              <a:ahLst/>
              <a:cxnLst/>
              <a:rect l="l" t="t" r="r" b="b"/>
              <a:pathLst>
                <a:path w="699770" h="169545">
                  <a:moveTo>
                    <a:pt x="64008" y="1524"/>
                  </a:moveTo>
                  <a:lnTo>
                    <a:pt x="62484" y="1524"/>
                  </a:lnTo>
                  <a:lnTo>
                    <a:pt x="59436" y="0"/>
                  </a:lnTo>
                  <a:lnTo>
                    <a:pt x="57912" y="0"/>
                  </a:lnTo>
                  <a:lnTo>
                    <a:pt x="46443" y="2438"/>
                  </a:lnTo>
                  <a:lnTo>
                    <a:pt x="36957" y="9144"/>
                  </a:lnTo>
                  <a:lnTo>
                    <a:pt x="29197" y="19291"/>
                  </a:lnTo>
                  <a:lnTo>
                    <a:pt x="22860" y="32004"/>
                  </a:lnTo>
                  <a:lnTo>
                    <a:pt x="21336" y="32004"/>
                  </a:lnTo>
                  <a:lnTo>
                    <a:pt x="21336" y="4572"/>
                  </a:lnTo>
                  <a:lnTo>
                    <a:pt x="0" y="4572"/>
                  </a:lnTo>
                  <a:lnTo>
                    <a:pt x="0" y="164592"/>
                  </a:lnTo>
                  <a:lnTo>
                    <a:pt x="22860" y="164592"/>
                  </a:lnTo>
                  <a:lnTo>
                    <a:pt x="22860" y="71628"/>
                  </a:lnTo>
                  <a:lnTo>
                    <a:pt x="25107" y="55562"/>
                  </a:lnTo>
                  <a:lnTo>
                    <a:pt x="31623" y="42481"/>
                  </a:lnTo>
                  <a:lnTo>
                    <a:pt x="42151" y="33705"/>
                  </a:lnTo>
                  <a:lnTo>
                    <a:pt x="56388" y="30480"/>
                  </a:lnTo>
                  <a:lnTo>
                    <a:pt x="64008" y="30480"/>
                  </a:lnTo>
                  <a:lnTo>
                    <a:pt x="64008" y="1524"/>
                  </a:lnTo>
                  <a:close/>
                </a:path>
                <a:path w="699770" h="169545">
                  <a:moveTo>
                    <a:pt x="192036" y="85344"/>
                  </a:moveTo>
                  <a:lnTo>
                    <a:pt x="188531" y="54660"/>
                  </a:lnTo>
                  <a:lnTo>
                    <a:pt x="177749" y="27241"/>
                  </a:lnTo>
                  <a:lnTo>
                    <a:pt x="173621" y="22860"/>
                  </a:lnTo>
                  <a:lnTo>
                    <a:pt x="169176" y="18135"/>
                  </a:lnTo>
                  <a:lnTo>
                    <a:pt x="169176" y="85344"/>
                  </a:lnTo>
                  <a:lnTo>
                    <a:pt x="167741" y="103873"/>
                  </a:lnTo>
                  <a:lnTo>
                    <a:pt x="162318" y="123837"/>
                  </a:lnTo>
                  <a:lnTo>
                    <a:pt x="151168" y="139788"/>
                  </a:lnTo>
                  <a:lnTo>
                    <a:pt x="132600" y="146316"/>
                  </a:lnTo>
                  <a:lnTo>
                    <a:pt x="113144" y="139788"/>
                  </a:lnTo>
                  <a:lnTo>
                    <a:pt x="101549" y="123837"/>
                  </a:lnTo>
                  <a:lnTo>
                    <a:pt x="95948" y="103873"/>
                  </a:lnTo>
                  <a:lnTo>
                    <a:pt x="94500" y="85344"/>
                  </a:lnTo>
                  <a:lnTo>
                    <a:pt x="95948" y="67233"/>
                  </a:lnTo>
                  <a:lnTo>
                    <a:pt x="113144" y="29845"/>
                  </a:lnTo>
                  <a:lnTo>
                    <a:pt x="162318" y="46672"/>
                  </a:lnTo>
                  <a:lnTo>
                    <a:pt x="169176" y="85344"/>
                  </a:lnTo>
                  <a:lnTo>
                    <a:pt x="169176" y="18135"/>
                  </a:lnTo>
                  <a:lnTo>
                    <a:pt x="159245" y="7556"/>
                  </a:lnTo>
                  <a:lnTo>
                    <a:pt x="132600" y="0"/>
                  </a:lnTo>
                  <a:lnTo>
                    <a:pt x="105714" y="7556"/>
                  </a:lnTo>
                  <a:lnTo>
                    <a:pt x="86690" y="27241"/>
                  </a:lnTo>
                  <a:lnTo>
                    <a:pt x="75374" y="54660"/>
                  </a:lnTo>
                  <a:lnTo>
                    <a:pt x="71640" y="85344"/>
                  </a:lnTo>
                  <a:lnTo>
                    <a:pt x="75374" y="116446"/>
                  </a:lnTo>
                  <a:lnTo>
                    <a:pt x="86690" y="143268"/>
                  </a:lnTo>
                  <a:lnTo>
                    <a:pt x="105714" y="162077"/>
                  </a:lnTo>
                  <a:lnTo>
                    <a:pt x="132600" y="169176"/>
                  </a:lnTo>
                  <a:lnTo>
                    <a:pt x="159245" y="162077"/>
                  </a:lnTo>
                  <a:lnTo>
                    <a:pt x="174739" y="146316"/>
                  </a:lnTo>
                  <a:lnTo>
                    <a:pt x="177749" y="143268"/>
                  </a:lnTo>
                  <a:lnTo>
                    <a:pt x="188531" y="116446"/>
                  </a:lnTo>
                  <a:lnTo>
                    <a:pt x="192036" y="85344"/>
                  </a:lnTo>
                  <a:close/>
                </a:path>
                <a:path w="699770" h="169545">
                  <a:moveTo>
                    <a:pt x="318516" y="60960"/>
                  </a:moveTo>
                  <a:lnTo>
                    <a:pt x="315188" y="39230"/>
                  </a:lnTo>
                  <a:lnTo>
                    <a:pt x="306705" y="19621"/>
                  </a:lnTo>
                  <a:lnTo>
                    <a:pt x="291947" y="5461"/>
                  </a:lnTo>
                  <a:lnTo>
                    <a:pt x="269748" y="0"/>
                  </a:lnTo>
                  <a:lnTo>
                    <a:pt x="242633" y="6985"/>
                  </a:lnTo>
                  <a:lnTo>
                    <a:pt x="223075" y="26098"/>
                  </a:lnTo>
                  <a:lnTo>
                    <a:pt x="211251" y="54660"/>
                  </a:lnTo>
                  <a:lnTo>
                    <a:pt x="207264" y="89916"/>
                  </a:lnTo>
                  <a:lnTo>
                    <a:pt x="211391" y="122237"/>
                  </a:lnTo>
                  <a:lnTo>
                    <a:pt x="223075" y="147256"/>
                  </a:lnTo>
                  <a:lnTo>
                    <a:pt x="241350" y="163436"/>
                  </a:lnTo>
                  <a:lnTo>
                    <a:pt x="265176" y="169164"/>
                  </a:lnTo>
                  <a:lnTo>
                    <a:pt x="290017" y="163309"/>
                  </a:lnTo>
                  <a:lnTo>
                    <a:pt x="306133" y="148590"/>
                  </a:lnTo>
                  <a:lnTo>
                    <a:pt x="315112" y="129311"/>
                  </a:lnTo>
                  <a:lnTo>
                    <a:pt x="318516" y="109728"/>
                  </a:lnTo>
                  <a:lnTo>
                    <a:pt x="298704" y="109728"/>
                  </a:lnTo>
                  <a:lnTo>
                    <a:pt x="293941" y="125730"/>
                  </a:lnTo>
                  <a:lnTo>
                    <a:pt x="286893" y="137160"/>
                  </a:lnTo>
                  <a:lnTo>
                    <a:pt x="278130" y="144018"/>
                  </a:lnTo>
                  <a:lnTo>
                    <a:pt x="268224" y="146304"/>
                  </a:lnTo>
                  <a:lnTo>
                    <a:pt x="249250" y="140855"/>
                  </a:lnTo>
                  <a:lnTo>
                    <a:pt x="238696" y="126682"/>
                  </a:lnTo>
                  <a:lnTo>
                    <a:pt x="234149" y="107086"/>
                  </a:lnTo>
                  <a:lnTo>
                    <a:pt x="233172" y="85344"/>
                  </a:lnTo>
                  <a:lnTo>
                    <a:pt x="234797" y="64490"/>
                  </a:lnTo>
                  <a:lnTo>
                    <a:pt x="240411" y="45339"/>
                  </a:lnTo>
                  <a:lnTo>
                    <a:pt x="251180" y="31343"/>
                  </a:lnTo>
                  <a:lnTo>
                    <a:pt x="268224" y="25908"/>
                  </a:lnTo>
                  <a:lnTo>
                    <a:pt x="280060" y="27965"/>
                  </a:lnTo>
                  <a:lnTo>
                    <a:pt x="288607" y="34290"/>
                  </a:lnTo>
                  <a:lnTo>
                    <a:pt x="294589" y="45199"/>
                  </a:lnTo>
                  <a:lnTo>
                    <a:pt x="298704" y="60960"/>
                  </a:lnTo>
                  <a:lnTo>
                    <a:pt x="318516" y="60960"/>
                  </a:lnTo>
                  <a:close/>
                </a:path>
                <a:path w="699770" h="169545">
                  <a:moveTo>
                    <a:pt x="451116" y="96012"/>
                  </a:moveTo>
                  <a:lnTo>
                    <a:pt x="449173" y="71628"/>
                  </a:lnTo>
                  <a:lnTo>
                    <a:pt x="447916" y="55943"/>
                  </a:lnTo>
                  <a:lnTo>
                    <a:pt x="438213" y="25908"/>
                  </a:lnTo>
                  <a:lnTo>
                    <a:pt x="438162" y="25717"/>
                  </a:lnTo>
                  <a:lnTo>
                    <a:pt x="429780" y="16116"/>
                  </a:lnTo>
                  <a:lnTo>
                    <a:pt x="429780" y="71628"/>
                  </a:lnTo>
                  <a:lnTo>
                    <a:pt x="358140" y="71628"/>
                  </a:lnTo>
                  <a:lnTo>
                    <a:pt x="360616" y="54851"/>
                  </a:lnTo>
                  <a:lnTo>
                    <a:pt x="367665" y="40195"/>
                  </a:lnTo>
                  <a:lnTo>
                    <a:pt x="378714" y="29845"/>
                  </a:lnTo>
                  <a:lnTo>
                    <a:pt x="393192" y="25908"/>
                  </a:lnTo>
                  <a:lnTo>
                    <a:pt x="409625" y="29845"/>
                  </a:lnTo>
                  <a:lnTo>
                    <a:pt x="420624" y="40195"/>
                  </a:lnTo>
                  <a:lnTo>
                    <a:pt x="427062" y="54851"/>
                  </a:lnTo>
                  <a:lnTo>
                    <a:pt x="429780" y="71628"/>
                  </a:lnTo>
                  <a:lnTo>
                    <a:pt x="429780" y="16116"/>
                  </a:lnTo>
                  <a:lnTo>
                    <a:pt x="421538" y="6654"/>
                  </a:lnTo>
                  <a:lnTo>
                    <a:pt x="397764" y="0"/>
                  </a:lnTo>
                  <a:lnTo>
                    <a:pt x="369366" y="6985"/>
                  </a:lnTo>
                  <a:lnTo>
                    <a:pt x="349948" y="26098"/>
                  </a:lnTo>
                  <a:lnTo>
                    <a:pt x="338836" y="54660"/>
                  </a:lnTo>
                  <a:lnTo>
                    <a:pt x="335280" y="89916"/>
                  </a:lnTo>
                  <a:lnTo>
                    <a:pt x="339191" y="122237"/>
                  </a:lnTo>
                  <a:lnTo>
                    <a:pt x="350520" y="147269"/>
                  </a:lnTo>
                  <a:lnTo>
                    <a:pt x="368719" y="163436"/>
                  </a:lnTo>
                  <a:lnTo>
                    <a:pt x="393192" y="169176"/>
                  </a:lnTo>
                  <a:lnTo>
                    <a:pt x="406146" y="168389"/>
                  </a:lnTo>
                  <a:lnTo>
                    <a:pt x="437680" y="146316"/>
                  </a:lnTo>
                  <a:lnTo>
                    <a:pt x="451116" y="115824"/>
                  </a:lnTo>
                  <a:lnTo>
                    <a:pt x="428256" y="115824"/>
                  </a:lnTo>
                  <a:lnTo>
                    <a:pt x="426008" y="125742"/>
                  </a:lnTo>
                  <a:lnTo>
                    <a:pt x="419481" y="135648"/>
                  </a:lnTo>
                  <a:lnTo>
                    <a:pt x="408965" y="143268"/>
                  </a:lnTo>
                  <a:lnTo>
                    <a:pt x="394716" y="146316"/>
                  </a:lnTo>
                  <a:lnTo>
                    <a:pt x="378714" y="142951"/>
                  </a:lnTo>
                  <a:lnTo>
                    <a:pt x="367284" y="133172"/>
                  </a:lnTo>
                  <a:lnTo>
                    <a:pt x="360426" y="117373"/>
                  </a:lnTo>
                  <a:lnTo>
                    <a:pt x="358140" y="96012"/>
                  </a:lnTo>
                  <a:lnTo>
                    <a:pt x="451116" y="96012"/>
                  </a:lnTo>
                  <a:close/>
                </a:path>
                <a:path w="699770" h="169545">
                  <a:moveTo>
                    <a:pt x="576084" y="118872"/>
                  </a:moveTo>
                  <a:lnTo>
                    <a:pt x="556145" y="82232"/>
                  </a:lnTo>
                  <a:lnTo>
                    <a:pt x="518172" y="67056"/>
                  </a:lnTo>
                  <a:lnTo>
                    <a:pt x="507517" y="63944"/>
                  </a:lnTo>
                  <a:lnTo>
                    <a:pt x="500456" y="60388"/>
                  </a:lnTo>
                  <a:lnTo>
                    <a:pt x="496519" y="54851"/>
                  </a:lnTo>
                  <a:lnTo>
                    <a:pt x="495312" y="45720"/>
                  </a:lnTo>
                  <a:lnTo>
                    <a:pt x="498500" y="34442"/>
                  </a:lnTo>
                  <a:lnTo>
                    <a:pt x="505980" y="27432"/>
                  </a:lnTo>
                  <a:lnTo>
                    <a:pt x="514591" y="23863"/>
                  </a:lnTo>
                  <a:lnTo>
                    <a:pt x="521220" y="22860"/>
                  </a:lnTo>
                  <a:lnTo>
                    <a:pt x="536905" y="25895"/>
                  </a:lnTo>
                  <a:lnTo>
                    <a:pt x="546176" y="33337"/>
                  </a:lnTo>
                  <a:lnTo>
                    <a:pt x="550570" y="42799"/>
                  </a:lnTo>
                  <a:lnTo>
                    <a:pt x="551700" y="51816"/>
                  </a:lnTo>
                  <a:lnTo>
                    <a:pt x="571512" y="51816"/>
                  </a:lnTo>
                  <a:lnTo>
                    <a:pt x="570318" y="40513"/>
                  </a:lnTo>
                  <a:lnTo>
                    <a:pt x="564273" y="23050"/>
                  </a:lnTo>
                  <a:lnTo>
                    <a:pt x="549643" y="7035"/>
                  </a:lnTo>
                  <a:lnTo>
                    <a:pt x="522744" y="0"/>
                  </a:lnTo>
                  <a:lnTo>
                    <a:pt x="504837" y="3175"/>
                  </a:lnTo>
                  <a:lnTo>
                    <a:pt x="489216" y="12763"/>
                  </a:lnTo>
                  <a:lnTo>
                    <a:pt x="478167" y="28943"/>
                  </a:lnTo>
                  <a:lnTo>
                    <a:pt x="473976" y="51816"/>
                  </a:lnTo>
                  <a:lnTo>
                    <a:pt x="476161" y="66776"/>
                  </a:lnTo>
                  <a:lnTo>
                    <a:pt x="482358" y="77724"/>
                  </a:lnTo>
                  <a:lnTo>
                    <a:pt x="491972" y="85255"/>
                  </a:lnTo>
                  <a:lnTo>
                    <a:pt x="504456" y="89916"/>
                  </a:lnTo>
                  <a:lnTo>
                    <a:pt x="528840" y="97536"/>
                  </a:lnTo>
                  <a:lnTo>
                    <a:pt x="540359" y="102831"/>
                  </a:lnTo>
                  <a:lnTo>
                    <a:pt x="547890" y="107823"/>
                  </a:lnTo>
                  <a:lnTo>
                    <a:pt x="551980" y="113398"/>
                  </a:lnTo>
                  <a:lnTo>
                    <a:pt x="553224" y="120396"/>
                  </a:lnTo>
                  <a:lnTo>
                    <a:pt x="551053" y="132803"/>
                  </a:lnTo>
                  <a:lnTo>
                    <a:pt x="545033" y="140779"/>
                  </a:lnTo>
                  <a:lnTo>
                    <a:pt x="535863" y="145046"/>
                  </a:lnTo>
                  <a:lnTo>
                    <a:pt x="524268" y="146304"/>
                  </a:lnTo>
                  <a:lnTo>
                    <a:pt x="506399" y="143243"/>
                  </a:lnTo>
                  <a:lnTo>
                    <a:pt x="496836" y="135445"/>
                  </a:lnTo>
                  <a:lnTo>
                    <a:pt x="492975" y="125095"/>
                  </a:lnTo>
                  <a:lnTo>
                    <a:pt x="492264" y="114300"/>
                  </a:lnTo>
                  <a:lnTo>
                    <a:pt x="469404" y="114300"/>
                  </a:lnTo>
                  <a:lnTo>
                    <a:pt x="471754" y="131241"/>
                  </a:lnTo>
                  <a:lnTo>
                    <a:pt x="479120" y="149161"/>
                  </a:lnTo>
                  <a:lnTo>
                    <a:pt x="495325" y="163385"/>
                  </a:lnTo>
                  <a:lnTo>
                    <a:pt x="524268" y="169164"/>
                  </a:lnTo>
                  <a:lnTo>
                    <a:pt x="544576" y="165811"/>
                  </a:lnTo>
                  <a:lnTo>
                    <a:pt x="561035" y="156019"/>
                  </a:lnTo>
                  <a:lnTo>
                    <a:pt x="572058" y="140233"/>
                  </a:lnTo>
                  <a:lnTo>
                    <a:pt x="576084" y="118872"/>
                  </a:lnTo>
                  <a:close/>
                </a:path>
                <a:path w="699770" h="169545">
                  <a:moveTo>
                    <a:pt x="699528" y="118872"/>
                  </a:moveTo>
                  <a:lnTo>
                    <a:pt x="679589" y="82232"/>
                  </a:lnTo>
                  <a:lnTo>
                    <a:pt x="641616" y="67056"/>
                  </a:lnTo>
                  <a:lnTo>
                    <a:pt x="630961" y="63944"/>
                  </a:lnTo>
                  <a:lnTo>
                    <a:pt x="623900" y="60388"/>
                  </a:lnTo>
                  <a:lnTo>
                    <a:pt x="619963" y="54851"/>
                  </a:lnTo>
                  <a:lnTo>
                    <a:pt x="618756" y="45720"/>
                  </a:lnTo>
                  <a:lnTo>
                    <a:pt x="621728" y="34442"/>
                  </a:lnTo>
                  <a:lnTo>
                    <a:pt x="628853" y="27432"/>
                  </a:lnTo>
                  <a:lnTo>
                    <a:pt x="637400" y="23863"/>
                  </a:lnTo>
                  <a:lnTo>
                    <a:pt x="644664" y="22860"/>
                  </a:lnTo>
                  <a:lnTo>
                    <a:pt x="660349" y="25895"/>
                  </a:lnTo>
                  <a:lnTo>
                    <a:pt x="669620" y="33337"/>
                  </a:lnTo>
                  <a:lnTo>
                    <a:pt x="674014" y="42799"/>
                  </a:lnTo>
                  <a:lnTo>
                    <a:pt x="675144" y="51816"/>
                  </a:lnTo>
                  <a:lnTo>
                    <a:pt x="694956" y="51816"/>
                  </a:lnTo>
                  <a:lnTo>
                    <a:pt x="693762" y="40513"/>
                  </a:lnTo>
                  <a:lnTo>
                    <a:pt x="687717" y="23050"/>
                  </a:lnTo>
                  <a:lnTo>
                    <a:pt x="673087" y="7035"/>
                  </a:lnTo>
                  <a:lnTo>
                    <a:pt x="646188" y="0"/>
                  </a:lnTo>
                  <a:lnTo>
                    <a:pt x="628040" y="3175"/>
                  </a:lnTo>
                  <a:lnTo>
                    <a:pt x="611898" y="12763"/>
                  </a:lnTo>
                  <a:lnTo>
                    <a:pt x="600316" y="28943"/>
                  </a:lnTo>
                  <a:lnTo>
                    <a:pt x="595896" y="51816"/>
                  </a:lnTo>
                  <a:lnTo>
                    <a:pt x="598322" y="66776"/>
                  </a:lnTo>
                  <a:lnTo>
                    <a:pt x="605040" y="77724"/>
                  </a:lnTo>
                  <a:lnTo>
                    <a:pt x="615175" y="85255"/>
                  </a:lnTo>
                  <a:lnTo>
                    <a:pt x="627900" y="89916"/>
                  </a:lnTo>
                  <a:lnTo>
                    <a:pt x="652284" y="97536"/>
                  </a:lnTo>
                  <a:lnTo>
                    <a:pt x="663803" y="102831"/>
                  </a:lnTo>
                  <a:lnTo>
                    <a:pt x="671334" y="107823"/>
                  </a:lnTo>
                  <a:lnTo>
                    <a:pt x="675424" y="113398"/>
                  </a:lnTo>
                  <a:lnTo>
                    <a:pt x="676668" y="120396"/>
                  </a:lnTo>
                  <a:lnTo>
                    <a:pt x="674497" y="132803"/>
                  </a:lnTo>
                  <a:lnTo>
                    <a:pt x="668477" y="140779"/>
                  </a:lnTo>
                  <a:lnTo>
                    <a:pt x="659307" y="145046"/>
                  </a:lnTo>
                  <a:lnTo>
                    <a:pt x="647712" y="146304"/>
                  </a:lnTo>
                  <a:lnTo>
                    <a:pt x="629843" y="143243"/>
                  </a:lnTo>
                  <a:lnTo>
                    <a:pt x="620280" y="135445"/>
                  </a:lnTo>
                  <a:lnTo>
                    <a:pt x="616419" y="125095"/>
                  </a:lnTo>
                  <a:lnTo>
                    <a:pt x="615708" y="114300"/>
                  </a:lnTo>
                  <a:lnTo>
                    <a:pt x="592848" y="114300"/>
                  </a:lnTo>
                  <a:lnTo>
                    <a:pt x="595198" y="131241"/>
                  </a:lnTo>
                  <a:lnTo>
                    <a:pt x="602564" y="149161"/>
                  </a:lnTo>
                  <a:lnTo>
                    <a:pt x="618769" y="163385"/>
                  </a:lnTo>
                  <a:lnTo>
                    <a:pt x="647712" y="169164"/>
                  </a:lnTo>
                  <a:lnTo>
                    <a:pt x="668020" y="165811"/>
                  </a:lnTo>
                  <a:lnTo>
                    <a:pt x="684479" y="156019"/>
                  </a:lnTo>
                  <a:lnTo>
                    <a:pt x="695502" y="140233"/>
                  </a:lnTo>
                  <a:lnTo>
                    <a:pt x="699528" y="118872"/>
                  </a:lnTo>
                  <a:close/>
                </a:path>
              </a:pathLst>
            </a:custGeom>
            <a:solidFill>
              <a:srgbClr val="231F1F"/>
            </a:solidFill>
          </p:spPr>
          <p:txBody>
            <a:bodyPr wrap="square" lIns="0" tIns="0" rIns="0" bIns="0" rtlCol="0"/>
            <a:lstStyle/>
            <a:p/>
          </p:txBody>
        </p:sp>
        <p:sp>
          <p:nvSpPr>
            <p:cNvPr id="95" name="object 95"/>
            <p:cNvSpPr/>
            <p:nvPr/>
          </p:nvSpPr>
          <p:spPr>
            <a:xfrm>
              <a:off x="7313676" y="3320796"/>
              <a:ext cx="135636" cy="217932"/>
            </a:xfrm>
            <a:prstGeom prst="rect">
              <a:avLst/>
            </a:prstGeom>
            <a:blipFill>
              <a:blip r:embed="rId44" cstate="print"/>
              <a:stretch>
                <a:fillRect/>
              </a:stretch>
            </a:blipFill>
          </p:spPr>
          <p:txBody>
            <a:bodyPr wrap="square" lIns="0" tIns="0" rIns="0" bIns="0" rtlCol="0"/>
            <a:lstStyle/>
            <a:p/>
          </p:txBody>
        </p:sp>
      </p:grpSp>
      <p:sp>
        <p:nvSpPr>
          <p:cNvPr id="96" name="object 96"/>
          <p:cNvSpPr txBox="1"/>
          <p:nvPr/>
        </p:nvSpPr>
        <p:spPr>
          <a:xfrm>
            <a:off x="1154716" y="1386284"/>
            <a:ext cx="6038215" cy="327660"/>
          </a:xfrm>
          <a:prstGeom prst="rect">
            <a:avLst/>
          </a:prstGeom>
        </p:spPr>
        <p:txBody>
          <a:bodyPr vert="horz" wrap="square" lIns="0" tIns="16510" rIns="0" bIns="0" rtlCol="0">
            <a:spAutoFit/>
          </a:bodyPr>
          <a:lstStyle/>
          <a:p>
            <a:pPr marL="12700">
              <a:lnSpc>
                <a:spcPct val="100000"/>
              </a:lnSpc>
              <a:spcBef>
                <a:spcPts val="130"/>
              </a:spcBef>
              <a:tabLst>
                <a:tab pos="3315970" algn="l"/>
              </a:tabLst>
            </a:pPr>
            <a:r>
              <a:rPr sz="1950" b="1" spc="10" dirty="0">
                <a:latin typeface="Courier New" panose="02070309020205020404"/>
                <a:cs typeface="Courier New" panose="02070309020205020404"/>
              </a:rPr>
              <a:t>(</a:t>
            </a:r>
            <a:r>
              <a:rPr sz="1950" spc="10" dirty="0">
                <a:latin typeface="Courier New" panose="02070309020205020404"/>
                <a:cs typeface="Courier New" panose="02070309020205020404"/>
              </a:rPr>
              <a:t>a) Message</a:t>
            </a:r>
            <a:r>
              <a:rPr sz="1950" spc="-5" dirty="0">
                <a:latin typeface="Courier New" panose="02070309020205020404"/>
                <a:cs typeface="Courier New" panose="02070309020205020404"/>
              </a:rPr>
              <a:t> </a:t>
            </a:r>
            <a:r>
              <a:rPr sz="1950" spc="10" dirty="0">
                <a:latin typeface="Courier New" panose="02070309020205020404"/>
                <a:cs typeface="Courier New" panose="02070309020205020404"/>
              </a:rPr>
              <a:t>passing.	(b) shared</a:t>
            </a:r>
            <a:r>
              <a:rPr sz="1950" spc="-75" dirty="0">
                <a:latin typeface="Courier New" panose="02070309020205020404"/>
                <a:cs typeface="Courier New" panose="02070309020205020404"/>
              </a:rPr>
              <a:t> </a:t>
            </a:r>
            <a:r>
              <a:rPr sz="1950" spc="10" dirty="0">
                <a:latin typeface="Courier New" panose="02070309020205020404"/>
                <a:cs typeface="Courier New" panose="02070309020205020404"/>
              </a:rPr>
              <a:t>memory.</a:t>
            </a:r>
            <a:endParaRPr sz="1950">
              <a:latin typeface="Courier New" panose="02070309020205020404"/>
              <a:cs typeface="Courier New" panose="020703090202050204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9290" y="441503"/>
            <a:ext cx="7919720" cy="5102860"/>
          </a:xfrm>
          <a:prstGeom prst="rect">
            <a:avLst/>
          </a:prstGeom>
        </p:spPr>
        <p:txBody>
          <a:bodyPr vert="horz" wrap="square" lIns="0" tIns="16510" rIns="0" bIns="0" rtlCol="0">
            <a:spAutoFit/>
          </a:bodyPr>
          <a:lstStyle/>
          <a:p>
            <a:pPr marL="12700">
              <a:lnSpc>
                <a:spcPct val="100000"/>
              </a:lnSpc>
              <a:spcBef>
                <a:spcPts val="130"/>
              </a:spcBef>
              <a:tabLst>
                <a:tab pos="5268595" algn="l"/>
              </a:tabLst>
            </a:pPr>
            <a:r>
              <a:rPr sz="3050" b="1" spc="-190" dirty="0">
                <a:solidFill>
                  <a:srgbClr val="00AF50"/>
                </a:solidFill>
                <a:latin typeface="Arial" panose="020B0604020202020204"/>
                <a:cs typeface="Arial" panose="020B0604020202020204"/>
              </a:rPr>
              <a:t>Interprocess</a:t>
            </a:r>
            <a:r>
              <a:rPr sz="3050" b="1" spc="-85" dirty="0">
                <a:solidFill>
                  <a:srgbClr val="00AF50"/>
                </a:solidFill>
                <a:latin typeface="Arial" panose="020B0604020202020204"/>
                <a:cs typeface="Arial" panose="020B0604020202020204"/>
              </a:rPr>
              <a:t> </a:t>
            </a:r>
            <a:r>
              <a:rPr sz="3050" b="1" spc="-200" dirty="0">
                <a:solidFill>
                  <a:srgbClr val="00AF50"/>
                </a:solidFill>
                <a:latin typeface="Arial" panose="020B0604020202020204"/>
                <a:cs typeface="Arial" panose="020B0604020202020204"/>
              </a:rPr>
              <a:t>Communication</a:t>
            </a:r>
            <a:r>
              <a:rPr sz="3050" b="1" spc="-105" dirty="0">
                <a:solidFill>
                  <a:srgbClr val="00AF50"/>
                </a:solidFill>
                <a:latin typeface="Arial" panose="020B0604020202020204"/>
                <a:cs typeface="Arial" panose="020B0604020202020204"/>
              </a:rPr>
              <a:t> </a:t>
            </a:r>
            <a:r>
              <a:rPr sz="3050" b="1" spc="110" dirty="0">
                <a:solidFill>
                  <a:srgbClr val="00AF50"/>
                </a:solidFill>
                <a:latin typeface="Arial" panose="020B0604020202020204"/>
                <a:cs typeface="Arial" panose="020B0604020202020204"/>
              </a:rPr>
              <a:t>–	</a:t>
            </a:r>
            <a:r>
              <a:rPr sz="3050" b="1" spc="-160" dirty="0">
                <a:solidFill>
                  <a:srgbClr val="00AF50"/>
                </a:solidFill>
                <a:latin typeface="Arial" panose="020B0604020202020204"/>
                <a:cs typeface="Arial" panose="020B0604020202020204"/>
              </a:rPr>
              <a:t>Shared</a:t>
            </a:r>
            <a:r>
              <a:rPr sz="3050" b="1" spc="-195" dirty="0">
                <a:solidFill>
                  <a:srgbClr val="00AF50"/>
                </a:solidFill>
                <a:latin typeface="Arial" panose="020B0604020202020204"/>
                <a:cs typeface="Arial" panose="020B0604020202020204"/>
              </a:rPr>
              <a:t> </a:t>
            </a:r>
            <a:r>
              <a:rPr sz="3050" b="1" spc="-180" dirty="0">
                <a:solidFill>
                  <a:srgbClr val="00AF50"/>
                </a:solidFill>
                <a:latin typeface="Arial" panose="020B0604020202020204"/>
                <a:cs typeface="Arial" panose="020B0604020202020204"/>
              </a:rPr>
              <a:t>Memory</a:t>
            </a:r>
            <a:endParaRPr sz="3050">
              <a:latin typeface="Arial" panose="020B0604020202020204"/>
              <a:cs typeface="Arial" panose="020B0604020202020204"/>
            </a:endParaRPr>
          </a:p>
          <a:p>
            <a:pPr>
              <a:lnSpc>
                <a:spcPct val="100000"/>
              </a:lnSpc>
              <a:spcBef>
                <a:spcPts val="45"/>
              </a:spcBef>
            </a:pPr>
            <a:endParaRPr sz="3800">
              <a:latin typeface="Arial" panose="020B0604020202020204"/>
              <a:cs typeface="Arial" panose="020B0604020202020204"/>
            </a:endParaRPr>
          </a:p>
          <a:p>
            <a:pPr marL="550545" marR="658495" indent="-300355">
              <a:lnSpc>
                <a:spcPts val="3320"/>
              </a:lnSpc>
              <a:buClr>
                <a:srgbClr val="D34816"/>
              </a:buClr>
              <a:buSzPct val="85000"/>
              <a:buChar char=""/>
              <a:tabLst>
                <a:tab pos="551180" algn="l"/>
              </a:tabLst>
            </a:pPr>
            <a:r>
              <a:rPr sz="3050" spc="-235" dirty="0">
                <a:latin typeface="Times New Roman" panose="02020603050405020304"/>
                <a:cs typeface="Times New Roman" panose="02020603050405020304"/>
              </a:rPr>
              <a:t>An </a:t>
            </a:r>
            <a:r>
              <a:rPr sz="3050" spc="-145" dirty="0">
                <a:latin typeface="Times New Roman" panose="02020603050405020304"/>
                <a:cs typeface="Times New Roman" panose="02020603050405020304"/>
              </a:rPr>
              <a:t>area </a:t>
            </a:r>
            <a:r>
              <a:rPr sz="3050" spc="-165" dirty="0">
                <a:latin typeface="Times New Roman" panose="02020603050405020304"/>
                <a:cs typeface="Times New Roman" panose="02020603050405020304"/>
              </a:rPr>
              <a:t>of </a:t>
            </a:r>
            <a:r>
              <a:rPr sz="3050" spc="-114" dirty="0">
                <a:latin typeface="Times New Roman" panose="02020603050405020304"/>
                <a:cs typeface="Times New Roman" panose="02020603050405020304"/>
              </a:rPr>
              <a:t>memory </a:t>
            </a:r>
            <a:r>
              <a:rPr sz="3050" spc="-145" dirty="0">
                <a:latin typeface="Times New Roman" panose="02020603050405020304"/>
                <a:cs typeface="Times New Roman" panose="02020603050405020304"/>
              </a:rPr>
              <a:t>shared </a:t>
            </a:r>
            <a:r>
              <a:rPr sz="3050" spc="-175" dirty="0">
                <a:latin typeface="Times New Roman" panose="02020603050405020304"/>
                <a:cs typeface="Times New Roman" panose="02020603050405020304"/>
              </a:rPr>
              <a:t>among </a:t>
            </a:r>
            <a:r>
              <a:rPr sz="3050" spc="-80" dirty="0">
                <a:latin typeface="Times New Roman" panose="02020603050405020304"/>
                <a:cs typeface="Times New Roman" panose="02020603050405020304"/>
              </a:rPr>
              <a:t>the </a:t>
            </a:r>
            <a:r>
              <a:rPr sz="3050" spc="-195" dirty="0">
                <a:latin typeface="Times New Roman" panose="02020603050405020304"/>
                <a:cs typeface="Times New Roman" panose="02020603050405020304"/>
              </a:rPr>
              <a:t>processes  </a:t>
            </a:r>
            <a:r>
              <a:rPr sz="3050" spc="-85" dirty="0">
                <a:latin typeface="Times New Roman" panose="02020603050405020304"/>
                <a:cs typeface="Times New Roman" panose="02020603050405020304"/>
              </a:rPr>
              <a:t>that </a:t>
            </a:r>
            <a:r>
              <a:rPr sz="3050" spc="-180" dirty="0">
                <a:latin typeface="Times New Roman" panose="02020603050405020304"/>
                <a:cs typeface="Times New Roman" panose="02020603050405020304"/>
              </a:rPr>
              <a:t>wish </a:t>
            </a:r>
            <a:r>
              <a:rPr sz="3050" spc="-35" dirty="0">
                <a:latin typeface="Times New Roman" panose="02020603050405020304"/>
                <a:cs typeface="Times New Roman" panose="02020603050405020304"/>
              </a:rPr>
              <a:t>to</a:t>
            </a:r>
            <a:r>
              <a:rPr sz="3050" dirty="0">
                <a:latin typeface="Times New Roman" panose="02020603050405020304"/>
                <a:cs typeface="Times New Roman" panose="02020603050405020304"/>
              </a:rPr>
              <a:t> </a:t>
            </a:r>
            <a:r>
              <a:rPr sz="3050" spc="-135" dirty="0">
                <a:latin typeface="Times New Roman" panose="02020603050405020304"/>
                <a:cs typeface="Times New Roman" panose="02020603050405020304"/>
              </a:rPr>
              <a:t>communicate</a:t>
            </a:r>
            <a:endParaRPr sz="3050">
              <a:latin typeface="Times New Roman" panose="02020603050405020304"/>
              <a:cs typeface="Times New Roman" panose="02020603050405020304"/>
            </a:endParaRPr>
          </a:p>
          <a:p>
            <a:pPr marL="550545" marR="767080" indent="-300355">
              <a:lnSpc>
                <a:spcPts val="3320"/>
              </a:lnSpc>
              <a:spcBef>
                <a:spcPts val="680"/>
              </a:spcBef>
              <a:buClr>
                <a:srgbClr val="D34816"/>
              </a:buClr>
              <a:buSzPct val="85000"/>
              <a:buChar char=""/>
              <a:tabLst>
                <a:tab pos="551180" algn="l"/>
              </a:tabLst>
            </a:pPr>
            <a:r>
              <a:rPr sz="3050" spc="-140" dirty="0">
                <a:latin typeface="Times New Roman" panose="02020603050405020304"/>
                <a:cs typeface="Times New Roman" panose="02020603050405020304"/>
              </a:rPr>
              <a:t>The </a:t>
            </a:r>
            <a:r>
              <a:rPr sz="3050" spc="-135" dirty="0">
                <a:latin typeface="Times New Roman" panose="02020603050405020304"/>
                <a:cs typeface="Times New Roman" panose="02020603050405020304"/>
              </a:rPr>
              <a:t>communication </a:t>
            </a:r>
            <a:r>
              <a:rPr sz="3050" spc="-185" dirty="0">
                <a:latin typeface="Times New Roman" panose="02020603050405020304"/>
                <a:cs typeface="Times New Roman" panose="02020603050405020304"/>
              </a:rPr>
              <a:t>is </a:t>
            </a:r>
            <a:r>
              <a:rPr sz="3050" spc="-80" dirty="0">
                <a:latin typeface="Times New Roman" panose="02020603050405020304"/>
                <a:cs typeface="Times New Roman" panose="02020603050405020304"/>
              </a:rPr>
              <a:t>under the </a:t>
            </a:r>
            <a:r>
              <a:rPr sz="3050" spc="-85" dirty="0">
                <a:latin typeface="Times New Roman" panose="02020603050405020304"/>
                <a:cs typeface="Times New Roman" panose="02020603050405020304"/>
              </a:rPr>
              <a:t>control </a:t>
            </a:r>
            <a:r>
              <a:rPr sz="3050" spc="-165" dirty="0">
                <a:latin typeface="Times New Roman" panose="02020603050405020304"/>
                <a:cs typeface="Times New Roman" panose="02020603050405020304"/>
              </a:rPr>
              <a:t>of </a:t>
            </a:r>
            <a:r>
              <a:rPr sz="3050" spc="-229" dirty="0">
                <a:latin typeface="Times New Roman" panose="02020603050405020304"/>
                <a:cs typeface="Times New Roman" panose="02020603050405020304"/>
              </a:rPr>
              <a:t>the  </a:t>
            </a:r>
            <a:r>
              <a:rPr sz="3050" spc="-114" dirty="0">
                <a:latin typeface="Times New Roman" panose="02020603050405020304"/>
                <a:cs typeface="Times New Roman" panose="02020603050405020304"/>
              </a:rPr>
              <a:t>users </a:t>
            </a:r>
            <a:r>
              <a:rPr sz="3050" spc="-145" dirty="0">
                <a:latin typeface="Times New Roman" panose="02020603050405020304"/>
                <a:cs typeface="Times New Roman" panose="02020603050405020304"/>
              </a:rPr>
              <a:t>processes </a:t>
            </a:r>
            <a:r>
              <a:rPr sz="3050" spc="-55" dirty="0">
                <a:latin typeface="Times New Roman" panose="02020603050405020304"/>
                <a:cs typeface="Times New Roman" panose="02020603050405020304"/>
              </a:rPr>
              <a:t>not </a:t>
            </a:r>
            <a:r>
              <a:rPr sz="3050" spc="-80" dirty="0">
                <a:latin typeface="Times New Roman" panose="02020603050405020304"/>
                <a:cs typeface="Times New Roman" panose="02020603050405020304"/>
              </a:rPr>
              <a:t>the </a:t>
            </a:r>
            <a:r>
              <a:rPr sz="3050" spc="-114" dirty="0">
                <a:latin typeface="Times New Roman" panose="02020603050405020304"/>
                <a:cs typeface="Times New Roman" panose="02020603050405020304"/>
              </a:rPr>
              <a:t>operating</a:t>
            </a:r>
            <a:r>
              <a:rPr sz="3050" spc="-45" dirty="0">
                <a:latin typeface="Times New Roman" panose="02020603050405020304"/>
                <a:cs typeface="Times New Roman" panose="02020603050405020304"/>
              </a:rPr>
              <a:t> </a:t>
            </a:r>
            <a:r>
              <a:rPr sz="3050" spc="-110" dirty="0">
                <a:latin typeface="Times New Roman" panose="02020603050405020304"/>
                <a:cs typeface="Times New Roman" panose="02020603050405020304"/>
              </a:rPr>
              <a:t>system.</a:t>
            </a:r>
            <a:endParaRPr sz="3050">
              <a:latin typeface="Times New Roman" panose="02020603050405020304"/>
              <a:cs typeface="Times New Roman" panose="02020603050405020304"/>
            </a:endParaRPr>
          </a:p>
          <a:p>
            <a:pPr marL="550545" marR="870585" indent="-300355">
              <a:lnSpc>
                <a:spcPts val="3320"/>
              </a:lnSpc>
              <a:spcBef>
                <a:spcPts val="670"/>
              </a:spcBef>
              <a:buClr>
                <a:srgbClr val="D34816"/>
              </a:buClr>
              <a:buSzPct val="85000"/>
              <a:buChar char=""/>
              <a:tabLst>
                <a:tab pos="551180" algn="l"/>
              </a:tabLst>
            </a:pPr>
            <a:r>
              <a:rPr sz="3050" spc="-160" dirty="0">
                <a:latin typeface="Times New Roman" panose="02020603050405020304"/>
                <a:cs typeface="Times New Roman" panose="02020603050405020304"/>
              </a:rPr>
              <a:t>Major </a:t>
            </a:r>
            <a:r>
              <a:rPr sz="3050" spc="-180" dirty="0">
                <a:latin typeface="Times New Roman" panose="02020603050405020304"/>
                <a:cs typeface="Times New Roman" panose="02020603050405020304"/>
              </a:rPr>
              <a:t>issues </a:t>
            </a:r>
            <a:r>
              <a:rPr sz="3050" spc="-185" dirty="0">
                <a:latin typeface="Times New Roman" panose="02020603050405020304"/>
                <a:cs typeface="Times New Roman" panose="02020603050405020304"/>
              </a:rPr>
              <a:t>is </a:t>
            </a:r>
            <a:r>
              <a:rPr sz="3050" spc="-20" dirty="0">
                <a:latin typeface="Times New Roman" panose="02020603050405020304"/>
                <a:cs typeface="Times New Roman" panose="02020603050405020304"/>
              </a:rPr>
              <a:t>to </a:t>
            </a:r>
            <a:r>
              <a:rPr sz="3050" spc="-135" dirty="0">
                <a:latin typeface="Times New Roman" panose="02020603050405020304"/>
                <a:cs typeface="Times New Roman" panose="02020603050405020304"/>
              </a:rPr>
              <a:t>provide </a:t>
            </a:r>
            <a:r>
              <a:rPr sz="3050" spc="-160" dirty="0">
                <a:latin typeface="Times New Roman" panose="02020603050405020304"/>
                <a:cs typeface="Times New Roman" panose="02020603050405020304"/>
              </a:rPr>
              <a:t>mechanism </a:t>
            </a:r>
            <a:r>
              <a:rPr sz="3050" spc="-90" dirty="0">
                <a:latin typeface="Times New Roman" panose="02020603050405020304"/>
                <a:cs typeface="Times New Roman" panose="02020603050405020304"/>
              </a:rPr>
              <a:t>that </a:t>
            </a:r>
            <a:r>
              <a:rPr sz="3050" spc="-229" dirty="0">
                <a:latin typeface="Times New Roman" panose="02020603050405020304"/>
                <a:cs typeface="Times New Roman" panose="02020603050405020304"/>
              </a:rPr>
              <a:t>will  </a:t>
            </a:r>
            <a:r>
              <a:rPr sz="3050" spc="-160" dirty="0">
                <a:latin typeface="Times New Roman" panose="02020603050405020304"/>
                <a:cs typeface="Times New Roman" panose="02020603050405020304"/>
              </a:rPr>
              <a:t>allow </a:t>
            </a:r>
            <a:r>
              <a:rPr sz="3050" spc="-80" dirty="0">
                <a:latin typeface="Times New Roman" panose="02020603050405020304"/>
                <a:cs typeface="Times New Roman" panose="02020603050405020304"/>
              </a:rPr>
              <a:t>the </a:t>
            </a:r>
            <a:r>
              <a:rPr sz="3050" spc="-105" dirty="0">
                <a:latin typeface="Times New Roman" panose="02020603050405020304"/>
                <a:cs typeface="Times New Roman" panose="02020603050405020304"/>
              </a:rPr>
              <a:t>user </a:t>
            </a:r>
            <a:r>
              <a:rPr sz="3050" spc="-145" dirty="0">
                <a:latin typeface="Times New Roman" panose="02020603050405020304"/>
                <a:cs typeface="Times New Roman" panose="02020603050405020304"/>
              </a:rPr>
              <a:t>processes </a:t>
            </a:r>
            <a:r>
              <a:rPr sz="3050" spc="-35" dirty="0">
                <a:latin typeface="Times New Roman" panose="02020603050405020304"/>
                <a:cs typeface="Times New Roman" panose="02020603050405020304"/>
              </a:rPr>
              <a:t>to </a:t>
            </a:r>
            <a:r>
              <a:rPr sz="3050" spc="-140" dirty="0">
                <a:latin typeface="Times New Roman" panose="02020603050405020304"/>
                <a:cs typeface="Times New Roman" panose="02020603050405020304"/>
              </a:rPr>
              <a:t>synchronize </a:t>
            </a:r>
            <a:r>
              <a:rPr sz="3050" spc="-70" dirty="0">
                <a:latin typeface="Times New Roman" panose="02020603050405020304"/>
                <a:cs typeface="Times New Roman" panose="02020603050405020304"/>
              </a:rPr>
              <a:t>their  </a:t>
            </a:r>
            <a:r>
              <a:rPr sz="3050" spc="-135" dirty="0">
                <a:latin typeface="Times New Roman" panose="02020603050405020304"/>
                <a:cs typeface="Times New Roman" panose="02020603050405020304"/>
              </a:rPr>
              <a:t>actions </a:t>
            </a:r>
            <a:r>
              <a:rPr sz="3050" spc="-140" dirty="0">
                <a:latin typeface="Times New Roman" panose="02020603050405020304"/>
                <a:cs typeface="Times New Roman" panose="02020603050405020304"/>
              </a:rPr>
              <a:t>when </a:t>
            </a:r>
            <a:r>
              <a:rPr sz="3050" spc="-130" dirty="0">
                <a:latin typeface="Times New Roman" panose="02020603050405020304"/>
                <a:cs typeface="Times New Roman" panose="02020603050405020304"/>
              </a:rPr>
              <a:t>they </a:t>
            </a:r>
            <a:r>
              <a:rPr sz="3050" spc="-190" dirty="0">
                <a:latin typeface="Times New Roman" panose="02020603050405020304"/>
                <a:cs typeface="Times New Roman" panose="02020603050405020304"/>
              </a:rPr>
              <a:t>access </a:t>
            </a:r>
            <a:r>
              <a:rPr sz="3050" spc="-145" dirty="0">
                <a:latin typeface="Times New Roman" panose="02020603050405020304"/>
                <a:cs typeface="Times New Roman" panose="02020603050405020304"/>
              </a:rPr>
              <a:t>shared</a:t>
            </a:r>
            <a:r>
              <a:rPr sz="3050" spc="160" dirty="0">
                <a:latin typeface="Times New Roman" panose="02020603050405020304"/>
                <a:cs typeface="Times New Roman" panose="02020603050405020304"/>
              </a:rPr>
              <a:t> </a:t>
            </a:r>
            <a:r>
              <a:rPr sz="3050" spc="-125" dirty="0">
                <a:latin typeface="Times New Roman" panose="02020603050405020304"/>
                <a:cs typeface="Times New Roman" panose="02020603050405020304"/>
              </a:rPr>
              <a:t>memory.</a:t>
            </a:r>
            <a:endParaRPr sz="3050">
              <a:latin typeface="Times New Roman" panose="02020603050405020304"/>
              <a:cs typeface="Times New Roman" panose="02020603050405020304"/>
            </a:endParaRPr>
          </a:p>
          <a:p>
            <a:pPr marL="550545" marR="910590" indent="-300355">
              <a:lnSpc>
                <a:spcPts val="3320"/>
              </a:lnSpc>
              <a:spcBef>
                <a:spcPts val="685"/>
              </a:spcBef>
              <a:buClr>
                <a:srgbClr val="D34816"/>
              </a:buClr>
              <a:buSzPct val="85000"/>
              <a:buChar char=""/>
              <a:tabLst>
                <a:tab pos="551180" algn="l"/>
              </a:tabLst>
            </a:pPr>
            <a:r>
              <a:rPr sz="3050" spc="-150" dirty="0">
                <a:latin typeface="Times New Roman" panose="02020603050405020304"/>
                <a:cs typeface="Times New Roman" panose="02020603050405020304"/>
              </a:rPr>
              <a:t>Synchronization </a:t>
            </a:r>
            <a:r>
              <a:rPr sz="3050" spc="-185" dirty="0">
                <a:latin typeface="Times New Roman" panose="02020603050405020304"/>
                <a:cs typeface="Times New Roman" panose="02020603050405020304"/>
              </a:rPr>
              <a:t>is </a:t>
            </a:r>
            <a:r>
              <a:rPr sz="3050" spc="-160" dirty="0">
                <a:latin typeface="Times New Roman" panose="02020603050405020304"/>
                <a:cs typeface="Times New Roman" panose="02020603050405020304"/>
              </a:rPr>
              <a:t>discussed </a:t>
            </a:r>
            <a:r>
              <a:rPr sz="3050" spc="-130" dirty="0">
                <a:latin typeface="Times New Roman" panose="02020603050405020304"/>
                <a:cs typeface="Times New Roman" panose="02020603050405020304"/>
              </a:rPr>
              <a:t>in </a:t>
            </a:r>
            <a:r>
              <a:rPr sz="3050" spc="-100" dirty="0">
                <a:latin typeface="Times New Roman" panose="02020603050405020304"/>
                <a:cs typeface="Times New Roman" panose="02020603050405020304"/>
              </a:rPr>
              <a:t>great </a:t>
            </a:r>
            <a:r>
              <a:rPr sz="3050" spc="-130" dirty="0">
                <a:latin typeface="Times New Roman" panose="02020603050405020304"/>
                <a:cs typeface="Times New Roman" panose="02020603050405020304"/>
              </a:rPr>
              <a:t>details </a:t>
            </a:r>
            <a:r>
              <a:rPr sz="3050" spc="-345" dirty="0">
                <a:latin typeface="Times New Roman" panose="02020603050405020304"/>
                <a:cs typeface="Times New Roman" panose="02020603050405020304"/>
              </a:rPr>
              <a:t>in  </a:t>
            </a:r>
            <a:r>
              <a:rPr sz="3050" spc="-95" dirty="0">
                <a:latin typeface="Times New Roman" panose="02020603050405020304"/>
                <a:cs typeface="Times New Roman" panose="02020603050405020304"/>
              </a:rPr>
              <a:t>Chapter</a:t>
            </a:r>
            <a:r>
              <a:rPr sz="3050" spc="-105" dirty="0">
                <a:latin typeface="Times New Roman" panose="02020603050405020304"/>
                <a:cs typeface="Times New Roman" panose="02020603050405020304"/>
              </a:rPr>
              <a:t> </a:t>
            </a:r>
            <a:r>
              <a:rPr sz="3050" spc="15" dirty="0">
                <a:latin typeface="Times New Roman" panose="02020603050405020304"/>
                <a:cs typeface="Times New Roman" panose="02020603050405020304"/>
              </a:rPr>
              <a:t>6.</a:t>
            </a:r>
            <a:endParaRPr sz="3050">
              <a:latin typeface="Times New Roman" panose="02020603050405020304"/>
              <a:cs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2287" y="220526"/>
            <a:ext cx="6778625" cy="696595"/>
          </a:xfrm>
          <a:prstGeom prst="rect">
            <a:avLst/>
          </a:prstGeom>
        </p:spPr>
        <p:txBody>
          <a:bodyPr vert="horz" wrap="square" lIns="0" tIns="12700" rIns="0" bIns="0" rtlCol="0">
            <a:spAutoFit/>
          </a:bodyPr>
          <a:lstStyle/>
          <a:p>
            <a:pPr marL="12700">
              <a:lnSpc>
                <a:spcPct val="100000"/>
              </a:lnSpc>
              <a:spcBef>
                <a:spcPts val="100"/>
              </a:spcBef>
            </a:pPr>
            <a:r>
              <a:rPr sz="4400" spc="-350" dirty="0"/>
              <a:t>Producer-Consumer</a:t>
            </a:r>
            <a:r>
              <a:rPr sz="4400" spc="-160" dirty="0"/>
              <a:t> </a:t>
            </a:r>
            <a:r>
              <a:rPr sz="4400" spc="-320" dirty="0"/>
              <a:t>Problem</a:t>
            </a:r>
            <a:endParaRPr sz="4400"/>
          </a:p>
        </p:txBody>
      </p:sp>
      <p:sp>
        <p:nvSpPr>
          <p:cNvPr id="3" name="object 3"/>
          <p:cNvSpPr txBox="1"/>
          <p:nvPr/>
        </p:nvSpPr>
        <p:spPr>
          <a:xfrm>
            <a:off x="1014541" y="1378653"/>
            <a:ext cx="8037830" cy="4747260"/>
          </a:xfrm>
          <a:prstGeom prst="rect">
            <a:avLst/>
          </a:prstGeom>
        </p:spPr>
        <p:txBody>
          <a:bodyPr vert="horz" wrap="square" lIns="0" tIns="57150" rIns="0" bIns="0" rtlCol="0">
            <a:spAutoFit/>
          </a:bodyPr>
          <a:lstStyle/>
          <a:p>
            <a:pPr marL="312420" marR="219075" indent="-300355" algn="just">
              <a:lnSpc>
                <a:spcPts val="2860"/>
              </a:lnSpc>
              <a:spcBef>
                <a:spcPts val="450"/>
              </a:spcBef>
              <a:buClr>
                <a:srgbClr val="D34816"/>
              </a:buClr>
              <a:buSzPct val="85000"/>
              <a:buChar char=""/>
              <a:tabLst>
                <a:tab pos="313055" algn="l"/>
              </a:tabLst>
            </a:pPr>
            <a:r>
              <a:rPr sz="2650" spc="-160" dirty="0">
                <a:latin typeface="Times New Roman" panose="02020603050405020304"/>
                <a:cs typeface="Times New Roman" panose="02020603050405020304"/>
              </a:rPr>
              <a:t>Paradigm </a:t>
            </a:r>
            <a:r>
              <a:rPr sz="2650" spc="-105" dirty="0">
                <a:latin typeface="Times New Roman" panose="02020603050405020304"/>
                <a:cs typeface="Times New Roman" panose="02020603050405020304"/>
              </a:rPr>
              <a:t>for </a:t>
            </a:r>
            <a:r>
              <a:rPr sz="2650" spc="-120" dirty="0">
                <a:latin typeface="Times New Roman" panose="02020603050405020304"/>
                <a:cs typeface="Times New Roman" panose="02020603050405020304"/>
              </a:rPr>
              <a:t>cooperating </a:t>
            </a:r>
            <a:r>
              <a:rPr sz="2650" spc="-114" dirty="0">
                <a:latin typeface="Times New Roman" panose="02020603050405020304"/>
                <a:cs typeface="Times New Roman" panose="02020603050405020304"/>
              </a:rPr>
              <a:t>processes, </a:t>
            </a:r>
            <a:r>
              <a:rPr sz="2650" i="1" spc="-310" dirty="0">
                <a:latin typeface="Times New Roman" panose="02020603050405020304"/>
                <a:cs typeface="Times New Roman" panose="02020603050405020304"/>
              </a:rPr>
              <a:t>producer </a:t>
            </a:r>
            <a:r>
              <a:rPr sz="2650" spc="-130" dirty="0">
                <a:latin typeface="Times New Roman" panose="02020603050405020304"/>
                <a:cs typeface="Times New Roman" panose="02020603050405020304"/>
              </a:rPr>
              <a:t>process </a:t>
            </a:r>
            <a:r>
              <a:rPr sz="2650" spc="-165" dirty="0">
                <a:latin typeface="Times New Roman" panose="02020603050405020304"/>
                <a:cs typeface="Times New Roman" panose="02020603050405020304"/>
              </a:rPr>
              <a:t>produces  </a:t>
            </a:r>
            <a:r>
              <a:rPr sz="2650" spc="-114" dirty="0">
                <a:latin typeface="Times New Roman" panose="02020603050405020304"/>
                <a:cs typeface="Times New Roman" panose="02020603050405020304"/>
              </a:rPr>
              <a:t>information </a:t>
            </a:r>
            <a:r>
              <a:rPr sz="2650" spc="-85" dirty="0">
                <a:latin typeface="Times New Roman" panose="02020603050405020304"/>
                <a:cs typeface="Times New Roman" panose="02020603050405020304"/>
              </a:rPr>
              <a:t>that </a:t>
            </a:r>
            <a:r>
              <a:rPr sz="2650" spc="-170" dirty="0">
                <a:latin typeface="Times New Roman" panose="02020603050405020304"/>
                <a:cs typeface="Times New Roman" panose="02020603050405020304"/>
              </a:rPr>
              <a:t>is </a:t>
            </a:r>
            <a:r>
              <a:rPr sz="2650" spc="-140" dirty="0">
                <a:latin typeface="Times New Roman" panose="02020603050405020304"/>
                <a:cs typeface="Times New Roman" panose="02020603050405020304"/>
              </a:rPr>
              <a:t>consumed </a:t>
            </a:r>
            <a:r>
              <a:rPr sz="2650" spc="-210" dirty="0">
                <a:latin typeface="Times New Roman" panose="02020603050405020304"/>
                <a:cs typeface="Times New Roman" panose="02020603050405020304"/>
              </a:rPr>
              <a:t>by </a:t>
            </a:r>
            <a:r>
              <a:rPr sz="2650" spc="-215" dirty="0">
                <a:latin typeface="Times New Roman" panose="02020603050405020304"/>
                <a:cs typeface="Times New Roman" panose="02020603050405020304"/>
              </a:rPr>
              <a:t>a </a:t>
            </a:r>
            <a:r>
              <a:rPr sz="2650" i="1" spc="-330" dirty="0">
                <a:latin typeface="Times New Roman" panose="02020603050405020304"/>
                <a:cs typeface="Times New Roman" panose="02020603050405020304"/>
              </a:rPr>
              <a:t>consumer</a:t>
            </a:r>
            <a:r>
              <a:rPr sz="2650" i="1" spc="-275" dirty="0">
                <a:latin typeface="Times New Roman" panose="02020603050405020304"/>
                <a:cs typeface="Times New Roman" panose="02020603050405020304"/>
              </a:rPr>
              <a:t> </a:t>
            </a:r>
            <a:r>
              <a:rPr sz="2650" spc="-130" dirty="0">
                <a:latin typeface="Times New Roman" panose="02020603050405020304"/>
                <a:cs typeface="Times New Roman" panose="02020603050405020304"/>
              </a:rPr>
              <a:t>process</a:t>
            </a:r>
            <a:endParaRPr sz="2650">
              <a:latin typeface="Times New Roman" panose="02020603050405020304"/>
              <a:cs typeface="Times New Roman" panose="02020603050405020304"/>
            </a:endParaRPr>
          </a:p>
          <a:p>
            <a:pPr marL="312420" marR="5080" indent="-300355" algn="just">
              <a:lnSpc>
                <a:spcPct val="90000"/>
              </a:lnSpc>
              <a:spcBef>
                <a:spcPts val="610"/>
              </a:spcBef>
              <a:buClr>
                <a:srgbClr val="D34816"/>
              </a:buClr>
              <a:buSzPct val="85000"/>
              <a:buChar char=""/>
              <a:tabLst>
                <a:tab pos="313055" algn="l"/>
              </a:tabLst>
            </a:pPr>
            <a:r>
              <a:rPr sz="2650" spc="-305" dirty="0">
                <a:latin typeface="Times New Roman" panose="02020603050405020304"/>
                <a:cs typeface="Times New Roman" panose="02020603050405020304"/>
              </a:rPr>
              <a:t>To </a:t>
            </a:r>
            <a:r>
              <a:rPr sz="2650" spc="-155" dirty="0">
                <a:latin typeface="Times New Roman" panose="02020603050405020304"/>
                <a:cs typeface="Times New Roman" panose="02020603050405020304"/>
              </a:rPr>
              <a:t>allow </a:t>
            </a:r>
            <a:r>
              <a:rPr sz="2650" spc="-90" dirty="0">
                <a:latin typeface="Times New Roman" panose="02020603050405020304"/>
                <a:cs typeface="Times New Roman" panose="02020603050405020304"/>
              </a:rPr>
              <a:t>producer </a:t>
            </a:r>
            <a:r>
              <a:rPr sz="2650" spc="-145" dirty="0">
                <a:latin typeface="Times New Roman" panose="02020603050405020304"/>
                <a:cs typeface="Times New Roman" panose="02020603050405020304"/>
              </a:rPr>
              <a:t>and </a:t>
            </a:r>
            <a:r>
              <a:rPr sz="2650" spc="-120" dirty="0">
                <a:latin typeface="Times New Roman" panose="02020603050405020304"/>
                <a:cs typeface="Times New Roman" panose="02020603050405020304"/>
              </a:rPr>
              <a:t>consumer </a:t>
            </a:r>
            <a:r>
              <a:rPr sz="2650" spc="-140" dirty="0">
                <a:latin typeface="Times New Roman" panose="02020603050405020304"/>
                <a:cs typeface="Times New Roman" panose="02020603050405020304"/>
              </a:rPr>
              <a:t>processes </a:t>
            </a:r>
            <a:r>
              <a:rPr sz="2650" spc="-50" dirty="0">
                <a:latin typeface="Times New Roman" panose="02020603050405020304"/>
                <a:cs typeface="Times New Roman" panose="02020603050405020304"/>
              </a:rPr>
              <a:t>to run </a:t>
            </a:r>
            <a:r>
              <a:rPr sz="2650" spc="-130" dirty="0">
                <a:latin typeface="Times New Roman" panose="02020603050405020304"/>
                <a:cs typeface="Times New Roman" panose="02020603050405020304"/>
              </a:rPr>
              <a:t>concurrently,  </a:t>
            </a:r>
            <a:r>
              <a:rPr sz="2650" spc="-180" dirty="0">
                <a:latin typeface="Times New Roman" panose="02020603050405020304"/>
                <a:cs typeface="Times New Roman" panose="02020603050405020304"/>
              </a:rPr>
              <a:t>we </a:t>
            </a:r>
            <a:r>
              <a:rPr sz="2650" spc="-114" dirty="0">
                <a:latin typeface="Times New Roman" panose="02020603050405020304"/>
                <a:cs typeface="Times New Roman" panose="02020603050405020304"/>
              </a:rPr>
              <a:t>must </a:t>
            </a:r>
            <a:r>
              <a:rPr sz="2650" spc="-215" dirty="0">
                <a:latin typeface="Times New Roman" panose="02020603050405020304"/>
                <a:cs typeface="Times New Roman" panose="02020603050405020304"/>
              </a:rPr>
              <a:t>have </a:t>
            </a:r>
            <a:r>
              <a:rPr sz="2650" spc="-185" dirty="0">
                <a:latin typeface="Times New Roman" panose="02020603050405020304"/>
                <a:cs typeface="Times New Roman" panose="02020603050405020304"/>
              </a:rPr>
              <a:t>available </a:t>
            </a:r>
            <a:r>
              <a:rPr sz="2650" spc="-215" dirty="0">
                <a:latin typeface="Times New Roman" panose="02020603050405020304"/>
                <a:cs typeface="Times New Roman" panose="02020603050405020304"/>
              </a:rPr>
              <a:t>a </a:t>
            </a:r>
            <a:r>
              <a:rPr sz="2650" spc="-130" dirty="0">
                <a:latin typeface="Times New Roman" panose="02020603050405020304"/>
                <a:cs typeface="Times New Roman" panose="02020603050405020304"/>
              </a:rPr>
              <a:t>buffer </a:t>
            </a:r>
            <a:r>
              <a:rPr sz="2650" spc="-155" dirty="0">
                <a:latin typeface="Times New Roman" panose="02020603050405020304"/>
                <a:cs typeface="Times New Roman" panose="02020603050405020304"/>
              </a:rPr>
              <a:t>of </a:t>
            </a:r>
            <a:r>
              <a:rPr sz="2650" spc="-120" dirty="0">
                <a:latin typeface="Times New Roman" panose="02020603050405020304"/>
                <a:cs typeface="Times New Roman" panose="02020603050405020304"/>
              </a:rPr>
              <a:t>items </a:t>
            </a:r>
            <a:r>
              <a:rPr sz="2650" spc="-95" dirty="0">
                <a:latin typeface="Times New Roman" panose="02020603050405020304"/>
                <a:cs typeface="Times New Roman" panose="02020603050405020304"/>
              </a:rPr>
              <a:t>that </a:t>
            </a:r>
            <a:r>
              <a:rPr sz="2650" spc="-165" dirty="0">
                <a:latin typeface="Times New Roman" panose="02020603050405020304"/>
                <a:cs typeface="Times New Roman" panose="02020603050405020304"/>
              </a:rPr>
              <a:t>can </a:t>
            </a:r>
            <a:r>
              <a:rPr sz="2650" spc="-125" dirty="0">
                <a:latin typeface="Times New Roman" panose="02020603050405020304"/>
                <a:cs typeface="Times New Roman" panose="02020603050405020304"/>
              </a:rPr>
              <a:t>be </a:t>
            </a:r>
            <a:r>
              <a:rPr sz="2650" spc="-135" dirty="0">
                <a:latin typeface="Times New Roman" panose="02020603050405020304"/>
                <a:cs typeface="Times New Roman" panose="02020603050405020304"/>
              </a:rPr>
              <a:t>filled </a:t>
            </a:r>
            <a:r>
              <a:rPr sz="2650" spc="-200" dirty="0">
                <a:latin typeface="Times New Roman" panose="02020603050405020304"/>
                <a:cs typeface="Times New Roman" panose="02020603050405020304"/>
              </a:rPr>
              <a:t>by </a:t>
            </a:r>
            <a:r>
              <a:rPr sz="2650" spc="-85" dirty="0">
                <a:latin typeface="Times New Roman" panose="02020603050405020304"/>
                <a:cs typeface="Times New Roman" panose="02020603050405020304"/>
              </a:rPr>
              <a:t>the  </a:t>
            </a:r>
            <a:r>
              <a:rPr sz="2650" spc="-90" dirty="0">
                <a:latin typeface="Times New Roman" panose="02020603050405020304"/>
                <a:cs typeface="Times New Roman" panose="02020603050405020304"/>
              </a:rPr>
              <a:t>producer </a:t>
            </a:r>
            <a:r>
              <a:rPr sz="2650" spc="-155" dirty="0">
                <a:latin typeface="Times New Roman" panose="02020603050405020304"/>
                <a:cs typeface="Times New Roman" panose="02020603050405020304"/>
              </a:rPr>
              <a:t>and </a:t>
            </a:r>
            <a:r>
              <a:rPr sz="2650" spc="-105" dirty="0">
                <a:latin typeface="Times New Roman" panose="02020603050405020304"/>
                <a:cs typeface="Times New Roman" panose="02020603050405020304"/>
              </a:rPr>
              <a:t>emptied </a:t>
            </a:r>
            <a:r>
              <a:rPr sz="2650" spc="-210" dirty="0">
                <a:latin typeface="Times New Roman" panose="02020603050405020304"/>
                <a:cs typeface="Times New Roman" panose="02020603050405020304"/>
              </a:rPr>
              <a:t>by </a:t>
            </a:r>
            <a:r>
              <a:rPr sz="2650" spc="-85" dirty="0">
                <a:latin typeface="Times New Roman" panose="02020603050405020304"/>
                <a:cs typeface="Times New Roman" panose="02020603050405020304"/>
              </a:rPr>
              <a:t>the</a:t>
            </a:r>
            <a:r>
              <a:rPr sz="2650" spc="175" dirty="0">
                <a:latin typeface="Times New Roman" panose="02020603050405020304"/>
                <a:cs typeface="Times New Roman" panose="02020603050405020304"/>
              </a:rPr>
              <a:t> </a:t>
            </a:r>
            <a:r>
              <a:rPr sz="2650" spc="-120" dirty="0">
                <a:latin typeface="Times New Roman" panose="02020603050405020304"/>
                <a:cs typeface="Times New Roman" panose="02020603050405020304"/>
              </a:rPr>
              <a:t>consumer.</a:t>
            </a:r>
            <a:endParaRPr sz="2650">
              <a:latin typeface="Times New Roman" panose="02020603050405020304"/>
              <a:cs typeface="Times New Roman" panose="02020603050405020304"/>
            </a:endParaRPr>
          </a:p>
          <a:p>
            <a:pPr marL="312420" marR="284480" indent="-300355">
              <a:lnSpc>
                <a:spcPts val="2860"/>
              </a:lnSpc>
              <a:spcBef>
                <a:spcPts val="700"/>
              </a:spcBef>
              <a:buClr>
                <a:srgbClr val="D34816"/>
              </a:buClr>
              <a:buSzPct val="85000"/>
              <a:buChar char=""/>
              <a:tabLst>
                <a:tab pos="313055" algn="l"/>
              </a:tabLst>
            </a:pPr>
            <a:r>
              <a:rPr sz="2650" spc="-165" dirty="0">
                <a:latin typeface="Times New Roman" panose="02020603050405020304"/>
                <a:cs typeface="Times New Roman" panose="02020603050405020304"/>
              </a:rPr>
              <a:t>This </a:t>
            </a:r>
            <a:r>
              <a:rPr sz="2650" spc="-125" dirty="0">
                <a:latin typeface="Times New Roman" panose="02020603050405020304"/>
                <a:cs typeface="Times New Roman" panose="02020603050405020304"/>
              </a:rPr>
              <a:t>buffer will </a:t>
            </a:r>
            <a:r>
              <a:rPr sz="2650" spc="-110" dirty="0">
                <a:latin typeface="Times New Roman" panose="02020603050405020304"/>
                <a:cs typeface="Times New Roman" panose="02020603050405020304"/>
              </a:rPr>
              <a:t>reside </a:t>
            </a:r>
            <a:r>
              <a:rPr sz="2650" spc="-140" dirty="0">
                <a:latin typeface="Times New Roman" panose="02020603050405020304"/>
                <a:cs typeface="Times New Roman" panose="02020603050405020304"/>
              </a:rPr>
              <a:t>in </a:t>
            </a:r>
            <a:r>
              <a:rPr sz="2650" spc="-215" dirty="0">
                <a:latin typeface="Times New Roman" panose="02020603050405020304"/>
                <a:cs typeface="Times New Roman" panose="02020603050405020304"/>
              </a:rPr>
              <a:t>a </a:t>
            </a:r>
            <a:r>
              <a:rPr sz="2650" spc="-114" dirty="0">
                <a:latin typeface="Times New Roman" panose="02020603050405020304"/>
                <a:cs typeface="Times New Roman" panose="02020603050405020304"/>
              </a:rPr>
              <a:t>region </a:t>
            </a:r>
            <a:r>
              <a:rPr sz="2650" spc="-155" dirty="0">
                <a:latin typeface="Times New Roman" panose="02020603050405020304"/>
                <a:cs typeface="Times New Roman" panose="02020603050405020304"/>
              </a:rPr>
              <a:t>of </a:t>
            </a:r>
            <a:r>
              <a:rPr sz="2650" spc="-120" dirty="0">
                <a:latin typeface="Times New Roman" panose="02020603050405020304"/>
                <a:cs typeface="Times New Roman" panose="02020603050405020304"/>
              </a:rPr>
              <a:t>memory </a:t>
            </a:r>
            <a:r>
              <a:rPr sz="2650" spc="-85" dirty="0">
                <a:latin typeface="Times New Roman" panose="02020603050405020304"/>
                <a:cs typeface="Times New Roman" panose="02020603050405020304"/>
              </a:rPr>
              <a:t>that </a:t>
            </a:r>
            <a:r>
              <a:rPr sz="2650" spc="-170" dirty="0">
                <a:latin typeface="Times New Roman" panose="02020603050405020304"/>
                <a:cs typeface="Times New Roman" panose="02020603050405020304"/>
              </a:rPr>
              <a:t>is </a:t>
            </a:r>
            <a:r>
              <a:rPr sz="2650" spc="-140" dirty="0">
                <a:latin typeface="Times New Roman" panose="02020603050405020304"/>
                <a:cs typeface="Times New Roman" panose="02020603050405020304"/>
              </a:rPr>
              <a:t>shared </a:t>
            </a:r>
            <a:r>
              <a:rPr sz="2650" spc="-375" dirty="0">
                <a:latin typeface="Times New Roman" panose="02020603050405020304"/>
                <a:cs typeface="Times New Roman" panose="02020603050405020304"/>
              </a:rPr>
              <a:t>by  </a:t>
            </a:r>
            <a:r>
              <a:rPr sz="2650" spc="-85" dirty="0">
                <a:latin typeface="Times New Roman" panose="02020603050405020304"/>
                <a:cs typeface="Times New Roman" panose="02020603050405020304"/>
              </a:rPr>
              <a:t>the </a:t>
            </a:r>
            <a:r>
              <a:rPr sz="2650" spc="-90" dirty="0">
                <a:latin typeface="Times New Roman" panose="02020603050405020304"/>
                <a:cs typeface="Times New Roman" panose="02020603050405020304"/>
              </a:rPr>
              <a:t>producer </a:t>
            </a:r>
            <a:r>
              <a:rPr sz="2650" spc="-155" dirty="0">
                <a:latin typeface="Times New Roman" panose="02020603050405020304"/>
                <a:cs typeface="Times New Roman" panose="02020603050405020304"/>
              </a:rPr>
              <a:t>and </a:t>
            </a:r>
            <a:r>
              <a:rPr sz="2650" spc="-120" dirty="0">
                <a:latin typeface="Times New Roman" panose="02020603050405020304"/>
                <a:cs typeface="Times New Roman" panose="02020603050405020304"/>
              </a:rPr>
              <a:t>consumer</a:t>
            </a:r>
            <a:r>
              <a:rPr sz="2650" spc="30" dirty="0">
                <a:latin typeface="Times New Roman" panose="02020603050405020304"/>
                <a:cs typeface="Times New Roman" panose="02020603050405020304"/>
              </a:rPr>
              <a:t> </a:t>
            </a:r>
            <a:r>
              <a:rPr sz="2650" spc="-120" dirty="0">
                <a:latin typeface="Times New Roman" panose="02020603050405020304"/>
                <a:cs typeface="Times New Roman" panose="02020603050405020304"/>
              </a:rPr>
              <a:t>processes.</a:t>
            </a:r>
            <a:endParaRPr sz="2650">
              <a:latin typeface="Times New Roman" panose="02020603050405020304"/>
              <a:cs typeface="Times New Roman" panose="02020603050405020304"/>
            </a:endParaRPr>
          </a:p>
          <a:p>
            <a:pPr marL="312420" marR="929640" indent="-300355">
              <a:lnSpc>
                <a:spcPts val="2860"/>
              </a:lnSpc>
              <a:spcBef>
                <a:spcPts val="635"/>
              </a:spcBef>
              <a:buClr>
                <a:srgbClr val="D34816"/>
              </a:buClr>
              <a:buSzPct val="85000"/>
              <a:buChar char=""/>
              <a:tabLst>
                <a:tab pos="313055" algn="l"/>
              </a:tabLst>
            </a:pPr>
            <a:r>
              <a:rPr sz="2650" spc="-345" dirty="0">
                <a:latin typeface="Times New Roman" panose="02020603050405020304"/>
                <a:cs typeface="Times New Roman" panose="02020603050405020304"/>
              </a:rPr>
              <a:t>A </a:t>
            </a:r>
            <a:r>
              <a:rPr sz="2650" spc="-90" dirty="0">
                <a:latin typeface="Times New Roman" panose="02020603050405020304"/>
                <a:cs typeface="Times New Roman" panose="02020603050405020304"/>
              </a:rPr>
              <a:t>producer </a:t>
            </a:r>
            <a:r>
              <a:rPr sz="2650" spc="-165" dirty="0">
                <a:latin typeface="Times New Roman" panose="02020603050405020304"/>
                <a:cs typeface="Times New Roman" panose="02020603050405020304"/>
              </a:rPr>
              <a:t>can </a:t>
            </a:r>
            <a:r>
              <a:rPr sz="2650" spc="-105" dirty="0">
                <a:latin typeface="Times New Roman" panose="02020603050405020304"/>
                <a:cs typeface="Times New Roman" panose="02020603050405020304"/>
              </a:rPr>
              <a:t>produce </a:t>
            </a:r>
            <a:r>
              <a:rPr sz="2650" spc="-110" dirty="0">
                <a:latin typeface="Times New Roman" panose="02020603050405020304"/>
                <a:cs typeface="Times New Roman" panose="02020603050405020304"/>
              </a:rPr>
              <a:t>one </a:t>
            </a:r>
            <a:r>
              <a:rPr sz="2650" spc="-95" dirty="0">
                <a:latin typeface="Times New Roman" panose="02020603050405020304"/>
                <a:cs typeface="Times New Roman" panose="02020603050405020304"/>
              </a:rPr>
              <a:t>item </a:t>
            </a:r>
            <a:r>
              <a:rPr sz="2650" spc="-140" dirty="0">
                <a:latin typeface="Times New Roman" panose="02020603050405020304"/>
                <a:cs typeface="Times New Roman" panose="02020603050405020304"/>
              </a:rPr>
              <a:t>while </a:t>
            </a:r>
            <a:r>
              <a:rPr sz="2650" spc="-95" dirty="0">
                <a:latin typeface="Times New Roman" panose="02020603050405020304"/>
                <a:cs typeface="Times New Roman" panose="02020603050405020304"/>
              </a:rPr>
              <a:t>the </a:t>
            </a:r>
            <a:r>
              <a:rPr sz="2650" spc="-120" dirty="0">
                <a:latin typeface="Times New Roman" panose="02020603050405020304"/>
                <a:cs typeface="Times New Roman" panose="02020603050405020304"/>
              </a:rPr>
              <a:t>consumer </a:t>
            </a:r>
            <a:r>
              <a:rPr sz="2650" spc="-345" dirty="0">
                <a:latin typeface="Times New Roman" panose="02020603050405020304"/>
                <a:cs typeface="Times New Roman" panose="02020603050405020304"/>
              </a:rPr>
              <a:t>is  </a:t>
            </a:r>
            <a:r>
              <a:rPr sz="2650" spc="-155" dirty="0">
                <a:latin typeface="Times New Roman" panose="02020603050405020304"/>
                <a:cs typeface="Times New Roman" panose="02020603050405020304"/>
              </a:rPr>
              <a:t>consuming </a:t>
            </a:r>
            <a:r>
              <a:rPr sz="2650" spc="-100" dirty="0">
                <a:latin typeface="Times New Roman" panose="02020603050405020304"/>
                <a:cs typeface="Times New Roman" panose="02020603050405020304"/>
              </a:rPr>
              <a:t>another</a:t>
            </a:r>
            <a:r>
              <a:rPr sz="2650" spc="5" dirty="0">
                <a:latin typeface="Times New Roman" panose="02020603050405020304"/>
                <a:cs typeface="Times New Roman" panose="02020603050405020304"/>
              </a:rPr>
              <a:t> </a:t>
            </a:r>
            <a:r>
              <a:rPr sz="2650" spc="-55" dirty="0">
                <a:latin typeface="Times New Roman" panose="02020603050405020304"/>
                <a:cs typeface="Times New Roman" panose="02020603050405020304"/>
              </a:rPr>
              <a:t>item.</a:t>
            </a:r>
            <a:endParaRPr sz="2650">
              <a:latin typeface="Times New Roman" panose="02020603050405020304"/>
              <a:cs typeface="Times New Roman" panose="02020603050405020304"/>
            </a:endParaRPr>
          </a:p>
          <a:p>
            <a:pPr marL="312420" marR="191135" indent="-300355">
              <a:lnSpc>
                <a:spcPts val="2860"/>
              </a:lnSpc>
              <a:spcBef>
                <a:spcPts val="645"/>
              </a:spcBef>
              <a:buClr>
                <a:srgbClr val="D34816"/>
              </a:buClr>
              <a:buSzPct val="85000"/>
              <a:buChar char=""/>
              <a:tabLst>
                <a:tab pos="313055" algn="l"/>
              </a:tabLst>
            </a:pPr>
            <a:r>
              <a:rPr sz="2650" spc="-140" dirty="0">
                <a:latin typeface="Times New Roman" panose="02020603050405020304"/>
                <a:cs typeface="Times New Roman" panose="02020603050405020304"/>
              </a:rPr>
              <a:t>The </a:t>
            </a:r>
            <a:r>
              <a:rPr sz="2650" spc="-90" dirty="0">
                <a:latin typeface="Times New Roman" panose="02020603050405020304"/>
                <a:cs typeface="Times New Roman" panose="02020603050405020304"/>
              </a:rPr>
              <a:t>producer </a:t>
            </a:r>
            <a:r>
              <a:rPr sz="2650" spc="-155" dirty="0">
                <a:latin typeface="Times New Roman" panose="02020603050405020304"/>
                <a:cs typeface="Times New Roman" panose="02020603050405020304"/>
              </a:rPr>
              <a:t>and </a:t>
            </a:r>
            <a:r>
              <a:rPr sz="2650" spc="-120" dirty="0">
                <a:latin typeface="Times New Roman" panose="02020603050405020304"/>
                <a:cs typeface="Times New Roman" panose="02020603050405020304"/>
              </a:rPr>
              <a:t>consumer must </a:t>
            </a:r>
            <a:r>
              <a:rPr sz="2650" spc="-125" dirty="0">
                <a:latin typeface="Times New Roman" panose="02020603050405020304"/>
                <a:cs typeface="Times New Roman" panose="02020603050405020304"/>
              </a:rPr>
              <a:t>be </a:t>
            </a:r>
            <a:r>
              <a:rPr sz="2650" spc="-120" dirty="0">
                <a:latin typeface="Times New Roman" panose="02020603050405020304"/>
                <a:cs typeface="Times New Roman" panose="02020603050405020304"/>
              </a:rPr>
              <a:t>synchronized, </a:t>
            </a:r>
            <a:r>
              <a:rPr sz="2650" spc="-170" dirty="0">
                <a:latin typeface="Times New Roman" panose="02020603050405020304"/>
                <a:cs typeface="Times New Roman" panose="02020603050405020304"/>
              </a:rPr>
              <a:t>so </a:t>
            </a:r>
            <a:r>
              <a:rPr sz="2650" spc="-95" dirty="0">
                <a:latin typeface="Times New Roman" panose="02020603050405020304"/>
                <a:cs typeface="Times New Roman" panose="02020603050405020304"/>
              </a:rPr>
              <a:t>that </a:t>
            </a:r>
            <a:r>
              <a:rPr sz="2650" spc="-200" dirty="0">
                <a:latin typeface="Times New Roman" panose="02020603050405020304"/>
                <a:cs typeface="Times New Roman" panose="02020603050405020304"/>
              </a:rPr>
              <a:t>the  </a:t>
            </a:r>
            <a:r>
              <a:rPr sz="2650" spc="-125" dirty="0">
                <a:latin typeface="Times New Roman" panose="02020603050405020304"/>
                <a:cs typeface="Times New Roman" panose="02020603050405020304"/>
              </a:rPr>
              <a:t>consumer </a:t>
            </a:r>
            <a:r>
              <a:rPr sz="2650" spc="-135" dirty="0">
                <a:latin typeface="Times New Roman" panose="02020603050405020304"/>
                <a:cs typeface="Times New Roman" panose="02020603050405020304"/>
              </a:rPr>
              <a:t>does </a:t>
            </a:r>
            <a:r>
              <a:rPr sz="2650" spc="-65" dirty="0">
                <a:latin typeface="Times New Roman" panose="02020603050405020304"/>
                <a:cs typeface="Times New Roman" panose="02020603050405020304"/>
              </a:rPr>
              <a:t>not </a:t>
            </a:r>
            <a:r>
              <a:rPr sz="2650" spc="-55" dirty="0">
                <a:latin typeface="Times New Roman" panose="02020603050405020304"/>
                <a:cs typeface="Times New Roman" panose="02020603050405020304"/>
              </a:rPr>
              <a:t>try </a:t>
            </a:r>
            <a:r>
              <a:rPr sz="2650" spc="-50" dirty="0">
                <a:latin typeface="Times New Roman" panose="02020603050405020304"/>
                <a:cs typeface="Times New Roman" panose="02020603050405020304"/>
              </a:rPr>
              <a:t>to </a:t>
            </a:r>
            <a:r>
              <a:rPr sz="2650" spc="-145" dirty="0">
                <a:latin typeface="Times New Roman" panose="02020603050405020304"/>
                <a:cs typeface="Times New Roman" panose="02020603050405020304"/>
              </a:rPr>
              <a:t>consume </a:t>
            </a:r>
            <a:r>
              <a:rPr sz="2650" spc="-175" dirty="0">
                <a:latin typeface="Times New Roman" panose="02020603050405020304"/>
                <a:cs typeface="Times New Roman" panose="02020603050405020304"/>
              </a:rPr>
              <a:t>an </a:t>
            </a:r>
            <a:r>
              <a:rPr sz="2650" spc="-100" dirty="0">
                <a:latin typeface="Times New Roman" panose="02020603050405020304"/>
                <a:cs typeface="Times New Roman" panose="02020603050405020304"/>
              </a:rPr>
              <a:t>item </a:t>
            </a:r>
            <a:r>
              <a:rPr sz="2650" spc="-85" dirty="0">
                <a:latin typeface="Times New Roman" panose="02020603050405020304"/>
                <a:cs typeface="Times New Roman" panose="02020603050405020304"/>
              </a:rPr>
              <a:t>that </a:t>
            </a:r>
            <a:r>
              <a:rPr sz="2650" spc="-200" dirty="0">
                <a:latin typeface="Times New Roman" panose="02020603050405020304"/>
                <a:cs typeface="Times New Roman" panose="02020603050405020304"/>
              </a:rPr>
              <a:t>has </a:t>
            </a:r>
            <a:r>
              <a:rPr sz="2650" spc="-75" dirty="0">
                <a:latin typeface="Times New Roman" panose="02020603050405020304"/>
                <a:cs typeface="Times New Roman" panose="02020603050405020304"/>
              </a:rPr>
              <a:t>not </a:t>
            </a:r>
            <a:r>
              <a:rPr sz="2650" spc="-110" dirty="0">
                <a:latin typeface="Times New Roman" panose="02020603050405020304"/>
                <a:cs typeface="Times New Roman" panose="02020603050405020304"/>
              </a:rPr>
              <a:t>yet  </a:t>
            </a:r>
            <a:r>
              <a:rPr sz="2650" spc="-120" dirty="0">
                <a:latin typeface="Times New Roman" panose="02020603050405020304"/>
                <a:cs typeface="Times New Roman" panose="02020603050405020304"/>
              </a:rPr>
              <a:t>been</a:t>
            </a:r>
            <a:r>
              <a:rPr sz="2650" spc="-85" dirty="0">
                <a:latin typeface="Times New Roman" panose="02020603050405020304"/>
                <a:cs typeface="Times New Roman" panose="02020603050405020304"/>
              </a:rPr>
              <a:t> produced.</a:t>
            </a:r>
            <a:endParaRPr sz="2650">
              <a:latin typeface="Times New Roman" panose="02020603050405020304"/>
              <a:cs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2287" y="220526"/>
            <a:ext cx="6778625" cy="696595"/>
          </a:xfrm>
          <a:prstGeom prst="rect">
            <a:avLst/>
          </a:prstGeom>
        </p:spPr>
        <p:txBody>
          <a:bodyPr vert="horz" wrap="square" lIns="0" tIns="12700" rIns="0" bIns="0" rtlCol="0">
            <a:spAutoFit/>
          </a:bodyPr>
          <a:lstStyle/>
          <a:p>
            <a:pPr marL="12700">
              <a:lnSpc>
                <a:spcPct val="100000"/>
              </a:lnSpc>
              <a:spcBef>
                <a:spcPts val="100"/>
              </a:spcBef>
            </a:pPr>
            <a:r>
              <a:rPr sz="4400" spc="-350" dirty="0"/>
              <a:t>Producer-Consumer</a:t>
            </a:r>
            <a:r>
              <a:rPr sz="4400" spc="-160" dirty="0"/>
              <a:t> </a:t>
            </a:r>
            <a:r>
              <a:rPr sz="4400" spc="-320" dirty="0"/>
              <a:t>Problem</a:t>
            </a:r>
            <a:endParaRPr sz="4400"/>
          </a:p>
        </p:txBody>
      </p:sp>
      <p:sp>
        <p:nvSpPr>
          <p:cNvPr id="3" name="object 3"/>
          <p:cNvSpPr txBox="1"/>
          <p:nvPr/>
        </p:nvSpPr>
        <p:spPr>
          <a:xfrm>
            <a:off x="1014541" y="1352676"/>
            <a:ext cx="7891145" cy="3150235"/>
          </a:xfrm>
          <a:prstGeom prst="rect">
            <a:avLst/>
          </a:prstGeom>
        </p:spPr>
        <p:txBody>
          <a:bodyPr vert="horz" wrap="square" lIns="0" tIns="67945" rIns="0" bIns="0" rtlCol="0">
            <a:spAutoFit/>
          </a:bodyPr>
          <a:lstStyle/>
          <a:p>
            <a:pPr marL="364490">
              <a:lnSpc>
                <a:spcPct val="100000"/>
              </a:lnSpc>
              <a:spcBef>
                <a:spcPts val="535"/>
              </a:spcBef>
            </a:pPr>
            <a:r>
              <a:rPr sz="2650" spc="-254" dirty="0">
                <a:latin typeface="Times New Roman" panose="02020603050405020304"/>
                <a:cs typeface="Times New Roman" panose="02020603050405020304"/>
              </a:rPr>
              <a:t>Two </a:t>
            </a:r>
            <a:r>
              <a:rPr sz="2650" spc="-130" dirty="0">
                <a:latin typeface="Times New Roman" panose="02020603050405020304"/>
                <a:cs typeface="Times New Roman" panose="02020603050405020304"/>
              </a:rPr>
              <a:t>types </a:t>
            </a:r>
            <a:r>
              <a:rPr sz="2650" spc="-155" dirty="0">
                <a:latin typeface="Times New Roman" panose="02020603050405020304"/>
                <a:cs typeface="Times New Roman" panose="02020603050405020304"/>
              </a:rPr>
              <a:t>of </a:t>
            </a:r>
            <a:r>
              <a:rPr sz="2650" spc="-135" dirty="0">
                <a:latin typeface="Times New Roman" panose="02020603050405020304"/>
                <a:cs typeface="Times New Roman" panose="02020603050405020304"/>
              </a:rPr>
              <a:t>buffers </a:t>
            </a:r>
            <a:r>
              <a:rPr sz="2650" spc="-165" dirty="0">
                <a:latin typeface="Times New Roman" panose="02020603050405020304"/>
                <a:cs typeface="Times New Roman" panose="02020603050405020304"/>
              </a:rPr>
              <a:t>can </a:t>
            </a:r>
            <a:r>
              <a:rPr sz="2650" spc="-125" dirty="0">
                <a:latin typeface="Times New Roman" panose="02020603050405020304"/>
                <a:cs typeface="Times New Roman" panose="02020603050405020304"/>
              </a:rPr>
              <a:t>be</a:t>
            </a:r>
            <a:r>
              <a:rPr sz="2650" spc="-20" dirty="0">
                <a:latin typeface="Times New Roman" panose="02020603050405020304"/>
                <a:cs typeface="Times New Roman" panose="02020603050405020304"/>
              </a:rPr>
              <a:t> </a:t>
            </a:r>
            <a:r>
              <a:rPr sz="2650" spc="-90" dirty="0">
                <a:latin typeface="Times New Roman" panose="02020603050405020304"/>
                <a:cs typeface="Times New Roman" panose="02020603050405020304"/>
              </a:rPr>
              <a:t>used.</a:t>
            </a:r>
            <a:endParaRPr sz="2650">
              <a:latin typeface="Times New Roman" panose="02020603050405020304"/>
              <a:cs typeface="Times New Roman" panose="02020603050405020304"/>
            </a:endParaRPr>
          </a:p>
          <a:p>
            <a:pPr marL="615950" marR="5080" indent="-252095">
              <a:lnSpc>
                <a:spcPts val="3170"/>
              </a:lnSpc>
              <a:spcBef>
                <a:spcPts val="545"/>
              </a:spcBef>
              <a:buClr>
                <a:srgbClr val="9A2D1F"/>
              </a:buClr>
              <a:buSzPct val="85000"/>
              <a:buFont typeface="Webdings" panose="05030102010509060703"/>
              <a:buChar char=""/>
              <a:tabLst>
                <a:tab pos="616585" algn="l"/>
              </a:tabLst>
            </a:pPr>
            <a:r>
              <a:rPr sz="2650" b="1" spc="-110" dirty="0">
                <a:solidFill>
                  <a:srgbClr val="3366FF"/>
                </a:solidFill>
                <a:latin typeface="Trebuchet MS" panose="020B0603020202020204"/>
                <a:cs typeface="Trebuchet MS" panose="020B0603020202020204"/>
              </a:rPr>
              <a:t>unbounded-buffer </a:t>
            </a:r>
            <a:r>
              <a:rPr sz="2650" spc="-155" dirty="0">
                <a:latin typeface="Times New Roman" panose="02020603050405020304"/>
                <a:cs typeface="Times New Roman" panose="02020603050405020304"/>
              </a:rPr>
              <a:t>places </a:t>
            </a:r>
            <a:r>
              <a:rPr sz="2650" spc="-114" dirty="0">
                <a:latin typeface="Times New Roman" panose="02020603050405020304"/>
                <a:cs typeface="Times New Roman" panose="02020603050405020304"/>
              </a:rPr>
              <a:t>no </a:t>
            </a:r>
            <a:r>
              <a:rPr sz="2650" spc="-120" dirty="0">
                <a:latin typeface="Times New Roman" panose="02020603050405020304"/>
                <a:cs typeface="Times New Roman" panose="02020603050405020304"/>
              </a:rPr>
              <a:t>practical </a:t>
            </a:r>
            <a:r>
              <a:rPr sz="2650" spc="-105" dirty="0">
                <a:latin typeface="Times New Roman" panose="02020603050405020304"/>
                <a:cs typeface="Times New Roman" panose="02020603050405020304"/>
              </a:rPr>
              <a:t>limit </a:t>
            </a:r>
            <a:r>
              <a:rPr sz="2650" spc="-114" dirty="0">
                <a:latin typeface="Times New Roman" panose="02020603050405020304"/>
                <a:cs typeface="Times New Roman" panose="02020603050405020304"/>
              </a:rPr>
              <a:t>on </a:t>
            </a:r>
            <a:r>
              <a:rPr sz="2650" spc="-85" dirty="0">
                <a:latin typeface="Times New Roman" panose="02020603050405020304"/>
                <a:cs typeface="Times New Roman" panose="02020603050405020304"/>
              </a:rPr>
              <a:t>the </a:t>
            </a:r>
            <a:r>
              <a:rPr sz="2650" spc="-170" dirty="0">
                <a:latin typeface="Times New Roman" panose="02020603050405020304"/>
                <a:cs typeface="Times New Roman" panose="02020603050405020304"/>
              </a:rPr>
              <a:t>size </a:t>
            </a:r>
            <a:r>
              <a:rPr sz="2650" spc="-155" dirty="0">
                <a:latin typeface="Times New Roman" panose="02020603050405020304"/>
                <a:cs typeface="Times New Roman" panose="02020603050405020304"/>
              </a:rPr>
              <a:t>of  </a:t>
            </a:r>
            <a:r>
              <a:rPr sz="2650" spc="-85" dirty="0">
                <a:latin typeface="Times New Roman" panose="02020603050405020304"/>
                <a:cs typeface="Times New Roman" panose="02020603050405020304"/>
              </a:rPr>
              <a:t>the</a:t>
            </a:r>
            <a:r>
              <a:rPr sz="2650" spc="-80" dirty="0">
                <a:latin typeface="Times New Roman" panose="02020603050405020304"/>
                <a:cs typeface="Times New Roman" panose="02020603050405020304"/>
              </a:rPr>
              <a:t> </a:t>
            </a:r>
            <a:r>
              <a:rPr sz="2650" spc="-130" dirty="0">
                <a:latin typeface="Times New Roman" panose="02020603050405020304"/>
                <a:cs typeface="Times New Roman" panose="02020603050405020304"/>
              </a:rPr>
              <a:t>buffer</a:t>
            </a:r>
            <a:endParaRPr sz="2650">
              <a:latin typeface="Times New Roman" panose="02020603050405020304"/>
              <a:cs typeface="Times New Roman" panose="02020603050405020304"/>
            </a:endParaRPr>
          </a:p>
          <a:p>
            <a:pPr marL="615950" indent="-252095">
              <a:lnSpc>
                <a:spcPct val="100000"/>
              </a:lnSpc>
              <a:spcBef>
                <a:spcPts val="315"/>
              </a:spcBef>
              <a:buClr>
                <a:srgbClr val="9A2D1F"/>
              </a:buClr>
              <a:buSzPct val="85000"/>
              <a:buFont typeface="Webdings" panose="05030102010509060703"/>
              <a:buChar char=""/>
              <a:tabLst>
                <a:tab pos="616585" algn="l"/>
              </a:tabLst>
            </a:pPr>
            <a:r>
              <a:rPr sz="2650" b="1" spc="-110" dirty="0">
                <a:solidFill>
                  <a:srgbClr val="3366FF"/>
                </a:solidFill>
                <a:latin typeface="Trebuchet MS" panose="020B0603020202020204"/>
                <a:cs typeface="Trebuchet MS" panose="020B0603020202020204"/>
              </a:rPr>
              <a:t>bounded-buffer </a:t>
            </a:r>
            <a:r>
              <a:rPr sz="2650" spc="-180" dirty="0">
                <a:latin typeface="Times New Roman" panose="02020603050405020304"/>
                <a:cs typeface="Times New Roman" panose="02020603050405020304"/>
              </a:rPr>
              <a:t>assumes </a:t>
            </a:r>
            <a:r>
              <a:rPr sz="2650" spc="-95" dirty="0">
                <a:latin typeface="Times New Roman" panose="02020603050405020304"/>
                <a:cs typeface="Times New Roman" panose="02020603050405020304"/>
              </a:rPr>
              <a:t>that </a:t>
            </a:r>
            <a:r>
              <a:rPr sz="2650" spc="-75" dirty="0">
                <a:latin typeface="Times New Roman" panose="02020603050405020304"/>
                <a:cs typeface="Times New Roman" panose="02020603050405020304"/>
              </a:rPr>
              <a:t>there </a:t>
            </a:r>
            <a:r>
              <a:rPr sz="2650" spc="-170" dirty="0">
                <a:latin typeface="Times New Roman" panose="02020603050405020304"/>
                <a:cs typeface="Times New Roman" panose="02020603050405020304"/>
              </a:rPr>
              <a:t>is </a:t>
            </a:r>
            <a:r>
              <a:rPr sz="2650" spc="-215" dirty="0">
                <a:latin typeface="Times New Roman" panose="02020603050405020304"/>
                <a:cs typeface="Times New Roman" panose="02020603050405020304"/>
              </a:rPr>
              <a:t>a </a:t>
            </a:r>
            <a:r>
              <a:rPr sz="2650" spc="-145" dirty="0">
                <a:latin typeface="Times New Roman" panose="02020603050405020304"/>
                <a:cs typeface="Times New Roman" panose="02020603050405020304"/>
              </a:rPr>
              <a:t>fixed </a:t>
            </a:r>
            <a:r>
              <a:rPr sz="2650" spc="-130" dirty="0">
                <a:latin typeface="Times New Roman" panose="02020603050405020304"/>
                <a:cs typeface="Times New Roman" panose="02020603050405020304"/>
              </a:rPr>
              <a:t>buffer</a:t>
            </a:r>
            <a:r>
              <a:rPr sz="2650" spc="260" dirty="0">
                <a:latin typeface="Times New Roman" panose="02020603050405020304"/>
                <a:cs typeface="Times New Roman" panose="02020603050405020304"/>
              </a:rPr>
              <a:t> </a:t>
            </a:r>
            <a:r>
              <a:rPr sz="2650" spc="-165" dirty="0">
                <a:latin typeface="Times New Roman" panose="02020603050405020304"/>
                <a:cs typeface="Times New Roman" panose="02020603050405020304"/>
              </a:rPr>
              <a:t>size</a:t>
            </a:r>
            <a:endParaRPr sz="2650">
              <a:latin typeface="Times New Roman" panose="02020603050405020304"/>
              <a:cs typeface="Times New Roman" panose="02020603050405020304"/>
            </a:endParaRPr>
          </a:p>
          <a:p>
            <a:pPr>
              <a:lnSpc>
                <a:spcPct val="100000"/>
              </a:lnSpc>
            </a:pPr>
            <a:endParaRPr sz="3800">
              <a:latin typeface="Times New Roman" panose="02020603050405020304"/>
              <a:cs typeface="Times New Roman" panose="02020603050405020304"/>
            </a:endParaRPr>
          </a:p>
          <a:p>
            <a:pPr marL="312420" marR="266700" indent="-300355">
              <a:lnSpc>
                <a:spcPts val="3170"/>
              </a:lnSpc>
              <a:spcBef>
                <a:spcPts val="5"/>
              </a:spcBef>
              <a:tabLst>
                <a:tab pos="312420" algn="l"/>
              </a:tabLst>
            </a:pPr>
            <a:r>
              <a:rPr sz="2250" spc="-1010" dirty="0">
                <a:solidFill>
                  <a:srgbClr val="D34816"/>
                </a:solidFill>
                <a:latin typeface="Webdings" panose="05030102010509060703"/>
                <a:cs typeface="Webdings" panose="05030102010509060703"/>
              </a:rPr>
              <a:t></a:t>
            </a:r>
            <a:r>
              <a:rPr sz="2250" spc="-1010" dirty="0">
                <a:solidFill>
                  <a:srgbClr val="D34816"/>
                </a:solidFill>
                <a:latin typeface="Times New Roman" panose="02020603050405020304"/>
                <a:cs typeface="Times New Roman" panose="02020603050405020304"/>
              </a:rPr>
              <a:t>	</a:t>
            </a:r>
            <a:r>
              <a:rPr sz="2650" spc="-190" dirty="0">
                <a:latin typeface="Times New Roman" panose="02020603050405020304"/>
                <a:cs typeface="Times New Roman" panose="02020603050405020304"/>
              </a:rPr>
              <a:t>Let’s </a:t>
            </a:r>
            <a:r>
              <a:rPr sz="2650" spc="-125" dirty="0">
                <a:latin typeface="Times New Roman" panose="02020603050405020304"/>
                <a:cs typeface="Times New Roman" panose="02020603050405020304"/>
              </a:rPr>
              <a:t>look </a:t>
            </a:r>
            <a:r>
              <a:rPr sz="2650" spc="-95" dirty="0">
                <a:latin typeface="Times New Roman" panose="02020603050405020304"/>
                <a:cs typeface="Times New Roman" panose="02020603050405020304"/>
              </a:rPr>
              <a:t>more </a:t>
            </a:r>
            <a:r>
              <a:rPr sz="2650" spc="-160" dirty="0">
                <a:latin typeface="Times New Roman" panose="02020603050405020304"/>
                <a:cs typeface="Times New Roman" panose="02020603050405020304"/>
              </a:rPr>
              <a:t>closely </a:t>
            </a:r>
            <a:r>
              <a:rPr sz="2650" spc="-114" dirty="0">
                <a:latin typeface="Times New Roman" panose="02020603050405020304"/>
                <a:cs typeface="Times New Roman" panose="02020603050405020304"/>
              </a:rPr>
              <a:t>at </a:t>
            </a:r>
            <a:r>
              <a:rPr sz="2650" spc="-180" dirty="0">
                <a:latin typeface="Times New Roman" panose="02020603050405020304"/>
                <a:cs typeface="Times New Roman" panose="02020603050405020304"/>
              </a:rPr>
              <a:t>how </a:t>
            </a:r>
            <a:r>
              <a:rPr sz="2650" spc="-95" dirty="0">
                <a:latin typeface="Times New Roman" panose="02020603050405020304"/>
                <a:cs typeface="Times New Roman" panose="02020603050405020304"/>
              </a:rPr>
              <a:t>the </a:t>
            </a:r>
            <a:r>
              <a:rPr sz="2650" spc="-120" dirty="0">
                <a:latin typeface="Times New Roman" panose="02020603050405020304"/>
                <a:cs typeface="Times New Roman" panose="02020603050405020304"/>
              </a:rPr>
              <a:t>bounded </a:t>
            </a:r>
            <a:r>
              <a:rPr sz="2650" spc="-125" dirty="0">
                <a:latin typeface="Times New Roman" panose="02020603050405020304"/>
                <a:cs typeface="Times New Roman" panose="02020603050405020304"/>
              </a:rPr>
              <a:t>buffer </a:t>
            </a:r>
            <a:r>
              <a:rPr sz="2650" spc="-105" dirty="0">
                <a:latin typeface="Times New Roman" panose="02020603050405020304"/>
                <a:cs typeface="Times New Roman" panose="02020603050405020304"/>
              </a:rPr>
              <a:t>illustrates  </a:t>
            </a:r>
            <a:r>
              <a:rPr sz="2650" spc="-60" dirty="0">
                <a:latin typeface="Times New Roman" panose="02020603050405020304"/>
                <a:cs typeface="Times New Roman" panose="02020603050405020304"/>
              </a:rPr>
              <a:t>inter- </a:t>
            </a:r>
            <a:r>
              <a:rPr sz="2650" spc="-130" dirty="0">
                <a:latin typeface="Times New Roman" panose="02020603050405020304"/>
                <a:cs typeface="Times New Roman" panose="02020603050405020304"/>
              </a:rPr>
              <a:t>process </a:t>
            </a:r>
            <a:r>
              <a:rPr sz="2650" spc="-135" dirty="0">
                <a:latin typeface="Times New Roman" panose="02020603050405020304"/>
                <a:cs typeface="Times New Roman" panose="02020603050405020304"/>
              </a:rPr>
              <a:t>communication </a:t>
            </a:r>
            <a:r>
              <a:rPr sz="2650" spc="-160" dirty="0">
                <a:latin typeface="Times New Roman" panose="02020603050405020304"/>
                <a:cs typeface="Times New Roman" panose="02020603050405020304"/>
              </a:rPr>
              <a:t>using </a:t>
            </a:r>
            <a:r>
              <a:rPr sz="2650" spc="-135" dirty="0">
                <a:latin typeface="Times New Roman" panose="02020603050405020304"/>
                <a:cs typeface="Times New Roman" panose="02020603050405020304"/>
              </a:rPr>
              <a:t>shared</a:t>
            </a:r>
            <a:r>
              <a:rPr sz="2650" spc="50" dirty="0">
                <a:latin typeface="Times New Roman" panose="02020603050405020304"/>
                <a:cs typeface="Times New Roman" panose="02020603050405020304"/>
              </a:rPr>
              <a:t> </a:t>
            </a:r>
            <a:r>
              <a:rPr sz="2650" spc="-80" dirty="0">
                <a:latin typeface="Times New Roman" panose="02020603050405020304"/>
                <a:cs typeface="Times New Roman" panose="02020603050405020304"/>
              </a:rPr>
              <a:t>memory….</a:t>
            </a:r>
            <a:endParaRPr sz="2650">
              <a:latin typeface="Times New Roman" panose="02020603050405020304"/>
              <a:cs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38416" y="353149"/>
            <a:ext cx="7143115" cy="495934"/>
          </a:xfrm>
          <a:prstGeom prst="rect">
            <a:avLst/>
          </a:prstGeom>
        </p:spPr>
        <p:txBody>
          <a:bodyPr vert="horz" wrap="square" lIns="0" tIns="16510" rIns="0" bIns="0" rtlCol="0">
            <a:spAutoFit/>
          </a:bodyPr>
          <a:lstStyle/>
          <a:p>
            <a:pPr marL="12700">
              <a:lnSpc>
                <a:spcPct val="100000"/>
              </a:lnSpc>
              <a:spcBef>
                <a:spcPts val="130"/>
              </a:spcBef>
            </a:pPr>
            <a:r>
              <a:rPr sz="3050" spc="-195" dirty="0"/>
              <a:t>Bounded-Buffer </a:t>
            </a:r>
            <a:r>
              <a:rPr sz="3050" spc="110" dirty="0"/>
              <a:t>– </a:t>
            </a:r>
            <a:r>
              <a:rPr sz="3050" spc="-185" dirty="0"/>
              <a:t>Shared-Memory</a:t>
            </a:r>
            <a:r>
              <a:rPr sz="3050" spc="-215" dirty="0"/>
              <a:t> </a:t>
            </a:r>
            <a:r>
              <a:rPr sz="3050" spc="-190" dirty="0"/>
              <a:t>Solution</a:t>
            </a:r>
            <a:endParaRPr sz="3050"/>
          </a:p>
        </p:txBody>
      </p:sp>
      <p:sp>
        <p:nvSpPr>
          <p:cNvPr id="3" name="object 3"/>
          <p:cNvSpPr txBox="1"/>
          <p:nvPr/>
        </p:nvSpPr>
        <p:spPr>
          <a:xfrm>
            <a:off x="1403116" y="1444282"/>
            <a:ext cx="6822440" cy="4126229"/>
          </a:xfrm>
          <a:prstGeom prst="rect">
            <a:avLst/>
          </a:prstGeom>
        </p:spPr>
        <p:txBody>
          <a:bodyPr vert="horz" wrap="square" lIns="0" tIns="12700" rIns="0" bIns="0" rtlCol="0">
            <a:spAutoFit/>
          </a:bodyPr>
          <a:lstStyle/>
          <a:p>
            <a:pPr marL="312420" marR="5080" indent="-300355">
              <a:lnSpc>
                <a:spcPct val="101000"/>
              </a:lnSpc>
              <a:spcBef>
                <a:spcPts val="100"/>
              </a:spcBef>
              <a:buClr>
                <a:srgbClr val="D34816"/>
              </a:buClr>
              <a:buSzPct val="86000"/>
              <a:buFont typeface="Webdings" panose="05030102010509060703"/>
              <a:buChar char=""/>
              <a:tabLst>
                <a:tab pos="312420" algn="l"/>
                <a:tab pos="313055" algn="l"/>
              </a:tabLst>
            </a:pPr>
            <a:r>
              <a:rPr sz="1750" spc="-85" dirty="0">
                <a:latin typeface="Times New Roman" panose="02020603050405020304"/>
                <a:cs typeface="Times New Roman" panose="02020603050405020304"/>
              </a:rPr>
              <a:t>The </a:t>
            </a:r>
            <a:r>
              <a:rPr sz="1750" spc="-95" dirty="0">
                <a:latin typeface="Times New Roman" panose="02020603050405020304"/>
                <a:cs typeface="Times New Roman" panose="02020603050405020304"/>
              </a:rPr>
              <a:t>following variables </a:t>
            </a:r>
            <a:r>
              <a:rPr sz="1750" spc="-70" dirty="0">
                <a:latin typeface="Times New Roman" panose="02020603050405020304"/>
                <a:cs typeface="Times New Roman" panose="02020603050405020304"/>
              </a:rPr>
              <a:t>reside </a:t>
            </a:r>
            <a:r>
              <a:rPr sz="1750" spc="-75" dirty="0">
                <a:latin typeface="Times New Roman" panose="02020603050405020304"/>
                <a:cs typeface="Times New Roman" panose="02020603050405020304"/>
              </a:rPr>
              <a:t>in </a:t>
            </a:r>
            <a:r>
              <a:rPr sz="1750" spc="-135" dirty="0">
                <a:latin typeface="Times New Roman" panose="02020603050405020304"/>
                <a:cs typeface="Times New Roman" panose="02020603050405020304"/>
              </a:rPr>
              <a:t>a </a:t>
            </a:r>
            <a:r>
              <a:rPr sz="1750" spc="-65" dirty="0">
                <a:latin typeface="Times New Roman" panose="02020603050405020304"/>
                <a:cs typeface="Times New Roman" panose="02020603050405020304"/>
              </a:rPr>
              <a:t>region </a:t>
            </a:r>
            <a:r>
              <a:rPr sz="1750" spc="-100" dirty="0">
                <a:latin typeface="Times New Roman" panose="02020603050405020304"/>
                <a:cs typeface="Times New Roman" panose="02020603050405020304"/>
              </a:rPr>
              <a:t>of </a:t>
            </a:r>
            <a:r>
              <a:rPr sz="1750" spc="-70" dirty="0">
                <a:latin typeface="Times New Roman" panose="02020603050405020304"/>
                <a:cs typeface="Times New Roman" panose="02020603050405020304"/>
              </a:rPr>
              <a:t>memory </a:t>
            </a:r>
            <a:r>
              <a:rPr sz="1750" spc="-80" dirty="0">
                <a:latin typeface="Times New Roman" panose="02020603050405020304"/>
                <a:cs typeface="Times New Roman" panose="02020603050405020304"/>
              </a:rPr>
              <a:t>shared </a:t>
            </a:r>
            <a:r>
              <a:rPr sz="1750" spc="-130" dirty="0">
                <a:latin typeface="Times New Roman" panose="02020603050405020304"/>
                <a:cs typeface="Times New Roman" panose="02020603050405020304"/>
              </a:rPr>
              <a:t>by </a:t>
            </a:r>
            <a:r>
              <a:rPr sz="1750" spc="-55" dirty="0">
                <a:latin typeface="Times New Roman" panose="02020603050405020304"/>
                <a:cs typeface="Times New Roman" panose="02020603050405020304"/>
              </a:rPr>
              <a:t>the producer </a:t>
            </a:r>
            <a:r>
              <a:rPr sz="1750" spc="-95" dirty="0">
                <a:latin typeface="Times New Roman" panose="02020603050405020304"/>
                <a:cs typeface="Times New Roman" panose="02020603050405020304"/>
              </a:rPr>
              <a:t>and  </a:t>
            </a:r>
            <a:r>
              <a:rPr sz="1750" spc="-75" dirty="0">
                <a:latin typeface="Times New Roman" panose="02020603050405020304"/>
                <a:cs typeface="Times New Roman" panose="02020603050405020304"/>
              </a:rPr>
              <a:t>consumer</a:t>
            </a:r>
            <a:r>
              <a:rPr sz="1750" spc="-65" dirty="0">
                <a:latin typeface="Times New Roman" panose="02020603050405020304"/>
                <a:cs typeface="Times New Roman" panose="02020603050405020304"/>
              </a:rPr>
              <a:t> </a:t>
            </a:r>
            <a:r>
              <a:rPr sz="1750" spc="-75" dirty="0">
                <a:latin typeface="Times New Roman" panose="02020603050405020304"/>
                <a:cs typeface="Times New Roman" panose="02020603050405020304"/>
              </a:rPr>
              <a:t>processes:</a:t>
            </a:r>
            <a:endParaRPr sz="1750">
              <a:latin typeface="Times New Roman" panose="02020603050405020304"/>
              <a:cs typeface="Times New Roman" panose="02020603050405020304"/>
            </a:endParaRPr>
          </a:p>
          <a:p>
            <a:pPr marL="312420" indent="-300355">
              <a:lnSpc>
                <a:spcPct val="100000"/>
              </a:lnSpc>
              <a:spcBef>
                <a:spcPts val="670"/>
              </a:spcBef>
              <a:buClr>
                <a:srgbClr val="D34816"/>
              </a:buClr>
              <a:buSzPct val="86000"/>
              <a:buFont typeface="Webdings" panose="05030102010509060703"/>
              <a:buChar char=""/>
              <a:tabLst>
                <a:tab pos="312420" algn="l"/>
                <a:tab pos="313055" algn="l"/>
              </a:tabLst>
            </a:pPr>
            <a:r>
              <a:rPr sz="1750" spc="-100" dirty="0">
                <a:latin typeface="Times New Roman" panose="02020603050405020304"/>
                <a:cs typeface="Times New Roman" panose="02020603050405020304"/>
              </a:rPr>
              <a:t>Shared</a:t>
            </a:r>
            <a:r>
              <a:rPr sz="1750" spc="-70" dirty="0">
                <a:latin typeface="Times New Roman" panose="02020603050405020304"/>
                <a:cs typeface="Times New Roman" panose="02020603050405020304"/>
              </a:rPr>
              <a:t> </a:t>
            </a:r>
            <a:r>
              <a:rPr sz="1750" spc="-80" dirty="0">
                <a:latin typeface="Times New Roman" panose="02020603050405020304"/>
                <a:cs typeface="Times New Roman" panose="02020603050405020304"/>
              </a:rPr>
              <a:t>data</a:t>
            </a:r>
            <a:endParaRPr sz="1750">
              <a:latin typeface="Times New Roman" panose="02020603050405020304"/>
              <a:cs typeface="Times New Roman" panose="02020603050405020304"/>
            </a:endParaRPr>
          </a:p>
          <a:p>
            <a:pPr marL="1519555" marR="2336800">
              <a:lnSpc>
                <a:spcPct val="122000"/>
              </a:lnSpc>
              <a:spcBef>
                <a:spcPts val="40"/>
              </a:spcBef>
            </a:pPr>
            <a:r>
              <a:rPr sz="1750" dirty="0">
                <a:latin typeface="Courier New" panose="02070309020205020404"/>
                <a:cs typeface="Courier New" panose="02070309020205020404"/>
              </a:rPr>
              <a:t>#define BUFFER_SIZE </a:t>
            </a:r>
            <a:r>
              <a:rPr sz="1750" spc="5" dirty="0">
                <a:latin typeface="Courier New" panose="02070309020205020404"/>
                <a:cs typeface="Courier New" panose="02070309020205020404"/>
              </a:rPr>
              <a:t>10  </a:t>
            </a:r>
            <a:r>
              <a:rPr sz="1750" dirty="0">
                <a:latin typeface="Courier New" panose="02070309020205020404"/>
                <a:cs typeface="Courier New" panose="02070309020205020404"/>
              </a:rPr>
              <a:t>typedef </a:t>
            </a:r>
            <a:r>
              <a:rPr sz="1750" spc="5" dirty="0">
                <a:latin typeface="Courier New" panose="02070309020205020404"/>
                <a:cs typeface="Courier New" panose="02070309020205020404"/>
              </a:rPr>
              <a:t>struct</a:t>
            </a:r>
            <a:r>
              <a:rPr sz="1750" spc="-10" dirty="0">
                <a:latin typeface="Courier New" panose="02070309020205020404"/>
                <a:cs typeface="Courier New" panose="02070309020205020404"/>
              </a:rPr>
              <a:t> </a:t>
            </a:r>
            <a:r>
              <a:rPr sz="1750" spc="5" dirty="0">
                <a:latin typeface="Courier New" panose="02070309020205020404"/>
                <a:cs typeface="Courier New" panose="02070309020205020404"/>
              </a:rPr>
              <a:t>{</a:t>
            </a:r>
            <a:endParaRPr sz="1750">
              <a:latin typeface="Courier New" panose="02070309020205020404"/>
              <a:cs typeface="Courier New" panose="02070309020205020404"/>
            </a:endParaRPr>
          </a:p>
          <a:p>
            <a:pPr marR="4372610" algn="r">
              <a:lnSpc>
                <a:spcPct val="100000"/>
              </a:lnSpc>
              <a:spcBef>
                <a:spcPts val="445"/>
              </a:spcBef>
            </a:pPr>
            <a:r>
              <a:rPr sz="1750" spc="5" dirty="0">
                <a:latin typeface="Courier New" panose="02070309020205020404"/>
                <a:cs typeface="Courier New" panose="02070309020205020404"/>
              </a:rPr>
              <a:t>. .</a:t>
            </a:r>
            <a:r>
              <a:rPr sz="1750" spc="-100" dirty="0">
                <a:latin typeface="Courier New" panose="02070309020205020404"/>
                <a:cs typeface="Courier New" panose="02070309020205020404"/>
              </a:rPr>
              <a:t> </a:t>
            </a:r>
            <a:r>
              <a:rPr sz="1750" spc="5" dirty="0">
                <a:latin typeface="Courier New" panose="02070309020205020404"/>
                <a:cs typeface="Courier New" panose="02070309020205020404"/>
              </a:rPr>
              <a:t>.</a:t>
            </a:r>
            <a:endParaRPr sz="1750">
              <a:latin typeface="Courier New" panose="02070309020205020404"/>
              <a:cs typeface="Courier New" panose="02070309020205020404"/>
            </a:endParaRPr>
          </a:p>
          <a:p>
            <a:pPr marR="4352925" algn="r">
              <a:lnSpc>
                <a:spcPct val="100000"/>
              </a:lnSpc>
              <a:spcBef>
                <a:spcPts val="455"/>
              </a:spcBef>
            </a:pPr>
            <a:r>
              <a:rPr sz="1750" spc="5" dirty="0">
                <a:latin typeface="Courier New" panose="02070309020205020404"/>
                <a:cs typeface="Courier New" panose="02070309020205020404"/>
              </a:rPr>
              <a:t>}</a:t>
            </a:r>
            <a:r>
              <a:rPr sz="1750" spc="-90" dirty="0">
                <a:latin typeface="Courier New" panose="02070309020205020404"/>
                <a:cs typeface="Courier New" panose="02070309020205020404"/>
              </a:rPr>
              <a:t> </a:t>
            </a:r>
            <a:r>
              <a:rPr sz="1750" spc="5" dirty="0">
                <a:latin typeface="Courier New" panose="02070309020205020404"/>
                <a:cs typeface="Courier New" panose="02070309020205020404"/>
              </a:rPr>
              <a:t>item;</a:t>
            </a:r>
            <a:endParaRPr sz="1750">
              <a:latin typeface="Courier New" panose="02070309020205020404"/>
              <a:cs typeface="Courier New" panose="02070309020205020404"/>
            </a:endParaRPr>
          </a:p>
          <a:p>
            <a:pPr>
              <a:lnSpc>
                <a:spcPct val="100000"/>
              </a:lnSpc>
              <a:spcBef>
                <a:spcPts val="50"/>
              </a:spcBef>
            </a:pPr>
            <a:endParaRPr sz="2200">
              <a:latin typeface="Courier New" panose="02070309020205020404"/>
              <a:cs typeface="Courier New" panose="02070309020205020404"/>
            </a:endParaRPr>
          </a:p>
          <a:p>
            <a:pPr marL="1519555" marR="1931035">
              <a:lnSpc>
                <a:spcPct val="122000"/>
              </a:lnSpc>
            </a:pPr>
            <a:r>
              <a:rPr sz="1750" dirty="0">
                <a:latin typeface="Courier New" panose="02070309020205020404"/>
                <a:cs typeface="Courier New" panose="02070309020205020404"/>
              </a:rPr>
              <a:t>item </a:t>
            </a:r>
            <a:r>
              <a:rPr sz="1750" spc="5" dirty="0">
                <a:latin typeface="Courier New" panose="02070309020205020404"/>
                <a:cs typeface="Courier New" panose="02070309020205020404"/>
              </a:rPr>
              <a:t>buffer[BUFFER_SIZE];  int in =</a:t>
            </a:r>
            <a:r>
              <a:rPr sz="1750" spc="-25" dirty="0">
                <a:latin typeface="Courier New" panose="02070309020205020404"/>
                <a:cs typeface="Courier New" panose="02070309020205020404"/>
              </a:rPr>
              <a:t> </a:t>
            </a:r>
            <a:r>
              <a:rPr sz="1750" spc="15" dirty="0">
                <a:latin typeface="Courier New" panose="02070309020205020404"/>
                <a:cs typeface="Courier New" panose="02070309020205020404"/>
              </a:rPr>
              <a:t>0;</a:t>
            </a:r>
            <a:endParaRPr sz="1750">
              <a:latin typeface="Courier New" panose="02070309020205020404"/>
              <a:cs typeface="Courier New" panose="02070309020205020404"/>
            </a:endParaRPr>
          </a:p>
          <a:p>
            <a:pPr marL="1519555">
              <a:lnSpc>
                <a:spcPct val="100000"/>
              </a:lnSpc>
              <a:spcBef>
                <a:spcPts val="455"/>
              </a:spcBef>
            </a:pPr>
            <a:r>
              <a:rPr sz="1750" spc="5" dirty="0">
                <a:latin typeface="Courier New" panose="02070309020205020404"/>
                <a:cs typeface="Courier New" panose="02070309020205020404"/>
              </a:rPr>
              <a:t>int </a:t>
            </a:r>
            <a:r>
              <a:rPr sz="1750" spc="10" dirty="0">
                <a:latin typeface="Courier New" panose="02070309020205020404"/>
                <a:cs typeface="Courier New" panose="02070309020205020404"/>
              </a:rPr>
              <a:t>out </a:t>
            </a:r>
            <a:r>
              <a:rPr sz="1750" spc="5" dirty="0">
                <a:latin typeface="Courier New" panose="02070309020205020404"/>
                <a:cs typeface="Courier New" panose="02070309020205020404"/>
              </a:rPr>
              <a:t>=</a:t>
            </a:r>
            <a:r>
              <a:rPr sz="1750" spc="-25" dirty="0">
                <a:latin typeface="Courier New" panose="02070309020205020404"/>
                <a:cs typeface="Courier New" panose="02070309020205020404"/>
              </a:rPr>
              <a:t> </a:t>
            </a:r>
            <a:r>
              <a:rPr sz="1750" spc="5" dirty="0">
                <a:latin typeface="Courier New" panose="02070309020205020404"/>
                <a:cs typeface="Courier New" panose="02070309020205020404"/>
              </a:rPr>
              <a:t>0;</a:t>
            </a:r>
            <a:endParaRPr sz="1750">
              <a:latin typeface="Courier New" panose="02070309020205020404"/>
              <a:cs typeface="Courier New" panose="02070309020205020404"/>
            </a:endParaRPr>
          </a:p>
          <a:p>
            <a:pPr>
              <a:lnSpc>
                <a:spcPct val="100000"/>
              </a:lnSpc>
              <a:spcBef>
                <a:spcPts val="20"/>
              </a:spcBef>
            </a:pPr>
            <a:endParaRPr sz="2650">
              <a:latin typeface="Courier New" panose="02070309020205020404"/>
              <a:cs typeface="Courier New" panose="02070309020205020404"/>
            </a:endParaRPr>
          </a:p>
          <a:p>
            <a:pPr marL="1519555">
              <a:lnSpc>
                <a:spcPct val="100000"/>
              </a:lnSpc>
            </a:pPr>
            <a:r>
              <a:rPr sz="1500" b="1" i="1" spc="-30" dirty="0">
                <a:latin typeface="Times New Roman" panose="02020603050405020304"/>
                <a:cs typeface="Times New Roman" panose="02020603050405020304"/>
              </a:rPr>
              <a:t>Lets </a:t>
            </a:r>
            <a:r>
              <a:rPr sz="1500" b="1" i="1" spc="-70" dirty="0">
                <a:latin typeface="Times New Roman" panose="02020603050405020304"/>
                <a:cs typeface="Times New Roman" panose="02020603050405020304"/>
              </a:rPr>
              <a:t>code</a:t>
            </a:r>
            <a:r>
              <a:rPr sz="1500" b="1" i="1" spc="-55" dirty="0">
                <a:latin typeface="Times New Roman" panose="02020603050405020304"/>
                <a:cs typeface="Times New Roman" panose="02020603050405020304"/>
              </a:rPr>
              <a:t> </a:t>
            </a:r>
            <a:r>
              <a:rPr sz="1500" b="1" i="1" spc="5" dirty="0">
                <a:latin typeface="Times New Roman" panose="02020603050405020304"/>
                <a:cs typeface="Times New Roman" panose="02020603050405020304"/>
              </a:rPr>
              <a:t>this….</a:t>
            </a:r>
            <a:endParaRPr sz="1500">
              <a:latin typeface="Times New Roman" panose="02020603050405020304"/>
              <a:cs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7839" y="171641"/>
            <a:ext cx="6480175" cy="696595"/>
          </a:xfrm>
          <a:prstGeom prst="rect">
            <a:avLst/>
          </a:prstGeom>
        </p:spPr>
        <p:txBody>
          <a:bodyPr vert="horz" wrap="square" lIns="0" tIns="12700" rIns="0" bIns="0" rtlCol="0">
            <a:spAutoFit/>
          </a:bodyPr>
          <a:lstStyle/>
          <a:p>
            <a:pPr marL="12700">
              <a:lnSpc>
                <a:spcPct val="100000"/>
              </a:lnSpc>
              <a:spcBef>
                <a:spcPts val="100"/>
              </a:spcBef>
            </a:pPr>
            <a:r>
              <a:rPr sz="4400" spc="-300" dirty="0"/>
              <a:t>Bounded-Buffer </a:t>
            </a:r>
            <a:r>
              <a:rPr sz="4400" spc="135" dirty="0"/>
              <a:t>–</a:t>
            </a:r>
            <a:r>
              <a:rPr sz="4400" spc="-15" dirty="0"/>
              <a:t> </a:t>
            </a:r>
            <a:r>
              <a:rPr sz="4400" spc="-330" dirty="0"/>
              <a:t>Producer</a:t>
            </a:r>
            <a:endParaRPr sz="4400"/>
          </a:p>
        </p:txBody>
      </p:sp>
      <p:sp>
        <p:nvSpPr>
          <p:cNvPr id="3" name="object 3"/>
          <p:cNvSpPr txBox="1"/>
          <p:nvPr/>
        </p:nvSpPr>
        <p:spPr>
          <a:xfrm>
            <a:off x="1851025" y="1508760"/>
            <a:ext cx="7732395" cy="2854325"/>
          </a:xfrm>
          <a:prstGeom prst="rect">
            <a:avLst/>
          </a:prstGeom>
        </p:spPr>
        <p:txBody>
          <a:bodyPr vert="horz" wrap="square" lIns="0" tIns="12065" rIns="0" bIns="0" rtlCol="0">
            <a:spAutoFit/>
          </a:bodyPr>
          <a:lstStyle/>
          <a:p>
            <a:pPr marL="12700" marR="4171315">
              <a:lnSpc>
                <a:spcPct val="132000"/>
              </a:lnSpc>
              <a:spcBef>
                <a:spcPts val="95"/>
              </a:spcBef>
            </a:pPr>
            <a:r>
              <a:rPr sz="1750" dirty="0">
                <a:latin typeface="Courier New" panose="02070309020205020404"/>
                <a:cs typeface="Courier New" panose="02070309020205020404"/>
              </a:rPr>
              <a:t>item</a:t>
            </a:r>
            <a:r>
              <a:rPr sz="1750" spc="-75" dirty="0">
                <a:latin typeface="Courier New" panose="02070309020205020404"/>
                <a:cs typeface="Courier New" panose="02070309020205020404"/>
              </a:rPr>
              <a:t> </a:t>
            </a:r>
            <a:r>
              <a:rPr sz="1750" spc="5" dirty="0">
                <a:latin typeface="Courier New" panose="02070309020205020404"/>
                <a:cs typeface="Courier New" panose="02070309020205020404"/>
              </a:rPr>
              <a:t>next_produced;  </a:t>
            </a:r>
            <a:r>
              <a:rPr sz="1750" dirty="0">
                <a:latin typeface="Courier New" panose="02070309020205020404"/>
                <a:cs typeface="Courier New" panose="02070309020205020404"/>
              </a:rPr>
              <a:t>while </a:t>
            </a:r>
            <a:r>
              <a:rPr sz="1750" spc="5" dirty="0">
                <a:latin typeface="Courier New" panose="02070309020205020404"/>
                <a:cs typeface="Courier New" panose="02070309020205020404"/>
              </a:rPr>
              <a:t>(true)</a:t>
            </a:r>
            <a:r>
              <a:rPr sz="1750" spc="-5" dirty="0">
                <a:latin typeface="Courier New" panose="02070309020205020404"/>
                <a:cs typeface="Courier New" panose="02070309020205020404"/>
              </a:rPr>
              <a:t> </a:t>
            </a:r>
            <a:r>
              <a:rPr sz="1750" spc="5" dirty="0">
                <a:latin typeface="Courier New" panose="02070309020205020404"/>
                <a:cs typeface="Courier New" panose="02070309020205020404"/>
              </a:rPr>
              <a:t>{</a:t>
            </a:r>
            <a:endParaRPr sz="1750">
              <a:latin typeface="Courier New" panose="02070309020205020404"/>
              <a:cs typeface="Courier New" panose="02070309020205020404"/>
            </a:endParaRPr>
          </a:p>
          <a:p>
            <a:pPr marL="1017905" marR="474980">
              <a:lnSpc>
                <a:spcPct val="132000"/>
              </a:lnSpc>
            </a:pPr>
            <a:r>
              <a:rPr sz="1750" spc="5" dirty="0">
                <a:latin typeface="Courier New" panose="02070309020205020404"/>
                <a:cs typeface="Courier New" panose="02070309020205020404"/>
              </a:rPr>
              <a:t>/* </a:t>
            </a:r>
            <a:r>
              <a:rPr sz="1750" dirty="0">
                <a:latin typeface="Courier New" panose="02070309020205020404"/>
                <a:cs typeface="Courier New" panose="02070309020205020404"/>
              </a:rPr>
              <a:t>produce </a:t>
            </a:r>
            <a:r>
              <a:rPr sz="1750" spc="-5" dirty="0">
                <a:latin typeface="Courier New" panose="02070309020205020404"/>
                <a:cs typeface="Courier New" panose="02070309020205020404"/>
              </a:rPr>
              <a:t>an </a:t>
            </a:r>
            <a:r>
              <a:rPr sz="1750" dirty="0">
                <a:latin typeface="Courier New" panose="02070309020205020404"/>
                <a:cs typeface="Courier New" panose="02070309020205020404"/>
              </a:rPr>
              <a:t>item </a:t>
            </a:r>
            <a:r>
              <a:rPr sz="1750" spc="5" dirty="0">
                <a:latin typeface="Courier New" panose="02070309020205020404"/>
                <a:cs typeface="Courier New" panose="02070309020205020404"/>
              </a:rPr>
              <a:t>in </a:t>
            </a:r>
            <a:r>
              <a:rPr sz="1750" dirty="0">
                <a:latin typeface="Courier New" panose="02070309020205020404"/>
                <a:cs typeface="Courier New" panose="02070309020205020404"/>
              </a:rPr>
              <a:t>next </a:t>
            </a:r>
            <a:r>
              <a:rPr sz="1750" spc="5" dirty="0">
                <a:latin typeface="Courier New" panose="02070309020205020404"/>
                <a:cs typeface="Courier New" panose="02070309020205020404"/>
              </a:rPr>
              <a:t>produced */  </a:t>
            </a:r>
            <a:endParaRPr sz="1750" spc="5" dirty="0">
              <a:latin typeface="Courier New" panose="02070309020205020404"/>
              <a:cs typeface="Courier New" panose="02070309020205020404"/>
            </a:endParaRPr>
          </a:p>
          <a:p>
            <a:pPr marL="1017905" marR="474980">
              <a:lnSpc>
                <a:spcPct val="132000"/>
              </a:lnSpc>
            </a:pPr>
            <a:r>
              <a:rPr sz="1750" dirty="0">
                <a:latin typeface="Courier New" panose="02070309020205020404"/>
                <a:cs typeface="Courier New" panose="02070309020205020404"/>
              </a:rPr>
              <a:t>while </a:t>
            </a:r>
            <a:r>
              <a:rPr sz="1750" spc="5" dirty="0">
                <a:latin typeface="Courier New" panose="02070309020205020404"/>
                <a:cs typeface="Courier New" panose="02070309020205020404"/>
              </a:rPr>
              <a:t>(((in + 1) % BUFFER_SIZE) </a:t>
            </a:r>
            <a:r>
              <a:rPr sz="1750" spc="15" dirty="0">
                <a:latin typeface="Courier New" panose="02070309020205020404"/>
                <a:cs typeface="Courier New" panose="02070309020205020404"/>
              </a:rPr>
              <a:t>==</a:t>
            </a:r>
            <a:r>
              <a:rPr sz="1750" spc="-40" dirty="0">
                <a:latin typeface="Courier New" panose="02070309020205020404"/>
                <a:cs typeface="Courier New" panose="02070309020205020404"/>
              </a:rPr>
              <a:t> </a:t>
            </a:r>
            <a:r>
              <a:rPr sz="1750" dirty="0">
                <a:latin typeface="Courier New" panose="02070309020205020404"/>
                <a:cs typeface="Courier New" panose="02070309020205020404"/>
              </a:rPr>
              <a:t>out)</a:t>
            </a:r>
            <a:r>
              <a:rPr lang="en-US" sz="1750" dirty="0">
                <a:latin typeface="Courier New" panose="02070309020205020404"/>
                <a:cs typeface="Courier New" panose="02070309020205020404"/>
              </a:rPr>
              <a:t> </a:t>
            </a:r>
            <a:r>
              <a:rPr sz="1750" spc="5" dirty="0">
                <a:latin typeface="Courier New" panose="02070309020205020404"/>
                <a:cs typeface="Courier New" panose="02070309020205020404"/>
              </a:rPr>
              <a:t>; </a:t>
            </a:r>
            <a:endParaRPr sz="1750" spc="5" dirty="0">
              <a:latin typeface="Courier New" panose="02070309020205020404"/>
              <a:cs typeface="Courier New" panose="02070309020205020404"/>
            </a:endParaRPr>
          </a:p>
          <a:p>
            <a:pPr marL="1017905" marR="474980">
              <a:lnSpc>
                <a:spcPct val="132000"/>
              </a:lnSpc>
            </a:pPr>
            <a:r>
              <a:rPr sz="1750" spc="5" dirty="0">
                <a:latin typeface="Courier New" panose="02070309020205020404"/>
                <a:cs typeface="Courier New" panose="02070309020205020404"/>
              </a:rPr>
              <a:t>/* buffer is </a:t>
            </a:r>
            <a:r>
              <a:rPr sz="1750" dirty="0">
                <a:latin typeface="Courier New" panose="02070309020205020404"/>
                <a:cs typeface="Courier New" panose="02070309020205020404"/>
              </a:rPr>
              <a:t>full </a:t>
            </a:r>
            <a:r>
              <a:rPr sz="1750" spc="5" dirty="0">
                <a:latin typeface="Courier New" panose="02070309020205020404"/>
                <a:cs typeface="Courier New" panose="02070309020205020404"/>
              </a:rPr>
              <a:t>- do </a:t>
            </a:r>
            <a:r>
              <a:rPr sz="1750" dirty="0">
                <a:latin typeface="Courier New" panose="02070309020205020404"/>
                <a:cs typeface="Courier New" panose="02070309020205020404"/>
              </a:rPr>
              <a:t>nothing </a:t>
            </a:r>
            <a:r>
              <a:rPr sz="1750" spc="5" dirty="0">
                <a:latin typeface="Courier New" panose="02070309020205020404"/>
                <a:cs typeface="Courier New" panose="02070309020205020404"/>
              </a:rPr>
              <a:t>*/ </a:t>
            </a:r>
            <a:endParaRPr sz="1750" spc="5" dirty="0">
              <a:latin typeface="Courier New" panose="02070309020205020404"/>
              <a:cs typeface="Courier New" panose="02070309020205020404"/>
            </a:endParaRPr>
          </a:p>
          <a:p>
            <a:pPr marL="1017905" marR="474980">
              <a:lnSpc>
                <a:spcPct val="132000"/>
              </a:lnSpc>
            </a:pPr>
            <a:r>
              <a:rPr sz="1750" spc="5" dirty="0">
                <a:latin typeface="Courier New" panose="02070309020205020404"/>
                <a:cs typeface="Courier New" panose="02070309020205020404"/>
              </a:rPr>
              <a:t> </a:t>
            </a:r>
            <a:r>
              <a:rPr sz="1750" dirty="0">
                <a:latin typeface="Courier New" panose="02070309020205020404"/>
                <a:cs typeface="Courier New" panose="02070309020205020404"/>
              </a:rPr>
              <a:t>buffer[in] </a:t>
            </a:r>
            <a:r>
              <a:rPr sz="1750" spc="5" dirty="0">
                <a:latin typeface="Courier New" panose="02070309020205020404"/>
                <a:cs typeface="Courier New" panose="02070309020205020404"/>
              </a:rPr>
              <a:t>=</a:t>
            </a:r>
            <a:r>
              <a:rPr sz="1750" spc="20" dirty="0">
                <a:latin typeface="Courier New" panose="02070309020205020404"/>
                <a:cs typeface="Courier New" panose="02070309020205020404"/>
              </a:rPr>
              <a:t> </a:t>
            </a:r>
            <a:r>
              <a:rPr sz="1750" spc="5" dirty="0">
                <a:latin typeface="Courier New" panose="02070309020205020404"/>
                <a:cs typeface="Courier New" panose="02070309020205020404"/>
              </a:rPr>
              <a:t>next_produced;</a:t>
            </a:r>
            <a:endParaRPr sz="1750">
              <a:latin typeface="Courier New" panose="02070309020205020404"/>
              <a:cs typeface="Courier New" panose="02070309020205020404"/>
            </a:endParaRPr>
          </a:p>
          <a:p>
            <a:pPr marL="1017905">
              <a:lnSpc>
                <a:spcPct val="100000"/>
              </a:lnSpc>
              <a:spcBef>
                <a:spcPts val="675"/>
              </a:spcBef>
            </a:pPr>
            <a:r>
              <a:rPr sz="1750" spc="5" dirty="0">
                <a:latin typeface="Courier New" panose="02070309020205020404"/>
                <a:cs typeface="Courier New" panose="02070309020205020404"/>
              </a:rPr>
              <a:t>in = </a:t>
            </a:r>
            <a:r>
              <a:rPr sz="1750" spc="10" dirty="0">
                <a:latin typeface="Courier New" panose="02070309020205020404"/>
                <a:cs typeface="Courier New" panose="02070309020205020404"/>
              </a:rPr>
              <a:t>(in </a:t>
            </a:r>
            <a:r>
              <a:rPr sz="1750" spc="5" dirty="0">
                <a:latin typeface="Courier New" panose="02070309020205020404"/>
                <a:cs typeface="Courier New" panose="02070309020205020404"/>
              </a:rPr>
              <a:t>+ </a:t>
            </a:r>
            <a:r>
              <a:rPr sz="1750" spc="-5" dirty="0">
                <a:latin typeface="Courier New" panose="02070309020205020404"/>
                <a:cs typeface="Courier New" panose="02070309020205020404"/>
              </a:rPr>
              <a:t>1) </a:t>
            </a:r>
            <a:r>
              <a:rPr sz="1750" spc="5" dirty="0">
                <a:latin typeface="Courier New" panose="02070309020205020404"/>
                <a:cs typeface="Courier New" panose="02070309020205020404"/>
              </a:rPr>
              <a:t>% </a:t>
            </a:r>
            <a:r>
              <a:rPr sz="1750" dirty="0">
                <a:latin typeface="Courier New" panose="02070309020205020404"/>
                <a:cs typeface="Courier New" panose="02070309020205020404"/>
              </a:rPr>
              <a:t>BUFFER_SIZE;</a:t>
            </a:r>
            <a:endParaRPr sz="1750">
              <a:latin typeface="Courier New" panose="02070309020205020404"/>
              <a:cs typeface="Courier New" panose="02070309020205020404"/>
            </a:endParaRPr>
          </a:p>
          <a:p>
            <a:pPr marL="12700">
              <a:lnSpc>
                <a:spcPct val="100000"/>
              </a:lnSpc>
              <a:spcBef>
                <a:spcPts val="670"/>
              </a:spcBef>
            </a:pPr>
            <a:r>
              <a:rPr sz="1750" spc="5" dirty="0">
                <a:latin typeface="Courier New" panose="02070309020205020404"/>
                <a:cs typeface="Courier New" panose="02070309020205020404"/>
              </a:rPr>
              <a:t>}</a:t>
            </a:r>
            <a:endParaRPr sz="1750">
              <a:latin typeface="Courier New" panose="02070309020205020404"/>
              <a:cs typeface="Courier New" panose="020703090202050204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0849" y="171641"/>
            <a:ext cx="6771005" cy="696595"/>
          </a:xfrm>
          <a:prstGeom prst="rect">
            <a:avLst/>
          </a:prstGeom>
        </p:spPr>
        <p:txBody>
          <a:bodyPr vert="horz" wrap="square" lIns="0" tIns="12700" rIns="0" bIns="0" rtlCol="0">
            <a:spAutoFit/>
          </a:bodyPr>
          <a:lstStyle/>
          <a:p>
            <a:pPr marL="12700">
              <a:lnSpc>
                <a:spcPct val="100000"/>
              </a:lnSpc>
              <a:spcBef>
                <a:spcPts val="100"/>
              </a:spcBef>
            </a:pPr>
            <a:r>
              <a:rPr sz="4400" spc="-325" dirty="0"/>
              <a:t>Bounded </a:t>
            </a:r>
            <a:r>
              <a:rPr sz="4400" spc="-254" dirty="0"/>
              <a:t>Buffer </a:t>
            </a:r>
            <a:r>
              <a:rPr sz="4400" spc="135" dirty="0"/>
              <a:t>–</a:t>
            </a:r>
            <a:r>
              <a:rPr sz="4400" spc="80" dirty="0"/>
              <a:t> </a:t>
            </a:r>
            <a:r>
              <a:rPr sz="4400" spc="-345" dirty="0"/>
              <a:t>Consumer</a:t>
            </a:r>
            <a:endParaRPr sz="4400"/>
          </a:p>
        </p:txBody>
      </p:sp>
      <p:sp>
        <p:nvSpPr>
          <p:cNvPr id="3" name="object 3"/>
          <p:cNvSpPr txBox="1"/>
          <p:nvPr/>
        </p:nvSpPr>
        <p:spPr>
          <a:xfrm>
            <a:off x="1902905" y="1382392"/>
            <a:ext cx="6475730" cy="2893060"/>
          </a:xfrm>
          <a:prstGeom prst="rect">
            <a:avLst/>
          </a:prstGeom>
        </p:spPr>
        <p:txBody>
          <a:bodyPr vert="horz" wrap="square" lIns="0" tIns="12065" rIns="0" bIns="0" rtlCol="0">
            <a:spAutoFit/>
          </a:bodyPr>
          <a:lstStyle/>
          <a:p>
            <a:pPr marL="12700" marR="3900805">
              <a:lnSpc>
                <a:spcPct val="132000"/>
              </a:lnSpc>
              <a:spcBef>
                <a:spcPts val="95"/>
              </a:spcBef>
            </a:pPr>
            <a:r>
              <a:rPr sz="1750" dirty="0">
                <a:latin typeface="Courier New" panose="02070309020205020404"/>
                <a:cs typeface="Courier New" panose="02070309020205020404"/>
              </a:rPr>
              <a:t>item</a:t>
            </a:r>
            <a:r>
              <a:rPr sz="1750" spc="-80" dirty="0">
                <a:latin typeface="Courier New" panose="02070309020205020404"/>
                <a:cs typeface="Courier New" panose="02070309020205020404"/>
              </a:rPr>
              <a:t> </a:t>
            </a:r>
            <a:r>
              <a:rPr sz="1750" spc="5" dirty="0">
                <a:latin typeface="Courier New" panose="02070309020205020404"/>
                <a:cs typeface="Courier New" panose="02070309020205020404"/>
              </a:rPr>
              <a:t>next_consumed;  </a:t>
            </a:r>
            <a:r>
              <a:rPr sz="1750" dirty="0">
                <a:latin typeface="Courier New" panose="02070309020205020404"/>
                <a:cs typeface="Courier New" panose="02070309020205020404"/>
              </a:rPr>
              <a:t>while </a:t>
            </a:r>
            <a:r>
              <a:rPr sz="1750" spc="5" dirty="0">
                <a:latin typeface="Courier New" panose="02070309020205020404"/>
                <a:cs typeface="Courier New" panose="02070309020205020404"/>
              </a:rPr>
              <a:t>(true)</a:t>
            </a:r>
            <a:r>
              <a:rPr sz="1750" spc="-25" dirty="0">
                <a:latin typeface="Courier New" panose="02070309020205020404"/>
                <a:cs typeface="Courier New" panose="02070309020205020404"/>
              </a:rPr>
              <a:t> </a:t>
            </a:r>
            <a:r>
              <a:rPr sz="1750" spc="5" dirty="0">
                <a:latin typeface="Courier New" panose="02070309020205020404"/>
                <a:cs typeface="Courier New" panose="02070309020205020404"/>
              </a:rPr>
              <a:t>{</a:t>
            </a:r>
            <a:endParaRPr sz="1750">
              <a:latin typeface="Courier New" panose="02070309020205020404"/>
              <a:cs typeface="Courier New" panose="02070309020205020404"/>
            </a:endParaRPr>
          </a:p>
          <a:p>
            <a:pPr marL="1018540">
              <a:lnSpc>
                <a:spcPct val="100000"/>
              </a:lnSpc>
              <a:spcBef>
                <a:spcPts val="10"/>
              </a:spcBef>
            </a:pPr>
            <a:r>
              <a:rPr sz="1750" dirty="0">
                <a:latin typeface="Courier New" panose="02070309020205020404"/>
                <a:cs typeface="Courier New" panose="02070309020205020404"/>
              </a:rPr>
              <a:t>while </a:t>
            </a:r>
            <a:r>
              <a:rPr sz="1750" spc="5" dirty="0">
                <a:latin typeface="Courier New" panose="02070309020205020404"/>
                <a:cs typeface="Courier New" panose="02070309020205020404"/>
              </a:rPr>
              <a:t>(in </a:t>
            </a:r>
            <a:r>
              <a:rPr sz="1750" spc="15" dirty="0">
                <a:latin typeface="Courier New" panose="02070309020205020404"/>
                <a:cs typeface="Courier New" panose="02070309020205020404"/>
              </a:rPr>
              <a:t>==</a:t>
            </a:r>
            <a:r>
              <a:rPr sz="1750" spc="5" dirty="0">
                <a:latin typeface="Courier New" panose="02070309020205020404"/>
                <a:cs typeface="Courier New" panose="02070309020205020404"/>
              </a:rPr>
              <a:t> </a:t>
            </a:r>
            <a:r>
              <a:rPr sz="1750" dirty="0">
                <a:latin typeface="Courier New" panose="02070309020205020404"/>
                <a:cs typeface="Courier New" panose="02070309020205020404"/>
              </a:rPr>
              <a:t>out)</a:t>
            </a:r>
            <a:r>
              <a:rPr sz="1750" spc="5" dirty="0">
                <a:latin typeface="Courier New" panose="02070309020205020404"/>
                <a:cs typeface="Courier New" panose="02070309020205020404"/>
              </a:rPr>
              <a:t>; </a:t>
            </a:r>
            <a:endParaRPr sz="1750" spc="5" dirty="0">
              <a:latin typeface="Courier New" panose="02070309020205020404"/>
              <a:cs typeface="Courier New" panose="02070309020205020404"/>
            </a:endParaRPr>
          </a:p>
          <a:p>
            <a:pPr marL="1018540">
              <a:lnSpc>
                <a:spcPct val="100000"/>
              </a:lnSpc>
              <a:spcBef>
                <a:spcPts val="10"/>
              </a:spcBef>
            </a:pPr>
            <a:r>
              <a:rPr sz="1750" spc="5" dirty="0">
                <a:latin typeface="Courier New" panose="02070309020205020404"/>
                <a:cs typeface="Courier New" panose="02070309020205020404"/>
              </a:rPr>
              <a:t>/* buffer </a:t>
            </a:r>
            <a:r>
              <a:rPr sz="1750" dirty="0">
                <a:latin typeface="Courier New" panose="02070309020205020404"/>
                <a:cs typeface="Courier New" panose="02070309020205020404"/>
              </a:rPr>
              <a:t>empty </a:t>
            </a:r>
            <a:r>
              <a:rPr sz="1750" spc="5" dirty="0">
                <a:latin typeface="Courier New" panose="02070309020205020404"/>
                <a:cs typeface="Courier New" panose="02070309020205020404"/>
              </a:rPr>
              <a:t>- </a:t>
            </a:r>
            <a:r>
              <a:rPr sz="1750" spc="15" dirty="0">
                <a:latin typeface="Courier New" panose="02070309020205020404"/>
                <a:cs typeface="Courier New" panose="02070309020205020404"/>
              </a:rPr>
              <a:t>do </a:t>
            </a:r>
            <a:r>
              <a:rPr sz="1750" dirty="0">
                <a:latin typeface="Courier New" panose="02070309020205020404"/>
                <a:cs typeface="Courier New" panose="02070309020205020404"/>
              </a:rPr>
              <a:t>nothing </a:t>
            </a:r>
            <a:r>
              <a:rPr sz="1750" spc="5" dirty="0">
                <a:latin typeface="Courier New" panose="02070309020205020404"/>
                <a:cs typeface="Courier New" panose="02070309020205020404"/>
              </a:rPr>
              <a:t>*/  </a:t>
            </a:r>
            <a:endParaRPr sz="1750" spc="5" dirty="0">
              <a:latin typeface="Courier New" panose="02070309020205020404"/>
              <a:cs typeface="Courier New" panose="02070309020205020404"/>
            </a:endParaRPr>
          </a:p>
          <a:p>
            <a:pPr marL="1018540">
              <a:lnSpc>
                <a:spcPct val="100000"/>
              </a:lnSpc>
              <a:spcBef>
                <a:spcPts val="10"/>
              </a:spcBef>
            </a:pPr>
            <a:r>
              <a:rPr sz="1750" dirty="0">
                <a:latin typeface="Courier New" panose="02070309020205020404"/>
                <a:cs typeface="Courier New" panose="02070309020205020404"/>
              </a:rPr>
              <a:t>next_consumed </a:t>
            </a:r>
            <a:r>
              <a:rPr sz="1750" spc="5" dirty="0">
                <a:latin typeface="Courier New" panose="02070309020205020404"/>
                <a:cs typeface="Courier New" panose="02070309020205020404"/>
              </a:rPr>
              <a:t>=</a:t>
            </a:r>
            <a:r>
              <a:rPr sz="1750" spc="10" dirty="0">
                <a:latin typeface="Courier New" panose="02070309020205020404"/>
                <a:cs typeface="Courier New" panose="02070309020205020404"/>
              </a:rPr>
              <a:t> </a:t>
            </a:r>
            <a:r>
              <a:rPr sz="1750" dirty="0">
                <a:latin typeface="Courier New" panose="02070309020205020404"/>
                <a:cs typeface="Courier New" panose="02070309020205020404"/>
              </a:rPr>
              <a:t>buffer[out];</a:t>
            </a:r>
            <a:endParaRPr sz="1750">
              <a:latin typeface="Courier New" panose="02070309020205020404"/>
              <a:cs typeface="Courier New" panose="02070309020205020404"/>
            </a:endParaRPr>
          </a:p>
          <a:p>
            <a:pPr marL="1018540">
              <a:lnSpc>
                <a:spcPct val="100000"/>
              </a:lnSpc>
              <a:spcBef>
                <a:spcPts val="675"/>
              </a:spcBef>
            </a:pPr>
            <a:r>
              <a:rPr sz="1750" spc="5" dirty="0">
                <a:latin typeface="Courier New" panose="02070309020205020404"/>
                <a:cs typeface="Courier New" panose="02070309020205020404"/>
              </a:rPr>
              <a:t>out = </a:t>
            </a:r>
            <a:r>
              <a:rPr sz="1750" dirty="0">
                <a:latin typeface="Courier New" panose="02070309020205020404"/>
                <a:cs typeface="Courier New" panose="02070309020205020404"/>
              </a:rPr>
              <a:t>(out </a:t>
            </a:r>
            <a:r>
              <a:rPr sz="1750" spc="5" dirty="0">
                <a:latin typeface="Courier New" panose="02070309020205020404"/>
                <a:cs typeface="Courier New" panose="02070309020205020404"/>
              </a:rPr>
              <a:t>+ 1) % BUFFER_SIZE;</a:t>
            </a:r>
            <a:endParaRPr sz="1750">
              <a:latin typeface="Courier New" panose="02070309020205020404"/>
              <a:cs typeface="Courier New" panose="02070309020205020404"/>
            </a:endParaRPr>
          </a:p>
          <a:p>
            <a:pPr>
              <a:lnSpc>
                <a:spcPct val="100000"/>
              </a:lnSpc>
              <a:spcBef>
                <a:spcPts val="5"/>
              </a:spcBef>
            </a:pPr>
            <a:endParaRPr sz="2450">
              <a:latin typeface="Courier New" panose="02070309020205020404"/>
              <a:cs typeface="Courier New" panose="02070309020205020404"/>
            </a:endParaRPr>
          </a:p>
          <a:p>
            <a:pPr marL="1018540">
              <a:lnSpc>
                <a:spcPct val="100000"/>
              </a:lnSpc>
            </a:pPr>
            <a:r>
              <a:rPr sz="1750" spc="5" dirty="0">
                <a:latin typeface="Courier New" panose="02070309020205020404"/>
                <a:cs typeface="Courier New" panose="02070309020205020404"/>
              </a:rPr>
              <a:t>/* </a:t>
            </a:r>
            <a:r>
              <a:rPr sz="1750" dirty="0">
                <a:latin typeface="Courier New" panose="02070309020205020404"/>
                <a:cs typeface="Courier New" panose="02070309020205020404"/>
              </a:rPr>
              <a:t>consume the item </a:t>
            </a:r>
            <a:r>
              <a:rPr sz="1750" spc="15" dirty="0">
                <a:latin typeface="Courier New" panose="02070309020205020404"/>
                <a:cs typeface="Courier New" panose="02070309020205020404"/>
              </a:rPr>
              <a:t>in </a:t>
            </a:r>
            <a:r>
              <a:rPr sz="1750" dirty="0">
                <a:latin typeface="Courier New" panose="02070309020205020404"/>
                <a:cs typeface="Courier New" panose="02070309020205020404"/>
              </a:rPr>
              <a:t>next consumed</a:t>
            </a:r>
            <a:r>
              <a:rPr sz="1750" spc="45" dirty="0">
                <a:latin typeface="Courier New" panose="02070309020205020404"/>
                <a:cs typeface="Courier New" panose="02070309020205020404"/>
              </a:rPr>
              <a:t> </a:t>
            </a:r>
            <a:r>
              <a:rPr sz="1750" spc="5" dirty="0">
                <a:latin typeface="Courier New" panose="02070309020205020404"/>
                <a:cs typeface="Courier New" panose="02070309020205020404"/>
              </a:rPr>
              <a:t>*/</a:t>
            </a:r>
            <a:endParaRPr sz="1750">
              <a:latin typeface="Courier New" panose="02070309020205020404"/>
              <a:cs typeface="Courier New" panose="02070309020205020404"/>
            </a:endParaRPr>
          </a:p>
          <a:p>
            <a:pPr marL="12700">
              <a:lnSpc>
                <a:spcPct val="100000"/>
              </a:lnSpc>
              <a:spcBef>
                <a:spcPts val="675"/>
              </a:spcBef>
            </a:pPr>
            <a:r>
              <a:rPr sz="1750" spc="5" dirty="0">
                <a:latin typeface="Courier New" panose="02070309020205020404"/>
                <a:cs typeface="Courier New" panose="02070309020205020404"/>
              </a:rPr>
              <a:t>}</a:t>
            </a:r>
            <a:endParaRPr sz="1750">
              <a:latin typeface="Courier New" panose="02070309020205020404"/>
              <a:cs typeface="Courier New" panose="02070309020205020404"/>
            </a:endParaRPr>
          </a:p>
        </p:txBody>
      </p:sp>
      <p:sp>
        <p:nvSpPr>
          <p:cNvPr id="4" name="object 4"/>
          <p:cNvSpPr txBox="1"/>
          <p:nvPr/>
        </p:nvSpPr>
        <p:spPr>
          <a:xfrm>
            <a:off x="1902992" y="5083585"/>
            <a:ext cx="7040245" cy="294640"/>
          </a:xfrm>
          <a:prstGeom prst="rect">
            <a:avLst/>
          </a:prstGeom>
        </p:spPr>
        <p:txBody>
          <a:bodyPr vert="horz" wrap="square" lIns="0" tIns="13970" rIns="0" bIns="0" rtlCol="0">
            <a:spAutoFit/>
          </a:bodyPr>
          <a:lstStyle/>
          <a:p>
            <a:pPr marL="12700">
              <a:lnSpc>
                <a:spcPct val="100000"/>
              </a:lnSpc>
              <a:spcBef>
                <a:spcPts val="110"/>
              </a:spcBef>
              <a:tabLst>
                <a:tab pos="312420" algn="l"/>
              </a:tabLst>
            </a:pPr>
            <a:r>
              <a:rPr sz="1500" spc="-260" dirty="0">
                <a:solidFill>
                  <a:srgbClr val="D34816"/>
                </a:solidFill>
                <a:latin typeface="Times New Roman" panose="02020603050405020304"/>
                <a:cs typeface="Times New Roman" panose="02020603050405020304"/>
              </a:rPr>
              <a:t>	</a:t>
            </a:r>
            <a:r>
              <a:rPr sz="1750" spc="-100" dirty="0">
                <a:latin typeface="Times New Roman" panose="02020603050405020304"/>
                <a:cs typeface="Times New Roman" panose="02020603050405020304"/>
              </a:rPr>
              <a:t>This </a:t>
            </a:r>
            <a:r>
              <a:rPr sz="1750" spc="-85" dirty="0">
                <a:latin typeface="Times New Roman" panose="02020603050405020304"/>
                <a:cs typeface="Times New Roman" panose="02020603050405020304"/>
              </a:rPr>
              <a:t>scheme </a:t>
            </a:r>
            <a:r>
              <a:rPr sz="1750" spc="-105" dirty="0">
                <a:latin typeface="Times New Roman" panose="02020603050405020304"/>
                <a:cs typeface="Times New Roman" panose="02020603050405020304"/>
              </a:rPr>
              <a:t>allows </a:t>
            </a:r>
            <a:r>
              <a:rPr sz="1750" spc="-60" dirty="0">
                <a:latin typeface="Times New Roman" panose="02020603050405020304"/>
                <a:cs typeface="Times New Roman" panose="02020603050405020304"/>
              </a:rPr>
              <a:t>at </a:t>
            </a:r>
            <a:r>
              <a:rPr sz="1750" spc="-70" dirty="0">
                <a:latin typeface="Times New Roman" panose="02020603050405020304"/>
                <a:cs typeface="Times New Roman" panose="02020603050405020304"/>
              </a:rPr>
              <a:t>most </a:t>
            </a:r>
            <a:r>
              <a:rPr sz="1750" spc="-165" dirty="0">
                <a:latin typeface="Times New Roman" panose="02020603050405020304"/>
                <a:cs typeface="Times New Roman" panose="02020603050405020304"/>
              </a:rPr>
              <a:t>BUFFER </a:t>
            </a:r>
            <a:r>
              <a:rPr sz="1750" spc="-160" dirty="0">
                <a:latin typeface="Times New Roman" panose="02020603050405020304"/>
                <a:cs typeface="Times New Roman" panose="02020603050405020304"/>
              </a:rPr>
              <a:t>SIZE </a:t>
            </a:r>
            <a:r>
              <a:rPr sz="1750" spc="185" dirty="0">
                <a:latin typeface="Times New Roman" panose="02020603050405020304"/>
                <a:cs typeface="Times New Roman" panose="02020603050405020304"/>
              </a:rPr>
              <a:t>− </a:t>
            </a:r>
            <a:r>
              <a:rPr sz="1750" spc="-70" dirty="0">
                <a:latin typeface="Times New Roman" panose="02020603050405020304"/>
                <a:cs typeface="Times New Roman" panose="02020603050405020304"/>
              </a:rPr>
              <a:t>1 items </a:t>
            </a:r>
            <a:r>
              <a:rPr sz="1750" spc="-75" dirty="0">
                <a:latin typeface="Times New Roman" panose="02020603050405020304"/>
                <a:cs typeface="Times New Roman" panose="02020603050405020304"/>
              </a:rPr>
              <a:t>in </a:t>
            </a:r>
            <a:r>
              <a:rPr sz="1750" spc="-50" dirty="0">
                <a:latin typeface="Times New Roman" panose="02020603050405020304"/>
                <a:cs typeface="Times New Roman" panose="02020603050405020304"/>
              </a:rPr>
              <a:t>the </a:t>
            </a:r>
            <a:r>
              <a:rPr sz="1750" spc="-80" dirty="0">
                <a:latin typeface="Times New Roman" panose="02020603050405020304"/>
                <a:cs typeface="Times New Roman" panose="02020603050405020304"/>
              </a:rPr>
              <a:t>buffer </a:t>
            </a:r>
            <a:r>
              <a:rPr sz="1750" spc="-60" dirty="0">
                <a:latin typeface="Times New Roman" panose="02020603050405020304"/>
                <a:cs typeface="Times New Roman" panose="02020603050405020304"/>
              </a:rPr>
              <a:t>at </a:t>
            </a:r>
            <a:r>
              <a:rPr sz="1750" spc="-55" dirty="0">
                <a:latin typeface="Times New Roman" panose="02020603050405020304"/>
                <a:cs typeface="Times New Roman" panose="02020603050405020304"/>
              </a:rPr>
              <a:t>the </a:t>
            </a:r>
            <a:r>
              <a:rPr sz="1750" spc="-105" dirty="0">
                <a:latin typeface="Times New Roman" panose="02020603050405020304"/>
                <a:cs typeface="Times New Roman" panose="02020603050405020304"/>
              </a:rPr>
              <a:t>same</a:t>
            </a:r>
            <a:r>
              <a:rPr sz="1750" spc="-35" dirty="0">
                <a:latin typeface="Times New Roman" panose="02020603050405020304"/>
                <a:cs typeface="Times New Roman" panose="02020603050405020304"/>
              </a:rPr>
              <a:t> time.</a:t>
            </a:r>
            <a:endParaRPr sz="1750">
              <a:latin typeface="Times New Roman" panose="02020603050405020304"/>
              <a:cs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472051"/>
            <a:ext cx="5368925" cy="696595"/>
          </a:xfrm>
          <a:prstGeom prst="rect">
            <a:avLst/>
          </a:prstGeom>
        </p:spPr>
        <p:txBody>
          <a:bodyPr vert="horz" wrap="square" lIns="0" tIns="12700" rIns="0" bIns="0" rtlCol="0">
            <a:spAutoFit/>
          </a:bodyPr>
          <a:lstStyle/>
          <a:p>
            <a:pPr marL="12700">
              <a:lnSpc>
                <a:spcPct val="100000"/>
              </a:lnSpc>
              <a:spcBef>
                <a:spcPts val="100"/>
              </a:spcBef>
            </a:pPr>
            <a:r>
              <a:rPr sz="4400" spc="-265" dirty="0"/>
              <a:t>Message </a:t>
            </a:r>
            <a:r>
              <a:rPr sz="4400" spc="-350" dirty="0"/>
              <a:t>Passing</a:t>
            </a:r>
            <a:r>
              <a:rPr sz="4400" spc="-75" dirty="0"/>
              <a:t> </a:t>
            </a:r>
            <a:r>
              <a:rPr sz="4400" spc="-320" dirty="0"/>
              <a:t>(IPC)</a:t>
            </a:r>
            <a:endParaRPr sz="4400"/>
          </a:p>
        </p:txBody>
      </p:sp>
      <p:sp>
        <p:nvSpPr>
          <p:cNvPr id="3" name="object 3"/>
          <p:cNvSpPr txBox="1"/>
          <p:nvPr/>
        </p:nvSpPr>
        <p:spPr>
          <a:xfrm>
            <a:off x="1076946" y="1253705"/>
            <a:ext cx="8374380" cy="5198110"/>
          </a:xfrm>
          <a:prstGeom prst="rect">
            <a:avLst/>
          </a:prstGeom>
        </p:spPr>
        <p:txBody>
          <a:bodyPr vert="horz" wrap="square" lIns="0" tIns="12065" rIns="0" bIns="0" rtlCol="0">
            <a:spAutoFit/>
          </a:bodyPr>
          <a:lstStyle/>
          <a:p>
            <a:pPr marL="312420" marR="5080" indent="-300355">
              <a:lnSpc>
                <a:spcPct val="101000"/>
              </a:lnSpc>
              <a:spcBef>
                <a:spcPts val="95"/>
              </a:spcBef>
              <a:buClr>
                <a:srgbClr val="D34816"/>
              </a:buClr>
              <a:buSzPct val="85000"/>
              <a:buFont typeface="Webdings" panose="05030102010509060703"/>
              <a:buChar char=""/>
              <a:tabLst>
                <a:tab pos="313055" algn="l"/>
                <a:tab pos="1687195" algn="l"/>
                <a:tab pos="2854960" algn="l"/>
                <a:tab pos="3254375" algn="l"/>
                <a:tab pos="4785360" algn="l"/>
                <a:tab pos="6889115" algn="l"/>
                <a:tab pos="7726680" algn="l"/>
              </a:tabLst>
            </a:pPr>
            <a:r>
              <a:rPr sz="3050" spc="-340" dirty="0">
                <a:solidFill>
                  <a:srgbClr val="0000FF"/>
                </a:solidFill>
                <a:latin typeface="Times New Roman" panose="02020603050405020304"/>
                <a:cs typeface="Times New Roman" panose="02020603050405020304"/>
              </a:rPr>
              <a:t>M</a:t>
            </a:r>
            <a:r>
              <a:rPr sz="3050" spc="-125" dirty="0">
                <a:solidFill>
                  <a:srgbClr val="0000FF"/>
                </a:solidFill>
                <a:latin typeface="Times New Roman" panose="02020603050405020304"/>
                <a:cs typeface="Times New Roman" panose="02020603050405020304"/>
              </a:rPr>
              <a:t>e</a:t>
            </a:r>
            <a:r>
              <a:rPr sz="3050" spc="-204" dirty="0">
                <a:solidFill>
                  <a:srgbClr val="0000FF"/>
                </a:solidFill>
                <a:latin typeface="Times New Roman" panose="02020603050405020304"/>
                <a:cs typeface="Times New Roman" panose="02020603050405020304"/>
              </a:rPr>
              <a:t>s</a:t>
            </a:r>
            <a:r>
              <a:rPr sz="3050" spc="-235" dirty="0">
                <a:solidFill>
                  <a:srgbClr val="0000FF"/>
                </a:solidFill>
                <a:latin typeface="Times New Roman" panose="02020603050405020304"/>
                <a:cs typeface="Times New Roman" panose="02020603050405020304"/>
              </a:rPr>
              <a:t>s</a:t>
            </a:r>
            <a:r>
              <a:rPr sz="3050" spc="-250" dirty="0">
                <a:solidFill>
                  <a:srgbClr val="0000FF"/>
                </a:solidFill>
                <a:latin typeface="Times New Roman" panose="02020603050405020304"/>
                <a:cs typeface="Times New Roman" panose="02020603050405020304"/>
              </a:rPr>
              <a:t>a</a:t>
            </a:r>
            <a:r>
              <a:rPr sz="3050" spc="-235" dirty="0">
                <a:solidFill>
                  <a:srgbClr val="0000FF"/>
                </a:solidFill>
                <a:latin typeface="Times New Roman" panose="02020603050405020304"/>
                <a:cs typeface="Times New Roman" panose="02020603050405020304"/>
              </a:rPr>
              <a:t>g</a:t>
            </a:r>
            <a:r>
              <a:rPr sz="3050" spc="-105" dirty="0">
                <a:solidFill>
                  <a:srgbClr val="0000FF"/>
                </a:solidFill>
                <a:latin typeface="Times New Roman" panose="02020603050405020304"/>
                <a:cs typeface="Times New Roman" panose="02020603050405020304"/>
              </a:rPr>
              <a:t>e</a:t>
            </a:r>
            <a:r>
              <a:rPr sz="3050" dirty="0">
                <a:solidFill>
                  <a:srgbClr val="0000FF"/>
                </a:solidFill>
                <a:latin typeface="Times New Roman" panose="02020603050405020304"/>
                <a:cs typeface="Times New Roman" panose="02020603050405020304"/>
              </a:rPr>
              <a:t>	</a:t>
            </a:r>
            <a:r>
              <a:rPr sz="3050" spc="-235" dirty="0">
                <a:solidFill>
                  <a:srgbClr val="0000FF"/>
                </a:solidFill>
                <a:latin typeface="Times New Roman" panose="02020603050405020304"/>
                <a:cs typeface="Times New Roman" panose="02020603050405020304"/>
              </a:rPr>
              <a:t>s</a:t>
            </a:r>
            <a:r>
              <a:rPr sz="3050" spc="-235" dirty="0">
                <a:solidFill>
                  <a:srgbClr val="0000FF"/>
                </a:solidFill>
                <a:latin typeface="Times New Roman" panose="02020603050405020304"/>
                <a:cs typeface="Times New Roman" panose="02020603050405020304"/>
              </a:rPr>
              <a:t>y</a:t>
            </a:r>
            <a:r>
              <a:rPr sz="3050" spc="-235" dirty="0">
                <a:solidFill>
                  <a:srgbClr val="0000FF"/>
                </a:solidFill>
                <a:latin typeface="Times New Roman" panose="02020603050405020304"/>
                <a:cs typeface="Times New Roman" panose="02020603050405020304"/>
              </a:rPr>
              <a:t>s</a:t>
            </a:r>
            <a:r>
              <a:rPr sz="3050" spc="40" dirty="0">
                <a:solidFill>
                  <a:srgbClr val="0000FF"/>
                </a:solidFill>
                <a:latin typeface="Times New Roman" panose="02020603050405020304"/>
                <a:cs typeface="Times New Roman" panose="02020603050405020304"/>
              </a:rPr>
              <a:t>t</a:t>
            </a:r>
            <a:r>
              <a:rPr sz="3050" spc="-95" dirty="0">
                <a:solidFill>
                  <a:srgbClr val="0000FF"/>
                </a:solidFill>
                <a:latin typeface="Times New Roman" panose="02020603050405020304"/>
                <a:cs typeface="Times New Roman" panose="02020603050405020304"/>
              </a:rPr>
              <a:t>e</a:t>
            </a:r>
            <a:r>
              <a:rPr sz="3050" spc="-155" dirty="0">
                <a:solidFill>
                  <a:srgbClr val="0000FF"/>
                </a:solidFill>
                <a:latin typeface="Times New Roman" panose="02020603050405020304"/>
                <a:cs typeface="Times New Roman" panose="02020603050405020304"/>
              </a:rPr>
              <a:t>m</a:t>
            </a:r>
            <a:r>
              <a:rPr sz="3050" dirty="0">
                <a:solidFill>
                  <a:srgbClr val="0000FF"/>
                </a:solidFill>
                <a:latin typeface="Times New Roman" panose="02020603050405020304"/>
                <a:cs typeface="Times New Roman" panose="02020603050405020304"/>
              </a:rPr>
              <a:t>	</a:t>
            </a:r>
            <a:r>
              <a:rPr sz="3050" spc="15" dirty="0">
                <a:latin typeface="Times New Roman" panose="02020603050405020304"/>
                <a:cs typeface="Times New Roman" panose="02020603050405020304"/>
              </a:rPr>
              <a:t>–</a:t>
            </a:r>
            <a:r>
              <a:rPr sz="3050" dirty="0">
                <a:latin typeface="Times New Roman" panose="02020603050405020304"/>
                <a:cs typeface="Times New Roman" panose="02020603050405020304"/>
              </a:rPr>
              <a:t>	</a:t>
            </a:r>
            <a:r>
              <a:rPr sz="3050" spc="-110" dirty="0">
                <a:latin typeface="Times New Roman" panose="02020603050405020304"/>
                <a:cs typeface="Times New Roman" panose="02020603050405020304"/>
              </a:rPr>
              <a:t>p</a:t>
            </a:r>
            <a:r>
              <a:rPr sz="3050" dirty="0">
                <a:latin typeface="Times New Roman" panose="02020603050405020304"/>
                <a:cs typeface="Times New Roman" panose="02020603050405020304"/>
              </a:rPr>
              <a:t>r</a:t>
            </a:r>
            <a:r>
              <a:rPr sz="3050" spc="-110" dirty="0">
                <a:latin typeface="Times New Roman" panose="02020603050405020304"/>
                <a:cs typeface="Times New Roman" panose="02020603050405020304"/>
              </a:rPr>
              <a:t>o</a:t>
            </a:r>
            <a:r>
              <a:rPr sz="3050" spc="-155" dirty="0">
                <a:latin typeface="Times New Roman" panose="02020603050405020304"/>
                <a:cs typeface="Times New Roman" panose="02020603050405020304"/>
              </a:rPr>
              <a:t>c</a:t>
            </a:r>
            <a:r>
              <a:rPr sz="3050" spc="-125" dirty="0">
                <a:latin typeface="Times New Roman" panose="02020603050405020304"/>
                <a:cs typeface="Times New Roman" panose="02020603050405020304"/>
              </a:rPr>
              <a:t>e</a:t>
            </a:r>
            <a:r>
              <a:rPr sz="3050" spc="-235" dirty="0">
                <a:latin typeface="Times New Roman" panose="02020603050405020304"/>
                <a:cs typeface="Times New Roman" panose="02020603050405020304"/>
              </a:rPr>
              <a:t>ss</a:t>
            </a:r>
            <a:r>
              <a:rPr sz="3050" spc="-95" dirty="0">
                <a:latin typeface="Times New Roman" panose="02020603050405020304"/>
                <a:cs typeface="Times New Roman" panose="02020603050405020304"/>
              </a:rPr>
              <a:t>e</a:t>
            </a:r>
            <a:r>
              <a:rPr sz="3050" spc="-225" dirty="0">
                <a:latin typeface="Times New Roman" panose="02020603050405020304"/>
                <a:cs typeface="Times New Roman" panose="02020603050405020304"/>
              </a:rPr>
              <a:t>s</a:t>
            </a:r>
            <a:r>
              <a:rPr sz="3050" dirty="0">
                <a:latin typeface="Times New Roman" panose="02020603050405020304"/>
                <a:cs typeface="Times New Roman" panose="02020603050405020304"/>
              </a:rPr>
              <a:t>	</a:t>
            </a:r>
            <a:r>
              <a:rPr sz="3050" spc="-185" dirty="0">
                <a:latin typeface="Times New Roman" panose="02020603050405020304"/>
                <a:cs typeface="Times New Roman" panose="02020603050405020304"/>
              </a:rPr>
              <a:t>c</a:t>
            </a:r>
            <a:r>
              <a:rPr sz="3050" spc="-110" dirty="0">
                <a:latin typeface="Times New Roman" panose="02020603050405020304"/>
                <a:cs typeface="Times New Roman" panose="02020603050405020304"/>
              </a:rPr>
              <a:t>o</a:t>
            </a:r>
            <a:r>
              <a:rPr sz="3050" spc="-155" dirty="0">
                <a:latin typeface="Times New Roman" panose="02020603050405020304"/>
                <a:cs typeface="Times New Roman" panose="02020603050405020304"/>
              </a:rPr>
              <a:t>m</a:t>
            </a:r>
            <a:r>
              <a:rPr sz="3050" spc="-185" dirty="0">
                <a:latin typeface="Times New Roman" panose="02020603050405020304"/>
                <a:cs typeface="Times New Roman" panose="02020603050405020304"/>
              </a:rPr>
              <a:t>m</a:t>
            </a:r>
            <a:r>
              <a:rPr sz="3050" spc="-110" dirty="0">
                <a:latin typeface="Times New Roman" panose="02020603050405020304"/>
                <a:cs typeface="Times New Roman" panose="02020603050405020304"/>
              </a:rPr>
              <a:t>un</a:t>
            </a:r>
            <a:r>
              <a:rPr sz="3050" spc="-145" dirty="0">
                <a:latin typeface="Times New Roman" panose="02020603050405020304"/>
                <a:cs typeface="Times New Roman" panose="02020603050405020304"/>
              </a:rPr>
              <a:t>i</a:t>
            </a:r>
            <a:r>
              <a:rPr sz="3050" spc="-185" dirty="0">
                <a:latin typeface="Times New Roman" panose="02020603050405020304"/>
                <a:cs typeface="Times New Roman" panose="02020603050405020304"/>
              </a:rPr>
              <a:t>c</a:t>
            </a:r>
            <a:r>
              <a:rPr sz="3050" spc="-280" dirty="0">
                <a:latin typeface="Times New Roman" panose="02020603050405020304"/>
                <a:cs typeface="Times New Roman" panose="02020603050405020304"/>
              </a:rPr>
              <a:t>a</a:t>
            </a:r>
            <a:r>
              <a:rPr sz="3050" spc="40" dirty="0">
                <a:latin typeface="Times New Roman" panose="02020603050405020304"/>
                <a:cs typeface="Times New Roman" panose="02020603050405020304"/>
              </a:rPr>
              <a:t>t</a:t>
            </a:r>
            <a:r>
              <a:rPr sz="3050" spc="-105" dirty="0">
                <a:latin typeface="Times New Roman" panose="02020603050405020304"/>
                <a:cs typeface="Times New Roman" panose="02020603050405020304"/>
              </a:rPr>
              <a:t>e</a:t>
            </a:r>
            <a:r>
              <a:rPr sz="3050" dirty="0">
                <a:latin typeface="Times New Roman" panose="02020603050405020304"/>
                <a:cs typeface="Times New Roman" panose="02020603050405020304"/>
              </a:rPr>
              <a:t>	</a:t>
            </a:r>
            <a:r>
              <a:rPr sz="3050" spc="-145" dirty="0">
                <a:latin typeface="Times New Roman" panose="02020603050405020304"/>
                <a:cs typeface="Times New Roman" panose="02020603050405020304"/>
              </a:rPr>
              <a:t>w</a:t>
            </a:r>
            <a:r>
              <a:rPr sz="3050" spc="-175" dirty="0">
                <a:latin typeface="Times New Roman" panose="02020603050405020304"/>
                <a:cs typeface="Times New Roman" panose="02020603050405020304"/>
              </a:rPr>
              <a:t>i</a:t>
            </a:r>
            <a:r>
              <a:rPr sz="3050" spc="70" dirty="0">
                <a:latin typeface="Times New Roman" panose="02020603050405020304"/>
                <a:cs typeface="Times New Roman" panose="02020603050405020304"/>
              </a:rPr>
              <a:t>t</a:t>
            </a:r>
            <a:r>
              <a:rPr sz="3050" spc="-175" dirty="0">
                <a:latin typeface="Times New Roman" panose="02020603050405020304"/>
                <a:cs typeface="Times New Roman" panose="02020603050405020304"/>
              </a:rPr>
              <a:t>h</a:t>
            </a:r>
            <a:r>
              <a:rPr sz="3050" dirty="0">
                <a:latin typeface="Times New Roman" panose="02020603050405020304"/>
                <a:cs typeface="Times New Roman" panose="02020603050405020304"/>
              </a:rPr>
              <a:t>	</a:t>
            </a:r>
            <a:r>
              <a:rPr sz="3050" spc="-95" dirty="0">
                <a:latin typeface="Times New Roman" panose="02020603050405020304"/>
                <a:cs typeface="Times New Roman" panose="02020603050405020304"/>
              </a:rPr>
              <a:t>e</a:t>
            </a:r>
            <a:r>
              <a:rPr sz="3050" spc="-250" dirty="0">
                <a:latin typeface="Times New Roman" panose="02020603050405020304"/>
                <a:cs typeface="Times New Roman" panose="02020603050405020304"/>
              </a:rPr>
              <a:t>a</a:t>
            </a:r>
            <a:r>
              <a:rPr sz="3050" spc="-95" dirty="0">
                <a:latin typeface="Times New Roman" panose="02020603050405020304"/>
                <a:cs typeface="Times New Roman" panose="02020603050405020304"/>
              </a:rPr>
              <a:t>c</a:t>
            </a:r>
            <a:r>
              <a:rPr sz="3050" spc="-120" dirty="0">
                <a:latin typeface="Times New Roman" panose="02020603050405020304"/>
                <a:cs typeface="Times New Roman" panose="02020603050405020304"/>
              </a:rPr>
              <a:t>h  </a:t>
            </a:r>
            <a:r>
              <a:rPr sz="3050" spc="-60" dirty="0">
                <a:latin typeface="Times New Roman" panose="02020603050405020304"/>
                <a:cs typeface="Times New Roman" panose="02020603050405020304"/>
              </a:rPr>
              <a:t>other </a:t>
            </a:r>
            <a:r>
              <a:rPr sz="3050" spc="-90" dirty="0">
                <a:solidFill>
                  <a:srgbClr val="FF0000"/>
                </a:solidFill>
                <a:latin typeface="Times New Roman" panose="02020603050405020304"/>
                <a:cs typeface="Times New Roman" panose="02020603050405020304"/>
              </a:rPr>
              <a:t>without </a:t>
            </a:r>
            <a:r>
              <a:rPr sz="3050" spc="-85" dirty="0">
                <a:latin typeface="Times New Roman" panose="02020603050405020304"/>
                <a:cs typeface="Times New Roman" panose="02020603050405020304"/>
              </a:rPr>
              <a:t>resorting </a:t>
            </a:r>
            <a:r>
              <a:rPr sz="3050" spc="-35" dirty="0">
                <a:latin typeface="Times New Roman" panose="02020603050405020304"/>
                <a:cs typeface="Times New Roman" panose="02020603050405020304"/>
              </a:rPr>
              <a:t>to </a:t>
            </a:r>
            <a:r>
              <a:rPr sz="3050" spc="-145" dirty="0">
                <a:solidFill>
                  <a:srgbClr val="FF0000"/>
                </a:solidFill>
                <a:latin typeface="Times New Roman" panose="02020603050405020304"/>
                <a:cs typeface="Times New Roman" panose="02020603050405020304"/>
              </a:rPr>
              <a:t>shared</a:t>
            </a:r>
            <a:r>
              <a:rPr sz="3050" spc="-120" dirty="0">
                <a:solidFill>
                  <a:srgbClr val="FF0000"/>
                </a:solidFill>
                <a:latin typeface="Times New Roman" panose="02020603050405020304"/>
                <a:cs typeface="Times New Roman" panose="02020603050405020304"/>
              </a:rPr>
              <a:t> </a:t>
            </a:r>
            <a:r>
              <a:rPr sz="3050" spc="-140" dirty="0">
                <a:solidFill>
                  <a:srgbClr val="FF0000"/>
                </a:solidFill>
                <a:latin typeface="Times New Roman" panose="02020603050405020304"/>
                <a:cs typeface="Times New Roman" panose="02020603050405020304"/>
              </a:rPr>
              <a:t>variables</a:t>
            </a:r>
            <a:r>
              <a:rPr sz="3050" spc="-140" dirty="0">
                <a:latin typeface="Times New Roman" panose="02020603050405020304"/>
                <a:cs typeface="Times New Roman" panose="02020603050405020304"/>
              </a:rPr>
              <a:t>.</a:t>
            </a:r>
            <a:endParaRPr sz="3050">
              <a:latin typeface="Times New Roman" panose="02020603050405020304"/>
              <a:cs typeface="Times New Roman" panose="02020603050405020304"/>
            </a:endParaRPr>
          </a:p>
          <a:p>
            <a:pPr marL="312420" indent="-300355">
              <a:lnSpc>
                <a:spcPct val="100000"/>
              </a:lnSpc>
              <a:spcBef>
                <a:spcPts val="35"/>
              </a:spcBef>
              <a:buClr>
                <a:srgbClr val="D34816"/>
              </a:buClr>
              <a:buSzPct val="85000"/>
              <a:buFont typeface="Webdings" panose="05030102010509060703"/>
              <a:buChar char=""/>
              <a:tabLst>
                <a:tab pos="313055" algn="l"/>
              </a:tabLst>
            </a:pPr>
            <a:r>
              <a:rPr sz="3050" spc="-170" dirty="0">
                <a:latin typeface="Times New Roman" panose="02020603050405020304"/>
                <a:cs typeface="Times New Roman" panose="02020603050405020304"/>
              </a:rPr>
              <a:t>IPC </a:t>
            </a:r>
            <a:r>
              <a:rPr sz="3050" spc="-155" dirty="0">
                <a:latin typeface="Times New Roman" panose="02020603050405020304"/>
                <a:cs typeface="Times New Roman" panose="02020603050405020304"/>
              </a:rPr>
              <a:t>facility </a:t>
            </a:r>
            <a:r>
              <a:rPr sz="3050" spc="-145" dirty="0">
                <a:latin typeface="Times New Roman" panose="02020603050405020304"/>
                <a:cs typeface="Times New Roman" panose="02020603050405020304"/>
              </a:rPr>
              <a:t>provides </a:t>
            </a:r>
            <a:r>
              <a:rPr sz="3050" spc="-110" dirty="0">
                <a:latin typeface="Times New Roman" panose="02020603050405020304"/>
                <a:cs typeface="Times New Roman" panose="02020603050405020304"/>
              </a:rPr>
              <a:t>two</a:t>
            </a:r>
            <a:r>
              <a:rPr sz="3050" spc="110" dirty="0">
                <a:latin typeface="Times New Roman" panose="02020603050405020304"/>
                <a:cs typeface="Times New Roman" panose="02020603050405020304"/>
              </a:rPr>
              <a:t> </a:t>
            </a:r>
            <a:r>
              <a:rPr sz="3050" spc="-95" dirty="0">
                <a:latin typeface="Times New Roman" panose="02020603050405020304"/>
                <a:cs typeface="Times New Roman" panose="02020603050405020304"/>
              </a:rPr>
              <a:t>operations:</a:t>
            </a:r>
            <a:endParaRPr sz="3050">
              <a:latin typeface="Times New Roman" panose="02020603050405020304"/>
              <a:cs typeface="Times New Roman" panose="02020603050405020304"/>
            </a:endParaRPr>
          </a:p>
          <a:p>
            <a:pPr marL="615950" lvl="1" indent="-252095">
              <a:lnSpc>
                <a:spcPts val="3175"/>
              </a:lnSpc>
              <a:spcBef>
                <a:spcPts val="65"/>
              </a:spcBef>
              <a:buClr>
                <a:srgbClr val="9A2D1F"/>
              </a:buClr>
              <a:buSzPct val="85000"/>
              <a:buFont typeface="Webdings" panose="05030102010509060703"/>
              <a:buChar char=""/>
              <a:tabLst>
                <a:tab pos="616585" algn="l"/>
              </a:tabLst>
            </a:pPr>
            <a:r>
              <a:rPr sz="2650" b="1" spc="-150" dirty="0">
                <a:latin typeface="Trebuchet MS" panose="020B0603020202020204"/>
                <a:cs typeface="Trebuchet MS" panose="020B0603020202020204"/>
              </a:rPr>
              <a:t>send</a:t>
            </a:r>
            <a:r>
              <a:rPr sz="2650" spc="-150" dirty="0">
                <a:latin typeface="Times New Roman" panose="02020603050405020304"/>
                <a:cs typeface="Times New Roman" panose="02020603050405020304"/>
              </a:rPr>
              <a:t>(message) </a:t>
            </a:r>
            <a:r>
              <a:rPr sz="2650" spc="-5" dirty="0">
                <a:latin typeface="Times New Roman" panose="02020603050405020304"/>
                <a:cs typeface="Times New Roman" panose="02020603050405020304"/>
              </a:rPr>
              <a:t>– </a:t>
            </a:r>
            <a:r>
              <a:rPr sz="2650" spc="-180" dirty="0">
                <a:latin typeface="Times New Roman" panose="02020603050405020304"/>
                <a:cs typeface="Times New Roman" panose="02020603050405020304"/>
              </a:rPr>
              <a:t>message </a:t>
            </a:r>
            <a:r>
              <a:rPr sz="2650" spc="-165" dirty="0">
                <a:latin typeface="Times New Roman" panose="02020603050405020304"/>
                <a:cs typeface="Times New Roman" panose="02020603050405020304"/>
              </a:rPr>
              <a:t>size </a:t>
            </a:r>
            <a:r>
              <a:rPr sz="2650" spc="-145" dirty="0">
                <a:latin typeface="Times New Roman" panose="02020603050405020304"/>
                <a:cs typeface="Times New Roman" panose="02020603050405020304"/>
              </a:rPr>
              <a:t>fixed </a:t>
            </a:r>
            <a:r>
              <a:rPr sz="2650" spc="-45" dirty="0">
                <a:latin typeface="Times New Roman" panose="02020603050405020304"/>
                <a:cs typeface="Times New Roman" panose="02020603050405020304"/>
              </a:rPr>
              <a:t>or</a:t>
            </a:r>
            <a:r>
              <a:rPr sz="2650" spc="165" dirty="0">
                <a:latin typeface="Times New Roman" panose="02020603050405020304"/>
                <a:cs typeface="Times New Roman" panose="02020603050405020304"/>
              </a:rPr>
              <a:t> </a:t>
            </a:r>
            <a:r>
              <a:rPr sz="2650" spc="-145" dirty="0">
                <a:latin typeface="Times New Roman" panose="02020603050405020304"/>
                <a:cs typeface="Times New Roman" panose="02020603050405020304"/>
              </a:rPr>
              <a:t>variable</a:t>
            </a:r>
            <a:endParaRPr sz="2650">
              <a:latin typeface="Times New Roman" panose="02020603050405020304"/>
              <a:cs typeface="Times New Roman" panose="02020603050405020304"/>
            </a:endParaRPr>
          </a:p>
          <a:p>
            <a:pPr marL="615950" lvl="1" indent="-252095">
              <a:lnSpc>
                <a:spcPts val="3155"/>
              </a:lnSpc>
              <a:buClr>
                <a:srgbClr val="9A2D1F"/>
              </a:buClr>
              <a:buSzPct val="85000"/>
              <a:buFont typeface="Webdings" panose="05030102010509060703"/>
              <a:buChar char=""/>
              <a:tabLst>
                <a:tab pos="616585" algn="l"/>
              </a:tabLst>
            </a:pPr>
            <a:r>
              <a:rPr sz="2650" b="1" spc="-165" dirty="0">
                <a:latin typeface="Trebuchet MS" panose="020B0603020202020204"/>
                <a:cs typeface="Trebuchet MS" panose="020B0603020202020204"/>
              </a:rPr>
              <a:t>receive</a:t>
            </a:r>
            <a:r>
              <a:rPr sz="2650" spc="-165" dirty="0">
                <a:latin typeface="Times New Roman" panose="02020603050405020304"/>
                <a:cs typeface="Times New Roman" panose="02020603050405020304"/>
              </a:rPr>
              <a:t>(message)</a:t>
            </a:r>
            <a:endParaRPr sz="2650">
              <a:latin typeface="Times New Roman" panose="02020603050405020304"/>
              <a:cs typeface="Times New Roman" panose="02020603050405020304"/>
            </a:endParaRPr>
          </a:p>
          <a:p>
            <a:pPr marL="312420" indent="-300355">
              <a:lnSpc>
                <a:spcPts val="3640"/>
              </a:lnSpc>
              <a:buClr>
                <a:srgbClr val="D34816"/>
              </a:buClr>
              <a:buSzPct val="85000"/>
              <a:buFont typeface="Webdings" panose="05030102010509060703"/>
              <a:buChar char=""/>
              <a:tabLst>
                <a:tab pos="313055" algn="l"/>
              </a:tabLst>
            </a:pPr>
            <a:r>
              <a:rPr sz="3050" spc="-215" dirty="0">
                <a:latin typeface="Times New Roman" panose="02020603050405020304"/>
                <a:cs typeface="Times New Roman" panose="02020603050405020304"/>
              </a:rPr>
              <a:t>If </a:t>
            </a:r>
            <a:r>
              <a:rPr sz="3050" spc="-155" dirty="0">
                <a:latin typeface="Times New Roman" panose="02020603050405020304"/>
                <a:cs typeface="Times New Roman" panose="02020603050405020304"/>
              </a:rPr>
              <a:t>P </a:t>
            </a:r>
            <a:r>
              <a:rPr sz="3050" spc="-150" dirty="0">
                <a:latin typeface="Times New Roman" panose="02020603050405020304"/>
                <a:cs typeface="Times New Roman" panose="02020603050405020304"/>
              </a:rPr>
              <a:t>and </a:t>
            </a:r>
            <a:r>
              <a:rPr sz="3050" spc="15" dirty="0">
                <a:latin typeface="Times New Roman" panose="02020603050405020304"/>
                <a:cs typeface="Times New Roman" panose="02020603050405020304"/>
              </a:rPr>
              <a:t>Q </a:t>
            </a:r>
            <a:r>
              <a:rPr sz="3050" spc="-175" dirty="0">
                <a:latin typeface="Times New Roman" panose="02020603050405020304"/>
                <a:cs typeface="Times New Roman" panose="02020603050405020304"/>
              </a:rPr>
              <a:t>wish </a:t>
            </a:r>
            <a:r>
              <a:rPr sz="3050" spc="-20" dirty="0">
                <a:latin typeface="Times New Roman" panose="02020603050405020304"/>
                <a:cs typeface="Times New Roman" panose="02020603050405020304"/>
              </a:rPr>
              <a:t>to </a:t>
            </a:r>
            <a:r>
              <a:rPr sz="3050" spc="-120" dirty="0">
                <a:latin typeface="Times New Roman" panose="02020603050405020304"/>
                <a:cs typeface="Times New Roman" panose="02020603050405020304"/>
              </a:rPr>
              <a:t>communicate, </a:t>
            </a:r>
            <a:r>
              <a:rPr sz="3050" spc="-130" dirty="0">
                <a:latin typeface="Times New Roman" panose="02020603050405020304"/>
                <a:cs typeface="Times New Roman" panose="02020603050405020304"/>
              </a:rPr>
              <a:t>they </a:t>
            </a:r>
            <a:r>
              <a:rPr sz="3050" spc="-110" dirty="0">
                <a:latin typeface="Times New Roman" panose="02020603050405020304"/>
                <a:cs typeface="Times New Roman" panose="02020603050405020304"/>
              </a:rPr>
              <a:t>need</a:t>
            </a:r>
            <a:r>
              <a:rPr sz="3050" spc="5" dirty="0">
                <a:latin typeface="Times New Roman" panose="02020603050405020304"/>
                <a:cs typeface="Times New Roman" panose="02020603050405020304"/>
              </a:rPr>
              <a:t> to:</a:t>
            </a:r>
            <a:endParaRPr sz="3050">
              <a:latin typeface="Times New Roman" panose="02020603050405020304"/>
              <a:cs typeface="Times New Roman" panose="02020603050405020304"/>
            </a:endParaRPr>
          </a:p>
          <a:p>
            <a:pPr marL="615950" lvl="1" indent="-252095">
              <a:lnSpc>
                <a:spcPts val="3175"/>
              </a:lnSpc>
              <a:spcBef>
                <a:spcPts val="65"/>
              </a:spcBef>
              <a:buClr>
                <a:srgbClr val="9A2D1F"/>
              </a:buClr>
              <a:buSzPct val="85000"/>
              <a:buFont typeface="Webdings" panose="05030102010509060703"/>
              <a:buChar char=""/>
              <a:tabLst>
                <a:tab pos="616585" algn="l"/>
              </a:tabLst>
            </a:pPr>
            <a:r>
              <a:rPr sz="2650" spc="-150" dirty="0">
                <a:latin typeface="Times New Roman" panose="02020603050405020304"/>
                <a:cs typeface="Times New Roman" panose="02020603050405020304"/>
              </a:rPr>
              <a:t>establish </a:t>
            </a:r>
            <a:r>
              <a:rPr sz="2650" spc="-215" dirty="0">
                <a:latin typeface="Times New Roman" panose="02020603050405020304"/>
                <a:cs typeface="Times New Roman" panose="02020603050405020304"/>
              </a:rPr>
              <a:t>a </a:t>
            </a:r>
            <a:r>
              <a:rPr sz="2650" spc="-135" dirty="0">
                <a:latin typeface="Times New Roman" panose="02020603050405020304"/>
                <a:cs typeface="Times New Roman" panose="02020603050405020304"/>
              </a:rPr>
              <a:t>communication </a:t>
            </a:r>
            <a:r>
              <a:rPr sz="2650" spc="-130" dirty="0">
                <a:latin typeface="Times New Roman" panose="02020603050405020304"/>
                <a:cs typeface="Times New Roman" panose="02020603050405020304"/>
              </a:rPr>
              <a:t>link </a:t>
            </a:r>
            <a:r>
              <a:rPr sz="2650" spc="-120" dirty="0">
                <a:latin typeface="Times New Roman" panose="02020603050405020304"/>
                <a:cs typeface="Times New Roman" panose="02020603050405020304"/>
              </a:rPr>
              <a:t>between</a:t>
            </a:r>
            <a:r>
              <a:rPr sz="2650" spc="265" dirty="0">
                <a:latin typeface="Times New Roman" panose="02020603050405020304"/>
                <a:cs typeface="Times New Roman" panose="02020603050405020304"/>
              </a:rPr>
              <a:t> </a:t>
            </a:r>
            <a:r>
              <a:rPr sz="2650" spc="-110" dirty="0">
                <a:latin typeface="Times New Roman" panose="02020603050405020304"/>
                <a:cs typeface="Times New Roman" panose="02020603050405020304"/>
              </a:rPr>
              <a:t>them</a:t>
            </a:r>
            <a:endParaRPr sz="2650">
              <a:latin typeface="Times New Roman" panose="02020603050405020304"/>
              <a:cs typeface="Times New Roman" panose="02020603050405020304"/>
            </a:endParaRPr>
          </a:p>
          <a:p>
            <a:pPr marL="615950" lvl="1" indent="-252095">
              <a:lnSpc>
                <a:spcPts val="3155"/>
              </a:lnSpc>
              <a:buClr>
                <a:srgbClr val="9A2D1F"/>
              </a:buClr>
              <a:buSzPct val="85000"/>
              <a:buFont typeface="Webdings" panose="05030102010509060703"/>
              <a:buChar char=""/>
              <a:tabLst>
                <a:tab pos="616585" algn="l"/>
              </a:tabLst>
            </a:pPr>
            <a:r>
              <a:rPr sz="2650" spc="-150" dirty="0">
                <a:latin typeface="Times New Roman" panose="02020603050405020304"/>
                <a:cs typeface="Times New Roman" panose="02020603050405020304"/>
              </a:rPr>
              <a:t>exchange </a:t>
            </a:r>
            <a:r>
              <a:rPr sz="2650" spc="-185" dirty="0">
                <a:latin typeface="Times New Roman" panose="02020603050405020304"/>
                <a:cs typeface="Times New Roman" panose="02020603050405020304"/>
              </a:rPr>
              <a:t>messages </a:t>
            </a:r>
            <a:r>
              <a:rPr sz="2650" spc="-190" dirty="0">
                <a:latin typeface="Times New Roman" panose="02020603050405020304"/>
                <a:cs typeface="Times New Roman" panose="02020603050405020304"/>
              </a:rPr>
              <a:t>via</a:t>
            </a:r>
            <a:r>
              <a:rPr sz="2650" spc="120" dirty="0">
                <a:latin typeface="Times New Roman" panose="02020603050405020304"/>
                <a:cs typeface="Times New Roman" panose="02020603050405020304"/>
              </a:rPr>
              <a:t> </a:t>
            </a:r>
            <a:r>
              <a:rPr sz="2650" spc="-75" dirty="0">
                <a:latin typeface="Times New Roman" panose="02020603050405020304"/>
                <a:cs typeface="Times New Roman" panose="02020603050405020304"/>
              </a:rPr>
              <a:t>send/receive</a:t>
            </a:r>
            <a:endParaRPr sz="2650">
              <a:latin typeface="Times New Roman" panose="02020603050405020304"/>
              <a:cs typeface="Times New Roman" panose="02020603050405020304"/>
            </a:endParaRPr>
          </a:p>
          <a:p>
            <a:pPr marL="312420" indent="-300355">
              <a:lnSpc>
                <a:spcPts val="3640"/>
              </a:lnSpc>
              <a:buClr>
                <a:srgbClr val="D34816"/>
              </a:buClr>
              <a:buSzPct val="85000"/>
              <a:buFont typeface="Webdings" panose="05030102010509060703"/>
              <a:buChar char=""/>
              <a:tabLst>
                <a:tab pos="313055" algn="l"/>
              </a:tabLst>
            </a:pPr>
            <a:r>
              <a:rPr sz="3050" spc="-114" dirty="0">
                <a:latin typeface="Times New Roman" panose="02020603050405020304"/>
                <a:cs typeface="Times New Roman" panose="02020603050405020304"/>
              </a:rPr>
              <a:t>Implementation </a:t>
            </a:r>
            <a:r>
              <a:rPr sz="3050" spc="-165" dirty="0">
                <a:latin typeface="Times New Roman" panose="02020603050405020304"/>
                <a:cs typeface="Times New Roman" panose="02020603050405020304"/>
              </a:rPr>
              <a:t>of </a:t>
            </a:r>
            <a:r>
              <a:rPr sz="3050" spc="-135" dirty="0">
                <a:latin typeface="Times New Roman" panose="02020603050405020304"/>
                <a:cs typeface="Times New Roman" panose="02020603050405020304"/>
              </a:rPr>
              <a:t>communication</a:t>
            </a:r>
            <a:r>
              <a:rPr sz="3050" spc="-30" dirty="0">
                <a:latin typeface="Times New Roman" panose="02020603050405020304"/>
                <a:cs typeface="Times New Roman" panose="02020603050405020304"/>
              </a:rPr>
              <a:t> </a:t>
            </a:r>
            <a:r>
              <a:rPr sz="3050" spc="-135" dirty="0">
                <a:latin typeface="Times New Roman" panose="02020603050405020304"/>
                <a:cs typeface="Times New Roman" panose="02020603050405020304"/>
              </a:rPr>
              <a:t>link</a:t>
            </a:r>
            <a:endParaRPr sz="3050">
              <a:latin typeface="Times New Roman" panose="02020603050405020304"/>
              <a:cs typeface="Times New Roman" panose="02020603050405020304"/>
            </a:endParaRPr>
          </a:p>
          <a:p>
            <a:pPr marL="615950" lvl="1" indent="-252095">
              <a:lnSpc>
                <a:spcPts val="3175"/>
              </a:lnSpc>
              <a:spcBef>
                <a:spcPts val="65"/>
              </a:spcBef>
              <a:buClr>
                <a:srgbClr val="9A2D1F"/>
              </a:buClr>
              <a:buSzPct val="85000"/>
              <a:buFont typeface="Webdings" panose="05030102010509060703"/>
              <a:buChar char=""/>
              <a:tabLst>
                <a:tab pos="616585" algn="l"/>
              </a:tabLst>
            </a:pPr>
            <a:r>
              <a:rPr sz="2650" spc="-175" dirty="0">
                <a:latin typeface="Times New Roman" panose="02020603050405020304"/>
                <a:cs typeface="Times New Roman" panose="02020603050405020304"/>
              </a:rPr>
              <a:t>physical </a:t>
            </a:r>
            <a:r>
              <a:rPr sz="2650" spc="-15" dirty="0">
                <a:latin typeface="Times New Roman" panose="02020603050405020304"/>
                <a:cs typeface="Times New Roman" panose="02020603050405020304"/>
              </a:rPr>
              <a:t>(i.e., </a:t>
            </a:r>
            <a:r>
              <a:rPr sz="2650" spc="-140" dirty="0">
                <a:latin typeface="Times New Roman" panose="02020603050405020304"/>
                <a:cs typeface="Times New Roman" panose="02020603050405020304"/>
              </a:rPr>
              <a:t>shared </a:t>
            </a:r>
            <a:r>
              <a:rPr sz="2650" spc="-125" dirty="0">
                <a:latin typeface="Times New Roman" panose="02020603050405020304"/>
                <a:cs typeface="Times New Roman" panose="02020603050405020304"/>
              </a:rPr>
              <a:t>memory, </a:t>
            </a:r>
            <a:r>
              <a:rPr sz="2650" spc="-135" dirty="0">
                <a:latin typeface="Times New Roman" panose="02020603050405020304"/>
                <a:cs typeface="Times New Roman" panose="02020603050405020304"/>
              </a:rPr>
              <a:t>hardware</a:t>
            </a:r>
            <a:r>
              <a:rPr sz="2650" spc="-120" dirty="0">
                <a:latin typeface="Times New Roman" panose="02020603050405020304"/>
                <a:cs typeface="Times New Roman" panose="02020603050405020304"/>
              </a:rPr>
              <a:t> </a:t>
            </a:r>
            <a:r>
              <a:rPr sz="2650" spc="-140" dirty="0">
                <a:latin typeface="Times New Roman" panose="02020603050405020304"/>
                <a:cs typeface="Times New Roman" panose="02020603050405020304"/>
              </a:rPr>
              <a:t>bus)</a:t>
            </a:r>
            <a:endParaRPr sz="2650">
              <a:latin typeface="Times New Roman" panose="02020603050405020304"/>
              <a:cs typeface="Times New Roman" panose="02020603050405020304"/>
            </a:endParaRPr>
          </a:p>
          <a:p>
            <a:pPr marL="615950" marR="5080" lvl="1" indent="-251460">
              <a:lnSpc>
                <a:spcPts val="3170"/>
              </a:lnSpc>
              <a:spcBef>
                <a:spcPts val="105"/>
              </a:spcBef>
              <a:buClr>
                <a:srgbClr val="9A2D1F"/>
              </a:buClr>
              <a:buSzPct val="85000"/>
              <a:buFont typeface="Webdings" panose="05030102010509060703"/>
              <a:buChar char=""/>
              <a:tabLst>
                <a:tab pos="616585" algn="l"/>
                <a:tab pos="1645285" algn="l"/>
                <a:tab pos="3884295" algn="l"/>
                <a:tab pos="7002780" algn="l"/>
              </a:tabLst>
            </a:pPr>
            <a:r>
              <a:rPr sz="2650" spc="-110" dirty="0">
                <a:latin typeface="Times New Roman" panose="02020603050405020304"/>
                <a:cs typeface="Times New Roman" panose="02020603050405020304"/>
              </a:rPr>
              <a:t>l</a:t>
            </a:r>
            <a:r>
              <a:rPr sz="2650" spc="-114" dirty="0">
                <a:latin typeface="Times New Roman" panose="02020603050405020304"/>
                <a:cs typeface="Times New Roman" panose="02020603050405020304"/>
              </a:rPr>
              <a:t>o</a:t>
            </a:r>
            <a:r>
              <a:rPr sz="2650" spc="-165" dirty="0">
                <a:latin typeface="Times New Roman" panose="02020603050405020304"/>
                <a:cs typeface="Times New Roman" panose="02020603050405020304"/>
              </a:rPr>
              <a:t>g</a:t>
            </a:r>
            <a:r>
              <a:rPr sz="2650" spc="-160" dirty="0">
                <a:latin typeface="Times New Roman" panose="02020603050405020304"/>
                <a:cs typeface="Times New Roman" panose="02020603050405020304"/>
              </a:rPr>
              <a:t>i</a:t>
            </a:r>
            <a:r>
              <a:rPr sz="2650" spc="-155" dirty="0">
                <a:latin typeface="Times New Roman" panose="02020603050405020304"/>
                <a:cs typeface="Times New Roman" panose="02020603050405020304"/>
              </a:rPr>
              <a:t>c</a:t>
            </a:r>
            <a:r>
              <a:rPr sz="2650" spc="-229" dirty="0">
                <a:latin typeface="Times New Roman" panose="02020603050405020304"/>
                <a:cs typeface="Times New Roman" panose="02020603050405020304"/>
              </a:rPr>
              <a:t>a</a:t>
            </a:r>
            <a:r>
              <a:rPr sz="2650" spc="-105" dirty="0">
                <a:latin typeface="Times New Roman" panose="02020603050405020304"/>
                <a:cs typeface="Times New Roman" panose="02020603050405020304"/>
              </a:rPr>
              <a:t>l</a:t>
            </a:r>
            <a:r>
              <a:rPr sz="2650" dirty="0">
                <a:latin typeface="Times New Roman" panose="02020603050405020304"/>
                <a:cs typeface="Times New Roman" panose="02020603050405020304"/>
              </a:rPr>
              <a:t>	</a:t>
            </a:r>
            <a:r>
              <a:rPr sz="2650" spc="-45" dirty="0">
                <a:latin typeface="Times New Roman" panose="02020603050405020304"/>
                <a:cs typeface="Times New Roman" panose="02020603050405020304"/>
              </a:rPr>
              <a:t>(</a:t>
            </a:r>
            <a:r>
              <a:rPr sz="2650" spc="-114" dirty="0">
                <a:latin typeface="Times New Roman" panose="02020603050405020304"/>
                <a:cs typeface="Times New Roman" panose="02020603050405020304"/>
              </a:rPr>
              <a:t>d</a:t>
            </a:r>
            <a:r>
              <a:rPr sz="2650" spc="-160" dirty="0">
                <a:latin typeface="Times New Roman" panose="02020603050405020304"/>
                <a:cs typeface="Times New Roman" panose="02020603050405020304"/>
              </a:rPr>
              <a:t>i</a:t>
            </a:r>
            <a:r>
              <a:rPr sz="2650" spc="-15" dirty="0">
                <a:latin typeface="Times New Roman" panose="02020603050405020304"/>
                <a:cs typeface="Times New Roman" panose="02020603050405020304"/>
              </a:rPr>
              <a:t>r</a:t>
            </a:r>
            <a:r>
              <a:rPr sz="2650" spc="-95" dirty="0">
                <a:latin typeface="Times New Roman" panose="02020603050405020304"/>
                <a:cs typeface="Times New Roman" panose="02020603050405020304"/>
              </a:rPr>
              <a:t>e</a:t>
            </a:r>
            <a:r>
              <a:rPr sz="2650" spc="-155" dirty="0">
                <a:latin typeface="Times New Roman" panose="02020603050405020304"/>
                <a:cs typeface="Times New Roman" panose="02020603050405020304"/>
              </a:rPr>
              <a:t>c</a:t>
            </a:r>
            <a:r>
              <a:rPr sz="2650" spc="20" dirty="0">
                <a:latin typeface="Times New Roman" panose="02020603050405020304"/>
                <a:cs typeface="Times New Roman" panose="02020603050405020304"/>
              </a:rPr>
              <a:t>t</a:t>
            </a:r>
            <a:r>
              <a:rPr sz="2650" spc="580" dirty="0">
                <a:latin typeface="Times New Roman" panose="02020603050405020304"/>
                <a:cs typeface="Times New Roman" panose="02020603050405020304"/>
              </a:rPr>
              <a:t>/</a:t>
            </a:r>
            <a:r>
              <a:rPr sz="2650" spc="-160" dirty="0">
                <a:latin typeface="Times New Roman" panose="02020603050405020304"/>
                <a:cs typeface="Times New Roman" panose="02020603050405020304"/>
              </a:rPr>
              <a:t>i</a:t>
            </a:r>
            <a:r>
              <a:rPr sz="2650" spc="-114" dirty="0">
                <a:latin typeface="Times New Roman" panose="02020603050405020304"/>
                <a:cs typeface="Times New Roman" panose="02020603050405020304"/>
              </a:rPr>
              <a:t>nd</a:t>
            </a:r>
            <a:r>
              <a:rPr sz="2650" spc="-135" dirty="0">
                <a:latin typeface="Times New Roman" panose="02020603050405020304"/>
                <a:cs typeface="Times New Roman" panose="02020603050405020304"/>
              </a:rPr>
              <a:t>i</a:t>
            </a:r>
            <a:r>
              <a:rPr sz="2650" spc="10" dirty="0">
                <a:latin typeface="Times New Roman" panose="02020603050405020304"/>
                <a:cs typeface="Times New Roman" panose="02020603050405020304"/>
              </a:rPr>
              <a:t>r</a:t>
            </a:r>
            <a:r>
              <a:rPr sz="2650" spc="-125" dirty="0">
                <a:latin typeface="Times New Roman" panose="02020603050405020304"/>
                <a:cs typeface="Times New Roman" panose="02020603050405020304"/>
              </a:rPr>
              <a:t>e</a:t>
            </a:r>
            <a:r>
              <a:rPr sz="2650" spc="-155" dirty="0">
                <a:latin typeface="Times New Roman" panose="02020603050405020304"/>
                <a:cs typeface="Times New Roman" panose="02020603050405020304"/>
              </a:rPr>
              <a:t>c</a:t>
            </a:r>
            <a:r>
              <a:rPr sz="2650" spc="20" dirty="0">
                <a:latin typeface="Times New Roman" panose="02020603050405020304"/>
                <a:cs typeface="Times New Roman" panose="02020603050405020304"/>
              </a:rPr>
              <a:t>t</a:t>
            </a:r>
            <a:r>
              <a:rPr sz="2650" spc="105" dirty="0">
                <a:latin typeface="Times New Roman" panose="02020603050405020304"/>
                <a:cs typeface="Times New Roman" panose="02020603050405020304"/>
              </a:rPr>
              <a:t>,</a:t>
            </a:r>
            <a:r>
              <a:rPr sz="2650" dirty="0">
                <a:latin typeface="Times New Roman" panose="02020603050405020304"/>
                <a:cs typeface="Times New Roman" panose="02020603050405020304"/>
              </a:rPr>
              <a:t>	</a:t>
            </a:r>
            <a:r>
              <a:rPr sz="2650" spc="-170" dirty="0">
                <a:latin typeface="Times New Roman" panose="02020603050405020304"/>
                <a:cs typeface="Times New Roman" panose="02020603050405020304"/>
              </a:rPr>
              <a:t>b</a:t>
            </a:r>
            <a:r>
              <a:rPr sz="2650" spc="-135" dirty="0">
                <a:latin typeface="Times New Roman" panose="02020603050405020304"/>
                <a:cs typeface="Times New Roman" panose="02020603050405020304"/>
              </a:rPr>
              <a:t>l</a:t>
            </a:r>
            <a:r>
              <a:rPr sz="2650" spc="-114" dirty="0">
                <a:latin typeface="Times New Roman" panose="02020603050405020304"/>
                <a:cs typeface="Times New Roman" panose="02020603050405020304"/>
              </a:rPr>
              <a:t>o</a:t>
            </a:r>
            <a:r>
              <a:rPr sz="2650" spc="-100" dirty="0">
                <a:latin typeface="Times New Roman" panose="02020603050405020304"/>
                <a:cs typeface="Times New Roman" panose="02020603050405020304"/>
              </a:rPr>
              <a:t>c</a:t>
            </a:r>
            <a:r>
              <a:rPr sz="2650" spc="-195" dirty="0">
                <a:latin typeface="Times New Roman" panose="02020603050405020304"/>
                <a:cs typeface="Times New Roman" panose="02020603050405020304"/>
              </a:rPr>
              <a:t>k</a:t>
            </a:r>
            <a:r>
              <a:rPr sz="2650" spc="-135" dirty="0">
                <a:latin typeface="Times New Roman" panose="02020603050405020304"/>
                <a:cs typeface="Times New Roman" panose="02020603050405020304"/>
              </a:rPr>
              <a:t>i</a:t>
            </a:r>
            <a:r>
              <a:rPr sz="2650" spc="-114" dirty="0">
                <a:latin typeface="Times New Roman" panose="02020603050405020304"/>
                <a:cs typeface="Times New Roman" panose="02020603050405020304"/>
              </a:rPr>
              <a:t>n</a:t>
            </a:r>
            <a:r>
              <a:rPr sz="2650" spc="-220" dirty="0">
                <a:latin typeface="Times New Roman" panose="02020603050405020304"/>
                <a:cs typeface="Times New Roman" panose="02020603050405020304"/>
              </a:rPr>
              <a:t>g</a:t>
            </a:r>
            <a:r>
              <a:rPr sz="2650" spc="580" dirty="0">
                <a:latin typeface="Times New Roman" panose="02020603050405020304"/>
                <a:cs typeface="Times New Roman" panose="02020603050405020304"/>
              </a:rPr>
              <a:t>/</a:t>
            </a:r>
            <a:r>
              <a:rPr sz="2650" spc="-114" dirty="0">
                <a:latin typeface="Times New Roman" panose="02020603050405020304"/>
                <a:cs typeface="Times New Roman" panose="02020603050405020304"/>
              </a:rPr>
              <a:t>no</a:t>
            </a:r>
            <a:r>
              <a:rPr sz="2650" spc="-145" dirty="0">
                <a:latin typeface="Times New Roman" panose="02020603050405020304"/>
                <a:cs typeface="Times New Roman" panose="02020603050405020304"/>
              </a:rPr>
              <a:t>n</a:t>
            </a:r>
            <a:r>
              <a:rPr sz="2650" spc="-70" dirty="0">
                <a:latin typeface="Times New Roman" panose="02020603050405020304"/>
                <a:cs typeface="Times New Roman" panose="02020603050405020304"/>
              </a:rPr>
              <a:t>-</a:t>
            </a:r>
            <a:r>
              <a:rPr sz="2650" spc="-170" dirty="0">
                <a:latin typeface="Times New Roman" panose="02020603050405020304"/>
                <a:cs typeface="Times New Roman" panose="02020603050405020304"/>
              </a:rPr>
              <a:t>b</a:t>
            </a:r>
            <a:r>
              <a:rPr sz="2650" spc="-110" dirty="0">
                <a:latin typeface="Times New Roman" panose="02020603050405020304"/>
                <a:cs typeface="Times New Roman" panose="02020603050405020304"/>
              </a:rPr>
              <a:t>l</a:t>
            </a:r>
            <a:r>
              <a:rPr sz="2650" spc="-114" dirty="0">
                <a:latin typeface="Times New Roman" panose="02020603050405020304"/>
                <a:cs typeface="Times New Roman" panose="02020603050405020304"/>
              </a:rPr>
              <a:t>o</a:t>
            </a:r>
            <a:r>
              <a:rPr sz="2650" spc="-125" dirty="0">
                <a:latin typeface="Times New Roman" panose="02020603050405020304"/>
                <a:cs typeface="Times New Roman" panose="02020603050405020304"/>
              </a:rPr>
              <a:t>c</a:t>
            </a:r>
            <a:r>
              <a:rPr sz="2650" spc="-165" dirty="0">
                <a:latin typeface="Times New Roman" panose="02020603050405020304"/>
                <a:cs typeface="Times New Roman" panose="02020603050405020304"/>
              </a:rPr>
              <a:t>k</a:t>
            </a:r>
            <a:r>
              <a:rPr sz="2650" spc="-135" dirty="0">
                <a:latin typeface="Times New Roman" panose="02020603050405020304"/>
                <a:cs typeface="Times New Roman" panose="02020603050405020304"/>
              </a:rPr>
              <a:t>i</a:t>
            </a:r>
            <a:r>
              <a:rPr sz="2650" spc="-114" dirty="0">
                <a:latin typeface="Times New Roman" panose="02020603050405020304"/>
                <a:cs typeface="Times New Roman" panose="02020603050405020304"/>
              </a:rPr>
              <a:t>n</a:t>
            </a:r>
            <a:r>
              <a:rPr sz="2650" spc="-270" dirty="0">
                <a:latin typeface="Times New Roman" panose="02020603050405020304"/>
                <a:cs typeface="Times New Roman" panose="02020603050405020304"/>
              </a:rPr>
              <a:t>g</a:t>
            </a:r>
            <a:r>
              <a:rPr sz="2650" spc="105" dirty="0">
                <a:latin typeface="Times New Roman" panose="02020603050405020304"/>
                <a:cs typeface="Times New Roman" panose="02020603050405020304"/>
              </a:rPr>
              <a:t>,</a:t>
            </a:r>
            <a:r>
              <a:rPr sz="2650" dirty="0">
                <a:latin typeface="Times New Roman" panose="02020603050405020304"/>
                <a:cs typeface="Times New Roman" panose="02020603050405020304"/>
              </a:rPr>
              <a:t>	</a:t>
            </a:r>
            <a:r>
              <a:rPr sz="2650" spc="-229" dirty="0">
                <a:latin typeface="Times New Roman" panose="02020603050405020304"/>
                <a:cs typeface="Times New Roman" panose="02020603050405020304"/>
              </a:rPr>
              <a:t>a</a:t>
            </a:r>
            <a:r>
              <a:rPr sz="2650" spc="-114" dirty="0">
                <a:latin typeface="Times New Roman" panose="02020603050405020304"/>
                <a:cs typeface="Times New Roman" panose="02020603050405020304"/>
              </a:rPr>
              <a:t>u</a:t>
            </a:r>
            <a:r>
              <a:rPr sz="2650" spc="20" dirty="0">
                <a:latin typeface="Times New Roman" panose="02020603050405020304"/>
                <a:cs typeface="Times New Roman" panose="02020603050405020304"/>
              </a:rPr>
              <a:t>t</a:t>
            </a:r>
            <a:r>
              <a:rPr sz="2650" spc="-114" dirty="0">
                <a:latin typeface="Times New Roman" panose="02020603050405020304"/>
                <a:cs typeface="Times New Roman" panose="02020603050405020304"/>
              </a:rPr>
              <a:t>o</a:t>
            </a:r>
            <a:r>
              <a:rPr sz="2650" spc="-165" dirty="0">
                <a:latin typeface="Times New Roman" panose="02020603050405020304"/>
                <a:cs typeface="Times New Roman" panose="02020603050405020304"/>
              </a:rPr>
              <a:t>m</a:t>
            </a:r>
            <a:r>
              <a:rPr sz="2650" spc="-229" dirty="0">
                <a:latin typeface="Times New Roman" panose="02020603050405020304"/>
                <a:cs typeface="Times New Roman" panose="02020603050405020304"/>
              </a:rPr>
              <a:t>a</a:t>
            </a:r>
            <a:r>
              <a:rPr sz="2650" spc="20" dirty="0">
                <a:latin typeface="Times New Roman" panose="02020603050405020304"/>
                <a:cs typeface="Times New Roman" panose="02020603050405020304"/>
              </a:rPr>
              <a:t>t</a:t>
            </a:r>
            <a:r>
              <a:rPr sz="2650" spc="-160" dirty="0">
                <a:latin typeface="Times New Roman" panose="02020603050405020304"/>
                <a:cs typeface="Times New Roman" panose="02020603050405020304"/>
              </a:rPr>
              <a:t>i</a:t>
            </a:r>
            <a:r>
              <a:rPr sz="2650" spc="-155" dirty="0">
                <a:latin typeface="Times New Roman" panose="02020603050405020304"/>
                <a:cs typeface="Times New Roman" panose="02020603050405020304"/>
              </a:rPr>
              <a:t>c</a:t>
            </a:r>
            <a:r>
              <a:rPr sz="2650" spc="540" dirty="0">
                <a:latin typeface="Times New Roman" panose="02020603050405020304"/>
                <a:cs typeface="Times New Roman" panose="02020603050405020304"/>
              </a:rPr>
              <a:t>/  </a:t>
            </a:r>
            <a:r>
              <a:rPr sz="2650" spc="-110" dirty="0">
                <a:latin typeface="Times New Roman" panose="02020603050405020304"/>
                <a:cs typeface="Times New Roman" panose="02020603050405020304"/>
              </a:rPr>
              <a:t>explicit</a:t>
            </a:r>
            <a:r>
              <a:rPr sz="2650" spc="-70" dirty="0">
                <a:latin typeface="Times New Roman" panose="02020603050405020304"/>
                <a:cs typeface="Times New Roman" panose="02020603050405020304"/>
              </a:rPr>
              <a:t> </a:t>
            </a:r>
            <a:r>
              <a:rPr sz="2650" spc="-125" dirty="0">
                <a:latin typeface="Times New Roman" panose="02020603050405020304"/>
                <a:cs typeface="Times New Roman" panose="02020603050405020304"/>
              </a:rPr>
              <a:t>buffering)</a:t>
            </a:r>
            <a:endParaRPr sz="26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p:nvPr/>
        </p:nvSpPr>
        <p:spPr>
          <a:xfrm>
            <a:off x="260604" y="7077995"/>
            <a:ext cx="304165" cy="247650"/>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z="1500" spc="110" dirty="0">
                <a:solidFill>
                  <a:srgbClr val="FFFFFF"/>
                </a:solidFill>
                <a:latin typeface="Trebuchet MS" panose="020B0603020202020204"/>
                <a:cs typeface="Trebuchet MS" panose="020B0603020202020204"/>
              </a:rPr>
            </a:fld>
            <a:endParaRPr sz="1500">
              <a:latin typeface="Trebuchet MS" panose="020B0603020202020204"/>
              <a:cs typeface="Trebuchet MS" panose="020B0603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3166" y="487071"/>
            <a:ext cx="6236335" cy="696595"/>
          </a:xfrm>
          <a:prstGeom prst="rect">
            <a:avLst/>
          </a:prstGeom>
        </p:spPr>
        <p:txBody>
          <a:bodyPr vert="horz" wrap="square" lIns="0" tIns="12700" rIns="0" bIns="0" rtlCol="0">
            <a:spAutoFit/>
          </a:bodyPr>
          <a:lstStyle/>
          <a:p>
            <a:pPr marL="12700">
              <a:lnSpc>
                <a:spcPct val="100000"/>
              </a:lnSpc>
              <a:spcBef>
                <a:spcPts val="100"/>
              </a:spcBef>
            </a:pPr>
            <a:r>
              <a:rPr sz="4400" b="0" spc="-145" dirty="0">
                <a:latin typeface="Trebuchet MS" panose="020B0603020202020204"/>
                <a:cs typeface="Trebuchet MS" panose="020B0603020202020204"/>
              </a:rPr>
              <a:t>Implementation</a:t>
            </a:r>
            <a:r>
              <a:rPr sz="4400" b="0" spc="-345" dirty="0">
                <a:latin typeface="Trebuchet MS" panose="020B0603020202020204"/>
                <a:cs typeface="Trebuchet MS" panose="020B0603020202020204"/>
              </a:rPr>
              <a:t> </a:t>
            </a:r>
            <a:r>
              <a:rPr sz="4400" b="0" spc="-65" dirty="0">
                <a:latin typeface="Trebuchet MS" panose="020B0603020202020204"/>
                <a:cs typeface="Trebuchet MS" panose="020B0603020202020204"/>
              </a:rPr>
              <a:t>Questions</a:t>
            </a:r>
            <a:endParaRPr sz="4400">
              <a:latin typeface="Trebuchet MS" panose="020B0603020202020204"/>
              <a:cs typeface="Trebuchet MS" panose="020B0603020202020204"/>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5" name="object 5"/>
          <p:cNvSpPr txBox="1"/>
          <p:nvPr/>
        </p:nvSpPr>
        <p:spPr>
          <a:xfrm>
            <a:off x="260604" y="7077995"/>
            <a:ext cx="304165" cy="247650"/>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z="1500" spc="110" dirty="0">
                <a:solidFill>
                  <a:srgbClr val="FFFFFF"/>
                </a:solidFill>
                <a:latin typeface="Trebuchet MS" panose="020B0603020202020204"/>
                <a:cs typeface="Trebuchet MS" panose="020B0603020202020204"/>
              </a:rPr>
            </a:fld>
            <a:endParaRPr sz="1500">
              <a:latin typeface="Trebuchet MS" panose="020B0603020202020204"/>
              <a:cs typeface="Trebuchet MS" panose="020B0603020202020204"/>
            </a:endParaRPr>
          </a:p>
        </p:txBody>
      </p:sp>
      <p:sp>
        <p:nvSpPr>
          <p:cNvPr id="3" name="object 3"/>
          <p:cNvSpPr txBox="1"/>
          <p:nvPr/>
        </p:nvSpPr>
        <p:spPr>
          <a:xfrm>
            <a:off x="656356" y="1496000"/>
            <a:ext cx="8960485" cy="3345179"/>
          </a:xfrm>
          <a:prstGeom prst="rect">
            <a:avLst/>
          </a:prstGeom>
        </p:spPr>
        <p:txBody>
          <a:bodyPr vert="horz" wrap="square" lIns="0" tIns="95250" rIns="0" bIns="0" rtlCol="0">
            <a:spAutoFit/>
          </a:bodyPr>
          <a:lstStyle/>
          <a:p>
            <a:pPr marL="312420" indent="-300355">
              <a:lnSpc>
                <a:spcPct val="100000"/>
              </a:lnSpc>
              <a:spcBef>
                <a:spcPts val="750"/>
              </a:spcBef>
              <a:buClr>
                <a:srgbClr val="D34816"/>
              </a:buClr>
              <a:buSzPct val="85000"/>
              <a:buFont typeface="Webdings" panose="05030102010509060703"/>
              <a:buChar char=""/>
              <a:tabLst>
                <a:tab pos="312420" algn="l"/>
                <a:tab pos="313055" algn="l"/>
              </a:tabLst>
            </a:pPr>
            <a:r>
              <a:rPr sz="2650" spc="-165" dirty="0">
                <a:latin typeface="Times New Roman" panose="02020603050405020304"/>
                <a:cs typeface="Times New Roman" panose="02020603050405020304"/>
              </a:rPr>
              <a:t>How </a:t>
            </a:r>
            <a:r>
              <a:rPr sz="2650" spc="-110" dirty="0">
                <a:latin typeface="Times New Roman" panose="02020603050405020304"/>
                <a:cs typeface="Times New Roman" panose="02020603050405020304"/>
              </a:rPr>
              <a:t>are </a:t>
            </a:r>
            <a:r>
              <a:rPr sz="2650" spc="-145" dirty="0">
                <a:latin typeface="Times New Roman" panose="02020603050405020304"/>
                <a:cs typeface="Times New Roman" panose="02020603050405020304"/>
              </a:rPr>
              <a:t>links</a:t>
            </a:r>
            <a:r>
              <a:rPr sz="2650" spc="5" dirty="0">
                <a:latin typeface="Times New Roman" panose="02020603050405020304"/>
                <a:cs typeface="Times New Roman" panose="02020603050405020304"/>
              </a:rPr>
              <a:t> </a:t>
            </a:r>
            <a:r>
              <a:rPr sz="2650" spc="-160" dirty="0">
                <a:latin typeface="Times New Roman" panose="02020603050405020304"/>
                <a:cs typeface="Times New Roman" panose="02020603050405020304"/>
              </a:rPr>
              <a:t>established?</a:t>
            </a:r>
            <a:endParaRPr sz="2650">
              <a:latin typeface="Times New Roman" panose="02020603050405020304"/>
              <a:cs typeface="Times New Roman" panose="02020603050405020304"/>
            </a:endParaRPr>
          </a:p>
          <a:p>
            <a:pPr marL="312420" indent="-300355">
              <a:lnSpc>
                <a:spcPct val="100000"/>
              </a:lnSpc>
              <a:spcBef>
                <a:spcPts val="645"/>
              </a:spcBef>
              <a:buClr>
                <a:srgbClr val="D34816"/>
              </a:buClr>
              <a:buSzPct val="85000"/>
              <a:buFont typeface="Webdings" panose="05030102010509060703"/>
              <a:buChar char=""/>
              <a:tabLst>
                <a:tab pos="312420" algn="l"/>
                <a:tab pos="313055" algn="l"/>
              </a:tabLst>
            </a:pPr>
            <a:r>
              <a:rPr sz="2650" spc="-160" dirty="0">
                <a:latin typeface="Times New Roman" panose="02020603050405020304"/>
                <a:cs typeface="Times New Roman" panose="02020603050405020304"/>
              </a:rPr>
              <a:t>Can </a:t>
            </a:r>
            <a:r>
              <a:rPr sz="2650" spc="-215" dirty="0">
                <a:latin typeface="Times New Roman" panose="02020603050405020304"/>
                <a:cs typeface="Times New Roman" panose="02020603050405020304"/>
              </a:rPr>
              <a:t>a </a:t>
            </a:r>
            <a:r>
              <a:rPr sz="2650" spc="-130" dirty="0">
                <a:latin typeface="Times New Roman" panose="02020603050405020304"/>
                <a:cs typeface="Times New Roman" panose="02020603050405020304"/>
              </a:rPr>
              <a:t>link </a:t>
            </a:r>
            <a:r>
              <a:rPr sz="2650" spc="-125" dirty="0">
                <a:latin typeface="Times New Roman" panose="02020603050405020304"/>
                <a:cs typeface="Times New Roman" panose="02020603050405020304"/>
              </a:rPr>
              <a:t>be </a:t>
            </a:r>
            <a:r>
              <a:rPr sz="2650" spc="-150" dirty="0">
                <a:latin typeface="Times New Roman" panose="02020603050405020304"/>
                <a:cs typeface="Times New Roman" panose="02020603050405020304"/>
              </a:rPr>
              <a:t>associated </a:t>
            </a:r>
            <a:r>
              <a:rPr sz="2650" spc="-110" dirty="0">
                <a:latin typeface="Times New Roman" panose="02020603050405020304"/>
                <a:cs typeface="Times New Roman" panose="02020603050405020304"/>
              </a:rPr>
              <a:t>with </a:t>
            </a:r>
            <a:r>
              <a:rPr sz="2650" spc="-95" dirty="0">
                <a:latin typeface="Times New Roman" panose="02020603050405020304"/>
                <a:cs typeface="Times New Roman" panose="02020603050405020304"/>
              </a:rPr>
              <a:t>more </a:t>
            </a:r>
            <a:r>
              <a:rPr sz="2650" spc="-114" dirty="0">
                <a:latin typeface="Times New Roman" panose="02020603050405020304"/>
                <a:cs typeface="Times New Roman" panose="02020603050405020304"/>
              </a:rPr>
              <a:t>than two</a:t>
            </a:r>
            <a:r>
              <a:rPr sz="2650" spc="395" dirty="0">
                <a:latin typeface="Times New Roman" panose="02020603050405020304"/>
                <a:cs typeface="Times New Roman" panose="02020603050405020304"/>
              </a:rPr>
              <a:t> </a:t>
            </a:r>
            <a:r>
              <a:rPr sz="2650" spc="-160" dirty="0">
                <a:latin typeface="Times New Roman" panose="02020603050405020304"/>
                <a:cs typeface="Times New Roman" panose="02020603050405020304"/>
              </a:rPr>
              <a:t>processes?</a:t>
            </a:r>
            <a:endParaRPr sz="2650">
              <a:latin typeface="Times New Roman" panose="02020603050405020304"/>
              <a:cs typeface="Times New Roman" panose="02020603050405020304"/>
            </a:endParaRPr>
          </a:p>
          <a:p>
            <a:pPr marL="312420" marR="513080" indent="-300355">
              <a:lnSpc>
                <a:spcPts val="3170"/>
              </a:lnSpc>
              <a:spcBef>
                <a:spcPts val="765"/>
              </a:spcBef>
              <a:buClr>
                <a:srgbClr val="D34816"/>
              </a:buClr>
              <a:buSzPct val="85000"/>
              <a:buFont typeface="Webdings" panose="05030102010509060703"/>
              <a:buChar char=""/>
              <a:tabLst>
                <a:tab pos="312420" algn="l"/>
                <a:tab pos="313055" algn="l"/>
              </a:tabLst>
            </a:pPr>
            <a:r>
              <a:rPr sz="2650" spc="-165" dirty="0">
                <a:latin typeface="Times New Roman" panose="02020603050405020304"/>
                <a:cs typeface="Times New Roman" panose="02020603050405020304"/>
              </a:rPr>
              <a:t>How </a:t>
            </a:r>
            <a:r>
              <a:rPr sz="2650" spc="-195" dirty="0">
                <a:latin typeface="Times New Roman" panose="02020603050405020304"/>
                <a:cs typeface="Times New Roman" panose="02020603050405020304"/>
              </a:rPr>
              <a:t>many </a:t>
            </a:r>
            <a:r>
              <a:rPr sz="2650" spc="-150" dirty="0">
                <a:latin typeface="Times New Roman" panose="02020603050405020304"/>
                <a:cs typeface="Times New Roman" panose="02020603050405020304"/>
              </a:rPr>
              <a:t>links </a:t>
            </a:r>
            <a:r>
              <a:rPr sz="2650" spc="-165" dirty="0">
                <a:latin typeface="Times New Roman" panose="02020603050405020304"/>
                <a:cs typeface="Times New Roman" panose="02020603050405020304"/>
              </a:rPr>
              <a:t>can </a:t>
            </a:r>
            <a:r>
              <a:rPr sz="2650" spc="-75" dirty="0">
                <a:latin typeface="Times New Roman" panose="02020603050405020304"/>
                <a:cs typeface="Times New Roman" panose="02020603050405020304"/>
              </a:rPr>
              <a:t>there </a:t>
            </a:r>
            <a:r>
              <a:rPr sz="2650" spc="-125" dirty="0">
                <a:latin typeface="Times New Roman" panose="02020603050405020304"/>
                <a:cs typeface="Times New Roman" panose="02020603050405020304"/>
              </a:rPr>
              <a:t>be </a:t>
            </a:r>
            <a:r>
              <a:rPr sz="2650" spc="-114" dirty="0">
                <a:latin typeface="Times New Roman" panose="02020603050405020304"/>
                <a:cs typeface="Times New Roman" panose="02020603050405020304"/>
              </a:rPr>
              <a:t>between </a:t>
            </a:r>
            <a:r>
              <a:rPr sz="2650" spc="-140" dirty="0">
                <a:latin typeface="Times New Roman" panose="02020603050405020304"/>
                <a:cs typeface="Times New Roman" panose="02020603050405020304"/>
              </a:rPr>
              <a:t>every </a:t>
            </a:r>
            <a:r>
              <a:rPr sz="2650" spc="-114" dirty="0">
                <a:latin typeface="Times New Roman" panose="02020603050405020304"/>
                <a:cs typeface="Times New Roman" panose="02020603050405020304"/>
              </a:rPr>
              <a:t>pair </a:t>
            </a:r>
            <a:r>
              <a:rPr sz="2650" spc="-155" dirty="0">
                <a:latin typeface="Times New Roman" panose="02020603050405020304"/>
                <a:cs typeface="Times New Roman" panose="02020603050405020304"/>
              </a:rPr>
              <a:t>of </a:t>
            </a:r>
            <a:r>
              <a:rPr sz="2650" spc="-145" dirty="0">
                <a:latin typeface="Times New Roman" panose="02020603050405020304"/>
                <a:cs typeface="Times New Roman" panose="02020603050405020304"/>
              </a:rPr>
              <a:t>communicating  </a:t>
            </a:r>
            <a:r>
              <a:rPr sz="2650" spc="-160" dirty="0">
                <a:latin typeface="Times New Roman" panose="02020603050405020304"/>
                <a:cs typeface="Times New Roman" panose="02020603050405020304"/>
              </a:rPr>
              <a:t>processes?</a:t>
            </a:r>
            <a:endParaRPr sz="2650">
              <a:latin typeface="Times New Roman" panose="02020603050405020304"/>
              <a:cs typeface="Times New Roman" panose="02020603050405020304"/>
            </a:endParaRPr>
          </a:p>
          <a:p>
            <a:pPr marL="312420" indent="-300355">
              <a:lnSpc>
                <a:spcPct val="100000"/>
              </a:lnSpc>
              <a:spcBef>
                <a:spcPts val="540"/>
              </a:spcBef>
              <a:buClr>
                <a:srgbClr val="D34816"/>
              </a:buClr>
              <a:buSzPct val="85000"/>
              <a:buFont typeface="Webdings" panose="05030102010509060703"/>
              <a:buChar char=""/>
              <a:tabLst>
                <a:tab pos="312420" algn="l"/>
                <a:tab pos="313055" algn="l"/>
              </a:tabLst>
            </a:pPr>
            <a:r>
              <a:rPr sz="2650" spc="-120" dirty="0">
                <a:latin typeface="Times New Roman" panose="02020603050405020304"/>
                <a:cs typeface="Times New Roman" panose="02020603050405020304"/>
              </a:rPr>
              <a:t>What </a:t>
            </a:r>
            <a:r>
              <a:rPr sz="2650" spc="-170" dirty="0">
                <a:latin typeface="Times New Roman" panose="02020603050405020304"/>
                <a:cs typeface="Times New Roman" panose="02020603050405020304"/>
              </a:rPr>
              <a:t>is </a:t>
            </a:r>
            <a:r>
              <a:rPr sz="2650" spc="-85" dirty="0">
                <a:latin typeface="Times New Roman" panose="02020603050405020304"/>
                <a:cs typeface="Times New Roman" panose="02020603050405020304"/>
              </a:rPr>
              <a:t>the </a:t>
            </a:r>
            <a:r>
              <a:rPr sz="2650" spc="-150" dirty="0">
                <a:latin typeface="Times New Roman" panose="02020603050405020304"/>
                <a:cs typeface="Times New Roman" panose="02020603050405020304"/>
              </a:rPr>
              <a:t>capacity </a:t>
            </a:r>
            <a:r>
              <a:rPr sz="2650" spc="-155" dirty="0">
                <a:latin typeface="Times New Roman" panose="02020603050405020304"/>
                <a:cs typeface="Times New Roman" panose="02020603050405020304"/>
              </a:rPr>
              <a:t>of </a:t>
            </a:r>
            <a:r>
              <a:rPr sz="2650" spc="-215" dirty="0">
                <a:latin typeface="Times New Roman" panose="02020603050405020304"/>
                <a:cs typeface="Times New Roman" panose="02020603050405020304"/>
              </a:rPr>
              <a:t>a</a:t>
            </a:r>
            <a:r>
              <a:rPr sz="2650" spc="215" dirty="0">
                <a:latin typeface="Times New Roman" panose="02020603050405020304"/>
                <a:cs typeface="Times New Roman" panose="02020603050405020304"/>
              </a:rPr>
              <a:t> </a:t>
            </a:r>
            <a:r>
              <a:rPr sz="2650" spc="-180" dirty="0">
                <a:latin typeface="Times New Roman" panose="02020603050405020304"/>
                <a:cs typeface="Times New Roman" panose="02020603050405020304"/>
              </a:rPr>
              <a:t>link?</a:t>
            </a:r>
            <a:endParaRPr sz="2650">
              <a:latin typeface="Times New Roman" panose="02020603050405020304"/>
              <a:cs typeface="Times New Roman" panose="02020603050405020304"/>
            </a:endParaRPr>
          </a:p>
          <a:p>
            <a:pPr marL="312420" indent="-300355">
              <a:lnSpc>
                <a:spcPct val="100000"/>
              </a:lnSpc>
              <a:spcBef>
                <a:spcPts val="650"/>
              </a:spcBef>
              <a:buClr>
                <a:srgbClr val="D34816"/>
              </a:buClr>
              <a:buSzPct val="85000"/>
              <a:buFont typeface="Webdings" panose="05030102010509060703"/>
              <a:buChar char=""/>
              <a:tabLst>
                <a:tab pos="312420" algn="l"/>
                <a:tab pos="313055" algn="l"/>
              </a:tabLst>
            </a:pPr>
            <a:r>
              <a:rPr sz="2650" spc="-204" dirty="0">
                <a:latin typeface="Times New Roman" panose="02020603050405020304"/>
                <a:cs typeface="Times New Roman" panose="02020603050405020304"/>
              </a:rPr>
              <a:t>Is </a:t>
            </a:r>
            <a:r>
              <a:rPr sz="2650" spc="-95" dirty="0">
                <a:latin typeface="Times New Roman" panose="02020603050405020304"/>
                <a:cs typeface="Times New Roman" panose="02020603050405020304"/>
              </a:rPr>
              <a:t>the </a:t>
            </a:r>
            <a:r>
              <a:rPr sz="2650" spc="-165" dirty="0">
                <a:latin typeface="Times New Roman" panose="02020603050405020304"/>
                <a:cs typeface="Times New Roman" panose="02020603050405020304"/>
              </a:rPr>
              <a:t>size </a:t>
            </a:r>
            <a:r>
              <a:rPr sz="2650" spc="-155" dirty="0">
                <a:latin typeface="Times New Roman" panose="02020603050405020304"/>
                <a:cs typeface="Times New Roman" panose="02020603050405020304"/>
              </a:rPr>
              <a:t>of </a:t>
            </a:r>
            <a:r>
              <a:rPr sz="2650" spc="-215" dirty="0">
                <a:latin typeface="Times New Roman" panose="02020603050405020304"/>
                <a:cs typeface="Times New Roman" panose="02020603050405020304"/>
              </a:rPr>
              <a:t>a </a:t>
            </a:r>
            <a:r>
              <a:rPr sz="2650" spc="-180" dirty="0">
                <a:latin typeface="Times New Roman" panose="02020603050405020304"/>
                <a:cs typeface="Times New Roman" panose="02020603050405020304"/>
              </a:rPr>
              <a:t>message </a:t>
            </a:r>
            <a:r>
              <a:rPr sz="2650" spc="-95" dirty="0">
                <a:latin typeface="Times New Roman" panose="02020603050405020304"/>
                <a:cs typeface="Times New Roman" panose="02020603050405020304"/>
              </a:rPr>
              <a:t>that the </a:t>
            </a:r>
            <a:r>
              <a:rPr sz="2650" spc="-140" dirty="0">
                <a:latin typeface="Times New Roman" panose="02020603050405020304"/>
                <a:cs typeface="Times New Roman" panose="02020603050405020304"/>
              </a:rPr>
              <a:t>link </a:t>
            </a:r>
            <a:r>
              <a:rPr sz="2650" spc="-165" dirty="0">
                <a:latin typeface="Times New Roman" panose="02020603050405020304"/>
                <a:cs typeface="Times New Roman" panose="02020603050405020304"/>
              </a:rPr>
              <a:t>can </a:t>
            </a:r>
            <a:r>
              <a:rPr sz="2650" spc="-140" dirty="0">
                <a:latin typeface="Times New Roman" panose="02020603050405020304"/>
                <a:cs typeface="Times New Roman" panose="02020603050405020304"/>
              </a:rPr>
              <a:t>accommodate </a:t>
            </a:r>
            <a:r>
              <a:rPr sz="2650" spc="-145" dirty="0">
                <a:latin typeface="Times New Roman" panose="02020603050405020304"/>
                <a:cs typeface="Times New Roman" panose="02020603050405020304"/>
              </a:rPr>
              <a:t>fixed </a:t>
            </a:r>
            <a:r>
              <a:rPr sz="2650" spc="-45" dirty="0">
                <a:latin typeface="Times New Roman" panose="02020603050405020304"/>
                <a:cs typeface="Times New Roman" panose="02020603050405020304"/>
              </a:rPr>
              <a:t>or</a:t>
            </a:r>
            <a:r>
              <a:rPr sz="2650" spc="325" dirty="0">
                <a:latin typeface="Times New Roman" panose="02020603050405020304"/>
                <a:cs typeface="Times New Roman" panose="02020603050405020304"/>
              </a:rPr>
              <a:t> </a:t>
            </a:r>
            <a:r>
              <a:rPr sz="2650" spc="-170" dirty="0">
                <a:latin typeface="Times New Roman" panose="02020603050405020304"/>
                <a:cs typeface="Times New Roman" panose="02020603050405020304"/>
              </a:rPr>
              <a:t>variable?</a:t>
            </a:r>
            <a:endParaRPr sz="2650">
              <a:latin typeface="Times New Roman" panose="02020603050405020304"/>
              <a:cs typeface="Times New Roman" panose="02020603050405020304"/>
            </a:endParaRPr>
          </a:p>
          <a:p>
            <a:pPr marL="312420" indent="-300355">
              <a:lnSpc>
                <a:spcPct val="100000"/>
              </a:lnSpc>
              <a:spcBef>
                <a:spcPts val="650"/>
              </a:spcBef>
              <a:buClr>
                <a:srgbClr val="D34816"/>
              </a:buClr>
              <a:buSzPct val="85000"/>
              <a:buFont typeface="Webdings" panose="05030102010509060703"/>
              <a:buChar char=""/>
              <a:tabLst>
                <a:tab pos="312420" algn="l"/>
                <a:tab pos="313055" algn="l"/>
              </a:tabLst>
            </a:pPr>
            <a:r>
              <a:rPr sz="2650" spc="-204" dirty="0">
                <a:latin typeface="Times New Roman" panose="02020603050405020304"/>
                <a:cs typeface="Times New Roman" panose="02020603050405020304"/>
              </a:rPr>
              <a:t>Is </a:t>
            </a:r>
            <a:r>
              <a:rPr sz="2650" spc="-215" dirty="0">
                <a:latin typeface="Times New Roman" panose="02020603050405020304"/>
                <a:cs typeface="Times New Roman" panose="02020603050405020304"/>
              </a:rPr>
              <a:t>a </a:t>
            </a:r>
            <a:r>
              <a:rPr sz="2650" spc="-140" dirty="0">
                <a:latin typeface="Times New Roman" panose="02020603050405020304"/>
                <a:cs typeface="Times New Roman" panose="02020603050405020304"/>
              </a:rPr>
              <a:t>link </a:t>
            </a:r>
            <a:r>
              <a:rPr sz="2650" spc="-110" dirty="0">
                <a:latin typeface="Times New Roman" panose="02020603050405020304"/>
                <a:cs typeface="Times New Roman" panose="02020603050405020304"/>
              </a:rPr>
              <a:t>unidirectional </a:t>
            </a:r>
            <a:r>
              <a:rPr sz="2650" spc="-45" dirty="0">
                <a:latin typeface="Times New Roman" panose="02020603050405020304"/>
                <a:cs typeface="Times New Roman" panose="02020603050405020304"/>
              </a:rPr>
              <a:t>or</a:t>
            </a:r>
            <a:r>
              <a:rPr sz="2650" spc="295" dirty="0">
                <a:latin typeface="Times New Roman" panose="02020603050405020304"/>
                <a:cs typeface="Times New Roman" panose="02020603050405020304"/>
              </a:rPr>
              <a:t> </a:t>
            </a:r>
            <a:r>
              <a:rPr sz="2650" spc="-125" dirty="0">
                <a:latin typeface="Times New Roman" panose="02020603050405020304"/>
                <a:cs typeface="Times New Roman" panose="02020603050405020304"/>
              </a:rPr>
              <a:t>bi-directional?</a:t>
            </a:r>
            <a:endParaRPr sz="2650">
              <a:latin typeface="Times New Roman" panose="02020603050405020304"/>
              <a:cs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709647"/>
            <a:ext cx="6230620" cy="696595"/>
          </a:xfrm>
          <a:prstGeom prst="rect">
            <a:avLst/>
          </a:prstGeom>
        </p:spPr>
        <p:txBody>
          <a:bodyPr vert="horz" wrap="square" lIns="0" tIns="12700" rIns="0" bIns="0" rtlCol="0">
            <a:spAutoFit/>
          </a:bodyPr>
          <a:lstStyle/>
          <a:p>
            <a:pPr marL="12700">
              <a:lnSpc>
                <a:spcPct val="100000"/>
              </a:lnSpc>
              <a:spcBef>
                <a:spcPts val="100"/>
              </a:spcBef>
            </a:pPr>
            <a:r>
              <a:rPr sz="4400" b="0" spc="100" dirty="0">
                <a:latin typeface="Trebuchet MS" panose="020B0603020202020204"/>
                <a:cs typeface="Trebuchet MS" panose="020B0603020202020204"/>
              </a:rPr>
              <a:t>Message </a:t>
            </a:r>
            <a:r>
              <a:rPr sz="4400" b="0" spc="25" dirty="0">
                <a:latin typeface="Trebuchet MS" panose="020B0603020202020204"/>
                <a:cs typeface="Trebuchet MS" panose="020B0603020202020204"/>
              </a:rPr>
              <a:t>Passing</a:t>
            </a:r>
            <a:r>
              <a:rPr sz="4400" b="0" spc="-655" dirty="0">
                <a:latin typeface="Trebuchet MS" panose="020B0603020202020204"/>
                <a:cs typeface="Trebuchet MS" panose="020B0603020202020204"/>
              </a:rPr>
              <a:t> </a:t>
            </a:r>
            <a:r>
              <a:rPr sz="4400" b="0" spc="-15" dirty="0">
                <a:latin typeface="Trebuchet MS" panose="020B0603020202020204"/>
                <a:cs typeface="Trebuchet MS" panose="020B0603020202020204"/>
              </a:rPr>
              <a:t>Systems</a:t>
            </a:r>
            <a:endParaRPr sz="4400">
              <a:latin typeface="Trebuchet MS" panose="020B0603020202020204"/>
              <a:cs typeface="Trebuchet MS" panose="020B0603020202020204"/>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5" name="object 5"/>
          <p:cNvSpPr txBox="1"/>
          <p:nvPr/>
        </p:nvSpPr>
        <p:spPr>
          <a:xfrm>
            <a:off x="260604" y="7077995"/>
            <a:ext cx="304165" cy="247650"/>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z="1500" spc="110" dirty="0">
                <a:solidFill>
                  <a:srgbClr val="FFFFFF"/>
                </a:solidFill>
                <a:latin typeface="Trebuchet MS" panose="020B0603020202020204"/>
                <a:cs typeface="Trebuchet MS" panose="020B0603020202020204"/>
              </a:rPr>
            </a:fld>
            <a:endParaRPr sz="1500">
              <a:latin typeface="Trebuchet MS" panose="020B0603020202020204"/>
              <a:cs typeface="Trebuchet MS" panose="020B0603020202020204"/>
            </a:endParaRPr>
          </a:p>
        </p:txBody>
      </p:sp>
      <p:sp>
        <p:nvSpPr>
          <p:cNvPr id="3" name="object 3"/>
          <p:cNvSpPr txBox="1"/>
          <p:nvPr/>
        </p:nvSpPr>
        <p:spPr>
          <a:xfrm>
            <a:off x="759973" y="1650961"/>
            <a:ext cx="8136255" cy="3411854"/>
          </a:xfrm>
          <a:prstGeom prst="rect">
            <a:avLst/>
          </a:prstGeom>
        </p:spPr>
        <p:txBody>
          <a:bodyPr vert="horz" wrap="square" lIns="0" tIns="97790" rIns="0" bIns="0" rtlCol="0">
            <a:spAutoFit/>
          </a:bodyPr>
          <a:lstStyle/>
          <a:p>
            <a:pPr marL="683260" indent="-670560">
              <a:lnSpc>
                <a:spcPct val="100000"/>
              </a:lnSpc>
              <a:spcBef>
                <a:spcPts val="770"/>
              </a:spcBef>
              <a:buClr>
                <a:srgbClr val="D34816"/>
              </a:buClr>
              <a:buSzPct val="84000"/>
              <a:buFont typeface="Webdings" panose="05030102010509060703"/>
              <a:buChar char=""/>
              <a:tabLst>
                <a:tab pos="682625" algn="l"/>
                <a:tab pos="683260" algn="l"/>
              </a:tabLst>
            </a:pPr>
            <a:r>
              <a:rPr sz="2850" spc="-175" dirty="0">
                <a:latin typeface="Times New Roman" panose="02020603050405020304"/>
                <a:cs typeface="Times New Roman" panose="02020603050405020304"/>
              </a:rPr>
              <a:t>Exchange </a:t>
            </a:r>
            <a:r>
              <a:rPr sz="2850" spc="-190" dirty="0">
                <a:latin typeface="Times New Roman" panose="02020603050405020304"/>
                <a:cs typeface="Times New Roman" panose="02020603050405020304"/>
              </a:rPr>
              <a:t>messages </a:t>
            </a:r>
            <a:r>
              <a:rPr sz="2850" spc="-140" dirty="0">
                <a:latin typeface="Times New Roman" panose="02020603050405020304"/>
                <a:cs typeface="Times New Roman" panose="02020603050405020304"/>
              </a:rPr>
              <a:t>over </a:t>
            </a:r>
            <a:r>
              <a:rPr sz="2850" spc="-225" dirty="0">
                <a:latin typeface="Times New Roman" panose="02020603050405020304"/>
                <a:cs typeface="Times New Roman" panose="02020603050405020304"/>
              </a:rPr>
              <a:t>a </a:t>
            </a:r>
            <a:r>
              <a:rPr sz="2850" spc="-140" dirty="0">
                <a:latin typeface="Times New Roman" panose="02020603050405020304"/>
                <a:cs typeface="Times New Roman" panose="02020603050405020304"/>
              </a:rPr>
              <a:t>communication</a:t>
            </a:r>
            <a:r>
              <a:rPr sz="2850" spc="420" dirty="0">
                <a:latin typeface="Times New Roman" panose="02020603050405020304"/>
                <a:cs typeface="Times New Roman" panose="02020603050405020304"/>
              </a:rPr>
              <a:t> </a:t>
            </a:r>
            <a:r>
              <a:rPr sz="2850" spc="-135" dirty="0">
                <a:latin typeface="Times New Roman" panose="02020603050405020304"/>
                <a:cs typeface="Times New Roman" panose="02020603050405020304"/>
              </a:rPr>
              <a:t>link</a:t>
            </a:r>
            <a:endParaRPr sz="2850">
              <a:latin typeface="Times New Roman" panose="02020603050405020304"/>
              <a:cs typeface="Times New Roman" panose="02020603050405020304"/>
            </a:endParaRPr>
          </a:p>
          <a:p>
            <a:pPr marL="682625" marR="194945" indent="-670560">
              <a:lnSpc>
                <a:spcPct val="100000"/>
              </a:lnSpc>
              <a:spcBef>
                <a:spcPts val="660"/>
              </a:spcBef>
              <a:buClr>
                <a:srgbClr val="D34816"/>
              </a:buClr>
              <a:buSzPct val="84000"/>
              <a:buFont typeface="Webdings" panose="05030102010509060703"/>
              <a:buChar char=""/>
              <a:tabLst>
                <a:tab pos="682625" algn="l"/>
                <a:tab pos="683260" algn="l"/>
              </a:tabLst>
            </a:pPr>
            <a:r>
              <a:rPr sz="2850" spc="-150" dirty="0">
                <a:latin typeface="Times New Roman" panose="02020603050405020304"/>
                <a:cs typeface="Times New Roman" panose="02020603050405020304"/>
              </a:rPr>
              <a:t>Methods </a:t>
            </a:r>
            <a:r>
              <a:rPr sz="2850" spc="-95" dirty="0">
                <a:latin typeface="Times New Roman" panose="02020603050405020304"/>
                <a:cs typeface="Times New Roman" panose="02020603050405020304"/>
              </a:rPr>
              <a:t>for </a:t>
            </a:r>
            <a:r>
              <a:rPr sz="2850" spc="-125" dirty="0">
                <a:latin typeface="Times New Roman" panose="02020603050405020304"/>
                <a:cs typeface="Times New Roman" panose="02020603050405020304"/>
              </a:rPr>
              <a:t>implementing </a:t>
            </a:r>
            <a:r>
              <a:rPr sz="2850" spc="-95" dirty="0">
                <a:latin typeface="Times New Roman" panose="02020603050405020304"/>
                <a:cs typeface="Times New Roman" panose="02020603050405020304"/>
              </a:rPr>
              <a:t>the </a:t>
            </a:r>
            <a:r>
              <a:rPr sz="2850" spc="-140" dirty="0">
                <a:latin typeface="Times New Roman" panose="02020603050405020304"/>
                <a:cs typeface="Times New Roman" panose="02020603050405020304"/>
              </a:rPr>
              <a:t>communication </a:t>
            </a:r>
            <a:r>
              <a:rPr sz="2850" spc="-135" dirty="0">
                <a:latin typeface="Times New Roman" panose="02020603050405020304"/>
                <a:cs typeface="Times New Roman" panose="02020603050405020304"/>
              </a:rPr>
              <a:t>link </a:t>
            </a:r>
            <a:r>
              <a:rPr sz="2850" spc="-150" dirty="0">
                <a:latin typeface="Times New Roman" panose="02020603050405020304"/>
                <a:cs typeface="Times New Roman" panose="02020603050405020304"/>
              </a:rPr>
              <a:t>and  </a:t>
            </a:r>
            <a:r>
              <a:rPr sz="2850" spc="-120" dirty="0">
                <a:latin typeface="Times New Roman" panose="02020603050405020304"/>
                <a:cs typeface="Times New Roman" panose="02020603050405020304"/>
              </a:rPr>
              <a:t>primitives</a:t>
            </a:r>
            <a:r>
              <a:rPr sz="2850" spc="-65" dirty="0">
                <a:latin typeface="Times New Roman" panose="02020603050405020304"/>
                <a:cs typeface="Times New Roman" panose="02020603050405020304"/>
              </a:rPr>
              <a:t> (send/receive):</a:t>
            </a:r>
            <a:endParaRPr sz="2850">
              <a:latin typeface="Times New Roman" panose="02020603050405020304"/>
              <a:cs typeface="Times New Roman" panose="02020603050405020304"/>
            </a:endParaRPr>
          </a:p>
          <a:p>
            <a:pPr marL="1101725" lvl="1" indent="-587375">
              <a:lnSpc>
                <a:spcPct val="100000"/>
              </a:lnSpc>
              <a:spcBef>
                <a:spcPts val="445"/>
              </a:spcBef>
              <a:buClr>
                <a:srgbClr val="9A2D1F"/>
              </a:buClr>
              <a:buSzPct val="84000"/>
              <a:buAutoNum type="arabicPeriod"/>
              <a:tabLst>
                <a:tab pos="1101725" algn="l"/>
                <a:tab pos="1102360" algn="l"/>
              </a:tabLst>
            </a:pPr>
            <a:r>
              <a:rPr sz="2850" spc="-85" dirty="0">
                <a:solidFill>
                  <a:srgbClr val="702FA0"/>
                </a:solidFill>
                <a:latin typeface="Times New Roman" panose="02020603050405020304"/>
                <a:cs typeface="Times New Roman" panose="02020603050405020304"/>
              </a:rPr>
              <a:t>Direct </a:t>
            </a:r>
            <a:r>
              <a:rPr sz="2850" spc="-55" dirty="0">
                <a:solidFill>
                  <a:srgbClr val="702FA0"/>
                </a:solidFill>
                <a:latin typeface="Times New Roman" panose="02020603050405020304"/>
                <a:cs typeface="Times New Roman" panose="02020603050405020304"/>
              </a:rPr>
              <a:t>or </a:t>
            </a:r>
            <a:r>
              <a:rPr sz="2850" spc="-105" dirty="0">
                <a:solidFill>
                  <a:srgbClr val="702FA0"/>
                </a:solidFill>
                <a:latin typeface="Times New Roman" panose="02020603050405020304"/>
                <a:cs typeface="Times New Roman" panose="02020603050405020304"/>
              </a:rPr>
              <a:t>Indirect </a:t>
            </a:r>
            <a:r>
              <a:rPr sz="2850" spc="-145" dirty="0">
                <a:solidFill>
                  <a:srgbClr val="702FA0"/>
                </a:solidFill>
                <a:latin typeface="Times New Roman" panose="02020603050405020304"/>
                <a:cs typeface="Times New Roman" panose="02020603050405020304"/>
              </a:rPr>
              <a:t>communications</a:t>
            </a:r>
            <a:r>
              <a:rPr sz="2850" spc="5" dirty="0">
                <a:solidFill>
                  <a:srgbClr val="702FA0"/>
                </a:solidFill>
                <a:latin typeface="Times New Roman" panose="02020603050405020304"/>
                <a:cs typeface="Times New Roman" panose="02020603050405020304"/>
              </a:rPr>
              <a:t> </a:t>
            </a:r>
            <a:r>
              <a:rPr sz="2850" spc="-145" dirty="0">
                <a:solidFill>
                  <a:srgbClr val="702FA0"/>
                </a:solidFill>
                <a:latin typeface="Times New Roman" panose="02020603050405020304"/>
                <a:cs typeface="Times New Roman" panose="02020603050405020304"/>
              </a:rPr>
              <a:t>(Naming)</a:t>
            </a:r>
            <a:endParaRPr sz="2850">
              <a:latin typeface="Times New Roman" panose="02020603050405020304"/>
              <a:cs typeface="Times New Roman" panose="02020603050405020304"/>
            </a:endParaRPr>
          </a:p>
          <a:p>
            <a:pPr marL="1101725" marR="5080" lvl="1" indent="-586740">
              <a:lnSpc>
                <a:spcPct val="100000"/>
              </a:lnSpc>
              <a:spcBef>
                <a:spcPts val="445"/>
              </a:spcBef>
              <a:buClr>
                <a:srgbClr val="9A2D1F"/>
              </a:buClr>
              <a:buSzPct val="84000"/>
              <a:buAutoNum type="arabicPeriod"/>
              <a:tabLst>
                <a:tab pos="1101725" algn="l"/>
                <a:tab pos="1102360" algn="l"/>
              </a:tabLst>
            </a:pPr>
            <a:r>
              <a:rPr sz="2850" spc="-140" dirty="0">
                <a:solidFill>
                  <a:srgbClr val="702FA0"/>
                </a:solidFill>
                <a:latin typeface="Times New Roman" panose="02020603050405020304"/>
                <a:cs typeface="Times New Roman" panose="02020603050405020304"/>
              </a:rPr>
              <a:t>Symmetric </a:t>
            </a:r>
            <a:r>
              <a:rPr sz="2850" spc="-40" dirty="0">
                <a:solidFill>
                  <a:srgbClr val="702FA0"/>
                </a:solidFill>
                <a:latin typeface="Times New Roman" panose="02020603050405020304"/>
                <a:cs typeface="Times New Roman" panose="02020603050405020304"/>
              </a:rPr>
              <a:t>or </a:t>
            </a:r>
            <a:r>
              <a:rPr sz="2850" spc="-145" dirty="0">
                <a:solidFill>
                  <a:srgbClr val="702FA0"/>
                </a:solidFill>
                <a:latin typeface="Times New Roman" panose="02020603050405020304"/>
                <a:cs typeface="Times New Roman" panose="02020603050405020304"/>
              </a:rPr>
              <a:t>Asymmetric communications (blocking  versus</a:t>
            </a:r>
            <a:r>
              <a:rPr sz="2850" spc="-70" dirty="0">
                <a:solidFill>
                  <a:srgbClr val="702FA0"/>
                </a:solidFill>
                <a:latin typeface="Times New Roman" panose="02020603050405020304"/>
                <a:cs typeface="Times New Roman" panose="02020603050405020304"/>
              </a:rPr>
              <a:t> </a:t>
            </a:r>
            <a:r>
              <a:rPr sz="2850" spc="-130" dirty="0">
                <a:solidFill>
                  <a:srgbClr val="702FA0"/>
                </a:solidFill>
                <a:latin typeface="Times New Roman" panose="02020603050405020304"/>
                <a:cs typeface="Times New Roman" panose="02020603050405020304"/>
              </a:rPr>
              <a:t>non-blocking)</a:t>
            </a:r>
            <a:endParaRPr sz="2850">
              <a:latin typeface="Times New Roman" panose="02020603050405020304"/>
              <a:cs typeface="Times New Roman" panose="02020603050405020304"/>
            </a:endParaRPr>
          </a:p>
          <a:p>
            <a:pPr marL="1101725" lvl="1" indent="-587375">
              <a:lnSpc>
                <a:spcPct val="100000"/>
              </a:lnSpc>
              <a:spcBef>
                <a:spcPts val="455"/>
              </a:spcBef>
              <a:buClr>
                <a:srgbClr val="9A2D1F"/>
              </a:buClr>
              <a:buSzPct val="84000"/>
              <a:buAutoNum type="arabicPeriod"/>
              <a:tabLst>
                <a:tab pos="1101725" algn="l"/>
                <a:tab pos="1102360" algn="l"/>
              </a:tabLst>
            </a:pPr>
            <a:r>
              <a:rPr sz="2850" spc="-165" dirty="0">
                <a:solidFill>
                  <a:srgbClr val="702FA0"/>
                </a:solidFill>
                <a:latin typeface="Times New Roman" panose="02020603050405020304"/>
                <a:cs typeface="Times New Roman" panose="02020603050405020304"/>
              </a:rPr>
              <a:t>Buffering</a:t>
            </a:r>
            <a:endParaRPr sz="2850">
              <a:latin typeface="Times New Roman" panose="02020603050405020304"/>
              <a:cs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154983"/>
            <a:ext cx="5278755" cy="696595"/>
          </a:xfrm>
          <a:prstGeom prst="rect">
            <a:avLst/>
          </a:prstGeom>
        </p:spPr>
        <p:txBody>
          <a:bodyPr vert="horz" wrap="square" lIns="0" tIns="12700" rIns="0" bIns="0" rtlCol="0">
            <a:spAutoFit/>
          </a:bodyPr>
          <a:lstStyle/>
          <a:p>
            <a:pPr marL="12700">
              <a:lnSpc>
                <a:spcPct val="100000"/>
              </a:lnSpc>
              <a:spcBef>
                <a:spcPts val="100"/>
              </a:spcBef>
            </a:pPr>
            <a:r>
              <a:rPr sz="4400" spc="-245" dirty="0"/>
              <a:t>Direct</a:t>
            </a:r>
            <a:r>
              <a:rPr sz="4400" spc="-210" dirty="0"/>
              <a:t> </a:t>
            </a:r>
            <a:r>
              <a:rPr sz="4400" spc="-310" dirty="0"/>
              <a:t>Communication</a:t>
            </a:r>
            <a:endParaRPr sz="4400"/>
          </a:p>
        </p:txBody>
      </p:sp>
      <p:sp>
        <p:nvSpPr>
          <p:cNvPr id="3" name="object 3"/>
          <p:cNvSpPr txBox="1"/>
          <p:nvPr/>
        </p:nvSpPr>
        <p:spPr>
          <a:xfrm>
            <a:off x="285951" y="781778"/>
            <a:ext cx="9058910" cy="5659755"/>
          </a:xfrm>
          <a:prstGeom prst="rect">
            <a:avLst/>
          </a:prstGeom>
        </p:spPr>
        <p:txBody>
          <a:bodyPr vert="horz" wrap="square" lIns="0" tIns="92710" rIns="0" bIns="0" rtlCol="0">
            <a:spAutoFit/>
          </a:bodyPr>
          <a:lstStyle/>
          <a:p>
            <a:pPr marL="312420" indent="-300355">
              <a:lnSpc>
                <a:spcPct val="100000"/>
              </a:lnSpc>
              <a:spcBef>
                <a:spcPts val="730"/>
              </a:spcBef>
              <a:buClr>
                <a:srgbClr val="D34816"/>
              </a:buClr>
              <a:buSzPct val="85000"/>
              <a:buFont typeface="Webdings" panose="05030102010509060703"/>
              <a:buChar char=""/>
              <a:tabLst>
                <a:tab pos="313055" algn="l"/>
              </a:tabLst>
            </a:pPr>
            <a:r>
              <a:rPr sz="3050" spc="-150" dirty="0">
                <a:latin typeface="Times New Roman" panose="02020603050405020304"/>
                <a:cs typeface="Times New Roman" panose="02020603050405020304"/>
              </a:rPr>
              <a:t>Processes </a:t>
            </a:r>
            <a:r>
              <a:rPr sz="3050" spc="-130" dirty="0">
                <a:latin typeface="Times New Roman" panose="02020603050405020304"/>
                <a:cs typeface="Times New Roman" panose="02020603050405020304"/>
              </a:rPr>
              <a:t>must </a:t>
            </a:r>
            <a:r>
              <a:rPr sz="3050" spc="-155" dirty="0">
                <a:solidFill>
                  <a:srgbClr val="FF0000"/>
                </a:solidFill>
                <a:latin typeface="Times New Roman" panose="02020603050405020304"/>
                <a:cs typeface="Times New Roman" panose="02020603050405020304"/>
              </a:rPr>
              <a:t>name each </a:t>
            </a:r>
            <a:r>
              <a:rPr sz="3050" spc="-65" dirty="0">
                <a:solidFill>
                  <a:srgbClr val="FF0000"/>
                </a:solidFill>
                <a:latin typeface="Times New Roman" panose="02020603050405020304"/>
                <a:cs typeface="Times New Roman" panose="02020603050405020304"/>
              </a:rPr>
              <a:t>other</a:t>
            </a:r>
            <a:r>
              <a:rPr sz="3050" spc="215" dirty="0">
                <a:solidFill>
                  <a:srgbClr val="FF0000"/>
                </a:solidFill>
                <a:latin typeface="Times New Roman" panose="02020603050405020304"/>
                <a:cs typeface="Times New Roman" panose="02020603050405020304"/>
              </a:rPr>
              <a:t> </a:t>
            </a:r>
            <a:r>
              <a:rPr sz="3050" spc="-110" dirty="0">
                <a:latin typeface="Times New Roman" panose="02020603050405020304"/>
                <a:cs typeface="Times New Roman" panose="02020603050405020304"/>
              </a:rPr>
              <a:t>explicitly:</a:t>
            </a:r>
            <a:endParaRPr sz="3050">
              <a:latin typeface="Times New Roman" panose="02020603050405020304"/>
              <a:cs typeface="Times New Roman" panose="02020603050405020304"/>
            </a:endParaRPr>
          </a:p>
          <a:p>
            <a:pPr marL="615950" lvl="1" indent="-252095">
              <a:lnSpc>
                <a:spcPct val="100000"/>
              </a:lnSpc>
              <a:spcBef>
                <a:spcPts val="505"/>
              </a:spcBef>
              <a:buClr>
                <a:srgbClr val="9A2D1F"/>
              </a:buClr>
              <a:buSzPct val="85000"/>
              <a:buFont typeface="Webdings" panose="05030102010509060703"/>
              <a:buChar char=""/>
              <a:tabLst>
                <a:tab pos="616585" algn="l"/>
              </a:tabLst>
            </a:pPr>
            <a:r>
              <a:rPr sz="2650" b="1" spc="-145" dirty="0">
                <a:latin typeface="Trebuchet MS" panose="020B0603020202020204"/>
                <a:cs typeface="Trebuchet MS" panose="020B0603020202020204"/>
              </a:rPr>
              <a:t>send </a:t>
            </a:r>
            <a:r>
              <a:rPr sz="2650" spc="-180" dirty="0">
                <a:latin typeface="Times New Roman" panose="02020603050405020304"/>
                <a:cs typeface="Times New Roman" panose="02020603050405020304"/>
              </a:rPr>
              <a:t>(P, </a:t>
            </a:r>
            <a:r>
              <a:rPr sz="2650" spc="-165" dirty="0">
                <a:latin typeface="Times New Roman" panose="02020603050405020304"/>
                <a:cs typeface="Times New Roman" panose="02020603050405020304"/>
              </a:rPr>
              <a:t>message) </a:t>
            </a:r>
            <a:r>
              <a:rPr sz="2650" spc="-5" dirty="0">
                <a:latin typeface="Times New Roman" panose="02020603050405020304"/>
                <a:cs typeface="Times New Roman" panose="02020603050405020304"/>
              </a:rPr>
              <a:t>– </a:t>
            </a:r>
            <a:r>
              <a:rPr sz="2650" spc="-135" dirty="0">
                <a:latin typeface="Times New Roman" panose="02020603050405020304"/>
                <a:cs typeface="Times New Roman" panose="02020603050405020304"/>
              </a:rPr>
              <a:t>send </a:t>
            </a:r>
            <a:r>
              <a:rPr sz="2650" spc="-215" dirty="0">
                <a:latin typeface="Times New Roman" panose="02020603050405020304"/>
                <a:cs typeface="Times New Roman" panose="02020603050405020304"/>
              </a:rPr>
              <a:t>a </a:t>
            </a:r>
            <a:r>
              <a:rPr sz="2650" spc="-175" dirty="0">
                <a:latin typeface="Times New Roman" panose="02020603050405020304"/>
                <a:cs typeface="Times New Roman" panose="02020603050405020304"/>
              </a:rPr>
              <a:t>message </a:t>
            </a:r>
            <a:r>
              <a:rPr sz="2650" spc="-50" dirty="0">
                <a:latin typeface="Times New Roman" panose="02020603050405020304"/>
                <a:cs typeface="Times New Roman" panose="02020603050405020304"/>
              </a:rPr>
              <a:t>to </a:t>
            </a:r>
            <a:r>
              <a:rPr sz="2650" spc="-130" dirty="0">
                <a:latin typeface="Times New Roman" panose="02020603050405020304"/>
                <a:cs typeface="Times New Roman" panose="02020603050405020304"/>
              </a:rPr>
              <a:t>process</a:t>
            </a:r>
            <a:r>
              <a:rPr sz="2650" spc="85" dirty="0">
                <a:latin typeface="Times New Roman" panose="02020603050405020304"/>
                <a:cs typeface="Times New Roman" panose="02020603050405020304"/>
              </a:rPr>
              <a:t> </a:t>
            </a:r>
            <a:r>
              <a:rPr sz="2650" spc="-155" dirty="0">
                <a:latin typeface="Times New Roman" panose="02020603050405020304"/>
                <a:cs typeface="Times New Roman" panose="02020603050405020304"/>
              </a:rPr>
              <a:t>P</a:t>
            </a:r>
            <a:endParaRPr sz="2650">
              <a:latin typeface="Times New Roman" panose="02020603050405020304"/>
              <a:cs typeface="Times New Roman" panose="02020603050405020304"/>
            </a:endParaRPr>
          </a:p>
          <a:p>
            <a:pPr marL="615950" lvl="1" indent="-252095">
              <a:lnSpc>
                <a:spcPct val="100000"/>
              </a:lnSpc>
              <a:spcBef>
                <a:spcPts val="420"/>
              </a:spcBef>
              <a:buClr>
                <a:srgbClr val="9A2D1F"/>
              </a:buClr>
              <a:buSzPct val="85000"/>
              <a:buFont typeface="Webdings" panose="05030102010509060703"/>
              <a:buChar char=""/>
              <a:tabLst>
                <a:tab pos="616585" algn="l"/>
              </a:tabLst>
            </a:pPr>
            <a:r>
              <a:rPr sz="2650" b="1" spc="-135" dirty="0">
                <a:latin typeface="Trebuchet MS" panose="020B0603020202020204"/>
                <a:cs typeface="Trebuchet MS" panose="020B0603020202020204"/>
              </a:rPr>
              <a:t>receive</a:t>
            </a:r>
            <a:r>
              <a:rPr sz="2650" spc="-135" dirty="0">
                <a:latin typeface="Times New Roman" panose="02020603050405020304"/>
                <a:cs typeface="Times New Roman" panose="02020603050405020304"/>
              </a:rPr>
              <a:t>(Q, </a:t>
            </a:r>
            <a:r>
              <a:rPr sz="2650" spc="-165" dirty="0">
                <a:latin typeface="Times New Roman" panose="02020603050405020304"/>
                <a:cs typeface="Times New Roman" panose="02020603050405020304"/>
              </a:rPr>
              <a:t>message) </a:t>
            </a:r>
            <a:r>
              <a:rPr sz="2650" spc="-5" dirty="0">
                <a:latin typeface="Times New Roman" panose="02020603050405020304"/>
                <a:cs typeface="Times New Roman" panose="02020603050405020304"/>
              </a:rPr>
              <a:t>– </a:t>
            </a:r>
            <a:r>
              <a:rPr sz="2650" spc="-130" dirty="0">
                <a:latin typeface="Times New Roman" panose="02020603050405020304"/>
                <a:cs typeface="Times New Roman" panose="02020603050405020304"/>
              </a:rPr>
              <a:t>receive </a:t>
            </a:r>
            <a:r>
              <a:rPr sz="2650" spc="-215" dirty="0">
                <a:latin typeface="Times New Roman" panose="02020603050405020304"/>
                <a:cs typeface="Times New Roman" panose="02020603050405020304"/>
              </a:rPr>
              <a:t>a </a:t>
            </a:r>
            <a:r>
              <a:rPr sz="2650" spc="-180" dirty="0">
                <a:latin typeface="Times New Roman" panose="02020603050405020304"/>
                <a:cs typeface="Times New Roman" panose="02020603050405020304"/>
              </a:rPr>
              <a:t>message </a:t>
            </a:r>
            <a:r>
              <a:rPr sz="2650" spc="-114" dirty="0">
                <a:latin typeface="Times New Roman" panose="02020603050405020304"/>
                <a:cs typeface="Times New Roman" panose="02020603050405020304"/>
              </a:rPr>
              <a:t>from </a:t>
            </a:r>
            <a:r>
              <a:rPr sz="2650" spc="-130" dirty="0">
                <a:latin typeface="Times New Roman" panose="02020603050405020304"/>
                <a:cs typeface="Times New Roman" panose="02020603050405020304"/>
              </a:rPr>
              <a:t>process</a:t>
            </a:r>
            <a:r>
              <a:rPr sz="2650" spc="225" dirty="0">
                <a:latin typeface="Times New Roman" panose="02020603050405020304"/>
                <a:cs typeface="Times New Roman" panose="02020603050405020304"/>
              </a:rPr>
              <a:t> </a:t>
            </a:r>
            <a:r>
              <a:rPr sz="2650" spc="-15" dirty="0">
                <a:latin typeface="Times New Roman" panose="02020603050405020304"/>
                <a:cs typeface="Times New Roman" panose="02020603050405020304"/>
              </a:rPr>
              <a:t>Q</a:t>
            </a:r>
            <a:endParaRPr sz="2650">
              <a:latin typeface="Times New Roman" panose="02020603050405020304"/>
              <a:cs typeface="Times New Roman" panose="02020603050405020304"/>
            </a:endParaRPr>
          </a:p>
          <a:p>
            <a:pPr marL="312420" indent="-300355">
              <a:lnSpc>
                <a:spcPct val="100000"/>
              </a:lnSpc>
              <a:spcBef>
                <a:spcPts val="635"/>
              </a:spcBef>
              <a:buClr>
                <a:srgbClr val="D34816"/>
              </a:buClr>
              <a:buSzPct val="85000"/>
              <a:buFont typeface="Webdings" panose="05030102010509060703"/>
              <a:buChar char=""/>
              <a:tabLst>
                <a:tab pos="313055" algn="l"/>
              </a:tabLst>
            </a:pPr>
            <a:r>
              <a:rPr sz="3050" spc="-80" dirty="0">
                <a:latin typeface="Times New Roman" panose="02020603050405020304"/>
                <a:cs typeface="Times New Roman" panose="02020603050405020304"/>
              </a:rPr>
              <a:t>Properties </a:t>
            </a:r>
            <a:r>
              <a:rPr sz="3050" spc="-165" dirty="0">
                <a:latin typeface="Times New Roman" panose="02020603050405020304"/>
                <a:cs typeface="Times New Roman" panose="02020603050405020304"/>
              </a:rPr>
              <a:t>of </a:t>
            </a:r>
            <a:r>
              <a:rPr sz="3050" spc="-135" dirty="0">
                <a:latin typeface="Times New Roman" panose="02020603050405020304"/>
                <a:cs typeface="Times New Roman" panose="02020603050405020304"/>
              </a:rPr>
              <a:t>communication</a:t>
            </a:r>
            <a:r>
              <a:rPr sz="3050" spc="-20" dirty="0">
                <a:latin typeface="Times New Roman" panose="02020603050405020304"/>
                <a:cs typeface="Times New Roman" panose="02020603050405020304"/>
              </a:rPr>
              <a:t> </a:t>
            </a:r>
            <a:r>
              <a:rPr sz="3050" spc="-135" dirty="0">
                <a:latin typeface="Times New Roman" panose="02020603050405020304"/>
                <a:cs typeface="Times New Roman" panose="02020603050405020304"/>
              </a:rPr>
              <a:t>link</a:t>
            </a:r>
            <a:endParaRPr sz="3050">
              <a:latin typeface="Times New Roman" panose="02020603050405020304"/>
              <a:cs typeface="Times New Roman" panose="02020603050405020304"/>
            </a:endParaRPr>
          </a:p>
          <a:p>
            <a:pPr marL="615950" lvl="1" indent="-252095">
              <a:lnSpc>
                <a:spcPct val="100000"/>
              </a:lnSpc>
              <a:spcBef>
                <a:spcPts val="495"/>
              </a:spcBef>
              <a:buClr>
                <a:srgbClr val="9A2D1F"/>
              </a:buClr>
              <a:buSzPct val="85000"/>
              <a:buFont typeface="Webdings" panose="05030102010509060703"/>
              <a:buChar char=""/>
              <a:tabLst>
                <a:tab pos="616585" algn="l"/>
              </a:tabLst>
            </a:pPr>
            <a:r>
              <a:rPr sz="2650" spc="-190" dirty="0">
                <a:latin typeface="Times New Roman" panose="02020603050405020304"/>
                <a:cs typeface="Times New Roman" panose="02020603050405020304"/>
              </a:rPr>
              <a:t>Links </a:t>
            </a:r>
            <a:r>
              <a:rPr sz="2650" spc="-110" dirty="0">
                <a:latin typeface="Times New Roman" panose="02020603050405020304"/>
                <a:cs typeface="Times New Roman" panose="02020603050405020304"/>
              </a:rPr>
              <a:t>are </a:t>
            </a:r>
            <a:r>
              <a:rPr sz="2650" spc="-140" dirty="0">
                <a:latin typeface="Times New Roman" panose="02020603050405020304"/>
                <a:cs typeface="Times New Roman" panose="02020603050405020304"/>
              </a:rPr>
              <a:t>established</a:t>
            </a:r>
            <a:r>
              <a:rPr sz="2650" spc="75" dirty="0">
                <a:latin typeface="Times New Roman" panose="02020603050405020304"/>
                <a:cs typeface="Times New Roman" panose="02020603050405020304"/>
              </a:rPr>
              <a:t> </a:t>
            </a:r>
            <a:r>
              <a:rPr sz="2650" spc="-140" dirty="0">
                <a:latin typeface="Times New Roman" panose="02020603050405020304"/>
                <a:cs typeface="Times New Roman" panose="02020603050405020304"/>
              </a:rPr>
              <a:t>automatically.</a:t>
            </a:r>
            <a:endParaRPr sz="2650">
              <a:latin typeface="Times New Roman" panose="02020603050405020304"/>
              <a:cs typeface="Times New Roman" panose="02020603050405020304"/>
            </a:endParaRPr>
          </a:p>
          <a:p>
            <a:pPr marL="615950" lvl="1" indent="-252095">
              <a:lnSpc>
                <a:spcPct val="100000"/>
              </a:lnSpc>
              <a:spcBef>
                <a:spcPts val="430"/>
              </a:spcBef>
              <a:buClr>
                <a:srgbClr val="9A2D1F"/>
              </a:buClr>
              <a:buSzPct val="85000"/>
              <a:buFont typeface="Webdings" panose="05030102010509060703"/>
              <a:buChar char=""/>
              <a:tabLst>
                <a:tab pos="616585" algn="l"/>
              </a:tabLst>
            </a:pPr>
            <a:r>
              <a:rPr sz="2650" spc="-345" dirty="0">
                <a:latin typeface="Times New Roman" panose="02020603050405020304"/>
                <a:cs typeface="Times New Roman" panose="02020603050405020304"/>
              </a:rPr>
              <a:t>A </a:t>
            </a:r>
            <a:r>
              <a:rPr sz="2650" spc="-130" dirty="0">
                <a:latin typeface="Times New Roman" panose="02020603050405020304"/>
                <a:cs typeface="Times New Roman" panose="02020603050405020304"/>
              </a:rPr>
              <a:t>link </a:t>
            </a:r>
            <a:r>
              <a:rPr sz="2650" spc="-170" dirty="0">
                <a:latin typeface="Times New Roman" panose="02020603050405020304"/>
                <a:cs typeface="Times New Roman" panose="02020603050405020304"/>
              </a:rPr>
              <a:t>is </a:t>
            </a:r>
            <a:r>
              <a:rPr sz="2650" spc="-150" dirty="0">
                <a:latin typeface="Times New Roman" panose="02020603050405020304"/>
                <a:cs typeface="Times New Roman" panose="02020603050405020304"/>
              </a:rPr>
              <a:t>associated </a:t>
            </a:r>
            <a:r>
              <a:rPr sz="2650" spc="-114" dirty="0">
                <a:latin typeface="Times New Roman" panose="02020603050405020304"/>
                <a:cs typeface="Times New Roman" panose="02020603050405020304"/>
              </a:rPr>
              <a:t>with </a:t>
            </a:r>
            <a:r>
              <a:rPr sz="2650" spc="-135" dirty="0">
                <a:latin typeface="Times New Roman" panose="02020603050405020304"/>
                <a:cs typeface="Times New Roman" panose="02020603050405020304"/>
              </a:rPr>
              <a:t>exactly </a:t>
            </a:r>
            <a:r>
              <a:rPr sz="2650" spc="-120" dirty="0">
                <a:latin typeface="Times New Roman" panose="02020603050405020304"/>
                <a:cs typeface="Times New Roman" panose="02020603050405020304"/>
              </a:rPr>
              <a:t>one </a:t>
            </a:r>
            <a:r>
              <a:rPr sz="2650" spc="-114" dirty="0">
                <a:latin typeface="Times New Roman" panose="02020603050405020304"/>
                <a:cs typeface="Times New Roman" panose="02020603050405020304"/>
              </a:rPr>
              <a:t>pair </a:t>
            </a:r>
            <a:r>
              <a:rPr sz="2650" spc="-155" dirty="0">
                <a:latin typeface="Times New Roman" panose="02020603050405020304"/>
                <a:cs typeface="Times New Roman" panose="02020603050405020304"/>
              </a:rPr>
              <a:t>of </a:t>
            </a:r>
            <a:r>
              <a:rPr sz="2650" spc="-145" dirty="0">
                <a:latin typeface="Times New Roman" panose="02020603050405020304"/>
                <a:cs typeface="Times New Roman" panose="02020603050405020304"/>
              </a:rPr>
              <a:t>communicating</a:t>
            </a:r>
            <a:r>
              <a:rPr sz="2650" spc="-120" dirty="0">
                <a:latin typeface="Times New Roman" panose="02020603050405020304"/>
                <a:cs typeface="Times New Roman" panose="02020603050405020304"/>
              </a:rPr>
              <a:t> </a:t>
            </a:r>
            <a:r>
              <a:rPr sz="2650" spc="-114" dirty="0">
                <a:latin typeface="Times New Roman" panose="02020603050405020304"/>
                <a:cs typeface="Times New Roman" panose="02020603050405020304"/>
              </a:rPr>
              <a:t>processes.</a:t>
            </a:r>
            <a:endParaRPr sz="2650">
              <a:latin typeface="Times New Roman" panose="02020603050405020304"/>
              <a:cs typeface="Times New Roman" panose="02020603050405020304"/>
            </a:endParaRPr>
          </a:p>
          <a:p>
            <a:pPr marL="615950" lvl="1" indent="-252095">
              <a:lnSpc>
                <a:spcPct val="100000"/>
              </a:lnSpc>
              <a:spcBef>
                <a:spcPts val="420"/>
              </a:spcBef>
              <a:buClr>
                <a:srgbClr val="9A2D1F"/>
              </a:buClr>
              <a:buSzPct val="85000"/>
              <a:buFont typeface="Webdings" panose="05030102010509060703"/>
              <a:buChar char=""/>
              <a:tabLst>
                <a:tab pos="616585" algn="l"/>
              </a:tabLst>
            </a:pPr>
            <a:r>
              <a:rPr sz="2650" spc="-160" dirty="0">
                <a:latin typeface="Times New Roman" panose="02020603050405020304"/>
                <a:cs typeface="Times New Roman" panose="02020603050405020304"/>
              </a:rPr>
              <a:t>Between </a:t>
            </a:r>
            <a:r>
              <a:rPr sz="2650" spc="-155" dirty="0">
                <a:latin typeface="Times New Roman" panose="02020603050405020304"/>
                <a:cs typeface="Times New Roman" panose="02020603050405020304"/>
              </a:rPr>
              <a:t>each </a:t>
            </a:r>
            <a:r>
              <a:rPr sz="2650" spc="-114" dirty="0">
                <a:latin typeface="Times New Roman" panose="02020603050405020304"/>
                <a:cs typeface="Times New Roman" panose="02020603050405020304"/>
              </a:rPr>
              <a:t>pair </a:t>
            </a:r>
            <a:r>
              <a:rPr sz="2650" spc="-75" dirty="0">
                <a:latin typeface="Times New Roman" panose="02020603050405020304"/>
                <a:cs typeface="Times New Roman" panose="02020603050405020304"/>
              </a:rPr>
              <a:t>there </a:t>
            </a:r>
            <a:r>
              <a:rPr sz="2650" spc="-125" dirty="0">
                <a:latin typeface="Times New Roman" panose="02020603050405020304"/>
                <a:cs typeface="Times New Roman" panose="02020603050405020304"/>
              </a:rPr>
              <a:t>exists </a:t>
            </a:r>
            <a:r>
              <a:rPr sz="2650" spc="-140" dirty="0">
                <a:latin typeface="Times New Roman" panose="02020603050405020304"/>
                <a:cs typeface="Times New Roman" panose="02020603050405020304"/>
              </a:rPr>
              <a:t>exactly </a:t>
            </a:r>
            <a:r>
              <a:rPr sz="2650" spc="-110" dirty="0">
                <a:latin typeface="Times New Roman" panose="02020603050405020304"/>
                <a:cs typeface="Times New Roman" panose="02020603050405020304"/>
              </a:rPr>
              <a:t>one</a:t>
            </a:r>
            <a:r>
              <a:rPr sz="2650" spc="280" dirty="0">
                <a:latin typeface="Times New Roman" panose="02020603050405020304"/>
                <a:cs typeface="Times New Roman" panose="02020603050405020304"/>
              </a:rPr>
              <a:t> </a:t>
            </a:r>
            <a:r>
              <a:rPr sz="2650" spc="-90" dirty="0">
                <a:latin typeface="Times New Roman" panose="02020603050405020304"/>
                <a:cs typeface="Times New Roman" panose="02020603050405020304"/>
              </a:rPr>
              <a:t>link.</a:t>
            </a:r>
            <a:endParaRPr sz="2650">
              <a:latin typeface="Times New Roman" panose="02020603050405020304"/>
              <a:cs typeface="Times New Roman" panose="02020603050405020304"/>
            </a:endParaRPr>
          </a:p>
          <a:p>
            <a:pPr marL="615950" lvl="1" indent="-252095">
              <a:lnSpc>
                <a:spcPct val="100000"/>
              </a:lnSpc>
              <a:spcBef>
                <a:spcPts val="435"/>
              </a:spcBef>
              <a:buClr>
                <a:srgbClr val="9A2D1F"/>
              </a:buClr>
              <a:buSzPct val="85000"/>
              <a:buFont typeface="Webdings" panose="05030102010509060703"/>
              <a:buChar char=""/>
              <a:tabLst>
                <a:tab pos="616585" algn="l"/>
              </a:tabLst>
            </a:pPr>
            <a:r>
              <a:rPr sz="2650" spc="-140" dirty="0">
                <a:latin typeface="Times New Roman" panose="02020603050405020304"/>
                <a:cs typeface="Times New Roman" panose="02020603050405020304"/>
              </a:rPr>
              <a:t>Processes </a:t>
            </a:r>
            <a:r>
              <a:rPr sz="2650" spc="-114" dirty="0">
                <a:latin typeface="Times New Roman" panose="02020603050405020304"/>
                <a:cs typeface="Times New Roman" panose="02020603050405020304"/>
              </a:rPr>
              <a:t>need </a:t>
            </a:r>
            <a:r>
              <a:rPr sz="2650" spc="-35" dirty="0">
                <a:latin typeface="Times New Roman" panose="02020603050405020304"/>
                <a:cs typeface="Times New Roman" panose="02020603050405020304"/>
              </a:rPr>
              <a:t>to </a:t>
            </a:r>
            <a:r>
              <a:rPr sz="2650" spc="-165" dirty="0">
                <a:latin typeface="Times New Roman" panose="02020603050405020304"/>
                <a:cs typeface="Times New Roman" panose="02020603050405020304"/>
              </a:rPr>
              <a:t>know </a:t>
            </a:r>
            <a:r>
              <a:rPr sz="2650" spc="-155" dirty="0">
                <a:latin typeface="Times New Roman" panose="02020603050405020304"/>
                <a:cs typeface="Times New Roman" panose="02020603050405020304"/>
              </a:rPr>
              <a:t>each </a:t>
            </a:r>
            <a:r>
              <a:rPr sz="2650" spc="-130" dirty="0">
                <a:latin typeface="Times New Roman" panose="02020603050405020304"/>
                <a:cs typeface="Times New Roman" panose="02020603050405020304"/>
              </a:rPr>
              <a:t>other’s</a:t>
            </a:r>
            <a:r>
              <a:rPr sz="2650" spc="160" dirty="0">
                <a:latin typeface="Times New Roman" panose="02020603050405020304"/>
                <a:cs typeface="Times New Roman" panose="02020603050405020304"/>
              </a:rPr>
              <a:t> </a:t>
            </a:r>
            <a:r>
              <a:rPr sz="2650" spc="-100" dirty="0">
                <a:latin typeface="Times New Roman" panose="02020603050405020304"/>
                <a:cs typeface="Times New Roman" panose="02020603050405020304"/>
              </a:rPr>
              <a:t>identity</a:t>
            </a:r>
            <a:endParaRPr sz="2650">
              <a:latin typeface="Times New Roman" panose="02020603050405020304"/>
              <a:cs typeface="Times New Roman" panose="02020603050405020304"/>
            </a:endParaRPr>
          </a:p>
          <a:p>
            <a:pPr marL="615950" lvl="1" indent="-252095">
              <a:lnSpc>
                <a:spcPct val="100000"/>
              </a:lnSpc>
              <a:spcBef>
                <a:spcPts val="430"/>
              </a:spcBef>
              <a:buClr>
                <a:srgbClr val="9A2D1F"/>
              </a:buClr>
              <a:buSzPct val="85000"/>
              <a:buFont typeface="Webdings" panose="05030102010509060703"/>
              <a:buChar char=""/>
              <a:tabLst>
                <a:tab pos="616585" algn="l"/>
              </a:tabLst>
            </a:pPr>
            <a:r>
              <a:rPr sz="2650" spc="-140" dirty="0">
                <a:latin typeface="Times New Roman" panose="02020603050405020304"/>
                <a:cs typeface="Times New Roman" panose="02020603050405020304"/>
              </a:rPr>
              <a:t>The </a:t>
            </a:r>
            <a:r>
              <a:rPr sz="2650" spc="-130" dirty="0">
                <a:latin typeface="Times New Roman" panose="02020603050405020304"/>
                <a:cs typeface="Times New Roman" panose="02020603050405020304"/>
              </a:rPr>
              <a:t>link </a:t>
            </a:r>
            <a:r>
              <a:rPr sz="2650" spc="-240" dirty="0">
                <a:latin typeface="Times New Roman" panose="02020603050405020304"/>
                <a:cs typeface="Times New Roman" panose="02020603050405020304"/>
              </a:rPr>
              <a:t>may </a:t>
            </a:r>
            <a:r>
              <a:rPr sz="2650" spc="-125" dirty="0">
                <a:latin typeface="Times New Roman" panose="02020603050405020304"/>
                <a:cs typeface="Times New Roman" panose="02020603050405020304"/>
              </a:rPr>
              <a:t>be </a:t>
            </a:r>
            <a:r>
              <a:rPr sz="2650" spc="-100" dirty="0">
                <a:latin typeface="Times New Roman" panose="02020603050405020304"/>
                <a:cs typeface="Times New Roman" panose="02020603050405020304"/>
              </a:rPr>
              <a:t>unidirectional, </a:t>
            </a:r>
            <a:r>
              <a:rPr sz="2650" spc="-85" dirty="0">
                <a:latin typeface="Times New Roman" panose="02020603050405020304"/>
                <a:cs typeface="Times New Roman" panose="02020603050405020304"/>
              </a:rPr>
              <a:t>but </a:t>
            </a:r>
            <a:r>
              <a:rPr sz="2650" spc="-170" dirty="0">
                <a:latin typeface="Times New Roman" panose="02020603050405020304"/>
                <a:cs typeface="Times New Roman" panose="02020603050405020304"/>
              </a:rPr>
              <a:t>is </a:t>
            </a:r>
            <a:r>
              <a:rPr sz="2650" spc="-165" dirty="0">
                <a:latin typeface="Times New Roman" panose="02020603050405020304"/>
                <a:cs typeface="Times New Roman" panose="02020603050405020304"/>
              </a:rPr>
              <a:t>usually</a:t>
            </a:r>
            <a:r>
              <a:rPr sz="2650" spc="-155" dirty="0">
                <a:latin typeface="Times New Roman" panose="02020603050405020304"/>
                <a:cs typeface="Times New Roman" panose="02020603050405020304"/>
              </a:rPr>
              <a:t> </a:t>
            </a:r>
            <a:r>
              <a:rPr sz="2650" spc="-95" dirty="0">
                <a:latin typeface="Times New Roman" panose="02020603050405020304"/>
                <a:cs typeface="Times New Roman" panose="02020603050405020304"/>
              </a:rPr>
              <a:t>bi-directional.</a:t>
            </a:r>
            <a:endParaRPr sz="2650">
              <a:latin typeface="Times New Roman" panose="02020603050405020304"/>
              <a:cs typeface="Times New Roman" panose="02020603050405020304"/>
            </a:endParaRPr>
          </a:p>
          <a:p>
            <a:pPr>
              <a:lnSpc>
                <a:spcPct val="100000"/>
              </a:lnSpc>
              <a:spcBef>
                <a:spcPts val="5"/>
              </a:spcBef>
            </a:pPr>
            <a:endParaRPr sz="3600">
              <a:latin typeface="Times New Roman" panose="02020603050405020304"/>
              <a:cs typeface="Times New Roman" panose="02020603050405020304"/>
            </a:endParaRPr>
          </a:p>
          <a:p>
            <a:pPr marL="364490" marR="86995">
              <a:lnSpc>
                <a:spcPts val="3170"/>
              </a:lnSpc>
              <a:spcBef>
                <a:spcPts val="5"/>
              </a:spcBef>
            </a:pPr>
            <a:r>
              <a:rPr sz="2650" spc="-155" dirty="0">
                <a:solidFill>
                  <a:srgbClr val="0070BF"/>
                </a:solidFill>
                <a:latin typeface="Times New Roman" panose="02020603050405020304"/>
                <a:cs typeface="Times New Roman" panose="02020603050405020304"/>
              </a:rPr>
              <a:t>Disadvantage: </a:t>
            </a:r>
            <a:r>
              <a:rPr sz="2650" spc="-215" dirty="0">
                <a:latin typeface="Times New Roman" panose="02020603050405020304"/>
                <a:cs typeface="Times New Roman" panose="02020603050405020304"/>
              </a:rPr>
              <a:t>a </a:t>
            </a:r>
            <a:r>
              <a:rPr sz="2650" spc="-130" dirty="0">
                <a:latin typeface="Times New Roman" panose="02020603050405020304"/>
                <a:cs typeface="Times New Roman" panose="02020603050405020304"/>
              </a:rPr>
              <a:t>process </a:t>
            </a:r>
            <a:r>
              <a:rPr sz="2650" spc="-120" dirty="0">
                <a:latin typeface="Times New Roman" panose="02020603050405020304"/>
                <a:cs typeface="Times New Roman" panose="02020603050405020304"/>
              </a:rPr>
              <a:t>must </a:t>
            </a:r>
            <a:r>
              <a:rPr sz="2650" spc="-155" dirty="0">
                <a:latin typeface="Times New Roman" panose="02020603050405020304"/>
                <a:cs typeface="Times New Roman" panose="02020603050405020304"/>
              </a:rPr>
              <a:t>know </a:t>
            </a:r>
            <a:r>
              <a:rPr sz="2650" spc="-85" dirty="0">
                <a:latin typeface="Times New Roman" panose="02020603050405020304"/>
                <a:cs typeface="Times New Roman" panose="02020603050405020304"/>
              </a:rPr>
              <a:t>the </a:t>
            </a:r>
            <a:r>
              <a:rPr sz="2650" spc="-155" dirty="0">
                <a:latin typeface="Times New Roman" panose="02020603050405020304"/>
                <a:cs typeface="Times New Roman" panose="02020603050405020304"/>
              </a:rPr>
              <a:t>name </a:t>
            </a:r>
            <a:r>
              <a:rPr sz="2650" spc="-45" dirty="0">
                <a:latin typeface="Times New Roman" panose="02020603050405020304"/>
                <a:cs typeface="Times New Roman" panose="02020603050405020304"/>
              </a:rPr>
              <a:t>or </a:t>
            </a:r>
            <a:r>
              <a:rPr sz="2650" spc="-190" dirty="0">
                <a:latin typeface="Times New Roman" panose="02020603050405020304"/>
                <a:cs typeface="Times New Roman" panose="02020603050405020304"/>
              </a:rPr>
              <a:t>ID </a:t>
            </a:r>
            <a:r>
              <a:rPr sz="2650" spc="-155" dirty="0">
                <a:latin typeface="Times New Roman" panose="02020603050405020304"/>
                <a:cs typeface="Times New Roman" panose="02020603050405020304"/>
              </a:rPr>
              <a:t>of </a:t>
            </a:r>
            <a:r>
              <a:rPr sz="2650" spc="-85" dirty="0">
                <a:latin typeface="Times New Roman" panose="02020603050405020304"/>
                <a:cs typeface="Times New Roman" panose="02020603050405020304"/>
              </a:rPr>
              <a:t>the </a:t>
            </a:r>
            <a:r>
              <a:rPr sz="2650" spc="-125" dirty="0">
                <a:latin typeface="Times New Roman" panose="02020603050405020304"/>
                <a:cs typeface="Times New Roman" panose="02020603050405020304"/>
              </a:rPr>
              <a:t>process(es) </a:t>
            </a:r>
            <a:r>
              <a:rPr sz="2650" spc="-65" dirty="0">
                <a:latin typeface="Times New Roman" panose="02020603050405020304"/>
                <a:cs typeface="Times New Roman" panose="02020603050405020304"/>
              </a:rPr>
              <a:t>it  </a:t>
            </a:r>
            <a:r>
              <a:rPr sz="2650" spc="-165" dirty="0">
                <a:latin typeface="Times New Roman" panose="02020603050405020304"/>
                <a:cs typeface="Times New Roman" panose="02020603050405020304"/>
              </a:rPr>
              <a:t>wishes </a:t>
            </a:r>
            <a:r>
              <a:rPr sz="2650" spc="-50" dirty="0">
                <a:latin typeface="Times New Roman" panose="02020603050405020304"/>
                <a:cs typeface="Times New Roman" panose="02020603050405020304"/>
              </a:rPr>
              <a:t>to </a:t>
            </a:r>
            <a:r>
              <a:rPr sz="2650" spc="-135" dirty="0">
                <a:latin typeface="Times New Roman" panose="02020603050405020304"/>
                <a:cs typeface="Times New Roman" panose="02020603050405020304"/>
              </a:rPr>
              <a:t>communicate</a:t>
            </a:r>
            <a:r>
              <a:rPr sz="2650" spc="-10" dirty="0">
                <a:latin typeface="Times New Roman" panose="02020603050405020304"/>
                <a:cs typeface="Times New Roman" panose="02020603050405020304"/>
              </a:rPr>
              <a:t> </a:t>
            </a:r>
            <a:r>
              <a:rPr sz="2650" spc="-110" dirty="0">
                <a:latin typeface="Times New Roman" panose="02020603050405020304"/>
                <a:cs typeface="Times New Roman" panose="02020603050405020304"/>
              </a:rPr>
              <a:t>with</a:t>
            </a:r>
            <a:endParaRPr sz="26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p:nvPr/>
        </p:nvSpPr>
        <p:spPr>
          <a:xfrm>
            <a:off x="260604" y="7077995"/>
            <a:ext cx="304165" cy="247650"/>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z="1500" spc="110" dirty="0">
                <a:solidFill>
                  <a:srgbClr val="FFFFFF"/>
                </a:solidFill>
                <a:latin typeface="Trebuchet MS" panose="020B0603020202020204"/>
                <a:cs typeface="Trebuchet MS" panose="020B0603020202020204"/>
              </a:rPr>
            </a:fld>
            <a:endParaRPr sz="1500">
              <a:latin typeface="Trebuchet MS" panose="020B0603020202020204"/>
              <a:cs typeface="Trebuchet MS" panose="020B0603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551249"/>
            <a:ext cx="5664835" cy="696595"/>
          </a:xfrm>
          <a:prstGeom prst="rect">
            <a:avLst/>
          </a:prstGeom>
        </p:spPr>
        <p:txBody>
          <a:bodyPr vert="horz" wrap="square" lIns="0" tIns="12700" rIns="0" bIns="0" rtlCol="0">
            <a:spAutoFit/>
          </a:bodyPr>
          <a:lstStyle/>
          <a:p>
            <a:pPr marL="12700">
              <a:lnSpc>
                <a:spcPct val="100000"/>
              </a:lnSpc>
              <a:spcBef>
                <a:spcPts val="100"/>
              </a:spcBef>
            </a:pPr>
            <a:r>
              <a:rPr sz="4400" spc="-229" dirty="0"/>
              <a:t>Indirect</a:t>
            </a:r>
            <a:r>
              <a:rPr sz="4400" spc="-220" dirty="0"/>
              <a:t> </a:t>
            </a:r>
            <a:r>
              <a:rPr sz="4400" spc="-310" dirty="0"/>
              <a:t>Communication</a:t>
            </a:r>
            <a:endParaRPr sz="4400"/>
          </a:p>
        </p:txBody>
      </p:sp>
      <p:sp>
        <p:nvSpPr>
          <p:cNvPr id="3" name="object 3"/>
          <p:cNvSpPr txBox="1"/>
          <p:nvPr/>
        </p:nvSpPr>
        <p:spPr>
          <a:xfrm>
            <a:off x="1076946" y="1333032"/>
            <a:ext cx="8272145" cy="4276090"/>
          </a:xfrm>
          <a:prstGeom prst="rect">
            <a:avLst/>
          </a:prstGeom>
        </p:spPr>
        <p:txBody>
          <a:bodyPr vert="horz" wrap="square" lIns="0" tIns="12065" rIns="0" bIns="0" rtlCol="0">
            <a:spAutoFit/>
          </a:bodyPr>
          <a:lstStyle/>
          <a:p>
            <a:pPr marL="312420" marR="5080" indent="-300355">
              <a:lnSpc>
                <a:spcPct val="101000"/>
              </a:lnSpc>
              <a:spcBef>
                <a:spcPts val="95"/>
              </a:spcBef>
              <a:buClr>
                <a:srgbClr val="D34816"/>
              </a:buClr>
              <a:buSzPct val="85000"/>
              <a:buFont typeface="Webdings" panose="05030102010509060703"/>
              <a:buChar char=""/>
              <a:tabLst>
                <a:tab pos="313055" algn="l"/>
              </a:tabLst>
            </a:pPr>
            <a:r>
              <a:rPr sz="3050" spc="-215" dirty="0">
                <a:latin typeface="Times New Roman" panose="02020603050405020304"/>
                <a:cs typeface="Times New Roman" panose="02020603050405020304"/>
              </a:rPr>
              <a:t>Messages </a:t>
            </a:r>
            <a:r>
              <a:rPr sz="3050" spc="-110" dirty="0">
                <a:latin typeface="Times New Roman" panose="02020603050405020304"/>
                <a:cs typeface="Times New Roman" panose="02020603050405020304"/>
              </a:rPr>
              <a:t>are </a:t>
            </a:r>
            <a:r>
              <a:rPr sz="3050" spc="-90" dirty="0">
                <a:latin typeface="Times New Roman" panose="02020603050405020304"/>
                <a:cs typeface="Times New Roman" panose="02020603050405020304"/>
              </a:rPr>
              <a:t>directed </a:t>
            </a:r>
            <a:r>
              <a:rPr sz="3050" spc="-150" dirty="0">
                <a:latin typeface="Times New Roman" panose="02020603050405020304"/>
                <a:cs typeface="Times New Roman" panose="02020603050405020304"/>
              </a:rPr>
              <a:t>and </a:t>
            </a:r>
            <a:r>
              <a:rPr sz="3050" spc="-130" dirty="0">
                <a:latin typeface="Times New Roman" panose="02020603050405020304"/>
                <a:cs typeface="Times New Roman" panose="02020603050405020304"/>
              </a:rPr>
              <a:t>received </a:t>
            </a:r>
            <a:r>
              <a:rPr sz="3050" spc="-120" dirty="0">
                <a:latin typeface="Times New Roman" panose="02020603050405020304"/>
                <a:cs typeface="Times New Roman" panose="02020603050405020304"/>
              </a:rPr>
              <a:t>from </a:t>
            </a:r>
            <a:r>
              <a:rPr sz="3050" spc="-160" dirty="0">
                <a:latin typeface="Times New Roman" panose="02020603050405020304"/>
                <a:cs typeface="Times New Roman" panose="02020603050405020304"/>
              </a:rPr>
              <a:t>mailboxes </a:t>
            </a:r>
            <a:r>
              <a:rPr sz="3050" spc="-150" dirty="0">
                <a:latin typeface="Times New Roman" panose="02020603050405020304"/>
                <a:cs typeface="Times New Roman" panose="02020603050405020304"/>
              </a:rPr>
              <a:t>(also  </a:t>
            </a:r>
            <a:r>
              <a:rPr sz="3050" spc="-70" dirty="0">
                <a:latin typeface="Times New Roman" panose="02020603050405020304"/>
                <a:cs typeface="Times New Roman" panose="02020603050405020304"/>
              </a:rPr>
              <a:t>referred </a:t>
            </a:r>
            <a:r>
              <a:rPr sz="3050" spc="-35" dirty="0">
                <a:latin typeface="Times New Roman" panose="02020603050405020304"/>
                <a:cs typeface="Times New Roman" panose="02020603050405020304"/>
              </a:rPr>
              <a:t>to </a:t>
            </a:r>
            <a:r>
              <a:rPr sz="3050" spc="-235" dirty="0">
                <a:latin typeface="Times New Roman" panose="02020603050405020304"/>
                <a:cs typeface="Times New Roman" panose="02020603050405020304"/>
              </a:rPr>
              <a:t>as</a:t>
            </a:r>
            <a:r>
              <a:rPr sz="3050" spc="-95" dirty="0">
                <a:latin typeface="Times New Roman" panose="02020603050405020304"/>
                <a:cs typeface="Times New Roman" panose="02020603050405020304"/>
              </a:rPr>
              <a:t> </a:t>
            </a:r>
            <a:r>
              <a:rPr sz="3050" spc="-25" dirty="0">
                <a:latin typeface="Times New Roman" panose="02020603050405020304"/>
                <a:cs typeface="Times New Roman" panose="02020603050405020304"/>
              </a:rPr>
              <a:t>ports).</a:t>
            </a:r>
            <a:endParaRPr sz="3050">
              <a:latin typeface="Times New Roman" panose="02020603050405020304"/>
              <a:cs typeface="Times New Roman" panose="02020603050405020304"/>
            </a:endParaRPr>
          </a:p>
          <a:p>
            <a:pPr marL="615950" lvl="1" indent="-252095">
              <a:lnSpc>
                <a:spcPct val="100000"/>
              </a:lnSpc>
              <a:spcBef>
                <a:spcPts val="510"/>
              </a:spcBef>
              <a:buClr>
                <a:srgbClr val="9A2D1F"/>
              </a:buClr>
              <a:buSzPct val="85000"/>
              <a:buFont typeface="Webdings" panose="05030102010509060703"/>
              <a:buChar char=""/>
              <a:tabLst>
                <a:tab pos="616585" algn="l"/>
              </a:tabLst>
            </a:pPr>
            <a:r>
              <a:rPr sz="2650" spc="-195" dirty="0">
                <a:latin typeface="Times New Roman" panose="02020603050405020304"/>
                <a:cs typeface="Times New Roman" panose="02020603050405020304"/>
              </a:rPr>
              <a:t>Each </a:t>
            </a:r>
            <a:r>
              <a:rPr sz="2650" spc="-150" dirty="0">
                <a:latin typeface="Times New Roman" panose="02020603050405020304"/>
                <a:cs typeface="Times New Roman" panose="02020603050405020304"/>
              </a:rPr>
              <a:t>mailbox </a:t>
            </a:r>
            <a:r>
              <a:rPr sz="2650" spc="-204" dirty="0">
                <a:latin typeface="Times New Roman" panose="02020603050405020304"/>
                <a:cs typeface="Times New Roman" panose="02020603050405020304"/>
              </a:rPr>
              <a:t>has </a:t>
            </a:r>
            <a:r>
              <a:rPr sz="2650" spc="-215" dirty="0">
                <a:latin typeface="Times New Roman" panose="02020603050405020304"/>
                <a:cs typeface="Times New Roman" panose="02020603050405020304"/>
              </a:rPr>
              <a:t>a </a:t>
            </a:r>
            <a:r>
              <a:rPr sz="2650" spc="-125" dirty="0">
                <a:latin typeface="Times New Roman" panose="02020603050405020304"/>
                <a:cs typeface="Times New Roman" panose="02020603050405020304"/>
              </a:rPr>
              <a:t>unique</a:t>
            </a:r>
            <a:r>
              <a:rPr sz="2650" spc="-55" dirty="0">
                <a:latin typeface="Times New Roman" panose="02020603050405020304"/>
                <a:cs typeface="Times New Roman" panose="02020603050405020304"/>
              </a:rPr>
              <a:t> id.</a:t>
            </a:r>
            <a:endParaRPr sz="2650">
              <a:latin typeface="Times New Roman" panose="02020603050405020304"/>
              <a:cs typeface="Times New Roman" panose="02020603050405020304"/>
            </a:endParaRPr>
          </a:p>
          <a:p>
            <a:pPr marL="615950" lvl="1" indent="-252095">
              <a:lnSpc>
                <a:spcPct val="100000"/>
              </a:lnSpc>
              <a:spcBef>
                <a:spcPts val="420"/>
              </a:spcBef>
              <a:buClr>
                <a:srgbClr val="9A2D1F"/>
              </a:buClr>
              <a:buSzPct val="85000"/>
              <a:buFont typeface="Webdings" panose="05030102010509060703"/>
              <a:buChar char=""/>
              <a:tabLst>
                <a:tab pos="616585" algn="l"/>
              </a:tabLst>
            </a:pPr>
            <a:r>
              <a:rPr sz="2650" spc="-140" dirty="0">
                <a:latin typeface="Times New Roman" panose="02020603050405020304"/>
                <a:cs typeface="Times New Roman" panose="02020603050405020304"/>
              </a:rPr>
              <a:t>Processes </a:t>
            </a:r>
            <a:r>
              <a:rPr sz="2650" spc="-165" dirty="0">
                <a:latin typeface="Times New Roman" panose="02020603050405020304"/>
                <a:cs typeface="Times New Roman" panose="02020603050405020304"/>
              </a:rPr>
              <a:t>can </a:t>
            </a:r>
            <a:r>
              <a:rPr sz="2650" spc="-135" dirty="0">
                <a:latin typeface="Times New Roman" panose="02020603050405020304"/>
                <a:cs typeface="Times New Roman" panose="02020603050405020304"/>
              </a:rPr>
              <a:t>communicate </a:t>
            </a:r>
            <a:r>
              <a:rPr sz="2650" spc="-155" dirty="0">
                <a:latin typeface="Times New Roman" panose="02020603050405020304"/>
                <a:cs typeface="Times New Roman" panose="02020603050405020304"/>
              </a:rPr>
              <a:t>only </a:t>
            </a:r>
            <a:r>
              <a:rPr sz="2650" spc="-165" dirty="0">
                <a:latin typeface="Times New Roman" panose="02020603050405020304"/>
                <a:cs typeface="Times New Roman" panose="02020603050405020304"/>
              </a:rPr>
              <a:t>if </a:t>
            </a:r>
            <a:r>
              <a:rPr sz="2650" spc="-130" dirty="0">
                <a:latin typeface="Times New Roman" panose="02020603050405020304"/>
                <a:cs typeface="Times New Roman" panose="02020603050405020304"/>
              </a:rPr>
              <a:t>they </a:t>
            </a:r>
            <a:r>
              <a:rPr sz="2650" spc="-145" dirty="0">
                <a:latin typeface="Times New Roman" panose="02020603050405020304"/>
                <a:cs typeface="Times New Roman" panose="02020603050405020304"/>
              </a:rPr>
              <a:t>share </a:t>
            </a:r>
            <a:r>
              <a:rPr sz="2650" spc="-215" dirty="0">
                <a:latin typeface="Times New Roman" panose="02020603050405020304"/>
                <a:cs typeface="Times New Roman" panose="02020603050405020304"/>
              </a:rPr>
              <a:t>a</a:t>
            </a:r>
            <a:r>
              <a:rPr sz="2650" spc="-50" dirty="0">
                <a:latin typeface="Times New Roman" panose="02020603050405020304"/>
                <a:cs typeface="Times New Roman" panose="02020603050405020304"/>
              </a:rPr>
              <a:t> </a:t>
            </a:r>
            <a:r>
              <a:rPr sz="2650" spc="-114" dirty="0">
                <a:latin typeface="Times New Roman" panose="02020603050405020304"/>
                <a:cs typeface="Times New Roman" panose="02020603050405020304"/>
              </a:rPr>
              <a:t>mailbox.</a:t>
            </a:r>
            <a:endParaRPr sz="2650">
              <a:latin typeface="Times New Roman" panose="02020603050405020304"/>
              <a:cs typeface="Times New Roman" panose="02020603050405020304"/>
            </a:endParaRPr>
          </a:p>
          <a:p>
            <a:pPr marL="312420" indent="-300355">
              <a:lnSpc>
                <a:spcPct val="100000"/>
              </a:lnSpc>
              <a:spcBef>
                <a:spcPts val="630"/>
              </a:spcBef>
              <a:buClr>
                <a:srgbClr val="D34816"/>
              </a:buClr>
              <a:buSzPct val="85000"/>
              <a:buFont typeface="Webdings" panose="05030102010509060703"/>
              <a:buChar char=""/>
              <a:tabLst>
                <a:tab pos="313055" algn="l"/>
              </a:tabLst>
            </a:pPr>
            <a:r>
              <a:rPr sz="3050" spc="-80" dirty="0">
                <a:latin typeface="Times New Roman" panose="02020603050405020304"/>
                <a:cs typeface="Times New Roman" panose="02020603050405020304"/>
              </a:rPr>
              <a:t>Properties </a:t>
            </a:r>
            <a:r>
              <a:rPr sz="3050" spc="-165" dirty="0">
                <a:latin typeface="Times New Roman" panose="02020603050405020304"/>
                <a:cs typeface="Times New Roman" panose="02020603050405020304"/>
              </a:rPr>
              <a:t>of </a:t>
            </a:r>
            <a:r>
              <a:rPr sz="3050" spc="-135" dirty="0">
                <a:latin typeface="Times New Roman" panose="02020603050405020304"/>
                <a:cs typeface="Times New Roman" panose="02020603050405020304"/>
              </a:rPr>
              <a:t>communication</a:t>
            </a:r>
            <a:r>
              <a:rPr sz="3050" spc="-20" dirty="0">
                <a:latin typeface="Times New Roman" panose="02020603050405020304"/>
                <a:cs typeface="Times New Roman" panose="02020603050405020304"/>
              </a:rPr>
              <a:t> </a:t>
            </a:r>
            <a:r>
              <a:rPr sz="3050" spc="-135" dirty="0">
                <a:latin typeface="Times New Roman" panose="02020603050405020304"/>
                <a:cs typeface="Times New Roman" panose="02020603050405020304"/>
              </a:rPr>
              <a:t>link</a:t>
            </a:r>
            <a:endParaRPr sz="3050">
              <a:latin typeface="Times New Roman" panose="02020603050405020304"/>
              <a:cs typeface="Times New Roman" panose="02020603050405020304"/>
            </a:endParaRPr>
          </a:p>
          <a:p>
            <a:pPr marL="615950" lvl="1" indent="-252095">
              <a:lnSpc>
                <a:spcPct val="100000"/>
              </a:lnSpc>
              <a:spcBef>
                <a:spcPts val="495"/>
              </a:spcBef>
              <a:buClr>
                <a:srgbClr val="9A2D1F"/>
              </a:buClr>
              <a:buSzPct val="85000"/>
              <a:buFont typeface="Webdings" panose="05030102010509060703"/>
              <a:buChar char=""/>
              <a:tabLst>
                <a:tab pos="616585" algn="l"/>
              </a:tabLst>
            </a:pPr>
            <a:r>
              <a:rPr sz="2650" spc="-180" dirty="0">
                <a:latin typeface="Times New Roman" panose="02020603050405020304"/>
                <a:cs typeface="Times New Roman" panose="02020603050405020304"/>
              </a:rPr>
              <a:t>Link</a:t>
            </a:r>
            <a:r>
              <a:rPr sz="2650" spc="-80" dirty="0">
                <a:latin typeface="Times New Roman" panose="02020603050405020304"/>
                <a:cs typeface="Times New Roman" panose="02020603050405020304"/>
              </a:rPr>
              <a:t> </a:t>
            </a:r>
            <a:r>
              <a:rPr sz="2650" spc="-145" dirty="0">
                <a:latin typeface="Times New Roman" panose="02020603050405020304"/>
                <a:cs typeface="Times New Roman" panose="02020603050405020304"/>
              </a:rPr>
              <a:t>established</a:t>
            </a:r>
            <a:r>
              <a:rPr sz="2650" spc="-75" dirty="0">
                <a:latin typeface="Times New Roman" panose="02020603050405020304"/>
                <a:cs typeface="Times New Roman" panose="02020603050405020304"/>
              </a:rPr>
              <a:t> </a:t>
            </a:r>
            <a:r>
              <a:rPr sz="2650" spc="-155" dirty="0">
                <a:latin typeface="Times New Roman" panose="02020603050405020304"/>
                <a:cs typeface="Times New Roman" panose="02020603050405020304"/>
              </a:rPr>
              <a:t>only</a:t>
            </a:r>
            <a:r>
              <a:rPr sz="2650" spc="-75" dirty="0">
                <a:latin typeface="Times New Roman" panose="02020603050405020304"/>
                <a:cs typeface="Times New Roman" panose="02020603050405020304"/>
              </a:rPr>
              <a:t> </a:t>
            </a:r>
            <a:r>
              <a:rPr sz="2650" spc="-165" dirty="0">
                <a:latin typeface="Times New Roman" panose="02020603050405020304"/>
                <a:cs typeface="Times New Roman" panose="02020603050405020304"/>
              </a:rPr>
              <a:t>if</a:t>
            </a:r>
            <a:r>
              <a:rPr sz="2650" spc="-80" dirty="0">
                <a:latin typeface="Times New Roman" panose="02020603050405020304"/>
                <a:cs typeface="Times New Roman" panose="02020603050405020304"/>
              </a:rPr>
              <a:t> </a:t>
            </a:r>
            <a:r>
              <a:rPr sz="2650" spc="-140" dirty="0">
                <a:latin typeface="Times New Roman" panose="02020603050405020304"/>
                <a:cs typeface="Times New Roman" panose="02020603050405020304"/>
              </a:rPr>
              <a:t>processes</a:t>
            </a:r>
            <a:r>
              <a:rPr sz="2650" spc="-85" dirty="0">
                <a:latin typeface="Times New Roman" panose="02020603050405020304"/>
                <a:cs typeface="Times New Roman" panose="02020603050405020304"/>
              </a:rPr>
              <a:t> </a:t>
            </a:r>
            <a:r>
              <a:rPr sz="2650" spc="-215" dirty="0">
                <a:latin typeface="Times New Roman" panose="02020603050405020304"/>
                <a:cs typeface="Times New Roman" panose="02020603050405020304"/>
              </a:rPr>
              <a:t>have</a:t>
            </a:r>
            <a:r>
              <a:rPr sz="2650" spc="-75" dirty="0">
                <a:latin typeface="Times New Roman" panose="02020603050405020304"/>
                <a:cs typeface="Times New Roman" panose="02020603050405020304"/>
              </a:rPr>
              <a:t> </a:t>
            </a:r>
            <a:r>
              <a:rPr sz="2650" spc="-215" dirty="0">
                <a:latin typeface="Times New Roman" panose="02020603050405020304"/>
                <a:cs typeface="Times New Roman" panose="02020603050405020304"/>
              </a:rPr>
              <a:t>a</a:t>
            </a:r>
            <a:r>
              <a:rPr sz="2650" spc="-65" dirty="0">
                <a:latin typeface="Times New Roman" panose="02020603050405020304"/>
                <a:cs typeface="Times New Roman" panose="02020603050405020304"/>
              </a:rPr>
              <a:t> </a:t>
            </a:r>
            <a:r>
              <a:rPr sz="2650" spc="-140" dirty="0">
                <a:latin typeface="Times New Roman" panose="02020603050405020304"/>
                <a:cs typeface="Times New Roman" panose="02020603050405020304"/>
              </a:rPr>
              <a:t>shared</a:t>
            </a:r>
            <a:r>
              <a:rPr sz="2650" spc="-45" dirty="0">
                <a:latin typeface="Times New Roman" panose="02020603050405020304"/>
                <a:cs typeface="Times New Roman" panose="02020603050405020304"/>
              </a:rPr>
              <a:t> </a:t>
            </a:r>
            <a:r>
              <a:rPr sz="2650" spc="-150" dirty="0">
                <a:latin typeface="Times New Roman" panose="02020603050405020304"/>
                <a:cs typeface="Times New Roman" panose="02020603050405020304"/>
              </a:rPr>
              <a:t>mailbox</a:t>
            </a:r>
            <a:endParaRPr sz="2650">
              <a:latin typeface="Times New Roman" panose="02020603050405020304"/>
              <a:cs typeface="Times New Roman" panose="02020603050405020304"/>
            </a:endParaRPr>
          </a:p>
          <a:p>
            <a:pPr marL="615950" lvl="1" indent="-252095">
              <a:lnSpc>
                <a:spcPct val="100000"/>
              </a:lnSpc>
              <a:spcBef>
                <a:spcPts val="435"/>
              </a:spcBef>
              <a:buClr>
                <a:srgbClr val="9A2D1F"/>
              </a:buClr>
              <a:buSzPct val="85000"/>
              <a:buFont typeface="Webdings" panose="05030102010509060703"/>
              <a:buChar char=""/>
              <a:tabLst>
                <a:tab pos="616585" algn="l"/>
              </a:tabLst>
            </a:pPr>
            <a:r>
              <a:rPr sz="2650" spc="-345" dirty="0">
                <a:latin typeface="Times New Roman" panose="02020603050405020304"/>
                <a:cs typeface="Times New Roman" panose="02020603050405020304"/>
              </a:rPr>
              <a:t>A </a:t>
            </a:r>
            <a:r>
              <a:rPr sz="2650" spc="-130" dirty="0">
                <a:latin typeface="Times New Roman" panose="02020603050405020304"/>
                <a:cs typeface="Times New Roman" panose="02020603050405020304"/>
              </a:rPr>
              <a:t>link </a:t>
            </a:r>
            <a:r>
              <a:rPr sz="2650" spc="-235" dirty="0">
                <a:latin typeface="Times New Roman" panose="02020603050405020304"/>
                <a:cs typeface="Times New Roman" panose="02020603050405020304"/>
              </a:rPr>
              <a:t>may </a:t>
            </a:r>
            <a:r>
              <a:rPr sz="2650" spc="-125" dirty="0">
                <a:latin typeface="Times New Roman" panose="02020603050405020304"/>
                <a:cs typeface="Times New Roman" panose="02020603050405020304"/>
              </a:rPr>
              <a:t>be </a:t>
            </a:r>
            <a:r>
              <a:rPr sz="2650" spc="-150" dirty="0">
                <a:latin typeface="Times New Roman" panose="02020603050405020304"/>
                <a:cs typeface="Times New Roman" panose="02020603050405020304"/>
              </a:rPr>
              <a:t>associated </a:t>
            </a:r>
            <a:r>
              <a:rPr sz="2650" spc="-110" dirty="0">
                <a:latin typeface="Times New Roman" panose="02020603050405020304"/>
                <a:cs typeface="Times New Roman" panose="02020603050405020304"/>
              </a:rPr>
              <a:t>with </a:t>
            </a:r>
            <a:r>
              <a:rPr sz="2650" spc="-195" dirty="0">
                <a:latin typeface="Times New Roman" panose="02020603050405020304"/>
                <a:cs typeface="Times New Roman" panose="02020603050405020304"/>
              </a:rPr>
              <a:t>many</a:t>
            </a:r>
            <a:r>
              <a:rPr sz="2650" spc="-210" dirty="0">
                <a:latin typeface="Times New Roman" panose="02020603050405020304"/>
                <a:cs typeface="Times New Roman" panose="02020603050405020304"/>
              </a:rPr>
              <a:t> </a:t>
            </a:r>
            <a:r>
              <a:rPr sz="2650" spc="-120" dirty="0">
                <a:latin typeface="Times New Roman" panose="02020603050405020304"/>
                <a:cs typeface="Times New Roman" panose="02020603050405020304"/>
              </a:rPr>
              <a:t>processes.</a:t>
            </a:r>
            <a:endParaRPr sz="2650">
              <a:latin typeface="Times New Roman" panose="02020603050405020304"/>
              <a:cs typeface="Times New Roman" panose="02020603050405020304"/>
            </a:endParaRPr>
          </a:p>
          <a:p>
            <a:pPr marL="615950" lvl="1" indent="-252095">
              <a:lnSpc>
                <a:spcPct val="100000"/>
              </a:lnSpc>
              <a:spcBef>
                <a:spcPts val="420"/>
              </a:spcBef>
              <a:buClr>
                <a:srgbClr val="9A2D1F"/>
              </a:buClr>
              <a:buSzPct val="85000"/>
              <a:buFont typeface="Webdings" panose="05030102010509060703"/>
              <a:buChar char=""/>
              <a:tabLst>
                <a:tab pos="616585" algn="l"/>
              </a:tabLst>
            </a:pPr>
            <a:r>
              <a:rPr sz="2650" spc="-195" dirty="0">
                <a:latin typeface="Times New Roman" panose="02020603050405020304"/>
                <a:cs typeface="Times New Roman" panose="02020603050405020304"/>
              </a:rPr>
              <a:t>Each </a:t>
            </a:r>
            <a:r>
              <a:rPr sz="2650" spc="-114" dirty="0">
                <a:latin typeface="Times New Roman" panose="02020603050405020304"/>
                <a:cs typeface="Times New Roman" panose="02020603050405020304"/>
              </a:rPr>
              <a:t>pair </a:t>
            </a:r>
            <a:r>
              <a:rPr sz="2650" spc="-155" dirty="0">
                <a:latin typeface="Times New Roman" panose="02020603050405020304"/>
                <a:cs typeface="Times New Roman" panose="02020603050405020304"/>
              </a:rPr>
              <a:t>of </a:t>
            </a:r>
            <a:r>
              <a:rPr sz="2650" spc="-140" dirty="0">
                <a:latin typeface="Times New Roman" panose="02020603050405020304"/>
                <a:cs typeface="Times New Roman" panose="02020603050405020304"/>
              </a:rPr>
              <a:t>processes </a:t>
            </a:r>
            <a:r>
              <a:rPr sz="2650" spc="-235" dirty="0">
                <a:latin typeface="Times New Roman" panose="02020603050405020304"/>
                <a:cs typeface="Times New Roman" panose="02020603050405020304"/>
              </a:rPr>
              <a:t>may </a:t>
            </a:r>
            <a:r>
              <a:rPr sz="2650" spc="-145" dirty="0">
                <a:latin typeface="Times New Roman" panose="02020603050405020304"/>
                <a:cs typeface="Times New Roman" panose="02020603050405020304"/>
              </a:rPr>
              <a:t>share </a:t>
            </a:r>
            <a:r>
              <a:rPr sz="2650" spc="-150" dirty="0">
                <a:latin typeface="Times New Roman" panose="02020603050405020304"/>
                <a:cs typeface="Times New Roman" panose="02020603050405020304"/>
              </a:rPr>
              <a:t>several </a:t>
            </a:r>
            <a:r>
              <a:rPr sz="2650" spc="-135" dirty="0">
                <a:latin typeface="Times New Roman" panose="02020603050405020304"/>
                <a:cs typeface="Times New Roman" panose="02020603050405020304"/>
              </a:rPr>
              <a:t>communication</a:t>
            </a:r>
            <a:r>
              <a:rPr sz="2650" spc="120" dirty="0">
                <a:latin typeface="Times New Roman" panose="02020603050405020304"/>
                <a:cs typeface="Times New Roman" panose="02020603050405020304"/>
              </a:rPr>
              <a:t> </a:t>
            </a:r>
            <a:r>
              <a:rPr sz="2650" spc="-114" dirty="0">
                <a:latin typeface="Times New Roman" panose="02020603050405020304"/>
                <a:cs typeface="Times New Roman" panose="02020603050405020304"/>
              </a:rPr>
              <a:t>links.</a:t>
            </a:r>
            <a:endParaRPr sz="2650">
              <a:latin typeface="Times New Roman" panose="02020603050405020304"/>
              <a:cs typeface="Times New Roman" panose="02020603050405020304"/>
            </a:endParaRPr>
          </a:p>
          <a:p>
            <a:pPr marL="615950" lvl="1" indent="-252095">
              <a:lnSpc>
                <a:spcPct val="100000"/>
              </a:lnSpc>
              <a:spcBef>
                <a:spcPts val="430"/>
              </a:spcBef>
              <a:buClr>
                <a:srgbClr val="9A2D1F"/>
              </a:buClr>
              <a:buSzPct val="85000"/>
              <a:buFont typeface="Webdings" panose="05030102010509060703"/>
              <a:buChar char=""/>
              <a:tabLst>
                <a:tab pos="616585" algn="l"/>
              </a:tabLst>
            </a:pPr>
            <a:r>
              <a:rPr sz="2650" spc="-180" dirty="0">
                <a:latin typeface="Times New Roman" panose="02020603050405020304"/>
                <a:cs typeface="Times New Roman" panose="02020603050405020304"/>
              </a:rPr>
              <a:t>Link </a:t>
            </a:r>
            <a:r>
              <a:rPr sz="2650" spc="-235" dirty="0">
                <a:latin typeface="Times New Roman" panose="02020603050405020304"/>
                <a:cs typeface="Times New Roman" panose="02020603050405020304"/>
              </a:rPr>
              <a:t>may </a:t>
            </a:r>
            <a:r>
              <a:rPr sz="2650" spc="-125" dirty="0">
                <a:latin typeface="Times New Roman" panose="02020603050405020304"/>
                <a:cs typeface="Times New Roman" panose="02020603050405020304"/>
              </a:rPr>
              <a:t>be </a:t>
            </a:r>
            <a:r>
              <a:rPr sz="2650" spc="-110" dirty="0">
                <a:latin typeface="Times New Roman" panose="02020603050405020304"/>
                <a:cs typeface="Times New Roman" panose="02020603050405020304"/>
              </a:rPr>
              <a:t>unidirectional </a:t>
            </a:r>
            <a:r>
              <a:rPr sz="2650" spc="-45" dirty="0">
                <a:latin typeface="Times New Roman" panose="02020603050405020304"/>
                <a:cs typeface="Times New Roman" panose="02020603050405020304"/>
              </a:rPr>
              <a:t>or</a:t>
            </a:r>
            <a:r>
              <a:rPr sz="2650" spc="-175" dirty="0">
                <a:latin typeface="Times New Roman" panose="02020603050405020304"/>
                <a:cs typeface="Times New Roman" panose="02020603050405020304"/>
              </a:rPr>
              <a:t> </a:t>
            </a:r>
            <a:r>
              <a:rPr sz="2650" spc="-95" dirty="0">
                <a:latin typeface="Times New Roman" panose="02020603050405020304"/>
                <a:cs typeface="Times New Roman" panose="02020603050405020304"/>
              </a:rPr>
              <a:t>bi-directional.</a:t>
            </a:r>
            <a:endParaRPr sz="26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p:nvPr/>
        </p:nvSpPr>
        <p:spPr>
          <a:xfrm>
            <a:off x="260604" y="7077995"/>
            <a:ext cx="304165" cy="247650"/>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z="1500" spc="110" dirty="0">
                <a:solidFill>
                  <a:srgbClr val="FFFFFF"/>
                </a:solidFill>
                <a:latin typeface="Trebuchet MS" panose="020B0603020202020204"/>
                <a:cs typeface="Trebuchet MS" panose="020B0603020202020204"/>
              </a:rPr>
            </a:fld>
            <a:endParaRPr sz="1500">
              <a:latin typeface="Trebuchet MS" panose="020B0603020202020204"/>
              <a:cs typeface="Trebuchet MS" panose="020B0603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872687"/>
            <a:ext cx="7366000" cy="696595"/>
          </a:xfrm>
          <a:prstGeom prst="rect">
            <a:avLst/>
          </a:prstGeom>
        </p:spPr>
        <p:txBody>
          <a:bodyPr vert="horz" wrap="square" lIns="0" tIns="12700" rIns="0" bIns="0" rtlCol="0">
            <a:spAutoFit/>
          </a:bodyPr>
          <a:lstStyle/>
          <a:p>
            <a:pPr marL="12700">
              <a:lnSpc>
                <a:spcPct val="100000"/>
              </a:lnSpc>
              <a:spcBef>
                <a:spcPts val="100"/>
              </a:spcBef>
            </a:pPr>
            <a:r>
              <a:rPr sz="4400" spc="-229" dirty="0"/>
              <a:t>Indirect </a:t>
            </a:r>
            <a:r>
              <a:rPr sz="4400" spc="-310" dirty="0"/>
              <a:t>Communication</a:t>
            </a:r>
            <a:r>
              <a:rPr sz="4400" spc="-150" dirty="0"/>
              <a:t> </a:t>
            </a:r>
            <a:r>
              <a:rPr sz="4400" spc="-265" dirty="0"/>
              <a:t>(Cont.)</a:t>
            </a:r>
            <a:endParaRPr sz="4400"/>
          </a:p>
        </p:txBody>
      </p:sp>
      <p:sp>
        <p:nvSpPr>
          <p:cNvPr id="3" name="object 3"/>
          <p:cNvSpPr txBox="1"/>
          <p:nvPr/>
        </p:nvSpPr>
        <p:spPr>
          <a:xfrm>
            <a:off x="1093655" y="1612312"/>
            <a:ext cx="7599680" cy="3423920"/>
          </a:xfrm>
          <a:prstGeom prst="rect">
            <a:avLst/>
          </a:prstGeom>
        </p:spPr>
        <p:txBody>
          <a:bodyPr vert="horz" wrap="square" lIns="0" tIns="92710" rIns="0" bIns="0" rtlCol="0">
            <a:spAutoFit/>
          </a:bodyPr>
          <a:lstStyle/>
          <a:p>
            <a:pPr marL="312420" indent="-300355">
              <a:lnSpc>
                <a:spcPct val="100000"/>
              </a:lnSpc>
              <a:spcBef>
                <a:spcPts val="730"/>
              </a:spcBef>
              <a:buClr>
                <a:srgbClr val="D34816"/>
              </a:buClr>
              <a:buSzPct val="85000"/>
              <a:buFont typeface="Webdings" panose="05030102010509060703"/>
              <a:buChar char=""/>
              <a:tabLst>
                <a:tab pos="313055" algn="l"/>
              </a:tabLst>
            </a:pPr>
            <a:r>
              <a:rPr sz="3050" spc="-95" dirty="0">
                <a:latin typeface="Times New Roman" panose="02020603050405020304"/>
                <a:cs typeface="Times New Roman" panose="02020603050405020304"/>
              </a:rPr>
              <a:t>Operations </a:t>
            </a:r>
            <a:r>
              <a:rPr sz="3050" spc="-130" dirty="0">
                <a:latin typeface="Times New Roman" panose="02020603050405020304"/>
                <a:cs typeface="Times New Roman" panose="02020603050405020304"/>
              </a:rPr>
              <a:t>provided </a:t>
            </a:r>
            <a:r>
              <a:rPr sz="3050" spc="-220" dirty="0">
                <a:latin typeface="Times New Roman" panose="02020603050405020304"/>
                <a:cs typeface="Times New Roman" panose="02020603050405020304"/>
              </a:rPr>
              <a:t>by </a:t>
            </a:r>
            <a:r>
              <a:rPr sz="3050" spc="-80" dirty="0">
                <a:latin typeface="Times New Roman" panose="02020603050405020304"/>
                <a:cs typeface="Times New Roman" panose="02020603050405020304"/>
              </a:rPr>
              <a:t>the</a:t>
            </a:r>
            <a:r>
              <a:rPr sz="3050" spc="80" dirty="0">
                <a:latin typeface="Times New Roman" panose="02020603050405020304"/>
                <a:cs typeface="Times New Roman" panose="02020603050405020304"/>
              </a:rPr>
              <a:t> </a:t>
            </a:r>
            <a:r>
              <a:rPr sz="3050" spc="-185" dirty="0">
                <a:latin typeface="Times New Roman" panose="02020603050405020304"/>
                <a:cs typeface="Times New Roman" panose="02020603050405020304"/>
              </a:rPr>
              <a:t>OS</a:t>
            </a:r>
            <a:endParaRPr sz="3050">
              <a:latin typeface="Times New Roman" panose="02020603050405020304"/>
              <a:cs typeface="Times New Roman" panose="02020603050405020304"/>
            </a:endParaRPr>
          </a:p>
          <a:p>
            <a:pPr marL="615950" lvl="1" indent="-252095">
              <a:lnSpc>
                <a:spcPct val="100000"/>
              </a:lnSpc>
              <a:spcBef>
                <a:spcPts val="505"/>
              </a:spcBef>
              <a:buClr>
                <a:srgbClr val="9A2D1F"/>
              </a:buClr>
              <a:buSzPct val="85000"/>
              <a:buFont typeface="Webdings" panose="05030102010509060703"/>
              <a:buChar char=""/>
              <a:tabLst>
                <a:tab pos="616585" algn="l"/>
              </a:tabLst>
            </a:pPr>
            <a:r>
              <a:rPr sz="2650" spc="-100" dirty="0">
                <a:solidFill>
                  <a:srgbClr val="FF0000"/>
                </a:solidFill>
                <a:latin typeface="Times New Roman" panose="02020603050405020304"/>
                <a:cs typeface="Times New Roman" panose="02020603050405020304"/>
              </a:rPr>
              <a:t>create </a:t>
            </a:r>
            <a:r>
              <a:rPr sz="2650" spc="-215" dirty="0">
                <a:latin typeface="Times New Roman" panose="02020603050405020304"/>
                <a:cs typeface="Times New Roman" panose="02020603050405020304"/>
              </a:rPr>
              <a:t>a </a:t>
            </a:r>
            <a:r>
              <a:rPr sz="2650" spc="-140" dirty="0">
                <a:latin typeface="Times New Roman" panose="02020603050405020304"/>
                <a:cs typeface="Times New Roman" panose="02020603050405020304"/>
              </a:rPr>
              <a:t>new</a:t>
            </a:r>
            <a:r>
              <a:rPr sz="2650" spc="100" dirty="0">
                <a:latin typeface="Times New Roman" panose="02020603050405020304"/>
                <a:cs typeface="Times New Roman" panose="02020603050405020304"/>
              </a:rPr>
              <a:t> </a:t>
            </a:r>
            <a:r>
              <a:rPr sz="2650" spc="-150" dirty="0">
                <a:solidFill>
                  <a:srgbClr val="FF0000"/>
                </a:solidFill>
                <a:latin typeface="Times New Roman" panose="02020603050405020304"/>
                <a:cs typeface="Times New Roman" panose="02020603050405020304"/>
              </a:rPr>
              <a:t>mailbox</a:t>
            </a:r>
            <a:endParaRPr sz="2650">
              <a:latin typeface="Times New Roman" panose="02020603050405020304"/>
              <a:cs typeface="Times New Roman" panose="02020603050405020304"/>
            </a:endParaRPr>
          </a:p>
          <a:p>
            <a:pPr marL="615950" lvl="1" indent="-252095">
              <a:lnSpc>
                <a:spcPct val="100000"/>
              </a:lnSpc>
              <a:spcBef>
                <a:spcPts val="420"/>
              </a:spcBef>
              <a:buClr>
                <a:srgbClr val="9A2D1F"/>
              </a:buClr>
              <a:buSzPct val="85000"/>
              <a:buFont typeface="Webdings" panose="05030102010509060703"/>
              <a:buChar char=""/>
              <a:tabLst>
                <a:tab pos="616585" algn="l"/>
              </a:tabLst>
            </a:pPr>
            <a:r>
              <a:rPr sz="2650" spc="-135" dirty="0">
                <a:latin typeface="Times New Roman" panose="02020603050405020304"/>
                <a:cs typeface="Times New Roman" panose="02020603050405020304"/>
              </a:rPr>
              <a:t>send </a:t>
            </a:r>
            <a:r>
              <a:rPr sz="2650" spc="-155" dirty="0">
                <a:latin typeface="Times New Roman" panose="02020603050405020304"/>
                <a:cs typeface="Times New Roman" panose="02020603050405020304"/>
              </a:rPr>
              <a:t>and </a:t>
            </a:r>
            <a:r>
              <a:rPr sz="2650" spc="-130" dirty="0">
                <a:latin typeface="Times New Roman" panose="02020603050405020304"/>
                <a:cs typeface="Times New Roman" panose="02020603050405020304"/>
              </a:rPr>
              <a:t>receive </a:t>
            </a:r>
            <a:r>
              <a:rPr sz="2650" spc="-180" dirty="0">
                <a:latin typeface="Times New Roman" panose="02020603050405020304"/>
                <a:cs typeface="Times New Roman" panose="02020603050405020304"/>
              </a:rPr>
              <a:t>messages </a:t>
            </a:r>
            <a:r>
              <a:rPr sz="2650" spc="-110" dirty="0">
                <a:latin typeface="Times New Roman" panose="02020603050405020304"/>
                <a:cs typeface="Times New Roman" panose="02020603050405020304"/>
              </a:rPr>
              <a:t>through</a:t>
            </a:r>
            <a:r>
              <a:rPr sz="2650" spc="204" dirty="0">
                <a:latin typeface="Times New Roman" panose="02020603050405020304"/>
                <a:cs typeface="Times New Roman" panose="02020603050405020304"/>
              </a:rPr>
              <a:t> </a:t>
            </a:r>
            <a:r>
              <a:rPr sz="2650" spc="-150" dirty="0">
                <a:latin typeface="Times New Roman" panose="02020603050405020304"/>
                <a:cs typeface="Times New Roman" panose="02020603050405020304"/>
              </a:rPr>
              <a:t>mailbox</a:t>
            </a:r>
            <a:endParaRPr sz="2650">
              <a:latin typeface="Times New Roman" panose="02020603050405020304"/>
              <a:cs typeface="Times New Roman" panose="02020603050405020304"/>
            </a:endParaRPr>
          </a:p>
          <a:p>
            <a:pPr marL="615950" lvl="1" indent="-252095">
              <a:lnSpc>
                <a:spcPct val="100000"/>
              </a:lnSpc>
              <a:spcBef>
                <a:spcPts val="435"/>
              </a:spcBef>
              <a:buClr>
                <a:srgbClr val="9A2D1F"/>
              </a:buClr>
              <a:buSzPct val="85000"/>
              <a:buFont typeface="Webdings" panose="05030102010509060703"/>
              <a:buChar char=""/>
              <a:tabLst>
                <a:tab pos="616585" algn="l"/>
              </a:tabLst>
            </a:pPr>
            <a:r>
              <a:rPr sz="2650" spc="-120" dirty="0">
                <a:latin typeface="Times New Roman" panose="02020603050405020304"/>
                <a:cs typeface="Times New Roman" panose="02020603050405020304"/>
              </a:rPr>
              <a:t>destroy </a:t>
            </a:r>
            <a:r>
              <a:rPr sz="2650" spc="-215" dirty="0">
                <a:latin typeface="Times New Roman" panose="02020603050405020304"/>
                <a:cs typeface="Times New Roman" panose="02020603050405020304"/>
              </a:rPr>
              <a:t>a</a:t>
            </a:r>
            <a:r>
              <a:rPr sz="2650" spc="-30" dirty="0">
                <a:latin typeface="Times New Roman" panose="02020603050405020304"/>
                <a:cs typeface="Times New Roman" panose="02020603050405020304"/>
              </a:rPr>
              <a:t> </a:t>
            </a:r>
            <a:r>
              <a:rPr sz="2650" spc="-150" dirty="0">
                <a:latin typeface="Times New Roman" panose="02020603050405020304"/>
                <a:cs typeface="Times New Roman" panose="02020603050405020304"/>
              </a:rPr>
              <a:t>mailbox</a:t>
            </a:r>
            <a:endParaRPr sz="2650">
              <a:latin typeface="Times New Roman" panose="02020603050405020304"/>
              <a:cs typeface="Times New Roman" panose="02020603050405020304"/>
            </a:endParaRPr>
          </a:p>
          <a:p>
            <a:pPr marL="312420" indent="-300355">
              <a:lnSpc>
                <a:spcPct val="100000"/>
              </a:lnSpc>
              <a:spcBef>
                <a:spcPts val="620"/>
              </a:spcBef>
              <a:buClr>
                <a:srgbClr val="D34816"/>
              </a:buClr>
              <a:buSzPct val="85000"/>
              <a:buFont typeface="Webdings" panose="05030102010509060703"/>
              <a:buChar char=""/>
              <a:tabLst>
                <a:tab pos="313055" algn="l"/>
              </a:tabLst>
            </a:pPr>
            <a:r>
              <a:rPr sz="3050" spc="-125" dirty="0">
                <a:latin typeface="Times New Roman" panose="02020603050405020304"/>
                <a:cs typeface="Times New Roman" panose="02020603050405020304"/>
              </a:rPr>
              <a:t>Primitives </a:t>
            </a:r>
            <a:r>
              <a:rPr sz="3050" spc="-120" dirty="0">
                <a:latin typeface="Times New Roman" panose="02020603050405020304"/>
                <a:cs typeface="Times New Roman" panose="02020603050405020304"/>
              </a:rPr>
              <a:t>are </a:t>
            </a:r>
            <a:r>
              <a:rPr sz="3050" spc="-130" dirty="0">
                <a:latin typeface="Times New Roman" panose="02020603050405020304"/>
                <a:cs typeface="Times New Roman" panose="02020603050405020304"/>
              </a:rPr>
              <a:t>defined</a:t>
            </a:r>
            <a:r>
              <a:rPr sz="3050" spc="-10" dirty="0">
                <a:latin typeface="Times New Roman" panose="02020603050405020304"/>
                <a:cs typeface="Times New Roman" panose="02020603050405020304"/>
              </a:rPr>
              <a:t> </a:t>
            </a:r>
            <a:r>
              <a:rPr sz="3050" spc="-135" dirty="0">
                <a:latin typeface="Times New Roman" panose="02020603050405020304"/>
                <a:cs typeface="Times New Roman" panose="02020603050405020304"/>
              </a:rPr>
              <a:t>as:</a:t>
            </a:r>
            <a:endParaRPr sz="3050">
              <a:latin typeface="Times New Roman" panose="02020603050405020304"/>
              <a:cs typeface="Times New Roman" panose="02020603050405020304"/>
            </a:endParaRPr>
          </a:p>
          <a:p>
            <a:pPr marL="615950" lvl="1" indent="-252095">
              <a:lnSpc>
                <a:spcPct val="100000"/>
              </a:lnSpc>
              <a:spcBef>
                <a:spcPts val="505"/>
              </a:spcBef>
              <a:buClr>
                <a:srgbClr val="9A2D1F"/>
              </a:buClr>
              <a:buSzPct val="85000"/>
              <a:buFont typeface="Webdings" panose="05030102010509060703"/>
              <a:buChar char=""/>
              <a:tabLst>
                <a:tab pos="616585" algn="l"/>
              </a:tabLst>
            </a:pPr>
            <a:r>
              <a:rPr sz="2650" b="1" spc="-125" dirty="0">
                <a:latin typeface="Trebuchet MS" panose="020B0603020202020204"/>
                <a:cs typeface="Trebuchet MS" panose="020B0603020202020204"/>
              </a:rPr>
              <a:t>send</a:t>
            </a:r>
            <a:r>
              <a:rPr sz="2650" spc="-125" dirty="0">
                <a:latin typeface="Times New Roman" panose="02020603050405020304"/>
                <a:cs typeface="Times New Roman" panose="02020603050405020304"/>
              </a:rPr>
              <a:t>(A, </a:t>
            </a:r>
            <a:r>
              <a:rPr sz="2650" spc="-165" dirty="0">
                <a:latin typeface="Times New Roman" panose="02020603050405020304"/>
                <a:cs typeface="Times New Roman" panose="02020603050405020304"/>
              </a:rPr>
              <a:t>message) </a:t>
            </a:r>
            <a:r>
              <a:rPr sz="2650" spc="-5" dirty="0">
                <a:latin typeface="Times New Roman" panose="02020603050405020304"/>
                <a:cs typeface="Times New Roman" panose="02020603050405020304"/>
              </a:rPr>
              <a:t>– </a:t>
            </a:r>
            <a:r>
              <a:rPr sz="2650" spc="-140" dirty="0">
                <a:latin typeface="Times New Roman" panose="02020603050405020304"/>
                <a:cs typeface="Times New Roman" panose="02020603050405020304"/>
              </a:rPr>
              <a:t>send </a:t>
            </a:r>
            <a:r>
              <a:rPr sz="2650" spc="-215" dirty="0">
                <a:latin typeface="Times New Roman" panose="02020603050405020304"/>
                <a:cs typeface="Times New Roman" panose="02020603050405020304"/>
              </a:rPr>
              <a:t>a </a:t>
            </a:r>
            <a:r>
              <a:rPr sz="2650" spc="-180" dirty="0">
                <a:latin typeface="Times New Roman" panose="02020603050405020304"/>
                <a:cs typeface="Times New Roman" panose="02020603050405020304"/>
              </a:rPr>
              <a:t>message </a:t>
            </a:r>
            <a:r>
              <a:rPr sz="2650" spc="-50" dirty="0">
                <a:latin typeface="Times New Roman" panose="02020603050405020304"/>
                <a:cs typeface="Times New Roman" panose="02020603050405020304"/>
              </a:rPr>
              <a:t>to </a:t>
            </a:r>
            <a:r>
              <a:rPr sz="2650" spc="-150" dirty="0">
                <a:latin typeface="Times New Roman" panose="02020603050405020304"/>
                <a:cs typeface="Times New Roman" panose="02020603050405020304"/>
              </a:rPr>
              <a:t>mailbox</a:t>
            </a:r>
            <a:r>
              <a:rPr sz="2650" spc="-60" dirty="0">
                <a:latin typeface="Times New Roman" panose="02020603050405020304"/>
                <a:cs typeface="Times New Roman" panose="02020603050405020304"/>
              </a:rPr>
              <a:t> </a:t>
            </a:r>
            <a:r>
              <a:rPr sz="2650" spc="-345" dirty="0">
                <a:latin typeface="Times New Roman" panose="02020603050405020304"/>
                <a:cs typeface="Times New Roman" panose="02020603050405020304"/>
              </a:rPr>
              <a:t>A</a:t>
            </a:r>
            <a:endParaRPr sz="2650">
              <a:latin typeface="Times New Roman" panose="02020603050405020304"/>
              <a:cs typeface="Times New Roman" panose="02020603050405020304"/>
            </a:endParaRPr>
          </a:p>
          <a:p>
            <a:pPr marL="615950" lvl="1" indent="-252095">
              <a:lnSpc>
                <a:spcPct val="100000"/>
              </a:lnSpc>
              <a:spcBef>
                <a:spcPts val="420"/>
              </a:spcBef>
              <a:buClr>
                <a:srgbClr val="9A2D1F"/>
              </a:buClr>
              <a:buSzPct val="85000"/>
              <a:buFont typeface="Webdings" panose="05030102010509060703"/>
              <a:buChar char=""/>
              <a:tabLst>
                <a:tab pos="616585" algn="l"/>
              </a:tabLst>
            </a:pPr>
            <a:r>
              <a:rPr sz="2650" b="1" spc="-155" dirty="0">
                <a:latin typeface="Trebuchet MS" panose="020B0603020202020204"/>
                <a:cs typeface="Trebuchet MS" panose="020B0603020202020204"/>
              </a:rPr>
              <a:t>receive</a:t>
            </a:r>
            <a:r>
              <a:rPr sz="2650" spc="-155" dirty="0">
                <a:latin typeface="Times New Roman" panose="02020603050405020304"/>
                <a:cs typeface="Times New Roman" panose="02020603050405020304"/>
              </a:rPr>
              <a:t>(A, </a:t>
            </a:r>
            <a:r>
              <a:rPr sz="2650" spc="-165" dirty="0">
                <a:latin typeface="Times New Roman" panose="02020603050405020304"/>
                <a:cs typeface="Times New Roman" panose="02020603050405020304"/>
              </a:rPr>
              <a:t>message) </a:t>
            </a:r>
            <a:r>
              <a:rPr sz="2650" spc="-5" dirty="0">
                <a:latin typeface="Times New Roman" panose="02020603050405020304"/>
                <a:cs typeface="Times New Roman" panose="02020603050405020304"/>
              </a:rPr>
              <a:t>– </a:t>
            </a:r>
            <a:r>
              <a:rPr sz="2650" spc="-130" dirty="0">
                <a:latin typeface="Times New Roman" panose="02020603050405020304"/>
                <a:cs typeface="Times New Roman" panose="02020603050405020304"/>
              </a:rPr>
              <a:t>receive </a:t>
            </a:r>
            <a:r>
              <a:rPr sz="2650" spc="-215" dirty="0">
                <a:latin typeface="Times New Roman" panose="02020603050405020304"/>
                <a:cs typeface="Times New Roman" panose="02020603050405020304"/>
              </a:rPr>
              <a:t>a </a:t>
            </a:r>
            <a:r>
              <a:rPr sz="2650" spc="-180" dirty="0">
                <a:latin typeface="Times New Roman" panose="02020603050405020304"/>
                <a:cs typeface="Times New Roman" panose="02020603050405020304"/>
              </a:rPr>
              <a:t>message </a:t>
            </a:r>
            <a:r>
              <a:rPr sz="2650" spc="-125" dirty="0">
                <a:latin typeface="Times New Roman" panose="02020603050405020304"/>
                <a:cs typeface="Times New Roman" panose="02020603050405020304"/>
              </a:rPr>
              <a:t>from </a:t>
            </a:r>
            <a:r>
              <a:rPr sz="2650" spc="-150" dirty="0">
                <a:latin typeface="Times New Roman" panose="02020603050405020304"/>
                <a:cs typeface="Times New Roman" panose="02020603050405020304"/>
              </a:rPr>
              <a:t>mailbox</a:t>
            </a:r>
            <a:r>
              <a:rPr sz="2650" spc="60" dirty="0">
                <a:latin typeface="Times New Roman" panose="02020603050405020304"/>
                <a:cs typeface="Times New Roman" panose="02020603050405020304"/>
              </a:rPr>
              <a:t> </a:t>
            </a:r>
            <a:r>
              <a:rPr sz="2650" spc="-345" dirty="0">
                <a:latin typeface="Times New Roman" panose="02020603050405020304"/>
                <a:cs typeface="Times New Roman" panose="02020603050405020304"/>
              </a:rPr>
              <a:t>A</a:t>
            </a:r>
            <a:endParaRPr sz="26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p:nvPr/>
        </p:nvSpPr>
        <p:spPr>
          <a:xfrm>
            <a:off x="260604" y="7077995"/>
            <a:ext cx="304165" cy="247650"/>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z="1500" spc="110" dirty="0">
                <a:solidFill>
                  <a:srgbClr val="FFFFFF"/>
                </a:solidFill>
                <a:latin typeface="Trebuchet MS" panose="020B0603020202020204"/>
                <a:cs typeface="Trebuchet MS" panose="020B0603020202020204"/>
              </a:rPr>
            </a:fld>
            <a:endParaRPr sz="1500">
              <a:latin typeface="Trebuchet MS" panose="020B0603020202020204"/>
              <a:cs typeface="Trebuchet MS" panose="020B0603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872687"/>
            <a:ext cx="7366000" cy="696595"/>
          </a:xfrm>
          <a:prstGeom prst="rect">
            <a:avLst/>
          </a:prstGeom>
        </p:spPr>
        <p:txBody>
          <a:bodyPr vert="horz" wrap="square" lIns="0" tIns="12700" rIns="0" bIns="0" rtlCol="0">
            <a:spAutoFit/>
          </a:bodyPr>
          <a:lstStyle/>
          <a:p>
            <a:pPr marL="12700">
              <a:lnSpc>
                <a:spcPct val="100000"/>
              </a:lnSpc>
              <a:spcBef>
                <a:spcPts val="100"/>
              </a:spcBef>
            </a:pPr>
            <a:r>
              <a:rPr sz="4400" spc="-229" dirty="0"/>
              <a:t>Indirect </a:t>
            </a:r>
            <a:r>
              <a:rPr sz="4400" spc="-310" dirty="0"/>
              <a:t>Communication</a:t>
            </a:r>
            <a:r>
              <a:rPr sz="4400" spc="-150" dirty="0"/>
              <a:t> </a:t>
            </a:r>
            <a:r>
              <a:rPr sz="4400" spc="-265" dirty="0"/>
              <a:t>(Cont.)</a:t>
            </a:r>
            <a:endParaRPr sz="4400"/>
          </a:p>
        </p:txBody>
      </p:sp>
      <p:sp>
        <p:nvSpPr>
          <p:cNvPr id="3" name="object 3"/>
          <p:cNvSpPr txBox="1"/>
          <p:nvPr/>
        </p:nvSpPr>
        <p:spPr>
          <a:xfrm>
            <a:off x="1093655" y="1612312"/>
            <a:ext cx="8361680" cy="4284980"/>
          </a:xfrm>
          <a:prstGeom prst="rect">
            <a:avLst/>
          </a:prstGeom>
        </p:spPr>
        <p:txBody>
          <a:bodyPr vert="horz" wrap="square" lIns="0" tIns="92710" rIns="0" bIns="0" rtlCol="0">
            <a:spAutoFit/>
          </a:bodyPr>
          <a:lstStyle/>
          <a:p>
            <a:pPr marL="312420" indent="-300355">
              <a:lnSpc>
                <a:spcPct val="100000"/>
              </a:lnSpc>
              <a:spcBef>
                <a:spcPts val="730"/>
              </a:spcBef>
              <a:buClr>
                <a:srgbClr val="D34816"/>
              </a:buClr>
              <a:buSzPct val="85000"/>
              <a:buFont typeface="Webdings" panose="05030102010509060703"/>
              <a:buChar char=""/>
              <a:tabLst>
                <a:tab pos="313055" algn="l"/>
              </a:tabLst>
            </a:pPr>
            <a:r>
              <a:rPr sz="3050" spc="-180" dirty="0">
                <a:latin typeface="Times New Roman" panose="02020603050405020304"/>
                <a:cs typeface="Times New Roman" panose="02020603050405020304"/>
              </a:rPr>
              <a:t>Mailbox</a:t>
            </a:r>
            <a:r>
              <a:rPr sz="3050" spc="-85" dirty="0">
                <a:latin typeface="Times New Roman" panose="02020603050405020304"/>
                <a:cs typeface="Times New Roman" panose="02020603050405020304"/>
              </a:rPr>
              <a:t> </a:t>
            </a:r>
            <a:r>
              <a:rPr sz="3050" spc="-145" dirty="0">
                <a:latin typeface="Times New Roman" panose="02020603050405020304"/>
                <a:cs typeface="Times New Roman" panose="02020603050405020304"/>
              </a:rPr>
              <a:t>sharing</a:t>
            </a:r>
            <a:endParaRPr sz="3050">
              <a:latin typeface="Times New Roman" panose="02020603050405020304"/>
              <a:cs typeface="Times New Roman" panose="02020603050405020304"/>
            </a:endParaRPr>
          </a:p>
          <a:p>
            <a:pPr marL="615950" lvl="1" indent="-252095">
              <a:lnSpc>
                <a:spcPct val="100000"/>
              </a:lnSpc>
              <a:spcBef>
                <a:spcPts val="505"/>
              </a:spcBef>
              <a:buClr>
                <a:srgbClr val="9A2D1F"/>
              </a:buClr>
              <a:buSzPct val="85000"/>
              <a:buFont typeface="Webdings" panose="05030102010509060703"/>
              <a:buChar char=""/>
              <a:tabLst>
                <a:tab pos="616585" algn="l"/>
              </a:tabLst>
            </a:pPr>
            <a:r>
              <a:rPr sz="2650" spc="-55" dirty="0">
                <a:latin typeface="Times New Roman" panose="02020603050405020304"/>
                <a:cs typeface="Times New Roman" panose="02020603050405020304"/>
              </a:rPr>
              <a:t>P1, P2, </a:t>
            </a:r>
            <a:r>
              <a:rPr sz="2650" spc="-155" dirty="0">
                <a:latin typeface="Times New Roman" panose="02020603050405020304"/>
                <a:cs typeface="Times New Roman" panose="02020603050405020304"/>
              </a:rPr>
              <a:t>and </a:t>
            </a:r>
            <a:r>
              <a:rPr sz="2650" spc="-135" dirty="0">
                <a:latin typeface="Times New Roman" panose="02020603050405020304"/>
                <a:cs typeface="Times New Roman" panose="02020603050405020304"/>
              </a:rPr>
              <a:t>P3 </a:t>
            </a:r>
            <a:r>
              <a:rPr sz="2650" spc="-145" dirty="0">
                <a:latin typeface="Times New Roman" panose="02020603050405020304"/>
                <a:cs typeface="Times New Roman" panose="02020603050405020304"/>
              </a:rPr>
              <a:t>share </a:t>
            </a:r>
            <a:r>
              <a:rPr sz="2650" spc="-150" dirty="0">
                <a:latin typeface="Times New Roman" panose="02020603050405020304"/>
                <a:cs typeface="Times New Roman" panose="02020603050405020304"/>
              </a:rPr>
              <a:t>mailbox</a:t>
            </a:r>
            <a:r>
              <a:rPr sz="2650" spc="-295" dirty="0">
                <a:latin typeface="Times New Roman" panose="02020603050405020304"/>
                <a:cs typeface="Times New Roman" panose="02020603050405020304"/>
              </a:rPr>
              <a:t> </a:t>
            </a:r>
            <a:r>
              <a:rPr sz="2650" spc="-130" dirty="0">
                <a:latin typeface="Times New Roman" panose="02020603050405020304"/>
                <a:cs typeface="Times New Roman" panose="02020603050405020304"/>
              </a:rPr>
              <a:t>A.</a:t>
            </a:r>
            <a:endParaRPr sz="2650">
              <a:latin typeface="Times New Roman" panose="02020603050405020304"/>
              <a:cs typeface="Times New Roman" panose="02020603050405020304"/>
            </a:endParaRPr>
          </a:p>
          <a:p>
            <a:pPr marL="615950" lvl="1" indent="-252095">
              <a:lnSpc>
                <a:spcPct val="100000"/>
              </a:lnSpc>
              <a:spcBef>
                <a:spcPts val="420"/>
              </a:spcBef>
              <a:buClr>
                <a:srgbClr val="9A2D1F"/>
              </a:buClr>
              <a:buSzPct val="85000"/>
              <a:buFont typeface="Webdings" panose="05030102010509060703"/>
              <a:buChar char=""/>
              <a:tabLst>
                <a:tab pos="616585" algn="l"/>
              </a:tabLst>
            </a:pPr>
            <a:r>
              <a:rPr sz="2650" spc="-55" dirty="0">
                <a:latin typeface="Times New Roman" panose="02020603050405020304"/>
                <a:cs typeface="Times New Roman" panose="02020603050405020304"/>
              </a:rPr>
              <a:t>P1, </a:t>
            </a:r>
            <a:r>
              <a:rPr sz="2650" spc="-120" dirty="0">
                <a:latin typeface="Times New Roman" panose="02020603050405020304"/>
                <a:cs typeface="Times New Roman" panose="02020603050405020304"/>
              </a:rPr>
              <a:t>sends; </a:t>
            </a:r>
            <a:r>
              <a:rPr sz="2650" spc="-135" dirty="0">
                <a:latin typeface="Times New Roman" panose="02020603050405020304"/>
                <a:cs typeface="Times New Roman" panose="02020603050405020304"/>
              </a:rPr>
              <a:t>P2 </a:t>
            </a:r>
            <a:r>
              <a:rPr sz="2650" spc="-155" dirty="0">
                <a:latin typeface="Times New Roman" panose="02020603050405020304"/>
                <a:cs typeface="Times New Roman" panose="02020603050405020304"/>
              </a:rPr>
              <a:t>and </a:t>
            </a:r>
            <a:r>
              <a:rPr sz="2650" spc="-135" dirty="0">
                <a:latin typeface="Times New Roman" panose="02020603050405020304"/>
                <a:cs typeface="Times New Roman" panose="02020603050405020304"/>
              </a:rPr>
              <a:t>P3</a:t>
            </a:r>
            <a:r>
              <a:rPr sz="2650" spc="-114" dirty="0">
                <a:latin typeface="Times New Roman" panose="02020603050405020304"/>
                <a:cs typeface="Times New Roman" panose="02020603050405020304"/>
              </a:rPr>
              <a:t> </a:t>
            </a:r>
            <a:r>
              <a:rPr sz="2650" spc="-110" dirty="0">
                <a:latin typeface="Times New Roman" panose="02020603050405020304"/>
                <a:cs typeface="Times New Roman" panose="02020603050405020304"/>
              </a:rPr>
              <a:t>receive.</a:t>
            </a:r>
            <a:endParaRPr sz="2650">
              <a:latin typeface="Times New Roman" panose="02020603050405020304"/>
              <a:cs typeface="Times New Roman" panose="02020603050405020304"/>
            </a:endParaRPr>
          </a:p>
          <a:p>
            <a:pPr marL="615950" lvl="1" indent="-252095">
              <a:lnSpc>
                <a:spcPct val="100000"/>
              </a:lnSpc>
              <a:spcBef>
                <a:spcPts val="435"/>
              </a:spcBef>
              <a:buClr>
                <a:srgbClr val="9A2D1F"/>
              </a:buClr>
              <a:buSzPct val="85000"/>
              <a:buFont typeface="Webdings" panose="05030102010509060703"/>
              <a:buChar char=""/>
              <a:tabLst>
                <a:tab pos="616585" algn="l"/>
              </a:tabLst>
            </a:pPr>
            <a:r>
              <a:rPr sz="2650" spc="-130" dirty="0">
                <a:latin typeface="Times New Roman" panose="02020603050405020304"/>
                <a:cs typeface="Times New Roman" panose="02020603050405020304"/>
              </a:rPr>
              <a:t>Who gets </a:t>
            </a:r>
            <a:r>
              <a:rPr sz="2650" spc="-95" dirty="0">
                <a:latin typeface="Times New Roman" panose="02020603050405020304"/>
                <a:cs typeface="Times New Roman" panose="02020603050405020304"/>
              </a:rPr>
              <a:t>the</a:t>
            </a:r>
            <a:r>
              <a:rPr sz="2650" spc="95" dirty="0">
                <a:latin typeface="Times New Roman" panose="02020603050405020304"/>
                <a:cs typeface="Times New Roman" panose="02020603050405020304"/>
              </a:rPr>
              <a:t> </a:t>
            </a:r>
            <a:r>
              <a:rPr sz="2650" spc="-204" dirty="0">
                <a:latin typeface="Times New Roman" panose="02020603050405020304"/>
                <a:cs typeface="Times New Roman" panose="02020603050405020304"/>
              </a:rPr>
              <a:t>message?</a:t>
            </a:r>
            <a:endParaRPr sz="2650">
              <a:latin typeface="Times New Roman" panose="02020603050405020304"/>
              <a:cs typeface="Times New Roman" panose="02020603050405020304"/>
            </a:endParaRPr>
          </a:p>
          <a:p>
            <a:pPr marL="312420" indent="-300355">
              <a:lnSpc>
                <a:spcPct val="100000"/>
              </a:lnSpc>
              <a:spcBef>
                <a:spcPts val="620"/>
              </a:spcBef>
              <a:buClr>
                <a:srgbClr val="D34816"/>
              </a:buClr>
              <a:buSzPct val="85000"/>
              <a:buFont typeface="Webdings" panose="05030102010509060703"/>
              <a:buChar char=""/>
              <a:tabLst>
                <a:tab pos="313055" algn="l"/>
              </a:tabLst>
            </a:pPr>
            <a:r>
              <a:rPr sz="3050" spc="-145" dirty="0">
                <a:latin typeface="Times New Roman" panose="02020603050405020304"/>
                <a:cs typeface="Times New Roman" panose="02020603050405020304"/>
              </a:rPr>
              <a:t>Solutions</a:t>
            </a:r>
            <a:endParaRPr sz="3050">
              <a:latin typeface="Times New Roman" panose="02020603050405020304"/>
              <a:cs typeface="Times New Roman" panose="02020603050405020304"/>
            </a:endParaRPr>
          </a:p>
          <a:p>
            <a:pPr marL="615950" lvl="1" indent="-252095">
              <a:lnSpc>
                <a:spcPct val="100000"/>
              </a:lnSpc>
              <a:spcBef>
                <a:spcPts val="505"/>
              </a:spcBef>
              <a:buClr>
                <a:srgbClr val="9A2D1F"/>
              </a:buClr>
              <a:buSzPct val="85000"/>
              <a:buFont typeface="Webdings" panose="05030102010509060703"/>
              <a:buChar char=""/>
              <a:tabLst>
                <a:tab pos="616585" algn="l"/>
              </a:tabLst>
            </a:pPr>
            <a:r>
              <a:rPr sz="2650" spc="-185" dirty="0">
                <a:latin typeface="Times New Roman" panose="02020603050405020304"/>
                <a:cs typeface="Times New Roman" panose="02020603050405020304"/>
              </a:rPr>
              <a:t>Allow </a:t>
            </a:r>
            <a:r>
              <a:rPr sz="2650" spc="-215" dirty="0">
                <a:latin typeface="Times New Roman" panose="02020603050405020304"/>
                <a:cs typeface="Times New Roman" panose="02020603050405020304"/>
              </a:rPr>
              <a:t>a </a:t>
            </a:r>
            <a:r>
              <a:rPr sz="2650" spc="-130" dirty="0">
                <a:latin typeface="Times New Roman" panose="02020603050405020304"/>
                <a:cs typeface="Times New Roman" panose="02020603050405020304"/>
              </a:rPr>
              <a:t>link </a:t>
            </a:r>
            <a:r>
              <a:rPr sz="2650" spc="-50" dirty="0">
                <a:latin typeface="Times New Roman" panose="02020603050405020304"/>
                <a:cs typeface="Times New Roman" panose="02020603050405020304"/>
              </a:rPr>
              <a:t>to </a:t>
            </a:r>
            <a:r>
              <a:rPr sz="2650" spc="-125" dirty="0">
                <a:latin typeface="Times New Roman" panose="02020603050405020304"/>
                <a:cs typeface="Times New Roman" panose="02020603050405020304"/>
              </a:rPr>
              <a:t>be </a:t>
            </a:r>
            <a:r>
              <a:rPr sz="2650" spc="-150" dirty="0">
                <a:latin typeface="Times New Roman" panose="02020603050405020304"/>
                <a:cs typeface="Times New Roman" panose="02020603050405020304"/>
              </a:rPr>
              <a:t>associated </a:t>
            </a:r>
            <a:r>
              <a:rPr sz="2650" spc="-114" dirty="0">
                <a:latin typeface="Times New Roman" panose="02020603050405020304"/>
                <a:cs typeface="Times New Roman" panose="02020603050405020304"/>
              </a:rPr>
              <a:t>with at most two</a:t>
            </a:r>
            <a:r>
              <a:rPr sz="2650" spc="-65" dirty="0">
                <a:latin typeface="Times New Roman" panose="02020603050405020304"/>
                <a:cs typeface="Times New Roman" panose="02020603050405020304"/>
              </a:rPr>
              <a:t> </a:t>
            </a:r>
            <a:r>
              <a:rPr sz="2650" spc="-120" dirty="0">
                <a:latin typeface="Times New Roman" panose="02020603050405020304"/>
                <a:cs typeface="Times New Roman" panose="02020603050405020304"/>
              </a:rPr>
              <a:t>processes.</a:t>
            </a:r>
            <a:endParaRPr sz="2650">
              <a:latin typeface="Times New Roman" panose="02020603050405020304"/>
              <a:cs typeface="Times New Roman" panose="02020603050405020304"/>
            </a:endParaRPr>
          </a:p>
          <a:p>
            <a:pPr marL="615950" lvl="1" indent="-252095">
              <a:lnSpc>
                <a:spcPct val="100000"/>
              </a:lnSpc>
              <a:spcBef>
                <a:spcPts val="420"/>
              </a:spcBef>
              <a:buClr>
                <a:srgbClr val="9A2D1F"/>
              </a:buClr>
              <a:buSzPct val="85000"/>
              <a:buFont typeface="Webdings" panose="05030102010509060703"/>
              <a:buChar char=""/>
              <a:tabLst>
                <a:tab pos="616585" algn="l"/>
              </a:tabLst>
            </a:pPr>
            <a:r>
              <a:rPr sz="2650" spc="-185" dirty="0">
                <a:latin typeface="Times New Roman" panose="02020603050405020304"/>
                <a:cs typeface="Times New Roman" panose="02020603050405020304"/>
              </a:rPr>
              <a:t>Allow </a:t>
            </a:r>
            <a:r>
              <a:rPr sz="2650" spc="-155" dirty="0">
                <a:latin typeface="Times New Roman" panose="02020603050405020304"/>
                <a:cs typeface="Times New Roman" panose="02020603050405020304"/>
              </a:rPr>
              <a:t>only </a:t>
            </a:r>
            <a:r>
              <a:rPr sz="2650" spc="-110" dirty="0">
                <a:latin typeface="Times New Roman" panose="02020603050405020304"/>
                <a:cs typeface="Times New Roman" panose="02020603050405020304"/>
              </a:rPr>
              <a:t>one </a:t>
            </a:r>
            <a:r>
              <a:rPr sz="2650" spc="-130" dirty="0">
                <a:latin typeface="Times New Roman" panose="02020603050405020304"/>
                <a:cs typeface="Times New Roman" panose="02020603050405020304"/>
              </a:rPr>
              <a:t>process </a:t>
            </a:r>
            <a:r>
              <a:rPr sz="2650" spc="-114" dirty="0">
                <a:latin typeface="Times New Roman" panose="02020603050405020304"/>
                <a:cs typeface="Times New Roman" panose="02020603050405020304"/>
              </a:rPr>
              <a:t>at </a:t>
            </a:r>
            <a:r>
              <a:rPr sz="2650" spc="-215" dirty="0">
                <a:latin typeface="Times New Roman" panose="02020603050405020304"/>
                <a:cs typeface="Times New Roman" panose="02020603050405020304"/>
              </a:rPr>
              <a:t>a </a:t>
            </a:r>
            <a:r>
              <a:rPr sz="2650" spc="-100" dirty="0">
                <a:latin typeface="Times New Roman" panose="02020603050405020304"/>
                <a:cs typeface="Times New Roman" panose="02020603050405020304"/>
              </a:rPr>
              <a:t>time </a:t>
            </a:r>
            <a:r>
              <a:rPr sz="2650" spc="-50" dirty="0">
                <a:latin typeface="Times New Roman" panose="02020603050405020304"/>
                <a:cs typeface="Times New Roman" panose="02020603050405020304"/>
              </a:rPr>
              <a:t>to </a:t>
            </a:r>
            <a:r>
              <a:rPr sz="2650" spc="-105" dirty="0">
                <a:latin typeface="Times New Roman" panose="02020603050405020304"/>
                <a:cs typeface="Times New Roman" panose="02020603050405020304"/>
              </a:rPr>
              <a:t>execute </a:t>
            </a:r>
            <a:r>
              <a:rPr sz="2650" spc="-215" dirty="0">
                <a:latin typeface="Times New Roman" panose="02020603050405020304"/>
                <a:cs typeface="Times New Roman" panose="02020603050405020304"/>
              </a:rPr>
              <a:t>a</a:t>
            </a:r>
            <a:r>
              <a:rPr sz="2650" spc="50" dirty="0">
                <a:latin typeface="Times New Roman" panose="02020603050405020304"/>
                <a:cs typeface="Times New Roman" panose="02020603050405020304"/>
              </a:rPr>
              <a:t> </a:t>
            </a:r>
            <a:r>
              <a:rPr sz="2650" spc="-130" dirty="0">
                <a:latin typeface="Times New Roman" panose="02020603050405020304"/>
                <a:cs typeface="Times New Roman" panose="02020603050405020304"/>
              </a:rPr>
              <a:t>receive </a:t>
            </a:r>
            <a:r>
              <a:rPr sz="2650" spc="-80" dirty="0">
                <a:latin typeface="Times New Roman" panose="02020603050405020304"/>
                <a:cs typeface="Times New Roman" panose="02020603050405020304"/>
              </a:rPr>
              <a:t>operation.</a:t>
            </a:r>
            <a:endParaRPr sz="2650">
              <a:latin typeface="Times New Roman" panose="02020603050405020304"/>
              <a:cs typeface="Times New Roman" panose="02020603050405020304"/>
            </a:endParaRPr>
          </a:p>
          <a:p>
            <a:pPr marL="615950" marR="557530" lvl="1" indent="-252095">
              <a:lnSpc>
                <a:spcPts val="3170"/>
              </a:lnSpc>
              <a:spcBef>
                <a:spcPts val="550"/>
              </a:spcBef>
              <a:buClr>
                <a:srgbClr val="9A2D1F"/>
              </a:buClr>
              <a:buSzPct val="85000"/>
              <a:buFont typeface="Webdings" panose="05030102010509060703"/>
              <a:buChar char=""/>
              <a:tabLst>
                <a:tab pos="616585" algn="l"/>
              </a:tabLst>
            </a:pPr>
            <a:r>
              <a:rPr sz="2650" spc="-185" dirty="0">
                <a:latin typeface="Times New Roman" panose="02020603050405020304"/>
                <a:cs typeface="Times New Roman" panose="02020603050405020304"/>
              </a:rPr>
              <a:t>Allow </a:t>
            </a:r>
            <a:r>
              <a:rPr sz="2650" spc="-85" dirty="0">
                <a:latin typeface="Times New Roman" panose="02020603050405020304"/>
                <a:cs typeface="Times New Roman" panose="02020603050405020304"/>
              </a:rPr>
              <a:t>the </a:t>
            </a:r>
            <a:r>
              <a:rPr sz="2650" spc="-150" dirty="0">
                <a:latin typeface="Times New Roman" panose="02020603050405020304"/>
                <a:cs typeface="Times New Roman" panose="02020603050405020304"/>
              </a:rPr>
              <a:t>system </a:t>
            </a:r>
            <a:r>
              <a:rPr sz="2650" spc="-50" dirty="0">
                <a:latin typeface="Times New Roman" panose="02020603050405020304"/>
                <a:cs typeface="Times New Roman" panose="02020603050405020304"/>
              </a:rPr>
              <a:t>to </a:t>
            </a:r>
            <a:r>
              <a:rPr sz="2650" spc="-110" dirty="0">
                <a:latin typeface="Times New Roman" panose="02020603050405020304"/>
                <a:cs typeface="Times New Roman" panose="02020603050405020304"/>
              </a:rPr>
              <a:t>select </a:t>
            </a:r>
            <a:r>
              <a:rPr sz="2650" spc="-100" dirty="0">
                <a:latin typeface="Times New Roman" panose="02020603050405020304"/>
                <a:cs typeface="Times New Roman" panose="02020603050405020304"/>
              </a:rPr>
              <a:t>arbitrarily </a:t>
            </a:r>
            <a:r>
              <a:rPr sz="2650" spc="-85" dirty="0">
                <a:latin typeface="Times New Roman" panose="02020603050405020304"/>
                <a:cs typeface="Times New Roman" panose="02020603050405020304"/>
              </a:rPr>
              <a:t>the </a:t>
            </a:r>
            <a:r>
              <a:rPr sz="2650" spc="-114" dirty="0">
                <a:latin typeface="Times New Roman" panose="02020603050405020304"/>
                <a:cs typeface="Times New Roman" panose="02020603050405020304"/>
              </a:rPr>
              <a:t>receiver. </a:t>
            </a:r>
            <a:r>
              <a:rPr sz="2650" spc="-135" dirty="0">
                <a:latin typeface="Times New Roman" panose="02020603050405020304"/>
                <a:cs typeface="Times New Roman" panose="02020603050405020304"/>
              </a:rPr>
              <a:t>Sender </a:t>
            </a:r>
            <a:r>
              <a:rPr sz="2650" spc="-185" dirty="0">
                <a:latin typeface="Times New Roman" panose="02020603050405020304"/>
                <a:cs typeface="Times New Roman" panose="02020603050405020304"/>
              </a:rPr>
              <a:t>is  </a:t>
            </a:r>
            <a:r>
              <a:rPr sz="2650" spc="-114" dirty="0">
                <a:latin typeface="Times New Roman" panose="02020603050405020304"/>
                <a:cs typeface="Times New Roman" panose="02020603050405020304"/>
              </a:rPr>
              <a:t>notified </a:t>
            </a:r>
            <a:r>
              <a:rPr sz="2650" spc="-145" dirty="0">
                <a:latin typeface="Times New Roman" panose="02020603050405020304"/>
                <a:cs typeface="Times New Roman" panose="02020603050405020304"/>
              </a:rPr>
              <a:t>who </a:t>
            </a:r>
            <a:r>
              <a:rPr sz="2650" spc="-85" dirty="0">
                <a:latin typeface="Times New Roman" panose="02020603050405020304"/>
                <a:cs typeface="Times New Roman" panose="02020603050405020304"/>
              </a:rPr>
              <a:t>the </a:t>
            </a:r>
            <a:r>
              <a:rPr sz="2650" spc="-110" dirty="0">
                <a:latin typeface="Times New Roman" panose="02020603050405020304"/>
                <a:cs typeface="Times New Roman" panose="02020603050405020304"/>
              </a:rPr>
              <a:t>receiver</a:t>
            </a:r>
            <a:r>
              <a:rPr sz="2650" spc="10" dirty="0">
                <a:latin typeface="Times New Roman" panose="02020603050405020304"/>
                <a:cs typeface="Times New Roman" panose="02020603050405020304"/>
              </a:rPr>
              <a:t> </a:t>
            </a:r>
            <a:r>
              <a:rPr sz="2650" spc="-135" dirty="0">
                <a:latin typeface="Times New Roman" panose="02020603050405020304"/>
                <a:cs typeface="Times New Roman" panose="02020603050405020304"/>
              </a:rPr>
              <a:t>was.</a:t>
            </a:r>
            <a:endParaRPr sz="26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p:nvPr/>
        </p:nvSpPr>
        <p:spPr>
          <a:xfrm>
            <a:off x="260604" y="7077995"/>
            <a:ext cx="304165" cy="247650"/>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z="1500" spc="110" dirty="0">
                <a:solidFill>
                  <a:srgbClr val="FFFFFF"/>
                </a:solidFill>
                <a:latin typeface="Trebuchet MS" panose="020B0603020202020204"/>
                <a:cs typeface="Trebuchet MS" panose="020B0603020202020204"/>
              </a:rPr>
            </a:fld>
            <a:endParaRPr sz="1500">
              <a:latin typeface="Trebuchet MS" panose="020B0603020202020204"/>
              <a:cs typeface="Trebuchet MS" panose="020B0603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392579"/>
            <a:ext cx="3774440" cy="696595"/>
          </a:xfrm>
          <a:prstGeom prst="rect">
            <a:avLst/>
          </a:prstGeom>
        </p:spPr>
        <p:txBody>
          <a:bodyPr vert="horz" wrap="square" lIns="0" tIns="12700" rIns="0" bIns="0" rtlCol="0">
            <a:spAutoFit/>
          </a:bodyPr>
          <a:lstStyle/>
          <a:p>
            <a:pPr marL="12700">
              <a:lnSpc>
                <a:spcPct val="100000"/>
              </a:lnSpc>
              <a:spcBef>
                <a:spcPts val="100"/>
              </a:spcBef>
            </a:pPr>
            <a:r>
              <a:rPr sz="4400" spc="-320" dirty="0"/>
              <a:t>Synchronization</a:t>
            </a:r>
            <a:endParaRPr sz="4400"/>
          </a:p>
        </p:txBody>
      </p:sp>
      <p:sp>
        <p:nvSpPr>
          <p:cNvPr id="3" name="object 3"/>
          <p:cNvSpPr txBox="1"/>
          <p:nvPr/>
        </p:nvSpPr>
        <p:spPr>
          <a:xfrm>
            <a:off x="1076946" y="1328869"/>
            <a:ext cx="7415530" cy="4259580"/>
          </a:xfrm>
          <a:prstGeom prst="rect">
            <a:avLst/>
          </a:prstGeom>
        </p:spPr>
        <p:txBody>
          <a:bodyPr vert="horz" wrap="square" lIns="0" tIns="100330" rIns="0" bIns="0" rtlCol="0">
            <a:spAutoFit/>
          </a:bodyPr>
          <a:lstStyle/>
          <a:p>
            <a:pPr marL="312420" indent="-300355">
              <a:lnSpc>
                <a:spcPct val="100000"/>
              </a:lnSpc>
              <a:spcBef>
                <a:spcPts val="790"/>
              </a:spcBef>
              <a:buClr>
                <a:srgbClr val="D34816"/>
              </a:buClr>
              <a:buSzPct val="85000"/>
              <a:buFont typeface="Webdings" panose="05030102010509060703"/>
              <a:buChar char=""/>
              <a:tabLst>
                <a:tab pos="313055" algn="l"/>
              </a:tabLst>
            </a:pPr>
            <a:r>
              <a:rPr sz="3050" spc="-215" dirty="0">
                <a:latin typeface="Times New Roman" panose="02020603050405020304"/>
                <a:cs typeface="Times New Roman" panose="02020603050405020304"/>
              </a:rPr>
              <a:t>Message </a:t>
            </a:r>
            <a:r>
              <a:rPr sz="3050" spc="-185" dirty="0">
                <a:latin typeface="Times New Roman" panose="02020603050405020304"/>
                <a:cs typeface="Times New Roman" panose="02020603050405020304"/>
              </a:rPr>
              <a:t>passing </a:t>
            </a:r>
            <a:r>
              <a:rPr sz="3050" spc="-165" dirty="0">
                <a:latin typeface="Times New Roman" panose="02020603050405020304"/>
                <a:cs typeface="Times New Roman" panose="02020603050405020304"/>
              </a:rPr>
              <a:t>can </a:t>
            </a:r>
            <a:r>
              <a:rPr sz="3050" spc="-140" dirty="0">
                <a:latin typeface="Times New Roman" panose="02020603050405020304"/>
                <a:cs typeface="Times New Roman" panose="02020603050405020304"/>
              </a:rPr>
              <a:t>be </a:t>
            </a:r>
            <a:r>
              <a:rPr sz="3050" spc="-150" dirty="0">
                <a:latin typeface="Times New Roman" panose="02020603050405020304"/>
                <a:cs typeface="Times New Roman" panose="02020603050405020304"/>
              </a:rPr>
              <a:t>blocking </a:t>
            </a:r>
            <a:r>
              <a:rPr sz="3050" spc="-35" dirty="0">
                <a:latin typeface="Times New Roman" panose="02020603050405020304"/>
                <a:cs typeface="Times New Roman" panose="02020603050405020304"/>
              </a:rPr>
              <a:t>or</a:t>
            </a:r>
            <a:r>
              <a:rPr sz="3050" spc="335" dirty="0">
                <a:latin typeface="Times New Roman" panose="02020603050405020304"/>
                <a:cs typeface="Times New Roman" panose="02020603050405020304"/>
              </a:rPr>
              <a:t> </a:t>
            </a:r>
            <a:r>
              <a:rPr sz="3050" spc="-135" dirty="0">
                <a:latin typeface="Times New Roman" panose="02020603050405020304"/>
                <a:cs typeface="Times New Roman" panose="02020603050405020304"/>
              </a:rPr>
              <a:t>non-blocking</a:t>
            </a:r>
            <a:endParaRPr sz="3050">
              <a:latin typeface="Times New Roman" panose="02020603050405020304"/>
              <a:cs typeface="Times New Roman" panose="02020603050405020304"/>
            </a:endParaRPr>
          </a:p>
          <a:p>
            <a:pPr marL="312420" indent="-300355">
              <a:lnSpc>
                <a:spcPct val="100000"/>
              </a:lnSpc>
              <a:spcBef>
                <a:spcPts val="695"/>
              </a:spcBef>
              <a:buClr>
                <a:srgbClr val="D34816"/>
              </a:buClr>
              <a:buSzPct val="85000"/>
              <a:buFont typeface="Webdings" panose="05030102010509060703"/>
              <a:buChar char=""/>
              <a:tabLst>
                <a:tab pos="313055" algn="l"/>
              </a:tabLst>
            </a:pPr>
            <a:r>
              <a:rPr sz="3050" spc="-140" dirty="0">
                <a:latin typeface="Times New Roman" panose="02020603050405020304"/>
                <a:cs typeface="Times New Roman" panose="02020603050405020304"/>
              </a:rPr>
              <a:t>Four </a:t>
            </a:r>
            <a:r>
              <a:rPr sz="3050" spc="-125" dirty="0">
                <a:latin typeface="Times New Roman" panose="02020603050405020304"/>
                <a:cs typeface="Times New Roman" panose="02020603050405020304"/>
              </a:rPr>
              <a:t>types </a:t>
            </a:r>
            <a:r>
              <a:rPr sz="3050" spc="-165" dirty="0">
                <a:latin typeface="Times New Roman" panose="02020603050405020304"/>
                <a:cs typeface="Times New Roman" panose="02020603050405020304"/>
              </a:rPr>
              <a:t>of</a:t>
            </a:r>
            <a:r>
              <a:rPr sz="3050" spc="-15" dirty="0">
                <a:latin typeface="Times New Roman" panose="02020603050405020304"/>
                <a:cs typeface="Times New Roman" panose="02020603050405020304"/>
              </a:rPr>
              <a:t> </a:t>
            </a:r>
            <a:r>
              <a:rPr sz="3050" spc="-140" dirty="0">
                <a:latin typeface="Times New Roman" panose="02020603050405020304"/>
                <a:cs typeface="Times New Roman" panose="02020603050405020304"/>
              </a:rPr>
              <a:t>synchronization</a:t>
            </a:r>
            <a:endParaRPr sz="3050">
              <a:latin typeface="Times New Roman" panose="02020603050405020304"/>
              <a:cs typeface="Times New Roman" panose="02020603050405020304"/>
            </a:endParaRPr>
          </a:p>
          <a:p>
            <a:pPr marL="615950" lvl="1" indent="-252095">
              <a:lnSpc>
                <a:spcPct val="100000"/>
              </a:lnSpc>
              <a:spcBef>
                <a:spcPts val="270"/>
              </a:spcBef>
              <a:buClr>
                <a:srgbClr val="9A2D1F"/>
              </a:buClr>
              <a:buSzPct val="85000"/>
              <a:buFont typeface="Webdings" panose="05030102010509060703"/>
              <a:buChar char=""/>
              <a:tabLst>
                <a:tab pos="616585" algn="l"/>
              </a:tabLst>
            </a:pPr>
            <a:r>
              <a:rPr sz="2650" spc="-175" dirty="0">
                <a:latin typeface="Times New Roman" panose="02020603050405020304"/>
                <a:cs typeface="Times New Roman" panose="02020603050405020304"/>
              </a:rPr>
              <a:t>Blocking</a:t>
            </a:r>
            <a:r>
              <a:rPr sz="2650" spc="-80" dirty="0">
                <a:latin typeface="Times New Roman" panose="02020603050405020304"/>
                <a:cs typeface="Times New Roman" panose="02020603050405020304"/>
              </a:rPr>
              <a:t> </a:t>
            </a:r>
            <a:r>
              <a:rPr sz="2650" spc="-110" dirty="0">
                <a:latin typeface="Times New Roman" panose="02020603050405020304"/>
                <a:cs typeface="Times New Roman" panose="02020603050405020304"/>
              </a:rPr>
              <a:t>send:</a:t>
            </a:r>
            <a:endParaRPr sz="2650">
              <a:latin typeface="Times New Roman" panose="02020603050405020304"/>
              <a:cs typeface="Times New Roman" panose="02020603050405020304"/>
            </a:endParaRPr>
          </a:p>
          <a:p>
            <a:pPr marL="917575" lvl="2" indent="-252095">
              <a:lnSpc>
                <a:spcPct val="100000"/>
              </a:lnSpc>
              <a:spcBef>
                <a:spcPts val="220"/>
              </a:spcBef>
              <a:buClr>
                <a:srgbClr val="E6B1AA"/>
              </a:buClr>
              <a:buSzPct val="84000"/>
              <a:buFont typeface="Webdings" panose="05030102010509060703"/>
              <a:buChar char=""/>
              <a:tabLst>
                <a:tab pos="918210" algn="l"/>
              </a:tabLst>
            </a:pPr>
            <a:r>
              <a:rPr sz="2200" spc="-90" dirty="0">
                <a:latin typeface="Times New Roman" panose="02020603050405020304"/>
                <a:cs typeface="Times New Roman" panose="02020603050405020304"/>
              </a:rPr>
              <a:t>sender </a:t>
            </a:r>
            <a:r>
              <a:rPr sz="2200" spc="-114" dirty="0">
                <a:latin typeface="Times New Roman" panose="02020603050405020304"/>
                <a:cs typeface="Times New Roman" panose="02020603050405020304"/>
              </a:rPr>
              <a:t>blocked </a:t>
            </a:r>
            <a:r>
              <a:rPr sz="2200" spc="-75" dirty="0">
                <a:latin typeface="Times New Roman" panose="02020603050405020304"/>
                <a:cs typeface="Times New Roman" panose="02020603050405020304"/>
              </a:rPr>
              <a:t>until </a:t>
            </a:r>
            <a:r>
              <a:rPr sz="2200" spc="-150" dirty="0">
                <a:latin typeface="Times New Roman" panose="02020603050405020304"/>
                <a:cs typeface="Times New Roman" panose="02020603050405020304"/>
              </a:rPr>
              <a:t>message </a:t>
            </a:r>
            <a:r>
              <a:rPr sz="2200" spc="-110" dirty="0">
                <a:latin typeface="Times New Roman" panose="02020603050405020304"/>
                <a:cs typeface="Times New Roman" panose="02020603050405020304"/>
              </a:rPr>
              <a:t>received </a:t>
            </a:r>
            <a:r>
              <a:rPr sz="2200" spc="-175" dirty="0">
                <a:latin typeface="Times New Roman" panose="02020603050405020304"/>
                <a:cs typeface="Times New Roman" panose="02020603050405020304"/>
              </a:rPr>
              <a:t>by </a:t>
            </a:r>
            <a:r>
              <a:rPr sz="2200" spc="-125" dirty="0">
                <a:latin typeface="Times New Roman" panose="02020603050405020304"/>
                <a:cs typeface="Times New Roman" panose="02020603050405020304"/>
              </a:rPr>
              <a:t>mailbox </a:t>
            </a:r>
            <a:r>
              <a:rPr sz="2200" spc="-40" dirty="0">
                <a:latin typeface="Times New Roman" panose="02020603050405020304"/>
                <a:cs typeface="Times New Roman" panose="02020603050405020304"/>
              </a:rPr>
              <a:t>or</a:t>
            </a:r>
            <a:r>
              <a:rPr sz="2200" spc="105" dirty="0">
                <a:latin typeface="Times New Roman" panose="02020603050405020304"/>
                <a:cs typeface="Times New Roman" panose="02020603050405020304"/>
              </a:rPr>
              <a:t> </a:t>
            </a:r>
            <a:r>
              <a:rPr sz="2200" spc="-110" dirty="0">
                <a:latin typeface="Times New Roman" panose="02020603050405020304"/>
                <a:cs typeface="Times New Roman" panose="02020603050405020304"/>
              </a:rPr>
              <a:t>process</a:t>
            </a:r>
            <a:endParaRPr sz="2200">
              <a:latin typeface="Times New Roman" panose="02020603050405020304"/>
              <a:cs typeface="Times New Roman" panose="02020603050405020304"/>
            </a:endParaRPr>
          </a:p>
          <a:p>
            <a:pPr marL="615950" lvl="1" indent="-252095">
              <a:lnSpc>
                <a:spcPct val="100000"/>
              </a:lnSpc>
              <a:spcBef>
                <a:spcPts val="65"/>
              </a:spcBef>
              <a:buClr>
                <a:srgbClr val="9A2D1F"/>
              </a:buClr>
              <a:buSzPct val="85000"/>
              <a:buFont typeface="Webdings" panose="05030102010509060703"/>
              <a:buChar char=""/>
              <a:tabLst>
                <a:tab pos="616585" algn="l"/>
              </a:tabLst>
            </a:pPr>
            <a:r>
              <a:rPr sz="2650" spc="-140" dirty="0">
                <a:latin typeface="Times New Roman" panose="02020603050405020304"/>
                <a:cs typeface="Times New Roman" panose="02020603050405020304"/>
              </a:rPr>
              <a:t>Nonblocking</a:t>
            </a:r>
            <a:r>
              <a:rPr sz="2650" spc="-80" dirty="0">
                <a:latin typeface="Times New Roman" panose="02020603050405020304"/>
                <a:cs typeface="Times New Roman" panose="02020603050405020304"/>
              </a:rPr>
              <a:t> </a:t>
            </a:r>
            <a:r>
              <a:rPr sz="2650" spc="-110" dirty="0">
                <a:latin typeface="Times New Roman" panose="02020603050405020304"/>
                <a:cs typeface="Times New Roman" panose="02020603050405020304"/>
              </a:rPr>
              <a:t>send:</a:t>
            </a:r>
            <a:endParaRPr sz="2650">
              <a:latin typeface="Times New Roman" panose="02020603050405020304"/>
              <a:cs typeface="Times New Roman" panose="02020603050405020304"/>
            </a:endParaRPr>
          </a:p>
          <a:p>
            <a:pPr marL="917575" lvl="2" indent="-252095">
              <a:lnSpc>
                <a:spcPct val="100000"/>
              </a:lnSpc>
              <a:spcBef>
                <a:spcPts val="225"/>
              </a:spcBef>
              <a:buClr>
                <a:srgbClr val="E6B1AA"/>
              </a:buClr>
              <a:buSzPct val="84000"/>
              <a:buFont typeface="Webdings" panose="05030102010509060703"/>
              <a:buChar char=""/>
              <a:tabLst>
                <a:tab pos="918210" algn="l"/>
              </a:tabLst>
            </a:pPr>
            <a:r>
              <a:rPr sz="2200" spc="-90" dirty="0">
                <a:latin typeface="Times New Roman" panose="02020603050405020304"/>
                <a:cs typeface="Times New Roman" panose="02020603050405020304"/>
              </a:rPr>
              <a:t>sender </a:t>
            </a:r>
            <a:r>
              <a:rPr sz="2200" spc="-110" dirty="0">
                <a:latin typeface="Times New Roman" panose="02020603050405020304"/>
                <a:cs typeface="Times New Roman" panose="02020603050405020304"/>
              </a:rPr>
              <a:t>resumes </a:t>
            </a:r>
            <a:r>
              <a:rPr sz="2200" spc="-85" dirty="0">
                <a:latin typeface="Times New Roman" panose="02020603050405020304"/>
                <a:cs typeface="Times New Roman" panose="02020603050405020304"/>
              </a:rPr>
              <a:t>operation </a:t>
            </a:r>
            <a:r>
              <a:rPr sz="2200" spc="-114" dirty="0">
                <a:latin typeface="Times New Roman" panose="02020603050405020304"/>
                <a:cs typeface="Times New Roman" panose="02020603050405020304"/>
              </a:rPr>
              <a:t>immediately </a:t>
            </a:r>
            <a:r>
              <a:rPr sz="2200" spc="-80" dirty="0">
                <a:latin typeface="Times New Roman" panose="02020603050405020304"/>
                <a:cs typeface="Times New Roman" panose="02020603050405020304"/>
              </a:rPr>
              <a:t>after</a:t>
            </a:r>
            <a:r>
              <a:rPr sz="2200" spc="150" dirty="0">
                <a:latin typeface="Times New Roman" panose="02020603050405020304"/>
                <a:cs typeface="Times New Roman" panose="02020603050405020304"/>
              </a:rPr>
              <a:t> </a:t>
            </a:r>
            <a:r>
              <a:rPr sz="2200" spc="-120" dirty="0">
                <a:latin typeface="Times New Roman" panose="02020603050405020304"/>
                <a:cs typeface="Times New Roman" panose="02020603050405020304"/>
              </a:rPr>
              <a:t>sending</a:t>
            </a:r>
            <a:endParaRPr sz="2200">
              <a:latin typeface="Times New Roman" panose="02020603050405020304"/>
              <a:cs typeface="Times New Roman" panose="02020603050405020304"/>
            </a:endParaRPr>
          </a:p>
          <a:p>
            <a:pPr marL="615950" lvl="1" indent="-252095">
              <a:lnSpc>
                <a:spcPct val="100000"/>
              </a:lnSpc>
              <a:spcBef>
                <a:spcPts val="65"/>
              </a:spcBef>
              <a:buClr>
                <a:srgbClr val="9A2D1F"/>
              </a:buClr>
              <a:buSzPct val="85000"/>
              <a:buFont typeface="Webdings" panose="05030102010509060703"/>
              <a:buChar char=""/>
              <a:tabLst>
                <a:tab pos="616585" algn="l"/>
              </a:tabLst>
            </a:pPr>
            <a:r>
              <a:rPr sz="2650" spc="-175" dirty="0">
                <a:latin typeface="Times New Roman" panose="02020603050405020304"/>
                <a:cs typeface="Times New Roman" panose="02020603050405020304"/>
              </a:rPr>
              <a:t>Blocking</a:t>
            </a:r>
            <a:r>
              <a:rPr sz="2650" spc="-80" dirty="0">
                <a:latin typeface="Times New Roman" panose="02020603050405020304"/>
                <a:cs typeface="Times New Roman" panose="02020603050405020304"/>
              </a:rPr>
              <a:t> </a:t>
            </a:r>
            <a:r>
              <a:rPr sz="2650" spc="-110" dirty="0">
                <a:latin typeface="Times New Roman" panose="02020603050405020304"/>
                <a:cs typeface="Times New Roman" panose="02020603050405020304"/>
              </a:rPr>
              <a:t>receive:</a:t>
            </a:r>
            <a:endParaRPr sz="2650">
              <a:latin typeface="Times New Roman" panose="02020603050405020304"/>
              <a:cs typeface="Times New Roman" panose="02020603050405020304"/>
            </a:endParaRPr>
          </a:p>
          <a:p>
            <a:pPr marL="917575" lvl="2" indent="-252095">
              <a:lnSpc>
                <a:spcPct val="100000"/>
              </a:lnSpc>
              <a:spcBef>
                <a:spcPts val="220"/>
              </a:spcBef>
              <a:buClr>
                <a:srgbClr val="E6B1AA"/>
              </a:buClr>
              <a:buSzPct val="84000"/>
              <a:buFont typeface="Webdings" panose="05030102010509060703"/>
              <a:buChar char=""/>
              <a:tabLst>
                <a:tab pos="918210" algn="l"/>
              </a:tabLst>
            </a:pPr>
            <a:r>
              <a:rPr sz="2200" spc="-95" dirty="0">
                <a:latin typeface="Times New Roman" panose="02020603050405020304"/>
                <a:cs typeface="Times New Roman" panose="02020603050405020304"/>
              </a:rPr>
              <a:t>receiver </a:t>
            </a:r>
            <a:r>
              <a:rPr sz="2200" spc="-125" dirty="0">
                <a:latin typeface="Times New Roman" panose="02020603050405020304"/>
                <a:cs typeface="Times New Roman" panose="02020603050405020304"/>
              </a:rPr>
              <a:t>blocks </a:t>
            </a:r>
            <a:r>
              <a:rPr sz="2200" spc="-75" dirty="0">
                <a:latin typeface="Times New Roman" panose="02020603050405020304"/>
                <a:cs typeface="Times New Roman" panose="02020603050405020304"/>
              </a:rPr>
              <a:t>until </a:t>
            </a:r>
            <a:r>
              <a:rPr sz="2200" spc="-175" dirty="0">
                <a:latin typeface="Times New Roman" panose="02020603050405020304"/>
                <a:cs typeface="Times New Roman" panose="02020603050405020304"/>
              </a:rPr>
              <a:t>a </a:t>
            </a:r>
            <a:r>
              <a:rPr sz="2200" spc="-150" dirty="0">
                <a:latin typeface="Times New Roman" panose="02020603050405020304"/>
                <a:cs typeface="Times New Roman" panose="02020603050405020304"/>
              </a:rPr>
              <a:t>message </a:t>
            </a:r>
            <a:r>
              <a:rPr sz="2200" spc="-140" dirty="0">
                <a:latin typeface="Times New Roman" panose="02020603050405020304"/>
                <a:cs typeface="Times New Roman" panose="02020603050405020304"/>
              </a:rPr>
              <a:t>is</a:t>
            </a:r>
            <a:r>
              <a:rPr sz="2200" spc="-60" dirty="0">
                <a:latin typeface="Times New Roman" panose="02020603050405020304"/>
                <a:cs typeface="Times New Roman" panose="02020603050405020304"/>
              </a:rPr>
              <a:t> </a:t>
            </a:r>
            <a:r>
              <a:rPr sz="2200" spc="-150" dirty="0">
                <a:latin typeface="Times New Roman" panose="02020603050405020304"/>
                <a:cs typeface="Times New Roman" panose="02020603050405020304"/>
              </a:rPr>
              <a:t>available</a:t>
            </a:r>
            <a:endParaRPr sz="2200">
              <a:latin typeface="Times New Roman" panose="02020603050405020304"/>
              <a:cs typeface="Times New Roman" panose="02020603050405020304"/>
            </a:endParaRPr>
          </a:p>
          <a:p>
            <a:pPr marL="615950" lvl="1" indent="-252095">
              <a:lnSpc>
                <a:spcPct val="100000"/>
              </a:lnSpc>
              <a:spcBef>
                <a:spcPts val="70"/>
              </a:spcBef>
              <a:buClr>
                <a:srgbClr val="9A2D1F"/>
              </a:buClr>
              <a:buSzPct val="85000"/>
              <a:buFont typeface="Webdings" panose="05030102010509060703"/>
              <a:buChar char=""/>
              <a:tabLst>
                <a:tab pos="616585" algn="l"/>
              </a:tabLst>
            </a:pPr>
            <a:r>
              <a:rPr sz="2650" spc="-140" dirty="0">
                <a:latin typeface="Times New Roman" panose="02020603050405020304"/>
                <a:cs typeface="Times New Roman" panose="02020603050405020304"/>
              </a:rPr>
              <a:t>Nonblocking</a:t>
            </a:r>
            <a:r>
              <a:rPr sz="2650" spc="-80" dirty="0">
                <a:latin typeface="Times New Roman" panose="02020603050405020304"/>
                <a:cs typeface="Times New Roman" panose="02020603050405020304"/>
              </a:rPr>
              <a:t> </a:t>
            </a:r>
            <a:r>
              <a:rPr sz="2650" spc="-110" dirty="0">
                <a:latin typeface="Times New Roman" panose="02020603050405020304"/>
                <a:cs typeface="Times New Roman" panose="02020603050405020304"/>
              </a:rPr>
              <a:t>receive:</a:t>
            </a:r>
            <a:endParaRPr sz="2650">
              <a:latin typeface="Times New Roman" panose="02020603050405020304"/>
              <a:cs typeface="Times New Roman" panose="02020603050405020304"/>
            </a:endParaRPr>
          </a:p>
          <a:p>
            <a:pPr marL="917575" lvl="2" indent="-252095">
              <a:lnSpc>
                <a:spcPct val="100000"/>
              </a:lnSpc>
              <a:spcBef>
                <a:spcPts val="220"/>
              </a:spcBef>
              <a:buClr>
                <a:srgbClr val="E6B1AA"/>
              </a:buClr>
              <a:buSzPct val="84000"/>
              <a:buFont typeface="Webdings" panose="05030102010509060703"/>
              <a:buChar char=""/>
              <a:tabLst>
                <a:tab pos="918210" algn="l"/>
              </a:tabLst>
            </a:pPr>
            <a:r>
              <a:rPr sz="2200" spc="-95" dirty="0">
                <a:latin typeface="Times New Roman" panose="02020603050405020304"/>
                <a:cs typeface="Times New Roman" panose="02020603050405020304"/>
              </a:rPr>
              <a:t>receiver </a:t>
            </a:r>
            <a:r>
              <a:rPr sz="2200" spc="-50" dirty="0">
                <a:latin typeface="Times New Roman" panose="02020603050405020304"/>
                <a:cs typeface="Times New Roman" panose="02020603050405020304"/>
              </a:rPr>
              <a:t>returns </a:t>
            </a:r>
            <a:r>
              <a:rPr sz="2200" spc="-114" dirty="0">
                <a:latin typeface="Times New Roman" panose="02020603050405020304"/>
                <a:cs typeface="Times New Roman" panose="02020603050405020304"/>
              </a:rPr>
              <a:t>immediately </a:t>
            </a:r>
            <a:r>
              <a:rPr sz="2200" spc="-90" dirty="0">
                <a:latin typeface="Times New Roman" panose="02020603050405020304"/>
                <a:cs typeface="Times New Roman" panose="02020603050405020304"/>
              </a:rPr>
              <a:t>with </a:t>
            </a:r>
            <a:r>
              <a:rPr sz="2200" spc="-65" dirty="0">
                <a:latin typeface="Times New Roman" panose="02020603050405020304"/>
                <a:cs typeface="Times New Roman" panose="02020603050405020304"/>
              </a:rPr>
              <a:t>either </a:t>
            </a:r>
            <a:r>
              <a:rPr sz="2200" spc="-175" dirty="0">
                <a:latin typeface="Times New Roman" panose="02020603050405020304"/>
                <a:cs typeface="Times New Roman" panose="02020603050405020304"/>
              </a:rPr>
              <a:t>a </a:t>
            </a:r>
            <a:r>
              <a:rPr sz="2200" spc="-145" dirty="0">
                <a:latin typeface="Times New Roman" panose="02020603050405020304"/>
                <a:cs typeface="Times New Roman" panose="02020603050405020304"/>
              </a:rPr>
              <a:t>valid </a:t>
            </a:r>
            <a:r>
              <a:rPr sz="2200" spc="-40" dirty="0">
                <a:latin typeface="Times New Roman" panose="02020603050405020304"/>
                <a:cs typeface="Times New Roman" panose="02020603050405020304"/>
              </a:rPr>
              <a:t>or</a:t>
            </a:r>
            <a:r>
              <a:rPr sz="2200" spc="434" dirty="0">
                <a:latin typeface="Times New Roman" panose="02020603050405020304"/>
                <a:cs typeface="Times New Roman" panose="02020603050405020304"/>
              </a:rPr>
              <a:t> </a:t>
            </a:r>
            <a:r>
              <a:rPr sz="2200" spc="-95" dirty="0">
                <a:latin typeface="Times New Roman" panose="02020603050405020304"/>
                <a:cs typeface="Times New Roman" panose="02020603050405020304"/>
              </a:rPr>
              <a:t>null </a:t>
            </a:r>
            <a:r>
              <a:rPr sz="2200" spc="-125" dirty="0">
                <a:latin typeface="Times New Roman" panose="02020603050405020304"/>
                <a:cs typeface="Times New Roman" panose="02020603050405020304"/>
              </a:rPr>
              <a:t>message.</a:t>
            </a:r>
            <a:endParaRPr sz="220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p:nvPr/>
        </p:nvSpPr>
        <p:spPr>
          <a:xfrm>
            <a:off x="284479" y="7077995"/>
            <a:ext cx="255270" cy="247015"/>
          </a:xfrm>
          <a:prstGeom prst="rect">
            <a:avLst/>
          </a:prstGeom>
        </p:spPr>
        <p:txBody>
          <a:bodyPr vert="horz" wrap="square" lIns="0" tIns="635" rIns="0" bIns="0" rtlCol="0">
            <a:spAutoFit/>
          </a:bodyPr>
          <a:lstStyle/>
          <a:p>
            <a:pPr marL="12700">
              <a:lnSpc>
                <a:spcPct val="100000"/>
              </a:lnSpc>
              <a:spcBef>
                <a:spcPts val="5"/>
              </a:spcBef>
            </a:pPr>
            <a:r>
              <a:rPr sz="1500" spc="114" dirty="0">
                <a:solidFill>
                  <a:srgbClr val="FFFFFF"/>
                </a:solidFill>
                <a:latin typeface="Trebuchet MS" panose="020B0603020202020204"/>
                <a:cs typeface="Trebuchet MS" panose="020B0603020202020204"/>
              </a:rPr>
              <a:t>2</a:t>
            </a:r>
            <a:r>
              <a:rPr sz="1500" spc="110" dirty="0">
                <a:solidFill>
                  <a:srgbClr val="FFFFFF"/>
                </a:solidFill>
                <a:latin typeface="Trebuchet MS" panose="020B0603020202020204"/>
                <a:cs typeface="Trebuchet MS" panose="020B0603020202020204"/>
              </a:rPr>
              <a:t>0</a:t>
            </a:r>
            <a:endParaRPr sz="1500">
              <a:latin typeface="Trebuchet MS" panose="020B0603020202020204"/>
              <a:cs typeface="Trebuchet MS" panose="020B0603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0849" y="171641"/>
            <a:ext cx="4762500" cy="696595"/>
          </a:xfrm>
          <a:prstGeom prst="rect">
            <a:avLst/>
          </a:prstGeom>
        </p:spPr>
        <p:txBody>
          <a:bodyPr vert="horz" wrap="square" lIns="0" tIns="12700" rIns="0" bIns="0" rtlCol="0">
            <a:spAutoFit/>
          </a:bodyPr>
          <a:lstStyle/>
          <a:p>
            <a:pPr marL="12700">
              <a:lnSpc>
                <a:spcPct val="100000"/>
              </a:lnSpc>
              <a:spcBef>
                <a:spcPts val="100"/>
              </a:spcBef>
            </a:pPr>
            <a:r>
              <a:rPr sz="4400" b="0" spc="-60" dirty="0">
                <a:latin typeface="Trebuchet MS" panose="020B0603020202020204"/>
                <a:cs typeface="Trebuchet MS" panose="020B0603020202020204"/>
              </a:rPr>
              <a:t>Produces</a:t>
            </a:r>
            <a:r>
              <a:rPr sz="4400" b="0" spc="-365" dirty="0">
                <a:latin typeface="Trebuchet MS" panose="020B0603020202020204"/>
                <a:cs typeface="Trebuchet MS" panose="020B0603020202020204"/>
              </a:rPr>
              <a:t> </a:t>
            </a:r>
            <a:r>
              <a:rPr sz="4400" b="0" spc="-50" dirty="0">
                <a:latin typeface="Trebuchet MS" panose="020B0603020202020204"/>
                <a:cs typeface="Trebuchet MS" panose="020B0603020202020204"/>
              </a:rPr>
              <a:t>Consumer</a:t>
            </a:r>
            <a:endParaRPr sz="4400">
              <a:latin typeface="Trebuchet MS" panose="020B0603020202020204"/>
              <a:cs typeface="Trebuchet MS" panose="020B0603020202020204"/>
            </a:endParaRPr>
          </a:p>
        </p:txBody>
      </p:sp>
      <p:sp>
        <p:nvSpPr>
          <p:cNvPr id="3" name="object 3"/>
          <p:cNvSpPr txBox="1"/>
          <p:nvPr/>
        </p:nvSpPr>
        <p:spPr>
          <a:xfrm>
            <a:off x="737090" y="1368072"/>
            <a:ext cx="5382260" cy="495934"/>
          </a:xfrm>
          <a:prstGeom prst="rect">
            <a:avLst/>
          </a:prstGeom>
        </p:spPr>
        <p:txBody>
          <a:bodyPr vert="horz" wrap="square" lIns="0" tIns="16510" rIns="0" bIns="0" rtlCol="0">
            <a:spAutoFit/>
          </a:bodyPr>
          <a:lstStyle/>
          <a:p>
            <a:pPr marL="12700">
              <a:lnSpc>
                <a:spcPct val="100000"/>
              </a:lnSpc>
              <a:spcBef>
                <a:spcPts val="130"/>
              </a:spcBef>
            </a:pPr>
            <a:r>
              <a:rPr sz="2600" spc="-430" dirty="0">
                <a:solidFill>
                  <a:srgbClr val="D34816"/>
                </a:solidFill>
                <a:latin typeface="Times New Roman" panose="02020603050405020304"/>
                <a:cs typeface="Times New Roman" panose="02020603050405020304"/>
              </a:rPr>
              <a:t> </a:t>
            </a:r>
            <a:r>
              <a:rPr sz="3050" spc="-105" dirty="0">
                <a:latin typeface="Times New Roman" panose="02020603050405020304"/>
                <a:cs typeface="Times New Roman" panose="02020603050405020304"/>
              </a:rPr>
              <a:t>Producer-consumer </a:t>
            </a:r>
            <a:r>
              <a:rPr sz="3050" spc="-150" dirty="0">
                <a:latin typeface="Times New Roman" panose="02020603050405020304"/>
                <a:cs typeface="Times New Roman" panose="02020603050405020304"/>
              </a:rPr>
              <a:t>becomes</a:t>
            </a:r>
            <a:r>
              <a:rPr sz="3050" spc="-5" dirty="0">
                <a:latin typeface="Times New Roman" panose="02020603050405020304"/>
                <a:cs typeface="Times New Roman" panose="02020603050405020304"/>
              </a:rPr>
              <a:t> </a:t>
            </a:r>
            <a:r>
              <a:rPr sz="3050" spc="-160" dirty="0">
                <a:latin typeface="Times New Roman" panose="02020603050405020304"/>
                <a:cs typeface="Times New Roman" panose="02020603050405020304"/>
              </a:rPr>
              <a:t>trivial</a:t>
            </a:r>
            <a:endParaRPr sz="3050">
              <a:latin typeface="Times New Roman" panose="02020603050405020304"/>
              <a:cs typeface="Times New Roman" panose="02020603050405020304"/>
            </a:endParaRPr>
          </a:p>
        </p:txBody>
      </p:sp>
      <p:sp>
        <p:nvSpPr>
          <p:cNvPr id="4" name="object 4"/>
          <p:cNvSpPr txBox="1"/>
          <p:nvPr/>
        </p:nvSpPr>
        <p:spPr>
          <a:xfrm>
            <a:off x="1677456" y="2341879"/>
            <a:ext cx="2985135" cy="294640"/>
          </a:xfrm>
          <a:prstGeom prst="rect">
            <a:avLst/>
          </a:prstGeom>
        </p:spPr>
        <p:txBody>
          <a:bodyPr vert="horz" wrap="square" lIns="0" tIns="13970" rIns="0" bIns="0" rtlCol="0">
            <a:spAutoFit/>
          </a:bodyPr>
          <a:lstStyle/>
          <a:p>
            <a:pPr marL="12700">
              <a:lnSpc>
                <a:spcPct val="100000"/>
              </a:lnSpc>
              <a:spcBef>
                <a:spcPts val="110"/>
              </a:spcBef>
            </a:pPr>
            <a:r>
              <a:rPr sz="1750" spc="5" dirty="0">
                <a:latin typeface="Courier New" panose="02070309020205020404"/>
                <a:cs typeface="Courier New" panose="02070309020205020404"/>
              </a:rPr>
              <a:t>message</a:t>
            </a:r>
            <a:r>
              <a:rPr sz="1750" spc="-80" dirty="0">
                <a:latin typeface="Courier New" panose="02070309020205020404"/>
                <a:cs typeface="Courier New" panose="02070309020205020404"/>
              </a:rPr>
              <a:t> </a:t>
            </a:r>
            <a:r>
              <a:rPr sz="1750" spc="5" dirty="0">
                <a:latin typeface="Courier New" panose="02070309020205020404"/>
                <a:cs typeface="Courier New" panose="02070309020205020404"/>
              </a:rPr>
              <a:t>next_produced;</a:t>
            </a:r>
            <a:endParaRPr sz="1750">
              <a:latin typeface="Courier New" panose="02070309020205020404"/>
              <a:cs typeface="Courier New" panose="02070309020205020404"/>
            </a:endParaRPr>
          </a:p>
        </p:txBody>
      </p:sp>
      <p:sp>
        <p:nvSpPr>
          <p:cNvPr id="5" name="object 5"/>
          <p:cNvSpPr txBox="1"/>
          <p:nvPr/>
        </p:nvSpPr>
        <p:spPr>
          <a:xfrm>
            <a:off x="1677456" y="2666434"/>
            <a:ext cx="1907539" cy="294640"/>
          </a:xfrm>
          <a:prstGeom prst="rect">
            <a:avLst/>
          </a:prstGeom>
        </p:spPr>
        <p:txBody>
          <a:bodyPr vert="horz" wrap="square" lIns="0" tIns="13970" rIns="0" bIns="0" rtlCol="0">
            <a:spAutoFit/>
          </a:bodyPr>
          <a:lstStyle/>
          <a:p>
            <a:pPr marL="12700">
              <a:lnSpc>
                <a:spcPct val="100000"/>
              </a:lnSpc>
              <a:spcBef>
                <a:spcPts val="110"/>
              </a:spcBef>
            </a:pPr>
            <a:r>
              <a:rPr sz="1750" spc="5" dirty="0">
                <a:latin typeface="Courier New" panose="02070309020205020404"/>
                <a:cs typeface="Courier New" panose="02070309020205020404"/>
              </a:rPr>
              <a:t>while (true)</a:t>
            </a:r>
            <a:r>
              <a:rPr sz="1750" spc="-85" dirty="0">
                <a:latin typeface="Courier New" panose="02070309020205020404"/>
                <a:cs typeface="Courier New" panose="02070309020205020404"/>
              </a:rPr>
              <a:t> </a:t>
            </a:r>
            <a:r>
              <a:rPr sz="1750" spc="5" dirty="0">
                <a:latin typeface="Courier New" panose="02070309020205020404"/>
                <a:cs typeface="Courier New" panose="02070309020205020404"/>
              </a:rPr>
              <a:t>{</a:t>
            </a:r>
            <a:endParaRPr sz="1750">
              <a:latin typeface="Courier New" panose="02070309020205020404"/>
              <a:cs typeface="Courier New" panose="02070309020205020404"/>
            </a:endParaRPr>
          </a:p>
        </p:txBody>
      </p:sp>
      <p:sp>
        <p:nvSpPr>
          <p:cNvPr id="6" name="object 6"/>
          <p:cNvSpPr txBox="1"/>
          <p:nvPr/>
        </p:nvSpPr>
        <p:spPr>
          <a:xfrm>
            <a:off x="1677456" y="3177561"/>
            <a:ext cx="2716530" cy="675005"/>
          </a:xfrm>
          <a:prstGeom prst="rect">
            <a:avLst/>
          </a:prstGeom>
        </p:spPr>
        <p:txBody>
          <a:bodyPr vert="horz" wrap="square" lIns="0" tIns="69850" rIns="0" bIns="0" rtlCol="0">
            <a:spAutoFit/>
          </a:bodyPr>
          <a:lstStyle/>
          <a:p>
            <a:pPr marL="12700">
              <a:lnSpc>
                <a:spcPct val="100000"/>
              </a:lnSpc>
              <a:spcBef>
                <a:spcPts val="550"/>
              </a:spcBef>
            </a:pPr>
            <a:r>
              <a:rPr sz="1750" spc="5" dirty="0">
                <a:latin typeface="Courier New" panose="02070309020205020404"/>
                <a:cs typeface="Courier New" panose="02070309020205020404"/>
              </a:rPr>
              <a:t>send(next_produced);</a:t>
            </a:r>
            <a:endParaRPr sz="1750">
              <a:latin typeface="Courier New" panose="02070309020205020404"/>
              <a:cs typeface="Courier New" panose="02070309020205020404"/>
            </a:endParaRPr>
          </a:p>
          <a:p>
            <a:pPr marL="12700">
              <a:lnSpc>
                <a:spcPct val="100000"/>
              </a:lnSpc>
              <a:spcBef>
                <a:spcPts val="460"/>
              </a:spcBef>
            </a:pPr>
            <a:r>
              <a:rPr sz="1750" spc="5" dirty="0">
                <a:latin typeface="Courier New" panose="02070309020205020404"/>
                <a:cs typeface="Courier New" panose="02070309020205020404"/>
              </a:rPr>
              <a:t>}</a:t>
            </a:r>
            <a:endParaRPr sz="1750">
              <a:latin typeface="Courier New" panose="02070309020205020404"/>
              <a:cs typeface="Courier New" panose="02070309020205020404"/>
            </a:endParaRPr>
          </a:p>
        </p:txBody>
      </p:sp>
      <p:sp>
        <p:nvSpPr>
          <p:cNvPr id="7" name="object 7"/>
          <p:cNvSpPr txBox="1"/>
          <p:nvPr/>
        </p:nvSpPr>
        <p:spPr>
          <a:xfrm>
            <a:off x="1628641" y="4560861"/>
            <a:ext cx="3521710" cy="848994"/>
          </a:xfrm>
          <a:prstGeom prst="rect">
            <a:avLst/>
          </a:prstGeom>
        </p:spPr>
        <p:txBody>
          <a:bodyPr vert="horz" wrap="square" lIns="0" tIns="12065" rIns="0" bIns="0" rtlCol="0">
            <a:spAutoFit/>
          </a:bodyPr>
          <a:lstStyle/>
          <a:p>
            <a:pPr marL="12700" marR="534670" indent="-635">
              <a:lnSpc>
                <a:spcPct val="101000"/>
              </a:lnSpc>
              <a:spcBef>
                <a:spcPts val="95"/>
              </a:spcBef>
            </a:pPr>
            <a:r>
              <a:rPr sz="1850" dirty="0">
                <a:latin typeface="Courier New" panose="02070309020205020404"/>
                <a:cs typeface="Courier New" panose="02070309020205020404"/>
              </a:rPr>
              <a:t>m</a:t>
            </a:r>
            <a:r>
              <a:rPr sz="1750" dirty="0">
                <a:latin typeface="Courier New" panose="02070309020205020404"/>
                <a:cs typeface="Courier New" panose="02070309020205020404"/>
              </a:rPr>
              <a:t>essage next_consumed;  while </a:t>
            </a:r>
            <a:r>
              <a:rPr sz="1750" spc="5" dirty="0">
                <a:latin typeface="Courier New" panose="02070309020205020404"/>
                <a:cs typeface="Courier New" panose="02070309020205020404"/>
              </a:rPr>
              <a:t>(true)</a:t>
            </a:r>
            <a:r>
              <a:rPr sz="1750" dirty="0">
                <a:latin typeface="Courier New" panose="02070309020205020404"/>
                <a:cs typeface="Courier New" panose="02070309020205020404"/>
              </a:rPr>
              <a:t> </a:t>
            </a:r>
            <a:r>
              <a:rPr sz="1750" spc="5" dirty="0">
                <a:latin typeface="Courier New" panose="02070309020205020404"/>
                <a:cs typeface="Courier New" panose="02070309020205020404"/>
              </a:rPr>
              <a:t>{</a:t>
            </a:r>
            <a:endParaRPr sz="1750">
              <a:latin typeface="Courier New" panose="02070309020205020404"/>
              <a:cs typeface="Courier New" panose="02070309020205020404"/>
            </a:endParaRPr>
          </a:p>
          <a:p>
            <a:pPr marL="414655">
              <a:lnSpc>
                <a:spcPct val="100000"/>
              </a:lnSpc>
              <a:spcBef>
                <a:spcPts val="10"/>
              </a:spcBef>
            </a:pPr>
            <a:r>
              <a:rPr sz="1750" spc="5" dirty="0">
                <a:latin typeface="Courier New" panose="02070309020205020404"/>
                <a:cs typeface="Courier New" panose="02070309020205020404"/>
              </a:rPr>
              <a:t>receive(next_consumed);</a:t>
            </a:r>
            <a:endParaRPr sz="1750">
              <a:latin typeface="Courier New" panose="02070309020205020404"/>
              <a:cs typeface="Courier New" panose="02070309020205020404"/>
            </a:endParaRPr>
          </a:p>
        </p:txBody>
      </p:sp>
      <p:sp>
        <p:nvSpPr>
          <p:cNvPr id="8" name="object 8"/>
          <p:cNvSpPr txBox="1"/>
          <p:nvPr/>
        </p:nvSpPr>
        <p:spPr>
          <a:xfrm>
            <a:off x="2030998" y="5651965"/>
            <a:ext cx="5272405" cy="294640"/>
          </a:xfrm>
          <a:prstGeom prst="rect">
            <a:avLst/>
          </a:prstGeom>
        </p:spPr>
        <p:txBody>
          <a:bodyPr vert="horz" wrap="square" lIns="0" tIns="13970" rIns="0" bIns="0" rtlCol="0">
            <a:spAutoFit/>
          </a:bodyPr>
          <a:lstStyle/>
          <a:p>
            <a:pPr marL="12700">
              <a:lnSpc>
                <a:spcPct val="100000"/>
              </a:lnSpc>
              <a:spcBef>
                <a:spcPts val="110"/>
              </a:spcBef>
            </a:pPr>
            <a:r>
              <a:rPr sz="1750" spc="5" dirty="0">
                <a:latin typeface="Courier New" panose="02070309020205020404"/>
                <a:cs typeface="Courier New" panose="02070309020205020404"/>
              </a:rPr>
              <a:t>/* consume </a:t>
            </a:r>
            <a:r>
              <a:rPr sz="1750" dirty="0">
                <a:latin typeface="Courier New" panose="02070309020205020404"/>
                <a:cs typeface="Courier New" panose="02070309020205020404"/>
              </a:rPr>
              <a:t>the </a:t>
            </a:r>
            <a:r>
              <a:rPr sz="1750" spc="5" dirty="0">
                <a:latin typeface="Courier New" panose="02070309020205020404"/>
                <a:cs typeface="Courier New" panose="02070309020205020404"/>
              </a:rPr>
              <a:t>item in </a:t>
            </a:r>
            <a:r>
              <a:rPr sz="1750" dirty="0">
                <a:latin typeface="Courier New" panose="02070309020205020404"/>
                <a:cs typeface="Courier New" panose="02070309020205020404"/>
              </a:rPr>
              <a:t>next consumed</a:t>
            </a:r>
            <a:r>
              <a:rPr sz="1750" spc="30" dirty="0">
                <a:latin typeface="Courier New" panose="02070309020205020404"/>
                <a:cs typeface="Courier New" panose="02070309020205020404"/>
              </a:rPr>
              <a:t> </a:t>
            </a:r>
            <a:r>
              <a:rPr sz="1750" spc="5" dirty="0">
                <a:latin typeface="Courier New" panose="02070309020205020404"/>
                <a:cs typeface="Courier New" panose="02070309020205020404"/>
              </a:rPr>
              <a:t>*/</a:t>
            </a:r>
            <a:endParaRPr sz="1750">
              <a:latin typeface="Courier New" panose="02070309020205020404"/>
              <a:cs typeface="Courier New" panose="02070309020205020404"/>
            </a:endParaRPr>
          </a:p>
        </p:txBody>
      </p:sp>
      <p:sp>
        <p:nvSpPr>
          <p:cNvPr id="9" name="object 9"/>
          <p:cNvSpPr txBox="1"/>
          <p:nvPr/>
        </p:nvSpPr>
        <p:spPr>
          <a:xfrm>
            <a:off x="1628641" y="5918720"/>
            <a:ext cx="168275" cy="311150"/>
          </a:xfrm>
          <a:prstGeom prst="rect">
            <a:avLst/>
          </a:prstGeom>
        </p:spPr>
        <p:txBody>
          <a:bodyPr vert="horz" wrap="square" lIns="0" tIns="15240" rIns="0" bIns="0" rtlCol="0">
            <a:spAutoFit/>
          </a:bodyPr>
          <a:lstStyle/>
          <a:p>
            <a:pPr marL="12700">
              <a:lnSpc>
                <a:spcPct val="100000"/>
              </a:lnSpc>
              <a:spcBef>
                <a:spcPts val="120"/>
              </a:spcBef>
            </a:pPr>
            <a:r>
              <a:rPr sz="1850" spc="10" dirty="0">
                <a:latin typeface="Courier New" panose="02070309020205020404"/>
                <a:cs typeface="Courier New" panose="02070309020205020404"/>
              </a:rPr>
              <a:t>}</a:t>
            </a:r>
            <a:endParaRPr sz="1850">
              <a:latin typeface="Courier New" panose="02070309020205020404"/>
              <a:cs typeface="Courier New" panose="02070309020205020404"/>
            </a:endParaRPr>
          </a:p>
        </p:txBody>
      </p:sp>
      <p:sp>
        <p:nvSpPr>
          <p:cNvPr id="10" name="object 10"/>
          <p:cNvSpPr txBox="1"/>
          <p:nvPr/>
        </p:nvSpPr>
        <p:spPr>
          <a:xfrm>
            <a:off x="7431976" y="2043171"/>
            <a:ext cx="2130425" cy="629285"/>
          </a:xfrm>
          <a:prstGeom prst="rect">
            <a:avLst/>
          </a:prstGeom>
        </p:spPr>
        <p:txBody>
          <a:bodyPr vert="horz" wrap="square" lIns="0" tIns="11430" rIns="0" bIns="0" rtlCol="0">
            <a:spAutoFit/>
          </a:bodyPr>
          <a:lstStyle/>
          <a:p>
            <a:pPr marL="12700" marR="5080">
              <a:lnSpc>
                <a:spcPct val="102000"/>
              </a:lnSpc>
              <a:spcBef>
                <a:spcPts val="90"/>
              </a:spcBef>
            </a:pPr>
            <a:r>
              <a:rPr sz="1950" spc="15" dirty="0">
                <a:latin typeface="Times New Roman" panose="02020603050405020304"/>
                <a:cs typeface="Times New Roman" panose="02020603050405020304"/>
              </a:rPr>
              <a:t>The </a:t>
            </a:r>
            <a:r>
              <a:rPr sz="1950" spc="10" dirty="0">
                <a:latin typeface="Times New Roman" panose="02020603050405020304"/>
                <a:cs typeface="Times New Roman" panose="02020603050405020304"/>
              </a:rPr>
              <a:t>producer</a:t>
            </a:r>
            <a:r>
              <a:rPr sz="1950" spc="-95" dirty="0">
                <a:latin typeface="Times New Roman" panose="02020603050405020304"/>
                <a:cs typeface="Times New Roman" panose="02020603050405020304"/>
              </a:rPr>
              <a:t> </a:t>
            </a:r>
            <a:r>
              <a:rPr sz="1950" spc="5" dirty="0">
                <a:latin typeface="Times New Roman" panose="02020603050405020304"/>
                <a:cs typeface="Times New Roman" panose="02020603050405020304"/>
              </a:rPr>
              <a:t>merely  </a:t>
            </a:r>
            <a:r>
              <a:rPr sz="1950" spc="10" dirty="0">
                <a:latin typeface="Times New Roman" panose="02020603050405020304"/>
                <a:cs typeface="Times New Roman" panose="02020603050405020304"/>
              </a:rPr>
              <a:t>invokes </a:t>
            </a:r>
            <a:r>
              <a:rPr sz="1950" spc="15" dirty="0">
                <a:latin typeface="Times New Roman" panose="02020603050405020304"/>
                <a:cs typeface="Times New Roman" panose="02020603050405020304"/>
              </a:rPr>
              <a:t>the</a:t>
            </a:r>
            <a:r>
              <a:rPr sz="1950" spc="-80" dirty="0">
                <a:latin typeface="Times New Roman" panose="02020603050405020304"/>
                <a:cs typeface="Times New Roman" panose="02020603050405020304"/>
              </a:rPr>
              <a:t> </a:t>
            </a:r>
            <a:r>
              <a:rPr sz="1950" spc="10" dirty="0">
                <a:latin typeface="Times New Roman" panose="02020603050405020304"/>
                <a:cs typeface="Times New Roman" panose="02020603050405020304"/>
              </a:rPr>
              <a:t>blocking</a:t>
            </a:r>
            <a:endParaRPr sz="1950">
              <a:latin typeface="Times New Roman" panose="02020603050405020304"/>
              <a:cs typeface="Times New Roman" panose="02020603050405020304"/>
            </a:endParaRPr>
          </a:p>
        </p:txBody>
      </p:sp>
      <p:sp>
        <p:nvSpPr>
          <p:cNvPr id="11" name="object 11"/>
          <p:cNvSpPr txBox="1"/>
          <p:nvPr/>
        </p:nvSpPr>
        <p:spPr>
          <a:xfrm>
            <a:off x="7431976" y="2646648"/>
            <a:ext cx="2099945" cy="327660"/>
          </a:xfrm>
          <a:prstGeom prst="rect">
            <a:avLst/>
          </a:prstGeom>
        </p:spPr>
        <p:txBody>
          <a:bodyPr vert="horz" wrap="square" lIns="0" tIns="16510" rIns="0" bIns="0" rtlCol="0">
            <a:spAutoFit/>
          </a:bodyPr>
          <a:lstStyle/>
          <a:p>
            <a:pPr marL="12700">
              <a:lnSpc>
                <a:spcPct val="100000"/>
              </a:lnSpc>
              <a:spcBef>
                <a:spcPts val="130"/>
              </a:spcBef>
            </a:pPr>
            <a:r>
              <a:rPr sz="1950" spc="10" dirty="0">
                <a:latin typeface="Times New Roman" panose="02020603050405020304"/>
                <a:cs typeface="Times New Roman" panose="02020603050405020304"/>
              </a:rPr>
              <a:t>send() call </a:t>
            </a:r>
            <a:r>
              <a:rPr sz="1950" spc="15" dirty="0">
                <a:latin typeface="Times New Roman" panose="02020603050405020304"/>
                <a:cs typeface="Times New Roman" panose="02020603050405020304"/>
              </a:rPr>
              <a:t>and</a:t>
            </a:r>
            <a:r>
              <a:rPr sz="1950" spc="-80" dirty="0">
                <a:latin typeface="Times New Roman" panose="02020603050405020304"/>
                <a:cs typeface="Times New Roman" panose="02020603050405020304"/>
              </a:rPr>
              <a:t> </a:t>
            </a:r>
            <a:r>
              <a:rPr sz="1950" spc="5" dirty="0">
                <a:latin typeface="Times New Roman" panose="02020603050405020304"/>
                <a:cs typeface="Times New Roman" panose="02020603050405020304"/>
              </a:rPr>
              <a:t>waits</a:t>
            </a:r>
            <a:endParaRPr sz="1950">
              <a:latin typeface="Times New Roman" panose="02020603050405020304"/>
              <a:cs typeface="Times New Roman" panose="02020603050405020304"/>
            </a:endParaRPr>
          </a:p>
        </p:txBody>
      </p:sp>
      <p:sp>
        <p:nvSpPr>
          <p:cNvPr id="12" name="object 12"/>
          <p:cNvSpPr txBox="1"/>
          <p:nvPr/>
        </p:nvSpPr>
        <p:spPr>
          <a:xfrm>
            <a:off x="2191449" y="2879875"/>
            <a:ext cx="7268209" cy="327660"/>
          </a:xfrm>
          <a:prstGeom prst="rect">
            <a:avLst/>
          </a:prstGeom>
        </p:spPr>
        <p:txBody>
          <a:bodyPr vert="horz" wrap="square" lIns="0" tIns="16510" rIns="0" bIns="0" rtlCol="0">
            <a:spAutoFit/>
          </a:bodyPr>
          <a:lstStyle/>
          <a:p>
            <a:pPr marL="38100">
              <a:lnSpc>
                <a:spcPct val="100000"/>
              </a:lnSpc>
              <a:spcBef>
                <a:spcPts val="130"/>
              </a:spcBef>
            </a:pPr>
            <a:r>
              <a:rPr sz="1750" spc="5" dirty="0">
                <a:latin typeface="Courier New" panose="02070309020205020404"/>
                <a:cs typeface="Courier New" panose="02070309020205020404"/>
              </a:rPr>
              <a:t>/* </a:t>
            </a:r>
            <a:r>
              <a:rPr sz="1750" dirty="0">
                <a:latin typeface="Courier New" panose="02070309020205020404"/>
                <a:cs typeface="Courier New" panose="02070309020205020404"/>
              </a:rPr>
              <a:t>produce </a:t>
            </a:r>
            <a:r>
              <a:rPr sz="1750" spc="-5" dirty="0">
                <a:latin typeface="Courier New" panose="02070309020205020404"/>
                <a:cs typeface="Courier New" panose="02070309020205020404"/>
              </a:rPr>
              <a:t>an </a:t>
            </a:r>
            <a:r>
              <a:rPr sz="1750" dirty="0">
                <a:latin typeface="Courier New" panose="02070309020205020404"/>
                <a:cs typeface="Courier New" panose="02070309020205020404"/>
              </a:rPr>
              <a:t>item </a:t>
            </a:r>
            <a:r>
              <a:rPr sz="1750" spc="5" dirty="0">
                <a:latin typeface="Courier New" panose="02070309020205020404"/>
                <a:cs typeface="Courier New" panose="02070309020205020404"/>
              </a:rPr>
              <a:t>in </a:t>
            </a:r>
            <a:r>
              <a:rPr sz="1750" dirty="0">
                <a:latin typeface="Courier New" panose="02070309020205020404"/>
                <a:cs typeface="Courier New" panose="02070309020205020404"/>
              </a:rPr>
              <a:t>next </a:t>
            </a:r>
            <a:r>
              <a:rPr sz="1750" spc="5" dirty="0">
                <a:latin typeface="Courier New" panose="02070309020205020404"/>
                <a:cs typeface="Courier New" panose="02070309020205020404"/>
              </a:rPr>
              <a:t>produced */ </a:t>
            </a:r>
            <a:r>
              <a:rPr sz="2925" spc="15" baseline="-16000" dirty="0">
                <a:latin typeface="Times New Roman" panose="02020603050405020304"/>
                <a:cs typeface="Times New Roman" panose="02020603050405020304"/>
              </a:rPr>
              <a:t>until </a:t>
            </a:r>
            <a:r>
              <a:rPr sz="2925" spc="22" baseline="-16000" dirty="0">
                <a:latin typeface="Times New Roman" panose="02020603050405020304"/>
                <a:cs typeface="Times New Roman" panose="02020603050405020304"/>
              </a:rPr>
              <a:t>the </a:t>
            </a:r>
            <a:r>
              <a:rPr sz="2925" spc="7" baseline="-16000" dirty="0">
                <a:latin typeface="Times New Roman" panose="02020603050405020304"/>
                <a:cs typeface="Times New Roman" panose="02020603050405020304"/>
              </a:rPr>
              <a:t>message</a:t>
            </a:r>
            <a:r>
              <a:rPr sz="2925" spc="-262" baseline="-16000" dirty="0">
                <a:latin typeface="Times New Roman" panose="02020603050405020304"/>
                <a:cs typeface="Times New Roman" panose="02020603050405020304"/>
              </a:rPr>
              <a:t> </a:t>
            </a:r>
            <a:r>
              <a:rPr sz="2925" spc="15" baseline="-16000" dirty="0">
                <a:latin typeface="Times New Roman" panose="02020603050405020304"/>
                <a:cs typeface="Times New Roman" panose="02020603050405020304"/>
              </a:rPr>
              <a:t>is</a:t>
            </a:r>
            <a:endParaRPr sz="2925" baseline="-16000">
              <a:latin typeface="Times New Roman" panose="02020603050405020304"/>
              <a:cs typeface="Times New Roman" panose="02020603050405020304"/>
            </a:endParaRPr>
          </a:p>
        </p:txBody>
      </p:sp>
      <p:sp>
        <p:nvSpPr>
          <p:cNvPr id="13" name="object 13"/>
          <p:cNvSpPr txBox="1"/>
          <p:nvPr/>
        </p:nvSpPr>
        <p:spPr>
          <a:xfrm>
            <a:off x="7431976" y="3250124"/>
            <a:ext cx="1857375" cy="932815"/>
          </a:xfrm>
          <a:prstGeom prst="rect">
            <a:avLst/>
          </a:prstGeom>
        </p:spPr>
        <p:txBody>
          <a:bodyPr vert="horz" wrap="square" lIns="0" tIns="10795" rIns="0" bIns="0" rtlCol="0">
            <a:spAutoFit/>
          </a:bodyPr>
          <a:lstStyle/>
          <a:p>
            <a:pPr marL="12700" marR="5080" algn="just">
              <a:lnSpc>
                <a:spcPct val="102000"/>
              </a:lnSpc>
              <a:spcBef>
                <a:spcPts val="85"/>
              </a:spcBef>
            </a:pPr>
            <a:r>
              <a:rPr sz="1950" spc="5" dirty="0">
                <a:latin typeface="Times New Roman" panose="02020603050405020304"/>
                <a:cs typeface="Times New Roman" panose="02020603050405020304"/>
              </a:rPr>
              <a:t>delivered </a:t>
            </a:r>
            <a:r>
              <a:rPr sz="1950" spc="10" dirty="0">
                <a:latin typeface="Times New Roman" panose="02020603050405020304"/>
                <a:cs typeface="Times New Roman" panose="02020603050405020304"/>
              </a:rPr>
              <a:t>to</a:t>
            </a:r>
            <a:r>
              <a:rPr sz="1950" spc="-40" dirty="0">
                <a:latin typeface="Times New Roman" panose="02020603050405020304"/>
                <a:cs typeface="Times New Roman" panose="02020603050405020304"/>
              </a:rPr>
              <a:t> </a:t>
            </a:r>
            <a:r>
              <a:rPr sz="1950" spc="10" dirty="0">
                <a:latin typeface="Times New Roman" panose="02020603050405020304"/>
                <a:cs typeface="Times New Roman" panose="02020603050405020304"/>
              </a:rPr>
              <a:t>either  the receiver or the  </a:t>
            </a:r>
            <a:r>
              <a:rPr sz="1950" spc="5" dirty="0">
                <a:latin typeface="Times New Roman" panose="02020603050405020304"/>
                <a:cs typeface="Times New Roman" panose="02020603050405020304"/>
              </a:rPr>
              <a:t>mailbox.</a:t>
            </a:r>
            <a:endParaRPr sz="1950">
              <a:latin typeface="Times New Roman" panose="02020603050405020304"/>
              <a:cs typeface="Times New Roman" panose="02020603050405020304"/>
            </a:endParaRPr>
          </a:p>
        </p:txBody>
      </p:sp>
      <p:sp>
        <p:nvSpPr>
          <p:cNvPr id="14" name="object 14"/>
          <p:cNvSpPr txBox="1"/>
          <p:nvPr/>
        </p:nvSpPr>
        <p:spPr>
          <a:xfrm>
            <a:off x="7464022" y="4612642"/>
            <a:ext cx="1988185" cy="1534160"/>
          </a:xfrm>
          <a:prstGeom prst="rect">
            <a:avLst/>
          </a:prstGeom>
        </p:spPr>
        <p:txBody>
          <a:bodyPr vert="horz" wrap="square" lIns="0" tIns="12065" rIns="0" bIns="0" rtlCol="0">
            <a:spAutoFit/>
          </a:bodyPr>
          <a:lstStyle/>
          <a:p>
            <a:pPr marL="12700" marR="5080">
              <a:lnSpc>
                <a:spcPct val="101000"/>
              </a:lnSpc>
              <a:spcBef>
                <a:spcPts val="95"/>
              </a:spcBef>
            </a:pPr>
            <a:r>
              <a:rPr sz="1950" spc="10" dirty="0">
                <a:latin typeface="Times New Roman" panose="02020603050405020304"/>
                <a:cs typeface="Times New Roman" panose="02020603050405020304"/>
              </a:rPr>
              <a:t>Likewise, </a:t>
            </a:r>
            <a:r>
              <a:rPr sz="1950" spc="15" dirty="0">
                <a:latin typeface="Times New Roman" panose="02020603050405020304"/>
                <a:cs typeface="Times New Roman" panose="02020603050405020304"/>
              </a:rPr>
              <a:t>when</a:t>
            </a:r>
            <a:r>
              <a:rPr sz="1950" spc="-90" dirty="0">
                <a:latin typeface="Times New Roman" panose="02020603050405020304"/>
                <a:cs typeface="Times New Roman" panose="02020603050405020304"/>
              </a:rPr>
              <a:t> </a:t>
            </a:r>
            <a:r>
              <a:rPr sz="1950" spc="10" dirty="0">
                <a:latin typeface="Times New Roman" panose="02020603050405020304"/>
                <a:cs typeface="Times New Roman" panose="02020603050405020304"/>
              </a:rPr>
              <a:t>the  consumer invokes  </a:t>
            </a:r>
            <a:r>
              <a:rPr sz="1950" spc="5" dirty="0">
                <a:latin typeface="Times New Roman" panose="02020603050405020304"/>
                <a:cs typeface="Times New Roman" panose="02020603050405020304"/>
              </a:rPr>
              <a:t>receive(), it </a:t>
            </a:r>
            <a:r>
              <a:rPr sz="1950" spc="10" dirty="0">
                <a:latin typeface="Times New Roman" panose="02020603050405020304"/>
                <a:cs typeface="Times New Roman" panose="02020603050405020304"/>
              </a:rPr>
              <a:t>blocks  until a </a:t>
            </a:r>
            <a:r>
              <a:rPr sz="1950" spc="5" dirty="0">
                <a:latin typeface="Times New Roman" panose="02020603050405020304"/>
                <a:cs typeface="Times New Roman" panose="02020603050405020304"/>
              </a:rPr>
              <a:t>message </a:t>
            </a:r>
            <a:r>
              <a:rPr sz="1950" spc="10" dirty="0">
                <a:latin typeface="Times New Roman" panose="02020603050405020304"/>
                <a:cs typeface="Times New Roman" panose="02020603050405020304"/>
              </a:rPr>
              <a:t>is  </a:t>
            </a:r>
            <a:r>
              <a:rPr sz="1950" spc="5" dirty="0">
                <a:latin typeface="Times New Roman" panose="02020603050405020304"/>
                <a:cs typeface="Times New Roman" panose="02020603050405020304"/>
              </a:rPr>
              <a:t>available.</a:t>
            </a:r>
            <a:endParaRPr sz="1950">
              <a:latin typeface="Times New Roman" panose="02020603050405020304"/>
              <a:cs typeface="Times New Roman" panose="020206030504050203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7767" y="218887"/>
            <a:ext cx="2190750" cy="696595"/>
          </a:xfrm>
          <a:prstGeom prst="rect">
            <a:avLst/>
          </a:prstGeom>
        </p:spPr>
        <p:txBody>
          <a:bodyPr vert="horz" wrap="square" lIns="0" tIns="12700" rIns="0" bIns="0" rtlCol="0">
            <a:spAutoFit/>
          </a:bodyPr>
          <a:lstStyle/>
          <a:p>
            <a:pPr marL="12700">
              <a:lnSpc>
                <a:spcPct val="100000"/>
              </a:lnSpc>
              <a:spcBef>
                <a:spcPts val="100"/>
              </a:spcBef>
            </a:pPr>
            <a:r>
              <a:rPr sz="4400" spc="-285" dirty="0"/>
              <a:t>Buffering</a:t>
            </a:r>
            <a:endParaRPr sz="4400"/>
          </a:p>
        </p:txBody>
      </p:sp>
      <p:sp>
        <p:nvSpPr>
          <p:cNvPr id="3" name="object 3"/>
          <p:cNvSpPr txBox="1"/>
          <p:nvPr/>
        </p:nvSpPr>
        <p:spPr>
          <a:xfrm>
            <a:off x="365277" y="932873"/>
            <a:ext cx="9190355" cy="5097145"/>
          </a:xfrm>
          <a:prstGeom prst="rect">
            <a:avLst/>
          </a:prstGeom>
        </p:spPr>
        <p:txBody>
          <a:bodyPr vert="horz" wrap="square" lIns="0" tIns="99695" rIns="0" bIns="0" rtlCol="0">
            <a:spAutoFit/>
          </a:bodyPr>
          <a:lstStyle/>
          <a:p>
            <a:pPr marL="312420" indent="-300355">
              <a:lnSpc>
                <a:spcPct val="100000"/>
              </a:lnSpc>
              <a:spcBef>
                <a:spcPts val="785"/>
              </a:spcBef>
              <a:buClr>
                <a:srgbClr val="D34816"/>
              </a:buClr>
              <a:buSzPct val="85000"/>
              <a:buFont typeface="Webdings" panose="05030102010509060703"/>
              <a:buChar char=""/>
              <a:tabLst>
                <a:tab pos="313055" algn="l"/>
              </a:tabLst>
            </a:pPr>
            <a:r>
              <a:rPr sz="3050" spc="-215" dirty="0">
                <a:latin typeface="Times New Roman" panose="02020603050405020304"/>
                <a:cs typeface="Times New Roman" panose="02020603050405020304"/>
              </a:rPr>
              <a:t>Messages </a:t>
            </a:r>
            <a:r>
              <a:rPr sz="3050" spc="-145" dirty="0">
                <a:latin typeface="Times New Roman" panose="02020603050405020304"/>
                <a:cs typeface="Times New Roman" panose="02020603050405020304"/>
              </a:rPr>
              <a:t>exchanged </a:t>
            </a:r>
            <a:r>
              <a:rPr sz="3050" spc="-240" dirty="0">
                <a:latin typeface="Times New Roman" panose="02020603050405020304"/>
                <a:cs typeface="Times New Roman" panose="02020603050405020304"/>
              </a:rPr>
              <a:t>by </a:t>
            </a:r>
            <a:r>
              <a:rPr sz="3050" spc="-145" dirty="0">
                <a:latin typeface="Times New Roman" panose="02020603050405020304"/>
                <a:cs typeface="Times New Roman" panose="02020603050405020304"/>
              </a:rPr>
              <a:t>processes </a:t>
            </a:r>
            <a:r>
              <a:rPr sz="3050" spc="-120" dirty="0">
                <a:latin typeface="Times New Roman" panose="02020603050405020304"/>
                <a:cs typeface="Times New Roman" panose="02020603050405020304"/>
              </a:rPr>
              <a:t>reside </a:t>
            </a:r>
            <a:r>
              <a:rPr sz="3050" spc="-130" dirty="0">
                <a:latin typeface="Times New Roman" panose="02020603050405020304"/>
                <a:cs typeface="Times New Roman" panose="02020603050405020304"/>
              </a:rPr>
              <a:t>in </a:t>
            </a:r>
            <a:r>
              <a:rPr sz="3050" spc="-90" dirty="0">
                <a:latin typeface="Times New Roman" panose="02020603050405020304"/>
                <a:cs typeface="Times New Roman" panose="02020603050405020304"/>
              </a:rPr>
              <a:t>temporary</a:t>
            </a:r>
            <a:r>
              <a:rPr sz="3050" spc="465" dirty="0">
                <a:latin typeface="Times New Roman" panose="02020603050405020304"/>
                <a:cs typeface="Times New Roman" panose="02020603050405020304"/>
              </a:rPr>
              <a:t> </a:t>
            </a:r>
            <a:r>
              <a:rPr sz="3050" spc="-120" dirty="0">
                <a:latin typeface="Times New Roman" panose="02020603050405020304"/>
                <a:cs typeface="Times New Roman" panose="02020603050405020304"/>
              </a:rPr>
              <a:t>queue</a:t>
            </a:r>
            <a:endParaRPr sz="3050">
              <a:latin typeface="Times New Roman" panose="02020603050405020304"/>
              <a:cs typeface="Times New Roman" panose="02020603050405020304"/>
            </a:endParaRPr>
          </a:p>
          <a:p>
            <a:pPr marL="312420" indent="-300355">
              <a:lnSpc>
                <a:spcPct val="100000"/>
              </a:lnSpc>
              <a:spcBef>
                <a:spcPts val="700"/>
              </a:spcBef>
              <a:buClr>
                <a:srgbClr val="D34816"/>
              </a:buClr>
              <a:buSzPct val="85000"/>
              <a:buFont typeface="Webdings" panose="05030102010509060703"/>
              <a:buChar char=""/>
              <a:tabLst>
                <a:tab pos="313055" algn="l"/>
              </a:tabLst>
            </a:pPr>
            <a:r>
              <a:rPr sz="3050" spc="-100" dirty="0">
                <a:latin typeface="Times New Roman" panose="02020603050405020304"/>
                <a:cs typeface="Times New Roman" panose="02020603050405020304"/>
              </a:rPr>
              <a:t>Three </a:t>
            </a:r>
            <a:r>
              <a:rPr sz="3050" spc="-250" dirty="0">
                <a:latin typeface="Times New Roman" panose="02020603050405020304"/>
                <a:cs typeface="Times New Roman" panose="02020603050405020304"/>
              </a:rPr>
              <a:t>ways </a:t>
            </a:r>
            <a:r>
              <a:rPr sz="3050" spc="-35" dirty="0">
                <a:latin typeface="Times New Roman" panose="02020603050405020304"/>
                <a:cs typeface="Times New Roman" panose="02020603050405020304"/>
              </a:rPr>
              <a:t>to </a:t>
            </a:r>
            <a:r>
              <a:rPr sz="3050" spc="-105" dirty="0">
                <a:latin typeface="Times New Roman" panose="02020603050405020304"/>
                <a:cs typeface="Times New Roman" panose="02020603050405020304"/>
              </a:rPr>
              <a:t>implement</a:t>
            </a:r>
            <a:r>
              <a:rPr sz="3050" spc="35" dirty="0">
                <a:latin typeface="Times New Roman" panose="02020603050405020304"/>
                <a:cs typeface="Times New Roman" panose="02020603050405020304"/>
              </a:rPr>
              <a:t> </a:t>
            </a:r>
            <a:r>
              <a:rPr sz="3050" spc="-135" dirty="0">
                <a:latin typeface="Times New Roman" panose="02020603050405020304"/>
                <a:cs typeface="Times New Roman" panose="02020603050405020304"/>
              </a:rPr>
              <a:t>queues</a:t>
            </a:r>
            <a:endParaRPr sz="3050">
              <a:latin typeface="Times New Roman" panose="02020603050405020304"/>
              <a:cs typeface="Times New Roman" panose="02020603050405020304"/>
            </a:endParaRPr>
          </a:p>
          <a:p>
            <a:pPr marL="897890" lvl="1" indent="-375920">
              <a:lnSpc>
                <a:spcPct val="100000"/>
              </a:lnSpc>
              <a:spcBef>
                <a:spcPts val="505"/>
              </a:spcBef>
              <a:buClr>
                <a:srgbClr val="9A2D1F"/>
              </a:buClr>
              <a:buSzPct val="85000"/>
              <a:buAutoNum type="arabicPeriod"/>
              <a:tabLst>
                <a:tab pos="897890" algn="l"/>
                <a:tab pos="898525" algn="l"/>
              </a:tabLst>
            </a:pPr>
            <a:r>
              <a:rPr sz="2650" spc="-95" dirty="0">
                <a:solidFill>
                  <a:srgbClr val="A50021"/>
                </a:solidFill>
                <a:latin typeface="Times New Roman" panose="02020603050405020304"/>
                <a:cs typeface="Times New Roman" panose="02020603050405020304"/>
              </a:rPr>
              <a:t>Zero</a:t>
            </a:r>
            <a:r>
              <a:rPr sz="2650" spc="-55" dirty="0">
                <a:solidFill>
                  <a:srgbClr val="A50021"/>
                </a:solidFill>
                <a:latin typeface="Times New Roman" panose="02020603050405020304"/>
                <a:cs typeface="Times New Roman" panose="02020603050405020304"/>
              </a:rPr>
              <a:t> </a:t>
            </a:r>
            <a:r>
              <a:rPr sz="2650" spc="-155" dirty="0">
                <a:solidFill>
                  <a:srgbClr val="A50021"/>
                </a:solidFill>
                <a:latin typeface="Times New Roman" panose="02020603050405020304"/>
                <a:cs typeface="Times New Roman" panose="02020603050405020304"/>
              </a:rPr>
              <a:t>capacity</a:t>
            </a:r>
            <a:endParaRPr sz="2650">
              <a:latin typeface="Times New Roman" panose="02020603050405020304"/>
              <a:cs typeface="Times New Roman" panose="02020603050405020304"/>
            </a:endParaRPr>
          </a:p>
          <a:p>
            <a:pPr marL="1731645" marR="343535" indent="-502920">
              <a:lnSpc>
                <a:spcPts val="3170"/>
              </a:lnSpc>
              <a:spcBef>
                <a:spcPts val="535"/>
              </a:spcBef>
            </a:pPr>
            <a:r>
              <a:rPr sz="2650" spc="-135" dirty="0">
                <a:latin typeface="Times New Roman" panose="02020603050405020304"/>
                <a:cs typeface="Times New Roman" panose="02020603050405020304"/>
              </a:rPr>
              <a:t>No </a:t>
            </a:r>
            <a:r>
              <a:rPr sz="2650" spc="-180" dirty="0">
                <a:latin typeface="Times New Roman" panose="02020603050405020304"/>
                <a:cs typeface="Times New Roman" panose="02020603050405020304"/>
              </a:rPr>
              <a:t>messages </a:t>
            </a:r>
            <a:r>
              <a:rPr sz="2650" spc="-235" dirty="0">
                <a:latin typeface="Times New Roman" panose="02020603050405020304"/>
                <a:cs typeface="Times New Roman" panose="02020603050405020304"/>
              </a:rPr>
              <a:t>may </a:t>
            </a:r>
            <a:r>
              <a:rPr sz="2650" spc="-125" dirty="0">
                <a:latin typeface="Times New Roman" panose="02020603050405020304"/>
                <a:cs typeface="Times New Roman" panose="02020603050405020304"/>
              </a:rPr>
              <a:t>be </a:t>
            </a:r>
            <a:r>
              <a:rPr sz="2650" spc="-120" dirty="0">
                <a:latin typeface="Times New Roman" panose="02020603050405020304"/>
                <a:cs typeface="Times New Roman" panose="02020603050405020304"/>
              </a:rPr>
              <a:t>queued within </a:t>
            </a:r>
            <a:r>
              <a:rPr sz="2650" spc="-95" dirty="0">
                <a:latin typeface="Times New Roman" panose="02020603050405020304"/>
                <a:cs typeface="Times New Roman" panose="02020603050405020304"/>
              </a:rPr>
              <a:t>the </a:t>
            </a:r>
            <a:r>
              <a:rPr sz="2650" spc="-90" dirty="0">
                <a:latin typeface="Times New Roman" panose="02020603050405020304"/>
                <a:cs typeface="Times New Roman" panose="02020603050405020304"/>
              </a:rPr>
              <a:t>link, </a:t>
            </a:r>
            <a:r>
              <a:rPr sz="2650" spc="-105" dirty="0">
                <a:latin typeface="Times New Roman" panose="02020603050405020304"/>
                <a:cs typeface="Times New Roman" panose="02020603050405020304"/>
              </a:rPr>
              <a:t>requires </a:t>
            </a:r>
            <a:r>
              <a:rPr sz="2650" spc="-110" dirty="0">
                <a:latin typeface="Times New Roman" panose="02020603050405020304"/>
                <a:cs typeface="Times New Roman" panose="02020603050405020304"/>
              </a:rPr>
              <a:t>sender </a:t>
            </a:r>
            <a:r>
              <a:rPr sz="2650" spc="-50" dirty="0">
                <a:latin typeface="Times New Roman" panose="02020603050405020304"/>
                <a:cs typeface="Times New Roman" panose="02020603050405020304"/>
              </a:rPr>
              <a:t>to  </a:t>
            </a:r>
            <a:r>
              <a:rPr sz="2650" spc="-135" dirty="0">
                <a:latin typeface="Times New Roman" panose="02020603050405020304"/>
                <a:cs typeface="Times New Roman" panose="02020603050405020304"/>
              </a:rPr>
              <a:t>block </a:t>
            </a:r>
            <a:r>
              <a:rPr sz="2650" spc="-95" dirty="0">
                <a:latin typeface="Times New Roman" panose="02020603050405020304"/>
                <a:cs typeface="Times New Roman" panose="02020603050405020304"/>
              </a:rPr>
              <a:t>until </a:t>
            </a:r>
            <a:r>
              <a:rPr sz="2650" spc="-114" dirty="0">
                <a:latin typeface="Times New Roman" panose="02020603050405020304"/>
                <a:cs typeface="Times New Roman" panose="02020603050405020304"/>
              </a:rPr>
              <a:t>receiver </a:t>
            </a:r>
            <a:r>
              <a:rPr sz="2650" spc="-100" dirty="0">
                <a:latin typeface="Times New Roman" panose="02020603050405020304"/>
                <a:cs typeface="Times New Roman" panose="02020603050405020304"/>
              </a:rPr>
              <a:t>retrieves</a:t>
            </a:r>
            <a:r>
              <a:rPr sz="2650" spc="65" dirty="0">
                <a:latin typeface="Times New Roman" panose="02020603050405020304"/>
                <a:cs typeface="Times New Roman" panose="02020603050405020304"/>
              </a:rPr>
              <a:t> </a:t>
            </a:r>
            <a:r>
              <a:rPr sz="2650" spc="-150" dirty="0">
                <a:latin typeface="Times New Roman" panose="02020603050405020304"/>
                <a:cs typeface="Times New Roman" panose="02020603050405020304"/>
              </a:rPr>
              <a:t>message.</a:t>
            </a:r>
            <a:endParaRPr sz="2650">
              <a:latin typeface="Times New Roman" panose="02020603050405020304"/>
              <a:cs typeface="Times New Roman" panose="02020603050405020304"/>
            </a:endParaRPr>
          </a:p>
          <a:p>
            <a:pPr marL="897890" lvl="1" indent="-375920">
              <a:lnSpc>
                <a:spcPct val="100000"/>
              </a:lnSpc>
              <a:spcBef>
                <a:spcPts val="325"/>
              </a:spcBef>
              <a:buClr>
                <a:srgbClr val="9A2D1F"/>
              </a:buClr>
              <a:buSzPct val="85000"/>
              <a:buAutoNum type="arabicPeriod" startAt="2"/>
              <a:tabLst>
                <a:tab pos="897890" algn="l"/>
                <a:tab pos="898525" algn="l"/>
              </a:tabLst>
            </a:pPr>
            <a:r>
              <a:rPr sz="2650" spc="-160" dirty="0">
                <a:solidFill>
                  <a:srgbClr val="A50021"/>
                </a:solidFill>
                <a:latin typeface="Times New Roman" panose="02020603050405020304"/>
                <a:cs typeface="Times New Roman" panose="02020603050405020304"/>
              </a:rPr>
              <a:t>Bounded</a:t>
            </a:r>
            <a:r>
              <a:rPr sz="2650" spc="-85" dirty="0">
                <a:solidFill>
                  <a:srgbClr val="A50021"/>
                </a:solidFill>
                <a:latin typeface="Times New Roman" panose="02020603050405020304"/>
                <a:cs typeface="Times New Roman" panose="02020603050405020304"/>
              </a:rPr>
              <a:t> </a:t>
            </a:r>
            <a:r>
              <a:rPr sz="2650" spc="-150" dirty="0">
                <a:solidFill>
                  <a:srgbClr val="A50021"/>
                </a:solidFill>
                <a:latin typeface="Times New Roman" panose="02020603050405020304"/>
                <a:cs typeface="Times New Roman" panose="02020603050405020304"/>
              </a:rPr>
              <a:t>capacity</a:t>
            </a:r>
            <a:endParaRPr sz="2650">
              <a:latin typeface="Times New Roman" panose="02020603050405020304"/>
              <a:cs typeface="Times New Roman" panose="02020603050405020304"/>
            </a:endParaRPr>
          </a:p>
          <a:p>
            <a:pPr marL="1731645" marR="873760" indent="-502920">
              <a:lnSpc>
                <a:spcPts val="3170"/>
              </a:lnSpc>
              <a:spcBef>
                <a:spcPts val="545"/>
              </a:spcBef>
            </a:pPr>
            <a:r>
              <a:rPr sz="2650" spc="-180" dirty="0">
                <a:latin typeface="Times New Roman" panose="02020603050405020304"/>
                <a:cs typeface="Times New Roman" panose="02020603050405020304"/>
              </a:rPr>
              <a:t>Link </a:t>
            </a:r>
            <a:r>
              <a:rPr sz="2650" spc="-200" dirty="0">
                <a:latin typeface="Times New Roman" panose="02020603050405020304"/>
                <a:cs typeface="Times New Roman" panose="02020603050405020304"/>
              </a:rPr>
              <a:t>has </a:t>
            </a:r>
            <a:r>
              <a:rPr sz="2650" spc="-114" dirty="0">
                <a:latin typeface="Times New Roman" panose="02020603050405020304"/>
                <a:cs typeface="Times New Roman" panose="02020603050405020304"/>
              </a:rPr>
              <a:t>finite </a:t>
            </a:r>
            <a:r>
              <a:rPr sz="2650" spc="-105" dirty="0">
                <a:latin typeface="Times New Roman" panose="02020603050405020304"/>
                <a:cs typeface="Times New Roman" panose="02020603050405020304"/>
              </a:rPr>
              <a:t>number </a:t>
            </a:r>
            <a:r>
              <a:rPr sz="2650" spc="-170" dirty="0">
                <a:latin typeface="Times New Roman" panose="02020603050405020304"/>
                <a:cs typeface="Times New Roman" panose="02020603050405020304"/>
              </a:rPr>
              <a:t>of </a:t>
            </a:r>
            <a:r>
              <a:rPr sz="2650" spc="-180" dirty="0">
                <a:latin typeface="Times New Roman" panose="02020603050405020304"/>
                <a:cs typeface="Times New Roman" panose="02020603050405020304"/>
              </a:rPr>
              <a:t>message </a:t>
            </a:r>
            <a:r>
              <a:rPr sz="2650" spc="-110" dirty="0">
                <a:latin typeface="Times New Roman" panose="02020603050405020304"/>
                <a:cs typeface="Times New Roman" panose="02020603050405020304"/>
              </a:rPr>
              <a:t>buffers. </a:t>
            </a:r>
            <a:r>
              <a:rPr sz="2650" spc="-200" dirty="0">
                <a:latin typeface="Times New Roman" panose="02020603050405020304"/>
                <a:cs typeface="Times New Roman" panose="02020603050405020304"/>
              </a:rPr>
              <a:t>If </a:t>
            </a:r>
            <a:r>
              <a:rPr sz="2650" spc="-114" dirty="0">
                <a:latin typeface="Times New Roman" panose="02020603050405020304"/>
                <a:cs typeface="Times New Roman" panose="02020603050405020304"/>
              </a:rPr>
              <a:t>no </a:t>
            </a:r>
            <a:r>
              <a:rPr sz="2650" spc="-135" dirty="0">
                <a:latin typeface="Times New Roman" panose="02020603050405020304"/>
                <a:cs typeface="Times New Roman" panose="02020603050405020304"/>
              </a:rPr>
              <a:t>buffers </a:t>
            </a:r>
            <a:r>
              <a:rPr sz="2650" spc="-110" dirty="0">
                <a:latin typeface="Times New Roman" panose="02020603050405020304"/>
                <a:cs typeface="Times New Roman" panose="02020603050405020304"/>
              </a:rPr>
              <a:t>are  </a:t>
            </a:r>
            <a:r>
              <a:rPr sz="2650" spc="-185" dirty="0">
                <a:latin typeface="Times New Roman" panose="02020603050405020304"/>
                <a:cs typeface="Times New Roman" panose="02020603050405020304"/>
              </a:rPr>
              <a:t>available </a:t>
            </a:r>
            <a:r>
              <a:rPr sz="2650" spc="-95" dirty="0">
                <a:latin typeface="Times New Roman" panose="02020603050405020304"/>
                <a:cs typeface="Times New Roman" panose="02020603050405020304"/>
              </a:rPr>
              <a:t>then </a:t>
            </a:r>
            <a:r>
              <a:rPr sz="2650" spc="-105" dirty="0">
                <a:latin typeface="Times New Roman" panose="02020603050405020304"/>
                <a:cs typeface="Times New Roman" panose="02020603050405020304"/>
              </a:rPr>
              <a:t>sender </a:t>
            </a:r>
            <a:r>
              <a:rPr sz="2650" spc="-114" dirty="0">
                <a:latin typeface="Times New Roman" panose="02020603050405020304"/>
                <a:cs typeface="Times New Roman" panose="02020603050405020304"/>
              </a:rPr>
              <a:t>must </a:t>
            </a:r>
            <a:r>
              <a:rPr sz="2650" spc="-135" dirty="0">
                <a:latin typeface="Times New Roman" panose="02020603050405020304"/>
                <a:cs typeface="Times New Roman" panose="02020603050405020304"/>
              </a:rPr>
              <a:t>block </a:t>
            </a:r>
            <a:r>
              <a:rPr sz="2650" spc="-90" dirty="0">
                <a:latin typeface="Times New Roman" panose="02020603050405020304"/>
                <a:cs typeface="Times New Roman" panose="02020603050405020304"/>
              </a:rPr>
              <a:t>until </a:t>
            </a:r>
            <a:r>
              <a:rPr sz="2650" spc="-110" dirty="0">
                <a:latin typeface="Times New Roman" panose="02020603050405020304"/>
                <a:cs typeface="Times New Roman" panose="02020603050405020304"/>
              </a:rPr>
              <a:t>one </a:t>
            </a:r>
            <a:r>
              <a:rPr sz="2650" spc="-170" dirty="0">
                <a:latin typeface="Times New Roman" panose="02020603050405020304"/>
                <a:cs typeface="Times New Roman" panose="02020603050405020304"/>
              </a:rPr>
              <a:t>is </a:t>
            </a:r>
            <a:r>
              <a:rPr sz="2650" spc="-110" dirty="0">
                <a:latin typeface="Times New Roman" panose="02020603050405020304"/>
                <a:cs typeface="Times New Roman" panose="02020603050405020304"/>
              </a:rPr>
              <a:t>freed</a:t>
            </a:r>
            <a:r>
              <a:rPr sz="2650" spc="290" dirty="0">
                <a:latin typeface="Times New Roman" panose="02020603050405020304"/>
                <a:cs typeface="Times New Roman" panose="02020603050405020304"/>
              </a:rPr>
              <a:t> </a:t>
            </a:r>
            <a:r>
              <a:rPr sz="2650" spc="-85" dirty="0">
                <a:latin typeface="Times New Roman" panose="02020603050405020304"/>
                <a:cs typeface="Times New Roman" panose="02020603050405020304"/>
              </a:rPr>
              <a:t>up.</a:t>
            </a:r>
            <a:endParaRPr sz="2650">
              <a:latin typeface="Times New Roman" panose="02020603050405020304"/>
              <a:cs typeface="Times New Roman" panose="02020603050405020304"/>
            </a:endParaRPr>
          </a:p>
          <a:p>
            <a:pPr marL="897890" lvl="1" indent="-375920">
              <a:lnSpc>
                <a:spcPct val="100000"/>
              </a:lnSpc>
              <a:spcBef>
                <a:spcPts val="315"/>
              </a:spcBef>
              <a:buClr>
                <a:srgbClr val="9A2D1F"/>
              </a:buClr>
              <a:buSzPct val="85000"/>
              <a:buAutoNum type="arabicPeriod" startAt="3"/>
              <a:tabLst>
                <a:tab pos="897890" algn="l"/>
                <a:tab pos="898525" algn="l"/>
              </a:tabLst>
            </a:pPr>
            <a:r>
              <a:rPr sz="2650" spc="-125" dirty="0">
                <a:solidFill>
                  <a:srgbClr val="A50021"/>
                </a:solidFill>
                <a:latin typeface="Times New Roman" panose="02020603050405020304"/>
                <a:cs typeface="Times New Roman" panose="02020603050405020304"/>
              </a:rPr>
              <a:t>Unbounded</a:t>
            </a:r>
            <a:r>
              <a:rPr sz="2650" spc="-85" dirty="0">
                <a:solidFill>
                  <a:srgbClr val="A50021"/>
                </a:solidFill>
                <a:latin typeface="Times New Roman" panose="02020603050405020304"/>
                <a:cs typeface="Times New Roman" panose="02020603050405020304"/>
              </a:rPr>
              <a:t> </a:t>
            </a:r>
            <a:r>
              <a:rPr sz="2650" spc="-155" dirty="0">
                <a:solidFill>
                  <a:srgbClr val="A50021"/>
                </a:solidFill>
                <a:latin typeface="Times New Roman" panose="02020603050405020304"/>
                <a:cs typeface="Times New Roman" panose="02020603050405020304"/>
              </a:rPr>
              <a:t>capacity</a:t>
            </a:r>
            <a:endParaRPr sz="2650">
              <a:latin typeface="Times New Roman" panose="02020603050405020304"/>
              <a:cs typeface="Times New Roman" panose="02020603050405020304"/>
            </a:endParaRPr>
          </a:p>
          <a:p>
            <a:pPr marL="1731645" marR="5080" indent="-502920">
              <a:lnSpc>
                <a:spcPts val="3170"/>
              </a:lnSpc>
              <a:spcBef>
                <a:spcPts val="545"/>
              </a:spcBef>
            </a:pPr>
            <a:r>
              <a:rPr sz="2650" spc="-180" dirty="0">
                <a:latin typeface="Times New Roman" panose="02020603050405020304"/>
                <a:cs typeface="Times New Roman" panose="02020603050405020304"/>
              </a:rPr>
              <a:t>Link </a:t>
            </a:r>
            <a:r>
              <a:rPr sz="2650" spc="-200" dirty="0">
                <a:latin typeface="Times New Roman" panose="02020603050405020304"/>
                <a:cs typeface="Times New Roman" panose="02020603050405020304"/>
              </a:rPr>
              <a:t>has </a:t>
            </a:r>
            <a:r>
              <a:rPr sz="2650" spc="-114" dirty="0">
                <a:latin typeface="Times New Roman" panose="02020603050405020304"/>
                <a:cs typeface="Times New Roman" panose="02020603050405020304"/>
              </a:rPr>
              <a:t>unlimited </a:t>
            </a:r>
            <a:r>
              <a:rPr sz="2650" spc="-130" dirty="0">
                <a:latin typeface="Times New Roman" panose="02020603050405020304"/>
                <a:cs typeface="Times New Roman" panose="02020603050405020304"/>
              </a:rPr>
              <a:t>buffer </a:t>
            </a:r>
            <a:r>
              <a:rPr sz="2650" spc="-125" dirty="0">
                <a:latin typeface="Times New Roman" panose="02020603050405020304"/>
                <a:cs typeface="Times New Roman" panose="02020603050405020304"/>
              </a:rPr>
              <a:t>space, </a:t>
            </a:r>
            <a:r>
              <a:rPr sz="2650" spc="-130" dirty="0">
                <a:latin typeface="Times New Roman" panose="02020603050405020304"/>
                <a:cs typeface="Times New Roman" panose="02020603050405020304"/>
              </a:rPr>
              <a:t>consequently </a:t>
            </a:r>
            <a:r>
              <a:rPr sz="2650" spc="-135" dirty="0">
                <a:latin typeface="Times New Roman" panose="02020603050405020304"/>
                <a:cs typeface="Times New Roman" panose="02020603050405020304"/>
              </a:rPr>
              <a:t>send </a:t>
            </a:r>
            <a:r>
              <a:rPr sz="2650" spc="-130" dirty="0">
                <a:latin typeface="Times New Roman" panose="02020603050405020304"/>
                <a:cs typeface="Times New Roman" panose="02020603050405020304"/>
              </a:rPr>
              <a:t>never needs </a:t>
            </a:r>
            <a:r>
              <a:rPr sz="2650" spc="-50" dirty="0">
                <a:latin typeface="Times New Roman" panose="02020603050405020304"/>
                <a:cs typeface="Times New Roman" panose="02020603050405020304"/>
              </a:rPr>
              <a:t>to  </a:t>
            </a:r>
            <a:r>
              <a:rPr sz="2650" spc="-95" dirty="0">
                <a:latin typeface="Times New Roman" panose="02020603050405020304"/>
                <a:cs typeface="Times New Roman" panose="02020603050405020304"/>
              </a:rPr>
              <a:t>block.</a:t>
            </a:r>
            <a:endParaRPr sz="26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r>
              <a:rPr spc="114" dirty="0"/>
              <a:t>2</a:t>
            </a:r>
            <a:r>
              <a:rPr spc="114" dirty="0"/>
              <a:t>2</a:t>
            </a:r>
            <a:endParaRPr spc="114"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202229"/>
            <a:ext cx="7587615" cy="1367155"/>
          </a:xfrm>
          <a:prstGeom prst="rect">
            <a:avLst/>
          </a:prstGeom>
        </p:spPr>
        <p:txBody>
          <a:bodyPr vert="horz" wrap="square" lIns="0" tIns="12700" rIns="0" bIns="0" rtlCol="0">
            <a:spAutoFit/>
          </a:bodyPr>
          <a:lstStyle/>
          <a:p>
            <a:pPr marL="12700" marR="5080">
              <a:lnSpc>
                <a:spcPct val="100000"/>
              </a:lnSpc>
              <a:spcBef>
                <a:spcPts val="100"/>
              </a:spcBef>
            </a:pPr>
            <a:r>
              <a:rPr sz="4400" spc="-310" dirty="0"/>
              <a:t>Communication </a:t>
            </a:r>
            <a:r>
              <a:rPr sz="4400" spc="-260" dirty="0"/>
              <a:t>in </a:t>
            </a:r>
            <a:r>
              <a:rPr sz="4400" spc="-190" dirty="0"/>
              <a:t>Client/Server  </a:t>
            </a:r>
            <a:r>
              <a:rPr sz="4400" spc="-360" dirty="0"/>
              <a:t>Systems</a:t>
            </a:r>
            <a:endParaRPr sz="4400"/>
          </a:p>
        </p:txBody>
      </p:sp>
      <p:sp>
        <p:nvSpPr>
          <p:cNvPr id="3" name="object 3"/>
          <p:cNvSpPr txBox="1"/>
          <p:nvPr/>
        </p:nvSpPr>
        <p:spPr>
          <a:xfrm>
            <a:off x="1076946" y="1962821"/>
            <a:ext cx="8369934" cy="2708275"/>
          </a:xfrm>
          <a:prstGeom prst="rect">
            <a:avLst/>
          </a:prstGeom>
        </p:spPr>
        <p:txBody>
          <a:bodyPr vert="horz" wrap="square" lIns="0" tIns="100330" rIns="0" bIns="0" rtlCol="0">
            <a:spAutoFit/>
          </a:bodyPr>
          <a:lstStyle/>
          <a:p>
            <a:pPr marL="312420" indent="-300355">
              <a:lnSpc>
                <a:spcPct val="100000"/>
              </a:lnSpc>
              <a:spcBef>
                <a:spcPts val="790"/>
              </a:spcBef>
              <a:buClr>
                <a:srgbClr val="D34816"/>
              </a:buClr>
              <a:buSzPct val="85000"/>
              <a:buFont typeface="Webdings" panose="05030102010509060703"/>
              <a:buChar char=""/>
              <a:tabLst>
                <a:tab pos="313055" algn="l"/>
              </a:tabLst>
            </a:pPr>
            <a:r>
              <a:rPr sz="3050" spc="-165" dirty="0">
                <a:solidFill>
                  <a:srgbClr val="702FA0"/>
                </a:solidFill>
                <a:latin typeface="Times New Roman" panose="02020603050405020304"/>
                <a:cs typeface="Times New Roman" panose="02020603050405020304"/>
              </a:rPr>
              <a:t>Sockets</a:t>
            </a:r>
            <a:endParaRPr sz="3050">
              <a:latin typeface="Times New Roman" panose="02020603050405020304"/>
              <a:cs typeface="Times New Roman" panose="02020603050405020304"/>
            </a:endParaRPr>
          </a:p>
          <a:p>
            <a:pPr marL="312420" indent="-300355">
              <a:lnSpc>
                <a:spcPct val="100000"/>
              </a:lnSpc>
              <a:spcBef>
                <a:spcPts val="695"/>
              </a:spcBef>
              <a:buClr>
                <a:srgbClr val="D34816"/>
              </a:buClr>
              <a:buSzPct val="85000"/>
              <a:buFont typeface="Webdings" panose="05030102010509060703"/>
              <a:buChar char=""/>
              <a:tabLst>
                <a:tab pos="313055" algn="l"/>
              </a:tabLst>
            </a:pPr>
            <a:r>
              <a:rPr sz="3050" spc="-105" dirty="0">
                <a:solidFill>
                  <a:srgbClr val="702FA0"/>
                </a:solidFill>
                <a:latin typeface="Times New Roman" panose="02020603050405020304"/>
                <a:cs typeface="Times New Roman" panose="02020603050405020304"/>
              </a:rPr>
              <a:t>Remote </a:t>
            </a:r>
            <a:r>
              <a:rPr sz="3050" spc="-90" dirty="0">
                <a:solidFill>
                  <a:srgbClr val="702FA0"/>
                </a:solidFill>
                <a:latin typeface="Times New Roman" panose="02020603050405020304"/>
                <a:cs typeface="Times New Roman" panose="02020603050405020304"/>
              </a:rPr>
              <a:t>procedure</a:t>
            </a:r>
            <a:r>
              <a:rPr sz="3050" spc="-50" dirty="0">
                <a:solidFill>
                  <a:srgbClr val="702FA0"/>
                </a:solidFill>
                <a:latin typeface="Times New Roman" panose="02020603050405020304"/>
                <a:cs typeface="Times New Roman" panose="02020603050405020304"/>
              </a:rPr>
              <a:t> </a:t>
            </a:r>
            <a:r>
              <a:rPr sz="3050" spc="-170" dirty="0">
                <a:solidFill>
                  <a:srgbClr val="702FA0"/>
                </a:solidFill>
                <a:latin typeface="Times New Roman" panose="02020603050405020304"/>
                <a:cs typeface="Times New Roman" panose="02020603050405020304"/>
              </a:rPr>
              <a:t>calls</a:t>
            </a:r>
            <a:endParaRPr sz="3050">
              <a:latin typeface="Times New Roman" panose="02020603050405020304"/>
              <a:cs typeface="Times New Roman" panose="02020603050405020304"/>
            </a:endParaRPr>
          </a:p>
          <a:p>
            <a:pPr marL="312420" indent="-300355">
              <a:lnSpc>
                <a:spcPct val="100000"/>
              </a:lnSpc>
              <a:spcBef>
                <a:spcPts val="695"/>
              </a:spcBef>
              <a:buClr>
                <a:srgbClr val="D34816"/>
              </a:buClr>
              <a:buSzPct val="85000"/>
              <a:buFont typeface="Webdings" panose="05030102010509060703"/>
              <a:buChar char=""/>
              <a:tabLst>
                <a:tab pos="313055" algn="l"/>
              </a:tabLst>
            </a:pPr>
            <a:r>
              <a:rPr sz="3050" spc="-145" dirty="0">
                <a:solidFill>
                  <a:srgbClr val="702FA0"/>
                </a:solidFill>
                <a:latin typeface="Times New Roman" panose="02020603050405020304"/>
                <a:cs typeface="Times New Roman" panose="02020603050405020304"/>
              </a:rPr>
              <a:t>Pipes</a:t>
            </a:r>
            <a:endParaRPr sz="3050">
              <a:latin typeface="Times New Roman" panose="02020603050405020304"/>
              <a:cs typeface="Times New Roman" panose="02020603050405020304"/>
            </a:endParaRPr>
          </a:p>
          <a:p>
            <a:pPr marL="312420" marR="5080" indent="-300355">
              <a:lnSpc>
                <a:spcPct val="101000"/>
              </a:lnSpc>
              <a:spcBef>
                <a:spcPts val="660"/>
              </a:spcBef>
              <a:buClr>
                <a:srgbClr val="D34816"/>
              </a:buClr>
              <a:buSzPct val="85000"/>
              <a:buFont typeface="Webdings" panose="05030102010509060703"/>
              <a:buChar char=""/>
              <a:tabLst>
                <a:tab pos="313055" algn="l"/>
              </a:tabLst>
            </a:pPr>
            <a:r>
              <a:rPr sz="3050" spc="-110" dirty="0">
                <a:latin typeface="Times New Roman" panose="02020603050405020304"/>
                <a:cs typeface="Times New Roman" panose="02020603050405020304"/>
              </a:rPr>
              <a:t>What </a:t>
            </a:r>
            <a:r>
              <a:rPr sz="3050" spc="-130" dirty="0">
                <a:latin typeface="Times New Roman" panose="02020603050405020304"/>
                <a:cs typeface="Times New Roman" panose="02020603050405020304"/>
              </a:rPr>
              <a:t>types </a:t>
            </a:r>
            <a:r>
              <a:rPr sz="3050" spc="-165" dirty="0">
                <a:latin typeface="Times New Roman" panose="02020603050405020304"/>
                <a:cs typeface="Times New Roman" panose="02020603050405020304"/>
              </a:rPr>
              <a:t>of </a:t>
            </a:r>
            <a:r>
              <a:rPr sz="3050" spc="-110" dirty="0">
                <a:latin typeface="Times New Roman" panose="02020603050405020304"/>
                <a:cs typeface="Times New Roman" panose="02020603050405020304"/>
              </a:rPr>
              <a:t>Inter-Process </a:t>
            </a:r>
            <a:r>
              <a:rPr sz="3050" spc="-135" dirty="0">
                <a:latin typeface="Times New Roman" panose="02020603050405020304"/>
                <a:cs typeface="Times New Roman" panose="02020603050405020304"/>
              </a:rPr>
              <a:t>Communication </a:t>
            </a:r>
            <a:r>
              <a:rPr sz="3050" spc="-140" dirty="0">
                <a:latin typeface="Times New Roman" panose="02020603050405020304"/>
                <a:cs typeface="Times New Roman" panose="02020603050405020304"/>
              </a:rPr>
              <a:t>might </a:t>
            </a:r>
            <a:r>
              <a:rPr sz="3050" spc="-160" dirty="0">
                <a:latin typeface="Times New Roman" panose="02020603050405020304"/>
                <a:cs typeface="Times New Roman" panose="02020603050405020304"/>
              </a:rPr>
              <a:t>each  </a:t>
            </a:r>
            <a:r>
              <a:rPr sz="3050" spc="-165" dirty="0">
                <a:latin typeface="Times New Roman" panose="02020603050405020304"/>
                <a:cs typeface="Times New Roman" panose="02020603050405020304"/>
              </a:rPr>
              <a:t>of </a:t>
            </a:r>
            <a:r>
              <a:rPr sz="3050" spc="-114" dirty="0">
                <a:latin typeface="Times New Roman" panose="02020603050405020304"/>
                <a:cs typeface="Times New Roman" panose="02020603050405020304"/>
              </a:rPr>
              <a:t>these</a:t>
            </a:r>
            <a:r>
              <a:rPr sz="3050" dirty="0">
                <a:latin typeface="Times New Roman" panose="02020603050405020304"/>
                <a:cs typeface="Times New Roman" panose="02020603050405020304"/>
              </a:rPr>
              <a:t> </a:t>
            </a:r>
            <a:r>
              <a:rPr sz="3050" spc="-215" dirty="0">
                <a:latin typeface="Times New Roman" panose="02020603050405020304"/>
                <a:cs typeface="Times New Roman" panose="02020603050405020304"/>
              </a:rPr>
              <a:t>use?</a:t>
            </a:r>
            <a:endParaRPr sz="30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r>
              <a:rPr spc="114" dirty="0"/>
              <a:t>2</a:t>
            </a:r>
            <a:r>
              <a:rPr spc="114" dirty="0"/>
              <a:t>3</a:t>
            </a:r>
            <a:endParaRPr spc="114"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709647"/>
            <a:ext cx="2488565" cy="696595"/>
          </a:xfrm>
          <a:prstGeom prst="rect">
            <a:avLst/>
          </a:prstGeom>
        </p:spPr>
        <p:txBody>
          <a:bodyPr vert="horz" wrap="square" lIns="0" tIns="12700" rIns="0" bIns="0" rtlCol="0">
            <a:spAutoFit/>
          </a:bodyPr>
          <a:lstStyle/>
          <a:p>
            <a:pPr marL="12700">
              <a:lnSpc>
                <a:spcPct val="100000"/>
              </a:lnSpc>
              <a:spcBef>
                <a:spcPts val="100"/>
              </a:spcBef>
            </a:pPr>
            <a:r>
              <a:rPr sz="4400" spc="-10" dirty="0"/>
              <a:t>1.</a:t>
            </a:r>
            <a:r>
              <a:rPr sz="4400" spc="-195" dirty="0"/>
              <a:t> </a:t>
            </a:r>
            <a:r>
              <a:rPr sz="4400" spc="-325" dirty="0"/>
              <a:t>Sockets</a:t>
            </a:r>
            <a:endParaRPr sz="4400"/>
          </a:p>
        </p:txBody>
      </p:sp>
      <p:sp>
        <p:nvSpPr>
          <p:cNvPr id="3" name="object 3"/>
          <p:cNvSpPr txBox="1"/>
          <p:nvPr/>
        </p:nvSpPr>
        <p:spPr>
          <a:xfrm>
            <a:off x="1093655" y="1604959"/>
            <a:ext cx="8373745" cy="4091304"/>
          </a:xfrm>
          <a:prstGeom prst="rect">
            <a:avLst/>
          </a:prstGeom>
        </p:spPr>
        <p:txBody>
          <a:bodyPr vert="horz" wrap="square" lIns="0" tIns="99695" rIns="0" bIns="0" rtlCol="0">
            <a:spAutoFit/>
          </a:bodyPr>
          <a:lstStyle/>
          <a:p>
            <a:pPr marL="312420" indent="-300355">
              <a:lnSpc>
                <a:spcPct val="100000"/>
              </a:lnSpc>
              <a:spcBef>
                <a:spcPts val="785"/>
              </a:spcBef>
              <a:buClr>
                <a:srgbClr val="D34816"/>
              </a:buClr>
              <a:buSzPct val="85000"/>
              <a:buFont typeface="Webdings" panose="05030102010509060703"/>
              <a:buChar char=""/>
              <a:tabLst>
                <a:tab pos="313055" algn="l"/>
              </a:tabLst>
            </a:pPr>
            <a:r>
              <a:rPr sz="3050" spc="-140" dirty="0">
                <a:latin typeface="Times New Roman" panose="02020603050405020304"/>
                <a:cs typeface="Times New Roman" panose="02020603050405020304"/>
              </a:rPr>
              <a:t>Defined </a:t>
            </a:r>
            <a:r>
              <a:rPr sz="3050" spc="-220" dirty="0">
                <a:latin typeface="Times New Roman" panose="02020603050405020304"/>
                <a:cs typeface="Times New Roman" panose="02020603050405020304"/>
              </a:rPr>
              <a:t>as </a:t>
            </a:r>
            <a:r>
              <a:rPr sz="3050" spc="-229" dirty="0">
                <a:latin typeface="Times New Roman" panose="02020603050405020304"/>
                <a:cs typeface="Times New Roman" panose="02020603050405020304"/>
              </a:rPr>
              <a:t>a </a:t>
            </a:r>
            <a:r>
              <a:rPr sz="3050" spc="-85" dirty="0">
                <a:latin typeface="Times New Roman" panose="02020603050405020304"/>
                <a:cs typeface="Times New Roman" panose="02020603050405020304"/>
              </a:rPr>
              <a:t>point </a:t>
            </a:r>
            <a:r>
              <a:rPr sz="3050" spc="-165" dirty="0">
                <a:latin typeface="Times New Roman" panose="02020603050405020304"/>
                <a:cs typeface="Times New Roman" panose="02020603050405020304"/>
              </a:rPr>
              <a:t>of</a:t>
            </a:r>
            <a:r>
              <a:rPr sz="3050" spc="245" dirty="0">
                <a:latin typeface="Times New Roman" panose="02020603050405020304"/>
                <a:cs typeface="Times New Roman" panose="02020603050405020304"/>
              </a:rPr>
              <a:t> </a:t>
            </a:r>
            <a:r>
              <a:rPr sz="3050" spc="-135" dirty="0">
                <a:latin typeface="Times New Roman" panose="02020603050405020304"/>
                <a:cs typeface="Times New Roman" panose="02020603050405020304"/>
              </a:rPr>
              <a:t>communication</a:t>
            </a:r>
            <a:endParaRPr sz="3050">
              <a:latin typeface="Times New Roman" panose="02020603050405020304"/>
              <a:cs typeface="Times New Roman" panose="02020603050405020304"/>
            </a:endParaRPr>
          </a:p>
          <a:p>
            <a:pPr marL="312420" marR="5080" indent="-300355">
              <a:lnSpc>
                <a:spcPct val="101000"/>
              </a:lnSpc>
              <a:spcBef>
                <a:spcPts val="660"/>
              </a:spcBef>
              <a:buClr>
                <a:srgbClr val="D34816"/>
              </a:buClr>
              <a:buSzPct val="85000"/>
              <a:buFont typeface="Webdings" panose="05030102010509060703"/>
              <a:buChar char=""/>
              <a:tabLst>
                <a:tab pos="313055" algn="l"/>
                <a:tab pos="805815" algn="l"/>
                <a:tab pos="1616710" algn="l"/>
                <a:tab pos="2157095" algn="l"/>
                <a:tab pos="3461385" algn="l"/>
                <a:tab pos="5894070" algn="l"/>
                <a:tab pos="6771005" algn="l"/>
                <a:tab pos="7178675" algn="l"/>
              </a:tabLst>
            </a:pPr>
            <a:r>
              <a:rPr sz="3050" spc="-370" dirty="0">
                <a:latin typeface="Times New Roman" panose="02020603050405020304"/>
                <a:cs typeface="Times New Roman" panose="02020603050405020304"/>
              </a:rPr>
              <a:t>A</a:t>
            </a:r>
            <a:r>
              <a:rPr sz="3050" spc="-370" dirty="0">
                <a:latin typeface="Times New Roman" panose="02020603050405020304"/>
                <a:cs typeface="Times New Roman" panose="02020603050405020304"/>
              </a:rPr>
              <a:t>	</a:t>
            </a:r>
            <a:r>
              <a:rPr sz="3050" spc="-110" dirty="0">
                <a:latin typeface="Times New Roman" panose="02020603050405020304"/>
                <a:cs typeface="Times New Roman" panose="02020603050405020304"/>
              </a:rPr>
              <a:t>p</a:t>
            </a:r>
            <a:r>
              <a:rPr sz="3050" spc="-220" dirty="0">
                <a:latin typeface="Times New Roman" panose="02020603050405020304"/>
                <a:cs typeface="Times New Roman" panose="02020603050405020304"/>
              </a:rPr>
              <a:t>a</a:t>
            </a:r>
            <a:r>
              <a:rPr sz="3050" spc="-145" dirty="0">
                <a:latin typeface="Times New Roman" panose="02020603050405020304"/>
                <a:cs typeface="Times New Roman" panose="02020603050405020304"/>
              </a:rPr>
              <a:t>i</a:t>
            </a:r>
            <a:r>
              <a:rPr sz="3050" spc="45" dirty="0">
                <a:latin typeface="Times New Roman" panose="02020603050405020304"/>
                <a:cs typeface="Times New Roman" panose="02020603050405020304"/>
              </a:rPr>
              <a:t>r</a:t>
            </a:r>
            <a:r>
              <a:rPr sz="3050" dirty="0">
                <a:latin typeface="Times New Roman" panose="02020603050405020304"/>
                <a:cs typeface="Times New Roman" panose="02020603050405020304"/>
              </a:rPr>
              <a:t>	</a:t>
            </a:r>
            <a:r>
              <a:rPr sz="3050" spc="-140" dirty="0">
                <a:latin typeface="Times New Roman" panose="02020603050405020304"/>
                <a:cs typeface="Times New Roman" panose="02020603050405020304"/>
              </a:rPr>
              <a:t>o</a:t>
            </a:r>
            <a:r>
              <a:rPr sz="3050" spc="-215" dirty="0">
                <a:latin typeface="Times New Roman" panose="02020603050405020304"/>
                <a:cs typeface="Times New Roman" panose="02020603050405020304"/>
              </a:rPr>
              <a:t>f</a:t>
            </a:r>
            <a:r>
              <a:rPr sz="3050" dirty="0">
                <a:latin typeface="Times New Roman" panose="02020603050405020304"/>
                <a:cs typeface="Times New Roman" panose="02020603050405020304"/>
              </a:rPr>
              <a:t>	</a:t>
            </a:r>
            <a:r>
              <a:rPr sz="3050" spc="-110" dirty="0">
                <a:latin typeface="Times New Roman" panose="02020603050405020304"/>
                <a:cs typeface="Times New Roman" panose="02020603050405020304"/>
              </a:rPr>
              <a:t>p</a:t>
            </a:r>
            <a:r>
              <a:rPr sz="3050" dirty="0">
                <a:latin typeface="Times New Roman" panose="02020603050405020304"/>
                <a:cs typeface="Times New Roman" panose="02020603050405020304"/>
              </a:rPr>
              <a:t>r</a:t>
            </a:r>
            <a:r>
              <a:rPr sz="3050" spc="-110" dirty="0">
                <a:latin typeface="Times New Roman" panose="02020603050405020304"/>
                <a:cs typeface="Times New Roman" panose="02020603050405020304"/>
              </a:rPr>
              <a:t>o</a:t>
            </a:r>
            <a:r>
              <a:rPr sz="3050" spc="-155" dirty="0">
                <a:latin typeface="Times New Roman" panose="02020603050405020304"/>
                <a:cs typeface="Times New Roman" panose="02020603050405020304"/>
              </a:rPr>
              <a:t>c</a:t>
            </a:r>
            <a:r>
              <a:rPr sz="3050" spc="-125" dirty="0">
                <a:latin typeface="Times New Roman" panose="02020603050405020304"/>
                <a:cs typeface="Times New Roman" panose="02020603050405020304"/>
              </a:rPr>
              <a:t>e</a:t>
            </a:r>
            <a:r>
              <a:rPr sz="3050" spc="-235" dirty="0">
                <a:latin typeface="Times New Roman" panose="02020603050405020304"/>
                <a:cs typeface="Times New Roman" panose="02020603050405020304"/>
              </a:rPr>
              <a:t>s</a:t>
            </a:r>
            <a:r>
              <a:rPr sz="3050" spc="-225" dirty="0">
                <a:latin typeface="Times New Roman" panose="02020603050405020304"/>
                <a:cs typeface="Times New Roman" panose="02020603050405020304"/>
              </a:rPr>
              <a:t>s</a:t>
            </a:r>
            <a:r>
              <a:rPr sz="3050" dirty="0">
                <a:latin typeface="Times New Roman" panose="02020603050405020304"/>
                <a:cs typeface="Times New Roman" panose="02020603050405020304"/>
              </a:rPr>
              <a:t>	</a:t>
            </a:r>
            <a:r>
              <a:rPr sz="3050" spc="-155" dirty="0">
                <a:latin typeface="Times New Roman" panose="02020603050405020304"/>
                <a:cs typeface="Times New Roman" panose="02020603050405020304"/>
              </a:rPr>
              <a:t>c</a:t>
            </a:r>
            <a:r>
              <a:rPr sz="3050" spc="-140" dirty="0">
                <a:latin typeface="Times New Roman" panose="02020603050405020304"/>
                <a:cs typeface="Times New Roman" panose="02020603050405020304"/>
              </a:rPr>
              <a:t>o</a:t>
            </a:r>
            <a:r>
              <a:rPr sz="3050" spc="-155" dirty="0">
                <a:latin typeface="Times New Roman" panose="02020603050405020304"/>
                <a:cs typeface="Times New Roman" panose="02020603050405020304"/>
              </a:rPr>
              <a:t>m</a:t>
            </a:r>
            <a:r>
              <a:rPr sz="3050" spc="-185" dirty="0">
                <a:latin typeface="Times New Roman" panose="02020603050405020304"/>
                <a:cs typeface="Times New Roman" panose="02020603050405020304"/>
              </a:rPr>
              <a:t>m</a:t>
            </a:r>
            <a:r>
              <a:rPr sz="3050" spc="-110" dirty="0">
                <a:latin typeface="Times New Roman" panose="02020603050405020304"/>
                <a:cs typeface="Times New Roman" panose="02020603050405020304"/>
              </a:rPr>
              <a:t>un</a:t>
            </a:r>
            <a:r>
              <a:rPr sz="3050" spc="-145" dirty="0">
                <a:latin typeface="Times New Roman" panose="02020603050405020304"/>
                <a:cs typeface="Times New Roman" panose="02020603050405020304"/>
              </a:rPr>
              <a:t>i</a:t>
            </a:r>
            <a:r>
              <a:rPr sz="3050" spc="-185" dirty="0">
                <a:latin typeface="Times New Roman" panose="02020603050405020304"/>
                <a:cs typeface="Times New Roman" panose="02020603050405020304"/>
              </a:rPr>
              <a:t>c</a:t>
            </a:r>
            <a:r>
              <a:rPr sz="3050" spc="-280" dirty="0">
                <a:latin typeface="Times New Roman" panose="02020603050405020304"/>
                <a:cs typeface="Times New Roman" panose="02020603050405020304"/>
              </a:rPr>
              <a:t>a</a:t>
            </a:r>
            <a:r>
              <a:rPr sz="3050" spc="40" dirty="0">
                <a:latin typeface="Times New Roman" panose="02020603050405020304"/>
                <a:cs typeface="Times New Roman" panose="02020603050405020304"/>
              </a:rPr>
              <a:t>t</a:t>
            </a:r>
            <a:r>
              <a:rPr sz="3050" spc="-145" dirty="0">
                <a:latin typeface="Times New Roman" panose="02020603050405020304"/>
                <a:cs typeface="Times New Roman" panose="02020603050405020304"/>
              </a:rPr>
              <a:t>i</a:t>
            </a:r>
            <a:r>
              <a:rPr sz="3050" spc="-110" dirty="0">
                <a:latin typeface="Times New Roman" panose="02020603050405020304"/>
                <a:cs typeface="Times New Roman" panose="02020603050405020304"/>
              </a:rPr>
              <a:t>n</a:t>
            </a:r>
            <a:r>
              <a:rPr sz="3050" spc="-240" dirty="0">
                <a:latin typeface="Times New Roman" panose="02020603050405020304"/>
                <a:cs typeface="Times New Roman" panose="02020603050405020304"/>
              </a:rPr>
              <a:t>g</a:t>
            </a:r>
            <a:r>
              <a:rPr sz="3050" dirty="0">
                <a:latin typeface="Times New Roman" panose="02020603050405020304"/>
                <a:cs typeface="Times New Roman" panose="02020603050405020304"/>
              </a:rPr>
              <a:t>	</a:t>
            </a:r>
            <a:r>
              <a:rPr sz="3050" spc="-204" dirty="0">
                <a:latin typeface="Times New Roman" panose="02020603050405020304"/>
                <a:cs typeface="Times New Roman" panose="02020603050405020304"/>
              </a:rPr>
              <a:t>o</a:t>
            </a:r>
            <a:r>
              <a:rPr sz="3050" spc="-325" dirty="0">
                <a:latin typeface="Times New Roman" panose="02020603050405020304"/>
                <a:cs typeface="Times New Roman" panose="02020603050405020304"/>
              </a:rPr>
              <a:t>v</a:t>
            </a:r>
            <a:r>
              <a:rPr sz="3050" spc="-95" dirty="0">
                <a:latin typeface="Times New Roman" panose="02020603050405020304"/>
                <a:cs typeface="Times New Roman" panose="02020603050405020304"/>
              </a:rPr>
              <a:t>e</a:t>
            </a:r>
            <a:r>
              <a:rPr sz="3050" spc="45" dirty="0">
                <a:latin typeface="Times New Roman" panose="02020603050405020304"/>
                <a:cs typeface="Times New Roman" panose="02020603050405020304"/>
              </a:rPr>
              <a:t>r</a:t>
            </a:r>
            <a:r>
              <a:rPr sz="3050" dirty="0">
                <a:latin typeface="Times New Roman" panose="02020603050405020304"/>
                <a:cs typeface="Times New Roman" panose="02020603050405020304"/>
              </a:rPr>
              <a:t>	</a:t>
            </a:r>
            <a:r>
              <a:rPr sz="3050" spc="-229" dirty="0">
                <a:latin typeface="Times New Roman" panose="02020603050405020304"/>
                <a:cs typeface="Times New Roman" panose="02020603050405020304"/>
              </a:rPr>
              <a:t>a</a:t>
            </a:r>
            <a:r>
              <a:rPr sz="3050" dirty="0">
                <a:latin typeface="Times New Roman" panose="02020603050405020304"/>
                <a:cs typeface="Times New Roman" panose="02020603050405020304"/>
              </a:rPr>
              <a:t>	</a:t>
            </a:r>
            <a:r>
              <a:rPr sz="3050" spc="-140" dirty="0">
                <a:latin typeface="Times New Roman" panose="02020603050405020304"/>
                <a:cs typeface="Times New Roman" panose="02020603050405020304"/>
              </a:rPr>
              <a:t>n</a:t>
            </a:r>
            <a:r>
              <a:rPr sz="3050" spc="-95" dirty="0">
                <a:latin typeface="Times New Roman" panose="02020603050405020304"/>
                <a:cs typeface="Times New Roman" panose="02020603050405020304"/>
              </a:rPr>
              <a:t>e</a:t>
            </a:r>
            <a:r>
              <a:rPr sz="3050" spc="40" dirty="0">
                <a:latin typeface="Times New Roman" panose="02020603050405020304"/>
                <a:cs typeface="Times New Roman" panose="02020603050405020304"/>
              </a:rPr>
              <a:t>t</a:t>
            </a:r>
            <a:r>
              <a:rPr sz="3050" spc="-265" dirty="0">
                <a:latin typeface="Times New Roman" panose="02020603050405020304"/>
                <a:cs typeface="Times New Roman" panose="02020603050405020304"/>
              </a:rPr>
              <a:t>w</a:t>
            </a:r>
            <a:r>
              <a:rPr sz="3050" spc="-110" dirty="0">
                <a:latin typeface="Times New Roman" panose="02020603050405020304"/>
                <a:cs typeface="Times New Roman" panose="02020603050405020304"/>
              </a:rPr>
              <a:t>o</a:t>
            </a:r>
            <a:r>
              <a:rPr sz="3050" spc="30" dirty="0">
                <a:latin typeface="Times New Roman" panose="02020603050405020304"/>
                <a:cs typeface="Times New Roman" panose="02020603050405020304"/>
              </a:rPr>
              <a:t>r</a:t>
            </a:r>
            <a:r>
              <a:rPr sz="3050" spc="-120" dirty="0">
                <a:latin typeface="Times New Roman" panose="02020603050405020304"/>
                <a:cs typeface="Times New Roman" panose="02020603050405020304"/>
              </a:rPr>
              <a:t>k  </a:t>
            </a:r>
            <a:r>
              <a:rPr sz="3050" spc="-150" dirty="0">
                <a:latin typeface="Times New Roman" panose="02020603050405020304"/>
                <a:cs typeface="Times New Roman" panose="02020603050405020304"/>
              </a:rPr>
              <a:t>employee </a:t>
            </a:r>
            <a:r>
              <a:rPr sz="3050" spc="-229" dirty="0">
                <a:latin typeface="Times New Roman" panose="02020603050405020304"/>
                <a:cs typeface="Times New Roman" panose="02020603050405020304"/>
              </a:rPr>
              <a:t>a </a:t>
            </a:r>
            <a:r>
              <a:rPr sz="3050" spc="-114" dirty="0">
                <a:latin typeface="Times New Roman" panose="02020603050405020304"/>
                <a:cs typeface="Times New Roman" panose="02020603050405020304"/>
              </a:rPr>
              <a:t>pair </a:t>
            </a:r>
            <a:r>
              <a:rPr sz="3050" spc="-180" dirty="0">
                <a:latin typeface="Times New Roman" panose="02020603050405020304"/>
                <a:cs typeface="Times New Roman" panose="02020603050405020304"/>
              </a:rPr>
              <a:t>of</a:t>
            </a:r>
            <a:r>
              <a:rPr sz="3050" spc="190" dirty="0">
                <a:latin typeface="Times New Roman" panose="02020603050405020304"/>
                <a:cs typeface="Times New Roman" panose="02020603050405020304"/>
              </a:rPr>
              <a:t> </a:t>
            </a:r>
            <a:r>
              <a:rPr sz="3050" spc="-135" dirty="0">
                <a:latin typeface="Times New Roman" panose="02020603050405020304"/>
                <a:cs typeface="Times New Roman" panose="02020603050405020304"/>
              </a:rPr>
              <a:t>sockets</a:t>
            </a:r>
            <a:endParaRPr sz="3050">
              <a:latin typeface="Times New Roman" panose="02020603050405020304"/>
              <a:cs typeface="Times New Roman" panose="02020603050405020304"/>
            </a:endParaRPr>
          </a:p>
          <a:p>
            <a:pPr marL="312420" indent="-300355">
              <a:lnSpc>
                <a:spcPct val="100000"/>
              </a:lnSpc>
              <a:spcBef>
                <a:spcPts val="700"/>
              </a:spcBef>
              <a:buClr>
                <a:srgbClr val="D34816"/>
              </a:buClr>
              <a:buSzPct val="85000"/>
              <a:buFont typeface="Webdings" panose="05030102010509060703"/>
              <a:buChar char=""/>
              <a:tabLst>
                <a:tab pos="313055" algn="l"/>
              </a:tabLst>
            </a:pPr>
            <a:r>
              <a:rPr sz="3050" spc="-155" dirty="0">
                <a:latin typeface="Times New Roman" panose="02020603050405020304"/>
                <a:cs typeface="Times New Roman" panose="02020603050405020304"/>
              </a:rPr>
              <a:t>Socket </a:t>
            </a:r>
            <a:r>
              <a:rPr sz="3050" spc="335" dirty="0">
                <a:latin typeface="Times New Roman" panose="02020603050405020304"/>
                <a:cs typeface="Times New Roman" panose="02020603050405020304"/>
              </a:rPr>
              <a:t>=</a:t>
            </a:r>
            <a:r>
              <a:rPr sz="3050" spc="-390" dirty="0">
                <a:latin typeface="Times New Roman" panose="02020603050405020304"/>
                <a:cs typeface="Times New Roman" panose="02020603050405020304"/>
              </a:rPr>
              <a:t> </a:t>
            </a:r>
            <a:r>
              <a:rPr sz="3050" spc="-185" dirty="0">
                <a:latin typeface="Times New Roman" panose="02020603050405020304"/>
                <a:cs typeface="Times New Roman" panose="02020603050405020304"/>
              </a:rPr>
              <a:t>IP </a:t>
            </a:r>
            <a:r>
              <a:rPr sz="3050" spc="-165" dirty="0">
                <a:latin typeface="Times New Roman" panose="02020603050405020304"/>
                <a:cs typeface="Times New Roman" panose="02020603050405020304"/>
              </a:rPr>
              <a:t>Address </a:t>
            </a:r>
            <a:r>
              <a:rPr sz="3050" spc="50" dirty="0">
                <a:latin typeface="Times New Roman" panose="02020603050405020304"/>
                <a:cs typeface="Times New Roman" panose="02020603050405020304"/>
              </a:rPr>
              <a:t>: </a:t>
            </a:r>
            <a:r>
              <a:rPr sz="3050" spc="-45" dirty="0">
                <a:latin typeface="Times New Roman" panose="02020603050405020304"/>
                <a:cs typeface="Times New Roman" panose="02020603050405020304"/>
              </a:rPr>
              <a:t>Port </a:t>
            </a:r>
            <a:r>
              <a:rPr sz="3050" spc="-105" dirty="0">
                <a:latin typeface="Times New Roman" panose="02020603050405020304"/>
                <a:cs typeface="Times New Roman" panose="02020603050405020304"/>
              </a:rPr>
              <a:t>Number</a:t>
            </a:r>
            <a:endParaRPr sz="3050">
              <a:latin typeface="Times New Roman" panose="02020603050405020304"/>
              <a:cs typeface="Times New Roman" panose="02020603050405020304"/>
            </a:endParaRPr>
          </a:p>
          <a:p>
            <a:pPr marL="312420" indent="-300355">
              <a:lnSpc>
                <a:spcPct val="100000"/>
              </a:lnSpc>
              <a:spcBef>
                <a:spcPts val="695"/>
              </a:spcBef>
              <a:buClr>
                <a:srgbClr val="D34816"/>
              </a:buClr>
              <a:buSzPct val="85000"/>
              <a:buFont typeface="Webdings" panose="05030102010509060703"/>
              <a:buChar char=""/>
              <a:tabLst>
                <a:tab pos="313055" algn="l"/>
              </a:tabLst>
            </a:pPr>
            <a:r>
              <a:rPr sz="3050" spc="-195" dirty="0">
                <a:latin typeface="Times New Roman" panose="02020603050405020304"/>
                <a:cs typeface="Times New Roman" panose="02020603050405020304"/>
              </a:rPr>
              <a:t>All </a:t>
            </a:r>
            <a:r>
              <a:rPr sz="3050" spc="-55" dirty="0">
                <a:latin typeface="Times New Roman" panose="02020603050405020304"/>
                <a:cs typeface="Times New Roman" panose="02020603050405020304"/>
              </a:rPr>
              <a:t>ports </a:t>
            </a:r>
            <a:r>
              <a:rPr sz="3050" spc="-145" dirty="0">
                <a:latin typeface="Times New Roman" panose="02020603050405020304"/>
                <a:cs typeface="Times New Roman" panose="02020603050405020304"/>
              </a:rPr>
              <a:t>below </a:t>
            </a:r>
            <a:r>
              <a:rPr sz="3050" spc="-110" dirty="0">
                <a:latin typeface="Times New Roman" panose="02020603050405020304"/>
                <a:cs typeface="Times New Roman" panose="02020603050405020304"/>
              </a:rPr>
              <a:t>1024 </a:t>
            </a:r>
            <a:r>
              <a:rPr sz="3050" spc="-120" dirty="0">
                <a:latin typeface="Times New Roman" panose="02020603050405020304"/>
                <a:cs typeface="Times New Roman" panose="02020603050405020304"/>
              </a:rPr>
              <a:t>are considered </a:t>
            </a:r>
            <a:r>
              <a:rPr sz="3050" spc="-145" dirty="0">
                <a:latin typeface="Times New Roman" panose="02020603050405020304"/>
                <a:cs typeface="Times New Roman" panose="02020603050405020304"/>
              </a:rPr>
              <a:t>well</a:t>
            </a:r>
            <a:r>
              <a:rPr sz="3050" spc="195" dirty="0">
                <a:latin typeface="Times New Roman" panose="02020603050405020304"/>
                <a:cs typeface="Times New Roman" panose="02020603050405020304"/>
              </a:rPr>
              <a:t> </a:t>
            </a:r>
            <a:r>
              <a:rPr sz="3050" spc="-155" dirty="0">
                <a:latin typeface="Times New Roman" panose="02020603050405020304"/>
                <a:cs typeface="Times New Roman" panose="02020603050405020304"/>
              </a:rPr>
              <a:t>known</a:t>
            </a:r>
            <a:endParaRPr sz="3050">
              <a:latin typeface="Times New Roman" panose="02020603050405020304"/>
              <a:cs typeface="Times New Roman" panose="02020603050405020304"/>
            </a:endParaRPr>
          </a:p>
          <a:p>
            <a:pPr marL="615950" lvl="1" indent="-252095">
              <a:lnSpc>
                <a:spcPct val="100000"/>
              </a:lnSpc>
              <a:spcBef>
                <a:spcPts val="510"/>
              </a:spcBef>
              <a:buClr>
                <a:srgbClr val="9A2D1F"/>
              </a:buClr>
              <a:buSzPct val="85000"/>
              <a:buFont typeface="Webdings" panose="05030102010509060703"/>
              <a:buChar char=""/>
              <a:tabLst>
                <a:tab pos="616585" algn="l"/>
              </a:tabLst>
            </a:pPr>
            <a:r>
              <a:rPr sz="2650" spc="-135" dirty="0">
                <a:latin typeface="Times New Roman" panose="02020603050405020304"/>
                <a:cs typeface="Times New Roman" panose="02020603050405020304"/>
              </a:rPr>
              <a:t>FTP:</a:t>
            </a:r>
            <a:r>
              <a:rPr sz="2650" spc="-175" dirty="0">
                <a:latin typeface="Times New Roman" panose="02020603050405020304"/>
                <a:cs typeface="Times New Roman" panose="02020603050405020304"/>
              </a:rPr>
              <a:t> </a:t>
            </a:r>
            <a:r>
              <a:rPr sz="2650" spc="-130" dirty="0">
                <a:latin typeface="Times New Roman" panose="02020603050405020304"/>
                <a:cs typeface="Times New Roman" panose="02020603050405020304"/>
              </a:rPr>
              <a:t>21</a:t>
            </a:r>
            <a:endParaRPr sz="2650">
              <a:latin typeface="Times New Roman" panose="02020603050405020304"/>
              <a:cs typeface="Times New Roman" panose="02020603050405020304"/>
            </a:endParaRPr>
          </a:p>
          <a:p>
            <a:pPr marL="615950" lvl="1" indent="-252095">
              <a:lnSpc>
                <a:spcPct val="100000"/>
              </a:lnSpc>
              <a:spcBef>
                <a:spcPts val="415"/>
              </a:spcBef>
              <a:buClr>
                <a:srgbClr val="9A2D1F"/>
              </a:buClr>
              <a:buSzPct val="85000"/>
              <a:buFont typeface="Webdings" panose="05030102010509060703"/>
              <a:buChar char=""/>
              <a:tabLst>
                <a:tab pos="616585" algn="l"/>
              </a:tabLst>
            </a:pPr>
            <a:r>
              <a:rPr sz="2650" spc="-125" dirty="0">
                <a:latin typeface="Times New Roman" panose="02020603050405020304"/>
                <a:cs typeface="Times New Roman" panose="02020603050405020304"/>
              </a:rPr>
              <a:t>Telnet:</a:t>
            </a:r>
            <a:r>
              <a:rPr sz="2650" spc="-175" dirty="0">
                <a:latin typeface="Times New Roman" panose="02020603050405020304"/>
                <a:cs typeface="Times New Roman" panose="02020603050405020304"/>
              </a:rPr>
              <a:t> </a:t>
            </a:r>
            <a:r>
              <a:rPr sz="2650" spc="-114" dirty="0">
                <a:latin typeface="Times New Roman" panose="02020603050405020304"/>
                <a:cs typeface="Times New Roman" panose="02020603050405020304"/>
              </a:rPr>
              <a:t>23</a:t>
            </a:r>
            <a:endParaRPr sz="2650">
              <a:latin typeface="Times New Roman" panose="02020603050405020304"/>
              <a:cs typeface="Times New Roman" panose="02020603050405020304"/>
            </a:endParaRPr>
          </a:p>
          <a:p>
            <a:pPr marL="615950" lvl="1" indent="-252095">
              <a:lnSpc>
                <a:spcPct val="100000"/>
              </a:lnSpc>
              <a:spcBef>
                <a:spcPts val="435"/>
              </a:spcBef>
              <a:buClr>
                <a:srgbClr val="9A2D1F"/>
              </a:buClr>
              <a:buSzPct val="85000"/>
              <a:buFont typeface="Webdings" panose="05030102010509060703"/>
              <a:buChar char=""/>
              <a:tabLst>
                <a:tab pos="616585" algn="l"/>
              </a:tabLst>
            </a:pPr>
            <a:r>
              <a:rPr sz="2650" spc="-215" dirty="0">
                <a:latin typeface="Times New Roman" panose="02020603050405020304"/>
                <a:cs typeface="Times New Roman" panose="02020603050405020304"/>
              </a:rPr>
              <a:t>Web </a:t>
            </a:r>
            <a:r>
              <a:rPr sz="2650" spc="-80" dirty="0">
                <a:latin typeface="Times New Roman" panose="02020603050405020304"/>
                <a:cs typeface="Times New Roman" panose="02020603050405020304"/>
              </a:rPr>
              <a:t>server:</a:t>
            </a:r>
            <a:r>
              <a:rPr sz="2650" spc="-480" dirty="0">
                <a:latin typeface="Times New Roman" panose="02020603050405020304"/>
                <a:cs typeface="Times New Roman" panose="02020603050405020304"/>
              </a:rPr>
              <a:t> </a:t>
            </a:r>
            <a:r>
              <a:rPr sz="2650" spc="-114" dirty="0">
                <a:latin typeface="Times New Roman" panose="02020603050405020304"/>
                <a:cs typeface="Times New Roman" panose="02020603050405020304"/>
              </a:rPr>
              <a:t>80</a:t>
            </a:r>
            <a:endParaRPr sz="26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p:nvPr/>
        </p:nvSpPr>
        <p:spPr>
          <a:xfrm>
            <a:off x="289052" y="7077995"/>
            <a:ext cx="245745" cy="247015"/>
          </a:xfrm>
          <a:prstGeom prst="rect">
            <a:avLst/>
          </a:prstGeom>
        </p:spPr>
        <p:txBody>
          <a:bodyPr vert="horz" wrap="square" lIns="0" tIns="635" rIns="0" bIns="0" rtlCol="0">
            <a:spAutoFit/>
          </a:bodyPr>
          <a:lstStyle/>
          <a:p>
            <a:pPr marL="12700">
              <a:lnSpc>
                <a:spcPct val="100000"/>
              </a:lnSpc>
              <a:spcBef>
                <a:spcPts val="5"/>
              </a:spcBef>
            </a:pPr>
            <a:r>
              <a:rPr sz="1500" spc="35" dirty="0">
                <a:solidFill>
                  <a:srgbClr val="FFFFFF"/>
                </a:solidFill>
                <a:latin typeface="Trebuchet MS" panose="020B0603020202020204"/>
                <a:cs typeface="Trebuchet MS" panose="020B0603020202020204"/>
              </a:rPr>
              <a:t>2</a:t>
            </a:r>
            <a:r>
              <a:rPr sz="1500" spc="110" dirty="0">
                <a:solidFill>
                  <a:srgbClr val="FFFFFF"/>
                </a:solidFill>
                <a:latin typeface="Trebuchet MS" panose="020B0603020202020204"/>
                <a:cs typeface="Trebuchet MS" panose="020B0603020202020204"/>
              </a:rPr>
              <a:t>4</a:t>
            </a:r>
            <a:endParaRPr sz="1500">
              <a:latin typeface="Trebuchet MS" panose="020B0603020202020204"/>
              <a:cs typeface="Trebuchet MS" panose="020B06030202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630448"/>
            <a:ext cx="1884680" cy="696595"/>
          </a:xfrm>
          <a:prstGeom prst="rect">
            <a:avLst/>
          </a:prstGeom>
        </p:spPr>
        <p:txBody>
          <a:bodyPr vert="horz" wrap="square" lIns="0" tIns="12700" rIns="0" bIns="0" rtlCol="0">
            <a:spAutoFit/>
          </a:bodyPr>
          <a:lstStyle/>
          <a:p>
            <a:pPr marL="12700">
              <a:lnSpc>
                <a:spcPct val="100000"/>
              </a:lnSpc>
              <a:spcBef>
                <a:spcPts val="100"/>
              </a:spcBef>
            </a:pPr>
            <a:r>
              <a:rPr sz="4400" spc="-325" dirty="0"/>
              <a:t>Sockets</a:t>
            </a:r>
            <a:endParaRPr sz="4400"/>
          </a:p>
        </p:txBody>
      </p:sp>
      <p:sp>
        <p:nvSpPr>
          <p:cNvPr id="3" name="object 3"/>
          <p:cNvSpPr txBox="1"/>
          <p:nvPr/>
        </p:nvSpPr>
        <p:spPr>
          <a:xfrm>
            <a:off x="1093655" y="1688136"/>
            <a:ext cx="8176895" cy="4008120"/>
          </a:xfrm>
          <a:prstGeom prst="rect">
            <a:avLst/>
          </a:prstGeom>
        </p:spPr>
        <p:txBody>
          <a:bodyPr vert="horz" wrap="square" lIns="0" tIns="12065" rIns="0" bIns="0" rtlCol="0">
            <a:spAutoFit/>
          </a:bodyPr>
          <a:lstStyle/>
          <a:p>
            <a:pPr marL="312420" marR="5080" indent="-300355">
              <a:lnSpc>
                <a:spcPct val="101000"/>
              </a:lnSpc>
              <a:spcBef>
                <a:spcPts val="95"/>
              </a:spcBef>
              <a:buClr>
                <a:srgbClr val="D34816"/>
              </a:buClr>
              <a:buSzPct val="85000"/>
              <a:buFont typeface="Webdings" panose="05030102010509060703"/>
              <a:buChar char=""/>
              <a:tabLst>
                <a:tab pos="313055" algn="l"/>
              </a:tabLst>
            </a:pPr>
            <a:r>
              <a:rPr sz="3050" spc="-95" dirty="0">
                <a:latin typeface="Times New Roman" panose="02020603050405020304"/>
                <a:cs typeface="Times New Roman" panose="02020603050405020304"/>
              </a:rPr>
              <a:t>Client </a:t>
            </a:r>
            <a:r>
              <a:rPr sz="3050" spc="-120" dirty="0">
                <a:latin typeface="Times New Roman" panose="02020603050405020304"/>
                <a:cs typeface="Times New Roman" panose="02020603050405020304"/>
              </a:rPr>
              <a:t>initiates </a:t>
            </a:r>
            <a:r>
              <a:rPr sz="3050" spc="-229" dirty="0">
                <a:latin typeface="Times New Roman" panose="02020603050405020304"/>
                <a:cs typeface="Times New Roman" panose="02020603050405020304"/>
              </a:rPr>
              <a:t>a </a:t>
            </a:r>
            <a:r>
              <a:rPr sz="3050" spc="-110" dirty="0">
                <a:latin typeface="Times New Roman" panose="02020603050405020304"/>
                <a:cs typeface="Times New Roman" panose="02020603050405020304"/>
              </a:rPr>
              <a:t>requests </a:t>
            </a:r>
            <a:r>
              <a:rPr sz="3050" spc="-95" dirty="0">
                <a:latin typeface="Times New Roman" panose="02020603050405020304"/>
                <a:cs typeface="Times New Roman" panose="02020603050405020304"/>
              </a:rPr>
              <a:t>for </a:t>
            </a:r>
            <a:r>
              <a:rPr sz="3050" spc="-90" dirty="0">
                <a:latin typeface="Times New Roman" panose="02020603050405020304"/>
                <a:cs typeface="Times New Roman" panose="02020603050405020304"/>
              </a:rPr>
              <a:t>connection, </a:t>
            </a:r>
            <a:r>
              <a:rPr sz="3050" spc="-45" dirty="0">
                <a:latin typeface="Times New Roman" panose="02020603050405020304"/>
                <a:cs typeface="Times New Roman" panose="02020603050405020304"/>
              </a:rPr>
              <a:t>it </a:t>
            </a:r>
            <a:r>
              <a:rPr sz="3050" spc="-185" dirty="0">
                <a:latin typeface="Times New Roman" panose="02020603050405020304"/>
                <a:cs typeface="Times New Roman" panose="02020603050405020304"/>
              </a:rPr>
              <a:t>is </a:t>
            </a:r>
            <a:r>
              <a:rPr sz="3050" spc="-175" dirty="0">
                <a:latin typeface="Times New Roman" panose="02020603050405020304"/>
                <a:cs typeface="Times New Roman" panose="02020603050405020304"/>
              </a:rPr>
              <a:t>assigned </a:t>
            </a:r>
            <a:r>
              <a:rPr sz="3050" spc="-229" dirty="0">
                <a:latin typeface="Times New Roman" panose="02020603050405020304"/>
                <a:cs typeface="Times New Roman" panose="02020603050405020304"/>
              </a:rPr>
              <a:t>a  </a:t>
            </a:r>
            <a:r>
              <a:rPr sz="3050" spc="-5" dirty="0">
                <a:latin typeface="Times New Roman" panose="02020603050405020304"/>
                <a:cs typeface="Times New Roman" panose="02020603050405020304"/>
              </a:rPr>
              <a:t>port </a:t>
            </a:r>
            <a:r>
              <a:rPr sz="3050" spc="-220" dirty="0">
                <a:latin typeface="Times New Roman" panose="02020603050405020304"/>
                <a:cs typeface="Times New Roman" panose="02020603050405020304"/>
              </a:rPr>
              <a:t>by </a:t>
            </a:r>
            <a:r>
              <a:rPr sz="3050" spc="-114" dirty="0">
                <a:latin typeface="Times New Roman" panose="02020603050405020304"/>
                <a:cs typeface="Times New Roman" panose="02020603050405020304"/>
              </a:rPr>
              <a:t>host</a:t>
            </a:r>
            <a:r>
              <a:rPr sz="3050" spc="-45" dirty="0">
                <a:latin typeface="Times New Roman" panose="02020603050405020304"/>
                <a:cs typeface="Times New Roman" panose="02020603050405020304"/>
              </a:rPr>
              <a:t> </a:t>
            </a:r>
            <a:r>
              <a:rPr sz="3050" spc="-90" dirty="0">
                <a:latin typeface="Times New Roman" panose="02020603050405020304"/>
                <a:cs typeface="Times New Roman" panose="02020603050405020304"/>
              </a:rPr>
              <a:t>computer</a:t>
            </a:r>
            <a:endParaRPr sz="3050">
              <a:latin typeface="Times New Roman" panose="02020603050405020304"/>
              <a:cs typeface="Times New Roman" panose="02020603050405020304"/>
            </a:endParaRPr>
          </a:p>
          <a:p>
            <a:pPr marL="312420" indent="-300355">
              <a:lnSpc>
                <a:spcPct val="100000"/>
              </a:lnSpc>
              <a:spcBef>
                <a:spcPts val="695"/>
              </a:spcBef>
              <a:buClr>
                <a:srgbClr val="D34816"/>
              </a:buClr>
              <a:buSzPct val="85000"/>
              <a:buFont typeface="Webdings" panose="05030102010509060703"/>
              <a:buChar char=""/>
              <a:tabLst>
                <a:tab pos="313055" algn="l"/>
              </a:tabLst>
            </a:pPr>
            <a:r>
              <a:rPr sz="3050" spc="-110" dirty="0">
                <a:latin typeface="Times New Roman" panose="02020603050405020304"/>
                <a:cs typeface="Times New Roman" panose="02020603050405020304"/>
              </a:rPr>
              <a:t>Connection on one </a:t>
            </a:r>
            <a:r>
              <a:rPr sz="3050" spc="-114" dirty="0">
                <a:latin typeface="Times New Roman" panose="02020603050405020304"/>
                <a:cs typeface="Times New Roman" panose="02020603050405020304"/>
              </a:rPr>
              <a:t>host </a:t>
            </a:r>
            <a:r>
              <a:rPr sz="3050" spc="-120" dirty="0">
                <a:latin typeface="Times New Roman" panose="02020603050405020304"/>
                <a:cs typeface="Times New Roman" panose="02020603050405020304"/>
              </a:rPr>
              <a:t>must </a:t>
            </a:r>
            <a:r>
              <a:rPr sz="3050" spc="-125" dirty="0">
                <a:latin typeface="Times New Roman" panose="02020603050405020304"/>
                <a:cs typeface="Times New Roman" panose="02020603050405020304"/>
              </a:rPr>
              <a:t>be</a:t>
            </a:r>
            <a:r>
              <a:rPr sz="3050" spc="60" dirty="0">
                <a:latin typeface="Times New Roman" panose="02020603050405020304"/>
                <a:cs typeface="Times New Roman" panose="02020603050405020304"/>
              </a:rPr>
              <a:t> </a:t>
            </a:r>
            <a:r>
              <a:rPr sz="3050" spc="-125" dirty="0">
                <a:latin typeface="Times New Roman" panose="02020603050405020304"/>
                <a:cs typeface="Times New Roman" panose="02020603050405020304"/>
              </a:rPr>
              <a:t>unique</a:t>
            </a:r>
            <a:endParaRPr sz="3050">
              <a:latin typeface="Times New Roman" panose="02020603050405020304"/>
              <a:cs typeface="Times New Roman" panose="02020603050405020304"/>
            </a:endParaRPr>
          </a:p>
          <a:p>
            <a:pPr marL="312420" indent="-300355">
              <a:lnSpc>
                <a:spcPct val="100000"/>
              </a:lnSpc>
              <a:spcBef>
                <a:spcPts val="700"/>
              </a:spcBef>
              <a:buClr>
                <a:srgbClr val="D34816"/>
              </a:buClr>
              <a:buSzPct val="85000"/>
              <a:buFont typeface="Webdings" panose="05030102010509060703"/>
              <a:buChar char=""/>
              <a:tabLst>
                <a:tab pos="313055" algn="l"/>
              </a:tabLst>
            </a:pPr>
            <a:r>
              <a:rPr sz="3050" spc="-165" dirty="0">
                <a:latin typeface="Times New Roman" panose="02020603050405020304"/>
                <a:cs typeface="Times New Roman" panose="02020603050405020304"/>
              </a:rPr>
              <a:t>Sockets </a:t>
            </a:r>
            <a:r>
              <a:rPr sz="3050" spc="-175" dirty="0">
                <a:latin typeface="Times New Roman" panose="02020603050405020304"/>
                <a:cs typeface="Times New Roman" panose="02020603050405020304"/>
              </a:rPr>
              <a:t>can</a:t>
            </a:r>
            <a:r>
              <a:rPr sz="3050" spc="-15" dirty="0">
                <a:latin typeface="Times New Roman" panose="02020603050405020304"/>
                <a:cs typeface="Times New Roman" panose="02020603050405020304"/>
              </a:rPr>
              <a:t> </a:t>
            </a:r>
            <a:r>
              <a:rPr sz="3050" spc="-125" dirty="0">
                <a:latin typeface="Times New Roman" panose="02020603050405020304"/>
                <a:cs typeface="Times New Roman" panose="02020603050405020304"/>
              </a:rPr>
              <a:t>be</a:t>
            </a:r>
            <a:endParaRPr sz="3050">
              <a:latin typeface="Times New Roman" panose="02020603050405020304"/>
              <a:cs typeface="Times New Roman" panose="02020603050405020304"/>
            </a:endParaRPr>
          </a:p>
          <a:p>
            <a:pPr marL="615950" lvl="1" indent="-252095">
              <a:lnSpc>
                <a:spcPct val="100000"/>
              </a:lnSpc>
              <a:spcBef>
                <a:spcPts val="505"/>
              </a:spcBef>
              <a:buClr>
                <a:srgbClr val="9A2D1F"/>
              </a:buClr>
              <a:buSzPct val="85000"/>
              <a:buFont typeface="Webdings" panose="05030102010509060703"/>
              <a:buChar char=""/>
              <a:tabLst>
                <a:tab pos="616585" algn="l"/>
              </a:tabLst>
            </a:pPr>
            <a:r>
              <a:rPr sz="2650" spc="-95" dirty="0">
                <a:latin typeface="Times New Roman" panose="02020603050405020304"/>
                <a:cs typeface="Times New Roman" panose="02020603050405020304"/>
              </a:rPr>
              <a:t>Connection-oriented </a:t>
            </a:r>
            <a:r>
              <a:rPr sz="2650" spc="-114" dirty="0">
                <a:latin typeface="Times New Roman" panose="02020603050405020304"/>
                <a:cs typeface="Times New Roman" panose="02020603050405020304"/>
              </a:rPr>
              <a:t>(TCP)</a:t>
            </a:r>
            <a:r>
              <a:rPr sz="2650" spc="-50" dirty="0">
                <a:latin typeface="Times New Roman" panose="02020603050405020304"/>
                <a:cs typeface="Times New Roman" panose="02020603050405020304"/>
              </a:rPr>
              <a:t> </a:t>
            </a:r>
            <a:r>
              <a:rPr sz="2650" spc="-120" dirty="0">
                <a:latin typeface="Times New Roman" panose="02020603050405020304"/>
                <a:cs typeface="Times New Roman" panose="02020603050405020304"/>
              </a:rPr>
              <a:t>socket</a:t>
            </a:r>
            <a:endParaRPr sz="2650">
              <a:latin typeface="Times New Roman" panose="02020603050405020304"/>
              <a:cs typeface="Times New Roman" panose="02020603050405020304"/>
            </a:endParaRPr>
          </a:p>
          <a:p>
            <a:pPr marL="615950" lvl="1" indent="-252095">
              <a:lnSpc>
                <a:spcPct val="100000"/>
              </a:lnSpc>
              <a:spcBef>
                <a:spcPts val="420"/>
              </a:spcBef>
              <a:buClr>
                <a:srgbClr val="9A2D1F"/>
              </a:buClr>
              <a:buSzPct val="85000"/>
              <a:buFont typeface="Webdings" panose="05030102010509060703"/>
              <a:buChar char=""/>
              <a:tabLst>
                <a:tab pos="616585" algn="l"/>
              </a:tabLst>
            </a:pPr>
            <a:r>
              <a:rPr sz="2650" spc="-125" dirty="0">
                <a:latin typeface="Times New Roman" panose="02020603050405020304"/>
                <a:cs typeface="Times New Roman" panose="02020603050405020304"/>
              </a:rPr>
              <a:t>Connectionless </a:t>
            </a:r>
            <a:r>
              <a:rPr sz="2650" spc="-114" dirty="0">
                <a:latin typeface="Times New Roman" panose="02020603050405020304"/>
                <a:cs typeface="Times New Roman" panose="02020603050405020304"/>
              </a:rPr>
              <a:t>(UDP)</a:t>
            </a:r>
            <a:r>
              <a:rPr sz="2650" spc="-35" dirty="0">
                <a:latin typeface="Times New Roman" panose="02020603050405020304"/>
                <a:cs typeface="Times New Roman" panose="02020603050405020304"/>
              </a:rPr>
              <a:t> </a:t>
            </a:r>
            <a:r>
              <a:rPr sz="2650" spc="-125" dirty="0">
                <a:latin typeface="Times New Roman" panose="02020603050405020304"/>
                <a:cs typeface="Times New Roman" panose="02020603050405020304"/>
              </a:rPr>
              <a:t>socket</a:t>
            </a:r>
            <a:endParaRPr sz="2650">
              <a:latin typeface="Times New Roman" panose="02020603050405020304"/>
              <a:cs typeface="Times New Roman" panose="02020603050405020304"/>
            </a:endParaRPr>
          </a:p>
          <a:p>
            <a:pPr marL="312420" indent="-300355">
              <a:lnSpc>
                <a:spcPct val="100000"/>
              </a:lnSpc>
              <a:spcBef>
                <a:spcPts val="630"/>
              </a:spcBef>
              <a:buClr>
                <a:srgbClr val="D34816"/>
              </a:buClr>
              <a:buSzPct val="85000"/>
              <a:buFont typeface="Webdings" panose="05030102010509060703"/>
              <a:buChar char=""/>
              <a:tabLst>
                <a:tab pos="313055" algn="l"/>
              </a:tabLst>
            </a:pPr>
            <a:r>
              <a:rPr sz="3050" spc="-120" dirty="0">
                <a:latin typeface="Times New Roman" panose="02020603050405020304"/>
                <a:cs typeface="Times New Roman" panose="02020603050405020304"/>
              </a:rPr>
              <a:t>Considered </a:t>
            </a:r>
            <a:r>
              <a:rPr sz="3050" spc="-225" dirty="0">
                <a:latin typeface="Times New Roman" panose="02020603050405020304"/>
                <a:cs typeface="Times New Roman" panose="02020603050405020304"/>
              </a:rPr>
              <a:t>Low </a:t>
            </a:r>
            <a:r>
              <a:rPr sz="3050" spc="-160" dirty="0">
                <a:latin typeface="Times New Roman" panose="02020603050405020304"/>
                <a:cs typeface="Times New Roman" panose="02020603050405020304"/>
              </a:rPr>
              <a:t>level </a:t>
            </a:r>
            <a:r>
              <a:rPr sz="3050" spc="-120" dirty="0">
                <a:latin typeface="Times New Roman" panose="02020603050405020304"/>
                <a:cs typeface="Times New Roman" panose="02020603050405020304"/>
              </a:rPr>
              <a:t>mode </a:t>
            </a:r>
            <a:r>
              <a:rPr sz="3050" spc="-165" dirty="0">
                <a:latin typeface="Times New Roman" panose="02020603050405020304"/>
                <a:cs typeface="Times New Roman" panose="02020603050405020304"/>
              </a:rPr>
              <a:t>of</a:t>
            </a:r>
            <a:r>
              <a:rPr sz="3050" spc="245" dirty="0">
                <a:latin typeface="Times New Roman" panose="02020603050405020304"/>
                <a:cs typeface="Times New Roman" panose="02020603050405020304"/>
              </a:rPr>
              <a:t> </a:t>
            </a:r>
            <a:r>
              <a:rPr sz="3050" spc="-135" dirty="0">
                <a:latin typeface="Times New Roman" panose="02020603050405020304"/>
                <a:cs typeface="Times New Roman" panose="02020603050405020304"/>
              </a:rPr>
              <a:t>communication</a:t>
            </a:r>
            <a:endParaRPr sz="3050">
              <a:latin typeface="Times New Roman" panose="02020603050405020304"/>
              <a:cs typeface="Times New Roman" panose="02020603050405020304"/>
            </a:endParaRPr>
          </a:p>
          <a:p>
            <a:pPr marL="615950" lvl="1" indent="-252095">
              <a:lnSpc>
                <a:spcPct val="100000"/>
              </a:lnSpc>
              <a:spcBef>
                <a:spcPts val="500"/>
              </a:spcBef>
              <a:buClr>
                <a:srgbClr val="9A2D1F"/>
              </a:buClr>
              <a:buSzPct val="85000"/>
              <a:buFont typeface="Webdings" panose="05030102010509060703"/>
              <a:buChar char=""/>
              <a:tabLst>
                <a:tab pos="616585" algn="l"/>
              </a:tabLst>
            </a:pPr>
            <a:r>
              <a:rPr sz="2650" spc="-180" dirty="0">
                <a:latin typeface="Times New Roman" panose="02020603050405020304"/>
                <a:cs typeface="Times New Roman" panose="02020603050405020304"/>
              </a:rPr>
              <a:t>Shares </a:t>
            </a:r>
            <a:r>
              <a:rPr sz="2650" spc="-80" dirty="0">
                <a:latin typeface="Times New Roman" panose="02020603050405020304"/>
                <a:cs typeface="Times New Roman" panose="02020603050405020304"/>
              </a:rPr>
              <a:t>unstructured </a:t>
            </a:r>
            <a:r>
              <a:rPr sz="2650" spc="-114" dirty="0">
                <a:latin typeface="Times New Roman" panose="02020603050405020304"/>
                <a:cs typeface="Times New Roman" panose="02020603050405020304"/>
              </a:rPr>
              <a:t>stream </a:t>
            </a:r>
            <a:r>
              <a:rPr sz="2650" spc="-155" dirty="0">
                <a:latin typeface="Times New Roman" panose="02020603050405020304"/>
                <a:cs typeface="Times New Roman" panose="02020603050405020304"/>
              </a:rPr>
              <a:t>of</a:t>
            </a:r>
            <a:r>
              <a:rPr sz="2650" spc="90" dirty="0">
                <a:latin typeface="Times New Roman" panose="02020603050405020304"/>
                <a:cs typeface="Times New Roman" panose="02020603050405020304"/>
              </a:rPr>
              <a:t> </a:t>
            </a:r>
            <a:r>
              <a:rPr sz="2650" spc="-145" dirty="0">
                <a:latin typeface="Times New Roman" panose="02020603050405020304"/>
                <a:cs typeface="Times New Roman" panose="02020603050405020304"/>
              </a:rPr>
              <a:t>bytes</a:t>
            </a:r>
            <a:endParaRPr sz="26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r>
              <a:rPr spc="114" dirty="0"/>
              <a:t>2</a:t>
            </a:r>
            <a:r>
              <a:rPr spc="114" dirty="0"/>
              <a:t>5</a:t>
            </a:r>
            <a:endParaRPr spc="114"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630448"/>
            <a:ext cx="1884680" cy="696595"/>
          </a:xfrm>
          <a:prstGeom prst="rect">
            <a:avLst/>
          </a:prstGeom>
        </p:spPr>
        <p:txBody>
          <a:bodyPr vert="horz" wrap="square" lIns="0" tIns="12700" rIns="0" bIns="0" rtlCol="0">
            <a:spAutoFit/>
          </a:bodyPr>
          <a:lstStyle/>
          <a:p>
            <a:pPr marL="12700">
              <a:lnSpc>
                <a:spcPct val="100000"/>
              </a:lnSpc>
              <a:spcBef>
                <a:spcPts val="100"/>
              </a:spcBef>
            </a:pPr>
            <a:r>
              <a:rPr sz="4400" spc="-325" dirty="0"/>
              <a:t>Sockets</a:t>
            </a:r>
            <a:endParaRPr sz="4400"/>
          </a:p>
        </p:txBody>
      </p:sp>
      <p:sp>
        <p:nvSpPr>
          <p:cNvPr id="3" name="object 3"/>
          <p:cNvSpPr/>
          <p:nvPr/>
        </p:nvSpPr>
        <p:spPr>
          <a:xfrm>
            <a:off x="1278636" y="1786127"/>
            <a:ext cx="8005571" cy="4872228"/>
          </a:xfrm>
          <a:prstGeom prst="rect">
            <a:avLst/>
          </a:prstGeom>
          <a:blipFill>
            <a:blip r:embed="rId1" cstate="print"/>
            <a:stretch>
              <a:fillRect/>
            </a:stretch>
          </a:blipFill>
        </p:spPr>
        <p:txBody>
          <a:bodyPr wrap="square" lIns="0" tIns="0" rIns="0" bIns="0" rtlCol="0"/>
          <a:lstStyle/>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r>
              <a:rPr spc="114" dirty="0"/>
              <a:t>2</a:t>
            </a:r>
            <a:r>
              <a:rPr spc="114" dirty="0"/>
              <a:t>6</a:t>
            </a:r>
            <a:endParaRPr spc="114"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400533" y="590902"/>
            <a:ext cx="7257333" cy="607695"/>
          </a:xfrm>
        </p:spPr>
        <p:txBody>
          <a:bodyPr/>
          <a:p>
            <a:r>
              <a:rPr lang="en-US"/>
              <a:t>2- RPC</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61544" y="239268"/>
            <a:ext cx="9706610" cy="7295515"/>
            <a:chOff x="161544" y="239268"/>
            <a:chExt cx="9706610" cy="7295515"/>
          </a:xfrm>
        </p:grpSpPr>
        <p:sp>
          <p:nvSpPr>
            <p:cNvPr id="3" name="object 3"/>
            <p:cNvSpPr/>
            <p:nvPr/>
          </p:nvSpPr>
          <p:spPr>
            <a:xfrm>
              <a:off x="350520" y="239268"/>
              <a:ext cx="9517380" cy="7295387"/>
            </a:xfrm>
            <a:prstGeom prst="rect">
              <a:avLst/>
            </a:prstGeom>
            <a:blipFill>
              <a:blip r:embed="rId1" cstate="print"/>
              <a:stretch>
                <a:fillRect/>
              </a:stretch>
            </a:blipFill>
          </p:spPr>
          <p:txBody>
            <a:bodyPr wrap="square" lIns="0" tIns="0" rIns="0" bIns="0" rtlCol="0"/>
            <a:lstStyle/>
            <a:p/>
          </p:txBody>
        </p:sp>
        <p:sp>
          <p:nvSpPr>
            <p:cNvPr id="4" name="object 4"/>
            <p:cNvSpPr/>
            <p:nvPr/>
          </p:nvSpPr>
          <p:spPr>
            <a:xfrm>
              <a:off x="161544" y="6946391"/>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grpSp>
      <p:sp>
        <p:nvSpPr>
          <p:cNvPr id="5" name="object 5"/>
          <p:cNvSpPr txBox="1"/>
          <p:nvPr/>
        </p:nvSpPr>
        <p:spPr>
          <a:xfrm>
            <a:off x="1095247" y="7039050"/>
            <a:ext cx="2503170" cy="243840"/>
          </a:xfrm>
          <a:prstGeom prst="rect">
            <a:avLst/>
          </a:prstGeom>
        </p:spPr>
        <p:txBody>
          <a:bodyPr vert="horz" wrap="square" lIns="0" tIns="0" rIns="0" bIns="0" rtlCol="0">
            <a:spAutoFit/>
          </a:bodyPr>
          <a:lstStyle/>
          <a:p>
            <a:pPr marL="12700">
              <a:lnSpc>
                <a:spcPts val="1790"/>
              </a:lnSpc>
            </a:pPr>
            <a:r>
              <a:rPr sz="1500" spc="15" dirty="0">
                <a:solidFill>
                  <a:srgbClr val="696464"/>
                </a:solidFill>
                <a:latin typeface="Arial" panose="020B0604020202020204"/>
                <a:cs typeface="Arial" panose="020B0604020202020204"/>
              </a:rPr>
              <a:t>CS-2006 Operating</a:t>
            </a:r>
            <a:r>
              <a:rPr sz="1500" spc="-45" dirty="0">
                <a:solidFill>
                  <a:srgbClr val="696464"/>
                </a:solidFill>
                <a:latin typeface="Arial" panose="020B0604020202020204"/>
                <a:cs typeface="Arial" panose="020B0604020202020204"/>
              </a:rPr>
              <a:t> </a:t>
            </a:r>
            <a:r>
              <a:rPr sz="1500" spc="10" dirty="0">
                <a:solidFill>
                  <a:srgbClr val="696464"/>
                </a:solidFill>
                <a:latin typeface="Arial" panose="020B0604020202020204"/>
                <a:cs typeface="Arial" panose="020B0604020202020204"/>
              </a:rPr>
              <a:t>Systems</a:t>
            </a:r>
            <a:endParaRPr sz="1500">
              <a:latin typeface="Arial" panose="020B0604020202020204"/>
              <a:cs typeface="Arial" panose="020B0604020202020204"/>
            </a:endParaRPr>
          </a:p>
        </p:txBody>
      </p:sp>
      <p:sp>
        <p:nvSpPr>
          <p:cNvPr id="6" name="object 6"/>
          <p:cNvSpPr txBox="1"/>
          <p:nvPr/>
        </p:nvSpPr>
        <p:spPr>
          <a:xfrm>
            <a:off x="286004" y="7077995"/>
            <a:ext cx="280670" cy="247015"/>
          </a:xfrm>
          <a:prstGeom prst="rect">
            <a:avLst/>
          </a:prstGeom>
        </p:spPr>
        <p:txBody>
          <a:bodyPr vert="horz" wrap="square" lIns="0" tIns="635" rIns="0" bIns="0" rtlCol="0">
            <a:spAutoFit/>
          </a:bodyPr>
          <a:lstStyle/>
          <a:p>
            <a:pPr marL="12700">
              <a:lnSpc>
                <a:spcPct val="100000"/>
              </a:lnSpc>
              <a:spcBef>
                <a:spcPts val="5"/>
              </a:spcBef>
            </a:pPr>
            <a:r>
              <a:rPr sz="1500" spc="114" dirty="0">
                <a:solidFill>
                  <a:srgbClr val="FFFFFF"/>
                </a:solidFill>
                <a:latin typeface="Trebuchet MS" panose="020B0603020202020204"/>
                <a:cs typeface="Trebuchet MS" panose="020B0603020202020204"/>
              </a:rPr>
              <a:t>3</a:t>
            </a:r>
            <a:r>
              <a:rPr sz="1500" spc="114" dirty="0">
                <a:solidFill>
                  <a:srgbClr val="FFFFFF"/>
                </a:solidFill>
                <a:latin typeface="Trebuchet MS" panose="020B0603020202020204"/>
                <a:cs typeface="Trebuchet MS" panose="020B0603020202020204"/>
              </a:rPr>
              <a:t>2</a:t>
            </a:r>
            <a:endParaRPr sz="1500">
              <a:latin typeface="Trebuchet MS" panose="020B0603020202020204"/>
              <a:cs typeface="Trebuchet MS" panose="020B0603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00533" y="590902"/>
            <a:ext cx="7257333" cy="607695"/>
          </a:xfrm>
        </p:spPr>
        <p:txBody>
          <a:bodyPr/>
          <a:p>
            <a:r>
              <a:rPr lang="en-US"/>
              <a:t>3- PIPES</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a:xfrm>
            <a:off x="1400533" y="590902"/>
            <a:ext cx="7257333" cy="607695"/>
          </a:xfrm>
        </p:spPr>
        <p:txBody>
          <a:bodyPr/>
          <a:p>
            <a:r>
              <a:rPr lang="en-US"/>
              <a:t>Default File Descriptors</a:t>
            </a:r>
            <a:endParaRPr lang="en-US"/>
          </a:p>
        </p:txBody>
      </p:sp>
      <p:pic>
        <p:nvPicPr>
          <p:cNvPr id="5" name="Picture 4"/>
          <p:cNvPicPr>
            <a:picLocks noChangeAspect="1"/>
          </p:cNvPicPr>
          <p:nvPr/>
        </p:nvPicPr>
        <p:blipFill>
          <a:blip r:embed="rId1"/>
          <a:stretch>
            <a:fillRect/>
          </a:stretch>
        </p:blipFill>
        <p:spPr>
          <a:xfrm>
            <a:off x="208280" y="1676400"/>
            <a:ext cx="9642475" cy="395287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23190" y="533400"/>
            <a:ext cx="9759315" cy="668464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76200" y="533400"/>
            <a:ext cx="9869170" cy="681926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516890" y="550545"/>
            <a:ext cx="9115425" cy="673798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00533" y="590902"/>
            <a:ext cx="7257333" cy="607695"/>
          </a:xfrm>
        </p:spPr>
        <p:txBody>
          <a:bodyPr/>
          <a:p>
            <a:r>
              <a:rPr lang="en-US"/>
              <a:t>Sharing File Descriptors</a:t>
            </a:r>
            <a:endParaRPr lang="en-US"/>
          </a:p>
        </p:txBody>
      </p:sp>
      <p:pic>
        <p:nvPicPr>
          <p:cNvPr id="5" name="Picture 4"/>
          <p:cNvPicPr>
            <a:picLocks noChangeAspect="1"/>
          </p:cNvPicPr>
          <p:nvPr/>
        </p:nvPicPr>
        <p:blipFill>
          <a:blip r:embed="rId1"/>
          <a:stretch>
            <a:fillRect/>
          </a:stretch>
        </p:blipFill>
        <p:spPr>
          <a:xfrm>
            <a:off x="304800" y="1600200"/>
            <a:ext cx="9573260" cy="497903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00533" y="590902"/>
            <a:ext cx="7257333" cy="607695"/>
          </a:xfrm>
        </p:spPr>
        <p:txBody>
          <a:bodyPr/>
          <a:p>
            <a:r>
              <a:rPr lang="en-US"/>
              <a:t>Duplicate File Descriptors</a:t>
            </a:r>
            <a:endParaRPr lang="en-US"/>
          </a:p>
        </p:txBody>
      </p:sp>
      <p:pic>
        <p:nvPicPr>
          <p:cNvPr id="4" name="Picture 3"/>
          <p:cNvPicPr>
            <a:picLocks noChangeAspect="1"/>
          </p:cNvPicPr>
          <p:nvPr/>
        </p:nvPicPr>
        <p:blipFill>
          <a:blip r:embed="rId1"/>
          <a:stretch>
            <a:fillRect/>
          </a:stretch>
        </p:blipFill>
        <p:spPr>
          <a:xfrm>
            <a:off x="457200" y="1600200"/>
            <a:ext cx="9380855" cy="492569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630448"/>
            <a:ext cx="1929764" cy="696595"/>
          </a:xfrm>
          <a:prstGeom prst="rect">
            <a:avLst/>
          </a:prstGeom>
        </p:spPr>
        <p:txBody>
          <a:bodyPr vert="horz" wrap="square" lIns="0" tIns="12700" rIns="0" bIns="0" rtlCol="0">
            <a:spAutoFit/>
          </a:bodyPr>
          <a:lstStyle/>
          <a:p>
            <a:pPr marL="12700">
              <a:lnSpc>
                <a:spcPct val="100000"/>
              </a:lnSpc>
              <a:spcBef>
                <a:spcPts val="100"/>
              </a:spcBef>
            </a:pPr>
            <a:r>
              <a:rPr sz="4400" spc="10" dirty="0"/>
              <a:t>3.</a:t>
            </a:r>
            <a:r>
              <a:rPr sz="4400" spc="-195" dirty="0"/>
              <a:t> </a:t>
            </a:r>
            <a:r>
              <a:rPr sz="4400" spc="-315" dirty="0"/>
              <a:t>Pipes</a:t>
            </a:r>
            <a:endParaRPr sz="4400"/>
          </a:p>
        </p:txBody>
      </p:sp>
      <p:sp>
        <p:nvSpPr>
          <p:cNvPr id="3" name="object 3"/>
          <p:cNvSpPr txBox="1"/>
          <p:nvPr/>
        </p:nvSpPr>
        <p:spPr>
          <a:xfrm>
            <a:off x="1093655" y="1604959"/>
            <a:ext cx="7653655" cy="3376295"/>
          </a:xfrm>
          <a:prstGeom prst="rect">
            <a:avLst/>
          </a:prstGeom>
        </p:spPr>
        <p:txBody>
          <a:bodyPr vert="horz" wrap="square" lIns="0" tIns="99695" rIns="0" bIns="0" rtlCol="0">
            <a:spAutoFit/>
          </a:bodyPr>
          <a:lstStyle/>
          <a:p>
            <a:pPr marL="312420" indent="-300355">
              <a:lnSpc>
                <a:spcPct val="100000"/>
              </a:lnSpc>
              <a:spcBef>
                <a:spcPts val="785"/>
              </a:spcBef>
              <a:buClr>
                <a:srgbClr val="D34816"/>
              </a:buClr>
              <a:buSzPct val="85000"/>
              <a:buFont typeface="Webdings" panose="05030102010509060703"/>
              <a:buChar char=""/>
              <a:tabLst>
                <a:tab pos="313055" algn="l"/>
              </a:tabLst>
            </a:pPr>
            <a:r>
              <a:rPr sz="3050" spc="-170" dirty="0">
                <a:latin typeface="Times New Roman" panose="02020603050405020304"/>
                <a:cs typeface="Times New Roman" panose="02020603050405020304"/>
              </a:rPr>
              <a:t>IPC </a:t>
            </a:r>
            <a:r>
              <a:rPr sz="3050" spc="-160" dirty="0">
                <a:latin typeface="Times New Roman" panose="02020603050405020304"/>
                <a:cs typeface="Times New Roman" panose="02020603050405020304"/>
              </a:rPr>
              <a:t>mechanism </a:t>
            </a:r>
            <a:r>
              <a:rPr sz="3050" spc="-130" dirty="0">
                <a:latin typeface="Times New Roman" panose="02020603050405020304"/>
                <a:cs typeface="Times New Roman" panose="02020603050405020304"/>
              </a:rPr>
              <a:t>in </a:t>
            </a:r>
            <a:r>
              <a:rPr sz="3050" spc="-140" dirty="0">
                <a:latin typeface="Times New Roman" panose="02020603050405020304"/>
                <a:cs typeface="Times New Roman" panose="02020603050405020304"/>
              </a:rPr>
              <a:t>early </a:t>
            </a:r>
            <a:r>
              <a:rPr sz="3050" spc="-210" dirty="0">
                <a:latin typeface="Times New Roman" panose="02020603050405020304"/>
                <a:cs typeface="Times New Roman" panose="02020603050405020304"/>
              </a:rPr>
              <a:t>UNIX</a:t>
            </a:r>
            <a:r>
              <a:rPr sz="3050" spc="150" dirty="0">
                <a:latin typeface="Times New Roman" panose="02020603050405020304"/>
                <a:cs typeface="Times New Roman" panose="02020603050405020304"/>
              </a:rPr>
              <a:t> </a:t>
            </a:r>
            <a:r>
              <a:rPr sz="3050" spc="-165" dirty="0">
                <a:latin typeface="Times New Roman" panose="02020603050405020304"/>
                <a:cs typeface="Times New Roman" panose="02020603050405020304"/>
              </a:rPr>
              <a:t>systems</a:t>
            </a:r>
            <a:endParaRPr sz="3050">
              <a:latin typeface="Times New Roman" panose="02020603050405020304"/>
              <a:cs typeface="Times New Roman" panose="02020603050405020304"/>
            </a:endParaRPr>
          </a:p>
          <a:p>
            <a:pPr marL="312420" indent="-300355">
              <a:lnSpc>
                <a:spcPct val="100000"/>
              </a:lnSpc>
              <a:spcBef>
                <a:spcPts val="700"/>
              </a:spcBef>
              <a:buClr>
                <a:srgbClr val="D34816"/>
              </a:buClr>
              <a:buSzPct val="85000"/>
              <a:buFont typeface="Webdings" panose="05030102010509060703"/>
              <a:buChar char=""/>
              <a:tabLst>
                <a:tab pos="313055" algn="l"/>
              </a:tabLst>
            </a:pPr>
            <a:r>
              <a:rPr sz="3050" spc="-140" dirty="0">
                <a:latin typeface="Times New Roman" panose="02020603050405020304"/>
                <a:cs typeface="Times New Roman" panose="02020603050405020304"/>
              </a:rPr>
              <a:t>Four </a:t>
            </a:r>
            <a:r>
              <a:rPr sz="3050" spc="-175" dirty="0">
                <a:latin typeface="Times New Roman" panose="02020603050405020304"/>
                <a:cs typeface="Times New Roman" panose="02020603050405020304"/>
              </a:rPr>
              <a:t>issues </a:t>
            </a:r>
            <a:r>
              <a:rPr sz="3050" spc="-120" dirty="0">
                <a:latin typeface="Times New Roman" panose="02020603050405020304"/>
                <a:cs typeface="Times New Roman" panose="02020603050405020304"/>
              </a:rPr>
              <a:t>must </a:t>
            </a:r>
            <a:r>
              <a:rPr sz="3050" spc="-125" dirty="0">
                <a:latin typeface="Times New Roman" panose="02020603050405020304"/>
                <a:cs typeface="Times New Roman" panose="02020603050405020304"/>
              </a:rPr>
              <a:t>be</a:t>
            </a:r>
            <a:r>
              <a:rPr sz="3050" spc="65" dirty="0">
                <a:latin typeface="Times New Roman" panose="02020603050405020304"/>
                <a:cs typeface="Times New Roman" panose="02020603050405020304"/>
              </a:rPr>
              <a:t> </a:t>
            </a:r>
            <a:r>
              <a:rPr sz="3050" spc="-120" dirty="0">
                <a:latin typeface="Times New Roman" panose="02020603050405020304"/>
                <a:cs typeface="Times New Roman" panose="02020603050405020304"/>
              </a:rPr>
              <a:t>considered</a:t>
            </a:r>
            <a:endParaRPr sz="3050">
              <a:latin typeface="Times New Roman" panose="02020603050405020304"/>
              <a:cs typeface="Times New Roman" panose="02020603050405020304"/>
            </a:endParaRPr>
          </a:p>
          <a:p>
            <a:pPr marL="615950" lvl="1" indent="-252095">
              <a:lnSpc>
                <a:spcPct val="100000"/>
              </a:lnSpc>
              <a:spcBef>
                <a:spcPts val="505"/>
              </a:spcBef>
              <a:buClr>
                <a:srgbClr val="9A2D1F"/>
              </a:buClr>
              <a:buSzPct val="85000"/>
              <a:buFont typeface="Webdings" panose="05030102010509060703"/>
              <a:buChar char=""/>
              <a:tabLst>
                <a:tab pos="616585" algn="l"/>
              </a:tabLst>
            </a:pPr>
            <a:r>
              <a:rPr sz="2650" spc="-114" dirty="0">
                <a:latin typeface="Times New Roman" panose="02020603050405020304"/>
                <a:cs typeface="Times New Roman" panose="02020603050405020304"/>
              </a:rPr>
              <a:t>Unidirectional </a:t>
            </a:r>
            <a:r>
              <a:rPr sz="2650" spc="-45" dirty="0">
                <a:latin typeface="Times New Roman" panose="02020603050405020304"/>
                <a:cs typeface="Times New Roman" panose="02020603050405020304"/>
              </a:rPr>
              <a:t>or </a:t>
            </a:r>
            <a:r>
              <a:rPr sz="2650" spc="-110" dirty="0">
                <a:latin typeface="Times New Roman" panose="02020603050405020304"/>
                <a:cs typeface="Times New Roman" panose="02020603050405020304"/>
              </a:rPr>
              <a:t>bi-directional</a:t>
            </a:r>
            <a:r>
              <a:rPr sz="2650" spc="-65" dirty="0">
                <a:latin typeface="Times New Roman" panose="02020603050405020304"/>
                <a:cs typeface="Times New Roman" panose="02020603050405020304"/>
              </a:rPr>
              <a:t> </a:t>
            </a:r>
            <a:r>
              <a:rPr sz="2650" spc="-135" dirty="0">
                <a:latin typeface="Times New Roman" panose="02020603050405020304"/>
                <a:cs typeface="Times New Roman" panose="02020603050405020304"/>
              </a:rPr>
              <a:t>communication</a:t>
            </a:r>
            <a:endParaRPr sz="2650">
              <a:latin typeface="Times New Roman" panose="02020603050405020304"/>
              <a:cs typeface="Times New Roman" panose="02020603050405020304"/>
            </a:endParaRPr>
          </a:p>
          <a:p>
            <a:pPr marL="615950" lvl="1" indent="-252095">
              <a:lnSpc>
                <a:spcPct val="100000"/>
              </a:lnSpc>
              <a:spcBef>
                <a:spcPts val="420"/>
              </a:spcBef>
              <a:buClr>
                <a:srgbClr val="9A2D1F"/>
              </a:buClr>
              <a:buSzPct val="85000"/>
              <a:buFont typeface="Webdings" panose="05030102010509060703"/>
              <a:buChar char=""/>
              <a:tabLst>
                <a:tab pos="616585" algn="l"/>
              </a:tabLst>
            </a:pPr>
            <a:r>
              <a:rPr sz="2650" spc="-200" dirty="0">
                <a:latin typeface="Times New Roman" panose="02020603050405020304"/>
                <a:cs typeface="Times New Roman" panose="02020603050405020304"/>
              </a:rPr>
              <a:t>If </a:t>
            </a:r>
            <a:r>
              <a:rPr sz="2650" spc="-114" dirty="0">
                <a:latin typeface="Times New Roman" panose="02020603050405020304"/>
                <a:cs typeface="Times New Roman" panose="02020603050405020304"/>
              </a:rPr>
              <a:t>bidirectional </a:t>
            </a:r>
            <a:r>
              <a:rPr sz="2650" spc="-95" dirty="0">
                <a:latin typeface="Times New Roman" panose="02020603050405020304"/>
                <a:cs typeface="Times New Roman" panose="02020603050405020304"/>
              </a:rPr>
              <a:t>then </a:t>
            </a:r>
            <a:r>
              <a:rPr sz="2650" spc="-170" dirty="0">
                <a:latin typeface="Times New Roman" panose="02020603050405020304"/>
                <a:cs typeface="Times New Roman" panose="02020603050405020304"/>
              </a:rPr>
              <a:t>is </a:t>
            </a:r>
            <a:r>
              <a:rPr sz="2650" spc="-50" dirty="0">
                <a:latin typeface="Times New Roman" panose="02020603050405020304"/>
                <a:cs typeface="Times New Roman" panose="02020603050405020304"/>
              </a:rPr>
              <a:t>it </a:t>
            </a:r>
            <a:r>
              <a:rPr sz="2650" spc="-175" dirty="0">
                <a:latin typeface="Times New Roman" panose="02020603050405020304"/>
                <a:cs typeface="Times New Roman" panose="02020603050405020304"/>
              </a:rPr>
              <a:t>half </a:t>
            </a:r>
            <a:r>
              <a:rPr sz="2650" spc="-110" dirty="0">
                <a:latin typeface="Times New Roman" panose="02020603050405020304"/>
                <a:cs typeface="Times New Roman" panose="02020603050405020304"/>
              </a:rPr>
              <a:t>duplex </a:t>
            </a:r>
            <a:r>
              <a:rPr sz="2650" spc="-45" dirty="0">
                <a:latin typeface="Times New Roman" panose="02020603050405020304"/>
                <a:cs typeface="Times New Roman" panose="02020603050405020304"/>
              </a:rPr>
              <a:t>or </a:t>
            </a:r>
            <a:r>
              <a:rPr sz="2650" spc="-130" dirty="0">
                <a:latin typeface="Times New Roman" panose="02020603050405020304"/>
                <a:cs typeface="Times New Roman" panose="02020603050405020304"/>
              </a:rPr>
              <a:t>full</a:t>
            </a:r>
            <a:r>
              <a:rPr sz="2650" spc="260" dirty="0">
                <a:latin typeface="Times New Roman" panose="02020603050405020304"/>
                <a:cs typeface="Times New Roman" panose="02020603050405020304"/>
              </a:rPr>
              <a:t> </a:t>
            </a:r>
            <a:r>
              <a:rPr sz="2650" spc="-110" dirty="0">
                <a:latin typeface="Times New Roman" panose="02020603050405020304"/>
                <a:cs typeface="Times New Roman" panose="02020603050405020304"/>
              </a:rPr>
              <a:t>duplex</a:t>
            </a:r>
            <a:endParaRPr sz="2650">
              <a:latin typeface="Times New Roman" panose="02020603050405020304"/>
              <a:cs typeface="Times New Roman" panose="02020603050405020304"/>
            </a:endParaRPr>
          </a:p>
          <a:p>
            <a:pPr marL="615950" marR="5080" lvl="1" indent="-252095">
              <a:lnSpc>
                <a:spcPts val="3170"/>
              </a:lnSpc>
              <a:spcBef>
                <a:spcPts val="545"/>
              </a:spcBef>
              <a:buClr>
                <a:srgbClr val="9A2D1F"/>
              </a:buClr>
              <a:buSzPct val="85000"/>
              <a:buFont typeface="Webdings" panose="05030102010509060703"/>
              <a:buChar char=""/>
              <a:tabLst>
                <a:tab pos="616585" algn="l"/>
              </a:tabLst>
            </a:pPr>
            <a:r>
              <a:rPr sz="2650" spc="-150" dirty="0">
                <a:latin typeface="Times New Roman" panose="02020603050405020304"/>
                <a:cs typeface="Times New Roman" panose="02020603050405020304"/>
              </a:rPr>
              <a:t>Must </a:t>
            </a:r>
            <a:r>
              <a:rPr sz="2650" spc="-215" dirty="0">
                <a:latin typeface="Times New Roman" panose="02020603050405020304"/>
                <a:cs typeface="Times New Roman" panose="02020603050405020304"/>
              </a:rPr>
              <a:t>a </a:t>
            </a:r>
            <a:r>
              <a:rPr sz="2650" spc="-120" dirty="0">
                <a:latin typeface="Times New Roman" panose="02020603050405020304"/>
                <a:cs typeface="Times New Roman" panose="02020603050405020304"/>
              </a:rPr>
              <a:t>relationship </a:t>
            </a:r>
            <a:r>
              <a:rPr sz="2650" spc="-135" dirty="0">
                <a:latin typeface="Times New Roman" panose="02020603050405020304"/>
                <a:cs typeface="Times New Roman" panose="02020603050405020304"/>
              </a:rPr>
              <a:t>(such </a:t>
            </a:r>
            <a:r>
              <a:rPr sz="2650" spc="-204" dirty="0">
                <a:latin typeface="Times New Roman" panose="02020603050405020304"/>
                <a:cs typeface="Times New Roman" panose="02020603050405020304"/>
              </a:rPr>
              <a:t>as </a:t>
            </a:r>
            <a:r>
              <a:rPr sz="2650" i="1" spc="-210" dirty="0">
                <a:latin typeface="Times New Roman" panose="02020603050405020304"/>
                <a:cs typeface="Times New Roman" panose="02020603050405020304"/>
              </a:rPr>
              <a:t>parent-child</a:t>
            </a:r>
            <a:r>
              <a:rPr sz="2650" spc="-210" dirty="0">
                <a:latin typeface="Times New Roman" panose="02020603050405020304"/>
                <a:cs typeface="Times New Roman" panose="02020603050405020304"/>
              </a:rPr>
              <a:t>) </a:t>
            </a:r>
            <a:r>
              <a:rPr sz="2650" spc="-105" dirty="0">
                <a:latin typeface="Times New Roman" panose="02020603050405020304"/>
                <a:cs typeface="Times New Roman" panose="02020603050405020304"/>
              </a:rPr>
              <a:t>exist </a:t>
            </a:r>
            <a:r>
              <a:rPr sz="2650" spc="-114" dirty="0">
                <a:latin typeface="Times New Roman" panose="02020603050405020304"/>
                <a:cs typeface="Times New Roman" panose="02020603050405020304"/>
              </a:rPr>
              <a:t>between </a:t>
            </a:r>
            <a:r>
              <a:rPr sz="2650" spc="-85" dirty="0">
                <a:latin typeface="Times New Roman" panose="02020603050405020304"/>
                <a:cs typeface="Times New Roman" panose="02020603050405020304"/>
              </a:rPr>
              <a:t>the  </a:t>
            </a:r>
            <a:r>
              <a:rPr sz="2650" spc="-145" dirty="0">
                <a:latin typeface="Times New Roman" panose="02020603050405020304"/>
                <a:cs typeface="Times New Roman" panose="02020603050405020304"/>
              </a:rPr>
              <a:t>communicating</a:t>
            </a:r>
            <a:r>
              <a:rPr sz="2650" spc="-80" dirty="0">
                <a:latin typeface="Times New Roman" panose="02020603050405020304"/>
                <a:cs typeface="Times New Roman" panose="02020603050405020304"/>
              </a:rPr>
              <a:t> </a:t>
            </a:r>
            <a:r>
              <a:rPr sz="2650" spc="-175" dirty="0">
                <a:latin typeface="Times New Roman" panose="02020603050405020304"/>
                <a:cs typeface="Times New Roman" panose="02020603050405020304"/>
              </a:rPr>
              <a:t>processes</a:t>
            </a:r>
            <a:r>
              <a:rPr sz="2650" i="1" spc="-175" dirty="0">
                <a:latin typeface="Times New Roman" panose="02020603050405020304"/>
                <a:cs typeface="Times New Roman" panose="02020603050405020304"/>
              </a:rPr>
              <a:t>?</a:t>
            </a:r>
            <a:endParaRPr sz="2650">
              <a:latin typeface="Times New Roman" panose="02020603050405020304"/>
              <a:cs typeface="Times New Roman" panose="02020603050405020304"/>
            </a:endParaRPr>
          </a:p>
          <a:p>
            <a:pPr marL="615950" lvl="1" indent="-252095">
              <a:lnSpc>
                <a:spcPct val="100000"/>
              </a:lnSpc>
              <a:spcBef>
                <a:spcPts val="330"/>
              </a:spcBef>
              <a:buClr>
                <a:srgbClr val="9A2D1F"/>
              </a:buClr>
              <a:buSzPct val="85000"/>
              <a:buFont typeface="Webdings" panose="05030102010509060703"/>
              <a:buChar char=""/>
              <a:tabLst>
                <a:tab pos="616585" algn="l"/>
              </a:tabLst>
            </a:pPr>
            <a:r>
              <a:rPr sz="2650" spc="-160" dirty="0">
                <a:latin typeface="Times New Roman" panose="02020603050405020304"/>
                <a:cs typeface="Times New Roman" panose="02020603050405020304"/>
              </a:rPr>
              <a:t>Can </a:t>
            </a:r>
            <a:r>
              <a:rPr sz="2650" spc="-114" dirty="0">
                <a:latin typeface="Times New Roman" panose="02020603050405020304"/>
                <a:cs typeface="Times New Roman" panose="02020603050405020304"/>
              </a:rPr>
              <a:t>pipe </a:t>
            </a:r>
            <a:r>
              <a:rPr sz="2650" spc="-135" dirty="0">
                <a:latin typeface="Times New Roman" panose="02020603050405020304"/>
                <a:cs typeface="Times New Roman" panose="02020603050405020304"/>
              </a:rPr>
              <a:t>communicate </a:t>
            </a:r>
            <a:r>
              <a:rPr sz="2650" spc="-140" dirty="0">
                <a:latin typeface="Times New Roman" panose="02020603050405020304"/>
                <a:cs typeface="Times New Roman" panose="02020603050405020304"/>
              </a:rPr>
              <a:t>over </a:t>
            </a:r>
            <a:r>
              <a:rPr sz="2650" spc="-215" dirty="0">
                <a:latin typeface="Times New Roman" panose="02020603050405020304"/>
                <a:cs typeface="Times New Roman" panose="02020603050405020304"/>
              </a:rPr>
              <a:t>a</a:t>
            </a:r>
            <a:r>
              <a:rPr sz="2650" spc="140" dirty="0">
                <a:latin typeface="Times New Roman" panose="02020603050405020304"/>
                <a:cs typeface="Times New Roman" panose="02020603050405020304"/>
              </a:rPr>
              <a:t> </a:t>
            </a:r>
            <a:r>
              <a:rPr sz="2650" spc="-135" dirty="0">
                <a:latin typeface="Times New Roman" panose="02020603050405020304"/>
                <a:cs typeface="Times New Roman" panose="02020603050405020304"/>
              </a:rPr>
              <a:t>network?</a:t>
            </a:r>
            <a:endParaRPr sz="26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p:nvPr/>
        </p:nvSpPr>
        <p:spPr>
          <a:xfrm>
            <a:off x="1095247" y="7039050"/>
            <a:ext cx="2503170" cy="243840"/>
          </a:xfrm>
          <a:prstGeom prst="rect">
            <a:avLst/>
          </a:prstGeom>
        </p:spPr>
        <p:txBody>
          <a:bodyPr vert="horz" wrap="square" lIns="0" tIns="0" rIns="0" bIns="0" rtlCol="0">
            <a:spAutoFit/>
          </a:bodyPr>
          <a:lstStyle/>
          <a:p>
            <a:pPr marL="12700">
              <a:lnSpc>
                <a:spcPts val="1790"/>
              </a:lnSpc>
            </a:pPr>
            <a:r>
              <a:rPr sz="1500" spc="15" dirty="0">
                <a:solidFill>
                  <a:srgbClr val="696464"/>
                </a:solidFill>
                <a:latin typeface="Arial" panose="020B0604020202020204"/>
                <a:cs typeface="Arial" panose="020B0604020202020204"/>
              </a:rPr>
              <a:t>CS-2006 Operating</a:t>
            </a:r>
            <a:r>
              <a:rPr sz="1500" spc="-45" dirty="0">
                <a:solidFill>
                  <a:srgbClr val="696464"/>
                </a:solidFill>
                <a:latin typeface="Arial" panose="020B0604020202020204"/>
                <a:cs typeface="Arial" panose="020B0604020202020204"/>
              </a:rPr>
              <a:t> </a:t>
            </a:r>
            <a:r>
              <a:rPr sz="1500" spc="10" dirty="0">
                <a:solidFill>
                  <a:srgbClr val="696464"/>
                </a:solidFill>
                <a:latin typeface="Arial" panose="020B0604020202020204"/>
                <a:cs typeface="Arial" panose="020B0604020202020204"/>
              </a:rPr>
              <a:t>Systems</a:t>
            </a:r>
            <a:endParaRPr sz="1500">
              <a:latin typeface="Arial" panose="020B0604020202020204"/>
              <a:cs typeface="Arial" panose="020B0604020202020204"/>
            </a:endParaRPr>
          </a:p>
        </p:txBody>
      </p:sp>
      <p:sp>
        <p:nvSpPr>
          <p:cNvPr id="6" name="object 6"/>
          <p:cNvSpPr txBox="1"/>
          <p:nvPr/>
        </p:nvSpPr>
        <p:spPr>
          <a:xfrm>
            <a:off x="286004" y="7077995"/>
            <a:ext cx="280670" cy="247015"/>
          </a:xfrm>
          <a:prstGeom prst="rect">
            <a:avLst/>
          </a:prstGeom>
        </p:spPr>
        <p:txBody>
          <a:bodyPr vert="horz" wrap="square" lIns="0" tIns="635" rIns="0" bIns="0" rtlCol="0">
            <a:spAutoFit/>
          </a:bodyPr>
          <a:lstStyle/>
          <a:p>
            <a:pPr marL="12700">
              <a:lnSpc>
                <a:spcPct val="100000"/>
              </a:lnSpc>
              <a:spcBef>
                <a:spcPts val="5"/>
              </a:spcBef>
            </a:pPr>
            <a:r>
              <a:rPr sz="1500" spc="114" dirty="0">
                <a:solidFill>
                  <a:srgbClr val="FFFFFF"/>
                </a:solidFill>
                <a:latin typeface="Trebuchet MS" panose="020B0603020202020204"/>
                <a:cs typeface="Trebuchet MS" panose="020B0603020202020204"/>
              </a:rPr>
              <a:t>3</a:t>
            </a:r>
            <a:r>
              <a:rPr sz="1500" spc="114" dirty="0">
                <a:solidFill>
                  <a:srgbClr val="FFFFFF"/>
                </a:solidFill>
                <a:latin typeface="Trebuchet MS" panose="020B0603020202020204"/>
                <a:cs typeface="Trebuchet MS" panose="020B0603020202020204"/>
              </a:rPr>
              <a:t>3</a:t>
            </a:r>
            <a:endParaRPr sz="1500">
              <a:latin typeface="Trebuchet MS" panose="020B0603020202020204"/>
              <a:cs typeface="Trebuchet MS" panose="020B060302020202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5856" y="1052660"/>
            <a:ext cx="8937625" cy="696595"/>
          </a:xfrm>
          <a:prstGeom prst="rect">
            <a:avLst/>
          </a:prstGeom>
        </p:spPr>
        <p:txBody>
          <a:bodyPr vert="horz" wrap="square" lIns="0" tIns="12700" rIns="0" bIns="0" rtlCol="0">
            <a:spAutoFit/>
          </a:bodyPr>
          <a:lstStyle/>
          <a:p>
            <a:pPr marL="12700">
              <a:lnSpc>
                <a:spcPct val="100000"/>
              </a:lnSpc>
              <a:spcBef>
                <a:spcPts val="100"/>
              </a:spcBef>
            </a:pPr>
            <a:r>
              <a:rPr sz="4400" b="0" spc="-120" dirty="0">
                <a:latin typeface="Trebuchet MS" panose="020B0603020202020204"/>
                <a:cs typeface="Trebuchet MS" panose="020B0603020202020204"/>
              </a:rPr>
              <a:t>Pipes: </a:t>
            </a:r>
            <a:r>
              <a:rPr sz="4400" b="0" spc="-15" dirty="0">
                <a:latin typeface="Trebuchet MS" panose="020B0603020202020204"/>
                <a:cs typeface="Trebuchet MS" panose="020B0603020202020204"/>
              </a:rPr>
              <a:t>Shared </a:t>
            </a:r>
            <a:r>
              <a:rPr sz="4400" b="0" spc="-190" dirty="0">
                <a:latin typeface="Trebuchet MS" panose="020B0603020202020204"/>
                <a:cs typeface="Trebuchet MS" panose="020B0603020202020204"/>
              </a:rPr>
              <a:t>info </a:t>
            </a:r>
            <a:r>
              <a:rPr sz="4400" b="0" spc="-135" dirty="0">
                <a:latin typeface="Trebuchet MS" panose="020B0603020202020204"/>
                <a:cs typeface="Trebuchet MS" panose="020B0603020202020204"/>
              </a:rPr>
              <a:t>in </a:t>
            </a:r>
            <a:r>
              <a:rPr sz="4400" b="0" spc="-130" dirty="0">
                <a:latin typeface="Trebuchet MS" panose="020B0603020202020204"/>
                <a:cs typeface="Trebuchet MS" panose="020B0603020202020204"/>
              </a:rPr>
              <a:t>kernel</a:t>
            </a:r>
            <a:r>
              <a:rPr sz="4400" b="0" spc="-130" dirty="0">
                <a:latin typeface="Times New Roman" panose="02020603050405020304"/>
                <a:cs typeface="Times New Roman" panose="02020603050405020304"/>
              </a:rPr>
              <a:t>’</a:t>
            </a:r>
            <a:r>
              <a:rPr sz="4400" b="0" spc="-130" dirty="0">
                <a:latin typeface="Trebuchet MS" panose="020B0603020202020204"/>
                <a:cs typeface="Trebuchet MS" panose="020B0603020202020204"/>
              </a:rPr>
              <a:t>s</a:t>
            </a:r>
            <a:r>
              <a:rPr sz="4400" b="0" spc="-755" dirty="0">
                <a:latin typeface="Trebuchet MS" panose="020B0603020202020204"/>
                <a:cs typeface="Trebuchet MS" panose="020B0603020202020204"/>
              </a:rPr>
              <a:t> </a:t>
            </a:r>
            <a:r>
              <a:rPr sz="4400" b="0" spc="-135" dirty="0">
                <a:latin typeface="Trebuchet MS" panose="020B0603020202020204"/>
                <a:cs typeface="Trebuchet MS" panose="020B0603020202020204"/>
              </a:rPr>
              <a:t>memory</a:t>
            </a:r>
            <a:endParaRPr sz="4400">
              <a:latin typeface="Trebuchet MS" panose="020B0603020202020204"/>
              <a:cs typeface="Trebuchet MS" panose="020B0603020202020204"/>
            </a:endParaRPr>
          </a:p>
        </p:txBody>
      </p:sp>
      <p:sp>
        <p:nvSpPr>
          <p:cNvPr id="3" name="object 3"/>
          <p:cNvSpPr txBox="1"/>
          <p:nvPr/>
        </p:nvSpPr>
        <p:spPr>
          <a:xfrm>
            <a:off x="3436620" y="4149852"/>
            <a:ext cx="3352800" cy="670560"/>
          </a:xfrm>
          <a:prstGeom prst="rect">
            <a:avLst/>
          </a:prstGeom>
          <a:ln w="10667">
            <a:solidFill>
              <a:srgbClr val="000000"/>
            </a:solidFill>
          </a:ln>
        </p:spPr>
        <p:txBody>
          <a:bodyPr vert="horz" wrap="square" lIns="0" tIns="77470" rIns="0" bIns="0" rtlCol="0">
            <a:spAutoFit/>
          </a:bodyPr>
          <a:lstStyle/>
          <a:p>
            <a:pPr marL="278765" algn="ctr">
              <a:lnSpc>
                <a:spcPct val="100000"/>
              </a:lnSpc>
              <a:spcBef>
                <a:spcPts val="610"/>
              </a:spcBef>
            </a:pPr>
            <a:r>
              <a:rPr sz="3050" i="1" spc="10" dirty="0">
                <a:latin typeface="Arial" panose="020B0604020202020204"/>
                <a:cs typeface="Arial" panose="020B0604020202020204"/>
              </a:rPr>
              <a:t>Pipe</a:t>
            </a:r>
            <a:endParaRPr sz="3050">
              <a:latin typeface="Arial" panose="020B0604020202020204"/>
              <a:cs typeface="Arial" panose="020B0604020202020204"/>
            </a:endParaRPr>
          </a:p>
        </p:txBody>
      </p:sp>
      <p:sp>
        <p:nvSpPr>
          <p:cNvPr id="4" name="object 4"/>
          <p:cNvSpPr/>
          <p:nvPr/>
        </p:nvSpPr>
        <p:spPr>
          <a:xfrm>
            <a:off x="2542032" y="4233671"/>
            <a:ext cx="894715" cy="954405"/>
          </a:xfrm>
          <a:custGeom>
            <a:avLst/>
            <a:gdLst/>
            <a:ahLst/>
            <a:cxnLst/>
            <a:rect l="l" t="t" r="r" b="b"/>
            <a:pathLst>
              <a:path w="894714" h="954404">
                <a:moveTo>
                  <a:pt x="894588" y="269748"/>
                </a:moveTo>
                <a:lnTo>
                  <a:pt x="626363" y="0"/>
                </a:lnTo>
                <a:lnTo>
                  <a:pt x="626363" y="129540"/>
                </a:lnTo>
                <a:lnTo>
                  <a:pt x="515111" y="129540"/>
                </a:lnTo>
                <a:lnTo>
                  <a:pt x="462362" y="131648"/>
                </a:lnTo>
                <a:lnTo>
                  <a:pt x="411155" y="137838"/>
                </a:lnTo>
                <a:lnTo>
                  <a:pt x="361747" y="147903"/>
                </a:lnTo>
                <a:lnTo>
                  <a:pt x="314396" y="161639"/>
                </a:lnTo>
                <a:lnTo>
                  <a:pt x="269357" y="178839"/>
                </a:lnTo>
                <a:lnTo>
                  <a:pt x="226888" y="199298"/>
                </a:lnTo>
                <a:lnTo>
                  <a:pt x="187245" y="222812"/>
                </a:lnTo>
                <a:lnTo>
                  <a:pt x="150685" y="249174"/>
                </a:lnTo>
                <a:lnTo>
                  <a:pt x="117465" y="278179"/>
                </a:lnTo>
                <a:lnTo>
                  <a:pt x="87841" y="309622"/>
                </a:lnTo>
                <a:lnTo>
                  <a:pt x="62070" y="343297"/>
                </a:lnTo>
                <a:lnTo>
                  <a:pt x="40409" y="378999"/>
                </a:lnTo>
                <a:lnTo>
                  <a:pt x="23115" y="416523"/>
                </a:lnTo>
                <a:lnTo>
                  <a:pt x="10444" y="455664"/>
                </a:lnTo>
                <a:lnTo>
                  <a:pt x="2653" y="496215"/>
                </a:lnTo>
                <a:lnTo>
                  <a:pt x="0" y="537972"/>
                </a:lnTo>
                <a:lnTo>
                  <a:pt x="0" y="954024"/>
                </a:lnTo>
                <a:lnTo>
                  <a:pt x="268223" y="954024"/>
                </a:lnTo>
                <a:lnTo>
                  <a:pt x="268223" y="537972"/>
                </a:lnTo>
                <a:lnTo>
                  <a:pt x="274702" y="508242"/>
                </a:lnTo>
                <a:lnTo>
                  <a:pt x="322208" y="456915"/>
                </a:lnTo>
                <a:lnTo>
                  <a:pt x="360357" y="436863"/>
                </a:lnTo>
                <a:lnTo>
                  <a:pt x="406183" y="421583"/>
                </a:lnTo>
                <a:lnTo>
                  <a:pt x="458248" y="411848"/>
                </a:lnTo>
                <a:lnTo>
                  <a:pt x="515111" y="408432"/>
                </a:lnTo>
                <a:lnTo>
                  <a:pt x="626363" y="408432"/>
                </a:lnTo>
                <a:lnTo>
                  <a:pt x="626363" y="537972"/>
                </a:lnTo>
                <a:lnTo>
                  <a:pt x="894588" y="269748"/>
                </a:lnTo>
                <a:close/>
              </a:path>
            </a:pathLst>
          </a:custGeom>
          <a:ln w="10668">
            <a:solidFill>
              <a:srgbClr val="000000"/>
            </a:solidFill>
          </a:ln>
        </p:spPr>
        <p:txBody>
          <a:bodyPr wrap="square" lIns="0" tIns="0" rIns="0" bIns="0" rtlCol="0"/>
          <a:lstStyle/>
          <a:p/>
        </p:txBody>
      </p:sp>
      <p:sp>
        <p:nvSpPr>
          <p:cNvPr id="5" name="object 5"/>
          <p:cNvSpPr/>
          <p:nvPr/>
        </p:nvSpPr>
        <p:spPr>
          <a:xfrm>
            <a:off x="6798564" y="4322064"/>
            <a:ext cx="942340" cy="914400"/>
          </a:xfrm>
          <a:custGeom>
            <a:avLst/>
            <a:gdLst/>
            <a:ahLst/>
            <a:cxnLst/>
            <a:rect l="l" t="t" r="r" b="b"/>
            <a:pathLst>
              <a:path w="942340" h="914400">
                <a:moveTo>
                  <a:pt x="665988" y="914400"/>
                </a:moveTo>
                <a:lnTo>
                  <a:pt x="941832" y="653796"/>
                </a:lnTo>
                <a:lnTo>
                  <a:pt x="813816" y="649224"/>
                </a:lnTo>
                <a:lnTo>
                  <a:pt x="816864" y="537972"/>
                </a:lnTo>
                <a:lnTo>
                  <a:pt x="816181" y="485169"/>
                </a:lnTo>
                <a:lnTo>
                  <a:pt x="811407" y="433804"/>
                </a:lnTo>
                <a:lnTo>
                  <a:pt x="802736" y="384135"/>
                </a:lnTo>
                <a:lnTo>
                  <a:pt x="790360" y="336422"/>
                </a:lnTo>
                <a:lnTo>
                  <a:pt x="774475" y="290924"/>
                </a:lnTo>
                <a:lnTo>
                  <a:pt x="755275" y="247900"/>
                </a:lnTo>
                <a:lnTo>
                  <a:pt x="732955" y="207607"/>
                </a:lnTo>
                <a:lnTo>
                  <a:pt x="707707" y="170306"/>
                </a:lnTo>
                <a:lnTo>
                  <a:pt x="679727" y="136256"/>
                </a:lnTo>
                <a:lnTo>
                  <a:pt x="649209" y="105715"/>
                </a:lnTo>
                <a:lnTo>
                  <a:pt x="616346" y="78942"/>
                </a:lnTo>
                <a:lnTo>
                  <a:pt x="581334" y="56197"/>
                </a:lnTo>
                <a:lnTo>
                  <a:pt x="544366" y="37738"/>
                </a:lnTo>
                <a:lnTo>
                  <a:pt x="505637" y="23824"/>
                </a:lnTo>
                <a:lnTo>
                  <a:pt x="465341" y="14714"/>
                </a:lnTo>
                <a:lnTo>
                  <a:pt x="423672" y="10668"/>
                </a:lnTo>
                <a:lnTo>
                  <a:pt x="7620" y="0"/>
                </a:lnTo>
                <a:lnTo>
                  <a:pt x="0" y="268223"/>
                </a:lnTo>
                <a:lnTo>
                  <a:pt x="416052" y="278892"/>
                </a:lnTo>
                <a:lnTo>
                  <a:pt x="445518" y="286583"/>
                </a:lnTo>
                <a:lnTo>
                  <a:pt x="495068" y="335955"/>
                </a:lnTo>
                <a:lnTo>
                  <a:pt x="513819" y="374757"/>
                </a:lnTo>
                <a:lnTo>
                  <a:pt x="527663" y="421050"/>
                </a:lnTo>
                <a:lnTo>
                  <a:pt x="535937" y="473395"/>
                </a:lnTo>
                <a:lnTo>
                  <a:pt x="537972" y="530352"/>
                </a:lnTo>
                <a:lnTo>
                  <a:pt x="534924" y="641604"/>
                </a:lnTo>
                <a:lnTo>
                  <a:pt x="405384" y="638556"/>
                </a:lnTo>
                <a:lnTo>
                  <a:pt x="665988" y="914400"/>
                </a:lnTo>
                <a:close/>
              </a:path>
            </a:pathLst>
          </a:custGeom>
          <a:ln w="10668">
            <a:solidFill>
              <a:srgbClr val="000000"/>
            </a:solidFill>
          </a:ln>
        </p:spPr>
        <p:txBody>
          <a:bodyPr wrap="square" lIns="0" tIns="0" rIns="0" bIns="0" rtlCol="0"/>
          <a:lstStyle/>
          <a:p/>
        </p:txBody>
      </p:sp>
      <p:sp>
        <p:nvSpPr>
          <p:cNvPr id="6" name="object 6"/>
          <p:cNvSpPr txBox="1"/>
          <p:nvPr/>
        </p:nvSpPr>
        <p:spPr>
          <a:xfrm>
            <a:off x="2099586" y="5203854"/>
            <a:ext cx="1115695" cy="495934"/>
          </a:xfrm>
          <a:prstGeom prst="rect">
            <a:avLst/>
          </a:prstGeom>
        </p:spPr>
        <p:txBody>
          <a:bodyPr vert="horz" wrap="square" lIns="0" tIns="16510" rIns="0" bIns="0" rtlCol="0">
            <a:spAutoFit/>
          </a:bodyPr>
          <a:lstStyle/>
          <a:p>
            <a:pPr marL="12700">
              <a:lnSpc>
                <a:spcPct val="100000"/>
              </a:lnSpc>
              <a:spcBef>
                <a:spcPts val="130"/>
              </a:spcBef>
            </a:pPr>
            <a:r>
              <a:rPr sz="3050" i="1" spc="10" dirty="0">
                <a:latin typeface="Arial" panose="020B0604020202020204"/>
                <a:cs typeface="Arial" panose="020B0604020202020204"/>
              </a:rPr>
              <a:t>write()</a:t>
            </a:r>
            <a:endParaRPr sz="3050">
              <a:latin typeface="Arial" panose="020B0604020202020204"/>
              <a:cs typeface="Arial" panose="020B0604020202020204"/>
            </a:endParaRPr>
          </a:p>
        </p:txBody>
      </p:sp>
      <p:sp>
        <p:nvSpPr>
          <p:cNvPr id="7" name="object 7"/>
          <p:cNvSpPr txBox="1"/>
          <p:nvPr/>
        </p:nvSpPr>
        <p:spPr>
          <a:xfrm>
            <a:off x="6877237" y="5182626"/>
            <a:ext cx="1072515" cy="495934"/>
          </a:xfrm>
          <a:prstGeom prst="rect">
            <a:avLst/>
          </a:prstGeom>
        </p:spPr>
        <p:txBody>
          <a:bodyPr vert="horz" wrap="square" lIns="0" tIns="16510" rIns="0" bIns="0" rtlCol="0">
            <a:spAutoFit/>
          </a:bodyPr>
          <a:lstStyle/>
          <a:p>
            <a:pPr marL="12700">
              <a:lnSpc>
                <a:spcPct val="100000"/>
              </a:lnSpc>
              <a:spcBef>
                <a:spcPts val="130"/>
              </a:spcBef>
            </a:pPr>
            <a:r>
              <a:rPr sz="3050" i="1" dirty="0">
                <a:latin typeface="Arial" panose="020B0604020202020204"/>
                <a:cs typeface="Arial" panose="020B0604020202020204"/>
              </a:rPr>
              <a:t>r</a:t>
            </a:r>
            <a:r>
              <a:rPr sz="3050" i="1" spc="25" dirty="0">
                <a:latin typeface="Arial" panose="020B0604020202020204"/>
                <a:cs typeface="Arial" panose="020B0604020202020204"/>
              </a:rPr>
              <a:t>ea</a:t>
            </a:r>
            <a:r>
              <a:rPr sz="3050" i="1" spc="-5" dirty="0">
                <a:latin typeface="Arial" panose="020B0604020202020204"/>
                <a:cs typeface="Arial" panose="020B0604020202020204"/>
              </a:rPr>
              <a:t>d</a:t>
            </a:r>
            <a:r>
              <a:rPr sz="3050" i="1" spc="30" dirty="0">
                <a:latin typeface="Arial" panose="020B0604020202020204"/>
                <a:cs typeface="Arial" panose="020B0604020202020204"/>
              </a:rPr>
              <a:t>(</a:t>
            </a:r>
            <a:r>
              <a:rPr sz="3050" i="1" spc="10" dirty="0">
                <a:latin typeface="Arial" panose="020B0604020202020204"/>
                <a:cs typeface="Arial" panose="020B0604020202020204"/>
              </a:rPr>
              <a:t>)</a:t>
            </a:r>
            <a:endParaRPr sz="3050">
              <a:latin typeface="Arial" panose="020B0604020202020204"/>
              <a:cs typeface="Arial" panose="020B0604020202020204"/>
            </a:endParaRPr>
          </a:p>
        </p:txBody>
      </p:sp>
      <p:sp>
        <p:nvSpPr>
          <p:cNvPr id="8" name="object 8"/>
          <p:cNvSpPr txBox="1"/>
          <p:nvPr/>
        </p:nvSpPr>
        <p:spPr>
          <a:xfrm>
            <a:off x="2632965" y="3506184"/>
            <a:ext cx="788670" cy="495934"/>
          </a:xfrm>
          <a:prstGeom prst="rect">
            <a:avLst/>
          </a:prstGeom>
        </p:spPr>
        <p:txBody>
          <a:bodyPr vert="horz" wrap="square" lIns="0" tIns="16510" rIns="0" bIns="0" rtlCol="0">
            <a:spAutoFit/>
          </a:bodyPr>
          <a:lstStyle/>
          <a:p>
            <a:pPr marL="12700">
              <a:lnSpc>
                <a:spcPct val="100000"/>
              </a:lnSpc>
              <a:spcBef>
                <a:spcPts val="130"/>
              </a:spcBef>
            </a:pPr>
            <a:r>
              <a:rPr sz="3050" i="1" spc="10" dirty="0">
                <a:latin typeface="Arial" panose="020B0604020202020204"/>
                <a:cs typeface="Arial" panose="020B0604020202020204"/>
              </a:rPr>
              <a:t>f</a:t>
            </a:r>
            <a:r>
              <a:rPr sz="3050" i="1" spc="-5" dirty="0">
                <a:latin typeface="Arial" panose="020B0604020202020204"/>
                <a:cs typeface="Arial" panose="020B0604020202020204"/>
              </a:rPr>
              <a:t>d</a:t>
            </a:r>
            <a:r>
              <a:rPr sz="3050" i="1" spc="10" dirty="0">
                <a:latin typeface="Arial" panose="020B0604020202020204"/>
                <a:cs typeface="Arial" panose="020B0604020202020204"/>
              </a:rPr>
              <a:t>[</a:t>
            </a:r>
            <a:r>
              <a:rPr sz="3050" i="1" spc="25" dirty="0">
                <a:latin typeface="Arial" panose="020B0604020202020204"/>
                <a:cs typeface="Arial" panose="020B0604020202020204"/>
              </a:rPr>
              <a:t>1</a:t>
            </a:r>
            <a:r>
              <a:rPr sz="3050" i="1" spc="5" dirty="0">
                <a:latin typeface="Arial" panose="020B0604020202020204"/>
                <a:cs typeface="Arial" panose="020B0604020202020204"/>
              </a:rPr>
              <a:t>]</a:t>
            </a:r>
            <a:endParaRPr sz="3050">
              <a:latin typeface="Arial" panose="020B0604020202020204"/>
              <a:cs typeface="Arial" panose="020B0604020202020204"/>
            </a:endParaRPr>
          </a:p>
        </p:txBody>
      </p:sp>
      <p:sp>
        <p:nvSpPr>
          <p:cNvPr id="9" name="object 9"/>
          <p:cNvSpPr txBox="1"/>
          <p:nvPr/>
        </p:nvSpPr>
        <p:spPr>
          <a:xfrm>
            <a:off x="6039045" y="2492735"/>
            <a:ext cx="2607310" cy="1521460"/>
          </a:xfrm>
          <a:prstGeom prst="rect">
            <a:avLst/>
          </a:prstGeom>
        </p:spPr>
        <p:txBody>
          <a:bodyPr vert="horz" wrap="square" lIns="0" tIns="28575" rIns="0" bIns="0" rtlCol="0">
            <a:spAutoFit/>
          </a:bodyPr>
          <a:lstStyle/>
          <a:p>
            <a:pPr marL="12700" marR="5080">
              <a:lnSpc>
                <a:spcPts val="3140"/>
              </a:lnSpc>
              <a:spcBef>
                <a:spcPts val="225"/>
              </a:spcBef>
            </a:pPr>
            <a:r>
              <a:rPr sz="2650" spc="-20" dirty="0">
                <a:latin typeface="Arial" panose="020B0604020202020204"/>
                <a:cs typeface="Arial" panose="020B0604020202020204"/>
              </a:rPr>
              <a:t>Buffer </a:t>
            </a:r>
            <a:r>
              <a:rPr sz="2650" spc="5" dirty="0">
                <a:latin typeface="Arial" panose="020B0604020202020204"/>
                <a:cs typeface="Arial" panose="020B0604020202020204"/>
              </a:rPr>
              <a:t>in</a:t>
            </a:r>
            <a:r>
              <a:rPr sz="2650" spc="-70" dirty="0">
                <a:latin typeface="Arial" panose="020B0604020202020204"/>
                <a:cs typeface="Arial" panose="020B0604020202020204"/>
              </a:rPr>
              <a:t> </a:t>
            </a:r>
            <a:r>
              <a:rPr sz="2650" spc="-180" dirty="0">
                <a:latin typeface="Arial" panose="020B0604020202020204"/>
                <a:cs typeface="Arial" panose="020B0604020202020204"/>
              </a:rPr>
              <a:t>kernel</a:t>
            </a:r>
            <a:r>
              <a:rPr sz="2650" spc="-180" dirty="0">
                <a:latin typeface="AoyagiKouzanFontT"/>
                <a:cs typeface="AoyagiKouzanFontT"/>
              </a:rPr>
              <a:t>’</a:t>
            </a:r>
            <a:r>
              <a:rPr sz="2650" spc="-180" dirty="0">
                <a:latin typeface="Arial" panose="020B0604020202020204"/>
                <a:cs typeface="Arial" panose="020B0604020202020204"/>
              </a:rPr>
              <a:t>s  </a:t>
            </a:r>
            <a:r>
              <a:rPr sz="2650" spc="-15" dirty="0">
                <a:latin typeface="Arial" panose="020B0604020202020204"/>
                <a:cs typeface="Arial" panose="020B0604020202020204"/>
              </a:rPr>
              <a:t>memory</a:t>
            </a:r>
            <a:endParaRPr sz="2650">
              <a:latin typeface="Arial" panose="020B0604020202020204"/>
              <a:cs typeface="Arial" panose="020B0604020202020204"/>
            </a:endParaRPr>
          </a:p>
          <a:p>
            <a:pPr marL="462280">
              <a:lnSpc>
                <a:spcPct val="100000"/>
              </a:lnSpc>
              <a:spcBef>
                <a:spcPts val="1705"/>
              </a:spcBef>
            </a:pPr>
            <a:r>
              <a:rPr sz="3050" i="1" spc="10" dirty="0">
                <a:latin typeface="Arial" panose="020B0604020202020204"/>
                <a:cs typeface="Arial" panose="020B0604020202020204"/>
              </a:rPr>
              <a:t>fd[0]</a:t>
            </a:r>
            <a:endParaRPr sz="3050">
              <a:latin typeface="Arial" panose="020B0604020202020204"/>
              <a:cs typeface="Arial" panose="020B0604020202020204"/>
            </a:endParaRPr>
          </a:p>
        </p:txBody>
      </p:sp>
      <p:sp>
        <p:nvSpPr>
          <p:cNvPr id="10" name="object 10"/>
          <p:cNvSpPr/>
          <p:nvPr/>
        </p:nvSpPr>
        <p:spPr>
          <a:xfrm>
            <a:off x="5280659" y="2878835"/>
            <a:ext cx="676910" cy="1259205"/>
          </a:xfrm>
          <a:custGeom>
            <a:avLst/>
            <a:gdLst/>
            <a:ahLst/>
            <a:cxnLst/>
            <a:rect l="l" t="t" r="r" b="b"/>
            <a:pathLst>
              <a:path w="676910" h="1259204">
                <a:moveTo>
                  <a:pt x="44943" y="1188090"/>
                </a:moveTo>
                <a:lnTo>
                  <a:pt x="35276" y="1182960"/>
                </a:lnTo>
                <a:lnTo>
                  <a:pt x="665988" y="0"/>
                </a:lnTo>
                <a:lnTo>
                  <a:pt x="676656" y="4572"/>
                </a:lnTo>
                <a:lnTo>
                  <a:pt x="44943" y="1188090"/>
                </a:lnTo>
                <a:close/>
              </a:path>
              <a:path w="676910" h="1259204">
                <a:moveTo>
                  <a:pt x="0" y="1258824"/>
                </a:moveTo>
                <a:lnTo>
                  <a:pt x="3048" y="1165860"/>
                </a:lnTo>
                <a:lnTo>
                  <a:pt x="35276" y="1182960"/>
                </a:lnTo>
                <a:lnTo>
                  <a:pt x="28956" y="1194816"/>
                </a:lnTo>
                <a:lnTo>
                  <a:pt x="38100" y="1200912"/>
                </a:lnTo>
                <a:lnTo>
                  <a:pt x="69107" y="1200912"/>
                </a:lnTo>
                <a:lnTo>
                  <a:pt x="77724" y="1205484"/>
                </a:lnTo>
                <a:lnTo>
                  <a:pt x="0" y="1258824"/>
                </a:lnTo>
                <a:close/>
              </a:path>
              <a:path w="676910" h="1259204">
                <a:moveTo>
                  <a:pt x="38100" y="1200912"/>
                </a:moveTo>
                <a:lnTo>
                  <a:pt x="28956" y="1194816"/>
                </a:lnTo>
                <a:lnTo>
                  <a:pt x="35276" y="1182960"/>
                </a:lnTo>
                <a:lnTo>
                  <a:pt x="44943" y="1188090"/>
                </a:lnTo>
                <a:lnTo>
                  <a:pt x="38100" y="1200912"/>
                </a:lnTo>
                <a:close/>
              </a:path>
              <a:path w="676910" h="1259204">
                <a:moveTo>
                  <a:pt x="69107" y="1200912"/>
                </a:moveTo>
                <a:lnTo>
                  <a:pt x="38100" y="1200912"/>
                </a:lnTo>
                <a:lnTo>
                  <a:pt x="44943" y="1188090"/>
                </a:lnTo>
                <a:lnTo>
                  <a:pt x="69107" y="1200912"/>
                </a:lnTo>
                <a:close/>
              </a:path>
            </a:pathLst>
          </a:custGeom>
          <a:solidFill>
            <a:srgbClr val="000000"/>
          </a:solidFill>
        </p:spPr>
        <p:txBody>
          <a:bodyPr wrap="square" lIns="0" tIns="0" rIns="0" bIns="0" rtlCol="0"/>
          <a:lstStyle/>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12" name="object 12"/>
          <p:cNvSpPr txBox="1"/>
          <p:nvPr/>
        </p:nvSpPr>
        <p:spPr>
          <a:xfrm>
            <a:off x="305800" y="7095872"/>
            <a:ext cx="211454" cy="212725"/>
          </a:xfrm>
          <a:prstGeom prst="rect">
            <a:avLst/>
          </a:prstGeom>
        </p:spPr>
        <p:txBody>
          <a:bodyPr vert="horz" wrap="square" lIns="0" tIns="0" rIns="0" bIns="0" rtlCol="0">
            <a:spAutoFit/>
          </a:bodyPr>
          <a:lstStyle/>
          <a:p>
            <a:pPr marL="12700">
              <a:lnSpc>
                <a:spcPts val="1555"/>
              </a:lnSpc>
            </a:pPr>
            <a:r>
              <a:rPr sz="1300" dirty="0">
                <a:latin typeface="Arial" panose="020B0604020202020204"/>
                <a:cs typeface="Arial" panose="020B0604020202020204"/>
              </a:rPr>
              <a:t>3</a:t>
            </a:r>
            <a:r>
              <a:rPr sz="1300" spc="10" dirty="0">
                <a:latin typeface="Arial" panose="020B0604020202020204"/>
                <a:cs typeface="Arial" panose="020B0604020202020204"/>
              </a:rPr>
              <a:t>4</a:t>
            </a:r>
            <a:endParaRPr sz="1300">
              <a:latin typeface="Arial" panose="020B0604020202020204"/>
              <a:cs typeface="Arial" panose="020B060402020202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630448"/>
            <a:ext cx="1320165" cy="696595"/>
          </a:xfrm>
          <a:prstGeom prst="rect">
            <a:avLst/>
          </a:prstGeom>
        </p:spPr>
        <p:txBody>
          <a:bodyPr vert="horz" wrap="square" lIns="0" tIns="12700" rIns="0" bIns="0" rtlCol="0">
            <a:spAutoFit/>
          </a:bodyPr>
          <a:lstStyle/>
          <a:p>
            <a:pPr marL="12700">
              <a:lnSpc>
                <a:spcPct val="100000"/>
              </a:lnSpc>
              <a:spcBef>
                <a:spcPts val="100"/>
              </a:spcBef>
            </a:pPr>
            <a:r>
              <a:rPr sz="4400" spc="-475" dirty="0"/>
              <a:t>P</a:t>
            </a:r>
            <a:r>
              <a:rPr sz="4400" spc="-215" dirty="0"/>
              <a:t>i</a:t>
            </a:r>
            <a:r>
              <a:rPr sz="4400" spc="-315" dirty="0"/>
              <a:t>p</a:t>
            </a:r>
            <a:r>
              <a:rPr sz="4400" spc="-160" dirty="0"/>
              <a:t>e</a:t>
            </a:r>
            <a:r>
              <a:rPr sz="4400" spc="-405" dirty="0"/>
              <a:t>s</a:t>
            </a:r>
            <a:endParaRPr sz="4400"/>
          </a:p>
        </p:txBody>
      </p:sp>
      <p:sp>
        <p:nvSpPr>
          <p:cNvPr id="3" name="object 3"/>
          <p:cNvSpPr txBox="1"/>
          <p:nvPr/>
        </p:nvSpPr>
        <p:spPr>
          <a:xfrm>
            <a:off x="1093470" y="1612265"/>
            <a:ext cx="8190230" cy="4719955"/>
          </a:xfrm>
          <a:prstGeom prst="rect">
            <a:avLst/>
          </a:prstGeom>
        </p:spPr>
        <p:txBody>
          <a:bodyPr vert="horz" wrap="square" lIns="0" tIns="92710" rIns="0" bIns="0" rtlCol="0">
            <a:noAutofit/>
          </a:bodyPr>
          <a:lstStyle/>
          <a:p>
            <a:pPr marL="312420" indent="-300355">
              <a:lnSpc>
                <a:spcPct val="100000"/>
              </a:lnSpc>
              <a:spcBef>
                <a:spcPts val="730"/>
              </a:spcBef>
              <a:buClr>
                <a:srgbClr val="D34816"/>
              </a:buClr>
              <a:buSzPct val="85000"/>
              <a:buFont typeface="Webdings" panose="05030102010509060703"/>
              <a:buChar char=""/>
              <a:tabLst>
                <a:tab pos="313055" algn="l"/>
              </a:tabLst>
            </a:pPr>
            <a:r>
              <a:rPr sz="3050" spc="-275" dirty="0">
                <a:latin typeface="Times New Roman" panose="02020603050405020304"/>
                <a:cs typeface="Times New Roman" panose="02020603050405020304"/>
              </a:rPr>
              <a:t>Two </a:t>
            </a:r>
            <a:r>
              <a:rPr sz="3050" spc="-125" dirty="0">
                <a:latin typeface="Times New Roman" panose="02020603050405020304"/>
                <a:cs typeface="Times New Roman" panose="02020603050405020304"/>
              </a:rPr>
              <a:t>types </a:t>
            </a:r>
            <a:r>
              <a:rPr sz="3050" spc="-165" dirty="0">
                <a:latin typeface="Times New Roman" panose="02020603050405020304"/>
                <a:cs typeface="Times New Roman" panose="02020603050405020304"/>
              </a:rPr>
              <a:t>of</a:t>
            </a:r>
            <a:r>
              <a:rPr sz="3050" spc="-420" dirty="0">
                <a:latin typeface="Times New Roman" panose="02020603050405020304"/>
                <a:cs typeface="Times New Roman" panose="02020603050405020304"/>
              </a:rPr>
              <a:t> </a:t>
            </a:r>
            <a:r>
              <a:rPr sz="3050" spc="-140" dirty="0">
                <a:latin typeface="Times New Roman" panose="02020603050405020304"/>
                <a:cs typeface="Times New Roman" panose="02020603050405020304"/>
              </a:rPr>
              <a:t>pipes</a:t>
            </a:r>
            <a:endParaRPr sz="3050">
              <a:latin typeface="Times New Roman" panose="02020603050405020304"/>
              <a:cs typeface="Times New Roman" panose="02020603050405020304"/>
            </a:endParaRPr>
          </a:p>
          <a:p>
            <a:pPr marL="615950" lvl="1" indent="-252095">
              <a:lnSpc>
                <a:spcPct val="100000"/>
              </a:lnSpc>
              <a:spcBef>
                <a:spcPts val="505"/>
              </a:spcBef>
              <a:buClr>
                <a:srgbClr val="9A2D1F"/>
              </a:buClr>
              <a:buSzPct val="85000"/>
              <a:buFont typeface="Webdings" panose="05030102010509060703"/>
              <a:buChar char=""/>
              <a:tabLst>
                <a:tab pos="616585" algn="l"/>
              </a:tabLst>
            </a:pPr>
            <a:r>
              <a:rPr sz="2650" spc="-90" dirty="0">
                <a:latin typeface="Times New Roman" panose="02020603050405020304"/>
                <a:cs typeface="Times New Roman" panose="02020603050405020304"/>
              </a:rPr>
              <a:t>Ordinary</a:t>
            </a:r>
            <a:r>
              <a:rPr sz="2650" spc="-85" dirty="0">
                <a:latin typeface="Times New Roman" panose="02020603050405020304"/>
                <a:cs typeface="Times New Roman" panose="02020603050405020304"/>
              </a:rPr>
              <a:t> </a:t>
            </a:r>
            <a:r>
              <a:rPr sz="2650" spc="-140" dirty="0">
                <a:latin typeface="Times New Roman" panose="02020603050405020304"/>
                <a:cs typeface="Times New Roman" panose="02020603050405020304"/>
              </a:rPr>
              <a:t>pipes</a:t>
            </a:r>
            <a:endParaRPr sz="2650">
              <a:latin typeface="Times New Roman" panose="02020603050405020304"/>
              <a:cs typeface="Times New Roman" panose="02020603050405020304"/>
            </a:endParaRPr>
          </a:p>
          <a:p>
            <a:pPr marL="615950" lvl="1" indent="-252095">
              <a:lnSpc>
                <a:spcPct val="100000"/>
              </a:lnSpc>
              <a:spcBef>
                <a:spcPts val="420"/>
              </a:spcBef>
              <a:buClr>
                <a:srgbClr val="9A2D1F"/>
              </a:buClr>
              <a:buSzPct val="85000"/>
              <a:buFont typeface="Webdings" panose="05030102010509060703"/>
              <a:buChar char=""/>
              <a:tabLst>
                <a:tab pos="616585" algn="l"/>
              </a:tabLst>
            </a:pPr>
            <a:r>
              <a:rPr sz="2650" spc="-160" dirty="0">
                <a:latin typeface="Times New Roman" panose="02020603050405020304"/>
                <a:cs typeface="Times New Roman" panose="02020603050405020304"/>
              </a:rPr>
              <a:t>Named</a:t>
            </a:r>
            <a:r>
              <a:rPr sz="2650" spc="-60" dirty="0">
                <a:latin typeface="Times New Roman" panose="02020603050405020304"/>
                <a:cs typeface="Times New Roman" panose="02020603050405020304"/>
              </a:rPr>
              <a:t> </a:t>
            </a:r>
            <a:r>
              <a:rPr sz="2650" spc="-140" dirty="0">
                <a:latin typeface="Times New Roman" panose="02020603050405020304"/>
                <a:cs typeface="Times New Roman" panose="02020603050405020304"/>
              </a:rPr>
              <a:t>pipes</a:t>
            </a:r>
            <a:endParaRPr sz="2650" spc="-140" dirty="0">
              <a:latin typeface="Times New Roman" panose="02020603050405020304"/>
              <a:cs typeface="Times New Roman" panose="02020603050405020304"/>
            </a:endParaRPr>
          </a:p>
          <a:p>
            <a:pPr marL="363855" lvl="1" indent="0">
              <a:lnSpc>
                <a:spcPct val="100000"/>
              </a:lnSpc>
              <a:spcBef>
                <a:spcPts val="420"/>
              </a:spcBef>
              <a:buClr>
                <a:srgbClr val="9A2D1F"/>
              </a:buClr>
              <a:buSzPct val="85000"/>
              <a:buFont typeface="Webdings" panose="05030102010509060703"/>
              <a:buNone/>
              <a:tabLst>
                <a:tab pos="616585" algn="l"/>
              </a:tabLst>
            </a:pPr>
            <a:r>
              <a:rPr lang="en-US" altLang="en-US" sz="2650">
                <a:latin typeface="Times New Roman" panose="02020603050405020304"/>
                <a:cs typeface="Times New Roman" panose="02020603050405020304"/>
                <a:sym typeface="+mn-ea"/>
              </a:rPr>
              <a:t>•</a:t>
            </a:r>
            <a:r>
              <a:rPr lang="en-US" altLang="en-US" sz="2650">
                <a:latin typeface="Times New Roman" panose="02020603050405020304"/>
                <a:cs typeface="Times New Roman" panose="02020603050405020304"/>
              </a:rPr>
              <a:t>Unnamed pipe: parent process creates pipe, then uses it to communicate with its child processes ,And they are </a:t>
            </a:r>
            <a:r>
              <a:rPr lang="en-US" altLang="en-US" sz="2650" b="1">
                <a:latin typeface="Times New Roman" panose="02020603050405020304"/>
                <a:cs typeface="Times New Roman" panose="02020603050405020304"/>
              </a:rPr>
              <a:t>temporary</a:t>
            </a:r>
            <a:r>
              <a:rPr lang="en-US" altLang="en-US" sz="2650">
                <a:latin typeface="Times New Roman" panose="02020603050405020304"/>
                <a:cs typeface="Times New Roman" panose="02020603050405020304"/>
              </a:rPr>
              <a:t>; they need to be created every time and are </a:t>
            </a:r>
            <a:endParaRPr lang="en-US" altLang="en-US" sz="2650">
              <a:latin typeface="Times New Roman" panose="02020603050405020304"/>
              <a:cs typeface="Times New Roman" panose="02020603050405020304"/>
            </a:endParaRPr>
          </a:p>
          <a:p>
            <a:pPr marL="363855" lvl="1" indent="0">
              <a:lnSpc>
                <a:spcPct val="100000"/>
              </a:lnSpc>
              <a:spcBef>
                <a:spcPts val="420"/>
              </a:spcBef>
              <a:buClr>
                <a:srgbClr val="9A2D1F"/>
              </a:buClr>
              <a:buSzPct val="85000"/>
              <a:buFont typeface="Webdings" panose="05030102010509060703"/>
              <a:buNone/>
              <a:tabLst>
                <a:tab pos="616585" algn="l"/>
              </a:tabLst>
            </a:pPr>
            <a:r>
              <a:rPr lang="en-US" altLang="en-US" sz="2650">
                <a:latin typeface="Times New Roman" panose="02020603050405020304"/>
                <a:cs typeface="Times New Roman" panose="02020603050405020304"/>
              </a:rPr>
              <a:t>destroyed when the corresponding processes exit</a:t>
            </a:r>
            <a:endParaRPr lang="en-US" altLang="en-US" sz="2650">
              <a:latin typeface="Times New Roman" panose="02020603050405020304"/>
              <a:cs typeface="Times New Roman" panose="02020603050405020304"/>
            </a:endParaRPr>
          </a:p>
          <a:p>
            <a:pPr marL="363855" lvl="1" indent="0">
              <a:lnSpc>
                <a:spcPct val="100000"/>
              </a:lnSpc>
              <a:spcBef>
                <a:spcPts val="420"/>
              </a:spcBef>
              <a:buClr>
                <a:srgbClr val="9A2D1F"/>
              </a:buClr>
              <a:buSzPct val="85000"/>
              <a:buFont typeface="Webdings" panose="05030102010509060703"/>
              <a:buNone/>
              <a:tabLst>
                <a:tab pos="616585" algn="l"/>
              </a:tabLst>
            </a:pPr>
            <a:r>
              <a:rPr lang="en-US" altLang="en-US" sz="2650">
                <a:latin typeface="Times New Roman" panose="02020603050405020304"/>
                <a:cs typeface="Times New Roman" panose="02020603050405020304"/>
              </a:rPr>
              <a:t>• Named pipe (FIFO): any two processes (potentially unrelated) can use</a:t>
            </a:r>
            <a:endParaRPr lang="en-US" altLang="en-US" sz="26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r>
              <a:rPr spc="114" dirty="0"/>
              <a:t>4</a:t>
            </a:r>
            <a:r>
              <a:rPr spc="114" dirty="0"/>
              <a:t>2</a:t>
            </a:r>
            <a:endParaRPr spc="114"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551249"/>
            <a:ext cx="3439795" cy="696595"/>
          </a:xfrm>
          <a:prstGeom prst="rect">
            <a:avLst/>
          </a:prstGeom>
        </p:spPr>
        <p:txBody>
          <a:bodyPr vert="horz" wrap="square" lIns="0" tIns="12700" rIns="0" bIns="0" rtlCol="0">
            <a:spAutoFit/>
          </a:bodyPr>
          <a:lstStyle/>
          <a:p>
            <a:pPr marL="12700">
              <a:lnSpc>
                <a:spcPct val="100000"/>
              </a:lnSpc>
              <a:spcBef>
                <a:spcPts val="100"/>
              </a:spcBef>
            </a:pPr>
            <a:r>
              <a:rPr sz="4400" spc="-330" dirty="0"/>
              <a:t>Ordinary</a:t>
            </a:r>
            <a:r>
              <a:rPr sz="4400" spc="-250" dirty="0"/>
              <a:t> </a:t>
            </a:r>
            <a:r>
              <a:rPr sz="4400" spc="-280" dirty="0"/>
              <a:t>pipes</a:t>
            </a:r>
            <a:endParaRPr sz="4400"/>
          </a:p>
        </p:txBody>
      </p:sp>
      <p:sp>
        <p:nvSpPr>
          <p:cNvPr id="3" name="object 3"/>
          <p:cNvSpPr txBox="1"/>
          <p:nvPr/>
        </p:nvSpPr>
        <p:spPr>
          <a:xfrm>
            <a:off x="1076946" y="1570687"/>
            <a:ext cx="8201025" cy="3094355"/>
          </a:xfrm>
          <a:prstGeom prst="rect">
            <a:avLst/>
          </a:prstGeom>
        </p:spPr>
        <p:txBody>
          <a:bodyPr vert="horz" wrap="square" lIns="0" tIns="12065" rIns="0" bIns="0" rtlCol="0">
            <a:spAutoFit/>
          </a:bodyPr>
          <a:lstStyle/>
          <a:p>
            <a:pPr marL="312420" marR="5715" indent="-300355">
              <a:lnSpc>
                <a:spcPct val="101000"/>
              </a:lnSpc>
              <a:spcBef>
                <a:spcPts val="95"/>
              </a:spcBef>
              <a:buClr>
                <a:srgbClr val="D34816"/>
              </a:buClr>
              <a:buSzPct val="85000"/>
              <a:buFont typeface="Webdings" panose="05030102010509060703"/>
              <a:buChar char=""/>
              <a:tabLst>
                <a:tab pos="313055" algn="l"/>
                <a:tab pos="2059305" algn="l"/>
                <a:tab pos="3154680" algn="l"/>
                <a:tab pos="4122420" algn="l"/>
                <a:tab pos="6515100" algn="l"/>
                <a:tab pos="6997065" algn="l"/>
              </a:tabLst>
            </a:pPr>
            <a:r>
              <a:rPr sz="3050" b="1" spc="70" dirty="0">
                <a:latin typeface="Trebuchet MS" panose="020B0603020202020204"/>
                <a:cs typeface="Trebuchet MS" panose="020B0603020202020204"/>
              </a:rPr>
              <a:t>O</a:t>
            </a:r>
            <a:r>
              <a:rPr sz="3050" b="1" spc="-75" dirty="0">
                <a:latin typeface="Trebuchet MS" panose="020B0603020202020204"/>
                <a:cs typeface="Trebuchet MS" panose="020B0603020202020204"/>
              </a:rPr>
              <a:t>r</a:t>
            </a:r>
            <a:r>
              <a:rPr sz="3050" b="1" spc="15" dirty="0">
                <a:latin typeface="Trebuchet MS" panose="020B0603020202020204"/>
                <a:cs typeface="Trebuchet MS" panose="020B0603020202020204"/>
              </a:rPr>
              <a:t>d</a:t>
            </a:r>
            <a:r>
              <a:rPr sz="3050" b="1" spc="-50" dirty="0">
                <a:latin typeface="Trebuchet MS" panose="020B0603020202020204"/>
                <a:cs typeface="Trebuchet MS" panose="020B0603020202020204"/>
              </a:rPr>
              <a:t>i</a:t>
            </a:r>
            <a:r>
              <a:rPr sz="3050" b="1" spc="-45" dirty="0">
                <a:latin typeface="Trebuchet MS" panose="020B0603020202020204"/>
                <a:cs typeface="Trebuchet MS" panose="020B0603020202020204"/>
              </a:rPr>
              <a:t>n</a:t>
            </a:r>
            <a:r>
              <a:rPr sz="3050" b="1" spc="-210" dirty="0">
                <a:latin typeface="Trebuchet MS" panose="020B0603020202020204"/>
                <a:cs typeface="Trebuchet MS" panose="020B0603020202020204"/>
              </a:rPr>
              <a:t>a</a:t>
            </a:r>
            <a:r>
              <a:rPr sz="3050" b="1" spc="-15" dirty="0">
                <a:latin typeface="Trebuchet MS" panose="020B0603020202020204"/>
                <a:cs typeface="Trebuchet MS" panose="020B0603020202020204"/>
              </a:rPr>
              <a:t>r</a:t>
            </a:r>
            <a:r>
              <a:rPr sz="3050" b="1" spc="-90" dirty="0">
                <a:latin typeface="Trebuchet MS" panose="020B0603020202020204"/>
                <a:cs typeface="Trebuchet MS" panose="020B0603020202020204"/>
              </a:rPr>
              <a:t>y</a:t>
            </a:r>
            <a:r>
              <a:rPr sz="3050" b="1" dirty="0">
                <a:latin typeface="Trebuchet MS" panose="020B0603020202020204"/>
                <a:cs typeface="Trebuchet MS" panose="020B0603020202020204"/>
              </a:rPr>
              <a:t>	</a:t>
            </a:r>
            <a:r>
              <a:rPr sz="3050" b="1" spc="-25" dirty="0">
                <a:latin typeface="Trebuchet MS" panose="020B0603020202020204"/>
                <a:cs typeface="Trebuchet MS" panose="020B0603020202020204"/>
              </a:rPr>
              <a:t>p</a:t>
            </a:r>
            <a:r>
              <a:rPr sz="3050" b="1" spc="-20" dirty="0">
                <a:latin typeface="Trebuchet MS" panose="020B0603020202020204"/>
                <a:cs typeface="Trebuchet MS" panose="020B0603020202020204"/>
              </a:rPr>
              <a:t>i</a:t>
            </a:r>
            <a:r>
              <a:rPr sz="3050" b="1" spc="-25" dirty="0">
                <a:latin typeface="Trebuchet MS" panose="020B0603020202020204"/>
                <a:cs typeface="Trebuchet MS" panose="020B0603020202020204"/>
              </a:rPr>
              <a:t>p</a:t>
            </a:r>
            <a:r>
              <a:rPr sz="3050" b="1" spc="-310" dirty="0">
                <a:latin typeface="Trebuchet MS" panose="020B0603020202020204"/>
                <a:cs typeface="Trebuchet MS" panose="020B0603020202020204"/>
              </a:rPr>
              <a:t>e</a:t>
            </a:r>
            <a:r>
              <a:rPr sz="3050" b="1" spc="-190" dirty="0">
                <a:latin typeface="Trebuchet MS" panose="020B0603020202020204"/>
                <a:cs typeface="Trebuchet MS" panose="020B0603020202020204"/>
              </a:rPr>
              <a:t>s</a:t>
            </a:r>
            <a:r>
              <a:rPr sz="3050" b="1" dirty="0">
                <a:latin typeface="Trebuchet MS" panose="020B0603020202020204"/>
                <a:cs typeface="Trebuchet MS" panose="020B0603020202020204"/>
              </a:rPr>
              <a:t>	</a:t>
            </a:r>
            <a:r>
              <a:rPr sz="3050" spc="-220" dirty="0">
                <a:latin typeface="Times New Roman" panose="02020603050405020304"/>
                <a:cs typeface="Times New Roman" panose="02020603050405020304"/>
              </a:rPr>
              <a:t>a</a:t>
            </a:r>
            <a:r>
              <a:rPr sz="3050" spc="-145" dirty="0">
                <a:latin typeface="Times New Roman" panose="02020603050405020304"/>
                <a:cs typeface="Times New Roman" panose="02020603050405020304"/>
              </a:rPr>
              <a:t>l</a:t>
            </a:r>
            <a:r>
              <a:rPr sz="3050" spc="-114" dirty="0">
                <a:latin typeface="Times New Roman" panose="02020603050405020304"/>
                <a:cs typeface="Times New Roman" panose="02020603050405020304"/>
              </a:rPr>
              <a:t>l</a:t>
            </a:r>
            <a:r>
              <a:rPr sz="3050" spc="-204" dirty="0">
                <a:latin typeface="Times New Roman" panose="02020603050405020304"/>
                <a:cs typeface="Times New Roman" panose="02020603050405020304"/>
              </a:rPr>
              <a:t>o</a:t>
            </a:r>
            <a:r>
              <a:rPr sz="3050" spc="-150" dirty="0">
                <a:latin typeface="Times New Roman" panose="02020603050405020304"/>
                <a:cs typeface="Times New Roman" panose="02020603050405020304"/>
              </a:rPr>
              <a:t>w</a:t>
            </a:r>
            <a:r>
              <a:rPr sz="3050" dirty="0">
                <a:latin typeface="Times New Roman" panose="02020603050405020304"/>
                <a:cs typeface="Times New Roman" panose="02020603050405020304"/>
              </a:rPr>
              <a:t>	</a:t>
            </a:r>
            <a:r>
              <a:rPr sz="3050" spc="-155" dirty="0">
                <a:latin typeface="Times New Roman" panose="02020603050405020304"/>
                <a:cs typeface="Times New Roman" panose="02020603050405020304"/>
              </a:rPr>
              <a:t>c</a:t>
            </a:r>
            <a:r>
              <a:rPr sz="3050" spc="-140" dirty="0">
                <a:latin typeface="Times New Roman" panose="02020603050405020304"/>
                <a:cs typeface="Times New Roman" panose="02020603050405020304"/>
              </a:rPr>
              <a:t>o</a:t>
            </a:r>
            <a:r>
              <a:rPr sz="3050" spc="-155" dirty="0">
                <a:latin typeface="Times New Roman" panose="02020603050405020304"/>
                <a:cs typeface="Times New Roman" panose="02020603050405020304"/>
              </a:rPr>
              <a:t>m</a:t>
            </a:r>
            <a:r>
              <a:rPr sz="3050" spc="-185" dirty="0">
                <a:latin typeface="Times New Roman" panose="02020603050405020304"/>
                <a:cs typeface="Times New Roman" panose="02020603050405020304"/>
              </a:rPr>
              <a:t>m</a:t>
            </a:r>
            <a:r>
              <a:rPr sz="3050" spc="-140" dirty="0">
                <a:latin typeface="Times New Roman" panose="02020603050405020304"/>
                <a:cs typeface="Times New Roman" panose="02020603050405020304"/>
              </a:rPr>
              <a:t>u</a:t>
            </a:r>
            <a:r>
              <a:rPr sz="3050" spc="-110" dirty="0">
                <a:latin typeface="Times New Roman" panose="02020603050405020304"/>
                <a:cs typeface="Times New Roman" panose="02020603050405020304"/>
              </a:rPr>
              <a:t>n</a:t>
            </a:r>
            <a:r>
              <a:rPr sz="3050" spc="-145" dirty="0">
                <a:latin typeface="Times New Roman" panose="02020603050405020304"/>
                <a:cs typeface="Times New Roman" panose="02020603050405020304"/>
              </a:rPr>
              <a:t>i</a:t>
            </a:r>
            <a:r>
              <a:rPr sz="3050" spc="-155" dirty="0">
                <a:latin typeface="Times New Roman" panose="02020603050405020304"/>
                <a:cs typeface="Times New Roman" panose="02020603050405020304"/>
              </a:rPr>
              <a:t>c</a:t>
            </a:r>
            <a:r>
              <a:rPr sz="3050" spc="-280" dirty="0">
                <a:latin typeface="Times New Roman" panose="02020603050405020304"/>
                <a:cs typeface="Times New Roman" panose="02020603050405020304"/>
              </a:rPr>
              <a:t>a</a:t>
            </a:r>
            <a:r>
              <a:rPr sz="3050" spc="40" dirty="0">
                <a:latin typeface="Times New Roman" panose="02020603050405020304"/>
                <a:cs typeface="Times New Roman" panose="02020603050405020304"/>
              </a:rPr>
              <a:t>t</a:t>
            </a:r>
            <a:r>
              <a:rPr sz="3050" spc="-145" dirty="0">
                <a:latin typeface="Times New Roman" panose="02020603050405020304"/>
                <a:cs typeface="Times New Roman" panose="02020603050405020304"/>
              </a:rPr>
              <a:t>i</a:t>
            </a:r>
            <a:r>
              <a:rPr sz="3050" spc="-110" dirty="0">
                <a:latin typeface="Times New Roman" panose="02020603050405020304"/>
                <a:cs typeface="Times New Roman" panose="02020603050405020304"/>
              </a:rPr>
              <a:t>o</a:t>
            </a:r>
            <a:r>
              <a:rPr sz="3050" spc="-114" dirty="0">
                <a:latin typeface="Times New Roman" panose="02020603050405020304"/>
                <a:cs typeface="Times New Roman" panose="02020603050405020304"/>
              </a:rPr>
              <a:t>n</a:t>
            </a:r>
            <a:r>
              <a:rPr sz="3050" dirty="0">
                <a:latin typeface="Times New Roman" panose="02020603050405020304"/>
                <a:cs typeface="Times New Roman" panose="02020603050405020304"/>
              </a:rPr>
              <a:t>	</a:t>
            </a:r>
            <a:r>
              <a:rPr sz="3050" spc="-145" dirty="0">
                <a:latin typeface="Times New Roman" panose="02020603050405020304"/>
                <a:cs typeface="Times New Roman" panose="02020603050405020304"/>
              </a:rPr>
              <a:t>i</a:t>
            </a:r>
            <a:r>
              <a:rPr sz="3050" spc="-114" dirty="0">
                <a:latin typeface="Times New Roman" panose="02020603050405020304"/>
                <a:cs typeface="Times New Roman" panose="02020603050405020304"/>
              </a:rPr>
              <a:t>n</a:t>
            </a:r>
            <a:r>
              <a:rPr sz="3050" dirty="0">
                <a:latin typeface="Times New Roman" panose="02020603050405020304"/>
                <a:cs typeface="Times New Roman" panose="02020603050405020304"/>
              </a:rPr>
              <a:t>	</a:t>
            </a:r>
            <a:r>
              <a:rPr sz="3050" spc="-270" dirty="0">
                <a:latin typeface="Times New Roman" panose="02020603050405020304"/>
                <a:cs typeface="Times New Roman" panose="02020603050405020304"/>
              </a:rPr>
              <a:t>s</a:t>
            </a:r>
            <a:r>
              <a:rPr sz="3050" spc="40" dirty="0">
                <a:latin typeface="Times New Roman" panose="02020603050405020304"/>
                <a:cs typeface="Times New Roman" panose="02020603050405020304"/>
              </a:rPr>
              <a:t>t</a:t>
            </a:r>
            <a:r>
              <a:rPr sz="3050" spc="-220" dirty="0">
                <a:latin typeface="Times New Roman" panose="02020603050405020304"/>
                <a:cs typeface="Times New Roman" panose="02020603050405020304"/>
              </a:rPr>
              <a:t>a</a:t>
            </a:r>
            <a:r>
              <a:rPr sz="3050" spc="-110" dirty="0">
                <a:latin typeface="Times New Roman" panose="02020603050405020304"/>
                <a:cs typeface="Times New Roman" panose="02020603050405020304"/>
              </a:rPr>
              <a:t>n</a:t>
            </a:r>
            <a:r>
              <a:rPr sz="3050" spc="-140" dirty="0">
                <a:latin typeface="Times New Roman" panose="02020603050405020304"/>
                <a:cs typeface="Times New Roman" panose="02020603050405020304"/>
              </a:rPr>
              <a:t>d</a:t>
            </a:r>
            <a:r>
              <a:rPr sz="3050" spc="-220" dirty="0">
                <a:latin typeface="Times New Roman" panose="02020603050405020304"/>
                <a:cs typeface="Times New Roman" panose="02020603050405020304"/>
              </a:rPr>
              <a:t>a</a:t>
            </a:r>
            <a:r>
              <a:rPr sz="3050" spc="30" dirty="0">
                <a:latin typeface="Times New Roman" panose="02020603050405020304"/>
                <a:cs typeface="Times New Roman" panose="02020603050405020304"/>
              </a:rPr>
              <a:t>r</a:t>
            </a:r>
            <a:r>
              <a:rPr sz="3050" spc="-75" dirty="0">
                <a:latin typeface="Times New Roman" panose="02020603050405020304"/>
                <a:cs typeface="Times New Roman" panose="02020603050405020304"/>
              </a:rPr>
              <a:t>d  </a:t>
            </a:r>
            <a:r>
              <a:rPr sz="3050" spc="-100" dirty="0">
                <a:latin typeface="Times New Roman" panose="02020603050405020304"/>
                <a:cs typeface="Times New Roman" panose="02020603050405020304"/>
              </a:rPr>
              <a:t>producer-consumer</a:t>
            </a:r>
            <a:r>
              <a:rPr sz="3050" spc="-75" dirty="0">
                <a:latin typeface="Times New Roman" panose="02020603050405020304"/>
                <a:cs typeface="Times New Roman" panose="02020603050405020304"/>
              </a:rPr>
              <a:t> </a:t>
            </a:r>
            <a:r>
              <a:rPr sz="3050" spc="-90" dirty="0">
                <a:latin typeface="Times New Roman" panose="02020603050405020304"/>
                <a:cs typeface="Times New Roman" panose="02020603050405020304"/>
              </a:rPr>
              <a:t>form</a:t>
            </a:r>
            <a:endParaRPr sz="3050">
              <a:latin typeface="Times New Roman" panose="02020603050405020304"/>
              <a:cs typeface="Times New Roman" panose="02020603050405020304"/>
            </a:endParaRPr>
          </a:p>
          <a:p>
            <a:pPr marL="312420" indent="-300355">
              <a:lnSpc>
                <a:spcPct val="100000"/>
              </a:lnSpc>
              <a:spcBef>
                <a:spcPts val="695"/>
              </a:spcBef>
              <a:buClr>
                <a:srgbClr val="D34816"/>
              </a:buClr>
              <a:buSzPct val="85000"/>
              <a:buFont typeface="Webdings" panose="05030102010509060703"/>
              <a:buChar char=""/>
              <a:tabLst>
                <a:tab pos="313055" algn="l"/>
              </a:tabLst>
            </a:pPr>
            <a:r>
              <a:rPr sz="3050" b="1" spc="-100" dirty="0">
                <a:latin typeface="Trebuchet MS" panose="020B0603020202020204"/>
                <a:cs typeface="Trebuchet MS" panose="020B0603020202020204"/>
              </a:rPr>
              <a:t>Producer </a:t>
            </a:r>
            <a:r>
              <a:rPr sz="3050" spc="-85" dirty="0">
                <a:latin typeface="Times New Roman" panose="02020603050405020304"/>
                <a:cs typeface="Times New Roman" panose="02020603050405020304"/>
              </a:rPr>
              <a:t>writes </a:t>
            </a:r>
            <a:r>
              <a:rPr sz="3050" spc="-35" dirty="0">
                <a:latin typeface="Times New Roman" panose="02020603050405020304"/>
                <a:cs typeface="Times New Roman" panose="02020603050405020304"/>
              </a:rPr>
              <a:t>to </a:t>
            </a:r>
            <a:r>
              <a:rPr sz="3050" spc="-120" dirty="0">
                <a:latin typeface="Times New Roman" panose="02020603050405020304"/>
                <a:cs typeface="Times New Roman" panose="02020603050405020304"/>
              </a:rPr>
              <a:t>one </a:t>
            </a:r>
            <a:r>
              <a:rPr sz="3050" spc="-105" dirty="0">
                <a:latin typeface="Times New Roman" panose="02020603050405020304"/>
                <a:cs typeface="Times New Roman" panose="02020603050405020304"/>
              </a:rPr>
              <a:t>end </a:t>
            </a:r>
            <a:r>
              <a:rPr sz="3050" spc="-165" dirty="0">
                <a:latin typeface="Times New Roman" panose="02020603050405020304"/>
                <a:cs typeface="Times New Roman" panose="02020603050405020304"/>
              </a:rPr>
              <a:t>of </a:t>
            </a:r>
            <a:r>
              <a:rPr sz="3050" spc="-80" dirty="0">
                <a:latin typeface="Times New Roman" panose="02020603050405020304"/>
                <a:cs typeface="Times New Roman" panose="02020603050405020304"/>
              </a:rPr>
              <a:t>the </a:t>
            </a:r>
            <a:r>
              <a:rPr sz="3050" spc="-114" dirty="0">
                <a:latin typeface="Times New Roman" panose="02020603050405020304"/>
                <a:cs typeface="Times New Roman" panose="02020603050405020304"/>
              </a:rPr>
              <a:t>pipe </a:t>
            </a:r>
            <a:r>
              <a:rPr sz="3050" spc="-65" dirty="0">
                <a:latin typeface="Times New Roman" panose="02020603050405020304"/>
                <a:cs typeface="Times New Roman" panose="02020603050405020304"/>
              </a:rPr>
              <a:t>(the</a:t>
            </a:r>
            <a:r>
              <a:rPr sz="3050" spc="-135" dirty="0">
                <a:latin typeface="Times New Roman" panose="02020603050405020304"/>
                <a:cs typeface="Times New Roman" panose="02020603050405020304"/>
              </a:rPr>
              <a:t> </a:t>
            </a:r>
            <a:r>
              <a:rPr sz="3050" i="1" spc="-235" dirty="0">
                <a:latin typeface="Times New Roman" panose="02020603050405020304"/>
                <a:cs typeface="Times New Roman" panose="02020603050405020304"/>
              </a:rPr>
              <a:t>write-end</a:t>
            </a:r>
            <a:r>
              <a:rPr sz="3050" spc="-235" dirty="0">
                <a:latin typeface="Times New Roman" panose="02020603050405020304"/>
                <a:cs typeface="Times New Roman" panose="02020603050405020304"/>
              </a:rPr>
              <a:t>)</a:t>
            </a:r>
            <a:endParaRPr sz="3050">
              <a:latin typeface="Times New Roman" panose="02020603050405020304"/>
              <a:cs typeface="Times New Roman" panose="02020603050405020304"/>
            </a:endParaRPr>
          </a:p>
          <a:p>
            <a:pPr marL="312420" marR="5080" indent="-300355">
              <a:lnSpc>
                <a:spcPct val="101000"/>
              </a:lnSpc>
              <a:spcBef>
                <a:spcPts val="660"/>
              </a:spcBef>
              <a:buClr>
                <a:srgbClr val="D34816"/>
              </a:buClr>
              <a:buSzPct val="85000"/>
              <a:buFont typeface="Webdings" panose="05030102010509060703"/>
              <a:buChar char=""/>
              <a:tabLst>
                <a:tab pos="313055" algn="l"/>
              </a:tabLst>
            </a:pPr>
            <a:r>
              <a:rPr sz="3050" b="1" spc="-114" dirty="0">
                <a:latin typeface="Trebuchet MS" panose="020B0603020202020204"/>
                <a:cs typeface="Trebuchet MS" panose="020B0603020202020204"/>
              </a:rPr>
              <a:t>Consumer </a:t>
            </a:r>
            <a:r>
              <a:rPr sz="3050" spc="-135" dirty="0">
                <a:latin typeface="Times New Roman" panose="02020603050405020304"/>
                <a:cs typeface="Times New Roman" panose="02020603050405020304"/>
              </a:rPr>
              <a:t>reads </a:t>
            </a:r>
            <a:r>
              <a:rPr sz="3050" spc="-120" dirty="0">
                <a:latin typeface="Times New Roman" panose="02020603050405020304"/>
                <a:cs typeface="Times New Roman" panose="02020603050405020304"/>
              </a:rPr>
              <a:t>from </a:t>
            </a:r>
            <a:r>
              <a:rPr sz="3050" spc="-65" dirty="0">
                <a:latin typeface="Times New Roman" panose="02020603050405020304"/>
                <a:cs typeface="Times New Roman" panose="02020603050405020304"/>
              </a:rPr>
              <a:t>other </a:t>
            </a:r>
            <a:r>
              <a:rPr sz="3050" spc="-114" dirty="0">
                <a:latin typeface="Times New Roman" panose="02020603050405020304"/>
                <a:cs typeface="Times New Roman" panose="02020603050405020304"/>
              </a:rPr>
              <a:t>end </a:t>
            </a:r>
            <a:r>
              <a:rPr sz="3050" spc="-165" dirty="0">
                <a:latin typeface="Times New Roman" panose="02020603050405020304"/>
                <a:cs typeface="Times New Roman" panose="02020603050405020304"/>
              </a:rPr>
              <a:t>of </a:t>
            </a:r>
            <a:r>
              <a:rPr sz="3050" spc="-80" dirty="0">
                <a:latin typeface="Times New Roman" panose="02020603050405020304"/>
                <a:cs typeface="Times New Roman" panose="02020603050405020304"/>
              </a:rPr>
              <a:t>the </a:t>
            </a:r>
            <a:r>
              <a:rPr sz="3050" spc="-114" dirty="0">
                <a:latin typeface="Times New Roman" panose="02020603050405020304"/>
                <a:cs typeface="Times New Roman" panose="02020603050405020304"/>
              </a:rPr>
              <a:t>pipe </a:t>
            </a:r>
            <a:r>
              <a:rPr sz="3050" spc="-75" dirty="0">
                <a:latin typeface="Times New Roman" panose="02020603050405020304"/>
                <a:cs typeface="Times New Roman" panose="02020603050405020304"/>
              </a:rPr>
              <a:t>(the </a:t>
            </a:r>
            <a:r>
              <a:rPr sz="3050" i="1" spc="-285" dirty="0">
                <a:latin typeface="Times New Roman" panose="02020603050405020304"/>
                <a:cs typeface="Times New Roman" panose="02020603050405020304"/>
              </a:rPr>
              <a:t>read-  </a:t>
            </a:r>
            <a:r>
              <a:rPr sz="3050" i="1" spc="-315" dirty="0">
                <a:latin typeface="Times New Roman" panose="02020603050405020304"/>
                <a:cs typeface="Times New Roman" panose="02020603050405020304"/>
              </a:rPr>
              <a:t>end </a:t>
            </a:r>
            <a:r>
              <a:rPr sz="3050" spc="-165" dirty="0">
                <a:latin typeface="Times New Roman" panose="02020603050405020304"/>
                <a:cs typeface="Times New Roman" panose="02020603050405020304"/>
              </a:rPr>
              <a:t>of </a:t>
            </a:r>
            <a:r>
              <a:rPr sz="3050" spc="-80" dirty="0">
                <a:latin typeface="Times New Roman" panose="02020603050405020304"/>
                <a:cs typeface="Times New Roman" panose="02020603050405020304"/>
              </a:rPr>
              <a:t>the</a:t>
            </a:r>
            <a:r>
              <a:rPr sz="3050" spc="-215" dirty="0">
                <a:latin typeface="Times New Roman" panose="02020603050405020304"/>
                <a:cs typeface="Times New Roman" panose="02020603050405020304"/>
              </a:rPr>
              <a:t> </a:t>
            </a:r>
            <a:r>
              <a:rPr sz="3050" spc="-110" dirty="0">
                <a:latin typeface="Times New Roman" panose="02020603050405020304"/>
                <a:cs typeface="Times New Roman" panose="02020603050405020304"/>
              </a:rPr>
              <a:t>pipe)</a:t>
            </a:r>
            <a:endParaRPr sz="3050">
              <a:latin typeface="Times New Roman" panose="02020603050405020304"/>
              <a:cs typeface="Times New Roman" panose="02020603050405020304"/>
            </a:endParaRPr>
          </a:p>
          <a:p>
            <a:pPr marL="312420" indent="-300355">
              <a:lnSpc>
                <a:spcPct val="100000"/>
              </a:lnSpc>
              <a:spcBef>
                <a:spcPts val="695"/>
              </a:spcBef>
              <a:buClr>
                <a:srgbClr val="D34816"/>
              </a:buClr>
              <a:buSzPct val="85000"/>
              <a:buFont typeface="Webdings" panose="05030102010509060703"/>
              <a:buChar char=""/>
              <a:tabLst>
                <a:tab pos="313055" algn="l"/>
              </a:tabLst>
            </a:pPr>
            <a:r>
              <a:rPr sz="3050" spc="-85" dirty="0">
                <a:latin typeface="Times New Roman" panose="02020603050405020304"/>
                <a:cs typeface="Times New Roman" panose="02020603050405020304"/>
              </a:rPr>
              <a:t>Ordinary </a:t>
            </a:r>
            <a:r>
              <a:rPr sz="3050" spc="-140" dirty="0">
                <a:latin typeface="Times New Roman" panose="02020603050405020304"/>
                <a:cs typeface="Times New Roman" panose="02020603050405020304"/>
              </a:rPr>
              <a:t>pipes </a:t>
            </a:r>
            <a:r>
              <a:rPr sz="3050" spc="-120" dirty="0">
                <a:latin typeface="Times New Roman" panose="02020603050405020304"/>
                <a:cs typeface="Times New Roman" panose="02020603050405020304"/>
              </a:rPr>
              <a:t>are </a:t>
            </a:r>
            <a:r>
              <a:rPr sz="3050" spc="-85" dirty="0">
                <a:latin typeface="Times New Roman" panose="02020603050405020304"/>
                <a:cs typeface="Times New Roman" panose="02020603050405020304"/>
              </a:rPr>
              <a:t>therefore</a:t>
            </a:r>
            <a:r>
              <a:rPr sz="3050" spc="45" dirty="0">
                <a:latin typeface="Times New Roman" panose="02020603050405020304"/>
                <a:cs typeface="Times New Roman" panose="02020603050405020304"/>
              </a:rPr>
              <a:t> </a:t>
            </a:r>
            <a:r>
              <a:rPr sz="3050" spc="-114" dirty="0">
                <a:latin typeface="Times New Roman" panose="02020603050405020304"/>
                <a:cs typeface="Times New Roman" panose="02020603050405020304"/>
              </a:rPr>
              <a:t>unidirectional</a:t>
            </a:r>
            <a:endParaRPr sz="3050">
              <a:latin typeface="Times New Roman" panose="02020603050405020304"/>
              <a:cs typeface="Times New Roman" panose="02020603050405020304"/>
            </a:endParaRPr>
          </a:p>
        </p:txBody>
      </p:sp>
      <p:sp>
        <p:nvSpPr>
          <p:cNvPr id="4" name="object 4"/>
          <p:cNvSpPr txBox="1"/>
          <p:nvPr/>
        </p:nvSpPr>
        <p:spPr>
          <a:xfrm>
            <a:off x="8063017" y="4722303"/>
            <a:ext cx="1215390" cy="495934"/>
          </a:xfrm>
          <a:prstGeom prst="rect">
            <a:avLst/>
          </a:prstGeom>
        </p:spPr>
        <p:txBody>
          <a:bodyPr vert="horz" wrap="square" lIns="0" tIns="16510" rIns="0" bIns="0" rtlCol="0">
            <a:spAutoFit/>
          </a:bodyPr>
          <a:lstStyle/>
          <a:p>
            <a:pPr marL="12700">
              <a:lnSpc>
                <a:spcPct val="100000"/>
              </a:lnSpc>
              <a:spcBef>
                <a:spcPts val="130"/>
              </a:spcBef>
            </a:pPr>
            <a:r>
              <a:rPr sz="3050" spc="-120" dirty="0">
                <a:latin typeface="Times New Roman" panose="02020603050405020304"/>
                <a:cs typeface="Times New Roman" panose="02020603050405020304"/>
              </a:rPr>
              <a:t>between</a:t>
            </a:r>
            <a:endParaRPr sz="3050">
              <a:latin typeface="Times New Roman" panose="02020603050405020304"/>
              <a:cs typeface="Times New Roman" panose="02020603050405020304"/>
            </a:endParaRPr>
          </a:p>
        </p:txBody>
      </p:sp>
      <p:sp>
        <p:nvSpPr>
          <p:cNvPr id="5" name="object 5"/>
          <p:cNvSpPr txBox="1"/>
          <p:nvPr/>
        </p:nvSpPr>
        <p:spPr>
          <a:xfrm>
            <a:off x="1076946" y="4722340"/>
            <a:ext cx="6341110" cy="1518285"/>
          </a:xfrm>
          <a:prstGeom prst="rect">
            <a:avLst/>
          </a:prstGeom>
        </p:spPr>
        <p:txBody>
          <a:bodyPr vert="horz" wrap="square" lIns="0" tIns="12065" rIns="0" bIns="0" rtlCol="0">
            <a:spAutoFit/>
          </a:bodyPr>
          <a:lstStyle/>
          <a:p>
            <a:pPr marL="312420" marR="5080" indent="-300355">
              <a:lnSpc>
                <a:spcPct val="101000"/>
              </a:lnSpc>
              <a:spcBef>
                <a:spcPts val="95"/>
              </a:spcBef>
              <a:buClr>
                <a:srgbClr val="D34816"/>
              </a:buClr>
              <a:buSzPct val="85000"/>
              <a:buFont typeface="Webdings" panose="05030102010509060703"/>
              <a:buChar char=""/>
              <a:tabLst>
                <a:tab pos="313055" algn="l"/>
                <a:tab pos="2290445" algn="l"/>
                <a:tab pos="4679950" algn="l"/>
              </a:tabLst>
            </a:pPr>
            <a:r>
              <a:rPr sz="3050" spc="-190" dirty="0">
                <a:latin typeface="Times New Roman" panose="02020603050405020304"/>
                <a:cs typeface="Times New Roman" panose="02020603050405020304"/>
              </a:rPr>
              <a:t>R</a:t>
            </a:r>
            <a:r>
              <a:rPr sz="3050" spc="-125" dirty="0">
                <a:latin typeface="Times New Roman" panose="02020603050405020304"/>
                <a:cs typeface="Times New Roman" panose="02020603050405020304"/>
              </a:rPr>
              <a:t>e</a:t>
            </a:r>
            <a:r>
              <a:rPr sz="3050" spc="-140" dirty="0">
                <a:latin typeface="Times New Roman" panose="02020603050405020304"/>
                <a:cs typeface="Times New Roman" panose="02020603050405020304"/>
              </a:rPr>
              <a:t>q</a:t>
            </a:r>
            <a:r>
              <a:rPr sz="3050" spc="-110" dirty="0">
                <a:latin typeface="Times New Roman" panose="02020603050405020304"/>
                <a:cs typeface="Times New Roman" panose="02020603050405020304"/>
              </a:rPr>
              <a:t>u</a:t>
            </a:r>
            <a:r>
              <a:rPr sz="3050" spc="-145" dirty="0">
                <a:latin typeface="Times New Roman" panose="02020603050405020304"/>
                <a:cs typeface="Times New Roman" panose="02020603050405020304"/>
              </a:rPr>
              <a:t>i</a:t>
            </a:r>
            <a:r>
              <a:rPr sz="3050" dirty="0">
                <a:latin typeface="Times New Roman" panose="02020603050405020304"/>
                <a:cs typeface="Times New Roman" panose="02020603050405020304"/>
              </a:rPr>
              <a:t>r</a:t>
            </a:r>
            <a:r>
              <a:rPr sz="3050" spc="-125" dirty="0">
                <a:latin typeface="Times New Roman" panose="02020603050405020304"/>
                <a:cs typeface="Times New Roman" panose="02020603050405020304"/>
              </a:rPr>
              <a:t>e</a:t>
            </a:r>
            <a:r>
              <a:rPr sz="3050" spc="-114" dirty="0">
                <a:latin typeface="Times New Roman" panose="02020603050405020304"/>
                <a:cs typeface="Times New Roman" panose="02020603050405020304"/>
              </a:rPr>
              <a:t>d</a:t>
            </a:r>
            <a:r>
              <a:rPr sz="3050" dirty="0">
                <a:latin typeface="Times New Roman" panose="02020603050405020304"/>
                <a:cs typeface="Times New Roman" panose="02020603050405020304"/>
              </a:rPr>
              <a:t>	</a:t>
            </a:r>
            <a:r>
              <a:rPr sz="3050" spc="-110" dirty="0">
                <a:latin typeface="Times New Roman" panose="02020603050405020304"/>
                <a:cs typeface="Times New Roman" panose="02020603050405020304"/>
              </a:rPr>
              <a:t>p</a:t>
            </a:r>
            <a:r>
              <a:rPr sz="3050" spc="-250" dirty="0">
                <a:latin typeface="Times New Roman" panose="02020603050405020304"/>
                <a:cs typeface="Times New Roman" panose="02020603050405020304"/>
              </a:rPr>
              <a:t>a</a:t>
            </a:r>
            <a:r>
              <a:rPr sz="3050" dirty="0">
                <a:latin typeface="Times New Roman" panose="02020603050405020304"/>
                <a:cs typeface="Times New Roman" panose="02020603050405020304"/>
              </a:rPr>
              <a:t>r</a:t>
            </a:r>
            <a:r>
              <a:rPr sz="3050" spc="-95" dirty="0">
                <a:latin typeface="Times New Roman" panose="02020603050405020304"/>
                <a:cs typeface="Times New Roman" panose="02020603050405020304"/>
              </a:rPr>
              <a:t>e</a:t>
            </a:r>
            <a:r>
              <a:rPr sz="3050" spc="-110" dirty="0">
                <a:latin typeface="Times New Roman" panose="02020603050405020304"/>
                <a:cs typeface="Times New Roman" panose="02020603050405020304"/>
              </a:rPr>
              <a:t>n</a:t>
            </a:r>
            <a:r>
              <a:rPr sz="3050" spc="40" dirty="0">
                <a:latin typeface="Times New Roman" panose="02020603050405020304"/>
                <a:cs typeface="Times New Roman" panose="02020603050405020304"/>
              </a:rPr>
              <a:t>t</a:t>
            </a:r>
            <a:r>
              <a:rPr sz="3050" spc="-65" dirty="0">
                <a:latin typeface="Times New Roman" panose="02020603050405020304"/>
                <a:cs typeface="Times New Roman" panose="02020603050405020304"/>
              </a:rPr>
              <a:t>-</a:t>
            </a:r>
            <a:r>
              <a:rPr sz="3050" spc="-125" dirty="0">
                <a:latin typeface="Times New Roman" panose="02020603050405020304"/>
                <a:cs typeface="Times New Roman" panose="02020603050405020304"/>
              </a:rPr>
              <a:t>c</a:t>
            </a:r>
            <a:r>
              <a:rPr sz="3050" spc="-170" dirty="0">
                <a:latin typeface="Times New Roman" panose="02020603050405020304"/>
                <a:cs typeface="Times New Roman" panose="02020603050405020304"/>
              </a:rPr>
              <a:t>h</a:t>
            </a:r>
            <a:r>
              <a:rPr sz="3050" spc="-145" dirty="0">
                <a:latin typeface="Times New Roman" panose="02020603050405020304"/>
                <a:cs typeface="Times New Roman" panose="02020603050405020304"/>
              </a:rPr>
              <a:t>i</a:t>
            </a:r>
            <a:r>
              <a:rPr sz="3050" spc="-114" dirty="0">
                <a:latin typeface="Times New Roman" panose="02020603050405020304"/>
                <a:cs typeface="Times New Roman" panose="02020603050405020304"/>
              </a:rPr>
              <a:t>l</a:t>
            </a:r>
            <a:r>
              <a:rPr sz="3050" spc="-114" dirty="0">
                <a:latin typeface="Times New Roman" panose="02020603050405020304"/>
                <a:cs typeface="Times New Roman" panose="02020603050405020304"/>
              </a:rPr>
              <a:t>d</a:t>
            </a:r>
            <a:r>
              <a:rPr sz="3050" dirty="0">
                <a:latin typeface="Times New Roman" panose="02020603050405020304"/>
                <a:cs typeface="Times New Roman" panose="02020603050405020304"/>
              </a:rPr>
              <a:t>	</a:t>
            </a:r>
            <a:r>
              <a:rPr sz="3050" dirty="0">
                <a:latin typeface="Times New Roman" panose="02020603050405020304"/>
                <a:cs typeface="Times New Roman" panose="02020603050405020304"/>
              </a:rPr>
              <a:t>r</a:t>
            </a:r>
            <a:r>
              <a:rPr sz="3050" spc="-95" dirty="0">
                <a:latin typeface="Times New Roman" panose="02020603050405020304"/>
                <a:cs typeface="Times New Roman" panose="02020603050405020304"/>
              </a:rPr>
              <a:t>e</a:t>
            </a:r>
            <a:r>
              <a:rPr sz="3050" spc="-114" dirty="0">
                <a:latin typeface="Times New Roman" panose="02020603050405020304"/>
                <a:cs typeface="Times New Roman" panose="02020603050405020304"/>
              </a:rPr>
              <a:t>l</a:t>
            </a:r>
            <a:r>
              <a:rPr sz="3050" spc="-280" dirty="0">
                <a:latin typeface="Times New Roman" panose="02020603050405020304"/>
                <a:cs typeface="Times New Roman" panose="02020603050405020304"/>
              </a:rPr>
              <a:t>a</a:t>
            </a:r>
            <a:r>
              <a:rPr sz="3050" spc="40" dirty="0">
                <a:latin typeface="Times New Roman" panose="02020603050405020304"/>
                <a:cs typeface="Times New Roman" panose="02020603050405020304"/>
              </a:rPr>
              <a:t>t</a:t>
            </a:r>
            <a:r>
              <a:rPr sz="3050" spc="-145" dirty="0">
                <a:latin typeface="Times New Roman" panose="02020603050405020304"/>
                <a:cs typeface="Times New Roman" panose="02020603050405020304"/>
              </a:rPr>
              <a:t>i</a:t>
            </a:r>
            <a:r>
              <a:rPr sz="3050" spc="-110" dirty="0">
                <a:latin typeface="Times New Roman" panose="02020603050405020304"/>
                <a:cs typeface="Times New Roman" panose="02020603050405020304"/>
              </a:rPr>
              <a:t>on</a:t>
            </a:r>
            <a:r>
              <a:rPr sz="3050" spc="-235" dirty="0">
                <a:latin typeface="Times New Roman" panose="02020603050405020304"/>
                <a:cs typeface="Times New Roman" panose="02020603050405020304"/>
              </a:rPr>
              <a:t>s</a:t>
            </a:r>
            <a:r>
              <a:rPr sz="3050" spc="-170" dirty="0">
                <a:latin typeface="Times New Roman" panose="02020603050405020304"/>
                <a:cs typeface="Times New Roman" panose="02020603050405020304"/>
              </a:rPr>
              <a:t>h</a:t>
            </a:r>
            <a:r>
              <a:rPr sz="3050" spc="-145" dirty="0">
                <a:latin typeface="Times New Roman" panose="02020603050405020304"/>
                <a:cs typeface="Times New Roman" panose="02020603050405020304"/>
              </a:rPr>
              <a:t>i</a:t>
            </a:r>
            <a:r>
              <a:rPr sz="3050" spc="-75" dirty="0">
                <a:latin typeface="Times New Roman" panose="02020603050405020304"/>
                <a:cs typeface="Times New Roman" panose="02020603050405020304"/>
              </a:rPr>
              <a:t>p  </a:t>
            </a:r>
            <a:r>
              <a:rPr sz="3050" spc="-145" dirty="0">
                <a:latin typeface="Times New Roman" panose="02020603050405020304"/>
                <a:cs typeface="Times New Roman" panose="02020603050405020304"/>
              </a:rPr>
              <a:t>communicating</a:t>
            </a:r>
            <a:r>
              <a:rPr sz="3050" spc="-114" dirty="0">
                <a:latin typeface="Times New Roman" panose="02020603050405020304"/>
                <a:cs typeface="Times New Roman" panose="02020603050405020304"/>
              </a:rPr>
              <a:t> </a:t>
            </a:r>
            <a:r>
              <a:rPr sz="3050" spc="-145" dirty="0">
                <a:latin typeface="Times New Roman" panose="02020603050405020304"/>
                <a:cs typeface="Times New Roman" panose="02020603050405020304"/>
              </a:rPr>
              <a:t>processes</a:t>
            </a:r>
            <a:endParaRPr sz="3050">
              <a:latin typeface="Times New Roman" panose="02020603050405020304"/>
              <a:cs typeface="Times New Roman" panose="02020603050405020304"/>
            </a:endParaRPr>
          </a:p>
          <a:p>
            <a:pPr marL="312420" indent="-300355">
              <a:lnSpc>
                <a:spcPct val="100000"/>
              </a:lnSpc>
              <a:spcBef>
                <a:spcPts val="695"/>
              </a:spcBef>
              <a:buClr>
                <a:srgbClr val="D34816"/>
              </a:buClr>
              <a:buSzPct val="85000"/>
              <a:buFont typeface="Webdings" panose="05030102010509060703"/>
              <a:buChar char=""/>
              <a:tabLst>
                <a:tab pos="313055" algn="l"/>
              </a:tabLst>
            </a:pPr>
            <a:r>
              <a:rPr sz="3050" spc="-165" dirty="0">
                <a:latin typeface="Times New Roman" panose="02020603050405020304"/>
                <a:cs typeface="Times New Roman" panose="02020603050405020304"/>
              </a:rPr>
              <a:t>In </a:t>
            </a:r>
            <a:r>
              <a:rPr sz="3050" spc="-160" dirty="0">
                <a:latin typeface="Times New Roman" panose="02020603050405020304"/>
                <a:cs typeface="Times New Roman" panose="02020603050405020304"/>
              </a:rPr>
              <a:t>windows </a:t>
            </a:r>
            <a:r>
              <a:rPr sz="3050" spc="-155" dirty="0">
                <a:latin typeface="Times New Roman" panose="02020603050405020304"/>
                <a:cs typeface="Times New Roman" panose="02020603050405020304"/>
              </a:rPr>
              <a:t>known </a:t>
            </a:r>
            <a:r>
              <a:rPr sz="3050" spc="-220" dirty="0">
                <a:latin typeface="Times New Roman" panose="02020603050405020304"/>
                <a:cs typeface="Times New Roman" panose="02020603050405020304"/>
              </a:rPr>
              <a:t>as </a:t>
            </a:r>
            <a:r>
              <a:rPr sz="3050" i="1" spc="-345" dirty="0">
                <a:latin typeface="Times New Roman" panose="02020603050405020304"/>
                <a:cs typeface="Times New Roman" panose="02020603050405020304"/>
              </a:rPr>
              <a:t>Anonymous</a:t>
            </a:r>
            <a:r>
              <a:rPr sz="3050" i="1" spc="-185" dirty="0">
                <a:latin typeface="Times New Roman" panose="02020603050405020304"/>
                <a:cs typeface="Times New Roman" panose="02020603050405020304"/>
              </a:rPr>
              <a:t> </a:t>
            </a:r>
            <a:r>
              <a:rPr sz="3050" i="1" spc="-305" dirty="0">
                <a:latin typeface="Times New Roman" panose="02020603050405020304"/>
                <a:cs typeface="Times New Roman" panose="02020603050405020304"/>
              </a:rPr>
              <a:t>pipes</a:t>
            </a:r>
            <a:endParaRPr sz="3050">
              <a:latin typeface="Times New Roman" panose="02020603050405020304"/>
              <a:cs typeface="Times New Roman" panose="02020603050405020304"/>
            </a:endParaRPr>
          </a:p>
        </p:txBody>
      </p:sp>
      <p:sp>
        <p:nvSpPr>
          <p:cNvPr id="6" name="object 6"/>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8" name="object 8"/>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r>
              <a:rPr spc="114" dirty="0"/>
              <a:t>4</a:t>
            </a:r>
            <a:r>
              <a:rPr spc="114" dirty="0"/>
              <a:t>3</a:t>
            </a:r>
            <a:endParaRPr spc="114"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872687"/>
            <a:ext cx="3180715" cy="696595"/>
          </a:xfrm>
          <a:prstGeom prst="rect">
            <a:avLst/>
          </a:prstGeom>
        </p:spPr>
        <p:txBody>
          <a:bodyPr vert="horz" wrap="square" lIns="0" tIns="12700" rIns="0" bIns="0" rtlCol="0">
            <a:spAutoFit/>
          </a:bodyPr>
          <a:lstStyle/>
          <a:p>
            <a:pPr marL="12700">
              <a:lnSpc>
                <a:spcPct val="100000"/>
              </a:lnSpc>
              <a:spcBef>
                <a:spcPts val="100"/>
              </a:spcBef>
            </a:pPr>
            <a:r>
              <a:rPr sz="4400" spc="-330" dirty="0"/>
              <a:t>Ordinary</a:t>
            </a:r>
            <a:r>
              <a:rPr sz="4400" spc="-240" dirty="0"/>
              <a:t> </a:t>
            </a:r>
            <a:r>
              <a:rPr sz="4400" spc="-250" dirty="0"/>
              <a:t>pipe</a:t>
            </a:r>
            <a:endParaRPr sz="4400"/>
          </a:p>
        </p:txBody>
      </p:sp>
      <p:sp>
        <p:nvSpPr>
          <p:cNvPr id="3" name="object 3"/>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4" name="object 4"/>
          <p:cNvSpPr/>
          <p:nvPr/>
        </p:nvSpPr>
        <p:spPr>
          <a:xfrm>
            <a:off x="1005839" y="2778251"/>
            <a:ext cx="8549640" cy="2692907"/>
          </a:xfrm>
          <a:prstGeom prst="rect">
            <a:avLst/>
          </a:prstGeom>
          <a:blipFill>
            <a:blip r:embed="rId1" cstate="print"/>
            <a:stretch>
              <a:fillRect/>
            </a:stretch>
          </a:blip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r>
              <a:rPr spc="114" dirty="0"/>
              <a:t>4</a:t>
            </a:r>
            <a:r>
              <a:rPr spc="114" dirty="0"/>
              <a:t>4</a:t>
            </a:r>
            <a:endParaRPr spc="114"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625" y="872687"/>
            <a:ext cx="4653280" cy="696595"/>
          </a:xfrm>
          <a:prstGeom prst="rect">
            <a:avLst/>
          </a:prstGeom>
        </p:spPr>
        <p:txBody>
          <a:bodyPr vert="horz" wrap="square" lIns="0" tIns="12700" rIns="0" bIns="0" rtlCol="0">
            <a:spAutoFit/>
          </a:bodyPr>
          <a:lstStyle/>
          <a:p>
            <a:pPr marL="12700">
              <a:lnSpc>
                <a:spcPct val="100000"/>
              </a:lnSpc>
              <a:spcBef>
                <a:spcPts val="100"/>
              </a:spcBef>
            </a:pPr>
            <a:r>
              <a:rPr sz="4400" b="0" spc="-120" dirty="0">
                <a:latin typeface="Trebuchet MS" panose="020B0603020202020204"/>
                <a:cs typeface="Trebuchet MS" panose="020B0603020202020204"/>
              </a:rPr>
              <a:t>Pipe </a:t>
            </a:r>
            <a:r>
              <a:rPr sz="4400" b="0" spc="-145" dirty="0">
                <a:latin typeface="Trebuchet MS" panose="020B0603020202020204"/>
                <a:cs typeface="Trebuchet MS" panose="020B0603020202020204"/>
              </a:rPr>
              <a:t>Creation</a:t>
            </a:r>
            <a:r>
              <a:rPr sz="4400" b="0" spc="-450" dirty="0">
                <a:latin typeface="Trebuchet MS" panose="020B0603020202020204"/>
                <a:cs typeface="Trebuchet MS" panose="020B0603020202020204"/>
              </a:rPr>
              <a:t> </a:t>
            </a:r>
            <a:r>
              <a:rPr sz="4400" b="0" spc="-245" dirty="0">
                <a:latin typeface="Trebuchet MS" panose="020B0603020202020204"/>
                <a:cs typeface="Trebuchet MS" panose="020B0603020202020204"/>
              </a:rPr>
              <a:t>(Unix)</a:t>
            </a:r>
            <a:endParaRPr sz="4400">
              <a:latin typeface="Trebuchet MS" panose="020B0603020202020204"/>
              <a:cs typeface="Trebuchet MS" panose="020B0603020202020204"/>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5" name="object 5"/>
          <p:cNvSpPr txBox="1"/>
          <p:nvPr/>
        </p:nvSpPr>
        <p:spPr>
          <a:xfrm>
            <a:off x="290575" y="7081734"/>
            <a:ext cx="241300" cy="243840"/>
          </a:xfrm>
          <a:prstGeom prst="rect">
            <a:avLst/>
          </a:prstGeom>
        </p:spPr>
        <p:txBody>
          <a:bodyPr vert="horz" wrap="square" lIns="0" tIns="0" rIns="0" bIns="0" rtlCol="0">
            <a:spAutoFit/>
          </a:bodyPr>
          <a:lstStyle/>
          <a:p>
            <a:pPr marL="12700">
              <a:lnSpc>
                <a:spcPts val="1790"/>
              </a:lnSpc>
            </a:pPr>
            <a:r>
              <a:rPr sz="1500" spc="10" dirty="0">
                <a:latin typeface="Arial" panose="020B0604020202020204"/>
                <a:cs typeface="Arial" panose="020B0604020202020204"/>
              </a:rPr>
              <a:t>3</a:t>
            </a:r>
            <a:r>
              <a:rPr sz="1500" spc="20" dirty="0">
                <a:latin typeface="Arial" panose="020B0604020202020204"/>
                <a:cs typeface="Arial" panose="020B0604020202020204"/>
              </a:rPr>
              <a:t>5</a:t>
            </a:r>
            <a:endParaRPr sz="1500">
              <a:latin typeface="Arial" panose="020B0604020202020204"/>
              <a:cs typeface="Arial" panose="020B0604020202020204"/>
            </a:endParaRPr>
          </a:p>
        </p:txBody>
      </p:sp>
      <p:sp>
        <p:nvSpPr>
          <p:cNvPr id="3" name="object 3"/>
          <p:cNvSpPr txBox="1"/>
          <p:nvPr/>
        </p:nvSpPr>
        <p:spPr>
          <a:xfrm>
            <a:off x="1093659" y="1662140"/>
            <a:ext cx="8246109" cy="4012565"/>
          </a:xfrm>
          <a:prstGeom prst="rect">
            <a:avLst/>
          </a:prstGeom>
        </p:spPr>
        <p:txBody>
          <a:bodyPr vert="horz" wrap="square" lIns="0" tIns="12065" rIns="0" bIns="0" rtlCol="0">
            <a:spAutoFit/>
          </a:bodyPr>
          <a:lstStyle/>
          <a:p>
            <a:pPr marL="12700">
              <a:lnSpc>
                <a:spcPts val="2630"/>
              </a:lnSpc>
              <a:spcBef>
                <a:spcPts val="95"/>
              </a:spcBef>
            </a:pPr>
            <a:r>
              <a:rPr sz="2200" i="1" spc="-5" dirty="0">
                <a:latin typeface="Courier New" panose="02070309020205020404"/>
                <a:cs typeface="Courier New" panose="02070309020205020404"/>
              </a:rPr>
              <a:t>#include</a:t>
            </a:r>
            <a:r>
              <a:rPr sz="2200" i="1" spc="-10" dirty="0">
                <a:latin typeface="Courier New" panose="02070309020205020404"/>
                <a:cs typeface="Courier New" panose="02070309020205020404"/>
              </a:rPr>
              <a:t> </a:t>
            </a:r>
            <a:r>
              <a:rPr sz="2200" i="1" spc="-5" dirty="0">
                <a:latin typeface="Courier New" panose="02070309020205020404"/>
                <a:cs typeface="Courier New" panose="02070309020205020404"/>
              </a:rPr>
              <a:t>&lt;unistd.h&gt;</a:t>
            </a:r>
            <a:endParaRPr sz="2200">
              <a:latin typeface="Courier New" panose="02070309020205020404"/>
              <a:cs typeface="Courier New" panose="02070309020205020404"/>
            </a:endParaRPr>
          </a:p>
          <a:p>
            <a:pPr marL="12700">
              <a:lnSpc>
                <a:spcPts val="3170"/>
              </a:lnSpc>
            </a:pPr>
            <a:r>
              <a:rPr sz="2650" b="1" i="1" spc="-10" dirty="0">
                <a:solidFill>
                  <a:srgbClr val="FF0000"/>
                </a:solidFill>
                <a:latin typeface="Courier New" panose="02070309020205020404"/>
                <a:cs typeface="Courier New" panose="02070309020205020404"/>
              </a:rPr>
              <a:t>int </a:t>
            </a:r>
            <a:r>
              <a:rPr sz="2650" b="1" i="1" spc="-15" dirty="0">
                <a:solidFill>
                  <a:srgbClr val="FF0000"/>
                </a:solidFill>
                <a:latin typeface="Courier New" panose="02070309020205020404"/>
                <a:cs typeface="Courier New" panose="02070309020205020404"/>
              </a:rPr>
              <a:t>pipe(int</a:t>
            </a:r>
            <a:r>
              <a:rPr sz="2650" b="1" i="1" spc="-20" dirty="0">
                <a:solidFill>
                  <a:srgbClr val="FF0000"/>
                </a:solidFill>
                <a:latin typeface="Courier New" panose="02070309020205020404"/>
                <a:cs typeface="Courier New" panose="02070309020205020404"/>
              </a:rPr>
              <a:t> </a:t>
            </a:r>
            <a:r>
              <a:rPr sz="2650" b="1" i="1" spc="-15" dirty="0">
                <a:solidFill>
                  <a:srgbClr val="FF0000"/>
                </a:solidFill>
                <a:latin typeface="Courier New" panose="02070309020205020404"/>
                <a:cs typeface="Courier New" panose="02070309020205020404"/>
              </a:rPr>
              <a:t>filedes[2]);</a:t>
            </a:r>
            <a:endParaRPr sz="2650">
              <a:latin typeface="Courier New" panose="02070309020205020404"/>
              <a:cs typeface="Courier New" panose="02070309020205020404"/>
            </a:endParaRPr>
          </a:p>
          <a:p>
            <a:pPr>
              <a:lnSpc>
                <a:spcPct val="100000"/>
              </a:lnSpc>
            </a:pPr>
            <a:endParaRPr sz="3250">
              <a:latin typeface="Courier New" panose="02070309020205020404"/>
              <a:cs typeface="Courier New" panose="02070309020205020404"/>
            </a:endParaRPr>
          </a:p>
          <a:p>
            <a:pPr marL="312420" indent="-300355">
              <a:lnSpc>
                <a:spcPct val="100000"/>
              </a:lnSpc>
              <a:buClr>
                <a:srgbClr val="D34816"/>
              </a:buClr>
              <a:buSzPct val="85000"/>
              <a:buFont typeface="Webdings" panose="05030102010509060703"/>
              <a:buChar char=""/>
              <a:tabLst>
                <a:tab pos="312420" algn="l"/>
                <a:tab pos="313055" algn="l"/>
              </a:tabLst>
            </a:pPr>
            <a:r>
              <a:rPr sz="2650" spc="-125" dirty="0">
                <a:solidFill>
                  <a:srgbClr val="696464"/>
                </a:solidFill>
                <a:latin typeface="Arial" panose="020B0604020202020204"/>
                <a:cs typeface="Arial" panose="020B0604020202020204"/>
              </a:rPr>
              <a:t>Creates</a:t>
            </a:r>
            <a:r>
              <a:rPr sz="2650" spc="-155" dirty="0">
                <a:solidFill>
                  <a:srgbClr val="696464"/>
                </a:solidFill>
                <a:latin typeface="Arial" panose="020B0604020202020204"/>
                <a:cs typeface="Arial" panose="020B0604020202020204"/>
              </a:rPr>
              <a:t> </a:t>
            </a:r>
            <a:r>
              <a:rPr sz="2650" spc="-180" dirty="0">
                <a:solidFill>
                  <a:srgbClr val="696464"/>
                </a:solidFill>
                <a:latin typeface="Arial" panose="020B0604020202020204"/>
                <a:cs typeface="Arial" panose="020B0604020202020204"/>
              </a:rPr>
              <a:t>a </a:t>
            </a:r>
            <a:r>
              <a:rPr sz="2650" spc="-35" dirty="0">
                <a:solidFill>
                  <a:srgbClr val="696464"/>
                </a:solidFill>
                <a:latin typeface="Arial" panose="020B0604020202020204"/>
                <a:cs typeface="Arial" panose="020B0604020202020204"/>
              </a:rPr>
              <a:t>pair</a:t>
            </a:r>
            <a:r>
              <a:rPr sz="2650" spc="-165" dirty="0">
                <a:solidFill>
                  <a:srgbClr val="696464"/>
                </a:solidFill>
                <a:latin typeface="Arial" panose="020B0604020202020204"/>
                <a:cs typeface="Arial" panose="020B0604020202020204"/>
              </a:rPr>
              <a:t> </a:t>
            </a:r>
            <a:r>
              <a:rPr sz="2650" spc="75" dirty="0">
                <a:solidFill>
                  <a:srgbClr val="696464"/>
                </a:solidFill>
                <a:latin typeface="Arial" panose="020B0604020202020204"/>
                <a:cs typeface="Arial" panose="020B0604020202020204"/>
              </a:rPr>
              <a:t>of</a:t>
            </a:r>
            <a:r>
              <a:rPr sz="2650" spc="-150" dirty="0">
                <a:solidFill>
                  <a:srgbClr val="696464"/>
                </a:solidFill>
                <a:latin typeface="Arial" panose="020B0604020202020204"/>
                <a:cs typeface="Arial" panose="020B0604020202020204"/>
              </a:rPr>
              <a:t> </a:t>
            </a:r>
            <a:r>
              <a:rPr sz="2650" spc="5" dirty="0">
                <a:solidFill>
                  <a:srgbClr val="696464"/>
                </a:solidFill>
                <a:latin typeface="Arial" panose="020B0604020202020204"/>
                <a:cs typeface="Arial" panose="020B0604020202020204"/>
              </a:rPr>
              <a:t>file</a:t>
            </a:r>
            <a:r>
              <a:rPr sz="2650" spc="-135" dirty="0">
                <a:solidFill>
                  <a:srgbClr val="696464"/>
                </a:solidFill>
                <a:latin typeface="Arial" panose="020B0604020202020204"/>
                <a:cs typeface="Arial" panose="020B0604020202020204"/>
              </a:rPr>
              <a:t> </a:t>
            </a:r>
            <a:r>
              <a:rPr sz="2650" spc="-45" dirty="0">
                <a:solidFill>
                  <a:srgbClr val="696464"/>
                </a:solidFill>
                <a:latin typeface="Arial" panose="020B0604020202020204"/>
                <a:cs typeface="Arial" panose="020B0604020202020204"/>
              </a:rPr>
              <a:t>descriptors</a:t>
            </a:r>
            <a:r>
              <a:rPr sz="2650" spc="-150" dirty="0">
                <a:solidFill>
                  <a:srgbClr val="696464"/>
                </a:solidFill>
                <a:latin typeface="Arial" panose="020B0604020202020204"/>
                <a:cs typeface="Arial" panose="020B0604020202020204"/>
              </a:rPr>
              <a:t> </a:t>
            </a:r>
            <a:r>
              <a:rPr sz="2650" dirty="0">
                <a:solidFill>
                  <a:srgbClr val="696464"/>
                </a:solidFill>
                <a:latin typeface="Arial" panose="020B0604020202020204"/>
                <a:cs typeface="Arial" panose="020B0604020202020204"/>
              </a:rPr>
              <a:t>pointing</a:t>
            </a:r>
            <a:r>
              <a:rPr sz="2650" spc="-125" dirty="0">
                <a:solidFill>
                  <a:srgbClr val="696464"/>
                </a:solidFill>
                <a:latin typeface="Arial" panose="020B0604020202020204"/>
                <a:cs typeface="Arial" panose="020B0604020202020204"/>
              </a:rPr>
              <a:t> </a:t>
            </a:r>
            <a:r>
              <a:rPr sz="2650" spc="105" dirty="0">
                <a:solidFill>
                  <a:srgbClr val="696464"/>
                </a:solidFill>
                <a:latin typeface="Arial" panose="020B0604020202020204"/>
                <a:cs typeface="Arial" panose="020B0604020202020204"/>
              </a:rPr>
              <a:t>to</a:t>
            </a:r>
            <a:r>
              <a:rPr sz="2650" spc="-180" dirty="0">
                <a:solidFill>
                  <a:srgbClr val="696464"/>
                </a:solidFill>
                <a:latin typeface="Arial" panose="020B0604020202020204"/>
                <a:cs typeface="Arial" panose="020B0604020202020204"/>
              </a:rPr>
              <a:t> a</a:t>
            </a:r>
            <a:r>
              <a:rPr sz="2650" spc="-155" dirty="0">
                <a:solidFill>
                  <a:srgbClr val="696464"/>
                </a:solidFill>
                <a:latin typeface="Arial" panose="020B0604020202020204"/>
                <a:cs typeface="Arial" panose="020B0604020202020204"/>
              </a:rPr>
              <a:t> </a:t>
            </a:r>
            <a:r>
              <a:rPr sz="2650" spc="-40" dirty="0">
                <a:solidFill>
                  <a:srgbClr val="696464"/>
                </a:solidFill>
                <a:latin typeface="Arial" panose="020B0604020202020204"/>
                <a:cs typeface="Arial" panose="020B0604020202020204"/>
              </a:rPr>
              <a:t>pipe</a:t>
            </a:r>
            <a:r>
              <a:rPr sz="2650" spc="-135" dirty="0">
                <a:solidFill>
                  <a:srgbClr val="696464"/>
                </a:solidFill>
                <a:latin typeface="Arial" panose="020B0604020202020204"/>
                <a:cs typeface="Arial" panose="020B0604020202020204"/>
              </a:rPr>
              <a:t> </a:t>
            </a:r>
            <a:r>
              <a:rPr sz="2650" spc="-45" dirty="0">
                <a:solidFill>
                  <a:srgbClr val="696464"/>
                </a:solidFill>
                <a:latin typeface="Arial" panose="020B0604020202020204"/>
                <a:cs typeface="Arial" panose="020B0604020202020204"/>
              </a:rPr>
              <a:t>inode</a:t>
            </a:r>
            <a:endParaRPr sz="2650">
              <a:latin typeface="Arial" panose="020B0604020202020204"/>
              <a:cs typeface="Arial" panose="020B0604020202020204"/>
            </a:endParaRPr>
          </a:p>
          <a:p>
            <a:pPr marL="312420" indent="-300355">
              <a:lnSpc>
                <a:spcPts val="3080"/>
              </a:lnSpc>
              <a:spcBef>
                <a:spcPts val="15"/>
              </a:spcBef>
              <a:buClr>
                <a:srgbClr val="D34816"/>
              </a:buClr>
              <a:buSzPct val="85000"/>
              <a:buFont typeface="Webdings" panose="05030102010509060703"/>
              <a:buChar char=""/>
              <a:tabLst>
                <a:tab pos="312420" algn="l"/>
                <a:tab pos="313055" algn="l"/>
              </a:tabLst>
            </a:pPr>
            <a:r>
              <a:rPr sz="2650" spc="-160" dirty="0">
                <a:solidFill>
                  <a:srgbClr val="696464"/>
                </a:solidFill>
                <a:latin typeface="Arial" panose="020B0604020202020204"/>
                <a:cs typeface="Arial" panose="020B0604020202020204"/>
              </a:rPr>
              <a:t>Places</a:t>
            </a:r>
            <a:r>
              <a:rPr sz="2650" spc="-185" dirty="0">
                <a:solidFill>
                  <a:srgbClr val="696464"/>
                </a:solidFill>
                <a:latin typeface="Arial" panose="020B0604020202020204"/>
                <a:cs typeface="Arial" panose="020B0604020202020204"/>
              </a:rPr>
              <a:t> </a:t>
            </a:r>
            <a:r>
              <a:rPr sz="2650" dirty="0">
                <a:solidFill>
                  <a:srgbClr val="696464"/>
                </a:solidFill>
                <a:latin typeface="Arial" panose="020B0604020202020204"/>
                <a:cs typeface="Arial" panose="020B0604020202020204"/>
              </a:rPr>
              <a:t>them</a:t>
            </a:r>
            <a:r>
              <a:rPr sz="2650" spc="-155" dirty="0">
                <a:solidFill>
                  <a:srgbClr val="696464"/>
                </a:solidFill>
                <a:latin typeface="Arial" panose="020B0604020202020204"/>
                <a:cs typeface="Arial" panose="020B0604020202020204"/>
              </a:rPr>
              <a:t> </a:t>
            </a:r>
            <a:r>
              <a:rPr sz="2650" spc="-30" dirty="0">
                <a:solidFill>
                  <a:srgbClr val="696464"/>
                </a:solidFill>
                <a:latin typeface="Arial" panose="020B0604020202020204"/>
                <a:cs typeface="Arial" panose="020B0604020202020204"/>
              </a:rPr>
              <a:t>in</a:t>
            </a:r>
            <a:r>
              <a:rPr sz="2650" spc="-160" dirty="0">
                <a:solidFill>
                  <a:srgbClr val="696464"/>
                </a:solidFill>
                <a:latin typeface="Arial" panose="020B0604020202020204"/>
                <a:cs typeface="Arial" panose="020B0604020202020204"/>
              </a:rPr>
              <a:t> </a:t>
            </a:r>
            <a:r>
              <a:rPr sz="2650" spc="10" dirty="0">
                <a:solidFill>
                  <a:srgbClr val="696464"/>
                </a:solidFill>
                <a:latin typeface="Arial" panose="020B0604020202020204"/>
                <a:cs typeface="Arial" panose="020B0604020202020204"/>
              </a:rPr>
              <a:t>the</a:t>
            </a:r>
            <a:r>
              <a:rPr sz="2650" spc="-165" dirty="0">
                <a:solidFill>
                  <a:srgbClr val="696464"/>
                </a:solidFill>
                <a:latin typeface="Arial" panose="020B0604020202020204"/>
                <a:cs typeface="Arial" panose="020B0604020202020204"/>
              </a:rPr>
              <a:t> </a:t>
            </a:r>
            <a:r>
              <a:rPr sz="2650" spc="-75" dirty="0">
                <a:solidFill>
                  <a:srgbClr val="696464"/>
                </a:solidFill>
                <a:latin typeface="Arial" panose="020B0604020202020204"/>
                <a:cs typeface="Arial" panose="020B0604020202020204"/>
              </a:rPr>
              <a:t>array</a:t>
            </a:r>
            <a:r>
              <a:rPr sz="2650" spc="-170" dirty="0">
                <a:solidFill>
                  <a:srgbClr val="696464"/>
                </a:solidFill>
                <a:latin typeface="Arial" panose="020B0604020202020204"/>
                <a:cs typeface="Arial" panose="020B0604020202020204"/>
              </a:rPr>
              <a:t> </a:t>
            </a:r>
            <a:r>
              <a:rPr sz="2650" dirty="0">
                <a:solidFill>
                  <a:srgbClr val="696464"/>
                </a:solidFill>
                <a:latin typeface="Arial" panose="020B0604020202020204"/>
                <a:cs typeface="Arial" panose="020B0604020202020204"/>
              </a:rPr>
              <a:t>pointed</a:t>
            </a:r>
            <a:r>
              <a:rPr sz="2650" spc="-160" dirty="0">
                <a:solidFill>
                  <a:srgbClr val="696464"/>
                </a:solidFill>
                <a:latin typeface="Arial" panose="020B0604020202020204"/>
                <a:cs typeface="Arial" panose="020B0604020202020204"/>
              </a:rPr>
              <a:t> </a:t>
            </a:r>
            <a:r>
              <a:rPr sz="2650" spc="105" dirty="0">
                <a:solidFill>
                  <a:srgbClr val="696464"/>
                </a:solidFill>
                <a:latin typeface="Arial" panose="020B0604020202020204"/>
                <a:cs typeface="Arial" panose="020B0604020202020204"/>
              </a:rPr>
              <a:t>to</a:t>
            </a:r>
            <a:r>
              <a:rPr sz="2650" spc="-155" dirty="0">
                <a:solidFill>
                  <a:srgbClr val="696464"/>
                </a:solidFill>
                <a:latin typeface="Arial" panose="020B0604020202020204"/>
                <a:cs typeface="Arial" panose="020B0604020202020204"/>
              </a:rPr>
              <a:t> </a:t>
            </a:r>
            <a:r>
              <a:rPr sz="2650" spc="-60" dirty="0">
                <a:solidFill>
                  <a:srgbClr val="696464"/>
                </a:solidFill>
                <a:latin typeface="Arial" panose="020B0604020202020204"/>
                <a:cs typeface="Arial" panose="020B0604020202020204"/>
              </a:rPr>
              <a:t>by</a:t>
            </a:r>
            <a:r>
              <a:rPr sz="2650" spc="-150" dirty="0">
                <a:solidFill>
                  <a:srgbClr val="696464"/>
                </a:solidFill>
                <a:latin typeface="Arial" panose="020B0604020202020204"/>
                <a:cs typeface="Arial" panose="020B0604020202020204"/>
              </a:rPr>
              <a:t> </a:t>
            </a:r>
            <a:r>
              <a:rPr sz="2650" spc="-50" dirty="0">
                <a:solidFill>
                  <a:srgbClr val="696464"/>
                </a:solidFill>
                <a:latin typeface="Arial" panose="020B0604020202020204"/>
                <a:cs typeface="Arial" panose="020B0604020202020204"/>
              </a:rPr>
              <a:t>filedes</a:t>
            </a:r>
            <a:endParaRPr sz="2650">
              <a:latin typeface="Arial" panose="020B0604020202020204"/>
              <a:cs typeface="Arial" panose="020B0604020202020204"/>
            </a:endParaRPr>
          </a:p>
          <a:p>
            <a:pPr marL="688975" lvl="1" indent="-325120">
              <a:lnSpc>
                <a:spcPts val="2975"/>
              </a:lnSpc>
              <a:buClr>
                <a:srgbClr val="9A2D1F"/>
              </a:buClr>
              <a:buSzPct val="85000"/>
              <a:buFont typeface="Webdings" panose="05030102010509060703"/>
              <a:buChar char=""/>
              <a:tabLst>
                <a:tab pos="688975" algn="l"/>
                <a:tab pos="689610" algn="l"/>
              </a:tabLst>
            </a:pPr>
            <a:r>
              <a:rPr sz="2650" dirty="0">
                <a:solidFill>
                  <a:srgbClr val="696464"/>
                </a:solidFill>
                <a:latin typeface="Arial" panose="020B0604020202020204"/>
                <a:cs typeface="Arial" panose="020B0604020202020204"/>
              </a:rPr>
              <a:t>filedes[0] </a:t>
            </a:r>
            <a:r>
              <a:rPr sz="2650" spc="-114" dirty="0">
                <a:solidFill>
                  <a:srgbClr val="696464"/>
                </a:solidFill>
                <a:latin typeface="Arial" panose="020B0604020202020204"/>
                <a:cs typeface="Arial" panose="020B0604020202020204"/>
              </a:rPr>
              <a:t>is </a:t>
            </a:r>
            <a:r>
              <a:rPr sz="2650" spc="70" dirty="0">
                <a:solidFill>
                  <a:srgbClr val="696464"/>
                </a:solidFill>
                <a:latin typeface="Arial" panose="020B0604020202020204"/>
                <a:cs typeface="Arial" panose="020B0604020202020204"/>
              </a:rPr>
              <a:t>for</a:t>
            </a:r>
            <a:r>
              <a:rPr sz="2650" spc="-405" dirty="0">
                <a:solidFill>
                  <a:srgbClr val="696464"/>
                </a:solidFill>
                <a:latin typeface="Arial" panose="020B0604020202020204"/>
                <a:cs typeface="Arial" panose="020B0604020202020204"/>
              </a:rPr>
              <a:t> </a:t>
            </a:r>
            <a:r>
              <a:rPr sz="2650" spc="-55" dirty="0">
                <a:solidFill>
                  <a:srgbClr val="696464"/>
                </a:solidFill>
                <a:latin typeface="Arial" panose="020B0604020202020204"/>
                <a:cs typeface="Arial" panose="020B0604020202020204"/>
              </a:rPr>
              <a:t>reading</a:t>
            </a:r>
            <a:endParaRPr sz="2650">
              <a:latin typeface="Arial" panose="020B0604020202020204"/>
              <a:cs typeface="Arial" panose="020B0604020202020204"/>
            </a:endParaRPr>
          </a:p>
          <a:p>
            <a:pPr marL="688975" lvl="1" indent="-325120">
              <a:lnSpc>
                <a:spcPts val="3080"/>
              </a:lnSpc>
              <a:buClr>
                <a:srgbClr val="9A2D1F"/>
              </a:buClr>
              <a:buSzPct val="85000"/>
              <a:buFont typeface="Webdings" panose="05030102010509060703"/>
              <a:buChar char=""/>
              <a:tabLst>
                <a:tab pos="688975" algn="l"/>
                <a:tab pos="689610" algn="l"/>
              </a:tabLst>
            </a:pPr>
            <a:r>
              <a:rPr sz="2650" spc="-50" dirty="0">
                <a:solidFill>
                  <a:srgbClr val="696464"/>
                </a:solidFill>
                <a:latin typeface="Arial" panose="020B0604020202020204"/>
                <a:cs typeface="Arial" panose="020B0604020202020204"/>
              </a:rPr>
              <a:t>filedes[1] </a:t>
            </a:r>
            <a:r>
              <a:rPr sz="2650" spc="-114" dirty="0">
                <a:solidFill>
                  <a:srgbClr val="696464"/>
                </a:solidFill>
                <a:latin typeface="Arial" panose="020B0604020202020204"/>
                <a:cs typeface="Arial" panose="020B0604020202020204"/>
              </a:rPr>
              <a:t>is </a:t>
            </a:r>
            <a:r>
              <a:rPr sz="2650" spc="70" dirty="0">
                <a:solidFill>
                  <a:srgbClr val="696464"/>
                </a:solidFill>
                <a:latin typeface="Arial" panose="020B0604020202020204"/>
                <a:cs typeface="Arial" panose="020B0604020202020204"/>
              </a:rPr>
              <a:t>for</a:t>
            </a:r>
            <a:r>
              <a:rPr sz="2650" spc="-330" dirty="0">
                <a:solidFill>
                  <a:srgbClr val="696464"/>
                </a:solidFill>
                <a:latin typeface="Arial" panose="020B0604020202020204"/>
                <a:cs typeface="Arial" panose="020B0604020202020204"/>
              </a:rPr>
              <a:t> </a:t>
            </a:r>
            <a:r>
              <a:rPr sz="2650" spc="20" dirty="0">
                <a:solidFill>
                  <a:srgbClr val="696464"/>
                </a:solidFill>
                <a:latin typeface="Arial" panose="020B0604020202020204"/>
                <a:cs typeface="Arial" panose="020B0604020202020204"/>
              </a:rPr>
              <a:t>writing.</a:t>
            </a:r>
            <a:endParaRPr sz="2650">
              <a:latin typeface="Arial" panose="020B0604020202020204"/>
              <a:cs typeface="Arial" panose="020B0604020202020204"/>
            </a:endParaRPr>
          </a:p>
          <a:p>
            <a:pPr lvl="1">
              <a:lnSpc>
                <a:spcPct val="100000"/>
              </a:lnSpc>
              <a:spcBef>
                <a:spcPts val="40"/>
              </a:spcBef>
              <a:buClr>
                <a:srgbClr val="9A2D1F"/>
              </a:buClr>
              <a:buFont typeface="Webdings" panose="05030102010509060703"/>
              <a:buChar char=""/>
            </a:pPr>
            <a:endParaRPr sz="2750">
              <a:latin typeface="Arial" panose="020B0604020202020204"/>
              <a:cs typeface="Arial" panose="020B0604020202020204"/>
            </a:endParaRPr>
          </a:p>
          <a:p>
            <a:pPr marL="312420" indent="-300355">
              <a:lnSpc>
                <a:spcPct val="100000"/>
              </a:lnSpc>
              <a:buClr>
                <a:srgbClr val="D34816"/>
              </a:buClr>
              <a:buSzPct val="85000"/>
              <a:buFont typeface="Webdings" panose="05030102010509060703"/>
              <a:buChar char=""/>
              <a:tabLst>
                <a:tab pos="312420" algn="l"/>
                <a:tab pos="313055" algn="l"/>
              </a:tabLst>
            </a:pPr>
            <a:r>
              <a:rPr sz="2650" spc="-130" dirty="0">
                <a:solidFill>
                  <a:srgbClr val="696464"/>
                </a:solidFill>
                <a:latin typeface="Arial" panose="020B0604020202020204"/>
                <a:cs typeface="Arial" panose="020B0604020202020204"/>
              </a:rPr>
              <a:t>On </a:t>
            </a:r>
            <a:r>
              <a:rPr sz="2650" spc="-150" dirty="0">
                <a:solidFill>
                  <a:srgbClr val="696464"/>
                </a:solidFill>
                <a:latin typeface="Arial" panose="020B0604020202020204"/>
                <a:cs typeface="Arial" panose="020B0604020202020204"/>
              </a:rPr>
              <a:t>success, </a:t>
            </a:r>
            <a:r>
              <a:rPr sz="2650" spc="-55" dirty="0">
                <a:solidFill>
                  <a:srgbClr val="696464"/>
                </a:solidFill>
                <a:latin typeface="Arial" panose="020B0604020202020204"/>
                <a:cs typeface="Arial" panose="020B0604020202020204"/>
              </a:rPr>
              <a:t>zero </a:t>
            </a:r>
            <a:r>
              <a:rPr sz="2650" spc="-114" dirty="0">
                <a:solidFill>
                  <a:srgbClr val="696464"/>
                </a:solidFill>
                <a:latin typeface="Arial" panose="020B0604020202020204"/>
                <a:cs typeface="Arial" panose="020B0604020202020204"/>
              </a:rPr>
              <a:t>is</a:t>
            </a:r>
            <a:r>
              <a:rPr sz="2650" spc="-360" dirty="0">
                <a:solidFill>
                  <a:srgbClr val="696464"/>
                </a:solidFill>
                <a:latin typeface="Arial" panose="020B0604020202020204"/>
                <a:cs typeface="Arial" panose="020B0604020202020204"/>
              </a:rPr>
              <a:t> </a:t>
            </a:r>
            <a:r>
              <a:rPr sz="2650" spc="-20" dirty="0">
                <a:solidFill>
                  <a:srgbClr val="696464"/>
                </a:solidFill>
                <a:latin typeface="Arial" panose="020B0604020202020204"/>
                <a:cs typeface="Arial" panose="020B0604020202020204"/>
              </a:rPr>
              <a:t>returned.</a:t>
            </a:r>
            <a:endParaRPr sz="2650">
              <a:latin typeface="Arial" panose="020B0604020202020204"/>
              <a:cs typeface="Arial" panose="020B0604020202020204"/>
            </a:endParaRPr>
          </a:p>
          <a:p>
            <a:pPr marL="312420" indent="-300355">
              <a:lnSpc>
                <a:spcPct val="100000"/>
              </a:lnSpc>
              <a:spcBef>
                <a:spcPts val="25"/>
              </a:spcBef>
              <a:buClr>
                <a:srgbClr val="D34816"/>
              </a:buClr>
              <a:buSzPct val="85000"/>
              <a:buFont typeface="Webdings" panose="05030102010509060703"/>
              <a:buChar char=""/>
              <a:tabLst>
                <a:tab pos="312420" algn="l"/>
                <a:tab pos="313055" algn="l"/>
              </a:tabLst>
            </a:pPr>
            <a:r>
              <a:rPr sz="2650" spc="-130" dirty="0">
                <a:solidFill>
                  <a:srgbClr val="696464"/>
                </a:solidFill>
                <a:latin typeface="Arial" panose="020B0604020202020204"/>
                <a:cs typeface="Arial" panose="020B0604020202020204"/>
              </a:rPr>
              <a:t>On </a:t>
            </a:r>
            <a:r>
              <a:rPr sz="2650" spc="-10" dirty="0">
                <a:solidFill>
                  <a:srgbClr val="696464"/>
                </a:solidFill>
                <a:latin typeface="Arial" panose="020B0604020202020204"/>
                <a:cs typeface="Arial" panose="020B0604020202020204"/>
              </a:rPr>
              <a:t>error, </a:t>
            </a:r>
            <a:r>
              <a:rPr sz="2650" spc="-390" dirty="0">
                <a:solidFill>
                  <a:srgbClr val="696464"/>
                </a:solidFill>
                <a:latin typeface="Arial" panose="020B0604020202020204"/>
                <a:cs typeface="Arial" panose="020B0604020202020204"/>
              </a:rPr>
              <a:t>-1 </a:t>
            </a:r>
            <a:r>
              <a:rPr sz="2650" spc="-114" dirty="0">
                <a:solidFill>
                  <a:srgbClr val="696464"/>
                </a:solidFill>
                <a:latin typeface="Arial" panose="020B0604020202020204"/>
                <a:cs typeface="Arial" panose="020B0604020202020204"/>
              </a:rPr>
              <a:t>is</a:t>
            </a:r>
            <a:r>
              <a:rPr sz="2650" spc="-509" dirty="0">
                <a:solidFill>
                  <a:srgbClr val="696464"/>
                </a:solidFill>
                <a:latin typeface="Arial" panose="020B0604020202020204"/>
                <a:cs typeface="Arial" panose="020B0604020202020204"/>
              </a:rPr>
              <a:t> </a:t>
            </a:r>
            <a:r>
              <a:rPr sz="2650" spc="-10" dirty="0">
                <a:solidFill>
                  <a:srgbClr val="696464"/>
                </a:solidFill>
                <a:latin typeface="Arial" panose="020B0604020202020204"/>
                <a:cs typeface="Arial" panose="020B0604020202020204"/>
              </a:rPr>
              <a:t>returned</a:t>
            </a:r>
            <a:endParaRPr sz="2650">
              <a:latin typeface="Arial" panose="020B0604020202020204"/>
              <a:cs typeface="Arial" panose="020B060402020202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01253" y="7128798"/>
            <a:ext cx="211454"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panose="020B0604020202020204"/>
                <a:cs typeface="Arial" panose="020B0604020202020204"/>
              </a:rPr>
              <a:t>3</a:t>
            </a:r>
            <a:r>
              <a:rPr sz="1300" spc="10" dirty="0">
                <a:latin typeface="Arial" panose="020B0604020202020204"/>
                <a:cs typeface="Arial" panose="020B0604020202020204"/>
              </a:rPr>
              <a:t>6</a:t>
            </a:r>
            <a:endParaRPr sz="1300">
              <a:latin typeface="Arial" panose="020B0604020202020204"/>
              <a:cs typeface="Arial" panose="020B0604020202020204"/>
            </a:endParaRPr>
          </a:p>
        </p:txBody>
      </p:sp>
      <p:grpSp>
        <p:nvGrpSpPr>
          <p:cNvPr id="3" name="object 3"/>
          <p:cNvGrpSpPr/>
          <p:nvPr/>
        </p:nvGrpSpPr>
        <p:grpSpPr>
          <a:xfrm>
            <a:off x="3352800" y="3613403"/>
            <a:ext cx="5280660" cy="2541270"/>
            <a:chOff x="3352800" y="3613403"/>
            <a:chExt cx="5280660" cy="2541270"/>
          </a:xfrm>
        </p:grpSpPr>
        <p:sp>
          <p:nvSpPr>
            <p:cNvPr id="4" name="object 4"/>
            <p:cNvSpPr/>
            <p:nvPr/>
          </p:nvSpPr>
          <p:spPr>
            <a:xfrm>
              <a:off x="4693919" y="5562600"/>
              <a:ext cx="2682240" cy="586740"/>
            </a:xfrm>
            <a:custGeom>
              <a:avLst/>
              <a:gdLst/>
              <a:ahLst/>
              <a:cxnLst/>
              <a:rect l="l" t="t" r="r" b="b"/>
              <a:pathLst>
                <a:path w="2682240" h="586739">
                  <a:moveTo>
                    <a:pt x="0" y="0"/>
                  </a:moveTo>
                  <a:lnTo>
                    <a:pt x="2682239" y="0"/>
                  </a:lnTo>
                  <a:lnTo>
                    <a:pt x="2682239" y="586740"/>
                  </a:lnTo>
                  <a:lnTo>
                    <a:pt x="0" y="586740"/>
                  </a:lnTo>
                  <a:lnTo>
                    <a:pt x="0" y="0"/>
                  </a:lnTo>
                  <a:close/>
                </a:path>
              </a:pathLst>
            </a:custGeom>
            <a:ln w="10668">
              <a:solidFill>
                <a:srgbClr val="000000"/>
              </a:solidFill>
            </a:ln>
          </p:spPr>
          <p:txBody>
            <a:bodyPr wrap="square" lIns="0" tIns="0" rIns="0" bIns="0" rtlCol="0"/>
            <a:lstStyle/>
            <a:p/>
          </p:txBody>
        </p:sp>
        <p:sp>
          <p:nvSpPr>
            <p:cNvPr id="5" name="object 5"/>
            <p:cNvSpPr/>
            <p:nvPr/>
          </p:nvSpPr>
          <p:spPr>
            <a:xfrm>
              <a:off x="3352800" y="4808219"/>
              <a:ext cx="5280660" cy="0"/>
            </a:xfrm>
            <a:custGeom>
              <a:avLst/>
              <a:gdLst/>
              <a:ahLst/>
              <a:cxnLst/>
              <a:rect l="l" t="t" r="r" b="b"/>
              <a:pathLst>
                <a:path w="5280659">
                  <a:moveTo>
                    <a:pt x="0" y="0"/>
                  </a:moveTo>
                  <a:lnTo>
                    <a:pt x="5280659" y="0"/>
                  </a:lnTo>
                </a:path>
              </a:pathLst>
            </a:custGeom>
            <a:ln w="10668">
              <a:solidFill>
                <a:srgbClr val="000000"/>
              </a:solidFill>
            </a:ln>
          </p:spPr>
          <p:txBody>
            <a:bodyPr wrap="square" lIns="0" tIns="0" rIns="0" bIns="0" rtlCol="0"/>
            <a:lstStyle/>
            <a:p/>
          </p:txBody>
        </p:sp>
        <p:sp>
          <p:nvSpPr>
            <p:cNvPr id="6" name="object 6"/>
            <p:cNvSpPr/>
            <p:nvPr/>
          </p:nvSpPr>
          <p:spPr>
            <a:xfrm>
              <a:off x="4437875" y="3613403"/>
              <a:ext cx="3195955" cy="2248535"/>
            </a:xfrm>
            <a:custGeom>
              <a:avLst/>
              <a:gdLst/>
              <a:ahLst/>
              <a:cxnLst/>
              <a:rect l="l" t="t" r="r" b="b"/>
              <a:pathLst>
                <a:path w="3195954" h="2248535">
                  <a:moveTo>
                    <a:pt x="676668" y="27444"/>
                  </a:moveTo>
                  <a:lnTo>
                    <a:pt x="675132" y="16776"/>
                  </a:lnTo>
                  <a:lnTo>
                    <a:pt x="659892" y="16776"/>
                  </a:lnTo>
                  <a:lnTo>
                    <a:pt x="627888" y="19824"/>
                  </a:lnTo>
                  <a:lnTo>
                    <a:pt x="612648" y="22872"/>
                  </a:lnTo>
                  <a:lnTo>
                    <a:pt x="595884" y="27444"/>
                  </a:lnTo>
                  <a:lnTo>
                    <a:pt x="580644" y="30492"/>
                  </a:lnTo>
                  <a:lnTo>
                    <a:pt x="565404" y="36588"/>
                  </a:lnTo>
                  <a:lnTo>
                    <a:pt x="548640" y="42684"/>
                  </a:lnTo>
                  <a:lnTo>
                    <a:pt x="533400" y="48780"/>
                  </a:lnTo>
                  <a:lnTo>
                    <a:pt x="502920" y="64020"/>
                  </a:lnTo>
                  <a:lnTo>
                    <a:pt x="486156" y="71640"/>
                  </a:lnTo>
                  <a:lnTo>
                    <a:pt x="470916" y="82308"/>
                  </a:lnTo>
                  <a:lnTo>
                    <a:pt x="426720" y="112788"/>
                  </a:lnTo>
                  <a:lnTo>
                    <a:pt x="382524" y="150888"/>
                  </a:lnTo>
                  <a:lnTo>
                    <a:pt x="368808" y="164604"/>
                  </a:lnTo>
                  <a:lnTo>
                    <a:pt x="339852" y="192036"/>
                  </a:lnTo>
                  <a:lnTo>
                    <a:pt x="284988" y="256044"/>
                  </a:lnTo>
                  <a:lnTo>
                    <a:pt x="259080" y="291096"/>
                  </a:lnTo>
                  <a:lnTo>
                    <a:pt x="234696" y="327672"/>
                  </a:lnTo>
                  <a:lnTo>
                    <a:pt x="210312" y="365772"/>
                  </a:lnTo>
                  <a:lnTo>
                    <a:pt x="164592" y="448068"/>
                  </a:lnTo>
                  <a:lnTo>
                    <a:pt x="144780" y="490740"/>
                  </a:lnTo>
                  <a:lnTo>
                    <a:pt x="124968" y="534936"/>
                  </a:lnTo>
                  <a:lnTo>
                    <a:pt x="105156" y="580656"/>
                  </a:lnTo>
                  <a:lnTo>
                    <a:pt x="88392" y="626376"/>
                  </a:lnTo>
                  <a:lnTo>
                    <a:pt x="57912" y="723912"/>
                  </a:lnTo>
                  <a:lnTo>
                    <a:pt x="44196" y="772680"/>
                  </a:lnTo>
                  <a:lnTo>
                    <a:pt x="22860" y="873264"/>
                  </a:lnTo>
                  <a:lnTo>
                    <a:pt x="15240" y="925080"/>
                  </a:lnTo>
                  <a:lnTo>
                    <a:pt x="9144" y="975372"/>
                  </a:lnTo>
                  <a:lnTo>
                    <a:pt x="4572" y="1027188"/>
                  </a:lnTo>
                  <a:lnTo>
                    <a:pt x="1524" y="1080528"/>
                  </a:lnTo>
                  <a:lnTo>
                    <a:pt x="0" y="1132344"/>
                  </a:lnTo>
                  <a:lnTo>
                    <a:pt x="0" y="1184160"/>
                  </a:lnTo>
                  <a:lnTo>
                    <a:pt x="1524" y="1237500"/>
                  </a:lnTo>
                  <a:lnTo>
                    <a:pt x="3048" y="1289316"/>
                  </a:lnTo>
                  <a:lnTo>
                    <a:pt x="6096" y="1339608"/>
                  </a:lnTo>
                  <a:lnTo>
                    <a:pt x="9055" y="1389900"/>
                  </a:lnTo>
                  <a:lnTo>
                    <a:pt x="12192" y="1441716"/>
                  </a:lnTo>
                  <a:lnTo>
                    <a:pt x="16764" y="1492008"/>
                  </a:lnTo>
                  <a:lnTo>
                    <a:pt x="21336" y="1540776"/>
                  </a:lnTo>
                  <a:lnTo>
                    <a:pt x="27432" y="1589544"/>
                  </a:lnTo>
                  <a:lnTo>
                    <a:pt x="39624" y="1684032"/>
                  </a:lnTo>
                  <a:lnTo>
                    <a:pt x="47244" y="1728228"/>
                  </a:lnTo>
                  <a:lnTo>
                    <a:pt x="53340" y="1772424"/>
                  </a:lnTo>
                  <a:lnTo>
                    <a:pt x="62484" y="1816620"/>
                  </a:lnTo>
                  <a:lnTo>
                    <a:pt x="70104" y="1857768"/>
                  </a:lnTo>
                  <a:lnTo>
                    <a:pt x="79248" y="1897392"/>
                  </a:lnTo>
                  <a:lnTo>
                    <a:pt x="88392" y="1935492"/>
                  </a:lnTo>
                  <a:lnTo>
                    <a:pt x="97536" y="1972068"/>
                  </a:lnTo>
                  <a:lnTo>
                    <a:pt x="106680" y="2007120"/>
                  </a:lnTo>
                  <a:lnTo>
                    <a:pt x="117348" y="2039124"/>
                  </a:lnTo>
                  <a:lnTo>
                    <a:pt x="126492" y="2071128"/>
                  </a:lnTo>
                  <a:lnTo>
                    <a:pt x="137160" y="2100084"/>
                  </a:lnTo>
                  <a:lnTo>
                    <a:pt x="143256" y="2112276"/>
                  </a:lnTo>
                  <a:lnTo>
                    <a:pt x="149352" y="2125992"/>
                  </a:lnTo>
                  <a:lnTo>
                    <a:pt x="153924" y="2138184"/>
                  </a:lnTo>
                  <a:lnTo>
                    <a:pt x="160020" y="2150376"/>
                  </a:lnTo>
                  <a:lnTo>
                    <a:pt x="164592" y="2161044"/>
                  </a:lnTo>
                  <a:lnTo>
                    <a:pt x="176784" y="2182380"/>
                  </a:lnTo>
                  <a:lnTo>
                    <a:pt x="182880" y="2191524"/>
                  </a:lnTo>
                  <a:lnTo>
                    <a:pt x="182880" y="2193048"/>
                  </a:lnTo>
                  <a:lnTo>
                    <a:pt x="187172" y="2196477"/>
                  </a:lnTo>
                  <a:lnTo>
                    <a:pt x="164592" y="2226576"/>
                  </a:lnTo>
                  <a:lnTo>
                    <a:pt x="256032" y="2243340"/>
                  </a:lnTo>
                  <a:lnTo>
                    <a:pt x="237337" y="2205240"/>
                  </a:lnTo>
                  <a:lnTo>
                    <a:pt x="214884" y="2159520"/>
                  </a:lnTo>
                  <a:lnTo>
                    <a:pt x="193992" y="2187384"/>
                  </a:lnTo>
                  <a:lnTo>
                    <a:pt x="192024" y="2185428"/>
                  </a:lnTo>
                  <a:lnTo>
                    <a:pt x="191008" y="2183904"/>
                  </a:lnTo>
                  <a:lnTo>
                    <a:pt x="179832" y="2167140"/>
                  </a:lnTo>
                  <a:lnTo>
                    <a:pt x="175260" y="2156472"/>
                  </a:lnTo>
                  <a:lnTo>
                    <a:pt x="169164" y="2145804"/>
                  </a:lnTo>
                  <a:lnTo>
                    <a:pt x="163068" y="2133612"/>
                  </a:lnTo>
                  <a:lnTo>
                    <a:pt x="158496" y="2121420"/>
                  </a:lnTo>
                  <a:lnTo>
                    <a:pt x="152400" y="2109228"/>
                  </a:lnTo>
                  <a:lnTo>
                    <a:pt x="147828" y="2095512"/>
                  </a:lnTo>
                  <a:lnTo>
                    <a:pt x="137160" y="2068080"/>
                  </a:lnTo>
                  <a:lnTo>
                    <a:pt x="126492" y="2036076"/>
                  </a:lnTo>
                  <a:lnTo>
                    <a:pt x="117348" y="2004072"/>
                  </a:lnTo>
                  <a:lnTo>
                    <a:pt x="106680" y="1969020"/>
                  </a:lnTo>
                  <a:lnTo>
                    <a:pt x="97536" y="1932444"/>
                  </a:lnTo>
                  <a:lnTo>
                    <a:pt x="88392" y="1894344"/>
                  </a:lnTo>
                  <a:lnTo>
                    <a:pt x="80772" y="1854720"/>
                  </a:lnTo>
                  <a:lnTo>
                    <a:pt x="71628" y="1813572"/>
                  </a:lnTo>
                  <a:lnTo>
                    <a:pt x="64008" y="1770900"/>
                  </a:lnTo>
                  <a:lnTo>
                    <a:pt x="56388" y="1726704"/>
                  </a:lnTo>
                  <a:lnTo>
                    <a:pt x="50292" y="1682508"/>
                  </a:lnTo>
                  <a:lnTo>
                    <a:pt x="38100" y="1588020"/>
                  </a:lnTo>
                  <a:lnTo>
                    <a:pt x="32004" y="1539252"/>
                  </a:lnTo>
                  <a:lnTo>
                    <a:pt x="22860" y="1441716"/>
                  </a:lnTo>
                  <a:lnTo>
                    <a:pt x="19913" y="1391424"/>
                  </a:lnTo>
                  <a:lnTo>
                    <a:pt x="16764" y="1339608"/>
                  </a:lnTo>
                  <a:lnTo>
                    <a:pt x="13716" y="1287792"/>
                  </a:lnTo>
                  <a:lnTo>
                    <a:pt x="10668" y="1184160"/>
                  </a:lnTo>
                  <a:lnTo>
                    <a:pt x="10668" y="1132344"/>
                  </a:lnTo>
                  <a:lnTo>
                    <a:pt x="13716" y="1028712"/>
                  </a:lnTo>
                  <a:lnTo>
                    <a:pt x="19812" y="976896"/>
                  </a:lnTo>
                  <a:lnTo>
                    <a:pt x="25908" y="926604"/>
                  </a:lnTo>
                  <a:lnTo>
                    <a:pt x="33528" y="874788"/>
                  </a:lnTo>
                  <a:lnTo>
                    <a:pt x="44196" y="824496"/>
                  </a:lnTo>
                  <a:lnTo>
                    <a:pt x="54864" y="775728"/>
                  </a:lnTo>
                  <a:lnTo>
                    <a:pt x="82296" y="678192"/>
                  </a:lnTo>
                  <a:lnTo>
                    <a:pt x="97536" y="630948"/>
                  </a:lnTo>
                  <a:lnTo>
                    <a:pt x="115824" y="583704"/>
                  </a:lnTo>
                  <a:lnTo>
                    <a:pt x="134112" y="539508"/>
                  </a:lnTo>
                  <a:lnTo>
                    <a:pt x="153924" y="495312"/>
                  </a:lnTo>
                  <a:lnTo>
                    <a:pt x="173736" y="452640"/>
                  </a:lnTo>
                  <a:lnTo>
                    <a:pt x="196596" y="411492"/>
                  </a:lnTo>
                  <a:lnTo>
                    <a:pt x="219456" y="371868"/>
                  </a:lnTo>
                  <a:lnTo>
                    <a:pt x="243840" y="333768"/>
                  </a:lnTo>
                  <a:lnTo>
                    <a:pt x="268224" y="297192"/>
                  </a:lnTo>
                  <a:lnTo>
                    <a:pt x="320040" y="230136"/>
                  </a:lnTo>
                  <a:lnTo>
                    <a:pt x="347472" y="199656"/>
                  </a:lnTo>
                  <a:lnTo>
                    <a:pt x="374904" y="172224"/>
                  </a:lnTo>
                  <a:lnTo>
                    <a:pt x="390144" y="158508"/>
                  </a:lnTo>
                  <a:lnTo>
                    <a:pt x="403860" y="144792"/>
                  </a:lnTo>
                  <a:lnTo>
                    <a:pt x="417576" y="132600"/>
                  </a:lnTo>
                  <a:lnTo>
                    <a:pt x="448056" y="111264"/>
                  </a:lnTo>
                  <a:lnTo>
                    <a:pt x="461772" y="100596"/>
                  </a:lnTo>
                  <a:lnTo>
                    <a:pt x="537972" y="57924"/>
                  </a:lnTo>
                  <a:lnTo>
                    <a:pt x="598932" y="36588"/>
                  </a:lnTo>
                  <a:lnTo>
                    <a:pt x="659892" y="27444"/>
                  </a:lnTo>
                  <a:lnTo>
                    <a:pt x="676668" y="27444"/>
                  </a:lnTo>
                  <a:close/>
                </a:path>
                <a:path w="3195954" h="2248535">
                  <a:moveTo>
                    <a:pt x="3195840" y="1132332"/>
                  </a:moveTo>
                  <a:lnTo>
                    <a:pt x="3192792" y="1028700"/>
                  </a:lnTo>
                  <a:lnTo>
                    <a:pt x="3189744" y="976884"/>
                  </a:lnTo>
                  <a:lnTo>
                    <a:pt x="3177552" y="873252"/>
                  </a:lnTo>
                  <a:lnTo>
                    <a:pt x="3171456" y="822960"/>
                  </a:lnTo>
                  <a:lnTo>
                    <a:pt x="3162312" y="772668"/>
                  </a:lnTo>
                  <a:lnTo>
                    <a:pt x="3140976" y="675132"/>
                  </a:lnTo>
                  <a:lnTo>
                    <a:pt x="3116592" y="580644"/>
                  </a:lnTo>
                  <a:lnTo>
                    <a:pt x="3102876" y="536448"/>
                  </a:lnTo>
                  <a:lnTo>
                    <a:pt x="3072396" y="448056"/>
                  </a:lnTo>
                  <a:lnTo>
                    <a:pt x="3055632" y="406908"/>
                  </a:lnTo>
                  <a:lnTo>
                    <a:pt x="3037344" y="367284"/>
                  </a:lnTo>
                  <a:lnTo>
                    <a:pt x="3020580" y="329184"/>
                  </a:lnTo>
                  <a:lnTo>
                    <a:pt x="3000768" y="292608"/>
                  </a:lnTo>
                  <a:lnTo>
                    <a:pt x="2980956" y="257556"/>
                  </a:lnTo>
                  <a:lnTo>
                    <a:pt x="2961144" y="224028"/>
                  </a:lnTo>
                  <a:lnTo>
                    <a:pt x="2919984" y="164592"/>
                  </a:lnTo>
                  <a:lnTo>
                    <a:pt x="2886456" y="124968"/>
                  </a:lnTo>
                  <a:lnTo>
                    <a:pt x="2875788" y="114300"/>
                  </a:lnTo>
                  <a:lnTo>
                    <a:pt x="2865120" y="102108"/>
                  </a:lnTo>
                  <a:lnTo>
                    <a:pt x="2852928" y="91440"/>
                  </a:lnTo>
                  <a:lnTo>
                    <a:pt x="2842260" y="82296"/>
                  </a:lnTo>
                  <a:lnTo>
                    <a:pt x="2830068" y="73152"/>
                  </a:lnTo>
                  <a:lnTo>
                    <a:pt x="2819400" y="64008"/>
                  </a:lnTo>
                  <a:lnTo>
                    <a:pt x="2795016" y="48768"/>
                  </a:lnTo>
                  <a:lnTo>
                    <a:pt x="2784348" y="42672"/>
                  </a:lnTo>
                  <a:lnTo>
                    <a:pt x="2772156" y="36576"/>
                  </a:lnTo>
                  <a:lnTo>
                    <a:pt x="2770632" y="36576"/>
                  </a:lnTo>
                  <a:lnTo>
                    <a:pt x="2770149" y="36474"/>
                  </a:lnTo>
                  <a:lnTo>
                    <a:pt x="2770809" y="33528"/>
                  </a:lnTo>
                  <a:lnTo>
                    <a:pt x="2778252" y="0"/>
                  </a:lnTo>
                  <a:lnTo>
                    <a:pt x="2769108" y="2133"/>
                  </a:lnTo>
                  <a:lnTo>
                    <a:pt x="2769108" y="45720"/>
                  </a:lnTo>
                  <a:lnTo>
                    <a:pt x="2768092" y="45720"/>
                  </a:lnTo>
                  <a:lnTo>
                    <a:pt x="2768142" y="45529"/>
                  </a:lnTo>
                  <a:lnTo>
                    <a:pt x="2769108" y="45720"/>
                  </a:lnTo>
                  <a:lnTo>
                    <a:pt x="2769108" y="2133"/>
                  </a:lnTo>
                  <a:lnTo>
                    <a:pt x="2686812" y="21336"/>
                  </a:lnTo>
                  <a:lnTo>
                    <a:pt x="2759964" y="82296"/>
                  </a:lnTo>
                  <a:lnTo>
                    <a:pt x="2768041" y="45986"/>
                  </a:lnTo>
                  <a:lnTo>
                    <a:pt x="2778252" y="51816"/>
                  </a:lnTo>
                  <a:lnTo>
                    <a:pt x="2790444" y="57912"/>
                  </a:lnTo>
                  <a:lnTo>
                    <a:pt x="2801112" y="65532"/>
                  </a:lnTo>
                  <a:lnTo>
                    <a:pt x="2813304" y="73152"/>
                  </a:lnTo>
                  <a:lnTo>
                    <a:pt x="2823972" y="80772"/>
                  </a:lnTo>
                  <a:lnTo>
                    <a:pt x="2834640" y="89916"/>
                  </a:lnTo>
                  <a:lnTo>
                    <a:pt x="2846832" y="99060"/>
                  </a:lnTo>
                  <a:lnTo>
                    <a:pt x="2900172" y="156972"/>
                  </a:lnTo>
                  <a:lnTo>
                    <a:pt x="2932176" y="199644"/>
                  </a:lnTo>
                  <a:lnTo>
                    <a:pt x="2971812" y="262128"/>
                  </a:lnTo>
                  <a:lnTo>
                    <a:pt x="2991624" y="297180"/>
                  </a:lnTo>
                  <a:lnTo>
                    <a:pt x="3009912" y="333756"/>
                  </a:lnTo>
                  <a:lnTo>
                    <a:pt x="3028200" y="371856"/>
                  </a:lnTo>
                  <a:lnTo>
                    <a:pt x="3046488" y="411480"/>
                  </a:lnTo>
                  <a:lnTo>
                    <a:pt x="3061728" y="452628"/>
                  </a:lnTo>
                  <a:lnTo>
                    <a:pt x="3078492" y="495300"/>
                  </a:lnTo>
                  <a:lnTo>
                    <a:pt x="3105924" y="583692"/>
                  </a:lnTo>
                  <a:lnTo>
                    <a:pt x="3119640" y="630936"/>
                  </a:lnTo>
                  <a:lnTo>
                    <a:pt x="3131832" y="678180"/>
                  </a:lnTo>
                  <a:lnTo>
                    <a:pt x="3142500" y="725424"/>
                  </a:lnTo>
                  <a:lnTo>
                    <a:pt x="3151644" y="774192"/>
                  </a:lnTo>
                  <a:lnTo>
                    <a:pt x="3160788" y="824484"/>
                  </a:lnTo>
                  <a:lnTo>
                    <a:pt x="3168408" y="874776"/>
                  </a:lnTo>
                  <a:lnTo>
                    <a:pt x="3174504" y="926592"/>
                  </a:lnTo>
                  <a:lnTo>
                    <a:pt x="3179076" y="976884"/>
                  </a:lnTo>
                  <a:lnTo>
                    <a:pt x="3185172" y="1080516"/>
                  </a:lnTo>
                  <a:lnTo>
                    <a:pt x="3185172" y="1184148"/>
                  </a:lnTo>
                  <a:lnTo>
                    <a:pt x="3182124" y="1287780"/>
                  </a:lnTo>
                  <a:lnTo>
                    <a:pt x="3179076" y="1339596"/>
                  </a:lnTo>
                  <a:lnTo>
                    <a:pt x="3172980" y="1440180"/>
                  </a:lnTo>
                  <a:lnTo>
                    <a:pt x="3168408" y="1490472"/>
                  </a:lnTo>
                  <a:lnTo>
                    <a:pt x="3163836" y="1539240"/>
                  </a:lnTo>
                  <a:lnTo>
                    <a:pt x="3157740" y="1588008"/>
                  </a:lnTo>
                  <a:lnTo>
                    <a:pt x="3145548" y="1682496"/>
                  </a:lnTo>
                  <a:lnTo>
                    <a:pt x="3139452" y="1726692"/>
                  </a:lnTo>
                  <a:lnTo>
                    <a:pt x="3131832" y="1770888"/>
                  </a:lnTo>
                  <a:lnTo>
                    <a:pt x="3124212" y="1813560"/>
                  </a:lnTo>
                  <a:lnTo>
                    <a:pt x="3115068" y="1854708"/>
                  </a:lnTo>
                  <a:lnTo>
                    <a:pt x="3107448" y="1894332"/>
                  </a:lnTo>
                  <a:lnTo>
                    <a:pt x="3098304" y="1932432"/>
                  </a:lnTo>
                  <a:lnTo>
                    <a:pt x="3089160" y="1969008"/>
                  </a:lnTo>
                  <a:lnTo>
                    <a:pt x="3078492" y="2004060"/>
                  </a:lnTo>
                  <a:lnTo>
                    <a:pt x="3069348" y="2036064"/>
                  </a:lnTo>
                  <a:lnTo>
                    <a:pt x="3058680" y="2066544"/>
                  </a:lnTo>
                  <a:lnTo>
                    <a:pt x="3048012" y="2095500"/>
                  </a:lnTo>
                  <a:lnTo>
                    <a:pt x="3043440" y="2109216"/>
                  </a:lnTo>
                  <a:lnTo>
                    <a:pt x="3037344" y="2121408"/>
                  </a:lnTo>
                  <a:lnTo>
                    <a:pt x="3032772" y="2133600"/>
                  </a:lnTo>
                  <a:lnTo>
                    <a:pt x="3026676" y="2145792"/>
                  </a:lnTo>
                  <a:lnTo>
                    <a:pt x="3020580" y="2156460"/>
                  </a:lnTo>
                  <a:lnTo>
                    <a:pt x="3016008" y="2167128"/>
                  </a:lnTo>
                  <a:lnTo>
                    <a:pt x="3003816" y="2185416"/>
                  </a:lnTo>
                  <a:lnTo>
                    <a:pt x="2999244" y="2194560"/>
                  </a:lnTo>
                  <a:lnTo>
                    <a:pt x="2993148" y="2200656"/>
                  </a:lnTo>
                  <a:lnTo>
                    <a:pt x="2987052" y="2208276"/>
                  </a:lnTo>
                  <a:lnTo>
                    <a:pt x="2955048" y="2234184"/>
                  </a:lnTo>
                  <a:lnTo>
                    <a:pt x="2950476" y="2237232"/>
                  </a:lnTo>
                  <a:lnTo>
                    <a:pt x="2944380" y="2237232"/>
                  </a:lnTo>
                  <a:lnTo>
                    <a:pt x="2938284" y="2238756"/>
                  </a:lnTo>
                  <a:lnTo>
                    <a:pt x="2939808" y="2247912"/>
                  </a:lnTo>
                  <a:lnTo>
                    <a:pt x="2945904" y="2247912"/>
                  </a:lnTo>
                  <a:lnTo>
                    <a:pt x="2958096" y="2244864"/>
                  </a:lnTo>
                  <a:lnTo>
                    <a:pt x="2996196" y="2215896"/>
                  </a:lnTo>
                  <a:lnTo>
                    <a:pt x="3006864" y="2200656"/>
                  </a:lnTo>
                  <a:lnTo>
                    <a:pt x="3019056" y="2182368"/>
                  </a:lnTo>
                  <a:lnTo>
                    <a:pt x="3025152" y="2171700"/>
                  </a:lnTo>
                  <a:lnTo>
                    <a:pt x="3029724" y="2161032"/>
                  </a:lnTo>
                  <a:lnTo>
                    <a:pt x="3035820" y="2150364"/>
                  </a:lnTo>
                  <a:lnTo>
                    <a:pt x="3041916" y="2138172"/>
                  </a:lnTo>
                  <a:lnTo>
                    <a:pt x="3046488" y="2125980"/>
                  </a:lnTo>
                  <a:lnTo>
                    <a:pt x="3052584" y="2112264"/>
                  </a:lnTo>
                  <a:lnTo>
                    <a:pt x="3067824" y="2071116"/>
                  </a:lnTo>
                  <a:lnTo>
                    <a:pt x="3089160" y="2007108"/>
                  </a:lnTo>
                  <a:lnTo>
                    <a:pt x="3107448" y="1935480"/>
                  </a:lnTo>
                  <a:lnTo>
                    <a:pt x="3116592" y="1897380"/>
                  </a:lnTo>
                  <a:lnTo>
                    <a:pt x="3125736" y="1857756"/>
                  </a:lnTo>
                  <a:lnTo>
                    <a:pt x="3133356" y="1816608"/>
                  </a:lnTo>
                  <a:lnTo>
                    <a:pt x="3156216" y="1684020"/>
                  </a:lnTo>
                  <a:lnTo>
                    <a:pt x="3168408" y="1589532"/>
                  </a:lnTo>
                  <a:lnTo>
                    <a:pt x="3174504" y="1540764"/>
                  </a:lnTo>
                  <a:lnTo>
                    <a:pt x="3179076" y="1491996"/>
                  </a:lnTo>
                  <a:lnTo>
                    <a:pt x="3183648" y="1441704"/>
                  </a:lnTo>
                  <a:lnTo>
                    <a:pt x="3186696" y="1391412"/>
                  </a:lnTo>
                  <a:lnTo>
                    <a:pt x="3189744" y="1339596"/>
                  </a:lnTo>
                  <a:lnTo>
                    <a:pt x="3192792" y="1289304"/>
                  </a:lnTo>
                  <a:lnTo>
                    <a:pt x="3194316" y="1237488"/>
                  </a:lnTo>
                  <a:lnTo>
                    <a:pt x="3195840" y="1184148"/>
                  </a:lnTo>
                  <a:lnTo>
                    <a:pt x="3195840" y="1132332"/>
                  </a:lnTo>
                  <a:close/>
                </a:path>
              </a:pathLst>
            </a:custGeom>
            <a:solidFill>
              <a:srgbClr val="000000"/>
            </a:solidFill>
          </p:spPr>
          <p:txBody>
            <a:bodyPr wrap="square" lIns="0" tIns="0" rIns="0" bIns="0" rtlCol="0"/>
            <a:lstStyle/>
            <a:p/>
          </p:txBody>
        </p:sp>
      </p:grpSp>
      <p:sp>
        <p:nvSpPr>
          <p:cNvPr id="7" name="object 7"/>
          <p:cNvSpPr/>
          <p:nvPr/>
        </p:nvSpPr>
        <p:spPr>
          <a:xfrm>
            <a:off x="4526279" y="6359652"/>
            <a:ext cx="502920" cy="83820"/>
          </a:xfrm>
          <a:custGeom>
            <a:avLst/>
            <a:gdLst/>
            <a:ahLst/>
            <a:cxnLst/>
            <a:rect l="l" t="t" r="r" b="b"/>
            <a:pathLst>
              <a:path w="502920" h="83820">
                <a:moveTo>
                  <a:pt x="419100" y="83820"/>
                </a:moveTo>
                <a:lnTo>
                  <a:pt x="419100" y="0"/>
                </a:lnTo>
                <a:lnTo>
                  <a:pt x="493606" y="36576"/>
                </a:lnTo>
                <a:lnTo>
                  <a:pt x="434340" y="36576"/>
                </a:lnTo>
                <a:lnTo>
                  <a:pt x="434340" y="47244"/>
                </a:lnTo>
                <a:lnTo>
                  <a:pt x="490945" y="47244"/>
                </a:lnTo>
                <a:lnTo>
                  <a:pt x="419100" y="83820"/>
                </a:lnTo>
                <a:close/>
              </a:path>
              <a:path w="502920" h="83820">
                <a:moveTo>
                  <a:pt x="419100" y="47244"/>
                </a:moveTo>
                <a:lnTo>
                  <a:pt x="0" y="47244"/>
                </a:lnTo>
                <a:lnTo>
                  <a:pt x="0" y="36576"/>
                </a:lnTo>
                <a:lnTo>
                  <a:pt x="419100" y="36576"/>
                </a:lnTo>
                <a:lnTo>
                  <a:pt x="419100" y="47244"/>
                </a:lnTo>
                <a:close/>
              </a:path>
              <a:path w="502920" h="83820">
                <a:moveTo>
                  <a:pt x="490945" y="47244"/>
                </a:moveTo>
                <a:lnTo>
                  <a:pt x="434340" y="47244"/>
                </a:lnTo>
                <a:lnTo>
                  <a:pt x="434340" y="36576"/>
                </a:lnTo>
                <a:lnTo>
                  <a:pt x="493606" y="36576"/>
                </a:lnTo>
                <a:lnTo>
                  <a:pt x="502920" y="41148"/>
                </a:lnTo>
                <a:lnTo>
                  <a:pt x="490945" y="47244"/>
                </a:lnTo>
                <a:close/>
              </a:path>
            </a:pathLst>
          </a:custGeom>
          <a:solidFill>
            <a:srgbClr val="000000"/>
          </a:solidFill>
        </p:spPr>
        <p:txBody>
          <a:bodyPr wrap="square" lIns="0" tIns="0" rIns="0" bIns="0" rtlCol="0"/>
          <a:lstStyle/>
          <a:p/>
        </p:txBody>
      </p:sp>
      <p:sp>
        <p:nvSpPr>
          <p:cNvPr id="8" name="object 8"/>
          <p:cNvSpPr/>
          <p:nvPr/>
        </p:nvSpPr>
        <p:spPr>
          <a:xfrm>
            <a:off x="7040880" y="6359652"/>
            <a:ext cx="335280" cy="83820"/>
          </a:xfrm>
          <a:custGeom>
            <a:avLst/>
            <a:gdLst/>
            <a:ahLst/>
            <a:cxnLst/>
            <a:rect l="l" t="t" r="r" b="b"/>
            <a:pathLst>
              <a:path w="335279" h="83820">
                <a:moveTo>
                  <a:pt x="251460" y="83820"/>
                </a:moveTo>
                <a:lnTo>
                  <a:pt x="251460" y="0"/>
                </a:lnTo>
                <a:lnTo>
                  <a:pt x="325966" y="36576"/>
                </a:lnTo>
                <a:lnTo>
                  <a:pt x="266700" y="36576"/>
                </a:lnTo>
                <a:lnTo>
                  <a:pt x="266700" y="47244"/>
                </a:lnTo>
                <a:lnTo>
                  <a:pt x="323305" y="47244"/>
                </a:lnTo>
                <a:lnTo>
                  <a:pt x="251460" y="83820"/>
                </a:lnTo>
                <a:close/>
              </a:path>
              <a:path w="335279" h="83820">
                <a:moveTo>
                  <a:pt x="251460" y="47244"/>
                </a:moveTo>
                <a:lnTo>
                  <a:pt x="0" y="47244"/>
                </a:lnTo>
                <a:lnTo>
                  <a:pt x="0" y="36576"/>
                </a:lnTo>
                <a:lnTo>
                  <a:pt x="251460" y="36576"/>
                </a:lnTo>
                <a:lnTo>
                  <a:pt x="251460" y="47244"/>
                </a:lnTo>
                <a:close/>
              </a:path>
              <a:path w="335279" h="83820">
                <a:moveTo>
                  <a:pt x="323305" y="47244"/>
                </a:moveTo>
                <a:lnTo>
                  <a:pt x="266700" y="47244"/>
                </a:lnTo>
                <a:lnTo>
                  <a:pt x="266700" y="36576"/>
                </a:lnTo>
                <a:lnTo>
                  <a:pt x="325966" y="36576"/>
                </a:lnTo>
                <a:lnTo>
                  <a:pt x="335280" y="41148"/>
                </a:lnTo>
                <a:lnTo>
                  <a:pt x="323305" y="47244"/>
                </a:lnTo>
                <a:close/>
              </a:path>
            </a:pathLst>
          </a:custGeom>
          <a:solidFill>
            <a:srgbClr val="000000"/>
          </a:solidFill>
        </p:spPr>
        <p:txBody>
          <a:bodyPr wrap="square" lIns="0" tIns="0" rIns="0" bIns="0" rtlCol="0"/>
          <a:lstStyle/>
          <a:p/>
        </p:txBody>
      </p:sp>
      <p:sp>
        <p:nvSpPr>
          <p:cNvPr id="9" name="object 9"/>
          <p:cNvSpPr txBox="1"/>
          <p:nvPr/>
        </p:nvSpPr>
        <p:spPr>
          <a:xfrm>
            <a:off x="5113020" y="3048000"/>
            <a:ext cx="2011680" cy="1173480"/>
          </a:xfrm>
          <a:prstGeom prst="rect">
            <a:avLst/>
          </a:prstGeom>
          <a:ln w="10667">
            <a:solidFill>
              <a:srgbClr val="000000"/>
            </a:solidFill>
          </a:ln>
        </p:spPr>
        <p:txBody>
          <a:bodyPr vert="horz" wrap="square" lIns="0" tIns="125730" rIns="0" bIns="0" rtlCol="0">
            <a:spAutoFit/>
          </a:bodyPr>
          <a:lstStyle/>
          <a:p>
            <a:pPr marL="1118235">
              <a:lnSpc>
                <a:spcPts val="2490"/>
              </a:lnSpc>
              <a:spcBef>
                <a:spcPts val="990"/>
              </a:spcBef>
            </a:pPr>
            <a:r>
              <a:rPr sz="2200" i="1" spc="-5" dirty="0">
                <a:latin typeface="Arial" panose="020B0604020202020204"/>
                <a:cs typeface="Arial" panose="020B0604020202020204"/>
              </a:rPr>
              <a:t>pfds[0]</a:t>
            </a:r>
            <a:endParaRPr sz="2200">
              <a:latin typeface="Arial" panose="020B0604020202020204"/>
              <a:cs typeface="Arial" panose="020B0604020202020204"/>
            </a:endParaRPr>
          </a:p>
          <a:p>
            <a:pPr marL="16510">
              <a:lnSpc>
                <a:spcPts val="2490"/>
              </a:lnSpc>
            </a:pPr>
            <a:r>
              <a:rPr sz="2200" i="1" spc="-5" dirty="0">
                <a:latin typeface="Arial" panose="020B0604020202020204"/>
                <a:cs typeface="Arial" panose="020B0604020202020204"/>
              </a:rPr>
              <a:t>pfds[1]</a:t>
            </a:r>
            <a:endParaRPr sz="2200">
              <a:latin typeface="Arial" panose="020B0604020202020204"/>
              <a:cs typeface="Arial" panose="020B0604020202020204"/>
            </a:endParaRPr>
          </a:p>
        </p:txBody>
      </p:sp>
      <p:sp>
        <p:nvSpPr>
          <p:cNvPr id="10" name="object 10"/>
          <p:cNvSpPr txBox="1"/>
          <p:nvPr/>
        </p:nvSpPr>
        <p:spPr>
          <a:xfrm>
            <a:off x="5033204" y="4233246"/>
            <a:ext cx="3834765" cy="2361565"/>
          </a:xfrm>
          <a:prstGeom prst="rect">
            <a:avLst/>
          </a:prstGeom>
        </p:spPr>
        <p:txBody>
          <a:bodyPr vert="horz" wrap="square" lIns="0" tIns="12700" rIns="0" bIns="0" rtlCol="0">
            <a:spAutoFit/>
          </a:bodyPr>
          <a:lstStyle/>
          <a:p>
            <a:pPr marL="2603500" marR="5080" indent="6985">
              <a:lnSpc>
                <a:spcPct val="125000"/>
              </a:lnSpc>
              <a:spcBef>
                <a:spcPts val="100"/>
              </a:spcBef>
            </a:pPr>
            <a:r>
              <a:rPr sz="2650" i="1" spc="-5" dirty="0">
                <a:latin typeface="Arial" panose="020B0604020202020204"/>
                <a:cs typeface="Arial" panose="020B0604020202020204"/>
              </a:rPr>
              <a:t>P</a:t>
            </a:r>
            <a:r>
              <a:rPr sz="2650" i="1" spc="-15" dirty="0">
                <a:latin typeface="Arial" panose="020B0604020202020204"/>
                <a:cs typeface="Arial" panose="020B0604020202020204"/>
              </a:rPr>
              <a:t>r</a:t>
            </a:r>
            <a:r>
              <a:rPr sz="2650" i="1" spc="-30" dirty="0">
                <a:latin typeface="Arial" panose="020B0604020202020204"/>
                <a:cs typeface="Arial" panose="020B0604020202020204"/>
              </a:rPr>
              <a:t>o</a:t>
            </a:r>
            <a:r>
              <a:rPr sz="2650" i="1" spc="-5" dirty="0">
                <a:latin typeface="Arial" panose="020B0604020202020204"/>
                <a:cs typeface="Arial" panose="020B0604020202020204"/>
              </a:rPr>
              <a:t>c</a:t>
            </a:r>
            <a:r>
              <a:rPr sz="2650" i="1" dirty="0">
                <a:latin typeface="Arial" panose="020B0604020202020204"/>
                <a:cs typeface="Arial" panose="020B0604020202020204"/>
              </a:rPr>
              <a:t>e</a:t>
            </a:r>
            <a:r>
              <a:rPr sz="2650" i="1" spc="-5" dirty="0">
                <a:latin typeface="Arial" panose="020B0604020202020204"/>
                <a:cs typeface="Arial" panose="020B0604020202020204"/>
              </a:rPr>
              <a:t>ss </a:t>
            </a:r>
            <a:r>
              <a:rPr sz="2650" i="1" spc="-5" dirty="0">
                <a:latin typeface="Arial" panose="020B0604020202020204"/>
                <a:cs typeface="Arial" panose="020B0604020202020204"/>
              </a:rPr>
              <a:t> </a:t>
            </a:r>
            <a:r>
              <a:rPr sz="2650" i="1" spc="-15" dirty="0">
                <a:latin typeface="Arial" panose="020B0604020202020204"/>
                <a:cs typeface="Arial" panose="020B0604020202020204"/>
              </a:rPr>
              <a:t>Kernel</a:t>
            </a:r>
            <a:endParaRPr sz="2650">
              <a:latin typeface="Arial" panose="020B0604020202020204"/>
              <a:cs typeface="Arial" panose="020B0604020202020204"/>
            </a:endParaRPr>
          </a:p>
          <a:p>
            <a:pPr>
              <a:lnSpc>
                <a:spcPct val="100000"/>
              </a:lnSpc>
              <a:spcBef>
                <a:spcPts val="20"/>
              </a:spcBef>
            </a:pPr>
            <a:endParaRPr sz="2350">
              <a:latin typeface="Arial" panose="020B0604020202020204"/>
              <a:cs typeface="Arial" panose="020B0604020202020204"/>
            </a:endParaRPr>
          </a:p>
          <a:p>
            <a:pPr marL="12700" marR="2101850" indent="514985">
              <a:lnSpc>
                <a:spcPct val="122000"/>
              </a:lnSpc>
              <a:spcBef>
                <a:spcPts val="5"/>
              </a:spcBef>
            </a:pPr>
            <a:r>
              <a:rPr sz="2650" i="1" spc="-5" dirty="0">
                <a:latin typeface="Arial" panose="020B0604020202020204"/>
                <a:cs typeface="Arial" panose="020B0604020202020204"/>
              </a:rPr>
              <a:t>Pipe  </a:t>
            </a:r>
            <a:r>
              <a:rPr sz="2650" i="1" spc="-15" dirty="0">
                <a:latin typeface="Arial" panose="020B0604020202020204"/>
                <a:cs typeface="Arial" panose="020B0604020202020204"/>
              </a:rPr>
              <a:t>flow of</a:t>
            </a:r>
            <a:r>
              <a:rPr sz="2650" i="1" spc="-35" dirty="0">
                <a:latin typeface="Arial" panose="020B0604020202020204"/>
                <a:cs typeface="Arial" panose="020B0604020202020204"/>
              </a:rPr>
              <a:t> </a:t>
            </a:r>
            <a:r>
              <a:rPr sz="2650" i="1" spc="-15" dirty="0">
                <a:latin typeface="Arial" panose="020B0604020202020204"/>
                <a:cs typeface="Arial" panose="020B0604020202020204"/>
              </a:rPr>
              <a:t>data</a:t>
            </a:r>
            <a:endParaRPr sz="2650">
              <a:latin typeface="Arial" panose="020B0604020202020204"/>
              <a:cs typeface="Arial" panose="020B0604020202020204"/>
            </a:endParaRPr>
          </a:p>
        </p:txBody>
      </p:sp>
      <p:sp>
        <p:nvSpPr>
          <p:cNvPr id="11" name="object 11"/>
          <p:cNvSpPr txBox="1">
            <a:spLocks noGrp="1"/>
          </p:cNvSpPr>
          <p:nvPr>
            <p:ph type="title"/>
          </p:nvPr>
        </p:nvSpPr>
        <p:spPr>
          <a:xfrm>
            <a:off x="590902" y="414094"/>
            <a:ext cx="2873375" cy="629285"/>
          </a:xfrm>
          <a:prstGeom prst="rect">
            <a:avLst/>
          </a:prstGeom>
        </p:spPr>
        <p:txBody>
          <a:bodyPr vert="horz" wrap="square" lIns="0" tIns="13970" rIns="0" bIns="0" rtlCol="0">
            <a:spAutoFit/>
          </a:bodyPr>
          <a:lstStyle/>
          <a:p>
            <a:pPr marL="12700">
              <a:lnSpc>
                <a:spcPct val="100000"/>
              </a:lnSpc>
              <a:spcBef>
                <a:spcPts val="110"/>
              </a:spcBef>
            </a:pPr>
            <a:r>
              <a:rPr spc="-260" dirty="0"/>
              <a:t>Pipe</a:t>
            </a:r>
            <a:r>
              <a:rPr spc="-204" dirty="0"/>
              <a:t> </a:t>
            </a:r>
            <a:r>
              <a:rPr spc="-240" dirty="0"/>
              <a:t>Creation</a:t>
            </a:r>
            <a:endParaRPr spc="-240" dirty="0"/>
          </a:p>
        </p:txBody>
      </p:sp>
      <p:sp>
        <p:nvSpPr>
          <p:cNvPr id="12" name="object 12"/>
          <p:cNvSpPr txBox="1"/>
          <p:nvPr/>
        </p:nvSpPr>
        <p:spPr>
          <a:xfrm>
            <a:off x="255579" y="1063194"/>
            <a:ext cx="4578985" cy="1320800"/>
          </a:xfrm>
          <a:prstGeom prst="rect">
            <a:avLst/>
          </a:prstGeom>
        </p:spPr>
        <p:txBody>
          <a:bodyPr vert="horz" wrap="square" lIns="0" tIns="75565" rIns="0" bIns="0" rtlCol="0">
            <a:spAutoFit/>
          </a:bodyPr>
          <a:lstStyle/>
          <a:p>
            <a:pPr marL="12700">
              <a:lnSpc>
                <a:spcPct val="100000"/>
              </a:lnSpc>
              <a:spcBef>
                <a:spcPts val="595"/>
              </a:spcBef>
            </a:pPr>
            <a:r>
              <a:rPr sz="1950" b="1" spc="10" dirty="0">
                <a:solidFill>
                  <a:srgbClr val="FF0000"/>
                </a:solidFill>
                <a:latin typeface="Courier New" panose="02070309020205020404"/>
                <a:cs typeface="Courier New" panose="02070309020205020404"/>
              </a:rPr>
              <a:t>int</a:t>
            </a:r>
            <a:r>
              <a:rPr sz="1950" b="1" spc="-10" dirty="0">
                <a:solidFill>
                  <a:srgbClr val="FF0000"/>
                </a:solidFill>
                <a:latin typeface="Courier New" panose="02070309020205020404"/>
                <a:cs typeface="Courier New" panose="02070309020205020404"/>
              </a:rPr>
              <a:t> </a:t>
            </a:r>
            <a:r>
              <a:rPr sz="1950" b="1" spc="10" dirty="0">
                <a:solidFill>
                  <a:srgbClr val="FF0000"/>
                </a:solidFill>
                <a:latin typeface="Courier New" panose="02070309020205020404"/>
                <a:cs typeface="Courier New" panose="02070309020205020404"/>
              </a:rPr>
              <a:t>main()</a:t>
            </a:r>
            <a:endParaRPr sz="1950">
              <a:latin typeface="Courier New" panose="02070309020205020404"/>
              <a:cs typeface="Courier New" panose="02070309020205020404"/>
            </a:endParaRPr>
          </a:p>
          <a:p>
            <a:pPr marL="12700">
              <a:lnSpc>
                <a:spcPct val="100000"/>
              </a:lnSpc>
              <a:spcBef>
                <a:spcPts val="505"/>
              </a:spcBef>
              <a:tabLst>
                <a:tab pos="389255" algn="l"/>
              </a:tabLst>
            </a:pPr>
            <a:r>
              <a:rPr sz="1950" b="1" spc="15" dirty="0">
                <a:solidFill>
                  <a:srgbClr val="FF0000"/>
                </a:solidFill>
                <a:latin typeface="Courier New" panose="02070309020205020404"/>
                <a:cs typeface="Courier New" panose="02070309020205020404"/>
              </a:rPr>
              <a:t>{	</a:t>
            </a:r>
            <a:r>
              <a:rPr sz="1950" b="1" spc="10" dirty="0">
                <a:solidFill>
                  <a:srgbClr val="FF0000"/>
                </a:solidFill>
                <a:latin typeface="Courier New" panose="02070309020205020404"/>
                <a:cs typeface="Courier New" panose="02070309020205020404"/>
              </a:rPr>
              <a:t>int </a:t>
            </a:r>
            <a:r>
              <a:rPr sz="1950" b="1" spc="5" dirty="0">
                <a:solidFill>
                  <a:srgbClr val="FF0000"/>
                </a:solidFill>
                <a:latin typeface="Courier New" panose="02070309020205020404"/>
                <a:cs typeface="Courier New" panose="02070309020205020404"/>
              </a:rPr>
              <a:t>pfds[2];</a:t>
            </a:r>
            <a:endParaRPr sz="1950">
              <a:latin typeface="Courier New" panose="02070309020205020404"/>
              <a:cs typeface="Courier New" panose="02070309020205020404"/>
            </a:endParaRPr>
          </a:p>
          <a:p>
            <a:pPr marL="347345">
              <a:lnSpc>
                <a:spcPct val="100000"/>
              </a:lnSpc>
              <a:spcBef>
                <a:spcPts val="1340"/>
              </a:spcBef>
            </a:pPr>
            <a:r>
              <a:rPr sz="2650" b="1" spc="-10" dirty="0">
                <a:solidFill>
                  <a:srgbClr val="FF0000"/>
                </a:solidFill>
                <a:latin typeface="Courier New" panose="02070309020205020404"/>
                <a:cs typeface="Courier New" panose="02070309020205020404"/>
              </a:rPr>
              <a:t>if </a:t>
            </a:r>
            <a:r>
              <a:rPr sz="2650" b="1" spc="-15" dirty="0">
                <a:solidFill>
                  <a:srgbClr val="FF0000"/>
                </a:solidFill>
                <a:latin typeface="Courier New" panose="02070309020205020404"/>
                <a:cs typeface="Courier New" panose="02070309020205020404"/>
              </a:rPr>
              <a:t>(pipe(pfds) </a:t>
            </a:r>
            <a:r>
              <a:rPr sz="2650" b="1" spc="-10" dirty="0">
                <a:solidFill>
                  <a:srgbClr val="FF0000"/>
                </a:solidFill>
                <a:latin typeface="Courier New" panose="02070309020205020404"/>
                <a:cs typeface="Courier New" panose="02070309020205020404"/>
              </a:rPr>
              <a:t>==</a:t>
            </a:r>
            <a:r>
              <a:rPr sz="2650" b="1" spc="-100" dirty="0">
                <a:solidFill>
                  <a:srgbClr val="FF0000"/>
                </a:solidFill>
                <a:latin typeface="Courier New" panose="02070309020205020404"/>
                <a:cs typeface="Courier New" panose="02070309020205020404"/>
              </a:rPr>
              <a:t> </a:t>
            </a:r>
            <a:r>
              <a:rPr sz="2650" b="1" spc="-10" dirty="0">
                <a:solidFill>
                  <a:srgbClr val="FF0000"/>
                </a:solidFill>
                <a:latin typeface="Courier New" panose="02070309020205020404"/>
                <a:cs typeface="Courier New" panose="02070309020205020404"/>
              </a:rPr>
              <a:t>-1)</a:t>
            </a:r>
            <a:endParaRPr sz="2650">
              <a:latin typeface="Courier New" panose="02070309020205020404"/>
              <a:cs typeface="Courier New" panose="02070309020205020404"/>
            </a:endParaRPr>
          </a:p>
        </p:txBody>
      </p:sp>
      <p:sp>
        <p:nvSpPr>
          <p:cNvPr id="13" name="object 13"/>
          <p:cNvSpPr txBox="1"/>
          <p:nvPr/>
        </p:nvSpPr>
        <p:spPr>
          <a:xfrm>
            <a:off x="993141" y="2358590"/>
            <a:ext cx="3639820" cy="991869"/>
          </a:xfrm>
          <a:prstGeom prst="rect">
            <a:avLst/>
          </a:prstGeom>
        </p:spPr>
        <p:txBody>
          <a:bodyPr vert="horz" wrap="square" lIns="0" tIns="12700" rIns="0" bIns="0" rtlCol="0">
            <a:spAutoFit/>
          </a:bodyPr>
          <a:lstStyle/>
          <a:p>
            <a:pPr marL="615950" marR="5080" indent="-603885">
              <a:lnSpc>
                <a:spcPct val="120000"/>
              </a:lnSpc>
              <a:spcBef>
                <a:spcPts val="100"/>
              </a:spcBef>
              <a:tabLst>
                <a:tab pos="615950" algn="l"/>
              </a:tabLst>
            </a:pPr>
            <a:r>
              <a:rPr sz="2650" b="1" spc="-10" dirty="0">
                <a:solidFill>
                  <a:srgbClr val="FF0000"/>
                </a:solidFill>
                <a:latin typeface="Courier New" panose="02070309020205020404"/>
                <a:cs typeface="Courier New" panose="02070309020205020404"/>
              </a:rPr>
              <a:t>{</a:t>
            </a:r>
            <a:r>
              <a:rPr sz="2650" b="1" spc="-10" dirty="0">
                <a:solidFill>
                  <a:srgbClr val="FF0000"/>
                </a:solidFill>
                <a:latin typeface="Courier New" panose="02070309020205020404"/>
                <a:cs typeface="Courier New" panose="02070309020205020404"/>
              </a:rPr>
              <a:t>	</a:t>
            </a:r>
            <a:r>
              <a:rPr sz="2650" b="1" spc="-15" dirty="0">
                <a:solidFill>
                  <a:srgbClr val="FF0000"/>
                </a:solidFill>
                <a:latin typeface="Courier New" panose="02070309020205020404"/>
                <a:cs typeface="Courier New" panose="02070309020205020404"/>
              </a:rPr>
              <a:t>perror</a:t>
            </a:r>
            <a:r>
              <a:rPr sz="2650" b="1" spc="-40" dirty="0">
                <a:solidFill>
                  <a:srgbClr val="FF0000"/>
                </a:solidFill>
                <a:latin typeface="Courier New" panose="02070309020205020404"/>
                <a:cs typeface="Courier New" panose="02070309020205020404"/>
              </a:rPr>
              <a:t>(</a:t>
            </a:r>
            <a:r>
              <a:rPr sz="2650" b="1" spc="-15" dirty="0">
                <a:solidFill>
                  <a:srgbClr val="FF0000"/>
                </a:solidFill>
                <a:latin typeface="Courier New" panose="02070309020205020404"/>
                <a:cs typeface="Courier New" panose="02070309020205020404"/>
              </a:rPr>
              <a:t>"pipe"</a:t>
            </a:r>
            <a:r>
              <a:rPr sz="2650" b="1" spc="-40" dirty="0">
                <a:solidFill>
                  <a:srgbClr val="FF0000"/>
                </a:solidFill>
                <a:latin typeface="Courier New" panose="02070309020205020404"/>
                <a:cs typeface="Courier New" panose="02070309020205020404"/>
              </a:rPr>
              <a:t>)</a:t>
            </a:r>
            <a:r>
              <a:rPr sz="2650" b="1" spc="-10" dirty="0">
                <a:solidFill>
                  <a:srgbClr val="FF0000"/>
                </a:solidFill>
                <a:latin typeface="Courier New" panose="02070309020205020404"/>
                <a:cs typeface="Courier New" panose="02070309020205020404"/>
              </a:rPr>
              <a:t>;  </a:t>
            </a:r>
            <a:r>
              <a:rPr sz="2650" b="1" spc="-15" dirty="0">
                <a:solidFill>
                  <a:srgbClr val="FF0000"/>
                </a:solidFill>
                <a:latin typeface="Courier New" panose="02070309020205020404"/>
                <a:cs typeface="Courier New" panose="02070309020205020404"/>
              </a:rPr>
              <a:t>exit(1);</a:t>
            </a:r>
            <a:r>
              <a:rPr sz="2650" b="1" spc="-25" dirty="0">
                <a:solidFill>
                  <a:srgbClr val="FF0000"/>
                </a:solidFill>
                <a:latin typeface="Courier New" panose="02070309020205020404"/>
                <a:cs typeface="Courier New" panose="02070309020205020404"/>
              </a:rPr>
              <a:t> </a:t>
            </a:r>
            <a:r>
              <a:rPr sz="2650" b="1" spc="-10" dirty="0">
                <a:solidFill>
                  <a:srgbClr val="FF0000"/>
                </a:solidFill>
                <a:latin typeface="Courier New" panose="02070309020205020404"/>
                <a:cs typeface="Courier New" panose="02070309020205020404"/>
              </a:rPr>
              <a:t>}</a:t>
            </a:r>
            <a:endParaRPr sz="2650">
              <a:latin typeface="Courier New" panose="02070309020205020404"/>
              <a:cs typeface="Courier New" panose="02070309020205020404"/>
            </a:endParaRPr>
          </a:p>
        </p:txBody>
      </p:sp>
      <p:sp>
        <p:nvSpPr>
          <p:cNvPr id="14" name="object 14"/>
          <p:cNvSpPr txBox="1"/>
          <p:nvPr/>
        </p:nvSpPr>
        <p:spPr>
          <a:xfrm>
            <a:off x="590739" y="3404115"/>
            <a:ext cx="226695" cy="427990"/>
          </a:xfrm>
          <a:prstGeom prst="rect">
            <a:avLst/>
          </a:prstGeom>
        </p:spPr>
        <p:txBody>
          <a:bodyPr vert="horz" wrap="square" lIns="0" tIns="11430" rIns="0" bIns="0" rtlCol="0">
            <a:spAutoFit/>
          </a:bodyPr>
          <a:lstStyle/>
          <a:p>
            <a:pPr marL="12700">
              <a:lnSpc>
                <a:spcPct val="100000"/>
              </a:lnSpc>
              <a:spcBef>
                <a:spcPts val="90"/>
              </a:spcBef>
            </a:pPr>
            <a:r>
              <a:rPr sz="2650" b="1" spc="-10" dirty="0">
                <a:solidFill>
                  <a:srgbClr val="FF0000"/>
                </a:solidFill>
                <a:latin typeface="Courier New" panose="02070309020205020404"/>
                <a:cs typeface="Courier New" panose="02070309020205020404"/>
              </a:rPr>
              <a:t>}</a:t>
            </a:r>
            <a:endParaRPr sz="2650">
              <a:latin typeface="Courier New" panose="02070309020205020404"/>
              <a:cs typeface="Courier New" panose="02070309020205020404"/>
            </a:endParaRPr>
          </a:p>
        </p:txBody>
      </p:sp>
      <p:sp>
        <p:nvSpPr>
          <p:cNvPr id="15" name="object 15"/>
          <p:cNvSpPr txBox="1"/>
          <p:nvPr/>
        </p:nvSpPr>
        <p:spPr>
          <a:xfrm>
            <a:off x="1093724" y="7020572"/>
            <a:ext cx="2503170" cy="259715"/>
          </a:xfrm>
          <a:prstGeom prst="rect">
            <a:avLst/>
          </a:prstGeom>
        </p:spPr>
        <p:txBody>
          <a:bodyPr vert="horz" wrap="square" lIns="0" tIns="17145" rIns="0" bIns="0" rtlCol="0">
            <a:spAutoFit/>
          </a:bodyPr>
          <a:lstStyle/>
          <a:p>
            <a:pPr marL="12700">
              <a:lnSpc>
                <a:spcPct val="100000"/>
              </a:lnSpc>
              <a:spcBef>
                <a:spcPts val="135"/>
              </a:spcBef>
            </a:pPr>
            <a:r>
              <a:rPr sz="1500" spc="15" dirty="0">
                <a:solidFill>
                  <a:srgbClr val="696464"/>
                </a:solidFill>
                <a:latin typeface="Arial" panose="020B0604020202020204"/>
                <a:cs typeface="Arial" panose="020B0604020202020204"/>
              </a:rPr>
              <a:t>CS-2006 Operating</a:t>
            </a:r>
            <a:r>
              <a:rPr sz="1500" spc="-45" dirty="0">
                <a:solidFill>
                  <a:srgbClr val="696464"/>
                </a:solidFill>
                <a:latin typeface="Arial" panose="020B0604020202020204"/>
                <a:cs typeface="Arial" panose="020B0604020202020204"/>
              </a:rPr>
              <a:t> </a:t>
            </a:r>
            <a:r>
              <a:rPr sz="1500" spc="10" dirty="0">
                <a:solidFill>
                  <a:srgbClr val="696464"/>
                </a:solidFill>
                <a:latin typeface="Arial" panose="020B0604020202020204"/>
                <a:cs typeface="Arial" panose="020B0604020202020204"/>
              </a:rPr>
              <a:t>Systems</a:t>
            </a:r>
            <a:endParaRPr sz="1500">
              <a:latin typeface="Arial" panose="020B0604020202020204"/>
              <a:cs typeface="Arial" panose="020B060402020202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575" y="7063255"/>
            <a:ext cx="241300" cy="259715"/>
          </a:xfrm>
          <a:prstGeom prst="rect">
            <a:avLst/>
          </a:prstGeom>
        </p:spPr>
        <p:txBody>
          <a:bodyPr vert="horz" wrap="square" lIns="0" tIns="17145" rIns="0" bIns="0" rtlCol="0">
            <a:spAutoFit/>
          </a:bodyPr>
          <a:lstStyle/>
          <a:p>
            <a:pPr marL="12700">
              <a:lnSpc>
                <a:spcPct val="100000"/>
              </a:lnSpc>
              <a:spcBef>
                <a:spcPts val="135"/>
              </a:spcBef>
            </a:pPr>
            <a:r>
              <a:rPr sz="1500" spc="10" dirty="0">
                <a:latin typeface="Arial" panose="020B0604020202020204"/>
                <a:cs typeface="Arial" panose="020B0604020202020204"/>
              </a:rPr>
              <a:t>3</a:t>
            </a:r>
            <a:r>
              <a:rPr sz="1500" spc="20" dirty="0">
                <a:latin typeface="Arial" panose="020B0604020202020204"/>
                <a:cs typeface="Arial" panose="020B0604020202020204"/>
              </a:rPr>
              <a:t>7</a:t>
            </a:r>
            <a:endParaRPr sz="1500">
              <a:latin typeface="Arial" panose="020B0604020202020204"/>
              <a:cs typeface="Arial" panose="020B0604020202020204"/>
            </a:endParaRPr>
          </a:p>
        </p:txBody>
      </p:sp>
      <p:sp>
        <p:nvSpPr>
          <p:cNvPr id="3" name="object 3"/>
          <p:cNvSpPr txBox="1"/>
          <p:nvPr/>
        </p:nvSpPr>
        <p:spPr>
          <a:xfrm>
            <a:off x="507059" y="1915227"/>
            <a:ext cx="8048625" cy="965200"/>
          </a:xfrm>
          <a:prstGeom prst="rect">
            <a:avLst/>
          </a:prstGeom>
        </p:spPr>
        <p:txBody>
          <a:bodyPr vert="horz" wrap="square" lIns="0" tIns="16510" rIns="0" bIns="0" rtlCol="0">
            <a:spAutoFit/>
          </a:bodyPr>
          <a:lstStyle/>
          <a:p>
            <a:pPr marL="12700">
              <a:lnSpc>
                <a:spcPct val="100000"/>
              </a:lnSpc>
              <a:spcBef>
                <a:spcPts val="130"/>
              </a:spcBef>
            </a:pPr>
            <a:r>
              <a:rPr sz="2600" spc="-1155" dirty="0">
                <a:solidFill>
                  <a:srgbClr val="D34816"/>
                </a:solidFill>
                <a:latin typeface="Webdings" panose="05030102010509060703"/>
                <a:cs typeface="Webdings" panose="05030102010509060703"/>
              </a:rPr>
              <a:t></a:t>
            </a:r>
            <a:r>
              <a:rPr sz="2600" spc="254" dirty="0">
                <a:solidFill>
                  <a:srgbClr val="D34816"/>
                </a:solidFill>
                <a:latin typeface="Times New Roman" panose="02020603050405020304"/>
                <a:cs typeface="Times New Roman" panose="02020603050405020304"/>
              </a:rPr>
              <a:t> </a:t>
            </a:r>
            <a:r>
              <a:rPr sz="3050" i="1" spc="15" dirty="0">
                <a:latin typeface="Courier New" panose="02070309020205020404"/>
                <a:cs typeface="Courier New" panose="02070309020205020404"/>
              </a:rPr>
              <a:t>int </a:t>
            </a:r>
            <a:r>
              <a:rPr sz="3050" i="1" spc="5" dirty="0">
                <a:solidFill>
                  <a:srgbClr val="CC3300"/>
                </a:solidFill>
                <a:latin typeface="Courier New" panose="02070309020205020404"/>
                <a:cs typeface="Courier New" panose="02070309020205020404"/>
              </a:rPr>
              <a:t>read</a:t>
            </a:r>
            <a:r>
              <a:rPr sz="3050" i="1" spc="5" dirty="0">
                <a:latin typeface="Courier New" panose="02070309020205020404"/>
                <a:cs typeface="Courier New" panose="02070309020205020404"/>
              </a:rPr>
              <a:t>(int </a:t>
            </a:r>
            <a:r>
              <a:rPr sz="3050" i="1" spc="5" dirty="0">
                <a:solidFill>
                  <a:srgbClr val="CC3300"/>
                </a:solidFill>
                <a:latin typeface="Courier New" panose="02070309020205020404"/>
                <a:cs typeface="Courier New" panose="02070309020205020404"/>
              </a:rPr>
              <a:t>filedescriptor</a:t>
            </a:r>
            <a:r>
              <a:rPr sz="3050" i="1" spc="5" dirty="0">
                <a:latin typeface="Courier New" panose="02070309020205020404"/>
                <a:cs typeface="Courier New" panose="02070309020205020404"/>
              </a:rPr>
              <a:t>,</a:t>
            </a:r>
            <a:r>
              <a:rPr sz="3050" i="1" spc="-45" dirty="0">
                <a:latin typeface="Courier New" panose="02070309020205020404"/>
                <a:cs typeface="Courier New" panose="02070309020205020404"/>
              </a:rPr>
              <a:t> </a:t>
            </a:r>
            <a:r>
              <a:rPr sz="3050" i="1" spc="15" dirty="0">
                <a:latin typeface="Courier New" panose="02070309020205020404"/>
                <a:cs typeface="Courier New" panose="02070309020205020404"/>
              </a:rPr>
              <a:t>char</a:t>
            </a:r>
            <a:endParaRPr sz="3050">
              <a:latin typeface="Courier New" panose="02070309020205020404"/>
              <a:cs typeface="Courier New" panose="02070309020205020404"/>
            </a:endParaRPr>
          </a:p>
          <a:p>
            <a:pPr marL="312420">
              <a:lnSpc>
                <a:spcPct val="100000"/>
              </a:lnSpc>
              <a:spcBef>
                <a:spcPts val="40"/>
              </a:spcBef>
            </a:pPr>
            <a:r>
              <a:rPr sz="3050" i="1" spc="10" dirty="0">
                <a:latin typeface="Courier New" panose="02070309020205020404"/>
                <a:cs typeface="Courier New" panose="02070309020205020404"/>
              </a:rPr>
              <a:t>*</a:t>
            </a:r>
            <a:r>
              <a:rPr sz="3050" i="1" spc="10" dirty="0">
                <a:solidFill>
                  <a:srgbClr val="CC3300"/>
                </a:solidFill>
                <a:latin typeface="Courier New" panose="02070309020205020404"/>
                <a:cs typeface="Courier New" panose="02070309020205020404"/>
              </a:rPr>
              <a:t>buffer</a:t>
            </a:r>
            <a:r>
              <a:rPr sz="3050" i="1" spc="10" dirty="0">
                <a:latin typeface="Courier New" panose="02070309020205020404"/>
                <a:cs typeface="Courier New" panose="02070309020205020404"/>
              </a:rPr>
              <a:t>, </a:t>
            </a:r>
            <a:r>
              <a:rPr sz="3050" i="1" spc="15" dirty="0">
                <a:latin typeface="Courier New" panose="02070309020205020404"/>
                <a:cs typeface="Courier New" panose="02070309020205020404"/>
              </a:rPr>
              <a:t>int</a:t>
            </a:r>
            <a:r>
              <a:rPr sz="3050" i="1" spc="-40" dirty="0">
                <a:latin typeface="Courier New" panose="02070309020205020404"/>
                <a:cs typeface="Courier New" panose="02070309020205020404"/>
              </a:rPr>
              <a:t> </a:t>
            </a:r>
            <a:r>
              <a:rPr sz="3050" i="1" spc="5" dirty="0">
                <a:solidFill>
                  <a:srgbClr val="CC3300"/>
                </a:solidFill>
                <a:latin typeface="Courier New" panose="02070309020205020404"/>
                <a:cs typeface="Courier New" panose="02070309020205020404"/>
              </a:rPr>
              <a:t>bytetoread</a:t>
            </a:r>
            <a:r>
              <a:rPr sz="3050" i="1" spc="5" dirty="0">
                <a:latin typeface="Courier New" panose="02070309020205020404"/>
                <a:cs typeface="Courier New" panose="02070309020205020404"/>
              </a:rPr>
              <a:t>);</a:t>
            </a:r>
            <a:endParaRPr sz="3050">
              <a:latin typeface="Courier New" panose="02070309020205020404"/>
              <a:cs typeface="Courier New" panose="02070309020205020404"/>
            </a:endParaRPr>
          </a:p>
        </p:txBody>
      </p:sp>
      <p:sp>
        <p:nvSpPr>
          <p:cNvPr id="4" name="object 4"/>
          <p:cNvSpPr txBox="1"/>
          <p:nvPr/>
        </p:nvSpPr>
        <p:spPr>
          <a:xfrm>
            <a:off x="507059" y="4044251"/>
            <a:ext cx="8048625" cy="965200"/>
          </a:xfrm>
          <a:prstGeom prst="rect">
            <a:avLst/>
          </a:prstGeom>
        </p:spPr>
        <p:txBody>
          <a:bodyPr vert="horz" wrap="square" lIns="0" tIns="16510" rIns="0" bIns="0" rtlCol="0">
            <a:spAutoFit/>
          </a:bodyPr>
          <a:lstStyle/>
          <a:p>
            <a:pPr marL="12700">
              <a:lnSpc>
                <a:spcPct val="100000"/>
              </a:lnSpc>
              <a:spcBef>
                <a:spcPts val="130"/>
              </a:spcBef>
            </a:pPr>
            <a:r>
              <a:rPr sz="2600" spc="-1155" dirty="0">
                <a:solidFill>
                  <a:srgbClr val="D34816"/>
                </a:solidFill>
                <a:latin typeface="Webdings" panose="05030102010509060703"/>
                <a:cs typeface="Webdings" panose="05030102010509060703"/>
              </a:rPr>
              <a:t></a:t>
            </a:r>
            <a:r>
              <a:rPr sz="2600" spc="254" dirty="0">
                <a:solidFill>
                  <a:srgbClr val="D34816"/>
                </a:solidFill>
                <a:latin typeface="Times New Roman" panose="02020603050405020304"/>
                <a:cs typeface="Times New Roman" panose="02020603050405020304"/>
              </a:rPr>
              <a:t> </a:t>
            </a:r>
            <a:r>
              <a:rPr sz="3050" i="1" spc="15" dirty="0">
                <a:latin typeface="Courier New" panose="02070309020205020404"/>
                <a:cs typeface="Courier New" panose="02070309020205020404"/>
              </a:rPr>
              <a:t>int </a:t>
            </a:r>
            <a:r>
              <a:rPr sz="3050" i="1" spc="5" dirty="0">
                <a:solidFill>
                  <a:srgbClr val="CC3300"/>
                </a:solidFill>
                <a:latin typeface="Courier New" panose="02070309020205020404"/>
                <a:cs typeface="Courier New" panose="02070309020205020404"/>
              </a:rPr>
              <a:t>write</a:t>
            </a:r>
            <a:r>
              <a:rPr sz="3050" i="1" spc="5" dirty="0">
                <a:latin typeface="Courier New" panose="02070309020205020404"/>
                <a:cs typeface="Courier New" panose="02070309020205020404"/>
              </a:rPr>
              <a:t>(int</a:t>
            </a:r>
            <a:r>
              <a:rPr sz="3050" i="1" spc="-10" dirty="0">
                <a:latin typeface="Courier New" panose="02070309020205020404"/>
                <a:cs typeface="Courier New" panose="02070309020205020404"/>
              </a:rPr>
              <a:t> </a:t>
            </a:r>
            <a:r>
              <a:rPr sz="3050" i="1" spc="5" dirty="0">
                <a:solidFill>
                  <a:srgbClr val="CC3300"/>
                </a:solidFill>
                <a:latin typeface="Courier New" panose="02070309020205020404"/>
                <a:cs typeface="Courier New" panose="02070309020205020404"/>
              </a:rPr>
              <a:t>filedescriptor</a:t>
            </a:r>
            <a:r>
              <a:rPr sz="3050" i="1" spc="5" dirty="0">
                <a:latin typeface="Courier New" panose="02070309020205020404"/>
                <a:cs typeface="Courier New" panose="02070309020205020404"/>
              </a:rPr>
              <a:t>,char</a:t>
            </a:r>
            <a:endParaRPr sz="3050">
              <a:latin typeface="Courier New" panose="02070309020205020404"/>
              <a:cs typeface="Courier New" panose="02070309020205020404"/>
            </a:endParaRPr>
          </a:p>
          <a:p>
            <a:pPr marL="312420">
              <a:lnSpc>
                <a:spcPct val="100000"/>
              </a:lnSpc>
              <a:spcBef>
                <a:spcPts val="40"/>
              </a:spcBef>
            </a:pPr>
            <a:r>
              <a:rPr sz="3050" i="1" spc="5" dirty="0">
                <a:latin typeface="Courier New" panose="02070309020205020404"/>
                <a:cs typeface="Courier New" panose="02070309020205020404"/>
              </a:rPr>
              <a:t>*</a:t>
            </a:r>
            <a:r>
              <a:rPr sz="3050" i="1" spc="5" dirty="0">
                <a:solidFill>
                  <a:srgbClr val="CC3300"/>
                </a:solidFill>
                <a:latin typeface="Courier New" panose="02070309020205020404"/>
                <a:cs typeface="Courier New" panose="02070309020205020404"/>
              </a:rPr>
              <a:t>buffer</a:t>
            </a:r>
            <a:r>
              <a:rPr sz="3050" i="1" spc="5" dirty="0">
                <a:latin typeface="Courier New" panose="02070309020205020404"/>
                <a:cs typeface="Courier New" panose="02070309020205020404"/>
              </a:rPr>
              <a:t>,int</a:t>
            </a:r>
            <a:r>
              <a:rPr sz="3050" i="1" dirty="0">
                <a:latin typeface="Courier New" panose="02070309020205020404"/>
                <a:cs typeface="Courier New" panose="02070309020205020404"/>
              </a:rPr>
              <a:t> </a:t>
            </a:r>
            <a:r>
              <a:rPr sz="3050" i="1" spc="5" dirty="0">
                <a:solidFill>
                  <a:srgbClr val="CC3300"/>
                </a:solidFill>
                <a:latin typeface="Courier New" panose="02070309020205020404"/>
                <a:cs typeface="Courier New" panose="02070309020205020404"/>
              </a:rPr>
              <a:t>bytetowrite</a:t>
            </a:r>
            <a:r>
              <a:rPr sz="3050" i="1" spc="5" dirty="0">
                <a:latin typeface="Courier New" panose="02070309020205020404"/>
                <a:cs typeface="Courier New" panose="02070309020205020404"/>
              </a:rPr>
              <a:t>);</a:t>
            </a:r>
            <a:endParaRPr sz="3050">
              <a:latin typeface="Courier New" panose="02070309020205020404"/>
              <a:cs typeface="Courier New" panose="02070309020205020404"/>
            </a:endParaRPr>
          </a:p>
        </p:txBody>
      </p:sp>
      <p:sp>
        <p:nvSpPr>
          <p:cNvPr id="5" name="object 5"/>
          <p:cNvSpPr txBox="1">
            <a:spLocks noGrp="1"/>
          </p:cNvSpPr>
          <p:nvPr>
            <p:ph type="title"/>
          </p:nvPr>
        </p:nvSpPr>
        <p:spPr>
          <a:xfrm>
            <a:off x="1093625" y="872687"/>
            <a:ext cx="7364095" cy="696595"/>
          </a:xfrm>
          <a:prstGeom prst="rect">
            <a:avLst/>
          </a:prstGeom>
        </p:spPr>
        <p:txBody>
          <a:bodyPr vert="horz" wrap="square" lIns="0" tIns="12700" rIns="0" bIns="0" rtlCol="0">
            <a:spAutoFit/>
          </a:bodyPr>
          <a:lstStyle/>
          <a:p>
            <a:pPr marL="12700">
              <a:lnSpc>
                <a:spcPct val="100000"/>
              </a:lnSpc>
              <a:spcBef>
                <a:spcPts val="100"/>
              </a:spcBef>
            </a:pPr>
            <a:r>
              <a:rPr sz="4400" b="0" spc="-155" dirty="0">
                <a:latin typeface="Trebuchet MS" panose="020B0603020202020204"/>
                <a:cs typeface="Trebuchet MS" panose="020B0603020202020204"/>
              </a:rPr>
              <a:t>Reading/Writing </a:t>
            </a:r>
            <a:r>
              <a:rPr sz="4400" b="0" spc="-229" dirty="0">
                <a:latin typeface="Trebuchet MS" panose="020B0603020202020204"/>
                <a:cs typeface="Trebuchet MS" panose="020B0603020202020204"/>
              </a:rPr>
              <a:t>from/to </a:t>
            </a:r>
            <a:r>
              <a:rPr sz="4400" b="0" spc="15" dirty="0">
                <a:latin typeface="Trebuchet MS" panose="020B0603020202020204"/>
                <a:cs typeface="Trebuchet MS" panose="020B0603020202020204"/>
              </a:rPr>
              <a:t>a</a:t>
            </a:r>
            <a:r>
              <a:rPr sz="4400" b="0" spc="-425" dirty="0">
                <a:latin typeface="Trebuchet MS" panose="020B0603020202020204"/>
                <a:cs typeface="Trebuchet MS" panose="020B0603020202020204"/>
              </a:rPr>
              <a:t> </a:t>
            </a:r>
            <a:r>
              <a:rPr sz="4400" b="0" spc="-120" dirty="0">
                <a:latin typeface="Trebuchet MS" panose="020B0603020202020204"/>
                <a:cs typeface="Trebuchet MS" panose="020B0603020202020204"/>
              </a:rPr>
              <a:t>Pipe</a:t>
            </a:r>
            <a:endParaRPr sz="4400">
              <a:latin typeface="Trebuchet MS" panose="020B0603020202020204"/>
              <a:cs typeface="Trebuchet MS" panose="020B0603020202020204"/>
            </a:endParaRPr>
          </a:p>
        </p:txBody>
      </p:sp>
      <p:sp>
        <p:nvSpPr>
          <p:cNvPr id="6" name="object 6"/>
          <p:cNvSpPr txBox="1"/>
          <p:nvPr/>
        </p:nvSpPr>
        <p:spPr>
          <a:xfrm>
            <a:off x="1093724" y="7020572"/>
            <a:ext cx="2503170" cy="259715"/>
          </a:xfrm>
          <a:prstGeom prst="rect">
            <a:avLst/>
          </a:prstGeom>
        </p:spPr>
        <p:txBody>
          <a:bodyPr vert="horz" wrap="square" lIns="0" tIns="17145" rIns="0" bIns="0" rtlCol="0">
            <a:spAutoFit/>
          </a:bodyPr>
          <a:lstStyle/>
          <a:p>
            <a:pPr marL="12700">
              <a:lnSpc>
                <a:spcPct val="100000"/>
              </a:lnSpc>
              <a:spcBef>
                <a:spcPts val="135"/>
              </a:spcBef>
            </a:pPr>
            <a:r>
              <a:rPr sz="1500" spc="15" dirty="0">
                <a:solidFill>
                  <a:srgbClr val="696464"/>
                </a:solidFill>
                <a:latin typeface="Arial" panose="020B0604020202020204"/>
                <a:cs typeface="Arial" panose="020B0604020202020204"/>
              </a:rPr>
              <a:t>CS-2006 Operating</a:t>
            </a:r>
            <a:r>
              <a:rPr sz="1500" spc="-45" dirty="0">
                <a:solidFill>
                  <a:srgbClr val="696464"/>
                </a:solidFill>
                <a:latin typeface="Arial" panose="020B0604020202020204"/>
                <a:cs typeface="Arial" panose="020B0604020202020204"/>
              </a:rPr>
              <a:t> </a:t>
            </a:r>
            <a:r>
              <a:rPr sz="1500" spc="10" dirty="0">
                <a:solidFill>
                  <a:srgbClr val="696464"/>
                </a:solidFill>
                <a:latin typeface="Arial" panose="020B0604020202020204"/>
                <a:cs typeface="Arial" panose="020B0604020202020204"/>
              </a:rPr>
              <a:t>Systems</a:t>
            </a:r>
            <a:endParaRPr sz="1500">
              <a:latin typeface="Arial" panose="020B0604020202020204"/>
              <a:cs typeface="Arial" panose="020B060402020202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50165" y="126365"/>
            <a:ext cx="10024745" cy="754189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22553" y="4411454"/>
            <a:ext cx="4359275" cy="316230"/>
          </a:xfrm>
          <a:prstGeom prst="rect">
            <a:avLst/>
          </a:prstGeom>
        </p:spPr>
        <p:txBody>
          <a:bodyPr vert="horz" wrap="square" lIns="0" tIns="0" rIns="0" bIns="0" rtlCol="0">
            <a:spAutoFit/>
          </a:bodyPr>
          <a:lstStyle/>
          <a:p>
            <a:pPr>
              <a:lnSpc>
                <a:spcPts val="2270"/>
              </a:lnSpc>
            </a:pPr>
            <a:r>
              <a:rPr sz="2200" b="1" i="1" spc="-10" dirty="0">
                <a:solidFill>
                  <a:srgbClr val="CC3300"/>
                </a:solidFill>
                <a:latin typeface="Courier New" panose="02070309020205020404"/>
                <a:cs typeface="Courier New" panose="02070309020205020404"/>
              </a:rPr>
              <a:t>write(pfds[1], "test",</a:t>
            </a:r>
            <a:r>
              <a:rPr sz="2200" b="1" i="1" spc="40" dirty="0">
                <a:solidFill>
                  <a:srgbClr val="CC3300"/>
                </a:solidFill>
                <a:latin typeface="Courier New" panose="02070309020205020404"/>
                <a:cs typeface="Courier New" panose="02070309020205020404"/>
              </a:rPr>
              <a:t> </a:t>
            </a:r>
            <a:r>
              <a:rPr sz="2200" b="1" i="1" spc="-10" dirty="0">
                <a:solidFill>
                  <a:srgbClr val="CC3300"/>
                </a:solidFill>
                <a:latin typeface="Courier New" panose="02070309020205020404"/>
                <a:cs typeface="Courier New" panose="02070309020205020404"/>
              </a:rPr>
              <a:t>5);</a:t>
            </a:r>
            <a:endParaRPr sz="2200">
              <a:latin typeface="Courier New" panose="02070309020205020404"/>
              <a:cs typeface="Courier New" panose="02070309020205020404"/>
            </a:endParaRPr>
          </a:p>
        </p:txBody>
      </p:sp>
      <p:sp>
        <p:nvSpPr>
          <p:cNvPr id="4" name="object 4"/>
          <p:cNvSpPr txBox="1">
            <a:spLocks noGrp="1"/>
          </p:cNvSpPr>
          <p:nvPr>
            <p:ph type="title"/>
          </p:nvPr>
        </p:nvSpPr>
        <p:spPr>
          <a:xfrm>
            <a:off x="1066955" y="381197"/>
            <a:ext cx="2033905" cy="696595"/>
          </a:xfrm>
          <a:prstGeom prst="rect">
            <a:avLst/>
          </a:prstGeom>
        </p:spPr>
        <p:txBody>
          <a:bodyPr vert="horz" wrap="square" lIns="0" tIns="12700" rIns="0" bIns="0" rtlCol="0">
            <a:spAutoFit/>
          </a:bodyPr>
          <a:lstStyle/>
          <a:p>
            <a:pPr marL="12700">
              <a:lnSpc>
                <a:spcPct val="100000"/>
              </a:lnSpc>
              <a:spcBef>
                <a:spcPts val="100"/>
              </a:spcBef>
            </a:pPr>
            <a:r>
              <a:rPr sz="4400" b="0" spc="60" dirty="0">
                <a:latin typeface="Trebuchet MS" panose="020B0603020202020204"/>
                <a:cs typeface="Trebuchet MS" panose="020B0603020202020204"/>
              </a:rPr>
              <a:t>E</a:t>
            </a:r>
            <a:r>
              <a:rPr sz="4400" b="0" spc="-360" dirty="0">
                <a:latin typeface="Trebuchet MS" panose="020B0603020202020204"/>
                <a:cs typeface="Trebuchet MS" panose="020B0603020202020204"/>
              </a:rPr>
              <a:t>x</a:t>
            </a:r>
            <a:r>
              <a:rPr sz="4400" b="0" spc="20" dirty="0">
                <a:latin typeface="Trebuchet MS" panose="020B0603020202020204"/>
                <a:cs typeface="Trebuchet MS" panose="020B0603020202020204"/>
              </a:rPr>
              <a:t>a</a:t>
            </a:r>
            <a:r>
              <a:rPr sz="4400" b="0" spc="-90" dirty="0">
                <a:latin typeface="Trebuchet MS" panose="020B0603020202020204"/>
                <a:cs typeface="Trebuchet MS" panose="020B0603020202020204"/>
              </a:rPr>
              <a:t>m</a:t>
            </a:r>
            <a:r>
              <a:rPr sz="4400" b="0" spc="-120" dirty="0">
                <a:latin typeface="Trebuchet MS" panose="020B0603020202020204"/>
                <a:cs typeface="Trebuchet MS" panose="020B0603020202020204"/>
              </a:rPr>
              <a:t>p</a:t>
            </a:r>
            <a:r>
              <a:rPr sz="4400" b="0" spc="-285" dirty="0">
                <a:latin typeface="Trebuchet MS" panose="020B0603020202020204"/>
                <a:cs typeface="Trebuchet MS" panose="020B0603020202020204"/>
              </a:rPr>
              <a:t>l</a:t>
            </a:r>
            <a:r>
              <a:rPr sz="4400" b="0" spc="-110" dirty="0">
                <a:latin typeface="Trebuchet MS" panose="020B0603020202020204"/>
                <a:cs typeface="Trebuchet MS" panose="020B0603020202020204"/>
              </a:rPr>
              <a:t>e</a:t>
            </a:r>
            <a:endParaRPr sz="4400">
              <a:latin typeface="Trebuchet MS" panose="020B0603020202020204"/>
              <a:cs typeface="Trebuchet MS" panose="020B0603020202020204"/>
            </a:endParaRPr>
          </a:p>
        </p:txBody>
      </p:sp>
      <p:sp>
        <p:nvSpPr>
          <p:cNvPr id="5" name="object 5"/>
          <p:cNvSpPr/>
          <p:nvPr/>
        </p:nvSpPr>
        <p:spPr>
          <a:xfrm>
            <a:off x="922019" y="4216908"/>
            <a:ext cx="5364480" cy="508000"/>
          </a:xfrm>
          <a:custGeom>
            <a:avLst/>
            <a:gdLst/>
            <a:ahLst/>
            <a:cxnLst/>
            <a:rect l="l" t="t" r="r" b="b"/>
            <a:pathLst>
              <a:path w="5364480" h="508000">
                <a:moveTo>
                  <a:pt x="5364480" y="507491"/>
                </a:moveTo>
                <a:lnTo>
                  <a:pt x="0" y="507491"/>
                </a:lnTo>
                <a:lnTo>
                  <a:pt x="0" y="0"/>
                </a:lnTo>
                <a:lnTo>
                  <a:pt x="5364480" y="0"/>
                </a:lnTo>
                <a:lnTo>
                  <a:pt x="5364480" y="507491"/>
                </a:lnTo>
                <a:close/>
              </a:path>
            </a:pathLst>
          </a:custGeom>
          <a:solidFill>
            <a:srgbClr val="FFFFFF"/>
          </a:solidFill>
        </p:spPr>
        <p:txBody>
          <a:bodyPr wrap="square" lIns="0" tIns="0" rIns="0" bIns="0" rtlCol="0"/>
          <a:lstStyle/>
          <a:p/>
        </p:txBody>
      </p:sp>
      <p:sp>
        <p:nvSpPr>
          <p:cNvPr id="6" name="object 6"/>
          <p:cNvSpPr/>
          <p:nvPr/>
        </p:nvSpPr>
        <p:spPr>
          <a:xfrm>
            <a:off x="685799" y="3902075"/>
            <a:ext cx="5364480" cy="509270"/>
          </a:xfrm>
          <a:custGeom>
            <a:avLst/>
            <a:gdLst/>
            <a:ahLst/>
            <a:cxnLst/>
            <a:rect l="l" t="t" r="r" b="b"/>
            <a:pathLst>
              <a:path w="5364480" h="509270">
                <a:moveTo>
                  <a:pt x="5364480" y="509016"/>
                </a:moveTo>
                <a:lnTo>
                  <a:pt x="0" y="509016"/>
                </a:lnTo>
                <a:lnTo>
                  <a:pt x="0" y="0"/>
                </a:lnTo>
                <a:lnTo>
                  <a:pt x="5364480" y="0"/>
                </a:lnTo>
                <a:lnTo>
                  <a:pt x="5364480" y="509016"/>
                </a:lnTo>
                <a:close/>
              </a:path>
            </a:pathLst>
          </a:custGeom>
          <a:solidFill>
            <a:srgbClr val="FFFFFF"/>
          </a:solidFill>
        </p:spPr>
        <p:txBody>
          <a:bodyPr wrap="square" lIns="0" tIns="0" rIns="0" bIns="0" rtlCol="0"/>
          <a:lstStyle/>
          <a:p/>
        </p:txBody>
      </p:sp>
      <p:sp>
        <p:nvSpPr>
          <p:cNvPr id="7" name="object 7"/>
          <p:cNvSpPr txBox="1">
            <a:spLocks noGrp="1"/>
          </p:cNvSpPr>
          <p:nvPr>
            <p:ph type="body" idx="1"/>
          </p:nvPr>
        </p:nvSpPr>
        <p:spPr>
          <a:xfrm>
            <a:off x="304800" y="1111250"/>
            <a:ext cx="10749280" cy="5426710"/>
          </a:xfrm>
          <a:prstGeom prst="rect">
            <a:avLst/>
          </a:prstGeom>
        </p:spPr>
        <p:txBody>
          <a:bodyPr vert="horz" wrap="square" lIns="0" tIns="62865" rIns="0" bIns="0" rtlCol="0">
            <a:spAutoFit/>
          </a:bodyPr>
          <a:lstStyle/>
          <a:p>
            <a:pPr marL="12700">
              <a:lnSpc>
                <a:spcPct val="100000"/>
              </a:lnSpc>
              <a:spcBef>
                <a:spcPts val="495"/>
              </a:spcBef>
            </a:pPr>
            <a:r>
              <a:rPr spc="-10" dirty="0"/>
              <a:t>int </a:t>
            </a:r>
            <a:r>
              <a:rPr spc="-5" dirty="0"/>
              <a:t>main()</a:t>
            </a:r>
            <a:endParaRPr spc="-5" dirty="0"/>
          </a:p>
          <a:p>
            <a:pPr marL="312420" marR="6544945" indent="-300355">
              <a:lnSpc>
                <a:spcPct val="115000"/>
              </a:lnSpc>
            </a:pPr>
            <a:r>
              <a:rPr spc="-5" dirty="0"/>
              <a:t>{ </a:t>
            </a:r>
            <a:r>
              <a:rPr spc="-10" dirty="0">
                <a:solidFill>
                  <a:srgbClr val="CC3300"/>
                </a:solidFill>
              </a:rPr>
              <a:t>int</a:t>
            </a:r>
            <a:r>
              <a:rPr lang="en-US" spc="-10" dirty="0">
                <a:solidFill>
                  <a:srgbClr val="CC3300"/>
                </a:solidFill>
              </a:rPr>
              <a:t> </a:t>
            </a:r>
            <a:r>
              <a:rPr spc="-5" dirty="0">
                <a:solidFill>
                  <a:srgbClr val="CC3300"/>
                </a:solidFill>
              </a:rPr>
              <a:t>pfds[2]</a:t>
            </a:r>
            <a:r>
              <a:rPr lang="en-US" spc="-5" dirty="0">
                <a:solidFill>
                  <a:srgbClr val="CC3300"/>
                </a:solidFill>
              </a:rPr>
              <a:t>={0,1}</a:t>
            </a:r>
            <a:r>
              <a:rPr spc="-5" dirty="0">
                <a:solidFill>
                  <a:srgbClr val="CC3300"/>
                </a:solidFill>
              </a:rPr>
              <a:t>;  </a:t>
            </a:r>
            <a:r>
              <a:rPr i="1" spc="-10" dirty="0"/>
              <a:t>char</a:t>
            </a:r>
            <a:r>
              <a:rPr i="1" spc="-45" dirty="0"/>
              <a:t> </a:t>
            </a:r>
            <a:r>
              <a:rPr i="1" spc="-10" dirty="0"/>
              <a:t>buf[30];</a:t>
            </a:r>
            <a:endParaRPr i="1" spc="-10" dirty="0"/>
          </a:p>
          <a:p>
            <a:pPr marL="312420">
              <a:lnSpc>
                <a:spcPct val="100000"/>
              </a:lnSpc>
              <a:spcBef>
                <a:spcPts val="395"/>
              </a:spcBef>
            </a:pPr>
            <a:r>
              <a:rPr spc="-5" dirty="0"/>
              <a:t>if (</a:t>
            </a:r>
            <a:r>
              <a:rPr spc="-5" dirty="0">
                <a:solidFill>
                  <a:srgbClr val="CC3300"/>
                </a:solidFill>
              </a:rPr>
              <a:t>pipe(pfds) </a:t>
            </a:r>
            <a:r>
              <a:rPr spc="-5" dirty="0"/>
              <a:t>== </a:t>
            </a:r>
            <a:r>
              <a:rPr dirty="0"/>
              <a:t>-1)</a:t>
            </a:r>
            <a:r>
              <a:rPr spc="-10" dirty="0"/>
              <a:t> </a:t>
            </a:r>
            <a:endParaRPr spc="-10" dirty="0"/>
          </a:p>
          <a:p>
            <a:pPr marL="312420">
              <a:lnSpc>
                <a:spcPct val="100000"/>
              </a:lnSpc>
              <a:spcBef>
                <a:spcPts val="395"/>
              </a:spcBef>
            </a:pPr>
            <a:r>
              <a:rPr spc="-5" dirty="0"/>
              <a:t>{</a:t>
            </a:r>
            <a:r>
              <a:rPr lang="en-US" spc="-5" dirty="0"/>
              <a:t> </a:t>
            </a:r>
            <a:endParaRPr lang="en-US" spc="-5" dirty="0"/>
          </a:p>
          <a:p>
            <a:pPr marL="312420">
              <a:lnSpc>
                <a:spcPct val="100000"/>
              </a:lnSpc>
              <a:spcBef>
                <a:spcPts val="395"/>
              </a:spcBef>
            </a:pPr>
            <a:r>
              <a:rPr lang="en-US" spc="-5" dirty="0"/>
              <a:t>  </a:t>
            </a:r>
            <a:r>
              <a:rPr spc="-5" dirty="0"/>
              <a:t>perror("pipe");</a:t>
            </a:r>
            <a:endParaRPr spc="-5" dirty="0"/>
          </a:p>
          <a:p>
            <a:pPr marL="312420">
              <a:lnSpc>
                <a:spcPct val="100000"/>
              </a:lnSpc>
              <a:spcBef>
                <a:spcPts val="395"/>
              </a:spcBef>
            </a:pPr>
            <a:r>
              <a:rPr lang="en-US" spc="-5" dirty="0"/>
              <a:t>  </a:t>
            </a:r>
            <a:r>
              <a:rPr spc="-5" dirty="0"/>
              <a:t>exit(1);</a:t>
            </a:r>
            <a:r>
              <a:rPr spc="-10" dirty="0"/>
              <a:t> </a:t>
            </a:r>
            <a:endParaRPr spc="-10" dirty="0"/>
          </a:p>
          <a:p>
            <a:pPr marL="312420">
              <a:lnSpc>
                <a:spcPct val="100000"/>
              </a:lnSpc>
              <a:spcBef>
                <a:spcPts val="395"/>
              </a:spcBef>
            </a:pPr>
            <a:r>
              <a:rPr spc="-5" dirty="0"/>
              <a:t>}</a:t>
            </a:r>
            <a:endParaRPr spc="-5" dirty="0"/>
          </a:p>
          <a:p>
            <a:pPr marL="312420">
              <a:lnSpc>
                <a:spcPts val="2295"/>
              </a:lnSpc>
              <a:spcBef>
                <a:spcPts val="400"/>
              </a:spcBef>
            </a:pPr>
            <a:r>
              <a:rPr spc="-5" dirty="0"/>
              <a:t>printf("writing to </a:t>
            </a:r>
            <a:r>
              <a:rPr spc="-10" dirty="0"/>
              <a:t>file </a:t>
            </a:r>
            <a:r>
              <a:rPr spc="-5" dirty="0"/>
              <a:t>descriptor </a:t>
            </a:r>
            <a:r>
              <a:rPr spc="-10" dirty="0"/>
              <a:t>#%d\n",</a:t>
            </a:r>
            <a:r>
              <a:rPr spc="10" dirty="0"/>
              <a:t> </a:t>
            </a:r>
            <a:r>
              <a:rPr spc="-5" dirty="0"/>
              <a:t>pfds[1]);</a:t>
            </a:r>
            <a:endParaRPr spc="-5" dirty="0"/>
          </a:p>
          <a:p>
            <a:pPr marL="514985">
              <a:lnSpc>
                <a:spcPts val="2835"/>
              </a:lnSpc>
            </a:pPr>
            <a:r>
              <a:rPr sz="2650" b="0" i="0" spc="-15" dirty="0">
                <a:solidFill>
                  <a:srgbClr val="CC3300"/>
                </a:solidFill>
                <a:latin typeface="Courier New" panose="02070309020205020404"/>
                <a:cs typeface="Courier New" panose="02070309020205020404"/>
              </a:rPr>
              <a:t>write(</a:t>
            </a:r>
            <a:r>
              <a:rPr sz="2650" b="0" spc="-10" dirty="0">
                <a:solidFill>
                  <a:srgbClr val="CC3300"/>
                </a:solidFill>
                <a:sym typeface="+mn-ea"/>
              </a:rPr>
              <a:t>pfds[</a:t>
            </a:r>
            <a:r>
              <a:rPr lang="en-US" sz="2650" b="0" spc="-10" dirty="0">
                <a:solidFill>
                  <a:srgbClr val="CC3300"/>
                </a:solidFill>
                <a:sym typeface="+mn-ea"/>
              </a:rPr>
              <a:t>1</a:t>
            </a:r>
            <a:r>
              <a:rPr sz="2650" b="0" spc="-10" dirty="0">
                <a:solidFill>
                  <a:srgbClr val="CC3300"/>
                </a:solidFill>
                <a:sym typeface="+mn-ea"/>
              </a:rPr>
              <a:t>]</a:t>
            </a:r>
            <a:r>
              <a:rPr sz="2650" b="0" i="0" spc="-15" dirty="0">
                <a:solidFill>
                  <a:srgbClr val="CC3300"/>
                </a:solidFill>
                <a:latin typeface="Courier New" panose="02070309020205020404"/>
                <a:cs typeface="Courier New" panose="02070309020205020404"/>
              </a:rPr>
              <a:t>, "test", </a:t>
            </a:r>
            <a:r>
              <a:rPr sz="2650" b="0" i="0" spc="-10" dirty="0">
                <a:solidFill>
                  <a:srgbClr val="CC3300"/>
                </a:solidFill>
                <a:latin typeface="Courier New" panose="02070309020205020404"/>
                <a:cs typeface="Courier New" panose="02070309020205020404"/>
              </a:rPr>
              <a:t>5);</a:t>
            </a:r>
            <a:endParaRPr sz="2650">
              <a:latin typeface="Courier New" panose="02070309020205020404"/>
              <a:cs typeface="Courier New" panose="02070309020205020404"/>
            </a:endParaRPr>
          </a:p>
          <a:p>
            <a:pPr>
              <a:lnSpc>
                <a:spcPts val="2270"/>
              </a:lnSpc>
            </a:pPr>
            <a:r>
              <a:rPr lang="en-US" spc="-5" dirty="0"/>
              <a:t>  </a:t>
            </a:r>
            <a:r>
              <a:rPr spc="-5" dirty="0"/>
              <a:t>printf("reading </a:t>
            </a:r>
            <a:r>
              <a:rPr spc="-10" dirty="0"/>
              <a:t>from </a:t>
            </a:r>
            <a:r>
              <a:rPr dirty="0"/>
              <a:t>file</a:t>
            </a:r>
            <a:r>
              <a:rPr spc="-10" dirty="0"/>
              <a:t> </a:t>
            </a:r>
            <a:r>
              <a:rPr spc="-5" dirty="0"/>
              <a:t>descriptor</a:t>
            </a:r>
            <a:r>
              <a:rPr lang="en-US" spc="-5" dirty="0"/>
              <a:t> </a:t>
            </a:r>
            <a:r>
              <a:rPr spc="-5" dirty="0">
                <a:sym typeface="+mn-ea"/>
              </a:rPr>
              <a:t>#%d\n",pfds[0]);</a:t>
            </a:r>
            <a:endParaRPr>
              <a:latin typeface="Courier New" panose="02070309020205020404"/>
              <a:cs typeface="Courier New" panose="02070309020205020404"/>
            </a:endParaRPr>
          </a:p>
          <a:p>
            <a:pPr>
              <a:lnSpc>
                <a:spcPct val="100000"/>
              </a:lnSpc>
              <a:spcBef>
                <a:spcPts val="395"/>
              </a:spcBef>
            </a:pPr>
            <a:r>
              <a:rPr lang="en-US" spc="-10" dirty="0">
                <a:solidFill>
                  <a:srgbClr val="CC3300"/>
                </a:solidFill>
                <a:sym typeface="+mn-ea"/>
              </a:rPr>
              <a:t>   </a:t>
            </a:r>
            <a:r>
              <a:rPr spc="-10" dirty="0">
                <a:solidFill>
                  <a:srgbClr val="CC3300"/>
                </a:solidFill>
                <a:sym typeface="+mn-ea"/>
              </a:rPr>
              <a:t>read(pfds[0], buf,</a:t>
            </a:r>
            <a:r>
              <a:rPr spc="10" dirty="0">
                <a:solidFill>
                  <a:srgbClr val="CC3300"/>
                </a:solidFill>
                <a:sym typeface="+mn-ea"/>
              </a:rPr>
              <a:t> </a:t>
            </a:r>
            <a:r>
              <a:rPr spc="-10" dirty="0">
                <a:solidFill>
                  <a:srgbClr val="CC3300"/>
                </a:solidFill>
                <a:sym typeface="+mn-ea"/>
              </a:rPr>
              <a:t>5);</a:t>
            </a:r>
            <a:endParaRPr sz="2650" b="0" i="0" spc="-15" dirty="0">
              <a:solidFill>
                <a:srgbClr val="CC3300"/>
              </a:solidFill>
              <a:latin typeface="Courier New" panose="02070309020205020404"/>
              <a:cs typeface="Courier New" panose="02070309020205020404"/>
            </a:endParaRPr>
          </a:p>
          <a:p>
            <a:pPr marL="312420">
              <a:lnSpc>
                <a:spcPct val="100000"/>
              </a:lnSpc>
              <a:spcBef>
                <a:spcPts val="1435"/>
              </a:spcBef>
            </a:pPr>
            <a:r>
              <a:rPr spc="-5" dirty="0"/>
              <a:t>printf("read %s\n",</a:t>
            </a:r>
            <a:r>
              <a:rPr spc="-10" dirty="0"/>
              <a:t> </a:t>
            </a:r>
            <a:r>
              <a:rPr spc="-5" dirty="0"/>
              <a:t>buf);</a:t>
            </a:r>
            <a:endParaRPr spc="-5" dirty="0"/>
          </a:p>
          <a:p>
            <a:pPr marL="12700">
              <a:lnSpc>
                <a:spcPct val="100000"/>
              </a:lnSpc>
              <a:spcBef>
                <a:spcPts val="395"/>
              </a:spcBef>
            </a:pPr>
            <a:r>
              <a:rPr spc="-5" dirty="0"/>
              <a:t>}</a:t>
            </a:r>
            <a:endParaRPr spc="-5" dirty="0"/>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9" name="object 9"/>
          <p:cNvSpPr txBox="1"/>
          <p:nvPr/>
        </p:nvSpPr>
        <p:spPr>
          <a:xfrm>
            <a:off x="280400" y="7095872"/>
            <a:ext cx="262255" cy="212725"/>
          </a:xfrm>
          <a:prstGeom prst="rect">
            <a:avLst/>
          </a:prstGeom>
        </p:spPr>
        <p:txBody>
          <a:bodyPr vert="horz" wrap="square" lIns="0" tIns="0" rIns="0" bIns="0" rtlCol="0">
            <a:spAutoFit/>
          </a:bodyPr>
          <a:lstStyle/>
          <a:p>
            <a:pPr marL="38100">
              <a:lnSpc>
                <a:spcPts val="1555"/>
              </a:lnSpc>
            </a:pPr>
            <a:fld id="{81D60167-4931-47E6-BA6A-407CBD079E47}" type="slidenum">
              <a:rPr sz="1300" spc="10" dirty="0">
                <a:latin typeface="Arial" panose="020B0604020202020204"/>
                <a:cs typeface="Arial" panose="020B0604020202020204"/>
              </a:rPr>
            </a:fld>
            <a:endParaRPr sz="1300">
              <a:latin typeface="Arial" panose="020B0604020202020204"/>
              <a:cs typeface="Arial" panose="020B060402020202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17195" y="286385"/>
            <a:ext cx="8317230" cy="607695"/>
          </a:xfrm>
        </p:spPr>
        <p:txBody>
          <a:bodyPr wrap="square"/>
          <a:p>
            <a:r>
              <a:rPr lang="en-US" altLang="en-US"/>
              <a:t>Use of Pipe in a Single Process</a:t>
            </a:r>
            <a:endParaRPr lang="en-US" altLang="en-US"/>
          </a:p>
        </p:txBody>
      </p:sp>
      <p:pic>
        <p:nvPicPr>
          <p:cNvPr id="4" name="Picture 3"/>
          <p:cNvPicPr>
            <a:picLocks noChangeAspect="1"/>
          </p:cNvPicPr>
          <p:nvPr/>
        </p:nvPicPr>
        <p:blipFill>
          <a:blip r:embed="rId1"/>
          <a:stretch>
            <a:fillRect/>
          </a:stretch>
        </p:blipFill>
        <p:spPr>
          <a:xfrm>
            <a:off x="133985" y="1022350"/>
            <a:ext cx="9779000" cy="59055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268979" y="5562600"/>
            <a:ext cx="2682240" cy="586740"/>
          </a:xfrm>
          <a:custGeom>
            <a:avLst/>
            <a:gdLst/>
            <a:ahLst/>
            <a:cxnLst/>
            <a:rect l="l" t="t" r="r" b="b"/>
            <a:pathLst>
              <a:path w="2682240" h="586739">
                <a:moveTo>
                  <a:pt x="0" y="0"/>
                </a:moveTo>
                <a:lnTo>
                  <a:pt x="2682240" y="0"/>
                </a:lnTo>
                <a:lnTo>
                  <a:pt x="2682240" y="586740"/>
                </a:lnTo>
                <a:lnTo>
                  <a:pt x="0" y="586740"/>
                </a:lnTo>
                <a:lnTo>
                  <a:pt x="0" y="0"/>
                </a:lnTo>
                <a:close/>
              </a:path>
            </a:pathLst>
          </a:custGeom>
          <a:ln w="10668">
            <a:solidFill>
              <a:srgbClr val="000000"/>
            </a:solidFill>
          </a:ln>
        </p:spPr>
        <p:txBody>
          <a:bodyPr wrap="square" lIns="0" tIns="0" rIns="0" bIns="0" rtlCol="0"/>
          <a:lstStyle/>
          <a:p/>
        </p:txBody>
      </p:sp>
      <p:grpSp>
        <p:nvGrpSpPr>
          <p:cNvPr id="3" name="object 3"/>
          <p:cNvGrpSpPr/>
          <p:nvPr/>
        </p:nvGrpSpPr>
        <p:grpSpPr>
          <a:xfrm>
            <a:off x="916622" y="3630167"/>
            <a:ext cx="7889875" cy="2268220"/>
            <a:chOff x="916622" y="3630167"/>
            <a:chExt cx="7889875" cy="2268220"/>
          </a:xfrm>
        </p:grpSpPr>
        <p:sp>
          <p:nvSpPr>
            <p:cNvPr id="4" name="object 4"/>
            <p:cNvSpPr/>
            <p:nvPr/>
          </p:nvSpPr>
          <p:spPr>
            <a:xfrm>
              <a:off x="922020" y="4808981"/>
              <a:ext cx="7879080" cy="0"/>
            </a:xfrm>
            <a:custGeom>
              <a:avLst/>
              <a:gdLst/>
              <a:ahLst/>
              <a:cxnLst/>
              <a:rect l="l" t="t" r="r" b="b"/>
              <a:pathLst>
                <a:path w="7879080">
                  <a:moveTo>
                    <a:pt x="0" y="0"/>
                  </a:moveTo>
                  <a:lnTo>
                    <a:pt x="7879080" y="0"/>
                  </a:lnTo>
                </a:path>
              </a:pathLst>
            </a:custGeom>
            <a:ln w="10668">
              <a:solidFill>
                <a:srgbClr val="000000"/>
              </a:solidFill>
              <a:prstDash val="sysDash"/>
            </a:ln>
          </p:spPr>
          <p:txBody>
            <a:bodyPr wrap="square" lIns="0" tIns="0" rIns="0" bIns="0" rtlCol="0"/>
            <a:lstStyle/>
            <a:p/>
          </p:txBody>
        </p:sp>
        <p:sp>
          <p:nvSpPr>
            <p:cNvPr id="5" name="object 5"/>
            <p:cNvSpPr/>
            <p:nvPr/>
          </p:nvSpPr>
          <p:spPr>
            <a:xfrm>
              <a:off x="1085088" y="3630167"/>
              <a:ext cx="2184400" cy="2268220"/>
            </a:xfrm>
            <a:custGeom>
              <a:avLst/>
              <a:gdLst/>
              <a:ahLst/>
              <a:cxnLst/>
              <a:rect l="l" t="t" r="r" b="b"/>
              <a:pathLst>
                <a:path w="2184400" h="2268220">
                  <a:moveTo>
                    <a:pt x="2100749" y="2230474"/>
                  </a:moveTo>
                  <a:lnTo>
                    <a:pt x="1979676" y="2225040"/>
                  </a:lnTo>
                  <a:lnTo>
                    <a:pt x="1879092" y="2217420"/>
                  </a:lnTo>
                  <a:lnTo>
                    <a:pt x="1776984" y="2206752"/>
                  </a:lnTo>
                  <a:lnTo>
                    <a:pt x="1677924" y="2193036"/>
                  </a:lnTo>
                  <a:lnTo>
                    <a:pt x="1577340" y="2176272"/>
                  </a:lnTo>
                  <a:lnTo>
                    <a:pt x="1479804" y="2157984"/>
                  </a:lnTo>
                  <a:lnTo>
                    <a:pt x="1383792" y="2136648"/>
                  </a:lnTo>
                  <a:lnTo>
                    <a:pt x="1287780" y="2112264"/>
                  </a:lnTo>
                  <a:lnTo>
                    <a:pt x="1194816" y="2086356"/>
                  </a:lnTo>
                  <a:lnTo>
                    <a:pt x="1103376" y="2057400"/>
                  </a:lnTo>
                  <a:lnTo>
                    <a:pt x="1014984" y="2026920"/>
                  </a:lnTo>
                  <a:lnTo>
                    <a:pt x="928116" y="1993392"/>
                  </a:lnTo>
                  <a:lnTo>
                    <a:pt x="844296" y="1958340"/>
                  </a:lnTo>
                  <a:lnTo>
                    <a:pt x="762000" y="1921764"/>
                  </a:lnTo>
                  <a:lnTo>
                    <a:pt x="684276" y="1883664"/>
                  </a:lnTo>
                  <a:lnTo>
                    <a:pt x="609600" y="1844040"/>
                  </a:lnTo>
                  <a:lnTo>
                    <a:pt x="536448" y="1802892"/>
                  </a:lnTo>
                  <a:lnTo>
                    <a:pt x="469392" y="1760220"/>
                  </a:lnTo>
                  <a:lnTo>
                    <a:pt x="403860" y="1716024"/>
                  </a:lnTo>
                  <a:lnTo>
                    <a:pt x="344424" y="1670304"/>
                  </a:lnTo>
                  <a:lnTo>
                    <a:pt x="288036" y="1623060"/>
                  </a:lnTo>
                  <a:lnTo>
                    <a:pt x="236220" y="1575816"/>
                  </a:lnTo>
                  <a:lnTo>
                    <a:pt x="188976" y="1527048"/>
                  </a:lnTo>
                  <a:lnTo>
                    <a:pt x="146304" y="1478280"/>
                  </a:lnTo>
                  <a:lnTo>
                    <a:pt x="108204" y="1427988"/>
                  </a:lnTo>
                  <a:lnTo>
                    <a:pt x="76200" y="1376172"/>
                  </a:lnTo>
                  <a:lnTo>
                    <a:pt x="48768" y="1324356"/>
                  </a:lnTo>
                  <a:lnTo>
                    <a:pt x="27432" y="1272540"/>
                  </a:lnTo>
                  <a:lnTo>
                    <a:pt x="12192" y="1220724"/>
                  </a:lnTo>
                  <a:lnTo>
                    <a:pt x="3048" y="1168908"/>
                  </a:lnTo>
                  <a:lnTo>
                    <a:pt x="1524" y="1141476"/>
                  </a:lnTo>
                  <a:lnTo>
                    <a:pt x="0" y="1115568"/>
                  </a:lnTo>
                  <a:lnTo>
                    <a:pt x="0" y="1063752"/>
                  </a:lnTo>
                  <a:lnTo>
                    <a:pt x="3048" y="960120"/>
                  </a:lnTo>
                  <a:lnTo>
                    <a:pt x="9144" y="856488"/>
                  </a:lnTo>
                  <a:lnTo>
                    <a:pt x="12192" y="806196"/>
                  </a:lnTo>
                  <a:lnTo>
                    <a:pt x="16764" y="755904"/>
                  </a:lnTo>
                  <a:lnTo>
                    <a:pt x="21336" y="707136"/>
                  </a:lnTo>
                  <a:lnTo>
                    <a:pt x="27432" y="658368"/>
                  </a:lnTo>
                  <a:lnTo>
                    <a:pt x="33528" y="611124"/>
                  </a:lnTo>
                  <a:lnTo>
                    <a:pt x="39624" y="565404"/>
                  </a:lnTo>
                  <a:lnTo>
                    <a:pt x="47244" y="519684"/>
                  </a:lnTo>
                  <a:lnTo>
                    <a:pt x="53340" y="475488"/>
                  </a:lnTo>
                  <a:lnTo>
                    <a:pt x="62484" y="432816"/>
                  </a:lnTo>
                  <a:lnTo>
                    <a:pt x="70104" y="391668"/>
                  </a:lnTo>
                  <a:lnTo>
                    <a:pt x="79248" y="350520"/>
                  </a:lnTo>
                  <a:lnTo>
                    <a:pt x="88392" y="312420"/>
                  </a:lnTo>
                  <a:lnTo>
                    <a:pt x="106680" y="240792"/>
                  </a:lnTo>
                  <a:lnTo>
                    <a:pt x="128016" y="178308"/>
                  </a:lnTo>
                  <a:lnTo>
                    <a:pt x="137160" y="149352"/>
                  </a:lnTo>
                  <a:lnTo>
                    <a:pt x="149352" y="121920"/>
                  </a:lnTo>
                  <a:lnTo>
                    <a:pt x="153924" y="109728"/>
                  </a:lnTo>
                  <a:lnTo>
                    <a:pt x="160020" y="99060"/>
                  </a:lnTo>
                  <a:lnTo>
                    <a:pt x="166116" y="86868"/>
                  </a:lnTo>
                  <a:lnTo>
                    <a:pt x="170688" y="76200"/>
                  </a:lnTo>
                  <a:lnTo>
                    <a:pt x="188976" y="48768"/>
                  </a:lnTo>
                  <a:lnTo>
                    <a:pt x="224028" y="10668"/>
                  </a:lnTo>
                  <a:lnTo>
                    <a:pt x="231648" y="7620"/>
                  </a:lnTo>
                  <a:lnTo>
                    <a:pt x="243840" y="1524"/>
                  </a:lnTo>
                  <a:lnTo>
                    <a:pt x="249936" y="0"/>
                  </a:lnTo>
                  <a:lnTo>
                    <a:pt x="256032" y="0"/>
                  </a:lnTo>
                  <a:lnTo>
                    <a:pt x="257556" y="10668"/>
                  </a:lnTo>
                  <a:lnTo>
                    <a:pt x="251460" y="10668"/>
                  </a:lnTo>
                  <a:lnTo>
                    <a:pt x="245364" y="12192"/>
                  </a:lnTo>
                  <a:lnTo>
                    <a:pt x="219456" y="28956"/>
                  </a:lnTo>
                  <a:lnTo>
                    <a:pt x="213360" y="33528"/>
                  </a:lnTo>
                  <a:lnTo>
                    <a:pt x="207264" y="39624"/>
                  </a:lnTo>
                  <a:lnTo>
                    <a:pt x="202692" y="47244"/>
                  </a:lnTo>
                  <a:lnTo>
                    <a:pt x="196596" y="54864"/>
                  </a:lnTo>
                  <a:lnTo>
                    <a:pt x="192024" y="62484"/>
                  </a:lnTo>
                  <a:lnTo>
                    <a:pt x="185928" y="71628"/>
                  </a:lnTo>
                  <a:lnTo>
                    <a:pt x="179832" y="82296"/>
                  </a:lnTo>
                  <a:lnTo>
                    <a:pt x="169164" y="103632"/>
                  </a:lnTo>
                  <a:lnTo>
                    <a:pt x="163068" y="114300"/>
                  </a:lnTo>
                  <a:lnTo>
                    <a:pt x="158496" y="126492"/>
                  </a:lnTo>
                  <a:lnTo>
                    <a:pt x="137160" y="181356"/>
                  </a:lnTo>
                  <a:lnTo>
                    <a:pt x="117348" y="243840"/>
                  </a:lnTo>
                  <a:lnTo>
                    <a:pt x="106680" y="278892"/>
                  </a:lnTo>
                  <a:lnTo>
                    <a:pt x="97536" y="315468"/>
                  </a:lnTo>
                  <a:lnTo>
                    <a:pt x="88392" y="353568"/>
                  </a:lnTo>
                  <a:lnTo>
                    <a:pt x="80772" y="393192"/>
                  </a:lnTo>
                  <a:lnTo>
                    <a:pt x="71628" y="434340"/>
                  </a:lnTo>
                  <a:lnTo>
                    <a:pt x="64008" y="477012"/>
                  </a:lnTo>
                  <a:lnTo>
                    <a:pt x="56388" y="521208"/>
                  </a:lnTo>
                  <a:lnTo>
                    <a:pt x="50292" y="566928"/>
                  </a:lnTo>
                  <a:lnTo>
                    <a:pt x="42672" y="612648"/>
                  </a:lnTo>
                  <a:lnTo>
                    <a:pt x="38100" y="659892"/>
                  </a:lnTo>
                  <a:lnTo>
                    <a:pt x="32004" y="708660"/>
                  </a:lnTo>
                  <a:lnTo>
                    <a:pt x="27432" y="757428"/>
                  </a:lnTo>
                  <a:lnTo>
                    <a:pt x="22860" y="807720"/>
                  </a:lnTo>
                  <a:lnTo>
                    <a:pt x="16764" y="908304"/>
                  </a:lnTo>
                  <a:lnTo>
                    <a:pt x="13716" y="960120"/>
                  </a:lnTo>
                  <a:lnTo>
                    <a:pt x="10668" y="1063752"/>
                  </a:lnTo>
                  <a:lnTo>
                    <a:pt x="10668" y="1141476"/>
                  </a:lnTo>
                  <a:lnTo>
                    <a:pt x="22860" y="1219200"/>
                  </a:lnTo>
                  <a:lnTo>
                    <a:pt x="38100" y="1269492"/>
                  </a:lnTo>
                  <a:lnTo>
                    <a:pt x="59436" y="1321308"/>
                  </a:lnTo>
                  <a:lnTo>
                    <a:pt x="85344" y="1371600"/>
                  </a:lnTo>
                  <a:lnTo>
                    <a:pt x="117348" y="1421892"/>
                  </a:lnTo>
                  <a:lnTo>
                    <a:pt x="153924" y="1470660"/>
                  </a:lnTo>
                  <a:lnTo>
                    <a:pt x="196596" y="1520952"/>
                  </a:lnTo>
                  <a:lnTo>
                    <a:pt x="243840" y="1568196"/>
                  </a:lnTo>
                  <a:lnTo>
                    <a:pt x="294132" y="1615440"/>
                  </a:lnTo>
                  <a:lnTo>
                    <a:pt x="350520" y="1662684"/>
                  </a:lnTo>
                  <a:lnTo>
                    <a:pt x="411480" y="1706880"/>
                  </a:lnTo>
                  <a:lnTo>
                    <a:pt x="475488" y="1751076"/>
                  </a:lnTo>
                  <a:lnTo>
                    <a:pt x="542544" y="1793748"/>
                  </a:lnTo>
                  <a:lnTo>
                    <a:pt x="614172" y="1834896"/>
                  </a:lnTo>
                  <a:lnTo>
                    <a:pt x="688848" y="1874520"/>
                  </a:lnTo>
                  <a:lnTo>
                    <a:pt x="766572" y="1912620"/>
                  </a:lnTo>
                  <a:lnTo>
                    <a:pt x="847344" y="1949196"/>
                  </a:lnTo>
                  <a:lnTo>
                    <a:pt x="931164" y="1984248"/>
                  </a:lnTo>
                  <a:lnTo>
                    <a:pt x="1018032" y="2016252"/>
                  </a:lnTo>
                  <a:lnTo>
                    <a:pt x="1106424" y="2046732"/>
                  </a:lnTo>
                  <a:lnTo>
                    <a:pt x="1197864" y="2075688"/>
                  </a:lnTo>
                  <a:lnTo>
                    <a:pt x="1290828" y="2101596"/>
                  </a:lnTo>
                  <a:lnTo>
                    <a:pt x="1385316" y="2125980"/>
                  </a:lnTo>
                  <a:lnTo>
                    <a:pt x="1482852" y="2147316"/>
                  </a:lnTo>
                  <a:lnTo>
                    <a:pt x="1580388" y="2167128"/>
                  </a:lnTo>
                  <a:lnTo>
                    <a:pt x="1679448" y="2182368"/>
                  </a:lnTo>
                  <a:lnTo>
                    <a:pt x="1778508" y="2196084"/>
                  </a:lnTo>
                  <a:lnTo>
                    <a:pt x="1879092" y="2206752"/>
                  </a:lnTo>
                  <a:lnTo>
                    <a:pt x="1981200" y="2214372"/>
                  </a:lnTo>
                  <a:lnTo>
                    <a:pt x="2100943" y="2219783"/>
                  </a:lnTo>
                  <a:lnTo>
                    <a:pt x="2100749" y="2230474"/>
                  </a:lnTo>
                  <a:close/>
                </a:path>
                <a:path w="2184400" h="2268220">
                  <a:moveTo>
                    <a:pt x="2174578" y="2231136"/>
                  </a:moveTo>
                  <a:lnTo>
                    <a:pt x="2115312" y="2231136"/>
                  </a:lnTo>
                  <a:lnTo>
                    <a:pt x="2115312" y="2220468"/>
                  </a:lnTo>
                  <a:lnTo>
                    <a:pt x="2100943" y="2219783"/>
                  </a:lnTo>
                  <a:lnTo>
                    <a:pt x="2101596" y="2183892"/>
                  </a:lnTo>
                  <a:lnTo>
                    <a:pt x="2183892" y="2226564"/>
                  </a:lnTo>
                  <a:lnTo>
                    <a:pt x="2174578" y="2231136"/>
                  </a:lnTo>
                  <a:close/>
                </a:path>
                <a:path w="2184400" h="2268220">
                  <a:moveTo>
                    <a:pt x="2115312" y="2231136"/>
                  </a:moveTo>
                  <a:lnTo>
                    <a:pt x="2100749" y="2230474"/>
                  </a:lnTo>
                  <a:lnTo>
                    <a:pt x="2100943" y="2219783"/>
                  </a:lnTo>
                  <a:lnTo>
                    <a:pt x="2115312" y="2220468"/>
                  </a:lnTo>
                  <a:lnTo>
                    <a:pt x="2115312" y="2231136"/>
                  </a:lnTo>
                  <a:close/>
                </a:path>
                <a:path w="2184400" h="2268220">
                  <a:moveTo>
                    <a:pt x="2100072" y="2267712"/>
                  </a:moveTo>
                  <a:lnTo>
                    <a:pt x="2100749" y="2230474"/>
                  </a:lnTo>
                  <a:lnTo>
                    <a:pt x="2115312" y="2231136"/>
                  </a:lnTo>
                  <a:lnTo>
                    <a:pt x="2174578" y="2231136"/>
                  </a:lnTo>
                  <a:lnTo>
                    <a:pt x="2100072" y="2267712"/>
                  </a:lnTo>
                  <a:close/>
                </a:path>
              </a:pathLst>
            </a:custGeom>
            <a:solidFill>
              <a:srgbClr val="000000"/>
            </a:solidFill>
          </p:spPr>
          <p:txBody>
            <a:bodyPr wrap="square" lIns="0" tIns="0" rIns="0" bIns="0" rtlCol="0"/>
            <a:lstStyle/>
            <a:p/>
          </p:txBody>
        </p:sp>
      </p:grpSp>
      <p:sp>
        <p:nvSpPr>
          <p:cNvPr id="6" name="object 6"/>
          <p:cNvSpPr/>
          <p:nvPr/>
        </p:nvSpPr>
        <p:spPr>
          <a:xfrm>
            <a:off x="3101339" y="6359652"/>
            <a:ext cx="502920" cy="83820"/>
          </a:xfrm>
          <a:custGeom>
            <a:avLst/>
            <a:gdLst/>
            <a:ahLst/>
            <a:cxnLst/>
            <a:rect l="l" t="t" r="r" b="b"/>
            <a:pathLst>
              <a:path w="502920" h="83820">
                <a:moveTo>
                  <a:pt x="419100" y="83820"/>
                </a:moveTo>
                <a:lnTo>
                  <a:pt x="419100" y="0"/>
                </a:lnTo>
                <a:lnTo>
                  <a:pt x="493606" y="36576"/>
                </a:lnTo>
                <a:lnTo>
                  <a:pt x="434340" y="36576"/>
                </a:lnTo>
                <a:lnTo>
                  <a:pt x="434340" y="47244"/>
                </a:lnTo>
                <a:lnTo>
                  <a:pt x="490945" y="47244"/>
                </a:lnTo>
                <a:lnTo>
                  <a:pt x="419100" y="83820"/>
                </a:lnTo>
                <a:close/>
              </a:path>
              <a:path w="502920" h="83820">
                <a:moveTo>
                  <a:pt x="419100" y="47244"/>
                </a:moveTo>
                <a:lnTo>
                  <a:pt x="0" y="47244"/>
                </a:lnTo>
                <a:lnTo>
                  <a:pt x="0" y="36576"/>
                </a:lnTo>
                <a:lnTo>
                  <a:pt x="419100" y="36576"/>
                </a:lnTo>
                <a:lnTo>
                  <a:pt x="419100" y="47244"/>
                </a:lnTo>
                <a:close/>
              </a:path>
              <a:path w="502920" h="83820">
                <a:moveTo>
                  <a:pt x="490945" y="47244"/>
                </a:moveTo>
                <a:lnTo>
                  <a:pt x="434340" y="47244"/>
                </a:lnTo>
                <a:lnTo>
                  <a:pt x="434340" y="36576"/>
                </a:lnTo>
                <a:lnTo>
                  <a:pt x="493606" y="36576"/>
                </a:lnTo>
                <a:lnTo>
                  <a:pt x="502920" y="41148"/>
                </a:lnTo>
                <a:lnTo>
                  <a:pt x="490945" y="47244"/>
                </a:lnTo>
                <a:close/>
              </a:path>
            </a:pathLst>
          </a:custGeom>
          <a:solidFill>
            <a:srgbClr val="000000"/>
          </a:solidFill>
        </p:spPr>
        <p:txBody>
          <a:bodyPr wrap="square" lIns="0" tIns="0" rIns="0" bIns="0" rtlCol="0"/>
          <a:lstStyle/>
          <a:p/>
        </p:txBody>
      </p:sp>
      <p:sp>
        <p:nvSpPr>
          <p:cNvPr id="7" name="object 7"/>
          <p:cNvSpPr/>
          <p:nvPr/>
        </p:nvSpPr>
        <p:spPr>
          <a:xfrm>
            <a:off x="5615940" y="6359652"/>
            <a:ext cx="335280" cy="83820"/>
          </a:xfrm>
          <a:custGeom>
            <a:avLst/>
            <a:gdLst/>
            <a:ahLst/>
            <a:cxnLst/>
            <a:rect l="l" t="t" r="r" b="b"/>
            <a:pathLst>
              <a:path w="335279" h="83820">
                <a:moveTo>
                  <a:pt x="251460" y="83820"/>
                </a:moveTo>
                <a:lnTo>
                  <a:pt x="251460" y="0"/>
                </a:lnTo>
                <a:lnTo>
                  <a:pt x="325966" y="36576"/>
                </a:lnTo>
                <a:lnTo>
                  <a:pt x="266700" y="36576"/>
                </a:lnTo>
                <a:lnTo>
                  <a:pt x="266700" y="47244"/>
                </a:lnTo>
                <a:lnTo>
                  <a:pt x="323305" y="47244"/>
                </a:lnTo>
                <a:lnTo>
                  <a:pt x="251460" y="83820"/>
                </a:lnTo>
                <a:close/>
              </a:path>
              <a:path w="335279" h="83820">
                <a:moveTo>
                  <a:pt x="251460" y="47244"/>
                </a:moveTo>
                <a:lnTo>
                  <a:pt x="0" y="47244"/>
                </a:lnTo>
                <a:lnTo>
                  <a:pt x="0" y="36576"/>
                </a:lnTo>
                <a:lnTo>
                  <a:pt x="251460" y="36576"/>
                </a:lnTo>
                <a:lnTo>
                  <a:pt x="251460" y="47244"/>
                </a:lnTo>
                <a:close/>
              </a:path>
              <a:path w="335279" h="83820">
                <a:moveTo>
                  <a:pt x="323305" y="47244"/>
                </a:moveTo>
                <a:lnTo>
                  <a:pt x="266700" y="47244"/>
                </a:lnTo>
                <a:lnTo>
                  <a:pt x="266700" y="36576"/>
                </a:lnTo>
                <a:lnTo>
                  <a:pt x="325966" y="36576"/>
                </a:lnTo>
                <a:lnTo>
                  <a:pt x="335280" y="41148"/>
                </a:lnTo>
                <a:lnTo>
                  <a:pt x="323305" y="47244"/>
                </a:lnTo>
                <a:close/>
              </a:path>
            </a:pathLst>
          </a:custGeom>
          <a:solidFill>
            <a:srgbClr val="000000"/>
          </a:solidFill>
        </p:spPr>
        <p:txBody>
          <a:bodyPr wrap="square" lIns="0" tIns="0" rIns="0" bIns="0" rtlCol="0"/>
          <a:lstStyle/>
          <a:p/>
        </p:txBody>
      </p:sp>
      <p:sp>
        <p:nvSpPr>
          <p:cNvPr id="8" name="object 8"/>
          <p:cNvSpPr txBox="1"/>
          <p:nvPr/>
        </p:nvSpPr>
        <p:spPr>
          <a:xfrm>
            <a:off x="3608246" y="5518755"/>
            <a:ext cx="1452245" cy="1010285"/>
          </a:xfrm>
          <a:prstGeom prst="rect">
            <a:avLst/>
          </a:prstGeom>
        </p:spPr>
        <p:txBody>
          <a:bodyPr vert="horz" wrap="square" lIns="0" tIns="12700" rIns="0" bIns="0" rtlCol="0">
            <a:spAutoFit/>
          </a:bodyPr>
          <a:lstStyle/>
          <a:p>
            <a:pPr marL="12700" marR="5080" indent="514985">
              <a:lnSpc>
                <a:spcPct val="147000"/>
              </a:lnSpc>
              <a:spcBef>
                <a:spcPts val="100"/>
              </a:spcBef>
            </a:pPr>
            <a:r>
              <a:rPr sz="2200" i="1" spc="-5" dirty="0">
                <a:latin typeface="Arial" panose="020B0604020202020204"/>
                <a:cs typeface="Arial" panose="020B0604020202020204"/>
              </a:rPr>
              <a:t>Pipe  </a:t>
            </a:r>
            <a:r>
              <a:rPr sz="2200" i="1" spc="-5" dirty="0">
                <a:latin typeface="Arial" panose="020B0604020202020204"/>
                <a:cs typeface="Arial" panose="020B0604020202020204"/>
              </a:rPr>
              <a:t>flow </a:t>
            </a:r>
            <a:r>
              <a:rPr sz="2200" i="1" dirty="0">
                <a:latin typeface="Arial" panose="020B0604020202020204"/>
                <a:cs typeface="Arial" panose="020B0604020202020204"/>
              </a:rPr>
              <a:t>of</a:t>
            </a:r>
            <a:r>
              <a:rPr sz="2200" i="1" spc="-100" dirty="0">
                <a:latin typeface="Arial" panose="020B0604020202020204"/>
                <a:cs typeface="Arial" panose="020B0604020202020204"/>
              </a:rPr>
              <a:t> </a:t>
            </a:r>
            <a:r>
              <a:rPr sz="2200" i="1" spc="-5" dirty="0">
                <a:latin typeface="Arial" panose="020B0604020202020204"/>
                <a:cs typeface="Arial" panose="020B0604020202020204"/>
              </a:rPr>
              <a:t>data</a:t>
            </a:r>
            <a:endParaRPr sz="2200">
              <a:latin typeface="Arial" panose="020B0604020202020204"/>
              <a:cs typeface="Arial" panose="020B0604020202020204"/>
            </a:endParaRPr>
          </a:p>
        </p:txBody>
      </p:sp>
      <p:sp>
        <p:nvSpPr>
          <p:cNvPr id="9" name="object 9"/>
          <p:cNvSpPr txBox="1"/>
          <p:nvPr/>
        </p:nvSpPr>
        <p:spPr>
          <a:xfrm>
            <a:off x="8127009" y="4335295"/>
            <a:ext cx="1035050" cy="360680"/>
          </a:xfrm>
          <a:prstGeom prst="rect">
            <a:avLst/>
          </a:prstGeom>
        </p:spPr>
        <p:txBody>
          <a:bodyPr vert="horz" wrap="square" lIns="0" tIns="12065" rIns="0" bIns="0" rtlCol="0">
            <a:spAutoFit/>
          </a:bodyPr>
          <a:lstStyle/>
          <a:p>
            <a:pPr marL="12700">
              <a:lnSpc>
                <a:spcPct val="100000"/>
              </a:lnSpc>
              <a:spcBef>
                <a:spcPts val="95"/>
              </a:spcBef>
            </a:pPr>
            <a:r>
              <a:rPr sz="2200" i="1" spc="-5" dirty="0">
                <a:latin typeface="Arial" panose="020B0604020202020204"/>
                <a:cs typeface="Arial" panose="020B0604020202020204"/>
              </a:rPr>
              <a:t>Process</a:t>
            </a:r>
            <a:endParaRPr sz="2200">
              <a:latin typeface="Arial" panose="020B0604020202020204"/>
              <a:cs typeface="Arial" panose="020B0604020202020204"/>
            </a:endParaRPr>
          </a:p>
        </p:txBody>
      </p:sp>
      <p:sp>
        <p:nvSpPr>
          <p:cNvPr id="10" name="object 10"/>
          <p:cNvSpPr txBox="1"/>
          <p:nvPr/>
        </p:nvSpPr>
        <p:spPr>
          <a:xfrm>
            <a:off x="8120881" y="4838197"/>
            <a:ext cx="832485" cy="360680"/>
          </a:xfrm>
          <a:prstGeom prst="rect">
            <a:avLst/>
          </a:prstGeom>
        </p:spPr>
        <p:txBody>
          <a:bodyPr vert="horz" wrap="square" lIns="0" tIns="12065" rIns="0" bIns="0" rtlCol="0">
            <a:spAutoFit/>
          </a:bodyPr>
          <a:lstStyle/>
          <a:p>
            <a:pPr marL="12700">
              <a:lnSpc>
                <a:spcPct val="100000"/>
              </a:lnSpc>
              <a:spcBef>
                <a:spcPts val="95"/>
              </a:spcBef>
            </a:pPr>
            <a:r>
              <a:rPr sz="2200" i="1" dirty="0">
                <a:latin typeface="Arial" panose="020B0604020202020204"/>
                <a:cs typeface="Arial" panose="020B0604020202020204"/>
              </a:rPr>
              <a:t>K</a:t>
            </a:r>
            <a:r>
              <a:rPr sz="2200" i="1" spc="-20" dirty="0">
                <a:latin typeface="Arial" panose="020B0604020202020204"/>
                <a:cs typeface="Arial" panose="020B0604020202020204"/>
              </a:rPr>
              <a:t>e</a:t>
            </a:r>
            <a:r>
              <a:rPr sz="2200" i="1" spc="10" dirty="0">
                <a:latin typeface="Arial" panose="020B0604020202020204"/>
                <a:cs typeface="Arial" panose="020B0604020202020204"/>
              </a:rPr>
              <a:t>r</a:t>
            </a:r>
            <a:r>
              <a:rPr sz="2200" i="1" spc="-20" dirty="0">
                <a:latin typeface="Arial" panose="020B0604020202020204"/>
                <a:cs typeface="Arial" panose="020B0604020202020204"/>
              </a:rPr>
              <a:t>n</a:t>
            </a:r>
            <a:r>
              <a:rPr sz="2200" i="1" dirty="0">
                <a:latin typeface="Arial" panose="020B0604020202020204"/>
                <a:cs typeface="Arial" panose="020B0604020202020204"/>
              </a:rPr>
              <a:t>e</a:t>
            </a:r>
            <a:r>
              <a:rPr sz="2200" i="1" spc="-5" dirty="0">
                <a:latin typeface="Arial" panose="020B0604020202020204"/>
                <a:cs typeface="Arial" panose="020B0604020202020204"/>
              </a:rPr>
              <a:t>l</a:t>
            </a:r>
            <a:endParaRPr sz="2200">
              <a:latin typeface="Arial" panose="020B0604020202020204"/>
              <a:cs typeface="Arial" panose="020B0604020202020204"/>
            </a:endParaRPr>
          </a:p>
        </p:txBody>
      </p:sp>
      <p:grpSp>
        <p:nvGrpSpPr>
          <p:cNvPr id="11" name="object 11"/>
          <p:cNvGrpSpPr/>
          <p:nvPr/>
        </p:nvGrpSpPr>
        <p:grpSpPr>
          <a:xfrm>
            <a:off x="3352800" y="3042602"/>
            <a:ext cx="4615815" cy="2818765"/>
            <a:chOff x="3352800" y="3042602"/>
            <a:chExt cx="4615815" cy="2818765"/>
          </a:xfrm>
        </p:grpSpPr>
        <p:sp>
          <p:nvSpPr>
            <p:cNvPr id="12" name="object 12"/>
            <p:cNvSpPr/>
            <p:nvPr/>
          </p:nvSpPr>
          <p:spPr>
            <a:xfrm>
              <a:off x="3352800" y="3595115"/>
              <a:ext cx="2856230" cy="2266315"/>
            </a:xfrm>
            <a:custGeom>
              <a:avLst/>
              <a:gdLst/>
              <a:ahLst/>
              <a:cxnLst/>
              <a:rect l="l" t="t" r="r" b="b"/>
              <a:pathLst>
                <a:path w="2856229" h="2266315">
                  <a:moveTo>
                    <a:pt x="83820" y="83820"/>
                  </a:moveTo>
                  <a:lnTo>
                    <a:pt x="0" y="39624"/>
                  </a:lnTo>
                  <a:lnTo>
                    <a:pt x="85344" y="0"/>
                  </a:lnTo>
                  <a:lnTo>
                    <a:pt x="84678" y="36576"/>
                  </a:lnTo>
                  <a:lnTo>
                    <a:pt x="70104" y="36576"/>
                  </a:lnTo>
                  <a:lnTo>
                    <a:pt x="70104" y="45720"/>
                  </a:lnTo>
                  <a:lnTo>
                    <a:pt x="84506" y="46062"/>
                  </a:lnTo>
                  <a:lnTo>
                    <a:pt x="83820" y="83820"/>
                  </a:lnTo>
                  <a:close/>
                </a:path>
                <a:path w="2856229" h="2266315">
                  <a:moveTo>
                    <a:pt x="84506" y="46062"/>
                  </a:moveTo>
                  <a:lnTo>
                    <a:pt x="70104" y="45720"/>
                  </a:lnTo>
                  <a:lnTo>
                    <a:pt x="70104" y="36576"/>
                  </a:lnTo>
                  <a:lnTo>
                    <a:pt x="84678" y="36576"/>
                  </a:lnTo>
                  <a:lnTo>
                    <a:pt x="84506" y="46062"/>
                  </a:lnTo>
                  <a:close/>
                </a:path>
                <a:path w="2856229" h="2266315">
                  <a:moveTo>
                    <a:pt x="2606040" y="2266188"/>
                  </a:moveTo>
                  <a:lnTo>
                    <a:pt x="2599944" y="2266188"/>
                  </a:lnTo>
                  <a:lnTo>
                    <a:pt x="2598420" y="2257044"/>
                  </a:lnTo>
                  <a:lnTo>
                    <a:pt x="2604516" y="2255520"/>
                  </a:lnTo>
                  <a:lnTo>
                    <a:pt x="2610612" y="2255520"/>
                  </a:lnTo>
                  <a:lnTo>
                    <a:pt x="2615184" y="2252472"/>
                  </a:lnTo>
                  <a:lnTo>
                    <a:pt x="2647188" y="2226564"/>
                  </a:lnTo>
                  <a:lnTo>
                    <a:pt x="2653284" y="2218944"/>
                  </a:lnTo>
                  <a:lnTo>
                    <a:pt x="2659380" y="2212848"/>
                  </a:lnTo>
                  <a:lnTo>
                    <a:pt x="2663952" y="2203704"/>
                  </a:lnTo>
                  <a:lnTo>
                    <a:pt x="2676144" y="2185416"/>
                  </a:lnTo>
                  <a:lnTo>
                    <a:pt x="2680716" y="2174748"/>
                  </a:lnTo>
                  <a:lnTo>
                    <a:pt x="2686812" y="2164080"/>
                  </a:lnTo>
                  <a:lnTo>
                    <a:pt x="2692908" y="2151888"/>
                  </a:lnTo>
                  <a:lnTo>
                    <a:pt x="2697480" y="2139696"/>
                  </a:lnTo>
                  <a:lnTo>
                    <a:pt x="2703576" y="2127504"/>
                  </a:lnTo>
                  <a:lnTo>
                    <a:pt x="2708148" y="2113788"/>
                  </a:lnTo>
                  <a:lnTo>
                    <a:pt x="2718816" y="2084832"/>
                  </a:lnTo>
                  <a:lnTo>
                    <a:pt x="2729484" y="2054352"/>
                  </a:lnTo>
                  <a:lnTo>
                    <a:pt x="2738628" y="2022348"/>
                  </a:lnTo>
                  <a:lnTo>
                    <a:pt x="2749296" y="1987296"/>
                  </a:lnTo>
                  <a:lnTo>
                    <a:pt x="2758440" y="1950720"/>
                  </a:lnTo>
                  <a:lnTo>
                    <a:pt x="2767584" y="1912620"/>
                  </a:lnTo>
                  <a:lnTo>
                    <a:pt x="2775204" y="1872996"/>
                  </a:lnTo>
                  <a:lnTo>
                    <a:pt x="2784348" y="1831848"/>
                  </a:lnTo>
                  <a:lnTo>
                    <a:pt x="2791968" y="1789176"/>
                  </a:lnTo>
                  <a:lnTo>
                    <a:pt x="2799588" y="1744980"/>
                  </a:lnTo>
                  <a:lnTo>
                    <a:pt x="2805684" y="1700784"/>
                  </a:lnTo>
                  <a:lnTo>
                    <a:pt x="2817876" y="1606296"/>
                  </a:lnTo>
                  <a:lnTo>
                    <a:pt x="2823972" y="1557528"/>
                  </a:lnTo>
                  <a:lnTo>
                    <a:pt x="2828544" y="1508760"/>
                  </a:lnTo>
                  <a:lnTo>
                    <a:pt x="2833116" y="1458468"/>
                  </a:lnTo>
                  <a:lnTo>
                    <a:pt x="2839212" y="1357884"/>
                  </a:lnTo>
                  <a:lnTo>
                    <a:pt x="2842260" y="1306068"/>
                  </a:lnTo>
                  <a:lnTo>
                    <a:pt x="2845308" y="1202436"/>
                  </a:lnTo>
                  <a:lnTo>
                    <a:pt x="2845308" y="1150620"/>
                  </a:lnTo>
                  <a:lnTo>
                    <a:pt x="2840736" y="1098804"/>
                  </a:lnTo>
                  <a:lnTo>
                    <a:pt x="2820924" y="1022604"/>
                  </a:lnTo>
                  <a:lnTo>
                    <a:pt x="2796540" y="972312"/>
                  </a:lnTo>
                  <a:lnTo>
                    <a:pt x="2766060" y="920496"/>
                  </a:lnTo>
                  <a:lnTo>
                    <a:pt x="2727960" y="870204"/>
                  </a:lnTo>
                  <a:lnTo>
                    <a:pt x="2657856" y="795528"/>
                  </a:lnTo>
                  <a:lnTo>
                    <a:pt x="2602992" y="746760"/>
                  </a:lnTo>
                  <a:lnTo>
                    <a:pt x="2572512" y="722376"/>
                  </a:lnTo>
                  <a:lnTo>
                    <a:pt x="2473452" y="652272"/>
                  </a:lnTo>
                  <a:lnTo>
                    <a:pt x="2400300" y="605028"/>
                  </a:lnTo>
                  <a:lnTo>
                    <a:pt x="2322576" y="560832"/>
                  </a:lnTo>
                  <a:lnTo>
                    <a:pt x="2238756" y="516636"/>
                  </a:lnTo>
                  <a:lnTo>
                    <a:pt x="2148840" y="473964"/>
                  </a:lnTo>
                  <a:lnTo>
                    <a:pt x="2055876" y="431292"/>
                  </a:lnTo>
                  <a:lnTo>
                    <a:pt x="1958340" y="391668"/>
                  </a:lnTo>
                  <a:lnTo>
                    <a:pt x="1856232" y="353568"/>
                  </a:lnTo>
                  <a:lnTo>
                    <a:pt x="1749552" y="316992"/>
                  </a:lnTo>
                  <a:lnTo>
                    <a:pt x="1527048" y="249936"/>
                  </a:lnTo>
                  <a:lnTo>
                    <a:pt x="1411224" y="219456"/>
                  </a:lnTo>
                  <a:lnTo>
                    <a:pt x="1292352" y="190500"/>
                  </a:lnTo>
                  <a:lnTo>
                    <a:pt x="1170432" y="164592"/>
                  </a:lnTo>
                  <a:lnTo>
                    <a:pt x="1045464" y="140208"/>
                  </a:lnTo>
                  <a:lnTo>
                    <a:pt x="920496" y="118872"/>
                  </a:lnTo>
                  <a:lnTo>
                    <a:pt x="792480" y="100584"/>
                  </a:lnTo>
                  <a:lnTo>
                    <a:pt x="662940" y="83820"/>
                  </a:lnTo>
                  <a:lnTo>
                    <a:pt x="531876" y="70104"/>
                  </a:lnTo>
                  <a:lnTo>
                    <a:pt x="399288" y="59436"/>
                  </a:lnTo>
                  <a:lnTo>
                    <a:pt x="266700" y="51816"/>
                  </a:lnTo>
                  <a:lnTo>
                    <a:pt x="134112" y="47244"/>
                  </a:lnTo>
                  <a:lnTo>
                    <a:pt x="84506" y="46062"/>
                  </a:lnTo>
                  <a:lnTo>
                    <a:pt x="84678" y="36576"/>
                  </a:lnTo>
                  <a:lnTo>
                    <a:pt x="134112" y="36576"/>
                  </a:lnTo>
                  <a:lnTo>
                    <a:pt x="268224" y="41148"/>
                  </a:lnTo>
                  <a:lnTo>
                    <a:pt x="400812" y="48768"/>
                  </a:lnTo>
                  <a:lnTo>
                    <a:pt x="533400" y="59436"/>
                  </a:lnTo>
                  <a:lnTo>
                    <a:pt x="664464" y="73152"/>
                  </a:lnTo>
                  <a:lnTo>
                    <a:pt x="794004" y="89916"/>
                  </a:lnTo>
                  <a:lnTo>
                    <a:pt x="922020" y="109728"/>
                  </a:lnTo>
                  <a:lnTo>
                    <a:pt x="1048512" y="131064"/>
                  </a:lnTo>
                  <a:lnTo>
                    <a:pt x="1171956" y="153924"/>
                  </a:lnTo>
                  <a:lnTo>
                    <a:pt x="1293876" y="181356"/>
                  </a:lnTo>
                  <a:lnTo>
                    <a:pt x="1414272" y="210312"/>
                  </a:lnTo>
                  <a:lnTo>
                    <a:pt x="1530096" y="240792"/>
                  </a:lnTo>
                  <a:lnTo>
                    <a:pt x="1642872" y="272796"/>
                  </a:lnTo>
                  <a:lnTo>
                    <a:pt x="1752600" y="307848"/>
                  </a:lnTo>
                  <a:lnTo>
                    <a:pt x="1859280" y="344424"/>
                  </a:lnTo>
                  <a:lnTo>
                    <a:pt x="1961388" y="382524"/>
                  </a:lnTo>
                  <a:lnTo>
                    <a:pt x="2060448" y="422148"/>
                  </a:lnTo>
                  <a:lnTo>
                    <a:pt x="2153412" y="463296"/>
                  </a:lnTo>
                  <a:lnTo>
                    <a:pt x="2243328" y="507492"/>
                  </a:lnTo>
                  <a:lnTo>
                    <a:pt x="2327148" y="551688"/>
                  </a:lnTo>
                  <a:lnTo>
                    <a:pt x="2406396" y="595884"/>
                  </a:lnTo>
                  <a:lnTo>
                    <a:pt x="2479548" y="643128"/>
                  </a:lnTo>
                  <a:lnTo>
                    <a:pt x="2546604" y="690372"/>
                  </a:lnTo>
                  <a:lnTo>
                    <a:pt x="2578608" y="714756"/>
                  </a:lnTo>
                  <a:lnTo>
                    <a:pt x="2609088" y="739140"/>
                  </a:lnTo>
                  <a:lnTo>
                    <a:pt x="2663952" y="787908"/>
                  </a:lnTo>
                  <a:lnTo>
                    <a:pt x="2714244" y="838200"/>
                  </a:lnTo>
                  <a:lnTo>
                    <a:pt x="2755392" y="890016"/>
                  </a:lnTo>
                  <a:lnTo>
                    <a:pt x="2790444" y="941832"/>
                  </a:lnTo>
                  <a:lnTo>
                    <a:pt x="2819400" y="993648"/>
                  </a:lnTo>
                  <a:lnTo>
                    <a:pt x="2839212" y="1045464"/>
                  </a:lnTo>
                  <a:lnTo>
                    <a:pt x="2851404" y="1098804"/>
                  </a:lnTo>
                  <a:lnTo>
                    <a:pt x="2855976" y="1150620"/>
                  </a:lnTo>
                  <a:lnTo>
                    <a:pt x="2855976" y="1202436"/>
                  </a:lnTo>
                  <a:lnTo>
                    <a:pt x="2854452" y="1255776"/>
                  </a:lnTo>
                  <a:lnTo>
                    <a:pt x="2852928" y="1307592"/>
                  </a:lnTo>
                  <a:lnTo>
                    <a:pt x="2849880" y="1357884"/>
                  </a:lnTo>
                  <a:lnTo>
                    <a:pt x="2846832" y="1409700"/>
                  </a:lnTo>
                  <a:lnTo>
                    <a:pt x="2843784" y="1459992"/>
                  </a:lnTo>
                  <a:lnTo>
                    <a:pt x="2839212" y="1510284"/>
                  </a:lnTo>
                  <a:lnTo>
                    <a:pt x="2834640" y="1559052"/>
                  </a:lnTo>
                  <a:lnTo>
                    <a:pt x="2828544" y="1607820"/>
                  </a:lnTo>
                  <a:lnTo>
                    <a:pt x="2816352" y="1702308"/>
                  </a:lnTo>
                  <a:lnTo>
                    <a:pt x="2793492" y="1834896"/>
                  </a:lnTo>
                  <a:lnTo>
                    <a:pt x="2785872" y="1876044"/>
                  </a:lnTo>
                  <a:lnTo>
                    <a:pt x="2776728" y="1915668"/>
                  </a:lnTo>
                  <a:lnTo>
                    <a:pt x="2767584" y="1953768"/>
                  </a:lnTo>
                  <a:lnTo>
                    <a:pt x="2749296" y="2025396"/>
                  </a:lnTo>
                  <a:lnTo>
                    <a:pt x="2727960" y="2089404"/>
                  </a:lnTo>
                  <a:lnTo>
                    <a:pt x="2712720" y="2130552"/>
                  </a:lnTo>
                  <a:lnTo>
                    <a:pt x="2706624" y="2144268"/>
                  </a:lnTo>
                  <a:lnTo>
                    <a:pt x="2702052" y="2156460"/>
                  </a:lnTo>
                  <a:lnTo>
                    <a:pt x="2695956" y="2168652"/>
                  </a:lnTo>
                  <a:lnTo>
                    <a:pt x="2689860" y="2179320"/>
                  </a:lnTo>
                  <a:lnTo>
                    <a:pt x="2685288" y="2189988"/>
                  </a:lnTo>
                  <a:lnTo>
                    <a:pt x="2679192" y="2200656"/>
                  </a:lnTo>
                  <a:lnTo>
                    <a:pt x="2667000" y="2218944"/>
                  </a:lnTo>
                  <a:lnTo>
                    <a:pt x="2662428" y="2226564"/>
                  </a:lnTo>
                  <a:lnTo>
                    <a:pt x="2631948" y="2255520"/>
                  </a:lnTo>
                  <a:lnTo>
                    <a:pt x="2618232" y="2263140"/>
                  </a:lnTo>
                  <a:lnTo>
                    <a:pt x="2606040" y="2266188"/>
                  </a:lnTo>
                  <a:close/>
                </a:path>
              </a:pathLst>
            </a:custGeom>
            <a:solidFill>
              <a:srgbClr val="000000"/>
            </a:solidFill>
          </p:spPr>
          <p:txBody>
            <a:bodyPr wrap="square" lIns="0" tIns="0" rIns="0" bIns="0" rtlCol="0"/>
            <a:lstStyle/>
            <a:p/>
          </p:txBody>
        </p:sp>
        <p:sp>
          <p:nvSpPr>
            <p:cNvPr id="13" name="object 13"/>
            <p:cNvSpPr/>
            <p:nvPr/>
          </p:nvSpPr>
          <p:spPr>
            <a:xfrm>
              <a:off x="5951220" y="3047999"/>
              <a:ext cx="2011680" cy="1173480"/>
            </a:xfrm>
            <a:custGeom>
              <a:avLst/>
              <a:gdLst/>
              <a:ahLst/>
              <a:cxnLst/>
              <a:rect l="l" t="t" r="r" b="b"/>
              <a:pathLst>
                <a:path w="2011679" h="1173479">
                  <a:moveTo>
                    <a:pt x="0" y="0"/>
                  </a:moveTo>
                  <a:lnTo>
                    <a:pt x="2011680" y="0"/>
                  </a:lnTo>
                  <a:lnTo>
                    <a:pt x="2011680" y="1173479"/>
                  </a:lnTo>
                  <a:lnTo>
                    <a:pt x="0" y="1173479"/>
                  </a:lnTo>
                  <a:lnTo>
                    <a:pt x="0" y="0"/>
                  </a:lnTo>
                  <a:close/>
                </a:path>
              </a:pathLst>
            </a:custGeom>
            <a:ln w="10668">
              <a:solidFill>
                <a:srgbClr val="000000"/>
              </a:solidFill>
            </a:ln>
          </p:spPr>
          <p:txBody>
            <a:bodyPr wrap="square" lIns="0" tIns="0" rIns="0" bIns="0" rtlCol="0"/>
            <a:lstStyle/>
            <a:p/>
          </p:txBody>
        </p:sp>
      </p:grpSp>
      <p:sp>
        <p:nvSpPr>
          <p:cNvPr id="14" name="object 14"/>
          <p:cNvSpPr txBox="1"/>
          <p:nvPr/>
        </p:nvSpPr>
        <p:spPr>
          <a:xfrm>
            <a:off x="5955257" y="3458996"/>
            <a:ext cx="864869" cy="360680"/>
          </a:xfrm>
          <a:prstGeom prst="rect">
            <a:avLst/>
          </a:prstGeom>
        </p:spPr>
        <p:txBody>
          <a:bodyPr vert="horz" wrap="square" lIns="0" tIns="12065" rIns="0" bIns="0" rtlCol="0">
            <a:spAutoFit/>
          </a:bodyPr>
          <a:lstStyle/>
          <a:p>
            <a:pPr marL="12700">
              <a:lnSpc>
                <a:spcPct val="100000"/>
              </a:lnSpc>
              <a:spcBef>
                <a:spcPts val="95"/>
              </a:spcBef>
            </a:pPr>
            <a:r>
              <a:rPr sz="2200" i="1" dirty="0">
                <a:latin typeface="Arial" panose="020B0604020202020204"/>
                <a:cs typeface="Arial" panose="020B0604020202020204"/>
              </a:rPr>
              <a:t>p</a:t>
            </a:r>
            <a:r>
              <a:rPr sz="2200" i="1" spc="-5" dirty="0">
                <a:latin typeface="Arial" panose="020B0604020202020204"/>
                <a:cs typeface="Arial" panose="020B0604020202020204"/>
              </a:rPr>
              <a:t>f</a:t>
            </a:r>
            <a:r>
              <a:rPr sz="2200" i="1" spc="-20" dirty="0">
                <a:latin typeface="Arial" panose="020B0604020202020204"/>
                <a:cs typeface="Arial" panose="020B0604020202020204"/>
              </a:rPr>
              <a:t>d</a:t>
            </a:r>
            <a:r>
              <a:rPr sz="2200" i="1" spc="15" dirty="0">
                <a:latin typeface="Arial" panose="020B0604020202020204"/>
                <a:cs typeface="Arial" panose="020B0604020202020204"/>
              </a:rPr>
              <a:t>s</a:t>
            </a:r>
            <a:r>
              <a:rPr sz="2200" i="1" spc="-25" dirty="0">
                <a:latin typeface="Arial" panose="020B0604020202020204"/>
                <a:cs typeface="Arial" panose="020B0604020202020204"/>
              </a:rPr>
              <a:t>[</a:t>
            </a:r>
            <a:r>
              <a:rPr sz="2200" i="1" dirty="0">
                <a:latin typeface="Arial" panose="020B0604020202020204"/>
                <a:cs typeface="Arial" panose="020B0604020202020204"/>
              </a:rPr>
              <a:t>1</a:t>
            </a:r>
            <a:r>
              <a:rPr sz="2200" i="1" spc="-5" dirty="0">
                <a:latin typeface="Arial" panose="020B0604020202020204"/>
                <a:cs typeface="Arial" panose="020B0604020202020204"/>
              </a:rPr>
              <a:t>]</a:t>
            </a:r>
            <a:endParaRPr sz="2200">
              <a:latin typeface="Arial" panose="020B0604020202020204"/>
              <a:cs typeface="Arial" panose="020B0604020202020204"/>
            </a:endParaRPr>
          </a:p>
        </p:txBody>
      </p:sp>
      <p:sp>
        <p:nvSpPr>
          <p:cNvPr id="15" name="object 15"/>
          <p:cNvSpPr txBox="1"/>
          <p:nvPr/>
        </p:nvSpPr>
        <p:spPr>
          <a:xfrm>
            <a:off x="7057066" y="3161722"/>
            <a:ext cx="864869" cy="360680"/>
          </a:xfrm>
          <a:prstGeom prst="rect">
            <a:avLst/>
          </a:prstGeom>
        </p:spPr>
        <p:txBody>
          <a:bodyPr vert="horz" wrap="square" lIns="0" tIns="12065" rIns="0" bIns="0" rtlCol="0">
            <a:spAutoFit/>
          </a:bodyPr>
          <a:lstStyle/>
          <a:p>
            <a:pPr marL="12700">
              <a:lnSpc>
                <a:spcPct val="100000"/>
              </a:lnSpc>
              <a:spcBef>
                <a:spcPts val="95"/>
              </a:spcBef>
            </a:pPr>
            <a:r>
              <a:rPr sz="2200" i="1" dirty="0">
                <a:latin typeface="Arial" panose="020B0604020202020204"/>
                <a:cs typeface="Arial" panose="020B0604020202020204"/>
              </a:rPr>
              <a:t>p</a:t>
            </a:r>
            <a:r>
              <a:rPr sz="2200" i="1" spc="-5" dirty="0">
                <a:latin typeface="Arial" panose="020B0604020202020204"/>
                <a:cs typeface="Arial" panose="020B0604020202020204"/>
              </a:rPr>
              <a:t>f</a:t>
            </a:r>
            <a:r>
              <a:rPr sz="2200" i="1" spc="-20" dirty="0">
                <a:latin typeface="Arial" panose="020B0604020202020204"/>
                <a:cs typeface="Arial" panose="020B0604020202020204"/>
              </a:rPr>
              <a:t>d</a:t>
            </a:r>
            <a:r>
              <a:rPr sz="2200" i="1" spc="15" dirty="0">
                <a:latin typeface="Arial" panose="020B0604020202020204"/>
                <a:cs typeface="Arial" panose="020B0604020202020204"/>
              </a:rPr>
              <a:t>s</a:t>
            </a:r>
            <a:r>
              <a:rPr sz="2200" i="1" spc="-25" dirty="0">
                <a:latin typeface="Arial" panose="020B0604020202020204"/>
                <a:cs typeface="Arial" panose="020B0604020202020204"/>
              </a:rPr>
              <a:t>[</a:t>
            </a:r>
            <a:r>
              <a:rPr sz="2200" i="1" dirty="0">
                <a:latin typeface="Arial" panose="020B0604020202020204"/>
                <a:cs typeface="Arial" panose="020B0604020202020204"/>
              </a:rPr>
              <a:t>0</a:t>
            </a:r>
            <a:r>
              <a:rPr sz="2200" i="1" spc="-5" dirty="0">
                <a:latin typeface="Arial" panose="020B0604020202020204"/>
                <a:cs typeface="Arial" panose="020B0604020202020204"/>
              </a:rPr>
              <a:t>]</a:t>
            </a:r>
            <a:endParaRPr sz="2200">
              <a:latin typeface="Arial" panose="020B0604020202020204"/>
              <a:cs typeface="Arial" panose="020B0604020202020204"/>
            </a:endParaRPr>
          </a:p>
        </p:txBody>
      </p:sp>
      <p:sp>
        <p:nvSpPr>
          <p:cNvPr id="16" name="object 16"/>
          <p:cNvSpPr/>
          <p:nvPr/>
        </p:nvSpPr>
        <p:spPr>
          <a:xfrm>
            <a:off x="3012935" y="3630180"/>
            <a:ext cx="5207635" cy="2231390"/>
          </a:xfrm>
          <a:custGeom>
            <a:avLst/>
            <a:gdLst/>
            <a:ahLst/>
            <a:cxnLst/>
            <a:rect l="l" t="t" r="r" b="b"/>
            <a:pathLst>
              <a:path w="5207634" h="2231390">
                <a:moveTo>
                  <a:pt x="2939808" y="10668"/>
                </a:moveTo>
                <a:lnTo>
                  <a:pt x="2938272" y="0"/>
                </a:lnTo>
                <a:lnTo>
                  <a:pt x="2801112" y="1524"/>
                </a:lnTo>
                <a:lnTo>
                  <a:pt x="2663952" y="6096"/>
                </a:lnTo>
                <a:lnTo>
                  <a:pt x="2526792" y="13716"/>
                </a:lnTo>
                <a:lnTo>
                  <a:pt x="2391156" y="24384"/>
                </a:lnTo>
                <a:lnTo>
                  <a:pt x="2257044" y="38100"/>
                </a:lnTo>
                <a:lnTo>
                  <a:pt x="2122932" y="54864"/>
                </a:lnTo>
                <a:lnTo>
                  <a:pt x="1990344" y="74676"/>
                </a:lnTo>
                <a:lnTo>
                  <a:pt x="1860804" y="96012"/>
                </a:lnTo>
                <a:lnTo>
                  <a:pt x="1732788" y="118872"/>
                </a:lnTo>
                <a:lnTo>
                  <a:pt x="1484376" y="173736"/>
                </a:lnTo>
                <a:lnTo>
                  <a:pt x="1248156" y="237744"/>
                </a:lnTo>
                <a:lnTo>
                  <a:pt x="1135380" y="272796"/>
                </a:lnTo>
                <a:lnTo>
                  <a:pt x="1025652" y="309372"/>
                </a:lnTo>
                <a:lnTo>
                  <a:pt x="920496" y="347472"/>
                </a:lnTo>
                <a:lnTo>
                  <a:pt x="819912" y="387096"/>
                </a:lnTo>
                <a:lnTo>
                  <a:pt x="722376" y="428244"/>
                </a:lnTo>
                <a:lnTo>
                  <a:pt x="630936" y="470916"/>
                </a:lnTo>
                <a:lnTo>
                  <a:pt x="544068" y="515112"/>
                </a:lnTo>
                <a:lnTo>
                  <a:pt x="463296" y="560832"/>
                </a:lnTo>
                <a:lnTo>
                  <a:pt x="387096" y="608076"/>
                </a:lnTo>
                <a:lnTo>
                  <a:pt x="352044" y="630936"/>
                </a:lnTo>
                <a:lnTo>
                  <a:pt x="316992" y="655320"/>
                </a:lnTo>
                <a:lnTo>
                  <a:pt x="284988" y="679704"/>
                </a:lnTo>
                <a:lnTo>
                  <a:pt x="254508" y="704088"/>
                </a:lnTo>
                <a:lnTo>
                  <a:pt x="196596" y="752856"/>
                </a:lnTo>
                <a:lnTo>
                  <a:pt x="146304" y="803148"/>
                </a:lnTo>
                <a:lnTo>
                  <a:pt x="103632" y="854964"/>
                </a:lnTo>
                <a:lnTo>
                  <a:pt x="83820" y="879348"/>
                </a:lnTo>
                <a:lnTo>
                  <a:pt x="67056" y="905256"/>
                </a:lnTo>
                <a:lnTo>
                  <a:pt x="51816" y="931164"/>
                </a:lnTo>
                <a:lnTo>
                  <a:pt x="38100" y="957072"/>
                </a:lnTo>
                <a:lnTo>
                  <a:pt x="27432" y="984504"/>
                </a:lnTo>
                <a:lnTo>
                  <a:pt x="16764" y="1010412"/>
                </a:lnTo>
                <a:lnTo>
                  <a:pt x="9144" y="1036320"/>
                </a:lnTo>
                <a:lnTo>
                  <a:pt x="4572" y="1062228"/>
                </a:lnTo>
                <a:lnTo>
                  <a:pt x="1524" y="1089660"/>
                </a:lnTo>
                <a:lnTo>
                  <a:pt x="0" y="1115568"/>
                </a:lnTo>
                <a:lnTo>
                  <a:pt x="0" y="1167384"/>
                </a:lnTo>
                <a:lnTo>
                  <a:pt x="1524" y="1220724"/>
                </a:lnTo>
                <a:lnTo>
                  <a:pt x="3048" y="1272540"/>
                </a:lnTo>
                <a:lnTo>
                  <a:pt x="6096" y="1322832"/>
                </a:lnTo>
                <a:lnTo>
                  <a:pt x="9055" y="1373124"/>
                </a:lnTo>
                <a:lnTo>
                  <a:pt x="12192" y="1424940"/>
                </a:lnTo>
                <a:lnTo>
                  <a:pt x="16764" y="1475232"/>
                </a:lnTo>
                <a:lnTo>
                  <a:pt x="21336" y="1524000"/>
                </a:lnTo>
                <a:lnTo>
                  <a:pt x="27432" y="1572768"/>
                </a:lnTo>
                <a:lnTo>
                  <a:pt x="39624" y="1667256"/>
                </a:lnTo>
                <a:lnTo>
                  <a:pt x="47244" y="1711452"/>
                </a:lnTo>
                <a:lnTo>
                  <a:pt x="53340" y="1755648"/>
                </a:lnTo>
                <a:lnTo>
                  <a:pt x="62484" y="1799844"/>
                </a:lnTo>
                <a:lnTo>
                  <a:pt x="70104" y="1840992"/>
                </a:lnTo>
                <a:lnTo>
                  <a:pt x="79248" y="1880616"/>
                </a:lnTo>
                <a:lnTo>
                  <a:pt x="88392" y="1918716"/>
                </a:lnTo>
                <a:lnTo>
                  <a:pt x="97536" y="1955292"/>
                </a:lnTo>
                <a:lnTo>
                  <a:pt x="106680" y="1990344"/>
                </a:lnTo>
                <a:lnTo>
                  <a:pt x="117348" y="2022348"/>
                </a:lnTo>
                <a:lnTo>
                  <a:pt x="126492" y="2054352"/>
                </a:lnTo>
                <a:lnTo>
                  <a:pt x="137160" y="2083308"/>
                </a:lnTo>
                <a:lnTo>
                  <a:pt x="143256" y="2095500"/>
                </a:lnTo>
                <a:lnTo>
                  <a:pt x="149352" y="2109216"/>
                </a:lnTo>
                <a:lnTo>
                  <a:pt x="153924" y="2121408"/>
                </a:lnTo>
                <a:lnTo>
                  <a:pt x="160020" y="2133600"/>
                </a:lnTo>
                <a:lnTo>
                  <a:pt x="164592" y="2144268"/>
                </a:lnTo>
                <a:lnTo>
                  <a:pt x="176784" y="2165604"/>
                </a:lnTo>
                <a:lnTo>
                  <a:pt x="182880" y="2174748"/>
                </a:lnTo>
                <a:lnTo>
                  <a:pt x="182880" y="2176272"/>
                </a:lnTo>
                <a:lnTo>
                  <a:pt x="187172" y="2179701"/>
                </a:lnTo>
                <a:lnTo>
                  <a:pt x="164592" y="2209800"/>
                </a:lnTo>
                <a:lnTo>
                  <a:pt x="256032" y="2226564"/>
                </a:lnTo>
                <a:lnTo>
                  <a:pt x="237337" y="2188464"/>
                </a:lnTo>
                <a:lnTo>
                  <a:pt x="214884" y="2142744"/>
                </a:lnTo>
                <a:lnTo>
                  <a:pt x="193992" y="2170607"/>
                </a:lnTo>
                <a:lnTo>
                  <a:pt x="192024" y="2168652"/>
                </a:lnTo>
                <a:lnTo>
                  <a:pt x="191008" y="2167128"/>
                </a:lnTo>
                <a:lnTo>
                  <a:pt x="179832" y="2150364"/>
                </a:lnTo>
                <a:lnTo>
                  <a:pt x="175260" y="2139696"/>
                </a:lnTo>
                <a:lnTo>
                  <a:pt x="169164" y="2129028"/>
                </a:lnTo>
                <a:lnTo>
                  <a:pt x="163068" y="2116836"/>
                </a:lnTo>
                <a:lnTo>
                  <a:pt x="158496" y="2104644"/>
                </a:lnTo>
                <a:lnTo>
                  <a:pt x="152400" y="2092452"/>
                </a:lnTo>
                <a:lnTo>
                  <a:pt x="147828" y="2078736"/>
                </a:lnTo>
                <a:lnTo>
                  <a:pt x="137160" y="2051304"/>
                </a:lnTo>
                <a:lnTo>
                  <a:pt x="126492" y="2019300"/>
                </a:lnTo>
                <a:lnTo>
                  <a:pt x="117348" y="1987296"/>
                </a:lnTo>
                <a:lnTo>
                  <a:pt x="106680" y="1952244"/>
                </a:lnTo>
                <a:lnTo>
                  <a:pt x="97536" y="1915668"/>
                </a:lnTo>
                <a:lnTo>
                  <a:pt x="88392" y="1877568"/>
                </a:lnTo>
                <a:lnTo>
                  <a:pt x="80772" y="1837944"/>
                </a:lnTo>
                <a:lnTo>
                  <a:pt x="71628" y="1796796"/>
                </a:lnTo>
                <a:lnTo>
                  <a:pt x="64008" y="1754124"/>
                </a:lnTo>
                <a:lnTo>
                  <a:pt x="56388" y="1709928"/>
                </a:lnTo>
                <a:lnTo>
                  <a:pt x="50292" y="1665732"/>
                </a:lnTo>
                <a:lnTo>
                  <a:pt x="38100" y="1571244"/>
                </a:lnTo>
                <a:lnTo>
                  <a:pt x="32004" y="1522476"/>
                </a:lnTo>
                <a:lnTo>
                  <a:pt x="22860" y="1424940"/>
                </a:lnTo>
                <a:lnTo>
                  <a:pt x="19913" y="1374648"/>
                </a:lnTo>
                <a:lnTo>
                  <a:pt x="16764" y="1322832"/>
                </a:lnTo>
                <a:lnTo>
                  <a:pt x="13716" y="1271016"/>
                </a:lnTo>
                <a:lnTo>
                  <a:pt x="10668" y="1167384"/>
                </a:lnTo>
                <a:lnTo>
                  <a:pt x="10668" y="1115568"/>
                </a:lnTo>
                <a:lnTo>
                  <a:pt x="15240" y="1065276"/>
                </a:lnTo>
                <a:lnTo>
                  <a:pt x="27432" y="1013460"/>
                </a:lnTo>
                <a:lnTo>
                  <a:pt x="47244" y="963168"/>
                </a:lnTo>
                <a:lnTo>
                  <a:pt x="76200" y="911352"/>
                </a:lnTo>
                <a:lnTo>
                  <a:pt x="111252" y="861060"/>
                </a:lnTo>
                <a:lnTo>
                  <a:pt x="153924" y="810768"/>
                </a:lnTo>
                <a:lnTo>
                  <a:pt x="204216" y="760476"/>
                </a:lnTo>
                <a:lnTo>
                  <a:pt x="260604" y="711708"/>
                </a:lnTo>
                <a:lnTo>
                  <a:pt x="291084" y="687324"/>
                </a:lnTo>
                <a:lnTo>
                  <a:pt x="323088" y="664464"/>
                </a:lnTo>
                <a:lnTo>
                  <a:pt x="358140" y="640080"/>
                </a:lnTo>
                <a:lnTo>
                  <a:pt x="393192" y="617220"/>
                </a:lnTo>
                <a:lnTo>
                  <a:pt x="467868" y="569976"/>
                </a:lnTo>
                <a:lnTo>
                  <a:pt x="548640" y="525780"/>
                </a:lnTo>
                <a:lnTo>
                  <a:pt x="635508" y="481584"/>
                </a:lnTo>
                <a:lnTo>
                  <a:pt x="726948" y="438912"/>
                </a:lnTo>
                <a:lnTo>
                  <a:pt x="822960" y="397764"/>
                </a:lnTo>
                <a:lnTo>
                  <a:pt x="923544" y="356616"/>
                </a:lnTo>
                <a:lnTo>
                  <a:pt x="1028700" y="318516"/>
                </a:lnTo>
                <a:lnTo>
                  <a:pt x="1138428" y="281940"/>
                </a:lnTo>
                <a:lnTo>
                  <a:pt x="1367028" y="214884"/>
                </a:lnTo>
                <a:lnTo>
                  <a:pt x="1487424" y="184404"/>
                </a:lnTo>
                <a:lnTo>
                  <a:pt x="1609344" y="155448"/>
                </a:lnTo>
                <a:lnTo>
                  <a:pt x="1734312" y="129540"/>
                </a:lnTo>
                <a:lnTo>
                  <a:pt x="1862328" y="105156"/>
                </a:lnTo>
                <a:lnTo>
                  <a:pt x="1991868" y="83820"/>
                </a:lnTo>
                <a:lnTo>
                  <a:pt x="2124456" y="65532"/>
                </a:lnTo>
                <a:lnTo>
                  <a:pt x="2257044" y="48768"/>
                </a:lnTo>
                <a:lnTo>
                  <a:pt x="2392680" y="35052"/>
                </a:lnTo>
                <a:lnTo>
                  <a:pt x="2528316" y="24384"/>
                </a:lnTo>
                <a:lnTo>
                  <a:pt x="2663952" y="16764"/>
                </a:lnTo>
                <a:lnTo>
                  <a:pt x="2801112" y="12192"/>
                </a:lnTo>
                <a:lnTo>
                  <a:pt x="2939808" y="10668"/>
                </a:lnTo>
                <a:close/>
              </a:path>
              <a:path w="5207634" h="2231390">
                <a:moveTo>
                  <a:pt x="5207520" y="1063739"/>
                </a:moveTo>
                <a:lnTo>
                  <a:pt x="5204472" y="960107"/>
                </a:lnTo>
                <a:lnTo>
                  <a:pt x="5201424" y="908291"/>
                </a:lnTo>
                <a:lnTo>
                  <a:pt x="5198376" y="857999"/>
                </a:lnTo>
                <a:lnTo>
                  <a:pt x="5195328" y="806183"/>
                </a:lnTo>
                <a:lnTo>
                  <a:pt x="5190756" y="757415"/>
                </a:lnTo>
                <a:lnTo>
                  <a:pt x="5186184" y="707123"/>
                </a:lnTo>
                <a:lnTo>
                  <a:pt x="5180088" y="659879"/>
                </a:lnTo>
                <a:lnTo>
                  <a:pt x="5173992" y="611111"/>
                </a:lnTo>
                <a:lnTo>
                  <a:pt x="5167896" y="565391"/>
                </a:lnTo>
                <a:lnTo>
                  <a:pt x="5160276" y="519671"/>
                </a:lnTo>
                <a:lnTo>
                  <a:pt x="5154180" y="475475"/>
                </a:lnTo>
                <a:lnTo>
                  <a:pt x="5145036" y="432803"/>
                </a:lnTo>
                <a:lnTo>
                  <a:pt x="5137416" y="391655"/>
                </a:lnTo>
                <a:lnTo>
                  <a:pt x="5128272" y="350507"/>
                </a:lnTo>
                <a:lnTo>
                  <a:pt x="5119128" y="312407"/>
                </a:lnTo>
                <a:lnTo>
                  <a:pt x="5100840" y="242303"/>
                </a:lnTo>
                <a:lnTo>
                  <a:pt x="5079504" y="178295"/>
                </a:lnTo>
                <a:lnTo>
                  <a:pt x="5070360" y="149339"/>
                </a:lnTo>
                <a:lnTo>
                  <a:pt x="5064264" y="135623"/>
                </a:lnTo>
                <a:lnTo>
                  <a:pt x="5058168" y="123431"/>
                </a:lnTo>
                <a:lnTo>
                  <a:pt x="5053596" y="109715"/>
                </a:lnTo>
                <a:lnTo>
                  <a:pt x="5047500" y="99047"/>
                </a:lnTo>
                <a:lnTo>
                  <a:pt x="5041404" y="86855"/>
                </a:lnTo>
                <a:lnTo>
                  <a:pt x="5036832" y="76187"/>
                </a:lnTo>
                <a:lnTo>
                  <a:pt x="5028704" y="63995"/>
                </a:lnTo>
                <a:lnTo>
                  <a:pt x="5027688" y="62471"/>
                </a:lnTo>
                <a:lnTo>
                  <a:pt x="5024640" y="57899"/>
                </a:lnTo>
                <a:lnTo>
                  <a:pt x="5024640" y="56375"/>
                </a:lnTo>
                <a:lnTo>
                  <a:pt x="5020348" y="52946"/>
                </a:lnTo>
                <a:lnTo>
                  <a:pt x="5026926" y="44183"/>
                </a:lnTo>
                <a:lnTo>
                  <a:pt x="5042928" y="22847"/>
                </a:lnTo>
                <a:lnTo>
                  <a:pt x="4949964" y="4559"/>
                </a:lnTo>
                <a:lnTo>
                  <a:pt x="4992636" y="89903"/>
                </a:lnTo>
                <a:lnTo>
                  <a:pt x="5014049" y="61353"/>
                </a:lnTo>
                <a:lnTo>
                  <a:pt x="5015763" y="62890"/>
                </a:lnTo>
                <a:lnTo>
                  <a:pt x="5021592" y="71615"/>
                </a:lnTo>
                <a:lnTo>
                  <a:pt x="5027688" y="82283"/>
                </a:lnTo>
                <a:lnTo>
                  <a:pt x="5038356" y="103619"/>
                </a:lnTo>
                <a:lnTo>
                  <a:pt x="5044452" y="114287"/>
                </a:lnTo>
                <a:lnTo>
                  <a:pt x="5049024" y="126479"/>
                </a:lnTo>
                <a:lnTo>
                  <a:pt x="5055120" y="140195"/>
                </a:lnTo>
                <a:lnTo>
                  <a:pt x="5059692" y="152387"/>
                </a:lnTo>
                <a:lnTo>
                  <a:pt x="5070360" y="181343"/>
                </a:lnTo>
                <a:lnTo>
                  <a:pt x="5081028" y="211823"/>
                </a:lnTo>
                <a:lnTo>
                  <a:pt x="5090172" y="243827"/>
                </a:lnTo>
                <a:lnTo>
                  <a:pt x="5100840" y="278879"/>
                </a:lnTo>
                <a:lnTo>
                  <a:pt x="5109984" y="315455"/>
                </a:lnTo>
                <a:lnTo>
                  <a:pt x="5119128" y="353555"/>
                </a:lnTo>
                <a:lnTo>
                  <a:pt x="5126748" y="393179"/>
                </a:lnTo>
                <a:lnTo>
                  <a:pt x="5135892" y="434327"/>
                </a:lnTo>
                <a:lnTo>
                  <a:pt x="5143512" y="476999"/>
                </a:lnTo>
                <a:lnTo>
                  <a:pt x="5151132" y="521195"/>
                </a:lnTo>
                <a:lnTo>
                  <a:pt x="5163324" y="612635"/>
                </a:lnTo>
                <a:lnTo>
                  <a:pt x="5169420" y="659879"/>
                </a:lnTo>
                <a:lnTo>
                  <a:pt x="5175516" y="708647"/>
                </a:lnTo>
                <a:lnTo>
                  <a:pt x="5180088" y="757415"/>
                </a:lnTo>
                <a:lnTo>
                  <a:pt x="5184660" y="807707"/>
                </a:lnTo>
                <a:lnTo>
                  <a:pt x="5190756" y="908291"/>
                </a:lnTo>
                <a:lnTo>
                  <a:pt x="5193804" y="960107"/>
                </a:lnTo>
                <a:lnTo>
                  <a:pt x="5196852" y="1063739"/>
                </a:lnTo>
                <a:lnTo>
                  <a:pt x="5196852" y="1115555"/>
                </a:lnTo>
                <a:lnTo>
                  <a:pt x="5193804" y="1167371"/>
                </a:lnTo>
                <a:lnTo>
                  <a:pt x="5184660" y="1219187"/>
                </a:lnTo>
                <a:lnTo>
                  <a:pt x="5167896" y="1269479"/>
                </a:lnTo>
                <a:lnTo>
                  <a:pt x="5146560" y="1321295"/>
                </a:lnTo>
                <a:lnTo>
                  <a:pt x="5119128" y="1371587"/>
                </a:lnTo>
                <a:lnTo>
                  <a:pt x="5085600" y="1421879"/>
                </a:lnTo>
                <a:lnTo>
                  <a:pt x="5047500" y="1470647"/>
                </a:lnTo>
                <a:lnTo>
                  <a:pt x="5003304" y="1519415"/>
                </a:lnTo>
                <a:lnTo>
                  <a:pt x="4956060" y="1568183"/>
                </a:lnTo>
                <a:lnTo>
                  <a:pt x="4901196" y="1615427"/>
                </a:lnTo>
                <a:lnTo>
                  <a:pt x="4843284" y="1661147"/>
                </a:lnTo>
                <a:lnTo>
                  <a:pt x="4782324" y="1706867"/>
                </a:lnTo>
                <a:lnTo>
                  <a:pt x="4715268" y="1751063"/>
                </a:lnTo>
                <a:lnTo>
                  <a:pt x="4645164" y="1793735"/>
                </a:lnTo>
                <a:lnTo>
                  <a:pt x="4570488" y="1834883"/>
                </a:lnTo>
                <a:lnTo>
                  <a:pt x="4492764" y="1874507"/>
                </a:lnTo>
                <a:lnTo>
                  <a:pt x="4411992" y="1912607"/>
                </a:lnTo>
                <a:lnTo>
                  <a:pt x="4328172" y="1949183"/>
                </a:lnTo>
                <a:lnTo>
                  <a:pt x="4239780" y="1984235"/>
                </a:lnTo>
                <a:lnTo>
                  <a:pt x="4151388" y="2016239"/>
                </a:lnTo>
                <a:lnTo>
                  <a:pt x="4058424" y="2046719"/>
                </a:lnTo>
                <a:lnTo>
                  <a:pt x="3963936" y="2075675"/>
                </a:lnTo>
                <a:lnTo>
                  <a:pt x="3867924" y="2101583"/>
                </a:lnTo>
                <a:lnTo>
                  <a:pt x="3768864" y="2125967"/>
                </a:lnTo>
                <a:lnTo>
                  <a:pt x="3668280" y="2147303"/>
                </a:lnTo>
                <a:lnTo>
                  <a:pt x="3567696" y="2167115"/>
                </a:lnTo>
                <a:lnTo>
                  <a:pt x="3464064" y="2182355"/>
                </a:lnTo>
                <a:lnTo>
                  <a:pt x="3360432" y="2196071"/>
                </a:lnTo>
                <a:lnTo>
                  <a:pt x="3255276" y="2206739"/>
                </a:lnTo>
                <a:lnTo>
                  <a:pt x="3150120" y="2214359"/>
                </a:lnTo>
                <a:lnTo>
                  <a:pt x="3044964" y="2218931"/>
                </a:lnTo>
                <a:lnTo>
                  <a:pt x="2938272" y="2221979"/>
                </a:lnTo>
                <a:lnTo>
                  <a:pt x="2939808" y="2231123"/>
                </a:lnTo>
                <a:lnTo>
                  <a:pt x="3044964" y="2229599"/>
                </a:lnTo>
                <a:lnTo>
                  <a:pt x="3151644" y="2225027"/>
                </a:lnTo>
                <a:lnTo>
                  <a:pt x="3256800" y="2217407"/>
                </a:lnTo>
                <a:lnTo>
                  <a:pt x="3361956" y="2206739"/>
                </a:lnTo>
                <a:lnTo>
                  <a:pt x="3465588" y="2193023"/>
                </a:lnTo>
                <a:lnTo>
                  <a:pt x="3569220" y="2176259"/>
                </a:lnTo>
                <a:lnTo>
                  <a:pt x="3671328" y="2157971"/>
                </a:lnTo>
                <a:lnTo>
                  <a:pt x="3770388" y="2136635"/>
                </a:lnTo>
                <a:lnTo>
                  <a:pt x="3869448" y="2112251"/>
                </a:lnTo>
                <a:lnTo>
                  <a:pt x="3966984" y="2086343"/>
                </a:lnTo>
                <a:lnTo>
                  <a:pt x="4061472" y="2057387"/>
                </a:lnTo>
                <a:lnTo>
                  <a:pt x="4154436" y="2026907"/>
                </a:lnTo>
                <a:lnTo>
                  <a:pt x="4244352" y="1993379"/>
                </a:lnTo>
                <a:lnTo>
                  <a:pt x="4331220" y="1958327"/>
                </a:lnTo>
                <a:lnTo>
                  <a:pt x="4416564" y="1921751"/>
                </a:lnTo>
                <a:lnTo>
                  <a:pt x="4497336" y="1883651"/>
                </a:lnTo>
                <a:lnTo>
                  <a:pt x="4575060" y="1844027"/>
                </a:lnTo>
                <a:lnTo>
                  <a:pt x="4649736" y="1802879"/>
                </a:lnTo>
                <a:lnTo>
                  <a:pt x="4719840" y="1760207"/>
                </a:lnTo>
                <a:lnTo>
                  <a:pt x="4786896" y="1716011"/>
                </a:lnTo>
                <a:lnTo>
                  <a:pt x="4849380" y="1670291"/>
                </a:lnTo>
                <a:lnTo>
                  <a:pt x="4908816" y="1623047"/>
                </a:lnTo>
                <a:lnTo>
                  <a:pt x="4962156" y="1575803"/>
                </a:lnTo>
                <a:lnTo>
                  <a:pt x="5010924" y="1527035"/>
                </a:lnTo>
                <a:lnTo>
                  <a:pt x="5055120" y="1478267"/>
                </a:lnTo>
                <a:lnTo>
                  <a:pt x="5094744" y="1427975"/>
                </a:lnTo>
                <a:lnTo>
                  <a:pt x="5128272" y="1377683"/>
                </a:lnTo>
                <a:lnTo>
                  <a:pt x="5155704" y="1325867"/>
                </a:lnTo>
                <a:lnTo>
                  <a:pt x="5178564" y="1274051"/>
                </a:lnTo>
                <a:lnTo>
                  <a:pt x="5193804" y="1220711"/>
                </a:lnTo>
                <a:lnTo>
                  <a:pt x="5204472" y="1168895"/>
                </a:lnTo>
                <a:lnTo>
                  <a:pt x="5207520" y="1115555"/>
                </a:lnTo>
                <a:lnTo>
                  <a:pt x="5207520" y="1063739"/>
                </a:lnTo>
                <a:close/>
              </a:path>
            </a:pathLst>
          </a:custGeom>
          <a:solidFill>
            <a:srgbClr val="000000"/>
          </a:solidFill>
        </p:spPr>
        <p:txBody>
          <a:bodyPr wrap="square" lIns="0" tIns="0" rIns="0" bIns="0" rtlCol="0"/>
          <a:lstStyle/>
          <a:p/>
        </p:txBody>
      </p:sp>
      <p:sp>
        <p:nvSpPr>
          <p:cNvPr id="17" name="object 17"/>
          <p:cNvSpPr txBox="1"/>
          <p:nvPr/>
        </p:nvSpPr>
        <p:spPr>
          <a:xfrm>
            <a:off x="6458159" y="2575072"/>
            <a:ext cx="663575" cy="360680"/>
          </a:xfrm>
          <a:prstGeom prst="rect">
            <a:avLst/>
          </a:prstGeom>
        </p:spPr>
        <p:txBody>
          <a:bodyPr vert="horz" wrap="square" lIns="0" tIns="12065" rIns="0" bIns="0" rtlCol="0">
            <a:spAutoFit/>
          </a:bodyPr>
          <a:lstStyle/>
          <a:p>
            <a:pPr marL="12700">
              <a:lnSpc>
                <a:spcPct val="100000"/>
              </a:lnSpc>
              <a:spcBef>
                <a:spcPts val="95"/>
              </a:spcBef>
            </a:pPr>
            <a:r>
              <a:rPr sz="2200" i="1" spc="-10" dirty="0">
                <a:latin typeface="Arial" panose="020B0604020202020204"/>
                <a:cs typeface="Arial" panose="020B0604020202020204"/>
              </a:rPr>
              <a:t>C</a:t>
            </a:r>
            <a:r>
              <a:rPr sz="2200" i="1" dirty="0">
                <a:latin typeface="Arial" panose="020B0604020202020204"/>
                <a:cs typeface="Arial" panose="020B0604020202020204"/>
              </a:rPr>
              <a:t>h</a:t>
            </a:r>
            <a:r>
              <a:rPr sz="2200" i="1" spc="-10" dirty="0">
                <a:latin typeface="Arial" panose="020B0604020202020204"/>
                <a:cs typeface="Arial" panose="020B0604020202020204"/>
              </a:rPr>
              <a:t>i</a:t>
            </a:r>
            <a:r>
              <a:rPr sz="2200" i="1" spc="10" dirty="0">
                <a:latin typeface="Arial" panose="020B0604020202020204"/>
                <a:cs typeface="Arial" panose="020B0604020202020204"/>
              </a:rPr>
              <a:t>l</a:t>
            </a:r>
            <a:r>
              <a:rPr sz="2200" i="1" spc="-5" dirty="0">
                <a:latin typeface="Arial" panose="020B0604020202020204"/>
                <a:cs typeface="Arial" panose="020B0604020202020204"/>
              </a:rPr>
              <a:t>d</a:t>
            </a:r>
            <a:endParaRPr sz="2200">
              <a:latin typeface="Arial" panose="020B0604020202020204"/>
              <a:cs typeface="Arial" panose="020B0604020202020204"/>
            </a:endParaRPr>
          </a:p>
        </p:txBody>
      </p:sp>
      <p:sp>
        <p:nvSpPr>
          <p:cNvPr id="18" name="object 18"/>
          <p:cNvSpPr txBox="1"/>
          <p:nvPr/>
        </p:nvSpPr>
        <p:spPr>
          <a:xfrm>
            <a:off x="1341119" y="3048000"/>
            <a:ext cx="2011680" cy="1173480"/>
          </a:xfrm>
          <a:prstGeom prst="rect">
            <a:avLst/>
          </a:prstGeom>
          <a:ln w="10668">
            <a:solidFill>
              <a:srgbClr val="000000"/>
            </a:solidFill>
          </a:ln>
        </p:spPr>
        <p:txBody>
          <a:bodyPr vert="horz" wrap="square" lIns="0" tIns="125730" rIns="0" bIns="0" rtlCol="0">
            <a:spAutoFit/>
          </a:bodyPr>
          <a:lstStyle/>
          <a:p>
            <a:pPr marL="1118235">
              <a:lnSpc>
                <a:spcPts val="2490"/>
              </a:lnSpc>
              <a:spcBef>
                <a:spcPts val="990"/>
              </a:spcBef>
            </a:pPr>
            <a:r>
              <a:rPr sz="2200" i="1" spc="-5" dirty="0">
                <a:latin typeface="Arial" panose="020B0604020202020204"/>
                <a:cs typeface="Arial" panose="020B0604020202020204"/>
              </a:rPr>
              <a:t>pfds[0]</a:t>
            </a:r>
            <a:endParaRPr sz="2200">
              <a:latin typeface="Arial" panose="020B0604020202020204"/>
              <a:cs typeface="Arial" panose="020B0604020202020204"/>
            </a:endParaRPr>
          </a:p>
          <a:p>
            <a:pPr marL="16510">
              <a:lnSpc>
                <a:spcPts val="2490"/>
              </a:lnSpc>
            </a:pPr>
            <a:r>
              <a:rPr sz="2200" i="1" spc="-5" dirty="0">
                <a:latin typeface="Arial" panose="020B0604020202020204"/>
                <a:cs typeface="Arial" panose="020B0604020202020204"/>
              </a:rPr>
              <a:t>pfds[1]</a:t>
            </a:r>
            <a:endParaRPr sz="2200">
              <a:latin typeface="Arial" panose="020B0604020202020204"/>
              <a:cs typeface="Arial" panose="020B0604020202020204"/>
            </a:endParaRPr>
          </a:p>
        </p:txBody>
      </p:sp>
      <p:sp>
        <p:nvSpPr>
          <p:cNvPr id="19" name="object 19"/>
          <p:cNvSpPr txBox="1"/>
          <p:nvPr/>
        </p:nvSpPr>
        <p:spPr>
          <a:xfrm>
            <a:off x="1680388" y="2575072"/>
            <a:ext cx="847725" cy="360680"/>
          </a:xfrm>
          <a:prstGeom prst="rect">
            <a:avLst/>
          </a:prstGeom>
        </p:spPr>
        <p:txBody>
          <a:bodyPr vert="horz" wrap="square" lIns="0" tIns="12065" rIns="0" bIns="0" rtlCol="0">
            <a:spAutoFit/>
          </a:bodyPr>
          <a:lstStyle/>
          <a:p>
            <a:pPr marL="12700">
              <a:lnSpc>
                <a:spcPct val="100000"/>
              </a:lnSpc>
              <a:spcBef>
                <a:spcPts val="95"/>
              </a:spcBef>
            </a:pPr>
            <a:r>
              <a:rPr sz="2200" i="1" dirty="0">
                <a:latin typeface="Arial" panose="020B0604020202020204"/>
                <a:cs typeface="Arial" panose="020B0604020202020204"/>
              </a:rPr>
              <a:t>P</a:t>
            </a:r>
            <a:r>
              <a:rPr sz="2200" i="1" spc="-20" dirty="0">
                <a:latin typeface="Arial" panose="020B0604020202020204"/>
                <a:cs typeface="Arial" panose="020B0604020202020204"/>
              </a:rPr>
              <a:t>a</a:t>
            </a:r>
            <a:r>
              <a:rPr sz="2200" i="1" spc="10" dirty="0">
                <a:latin typeface="Arial" panose="020B0604020202020204"/>
                <a:cs typeface="Arial" panose="020B0604020202020204"/>
              </a:rPr>
              <a:t>r</a:t>
            </a:r>
            <a:r>
              <a:rPr sz="2200" i="1" dirty="0">
                <a:latin typeface="Arial" panose="020B0604020202020204"/>
                <a:cs typeface="Arial" panose="020B0604020202020204"/>
              </a:rPr>
              <a:t>e</a:t>
            </a:r>
            <a:r>
              <a:rPr sz="2200" i="1" spc="-20" dirty="0">
                <a:latin typeface="Arial" panose="020B0604020202020204"/>
                <a:cs typeface="Arial" panose="020B0604020202020204"/>
              </a:rPr>
              <a:t>n</a:t>
            </a:r>
            <a:r>
              <a:rPr sz="2200" i="1" spc="-5" dirty="0">
                <a:latin typeface="Arial" panose="020B0604020202020204"/>
                <a:cs typeface="Arial" panose="020B0604020202020204"/>
              </a:rPr>
              <a:t>t</a:t>
            </a:r>
            <a:endParaRPr sz="2200">
              <a:latin typeface="Arial" panose="020B0604020202020204"/>
              <a:cs typeface="Arial" panose="020B0604020202020204"/>
            </a:endParaRPr>
          </a:p>
        </p:txBody>
      </p:sp>
      <p:sp>
        <p:nvSpPr>
          <p:cNvPr id="20" name="object 20"/>
          <p:cNvSpPr/>
          <p:nvPr/>
        </p:nvSpPr>
        <p:spPr>
          <a:xfrm>
            <a:off x="3436620" y="3342132"/>
            <a:ext cx="2346960" cy="83820"/>
          </a:xfrm>
          <a:custGeom>
            <a:avLst/>
            <a:gdLst/>
            <a:ahLst/>
            <a:cxnLst/>
            <a:rect l="l" t="t" r="r" b="b"/>
            <a:pathLst>
              <a:path w="2346960" h="83820">
                <a:moveTo>
                  <a:pt x="2263140" y="83820"/>
                </a:moveTo>
                <a:lnTo>
                  <a:pt x="2263140" y="0"/>
                </a:lnTo>
                <a:lnTo>
                  <a:pt x="2337646" y="36576"/>
                </a:lnTo>
                <a:lnTo>
                  <a:pt x="2278380" y="36576"/>
                </a:lnTo>
                <a:lnTo>
                  <a:pt x="2278380" y="47244"/>
                </a:lnTo>
                <a:lnTo>
                  <a:pt x="2334985" y="47244"/>
                </a:lnTo>
                <a:lnTo>
                  <a:pt x="2263140" y="83820"/>
                </a:lnTo>
                <a:close/>
              </a:path>
              <a:path w="2346960" h="83820">
                <a:moveTo>
                  <a:pt x="2263140" y="47244"/>
                </a:moveTo>
                <a:lnTo>
                  <a:pt x="0" y="47244"/>
                </a:lnTo>
                <a:lnTo>
                  <a:pt x="0" y="36576"/>
                </a:lnTo>
                <a:lnTo>
                  <a:pt x="2263140" y="36576"/>
                </a:lnTo>
                <a:lnTo>
                  <a:pt x="2263140" y="47244"/>
                </a:lnTo>
                <a:close/>
              </a:path>
              <a:path w="2346960" h="83820">
                <a:moveTo>
                  <a:pt x="2334985" y="47244"/>
                </a:moveTo>
                <a:lnTo>
                  <a:pt x="2278380" y="47244"/>
                </a:lnTo>
                <a:lnTo>
                  <a:pt x="2278380" y="36576"/>
                </a:lnTo>
                <a:lnTo>
                  <a:pt x="2337646" y="36576"/>
                </a:lnTo>
                <a:lnTo>
                  <a:pt x="2346960" y="41148"/>
                </a:lnTo>
                <a:lnTo>
                  <a:pt x="2334985" y="47244"/>
                </a:lnTo>
                <a:close/>
              </a:path>
            </a:pathLst>
          </a:custGeom>
          <a:solidFill>
            <a:srgbClr val="000000"/>
          </a:solidFill>
        </p:spPr>
        <p:txBody>
          <a:bodyPr wrap="square" lIns="0" tIns="0" rIns="0" bIns="0" rtlCol="0"/>
          <a:lstStyle/>
          <a:p/>
        </p:txBody>
      </p:sp>
      <p:sp>
        <p:nvSpPr>
          <p:cNvPr id="21" name="object 21"/>
          <p:cNvSpPr txBox="1"/>
          <p:nvPr/>
        </p:nvSpPr>
        <p:spPr>
          <a:xfrm>
            <a:off x="4067027" y="2910339"/>
            <a:ext cx="1080770" cy="360680"/>
          </a:xfrm>
          <a:prstGeom prst="rect">
            <a:avLst/>
          </a:prstGeom>
        </p:spPr>
        <p:txBody>
          <a:bodyPr vert="horz" wrap="square" lIns="0" tIns="12065" rIns="0" bIns="0" rtlCol="0">
            <a:spAutoFit/>
          </a:bodyPr>
          <a:lstStyle/>
          <a:p>
            <a:pPr marL="12700">
              <a:lnSpc>
                <a:spcPct val="100000"/>
              </a:lnSpc>
              <a:spcBef>
                <a:spcPts val="95"/>
              </a:spcBef>
            </a:pPr>
            <a:r>
              <a:rPr sz="2200" i="1" dirty="0">
                <a:latin typeface="Arial" panose="020B0604020202020204"/>
                <a:cs typeface="Arial" panose="020B0604020202020204"/>
              </a:rPr>
              <a:t>2.</a:t>
            </a:r>
            <a:r>
              <a:rPr sz="2200" i="1" spc="-80" dirty="0">
                <a:latin typeface="Arial" panose="020B0604020202020204"/>
                <a:cs typeface="Arial" panose="020B0604020202020204"/>
              </a:rPr>
              <a:t> </a:t>
            </a:r>
            <a:r>
              <a:rPr sz="2200" i="1" spc="-5" dirty="0">
                <a:latin typeface="Arial" panose="020B0604020202020204"/>
                <a:cs typeface="Arial" panose="020B0604020202020204"/>
              </a:rPr>
              <a:t>Fork()</a:t>
            </a:r>
            <a:endParaRPr sz="2200">
              <a:latin typeface="Arial" panose="020B0604020202020204"/>
              <a:cs typeface="Arial" panose="020B0604020202020204"/>
            </a:endParaRPr>
          </a:p>
        </p:txBody>
      </p:sp>
      <p:sp>
        <p:nvSpPr>
          <p:cNvPr id="24" name="object 24"/>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25" name="object 25"/>
          <p:cNvSpPr txBox="1"/>
          <p:nvPr/>
        </p:nvSpPr>
        <p:spPr>
          <a:xfrm>
            <a:off x="280400" y="7095872"/>
            <a:ext cx="262255" cy="212725"/>
          </a:xfrm>
          <a:prstGeom prst="rect">
            <a:avLst/>
          </a:prstGeom>
        </p:spPr>
        <p:txBody>
          <a:bodyPr vert="horz" wrap="square" lIns="0" tIns="0" rIns="0" bIns="0" rtlCol="0">
            <a:spAutoFit/>
          </a:bodyPr>
          <a:lstStyle/>
          <a:p>
            <a:pPr marL="38100">
              <a:lnSpc>
                <a:spcPts val="1555"/>
              </a:lnSpc>
            </a:pPr>
            <a:fld id="{81D60167-4931-47E6-BA6A-407CBD079E47}" type="slidenum">
              <a:rPr sz="1300" spc="10" dirty="0">
                <a:latin typeface="Arial" panose="020B0604020202020204"/>
                <a:cs typeface="Arial" panose="020B0604020202020204"/>
              </a:rPr>
            </a:fld>
            <a:endParaRPr sz="1300">
              <a:latin typeface="Arial" panose="020B0604020202020204"/>
              <a:cs typeface="Arial" panose="020B0604020202020204"/>
            </a:endParaRPr>
          </a:p>
        </p:txBody>
      </p:sp>
      <p:sp>
        <p:nvSpPr>
          <p:cNvPr id="22" name="object 22"/>
          <p:cNvSpPr txBox="1">
            <a:spLocks noGrp="1"/>
          </p:cNvSpPr>
          <p:nvPr>
            <p:ph type="title"/>
          </p:nvPr>
        </p:nvSpPr>
        <p:spPr>
          <a:xfrm>
            <a:off x="1402715" y="857885"/>
            <a:ext cx="7666990" cy="621665"/>
          </a:xfrm>
          <a:prstGeom prst="rect">
            <a:avLst/>
          </a:prstGeom>
        </p:spPr>
        <p:txBody>
          <a:bodyPr vert="horz" wrap="square" lIns="0" tIns="13970" rIns="0" bIns="0" rtlCol="0">
            <a:spAutoFit/>
          </a:bodyPr>
          <a:lstStyle/>
          <a:p>
            <a:pPr marL="12700">
              <a:lnSpc>
                <a:spcPct val="100000"/>
              </a:lnSpc>
              <a:spcBef>
                <a:spcPts val="110"/>
              </a:spcBef>
            </a:pPr>
            <a:r>
              <a:rPr spc="-735" dirty="0"/>
              <a:t>A </a:t>
            </a:r>
            <a:r>
              <a:rPr lang="en-US" spc="-735" dirty="0"/>
              <a:t> </a:t>
            </a:r>
            <a:r>
              <a:rPr spc="-254" dirty="0"/>
              <a:t>Channel </a:t>
            </a:r>
            <a:r>
              <a:rPr spc="-225" dirty="0"/>
              <a:t>between </a:t>
            </a:r>
            <a:r>
              <a:rPr spc="-305" dirty="0"/>
              <a:t>two</a:t>
            </a:r>
            <a:r>
              <a:rPr spc="-125" dirty="0"/>
              <a:t> </a:t>
            </a:r>
            <a:r>
              <a:rPr spc="-290" dirty="0"/>
              <a:t>processes</a:t>
            </a:r>
            <a:endParaRPr spc="-290" dirty="0"/>
          </a:p>
        </p:txBody>
      </p:sp>
      <p:sp>
        <p:nvSpPr>
          <p:cNvPr id="23" name="object 23"/>
          <p:cNvSpPr txBox="1"/>
          <p:nvPr/>
        </p:nvSpPr>
        <p:spPr>
          <a:xfrm>
            <a:off x="1764273" y="4167661"/>
            <a:ext cx="1080770" cy="360680"/>
          </a:xfrm>
          <a:prstGeom prst="rect">
            <a:avLst/>
          </a:prstGeom>
        </p:spPr>
        <p:txBody>
          <a:bodyPr vert="horz" wrap="square" lIns="0" tIns="12065" rIns="0" bIns="0" rtlCol="0">
            <a:spAutoFit/>
          </a:bodyPr>
          <a:lstStyle/>
          <a:p>
            <a:pPr marL="12700">
              <a:lnSpc>
                <a:spcPct val="100000"/>
              </a:lnSpc>
              <a:spcBef>
                <a:spcPts val="95"/>
              </a:spcBef>
            </a:pPr>
            <a:r>
              <a:rPr sz="2200" i="1" dirty="0">
                <a:latin typeface="Arial" panose="020B0604020202020204"/>
                <a:cs typeface="Arial" panose="020B0604020202020204"/>
              </a:rPr>
              <a:t>1.</a:t>
            </a:r>
            <a:r>
              <a:rPr sz="2200" i="1" spc="-80" dirty="0">
                <a:latin typeface="Arial" panose="020B0604020202020204"/>
                <a:cs typeface="Arial" panose="020B0604020202020204"/>
              </a:rPr>
              <a:t> </a:t>
            </a:r>
            <a:r>
              <a:rPr sz="2200" i="1" spc="-5" dirty="0">
                <a:latin typeface="Arial" panose="020B0604020202020204"/>
                <a:cs typeface="Arial" panose="020B0604020202020204"/>
              </a:rPr>
              <a:t>Pipe()</a:t>
            </a:r>
            <a:endParaRPr sz="2200">
              <a:latin typeface="Arial" panose="020B0604020202020204"/>
              <a:cs typeface="Arial" panose="020B060402020202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6525" y="591185"/>
            <a:ext cx="9693910" cy="553720"/>
          </a:xfrm>
        </p:spPr>
        <p:txBody>
          <a:bodyPr wrap="square"/>
          <a:p>
            <a:r>
              <a:rPr lang="en-US" altLang="en-US" sz="3600"/>
              <a:t>Use of Pipe Between two Related Processes</a:t>
            </a:r>
            <a:endParaRPr lang="en-US" altLang="en-US" sz="3600"/>
          </a:p>
        </p:txBody>
      </p:sp>
      <p:pic>
        <p:nvPicPr>
          <p:cNvPr id="4" name="Picture 3"/>
          <p:cNvPicPr>
            <a:picLocks noChangeAspect="1"/>
          </p:cNvPicPr>
          <p:nvPr/>
        </p:nvPicPr>
        <p:blipFill>
          <a:blip r:embed="rId1"/>
          <a:stretch>
            <a:fillRect/>
          </a:stretch>
        </p:blipFill>
        <p:spPr>
          <a:xfrm>
            <a:off x="0" y="1227455"/>
            <a:ext cx="10090785" cy="641985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268979" y="5562600"/>
            <a:ext cx="2682240" cy="586740"/>
          </a:xfrm>
          <a:custGeom>
            <a:avLst/>
            <a:gdLst/>
            <a:ahLst/>
            <a:cxnLst/>
            <a:rect l="l" t="t" r="r" b="b"/>
            <a:pathLst>
              <a:path w="2682240" h="586739">
                <a:moveTo>
                  <a:pt x="0" y="0"/>
                </a:moveTo>
                <a:lnTo>
                  <a:pt x="2682240" y="0"/>
                </a:lnTo>
                <a:lnTo>
                  <a:pt x="2682240" y="586740"/>
                </a:lnTo>
                <a:lnTo>
                  <a:pt x="0" y="586740"/>
                </a:lnTo>
                <a:lnTo>
                  <a:pt x="0" y="0"/>
                </a:lnTo>
                <a:close/>
              </a:path>
            </a:pathLst>
          </a:custGeom>
          <a:ln w="10668">
            <a:solidFill>
              <a:srgbClr val="000000"/>
            </a:solidFill>
          </a:ln>
        </p:spPr>
        <p:txBody>
          <a:bodyPr wrap="square" lIns="0" tIns="0" rIns="0" bIns="0" rtlCol="0"/>
          <a:lstStyle/>
          <a:p/>
        </p:txBody>
      </p:sp>
      <p:grpSp>
        <p:nvGrpSpPr>
          <p:cNvPr id="3" name="object 3"/>
          <p:cNvGrpSpPr/>
          <p:nvPr/>
        </p:nvGrpSpPr>
        <p:grpSpPr>
          <a:xfrm>
            <a:off x="916622" y="3630167"/>
            <a:ext cx="7889875" cy="2268220"/>
            <a:chOff x="916622" y="3630167"/>
            <a:chExt cx="7889875" cy="2268220"/>
          </a:xfrm>
        </p:grpSpPr>
        <p:sp>
          <p:nvSpPr>
            <p:cNvPr id="4" name="object 4"/>
            <p:cNvSpPr/>
            <p:nvPr/>
          </p:nvSpPr>
          <p:spPr>
            <a:xfrm>
              <a:off x="922020" y="4808981"/>
              <a:ext cx="7879080" cy="0"/>
            </a:xfrm>
            <a:custGeom>
              <a:avLst/>
              <a:gdLst/>
              <a:ahLst/>
              <a:cxnLst/>
              <a:rect l="l" t="t" r="r" b="b"/>
              <a:pathLst>
                <a:path w="7879080">
                  <a:moveTo>
                    <a:pt x="0" y="0"/>
                  </a:moveTo>
                  <a:lnTo>
                    <a:pt x="7879080" y="0"/>
                  </a:lnTo>
                </a:path>
              </a:pathLst>
            </a:custGeom>
            <a:ln w="10668">
              <a:solidFill>
                <a:srgbClr val="000000"/>
              </a:solidFill>
              <a:prstDash val="sysDash"/>
            </a:ln>
          </p:spPr>
          <p:txBody>
            <a:bodyPr wrap="square" lIns="0" tIns="0" rIns="0" bIns="0" rtlCol="0"/>
            <a:lstStyle/>
            <a:p/>
          </p:txBody>
        </p:sp>
        <p:sp>
          <p:nvSpPr>
            <p:cNvPr id="5" name="object 5"/>
            <p:cNvSpPr/>
            <p:nvPr/>
          </p:nvSpPr>
          <p:spPr>
            <a:xfrm>
              <a:off x="1085088" y="3630167"/>
              <a:ext cx="2184400" cy="2268220"/>
            </a:xfrm>
            <a:custGeom>
              <a:avLst/>
              <a:gdLst/>
              <a:ahLst/>
              <a:cxnLst/>
              <a:rect l="l" t="t" r="r" b="b"/>
              <a:pathLst>
                <a:path w="2184400" h="2268220">
                  <a:moveTo>
                    <a:pt x="2100749" y="2230474"/>
                  </a:moveTo>
                  <a:lnTo>
                    <a:pt x="1979676" y="2225040"/>
                  </a:lnTo>
                  <a:lnTo>
                    <a:pt x="1879092" y="2217420"/>
                  </a:lnTo>
                  <a:lnTo>
                    <a:pt x="1776984" y="2206752"/>
                  </a:lnTo>
                  <a:lnTo>
                    <a:pt x="1677924" y="2193036"/>
                  </a:lnTo>
                  <a:lnTo>
                    <a:pt x="1577340" y="2176272"/>
                  </a:lnTo>
                  <a:lnTo>
                    <a:pt x="1479804" y="2157984"/>
                  </a:lnTo>
                  <a:lnTo>
                    <a:pt x="1383792" y="2136648"/>
                  </a:lnTo>
                  <a:lnTo>
                    <a:pt x="1287780" y="2112264"/>
                  </a:lnTo>
                  <a:lnTo>
                    <a:pt x="1194816" y="2086356"/>
                  </a:lnTo>
                  <a:lnTo>
                    <a:pt x="1103376" y="2057400"/>
                  </a:lnTo>
                  <a:lnTo>
                    <a:pt x="1014984" y="2026920"/>
                  </a:lnTo>
                  <a:lnTo>
                    <a:pt x="928116" y="1993392"/>
                  </a:lnTo>
                  <a:lnTo>
                    <a:pt x="844296" y="1958340"/>
                  </a:lnTo>
                  <a:lnTo>
                    <a:pt x="762000" y="1921764"/>
                  </a:lnTo>
                  <a:lnTo>
                    <a:pt x="684276" y="1883664"/>
                  </a:lnTo>
                  <a:lnTo>
                    <a:pt x="609600" y="1844040"/>
                  </a:lnTo>
                  <a:lnTo>
                    <a:pt x="536448" y="1802892"/>
                  </a:lnTo>
                  <a:lnTo>
                    <a:pt x="469392" y="1760220"/>
                  </a:lnTo>
                  <a:lnTo>
                    <a:pt x="403860" y="1716024"/>
                  </a:lnTo>
                  <a:lnTo>
                    <a:pt x="344424" y="1670304"/>
                  </a:lnTo>
                  <a:lnTo>
                    <a:pt x="288036" y="1623060"/>
                  </a:lnTo>
                  <a:lnTo>
                    <a:pt x="236220" y="1575816"/>
                  </a:lnTo>
                  <a:lnTo>
                    <a:pt x="188976" y="1527048"/>
                  </a:lnTo>
                  <a:lnTo>
                    <a:pt x="146304" y="1478280"/>
                  </a:lnTo>
                  <a:lnTo>
                    <a:pt x="108204" y="1427988"/>
                  </a:lnTo>
                  <a:lnTo>
                    <a:pt x="76200" y="1376172"/>
                  </a:lnTo>
                  <a:lnTo>
                    <a:pt x="48768" y="1324356"/>
                  </a:lnTo>
                  <a:lnTo>
                    <a:pt x="27432" y="1272540"/>
                  </a:lnTo>
                  <a:lnTo>
                    <a:pt x="12192" y="1220724"/>
                  </a:lnTo>
                  <a:lnTo>
                    <a:pt x="3048" y="1168908"/>
                  </a:lnTo>
                  <a:lnTo>
                    <a:pt x="1524" y="1141476"/>
                  </a:lnTo>
                  <a:lnTo>
                    <a:pt x="0" y="1115568"/>
                  </a:lnTo>
                  <a:lnTo>
                    <a:pt x="0" y="1063752"/>
                  </a:lnTo>
                  <a:lnTo>
                    <a:pt x="3048" y="960120"/>
                  </a:lnTo>
                  <a:lnTo>
                    <a:pt x="9144" y="856488"/>
                  </a:lnTo>
                  <a:lnTo>
                    <a:pt x="12192" y="806196"/>
                  </a:lnTo>
                  <a:lnTo>
                    <a:pt x="16764" y="755904"/>
                  </a:lnTo>
                  <a:lnTo>
                    <a:pt x="21336" y="707136"/>
                  </a:lnTo>
                  <a:lnTo>
                    <a:pt x="27432" y="658368"/>
                  </a:lnTo>
                  <a:lnTo>
                    <a:pt x="33528" y="611124"/>
                  </a:lnTo>
                  <a:lnTo>
                    <a:pt x="39624" y="565404"/>
                  </a:lnTo>
                  <a:lnTo>
                    <a:pt x="47244" y="519684"/>
                  </a:lnTo>
                  <a:lnTo>
                    <a:pt x="53340" y="475488"/>
                  </a:lnTo>
                  <a:lnTo>
                    <a:pt x="62484" y="432816"/>
                  </a:lnTo>
                  <a:lnTo>
                    <a:pt x="70104" y="391668"/>
                  </a:lnTo>
                  <a:lnTo>
                    <a:pt x="79248" y="350520"/>
                  </a:lnTo>
                  <a:lnTo>
                    <a:pt x="88392" y="312420"/>
                  </a:lnTo>
                  <a:lnTo>
                    <a:pt x="106680" y="240792"/>
                  </a:lnTo>
                  <a:lnTo>
                    <a:pt x="128016" y="178308"/>
                  </a:lnTo>
                  <a:lnTo>
                    <a:pt x="137160" y="149352"/>
                  </a:lnTo>
                  <a:lnTo>
                    <a:pt x="149352" y="121920"/>
                  </a:lnTo>
                  <a:lnTo>
                    <a:pt x="153924" y="109728"/>
                  </a:lnTo>
                  <a:lnTo>
                    <a:pt x="160020" y="99060"/>
                  </a:lnTo>
                  <a:lnTo>
                    <a:pt x="166116" y="86868"/>
                  </a:lnTo>
                  <a:lnTo>
                    <a:pt x="170688" y="76200"/>
                  </a:lnTo>
                  <a:lnTo>
                    <a:pt x="188976" y="48768"/>
                  </a:lnTo>
                  <a:lnTo>
                    <a:pt x="224028" y="10668"/>
                  </a:lnTo>
                  <a:lnTo>
                    <a:pt x="231648" y="7620"/>
                  </a:lnTo>
                  <a:lnTo>
                    <a:pt x="243840" y="1524"/>
                  </a:lnTo>
                  <a:lnTo>
                    <a:pt x="249936" y="0"/>
                  </a:lnTo>
                  <a:lnTo>
                    <a:pt x="256032" y="0"/>
                  </a:lnTo>
                  <a:lnTo>
                    <a:pt x="257556" y="10668"/>
                  </a:lnTo>
                  <a:lnTo>
                    <a:pt x="251460" y="10668"/>
                  </a:lnTo>
                  <a:lnTo>
                    <a:pt x="245364" y="12192"/>
                  </a:lnTo>
                  <a:lnTo>
                    <a:pt x="219456" y="28956"/>
                  </a:lnTo>
                  <a:lnTo>
                    <a:pt x="213360" y="33528"/>
                  </a:lnTo>
                  <a:lnTo>
                    <a:pt x="207264" y="39624"/>
                  </a:lnTo>
                  <a:lnTo>
                    <a:pt x="202692" y="47244"/>
                  </a:lnTo>
                  <a:lnTo>
                    <a:pt x="196596" y="54864"/>
                  </a:lnTo>
                  <a:lnTo>
                    <a:pt x="192024" y="62484"/>
                  </a:lnTo>
                  <a:lnTo>
                    <a:pt x="185928" y="71628"/>
                  </a:lnTo>
                  <a:lnTo>
                    <a:pt x="179832" y="82296"/>
                  </a:lnTo>
                  <a:lnTo>
                    <a:pt x="169164" y="103632"/>
                  </a:lnTo>
                  <a:lnTo>
                    <a:pt x="163068" y="114300"/>
                  </a:lnTo>
                  <a:lnTo>
                    <a:pt x="158496" y="126492"/>
                  </a:lnTo>
                  <a:lnTo>
                    <a:pt x="137160" y="181356"/>
                  </a:lnTo>
                  <a:lnTo>
                    <a:pt x="117348" y="243840"/>
                  </a:lnTo>
                  <a:lnTo>
                    <a:pt x="106680" y="278892"/>
                  </a:lnTo>
                  <a:lnTo>
                    <a:pt x="97536" y="315468"/>
                  </a:lnTo>
                  <a:lnTo>
                    <a:pt x="88392" y="353568"/>
                  </a:lnTo>
                  <a:lnTo>
                    <a:pt x="80772" y="393192"/>
                  </a:lnTo>
                  <a:lnTo>
                    <a:pt x="71628" y="434340"/>
                  </a:lnTo>
                  <a:lnTo>
                    <a:pt x="64008" y="477012"/>
                  </a:lnTo>
                  <a:lnTo>
                    <a:pt x="56388" y="521208"/>
                  </a:lnTo>
                  <a:lnTo>
                    <a:pt x="50292" y="566928"/>
                  </a:lnTo>
                  <a:lnTo>
                    <a:pt x="42672" y="612648"/>
                  </a:lnTo>
                  <a:lnTo>
                    <a:pt x="38100" y="659892"/>
                  </a:lnTo>
                  <a:lnTo>
                    <a:pt x="32004" y="708660"/>
                  </a:lnTo>
                  <a:lnTo>
                    <a:pt x="27432" y="757428"/>
                  </a:lnTo>
                  <a:lnTo>
                    <a:pt x="22860" y="807720"/>
                  </a:lnTo>
                  <a:lnTo>
                    <a:pt x="16764" y="908304"/>
                  </a:lnTo>
                  <a:lnTo>
                    <a:pt x="13716" y="960120"/>
                  </a:lnTo>
                  <a:lnTo>
                    <a:pt x="10668" y="1063752"/>
                  </a:lnTo>
                  <a:lnTo>
                    <a:pt x="10668" y="1141476"/>
                  </a:lnTo>
                  <a:lnTo>
                    <a:pt x="22860" y="1219200"/>
                  </a:lnTo>
                  <a:lnTo>
                    <a:pt x="38100" y="1269492"/>
                  </a:lnTo>
                  <a:lnTo>
                    <a:pt x="59436" y="1321308"/>
                  </a:lnTo>
                  <a:lnTo>
                    <a:pt x="85344" y="1371600"/>
                  </a:lnTo>
                  <a:lnTo>
                    <a:pt x="117348" y="1421892"/>
                  </a:lnTo>
                  <a:lnTo>
                    <a:pt x="153924" y="1470660"/>
                  </a:lnTo>
                  <a:lnTo>
                    <a:pt x="196596" y="1520952"/>
                  </a:lnTo>
                  <a:lnTo>
                    <a:pt x="243840" y="1568196"/>
                  </a:lnTo>
                  <a:lnTo>
                    <a:pt x="294132" y="1615440"/>
                  </a:lnTo>
                  <a:lnTo>
                    <a:pt x="350520" y="1662684"/>
                  </a:lnTo>
                  <a:lnTo>
                    <a:pt x="411480" y="1706880"/>
                  </a:lnTo>
                  <a:lnTo>
                    <a:pt x="475488" y="1751076"/>
                  </a:lnTo>
                  <a:lnTo>
                    <a:pt x="542544" y="1793748"/>
                  </a:lnTo>
                  <a:lnTo>
                    <a:pt x="614172" y="1834896"/>
                  </a:lnTo>
                  <a:lnTo>
                    <a:pt x="688848" y="1874520"/>
                  </a:lnTo>
                  <a:lnTo>
                    <a:pt x="766572" y="1912620"/>
                  </a:lnTo>
                  <a:lnTo>
                    <a:pt x="847344" y="1949196"/>
                  </a:lnTo>
                  <a:lnTo>
                    <a:pt x="931164" y="1984248"/>
                  </a:lnTo>
                  <a:lnTo>
                    <a:pt x="1018032" y="2016252"/>
                  </a:lnTo>
                  <a:lnTo>
                    <a:pt x="1106424" y="2046732"/>
                  </a:lnTo>
                  <a:lnTo>
                    <a:pt x="1197864" y="2075688"/>
                  </a:lnTo>
                  <a:lnTo>
                    <a:pt x="1290828" y="2101596"/>
                  </a:lnTo>
                  <a:lnTo>
                    <a:pt x="1385316" y="2125980"/>
                  </a:lnTo>
                  <a:lnTo>
                    <a:pt x="1482852" y="2147316"/>
                  </a:lnTo>
                  <a:lnTo>
                    <a:pt x="1580388" y="2167128"/>
                  </a:lnTo>
                  <a:lnTo>
                    <a:pt x="1679448" y="2182368"/>
                  </a:lnTo>
                  <a:lnTo>
                    <a:pt x="1778508" y="2196084"/>
                  </a:lnTo>
                  <a:lnTo>
                    <a:pt x="1879092" y="2206752"/>
                  </a:lnTo>
                  <a:lnTo>
                    <a:pt x="1981200" y="2214372"/>
                  </a:lnTo>
                  <a:lnTo>
                    <a:pt x="2100943" y="2219783"/>
                  </a:lnTo>
                  <a:lnTo>
                    <a:pt x="2100749" y="2230474"/>
                  </a:lnTo>
                  <a:close/>
                </a:path>
                <a:path w="2184400" h="2268220">
                  <a:moveTo>
                    <a:pt x="2174578" y="2231136"/>
                  </a:moveTo>
                  <a:lnTo>
                    <a:pt x="2115312" y="2231136"/>
                  </a:lnTo>
                  <a:lnTo>
                    <a:pt x="2115312" y="2220468"/>
                  </a:lnTo>
                  <a:lnTo>
                    <a:pt x="2100943" y="2219783"/>
                  </a:lnTo>
                  <a:lnTo>
                    <a:pt x="2101596" y="2183892"/>
                  </a:lnTo>
                  <a:lnTo>
                    <a:pt x="2183892" y="2226564"/>
                  </a:lnTo>
                  <a:lnTo>
                    <a:pt x="2174578" y="2231136"/>
                  </a:lnTo>
                  <a:close/>
                </a:path>
                <a:path w="2184400" h="2268220">
                  <a:moveTo>
                    <a:pt x="2115312" y="2231136"/>
                  </a:moveTo>
                  <a:lnTo>
                    <a:pt x="2100749" y="2230474"/>
                  </a:lnTo>
                  <a:lnTo>
                    <a:pt x="2100943" y="2219783"/>
                  </a:lnTo>
                  <a:lnTo>
                    <a:pt x="2115312" y="2220468"/>
                  </a:lnTo>
                  <a:lnTo>
                    <a:pt x="2115312" y="2231136"/>
                  </a:lnTo>
                  <a:close/>
                </a:path>
                <a:path w="2184400" h="2268220">
                  <a:moveTo>
                    <a:pt x="2100072" y="2267712"/>
                  </a:moveTo>
                  <a:lnTo>
                    <a:pt x="2100749" y="2230474"/>
                  </a:lnTo>
                  <a:lnTo>
                    <a:pt x="2115312" y="2231136"/>
                  </a:lnTo>
                  <a:lnTo>
                    <a:pt x="2174578" y="2231136"/>
                  </a:lnTo>
                  <a:lnTo>
                    <a:pt x="2100072" y="2267712"/>
                  </a:lnTo>
                  <a:close/>
                </a:path>
              </a:pathLst>
            </a:custGeom>
            <a:solidFill>
              <a:srgbClr val="000000"/>
            </a:solidFill>
          </p:spPr>
          <p:txBody>
            <a:bodyPr wrap="square" lIns="0" tIns="0" rIns="0" bIns="0" rtlCol="0"/>
            <a:lstStyle/>
            <a:p/>
          </p:txBody>
        </p:sp>
      </p:grpSp>
      <p:sp>
        <p:nvSpPr>
          <p:cNvPr id="6" name="object 6"/>
          <p:cNvSpPr/>
          <p:nvPr/>
        </p:nvSpPr>
        <p:spPr>
          <a:xfrm>
            <a:off x="3101339" y="6359652"/>
            <a:ext cx="502920" cy="83820"/>
          </a:xfrm>
          <a:custGeom>
            <a:avLst/>
            <a:gdLst/>
            <a:ahLst/>
            <a:cxnLst/>
            <a:rect l="l" t="t" r="r" b="b"/>
            <a:pathLst>
              <a:path w="502920" h="83820">
                <a:moveTo>
                  <a:pt x="419100" y="83820"/>
                </a:moveTo>
                <a:lnTo>
                  <a:pt x="419100" y="0"/>
                </a:lnTo>
                <a:lnTo>
                  <a:pt x="493606" y="36576"/>
                </a:lnTo>
                <a:lnTo>
                  <a:pt x="434340" y="36576"/>
                </a:lnTo>
                <a:lnTo>
                  <a:pt x="434340" y="47244"/>
                </a:lnTo>
                <a:lnTo>
                  <a:pt x="490945" y="47244"/>
                </a:lnTo>
                <a:lnTo>
                  <a:pt x="419100" y="83820"/>
                </a:lnTo>
                <a:close/>
              </a:path>
              <a:path w="502920" h="83820">
                <a:moveTo>
                  <a:pt x="419100" y="47244"/>
                </a:moveTo>
                <a:lnTo>
                  <a:pt x="0" y="47244"/>
                </a:lnTo>
                <a:lnTo>
                  <a:pt x="0" y="36576"/>
                </a:lnTo>
                <a:lnTo>
                  <a:pt x="419100" y="36576"/>
                </a:lnTo>
                <a:lnTo>
                  <a:pt x="419100" y="47244"/>
                </a:lnTo>
                <a:close/>
              </a:path>
              <a:path w="502920" h="83820">
                <a:moveTo>
                  <a:pt x="490945" y="47244"/>
                </a:moveTo>
                <a:lnTo>
                  <a:pt x="434340" y="47244"/>
                </a:lnTo>
                <a:lnTo>
                  <a:pt x="434340" y="36576"/>
                </a:lnTo>
                <a:lnTo>
                  <a:pt x="493606" y="36576"/>
                </a:lnTo>
                <a:lnTo>
                  <a:pt x="502920" y="41148"/>
                </a:lnTo>
                <a:lnTo>
                  <a:pt x="490945" y="47244"/>
                </a:lnTo>
                <a:close/>
              </a:path>
            </a:pathLst>
          </a:custGeom>
          <a:solidFill>
            <a:srgbClr val="000000"/>
          </a:solidFill>
        </p:spPr>
        <p:txBody>
          <a:bodyPr wrap="square" lIns="0" tIns="0" rIns="0" bIns="0" rtlCol="0"/>
          <a:lstStyle/>
          <a:p/>
        </p:txBody>
      </p:sp>
      <p:sp>
        <p:nvSpPr>
          <p:cNvPr id="7" name="object 7"/>
          <p:cNvSpPr/>
          <p:nvPr/>
        </p:nvSpPr>
        <p:spPr>
          <a:xfrm>
            <a:off x="5615940" y="6359652"/>
            <a:ext cx="335280" cy="83820"/>
          </a:xfrm>
          <a:custGeom>
            <a:avLst/>
            <a:gdLst/>
            <a:ahLst/>
            <a:cxnLst/>
            <a:rect l="l" t="t" r="r" b="b"/>
            <a:pathLst>
              <a:path w="335279" h="83820">
                <a:moveTo>
                  <a:pt x="251460" y="83820"/>
                </a:moveTo>
                <a:lnTo>
                  <a:pt x="251460" y="0"/>
                </a:lnTo>
                <a:lnTo>
                  <a:pt x="325966" y="36576"/>
                </a:lnTo>
                <a:lnTo>
                  <a:pt x="266700" y="36576"/>
                </a:lnTo>
                <a:lnTo>
                  <a:pt x="266700" y="47244"/>
                </a:lnTo>
                <a:lnTo>
                  <a:pt x="323305" y="47244"/>
                </a:lnTo>
                <a:lnTo>
                  <a:pt x="251460" y="83820"/>
                </a:lnTo>
                <a:close/>
              </a:path>
              <a:path w="335279" h="83820">
                <a:moveTo>
                  <a:pt x="251460" y="47244"/>
                </a:moveTo>
                <a:lnTo>
                  <a:pt x="0" y="47244"/>
                </a:lnTo>
                <a:lnTo>
                  <a:pt x="0" y="36576"/>
                </a:lnTo>
                <a:lnTo>
                  <a:pt x="251460" y="36576"/>
                </a:lnTo>
                <a:lnTo>
                  <a:pt x="251460" y="47244"/>
                </a:lnTo>
                <a:close/>
              </a:path>
              <a:path w="335279" h="83820">
                <a:moveTo>
                  <a:pt x="323305" y="47244"/>
                </a:moveTo>
                <a:lnTo>
                  <a:pt x="266700" y="47244"/>
                </a:lnTo>
                <a:lnTo>
                  <a:pt x="266700" y="36576"/>
                </a:lnTo>
                <a:lnTo>
                  <a:pt x="325966" y="36576"/>
                </a:lnTo>
                <a:lnTo>
                  <a:pt x="335280" y="41148"/>
                </a:lnTo>
                <a:lnTo>
                  <a:pt x="323305" y="47244"/>
                </a:lnTo>
                <a:close/>
              </a:path>
            </a:pathLst>
          </a:custGeom>
          <a:solidFill>
            <a:srgbClr val="000000"/>
          </a:solidFill>
        </p:spPr>
        <p:txBody>
          <a:bodyPr wrap="square" lIns="0" tIns="0" rIns="0" bIns="0" rtlCol="0"/>
          <a:lstStyle/>
          <a:p/>
        </p:txBody>
      </p:sp>
      <p:sp>
        <p:nvSpPr>
          <p:cNvPr id="8" name="object 8"/>
          <p:cNvSpPr txBox="1"/>
          <p:nvPr/>
        </p:nvSpPr>
        <p:spPr>
          <a:xfrm>
            <a:off x="3608246" y="5518755"/>
            <a:ext cx="1452245" cy="1010285"/>
          </a:xfrm>
          <a:prstGeom prst="rect">
            <a:avLst/>
          </a:prstGeom>
        </p:spPr>
        <p:txBody>
          <a:bodyPr vert="horz" wrap="square" lIns="0" tIns="12700" rIns="0" bIns="0" rtlCol="0">
            <a:spAutoFit/>
          </a:bodyPr>
          <a:lstStyle/>
          <a:p>
            <a:pPr marL="12700" marR="5080" indent="514985">
              <a:lnSpc>
                <a:spcPct val="147000"/>
              </a:lnSpc>
              <a:spcBef>
                <a:spcPts val="100"/>
              </a:spcBef>
            </a:pPr>
            <a:r>
              <a:rPr sz="2200" i="1" spc="-5" dirty="0">
                <a:latin typeface="Arial" panose="020B0604020202020204"/>
                <a:cs typeface="Arial" panose="020B0604020202020204"/>
              </a:rPr>
              <a:t>Pipe  </a:t>
            </a:r>
            <a:r>
              <a:rPr sz="2200" i="1" spc="-5" dirty="0">
                <a:latin typeface="Arial" panose="020B0604020202020204"/>
                <a:cs typeface="Arial" panose="020B0604020202020204"/>
              </a:rPr>
              <a:t>flow </a:t>
            </a:r>
            <a:r>
              <a:rPr sz="2200" i="1" dirty="0">
                <a:latin typeface="Arial" panose="020B0604020202020204"/>
                <a:cs typeface="Arial" panose="020B0604020202020204"/>
              </a:rPr>
              <a:t>of</a:t>
            </a:r>
            <a:r>
              <a:rPr sz="2200" i="1" spc="-100" dirty="0">
                <a:latin typeface="Arial" panose="020B0604020202020204"/>
                <a:cs typeface="Arial" panose="020B0604020202020204"/>
              </a:rPr>
              <a:t> </a:t>
            </a:r>
            <a:r>
              <a:rPr sz="2200" i="1" spc="-5" dirty="0">
                <a:latin typeface="Arial" panose="020B0604020202020204"/>
                <a:cs typeface="Arial" panose="020B0604020202020204"/>
              </a:rPr>
              <a:t>data</a:t>
            </a:r>
            <a:endParaRPr sz="2200">
              <a:latin typeface="Arial" panose="020B0604020202020204"/>
              <a:cs typeface="Arial" panose="020B0604020202020204"/>
            </a:endParaRPr>
          </a:p>
        </p:txBody>
      </p:sp>
      <p:sp>
        <p:nvSpPr>
          <p:cNvPr id="9" name="object 9"/>
          <p:cNvSpPr txBox="1"/>
          <p:nvPr/>
        </p:nvSpPr>
        <p:spPr>
          <a:xfrm>
            <a:off x="8127009" y="4335295"/>
            <a:ext cx="1035050" cy="360680"/>
          </a:xfrm>
          <a:prstGeom prst="rect">
            <a:avLst/>
          </a:prstGeom>
        </p:spPr>
        <p:txBody>
          <a:bodyPr vert="horz" wrap="square" lIns="0" tIns="12065" rIns="0" bIns="0" rtlCol="0">
            <a:spAutoFit/>
          </a:bodyPr>
          <a:lstStyle/>
          <a:p>
            <a:pPr marL="12700">
              <a:lnSpc>
                <a:spcPct val="100000"/>
              </a:lnSpc>
              <a:spcBef>
                <a:spcPts val="95"/>
              </a:spcBef>
            </a:pPr>
            <a:r>
              <a:rPr sz="2200" i="1" spc="-5" dirty="0">
                <a:latin typeface="Arial" panose="020B0604020202020204"/>
                <a:cs typeface="Arial" panose="020B0604020202020204"/>
              </a:rPr>
              <a:t>Process</a:t>
            </a:r>
            <a:endParaRPr sz="2200">
              <a:latin typeface="Arial" panose="020B0604020202020204"/>
              <a:cs typeface="Arial" panose="020B0604020202020204"/>
            </a:endParaRPr>
          </a:p>
        </p:txBody>
      </p:sp>
      <p:sp>
        <p:nvSpPr>
          <p:cNvPr id="10" name="object 10"/>
          <p:cNvSpPr txBox="1"/>
          <p:nvPr/>
        </p:nvSpPr>
        <p:spPr>
          <a:xfrm>
            <a:off x="8120881" y="4838197"/>
            <a:ext cx="832485" cy="360680"/>
          </a:xfrm>
          <a:prstGeom prst="rect">
            <a:avLst/>
          </a:prstGeom>
        </p:spPr>
        <p:txBody>
          <a:bodyPr vert="horz" wrap="square" lIns="0" tIns="12065" rIns="0" bIns="0" rtlCol="0">
            <a:spAutoFit/>
          </a:bodyPr>
          <a:lstStyle/>
          <a:p>
            <a:pPr marL="12700">
              <a:lnSpc>
                <a:spcPct val="100000"/>
              </a:lnSpc>
              <a:spcBef>
                <a:spcPts val="95"/>
              </a:spcBef>
            </a:pPr>
            <a:r>
              <a:rPr sz="2200" i="1" dirty="0">
                <a:latin typeface="Arial" panose="020B0604020202020204"/>
                <a:cs typeface="Arial" panose="020B0604020202020204"/>
              </a:rPr>
              <a:t>K</a:t>
            </a:r>
            <a:r>
              <a:rPr sz="2200" i="1" spc="-20" dirty="0">
                <a:latin typeface="Arial" panose="020B0604020202020204"/>
                <a:cs typeface="Arial" panose="020B0604020202020204"/>
              </a:rPr>
              <a:t>e</a:t>
            </a:r>
            <a:r>
              <a:rPr sz="2200" i="1" spc="10" dirty="0">
                <a:latin typeface="Arial" panose="020B0604020202020204"/>
                <a:cs typeface="Arial" panose="020B0604020202020204"/>
              </a:rPr>
              <a:t>r</a:t>
            </a:r>
            <a:r>
              <a:rPr sz="2200" i="1" spc="-20" dirty="0">
                <a:latin typeface="Arial" panose="020B0604020202020204"/>
                <a:cs typeface="Arial" panose="020B0604020202020204"/>
              </a:rPr>
              <a:t>n</a:t>
            </a:r>
            <a:r>
              <a:rPr sz="2200" i="1" dirty="0">
                <a:latin typeface="Arial" panose="020B0604020202020204"/>
                <a:cs typeface="Arial" panose="020B0604020202020204"/>
              </a:rPr>
              <a:t>e</a:t>
            </a:r>
            <a:r>
              <a:rPr sz="2200" i="1" spc="-5" dirty="0">
                <a:latin typeface="Arial" panose="020B0604020202020204"/>
                <a:cs typeface="Arial" panose="020B0604020202020204"/>
              </a:rPr>
              <a:t>l</a:t>
            </a:r>
            <a:endParaRPr sz="2200">
              <a:latin typeface="Arial" panose="020B0604020202020204"/>
              <a:cs typeface="Arial" panose="020B0604020202020204"/>
            </a:endParaRPr>
          </a:p>
        </p:txBody>
      </p:sp>
      <p:grpSp>
        <p:nvGrpSpPr>
          <p:cNvPr id="11" name="object 11"/>
          <p:cNvGrpSpPr/>
          <p:nvPr/>
        </p:nvGrpSpPr>
        <p:grpSpPr>
          <a:xfrm>
            <a:off x="3352800" y="3042602"/>
            <a:ext cx="4615815" cy="2818765"/>
            <a:chOff x="3352800" y="3042602"/>
            <a:chExt cx="4615815" cy="2818765"/>
          </a:xfrm>
        </p:grpSpPr>
        <p:sp>
          <p:nvSpPr>
            <p:cNvPr id="12" name="object 12"/>
            <p:cNvSpPr/>
            <p:nvPr/>
          </p:nvSpPr>
          <p:spPr>
            <a:xfrm>
              <a:off x="3352800" y="3595115"/>
              <a:ext cx="2856230" cy="2266315"/>
            </a:xfrm>
            <a:custGeom>
              <a:avLst/>
              <a:gdLst/>
              <a:ahLst/>
              <a:cxnLst/>
              <a:rect l="l" t="t" r="r" b="b"/>
              <a:pathLst>
                <a:path w="2856229" h="2266315">
                  <a:moveTo>
                    <a:pt x="83820" y="83820"/>
                  </a:moveTo>
                  <a:lnTo>
                    <a:pt x="0" y="39624"/>
                  </a:lnTo>
                  <a:lnTo>
                    <a:pt x="85344" y="0"/>
                  </a:lnTo>
                  <a:lnTo>
                    <a:pt x="84678" y="36576"/>
                  </a:lnTo>
                  <a:lnTo>
                    <a:pt x="70104" y="36576"/>
                  </a:lnTo>
                  <a:lnTo>
                    <a:pt x="70104" y="45720"/>
                  </a:lnTo>
                  <a:lnTo>
                    <a:pt x="84506" y="46062"/>
                  </a:lnTo>
                  <a:lnTo>
                    <a:pt x="83820" y="83820"/>
                  </a:lnTo>
                  <a:close/>
                </a:path>
                <a:path w="2856229" h="2266315">
                  <a:moveTo>
                    <a:pt x="84506" y="46062"/>
                  </a:moveTo>
                  <a:lnTo>
                    <a:pt x="70104" y="45720"/>
                  </a:lnTo>
                  <a:lnTo>
                    <a:pt x="70104" y="36576"/>
                  </a:lnTo>
                  <a:lnTo>
                    <a:pt x="84678" y="36576"/>
                  </a:lnTo>
                  <a:lnTo>
                    <a:pt x="84506" y="46062"/>
                  </a:lnTo>
                  <a:close/>
                </a:path>
                <a:path w="2856229" h="2266315">
                  <a:moveTo>
                    <a:pt x="2606040" y="2266188"/>
                  </a:moveTo>
                  <a:lnTo>
                    <a:pt x="2599944" y="2266188"/>
                  </a:lnTo>
                  <a:lnTo>
                    <a:pt x="2598420" y="2257044"/>
                  </a:lnTo>
                  <a:lnTo>
                    <a:pt x="2604516" y="2255520"/>
                  </a:lnTo>
                  <a:lnTo>
                    <a:pt x="2610612" y="2255520"/>
                  </a:lnTo>
                  <a:lnTo>
                    <a:pt x="2615184" y="2252472"/>
                  </a:lnTo>
                  <a:lnTo>
                    <a:pt x="2647188" y="2226564"/>
                  </a:lnTo>
                  <a:lnTo>
                    <a:pt x="2653284" y="2218944"/>
                  </a:lnTo>
                  <a:lnTo>
                    <a:pt x="2659380" y="2212848"/>
                  </a:lnTo>
                  <a:lnTo>
                    <a:pt x="2663952" y="2203704"/>
                  </a:lnTo>
                  <a:lnTo>
                    <a:pt x="2676144" y="2185416"/>
                  </a:lnTo>
                  <a:lnTo>
                    <a:pt x="2680716" y="2174748"/>
                  </a:lnTo>
                  <a:lnTo>
                    <a:pt x="2686812" y="2164080"/>
                  </a:lnTo>
                  <a:lnTo>
                    <a:pt x="2692908" y="2151888"/>
                  </a:lnTo>
                  <a:lnTo>
                    <a:pt x="2697480" y="2139696"/>
                  </a:lnTo>
                  <a:lnTo>
                    <a:pt x="2703576" y="2127504"/>
                  </a:lnTo>
                  <a:lnTo>
                    <a:pt x="2708148" y="2113788"/>
                  </a:lnTo>
                  <a:lnTo>
                    <a:pt x="2718816" y="2084832"/>
                  </a:lnTo>
                  <a:lnTo>
                    <a:pt x="2729484" y="2054352"/>
                  </a:lnTo>
                  <a:lnTo>
                    <a:pt x="2738628" y="2022348"/>
                  </a:lnTo>
                  <a:lnTo>
                    <a:pt x="2749296" y="1987296"/>
                  </a:lnTo>
                  <a:lnTo>
                    <a:pt x="2758440" y="1950720"/>
                  </a:lnTo>
                  <a:lnTo>
                    <a:pt x="2767584" y="1912620"/>
                  </a:lnTo>
                  <a:lnTo>
                    <a:pt x="2775204" y="1872996"/>
                  </a:lnTo>
                  <a:lnTo>
                    <a:pt x="2784348" y="1831848"/>
                  </a:lnTo>
                  <a:lnTo>
                    <a:pt x="2791968" y="1789176"/>
                  </a:lnTo>
                  <a:lnTo>
                    <a:pt x="2799588" y="1744980"/>
                  </a:lnTo>
                  <a:lnTo>
                    <a:pt x="2805684" y="1700784"/>
                  </a:lnTo>
                  <a:lnTo>
                    <a:pt x="2817876" y="1606296"/>
                  </a:lnTo>
                  <a:lnTo>
                    <a:pt x="2823972" y="1557528"/>
                  </a:lnTo>
                  <a:lnTo>
                    <a:pt x="2828544" y="1508760"/>
                  </a:lnTo>
                  <a:lnTo>
                    <a:pt x="2833116" y="1458468"/>
                  </a:lnTo>
                  <a:lnTo>
                    <a:pt x="2839212" y="1357884"/>
                  </a:lnTo>
                  <a:lnTo>
                    <a:pt x="2842260" y="1306068"/>
                  </a:lnTo>
                  <a:lnTo>
                    <a:pt x="2845308" y="1202436"/>
                  </a:lnTo>
                  <a:lnTo>
                    <a:pt x="2845308" y="1150620"/>
                  </a:lnTo>
                  <a:lnTo>
                    <a:pt x="2840736" y="1098804"/>
                  </a:lnTo>
                  <a:lnTo>
                    <a:pt x="2820924" y="1022604"/>
                  </a:lnTo>
                  <a:lnTo>
                    <a:pt x="2796540" y="972312"/>
                  </a:lnTo>
                  <a:lnTo>
                    <a:pt x="2766060" y="920496"/>
                  </a:lnTo>
                  <a:lnTo>
                    <a:pt x="2727960" y="870204"/>
                  </a:lnTo>
                  <a:lnTo>
                    <a:pt x="2657856" y="795528"/>
                  </a:lnTo>
                  <a:lnTo>
                    <a:pt x="2602992" y="746760"/>
                  </a:lnTo>
                  <a:lnTo>
                    <a:pt x="2572512" y="722376"/>
                  </a:lnTo>
                  <a:lnTo>
                    <a:pt x="2473452" y="652272"/>
                  </a:lnTo>
                  <a:lnTo>
                    <a:pt x="2400300" y="605028"/>
                  </a:lnTo>
                  <a:lnTo>
                    <a:pt x="2322576" y="560832"/>
                  </a:lnTo>
                  <a:lnTo>
                    <a:pt x="2238756" y="516636"/>
                  </a:lnTo>
                  <a:lnTo>
                    <a:pt x="2148840" y="473964"/>
                  </a:lnTo>
                  <a:lnTo>
                    <a:pt x="2055876" y="431292"/>
                  </a:lnTo>
                  <a:lnTo>
                    <a:pt x="1958340" y="391668"/>
                  </a:lnTo>
                  <a:lnTo>
                    <a:pt x="1856232" y="353568"/>
                  </a:lnTo>
                  <a:lnTo>
                    <a:pt x="1749552" y="316992"/>
                  </a:lnTo>
                  <a:lnTo>
                    <a:pt x="1527048" y="249936"/>
                  </a:lnTo>
                  <a:lnTo>
                    <a:pt x="1411224" y="219456"/>
                  </a:lnTo>
                  <a:lnTo>
                    <a:pt x="1292352" y="190500"/>
                  </a:lnTo>
                  <a:lnTo>
                    <a:pt x="1170432" y="164592"/>
                  </a:lnTo>
                  <a:lnTo>
                    <a:pt x="1045464" y="140208"/>
                  </a:lnTo>
                  <a:lnTo>
                    <a:pt x="920496" y="118872"/>
                  </a:lnTo>
                  <a:lnTo>
                    <a:pt x="792480" y="100584"/>
                  </a:lnTo>
                  <a:lnTo>
                    <a:pt x="662940" y="83820"/>
                  </a:lnTo>
                  <a:lnTo>
                    <a:pt x="531876" y="70104"/>
                  </a:lnTo>
                  <a:lnTo>
                    <a:pt x="399288" y="59436"/>
                  </a:lnTo>
                  <a:lnTo>
                    <a:pt x="266700" y="51816"/>
                  </a:lnTo>
                  <a:lnTo>
                    <a:pt x="134112" y="47244"/>
                  </a:lnTo>
                  <a:lnTo>
                    <a:pt x="84506" y="46062"/>
                  </a:lnTo>
                  <a:lnTo>
                    <a:pt x="84678" y="36576"/>
                  </a:lnTo>
                  <a:lnTo>
                    <a:pt x="134112" y="36576"/>
                  </a:lnTo>
                  <a:lnTo>
                    <a:pt x="268224" y="41148"/>
                  </a:lnTo>
                  <a:lnTo>
                    <a:pt x="400812" y="48768"/>
                  </a:lnTo>
                  <a:lnTo>
                    <a:pt x="533400" y="59436"/>
                  </a:lnTo>
                  <a:lnTo>
                    <a:pt x="664464" y="73152"/>
                  </a:lnTo>
                  <a:lnTo>
                    <a:pt x="794004" y="89916"/>
                  </a:lnTo>
                  <a:lnTo>
                    <a:pt x="922020" y="109728"/>
                  </a:lnTo>
                  <a:lnTo>
                    <a:pt x="1048512" y="131064"/>
                  </a:lnTo>
                  <a:lnTo>
                    <a:pt x="1171956" y="153924"/>
                  </a:lnTo>
                  <a:lnTo>
                    <a:pt x="1293876" y="181356"/>
                  </a:lnTo>
                  <a:lnTo>
                    <a:pt x="1414272" y="210312"/>
                  </a:lnTo>
                  <a:lnTo>
                    <a:pt x="1530096" y="240792"/>
                  </a:lnTo>
                  <a:lnTo>
                    <a:pt x="1642872" y="272796"/>
                  </a:lnTo>
                  <a:lnTo>
                    <a:pt x="1752600" y="307848"/>
                  </a:lnTo>
                  <a:lnTo>
                    <a:pt x="1859280" y="344424"/>
                  </a:lnTo>
                  <a:lnTo>
                    <a:pt x="1961388" y="382524"/>
                  </a:lnTo>
                  <a:lnTo>
                    <a:pt x="2060448" y="422148"/>
                  </a:lnTo>
                  <a:lnTo>
                    <a:pt x="2153412" y="463296"/>
                  </a:lnTo>
                  <a:lnTo>
                    <a:pt x="2243328" y="507492"/>
                  </a:lnTo>
                  <a:lnTo>
                    <a:pt x="2327148" y="551688"/>
                  </a:lnTo>
                  <a:lnTo>
                    <a:pt x="2406396" y="595884"/>
                  </a:lnTo>
                  <a:lnTo>
                    <a:pt x="2479548" y="643128"/>
                  </a:lnTo>
                  <a:lnTo>
                    <a:pt x="2546604" y="690372"/>
                  </a:lnTo>
                  <a:lnTo>
                    <a:pt x="2578608" y="714756"/>
                  </a:lnTo>
                  <a:lnTo>
                    <a:pt x="2609088" y="739140"/>
                  </a:lnTo>
                  <a:lnTo>
                    <a:pt x="2663952" y="787908"/>
                  </a:lnTo>
                  <a:lnTo>
                    <a:pt x="2714244" y="838200"/>
                  </a:lnTo>
                  <a:lnTo>
                    <a:pt x="2755392" y="890016"/>
                  </a:lnTo>
                  <a:lnTo>
                    <a:pt x="2790444" y="941832"/>
                  </a:lnTo>
                  <a:lnTo>
                    <a:pt x="2819400" y="993648"/>
                  </a:lnTo>
                  <a:lnTo>
                    <a:pt x="2839212" y="1045464"/>
                  </a:lnTo>
                  <a:lnTo>
                    <a:pt x="2851404" y="1098804"/>
                  </a:lnTo>
                  <a:lnTo>
                    <a:pt x="2855976" y="1150620"/>
                  </a:lnTo>
                  <a:lnTo>
                    <a:pt x="2855976" y="1202436"/>
                  </a:lnTo>
                  <a:lnTo>
                    <a:pt x="2854452" y="1255776"/>
                  </a:lnTo>
                  <a:lnTo>
                    <a:pt x="2852928" y="1307592"/>
                  </a:lnTo>
                  <a:lnTo>
                    <a:pt x="2849880" y="1357884"/>
                  </a:lnTo>
                  <a:lnTo>
                    <a:pt x="2846832" y="1409700"/>
                  </a:lnTo>
                  <a:lnTo>
                    <a:pt x="2843784" y="1459992"/>
                  </a:lnTo>
                  <a:lnTo>
                    <a:pt x="2839212" y="1510284"/>
                  </a:lnTo>
                  <a:lnTo>
                    <a:pt x="2834640" y="1559052"/>
                  </a:lnTo>
                  <a:lnTo>
                    <a:pt x="2828544" y="1607820"/>
                  </a:lnTo>
                  <a:lnTo>
                    <a:pt x="2816352" y="1702308"/>
                  </a:lnTo>
                  <a:lnTo>
                    <a:pt x="2793492" y="1834896"/>
                  </a:lnTo>
                  <a:lnTo>
                    <a:pt x="2785872" y="1876044"/>
                  </a:lnTo>
                  <a:lnTo>
                    <a:pt x="2776728" y="1915668"/>
                  </a:lnTo>
                  <a:lnTo>
                    <a:pt x="2767584" y="1953768"/>
                  </a:lnTo>
                  <a:lnTo>
                    <a:pt x="2749296" y="2025396"/>
                  </a:lnTo>
                  <a:lnTo>
                    <a:pt x="2727960" y="2089404"/>
                  </a:lnTo>
                  <a:lnTo>
                    <a:pt x="2712720" y="2130552"/>
                  </a:lnTo>
                  <a:lnTo>
                    <a:pt x="2706624" y="2144268"/>
                  </a:lnTo>
                  <a:lnTo>
                    <a:pt x="2702052" y="2156460"/>
                  </a:lnTo>
                  <a:lnTo>
                    <a:pt x="2695956" y="2168652"/>
                  </a:lnTo>
                  <a:lnTo>
                    <a:pt x="2689860" y="2179320"/>
                  </a:lnTo>
                  <a:lnTo>
                    <a:pt x="2685288" y="2189988"/>
                  </a:lnTo>
                  <a:lnTo>
                    <a:pt x="2679192" y="2200656"/>
                  </a:lnTo>
                  <a:lnTo>
                    <a:pt x="2667000" y="2218944"/>
                  </a:lnTo>
                  <a:lnTo>
                    <a:pt x="2662428" y="2226564"/>
                  </a:lnTo>
                  <a:lnTo>
                    <a:pt x="2631948" y="2255520"/>
                  </a:lnTo>
                  <a:lnTo>
                    <a:pt x="2618232" y="2263140"/>
                  </a:lnTo>
                  <a:lnTo>
                    <a:pt x="2606040" y="2266188"/>
                  </a:lnTo>
                  <a:close/>
                </a:path>
              </a:pathLst>
            </a:custGeom>
            <a:solidFill>
              <a:srgbClr val="000000"/>
            </a:solidFill>
          </p:spPr>
          <p:txBody>
            <a:bodyPr wrap="square" lIns="0" tIns="0" rIns="0" bIns="0" rtlCol="0"/>
            <a:lstStyle/>
            <a:p/>
          </p:txBody>
        </p:sp>
        <p:sp>
          <p:nvSpPr>
            <p:cNvPr id="13" name="object 13"/>
            <p:cNvSpPr/>
            <p:nvPr/>
          </p:nvSpPr>
          <p:spPr>
            <a:xfrm>
              <a:off x="5951220" y="3047999"/>
              <a:ext cx="2011680" cy="1173480"/>
            </a:xfrm>
            <a:custGeom>
              <a:avLst/>
              <a:gdLst/>
              <a:ahLst/>
              <a:cxnLst/>
              <a:rect l="l" t="t" r="r" b="b"/>
              <a:pathLst>
                <a:path w="2011679" h="1173479">
                  <a:moveTo>
                    <a:pt x="0" y="0"/>
                  </a:moveTo>
                  <a:lnTo>
                    <a:pt x="2011680" y="0"/>
                  </a:lnTo>
                  <a:lnTo>
                    <a:pt x="2011680" y="1173479"/>
                  </a:lnTo>
                  <a:lnTo>
                    <a:pt x="0" y="1173479"/>
                  </a:lnTo>
                  <a:lnTo>
                    <a:pt x="0" y="0"/>
                  </a:lnTo>
                  <a:close/>
                </a:path>
              </a:pathLst>
            </a:custGeom>
            <a:ln w="10668">
              <a:solidFill>
                <a:srgbClr val="000000"/>
              </a:solidFill>
            </a:ln>
          </p:spPr>
          <p:txBody>
            <a:bodyPr wrap="square" lIns="0" tIns="0" rIns="0" bIns="0" rtlCol="0"/>
            <a:lstStyle/>
            <a:p/>
          </p:txBody>
        </p:sp>
      </p:grpSp>
      <p:sp>
        <p:nvSpPr>
          <p:cNvPr id="14" name="object 14"/>
          <p:cNvSpPr txBox="1"/>
          <p:nvPr/>
        </p:nvSpPr>
        <p:spPr>
          <a:xfrm>
            <a:off x="5967957" y="3498115"/>
            <a:ext cx="839469" cy="311785"/>
          </a:xfrm>
          <a:prstGeom prst="rect">
            <a:avLst/>
          </a:prstGeom>
        </p:spPr>
        <p:txBody>
          <a:bodyPr vert="horz" wrap="square" lIns="0" tIns="0" rIns="0" bIns="0" rtlCol="0">
            <a:spAutoFit/>
          </a:bodyPr>
          <a:lstStyle/>
          <a:p>
            <a:pPr>
              <a:lnSpc>
                <a:spcPts val="2430"/>
              </a:lnSpc>
            </a:pPr>
            <a:r>
              <a:rPr sz="2200" i="1" dirty="0">
                <a:latin typeface="Arial" panose="020B0604020202020204"/>
                <a:cs typeface="Arial" panose="020B0604020202020204"/>
              </a:rPr>
              <a:t>p</a:t>
            </a:r>
            <a:r>
              <a:rPr sz="2200" i="1" spc="-5" dirty="0">
                <a:latin typeface="Arial" panose="020B0604020202020204"/>
                <a:cs typeface="Arial" panose="020B0604020202020204"/>
              </a:rPr>
              <a:t>f</a:t>
            </a:r>
            <a:r>
              <a:rPr sz="2200" i="1" spc="-20" dirty="0">
                <a:latin typeface="Arial" panose="020B0604020202020204"/>
                <a:cs typeface="Arial" panose="020B0604020202020204"/>
              </a:rPr>
              <a:t>d</a:t>
            </a:r>
            <a:r>
              <a:rPr sz="2200" i="1" spc="15" dirty="0">
                <a:latin typeface="Arial" panose="020B0604020202020204"/>
                <a:cs typeface="Arial" panose="020B0604020202020204"/>
              </a:rPr>
              <a:t>s</a:t>
            </a:r>
            <a:r>
              <a:rPr sz="2200" i="1" spc="-25" dirty="0">
                <a:latin typeface="Arial" panose="020B0604020202020204"/>
                <a:cs typeface="Arial" panose="020B0604020202020204"/>
              </a:rPr>
              <a:t>[</a:t>
            </a:r>
            <a:r>
              <a:rPr sz="2200" i="1" dirty="0">
                <a:latin typeface="Arial" panose="020B0604020202020204"/>
                <a:cs typeface="Arial" panose="020B0604020202020204"/>
              </a:rPr>
              <a:t>1</a:t>
            </a:r>
            <a:r>
              <a:rPr sz="2200" i="1" spc="-5" dirty="0">
                <a:latin typeface="Arial" panose="020B0604020202020204"/>
                <a:cs typeface="Arial" panose="020B0604020202020204"/>
              </a:rPr>
              <a:t>]</a:t>
            </a:r>
            <a:endParaRPr sz="2200">
              <a:latin typeface="Arial" panose="020B0604020202020204"/>
              <a:cs typeface="Arial" panose="020B0604020202020204"/>
            </a:endParaRPr>
          </a:p>
        </p:txBody>
      </p:sp>
      <p:grpSp>
        <p:nvGrpSpPr>
          <p:cNvPr id="15" name="object 15"/>
          <p:cNvGrpSpPr/>
          <p:nvPr/>
        </p:nvGrpSpPr>
        <p:grpSpPr>
          <a:xfrm>
            <a:off x="1335722" y="3042602"/>
            <a:ext cx="6885305" cy="2818765"/>
            <a:chOff x="1335722" y="3042602"/>
            <a:chExt cx="6885305" cy="2818765"/>
          </a:xfrm>
        </p:grpSpPr>
        <p:sp>
          <p:nvSpPr>
            <p:cNvPr id="16" name="object 16"/>
            <p:cNvSpPr/>
            <p:nvPr/>
          </p:nvSpPr>
          <p:spPr>
            <a:xfrm>
              <a:off x="3012935" y="3630180"/>
              <a:ext cx="5207635" cy="2231390"/>
            </a:xfrm>
            <a:custGeom>
              <a:avLst/>
              <a:gdLst/>
              <a:ahLst/>
              <a:cxnLst/>
              <a:rect l="l" t="t" r="r" b="b"/>
              <a:pathLst>
                <a:path w="5207634" h="2231390">
                  <a:moveTo>
                    <a:pt x="2939808" y="10668"/>
                  </a:moveTo>
                  <a:lnTo>
                    <a:pt x="2938272" y="0"/>
                  </a:lnTo>
                  <a:lnTo>
                    <a:pt x="2801112" y="1524"/>
                  </a:lnTo>
                  <a:lnTo>
                    <a:pt x="2663952" y="6096"/>
                  </a:lnTo>
                  <a:lnTo>
                    <a:pt x="2526792" y="13716"/>
                  </a:lnTo>
                  <a:lnTo>
                    <a:pt x="2391156" y="24384"/>
                  </a:lnTo>
                  <a:lnTo>
                    <a:pt x="2257044" y="38100"/>
                  </a:lnTo>
                  <a:lnTo>
                    <a:pt x="2122932" y="54864"/>
                  </a:lnTo>
                  <a:lnTo>
                    <a:pt x="1990344" y="74676"/>
                  </a:lnTo>
                  <a:lnTo>
                    <a:pt x="1860804" y="96012"/>
                  </a:lnTo>
                  <a:lnTo>
                    <a:pt x="1732788" y="118872"/>
                  </a:lnTo>
                  <a:lnTo>
                    <a:pt x="1484376" y="173736"/>
                  </a:lnTo>
                  <a:lnTo>
                    <a:pt x="1248156" y="237744"/>
                  </a:lnTo>
                  <a:lnTo>
                    <a:pt x="1135380" y="272796"/>
                  </a:lnTo>
                  <a:lnTo>
                    <a:pt x="1025652" y="309372"/>
                  </a:lnTo>
                  <a:lnTo>
                    <a:pt x="920496" y="347472"/>
                  </a:lnTo>
                  <a:lnTo>
                    <a:pt x="819912" y="387096"/>
                  </a:lnTo>
                  <a:lnTo>
                    <a:pt x="722376" y="428244"/>
                  </a:lnTo>
                  <a:lnTo>
                    <a:pt x="630936" y="470916"/>
                  </a:lnTo>
                  <a:lnTo>
                    <a:pt x="544068" y="515112"/>
                  </a:lnTo>
                  <a:lnTo>
                    <a:pt x="463296" y="560832"/>
                  </a:lnTo>
                  <a:lnTo>
                    <a:pt x="387096" y="608076"/>
                  </a:lnTo>
                  <a:lnTo>
                    <a:pt x="352044" y="630936"/>
                  </a:lnTo>
                  <a:lnTo>
                    <a:pt x="316992" y="655320"/>
                  </a:lnTo>
                  <a:lnTo>
                    <a:pt x="284988" y="679704"/>
                  </a:lnTo>
                  <a:lnTo>
                    <a:pt x="254508" y="704088"/>
                  </a:lnTo>
                  <a:lnTo>
                    <a:pt x="196596" y="752856"/>
                  </a:lnTo>
                  <a:lnTo>
                    <a:pt x="146304" y="803148"/>
                  </a:lnTo>
                  <a:lnTo>
                    <a:pt x="103632" y="854964"/>
                  </a:lnTo>
                  <a:lnTo>
                    <a:pt x="83820" y="879348"/>
                  </a:lnTo>
                  <a:lnTo>
                    <a:pt x="67056" y="905256"/>
                  </a:lnTo>
                  <a:lnTo>
                    <a:pt x="51816" y="931164"/>
                  </a:lnTo>
                  <a:lnTo>
                    <a:pt x="38100" y="957072"/>
                  </a:lnTo>
                  <a:lnTo>
                    <a:pt x="27432" y="984504"/>
                  </a:lnTo>
                  <a:lnTo>
                    <a:pt x="16764" y="1010412"/>
                  </a:lnTo>
                  <a:lnTo>
                    <a:pt x="9144" y="1036320"/>
                  </a:lnTo>
                  <a:lnTo>
                    <a:pt x="4572" y="1062228"/>
                  </a:lnTo>
                  <a:lnTo>
                    <a:pt x="1524" y="1089660"/>
                  </a:lnTo>
                  <a:lnTo>
                    <a:pt x="0" y="1115568"/>
                  </a:lnTo>
                  <a:lnTo>
                    <a:pt x="0" y="1167384"/>
                  </a:lnTo>
                  <a:lnTo>
                    <a:pt x="1524" y="1220724"/>
                  </a:lnTo>
                  <a:lnTo>
                    <a:pt x="3048" y="1272540"/>
                  </a:lnTo>
                  <a:lnTo>
                    <a:pt x="6096" y="1322832"/>
                  </a:lnTo>
                  <a:lnTo>
                    <a:pt x="9055" y="1373124"/>
                  </a:lnTo>
                  <a:lnTo>
                    <a:pt x="12192" y="1424940"/>
                  </a:lnTo>
                  <a:lnTo>
                    <a:pt x="16764" y="1475232"/>
                  </a:lnTo>
                  <a:lnTo>
                    <a:pt x="21336" y="1524000"/>
                  </a:lnTo>
                  <a:lnTo>
                    <a:pt x="27432" y="1572768"/>
                  </a:lnTo>
                  <a:lnTo>
                    <a:pt x="39624" y="1667256"/>
                  </a:lnTo>
                  <a:lnTo>
                    <a:pt x="47244" y="1711452"/>
                  </a:lnTo>
                  <a:lnTo>
                    <a:pt x="53340" y="1755648"/>
                  </a:lnTo>
                  <a:lnTo>
                    <a:pt x="62484" y="1799844"/>
                  </a:lnTo>
                  <a:lnTo>
                    <a:pt x="70104" y="1840992"/>
                  </a:lnTo>
                  <a:lnTo>
                    <a:pt x="79248" y="1880616"/>
                  </a:lnTo>
                  <a:lnTo>
                    <a:pt x="88392" y="1918716"/>
                  </a:lnTo>
                  <a:lnTo>
                    <a:pt x="97536" y="1955292"/>
                  </a:lnTo>
                  <a:lnTo>
                    <a:pt x="106680" y="1990344"/>
                  </a:lnTo>
                  <a:lnTo>
                    <a:pt x="117348" y="2022348"/>
                  </a:lnTo>
                  <a:lnTo>
                    <a:pt x="126492" y="2054352"/>
                  </a:lnTo>
                  <a:lnTo>
                    <a:pt x="137160" y="2083308"/>
                  </a:lnTo>
                  <a:lnTo>
                    <a:pt x="143256" y="2095500"/>
                  </a:lnTo>
                  <a:lnTo>
                    <a:pt x="149352" y="2109216"/>
                  </a:lnTo>
                  <a:lnTo>
                    <a:pt x="153924" y="2121408"/>
                  </a:lnTo>
                  <a:lnTo>
                    <a:pt x="160020" y="2133600"/>
                  </a:lnTo>
                  <a:lnTo>
                    <a:pt x="164592" y="2144268"/>
                  </a:lnTo>
                  <a:lnTo>
                    <a:pt x="176784" y="2165604"/>
                  </a:lnTo>
                  <a:lnTo>
                    <a:pt x="182880" y="2174748"/>
                  </a:lnTo>
                  <a:lnTo>
                    <a:pt x="182880" y="2176272"/>
                  </a:lnTo>
                  <a:lnTo>
                    <a:pt x="187172" y="2179701"/>
                  </a:lnTo>
                  <a:lnTo>
                    <a:pt x="164592" y="2209800"/>
                  </a:lnTo>
                  <a:lnTo>
                    <a:pt x="256032" y="2226564"/>
                  </a:lnTo>
                  <a:lnTo>
                    <a:pt x="237337" y="2188464"/>
                  </a:lnTo>
                  <a:lnTo>
                    <a:pt x="214884" y="2142744"/>
                  </a:lnTo>
                  <a:lnTo>
                    <a:pt x="193992" y="2170607"/>
                  </a:lnTo>
                  <a:lnTo>
                    <a:pt x="192024" y="2168652"/>
                  </a:lnTo>
                  <a:lnTo>
                    <a:pt x="191008" y="2167128"/>
                  </a:lnTo>
                  <a:lnTo>
                    <a:pt x="179832" y="2150364"/>
                  </a:lnTo>
                  <a:lnTo>
                    <a:pt x="175260" y="2139696"/>
                  </a:lnTo>
                  <a:lnTo>
                    <a:pt x="169164" y="2129028"/>
                  </a:lnTo>
                  <a:lnTo>
                    <a:pt x="163068" y="2116836"/>
                  </a:lnTo>
                  <a:lnTo>
                    <a:pt x="158496" y="2104644"/>
                  </a:lnTo>
                  <a:lnTo>
                    <a:pt x="152400" y="2092452"/>
                  </a:lnTo>
                  <a:lnTo>
                    <a:pt x="147828" y="2078736"/>
                  </a:lnTo>
                  <a:lnTo>
                    <a:pt x="137160" y="2051304"/>
                  </a:lnTo>
                  <a:lnTo>
                    <a:pt x="126492" y="2019300"/>
                  </a:lnTo>
                  <a:lnTo>
                    <a:pt x="117348" y="1987296"/>
                  </a:lnTo>
                  <a:lnTo>
                    <a:pt x="106680" y="1952244"/>
                  </a:lnTo>
                  <a:lnTo>
                    <a:pt x="97536" y="1915668"/>
                  </a:lnTo>
                  <a:lnTo>
                    <a:pt x="88392" y="1877568"/>
                  </a:lnTo>
                  <a:lnTo>
                    <a:pt x="80772" y="1837944"/>
                  </a:lnTo>
                  <a:lnTo>
                    <a:pt x="71628" y="1796796"/>
                  </a:lnTo>
                  <a:lnTo>
                    <a:pt x="64008" y="1754124"/>
                  </a:lnTo>
                  <a:lnTo>
                    <a:pt x="56388" y="1709928"/>
                  </a:lnTo>
                  <a:lnTo>
                    <a:pt x="50292" y="1665732"/>
                  </a:lnTo>
                  <a:lnTo>
                    <a:pt x="38100" y="1571244"/>
                  </a:lnTo>
                  <a:lnTo>
                    <a:pt x="32004" y="1522476"/>
                  </a:lnTo>
                  <a:lnTo>
                    <a:pt x="22860" y="1424940"/>
                  </a:lnTo>
                  <a:lnTo>
                    <a:pt x="19913" y="1374648"/>
                  </a:lnTo>
                  <a:lnTo>
                    <a:pt x="16764" y="1322832"/>
                  </a:lnTo>
                  <a:lnTo>
                    <a:pt x="13716" y="1271016"/>
                  </a:lnTo>
                  <a:lnTo>
                    <a:pt x="10668" y="1167384"/>
                  </a:lnTo>
                  <a:lnTo>
                    <a:pt x="10668" y="1115568"/>
                  </a:lnTo>
                  <a:lnTo>
                    <a:pt x="15240" y="1065276"/>
                  </a:lnTo>
                  <a:lnTo>
                    <a:pt x="27432" y="1013460"/>
                  </a:lnTo>
                  <a:lnTo>
                    <a:pt x="47244" y="963168"/>
                  </a:lnTo>
                  <a:lnTo>
                    <a:pt x="76200" y="911352"/>
                  </a:lnTo>
                  <a:lnTo>
                    <a:pt x="111252" y="861060"/>
                  </a:lnTo>
                  <a:lnTo>
                    <a:pt x="153924" y="810768"/>
                  </a:lnTo>
                  <a:lnTo>
                    <a:pt x="204216" y="760476"/>
                  </a:lnTo>
                  <a:lnTo>
                    <a:pt x="260604" y="711708"/>
                  </a:lnTo>
                  <a:lnTo>
                    <a:pt x="291084" y="687324"/>
                  </a:lnTo>
                  <a:lnTo>
                    <a:pt x="323088" y="664464"/>
                  </a:lnTo>
                  <a:lnTo>
                    <a:pt x="358140" y="640080"/>
                  </a:lnTo>
                  <a:lnTo>
                    <a:pt x="393192" y="617220"/>
                  </a:lnTo>
                  <a:lnTo>
                    <a:pt x="467868" y="569976"/>
                  </a:lnTo>
                  <a:lnTo>
                    <a:pt x="548640" y="525780"/>
                  </a:lnTo>
                  <a:lnTo>
                    <a:pt x="635508" y="481584"/>
                  </a:lnTo>
                  <a:lnTo>
                    <a:pt x="726948" y="438912"/>
                  </a:lnTo>
                  <a:lnTo>
                    <a:pt x="822960" y="397764"/>
                  </a:lnTo>
                  <a:lnTo>
                    <a:pt x="923544" y="356616"/>
                  </a:lnTo>
                  <a:lnTo>
                    <a:pt x="1028700" y="318516"/>
                  </a:lnTo>
                  <a:lnTo>
                    <a:pt x="1138428" y="281940"/>
                  </a:lnTo>
                  <a:lnTo>
                    <a:pt x="1367028" y="214884"/>
                  </a:lnTo>
                  <a:lnTo>
                    <a:pt x="1487424" y="184404"/>
                  </a:lnTo>
                  <a:lnTo>
                    <a:pt x="1609344" y="155448"/>
                  </a:lnTo>
                  <a:lnTo>
                    <a:pt x="1734312" y="129540"/>
                  </a:lnTo>
                  <a:lnTo>
                    <a:pt x="1862328" y="105156"/>
                  </a:lnTo>
                  <a:lnTo>
                    <a:pt x="1991868" y="83820"/>
                  </a:lnTo>
                  <a:lnTo>
                    <a:pt x="2124456" y="65532"/>
                  </a:lnTo>
                  <a:lnTo>
                    <a:pt x="2257044" y="48768"/>
                  </a:lnTo>
                  <a:lnTo>
                    <a:pt x="2392680" y="35052"/>
                  </a:lnTo>
                  <a:lnTo>
                    <a:pt x="2528316" y="24384"/>
                  </a:lnTo>
                  <a:lnTo>
                    <a:pt x="2663952" y="16764"/>
                  </a:lnTo>
                  <a:lnTo>
                    <a:pt x="2801112" y="12192"/>
                  </a:lnTo>
                  <a:lnTo>
                    <a:pt x="2939808" y="10668"/>
                  </a:lnTo>
                  <a:close/>
                </a:path>
                <a:path w="5207634" h="2231390">
                  <a:moveTo>
                    <a:pt x="5207520" y="1063739"/>
                  </a:moveTo>
                  <a:lnTo>
                    <a:pt x="5204472" y="960107"/>
                  </a:lnTo>
                  <a:lnTo>
                    <a:pt x="5201424" y="908291"/>
                  </a:lnTo>
                  <a:lnTo>
                    <a:pt x="5198376" y="857999"/>
                  </a:lnTo>
                  <a:lnTo>
                    <a:pt x="5195328" y="806183"/>
                  </a:lnTo>
                  <a:lnTo>
                    <a:pt x="5190756" y="757415"/>
                  </a:lnTo>
                  <a:lnTo>
                    <a:pt x="5186184" y="707123"/>
                  </a:lnTo>
                  <a:lnTo>
                    <a:pt x="5180088" y="659879"/>
                  </a:lnTo>
                  <a:lnTo>
                    <a:pt x="5173992" y="611111"/>
                  </a:lnTo>
                  <a:lnTo>
                    <a:pt x="5167896" y="565391"/>
                  </a:lnTo>
                  <a:lnTo>
                    <a:pt x="5160276" y="519671"/>
                  </a:lnTo>
                  <a:lnTo>
                    <a:pt x="5154180" y="475475"/>
                  </a:lnTo>
                  <a:lnTo>
                    <a:pt x="5145036" y="432803"/>
                  </a:lnTo>
                  <a:lnTo>
                    <a:pt x="5137416" y="391655"/>
                  </a:lnTo>
                  <a:lnTo>
                    <a:pt x="5128272" y="350507"/>
                  </a:lnTo>
                  <a:lnTo>
                    <a:pt x="5119128" y="312407"/>
                  </a:lnTo>
                  <a:lnTo>
                    <a:pt x="5100840" y="242303"/>
                  </a:lnTo>
                  <a:lnTo>
                    <a:pt x="5079504" y="178295"/>
                  </a:lnTo>
                  <a:lnTo>
                    <a:pt x="5070360" y="149339"/>
                  </a:lnTo>
                  <a:lnTo>
                    <a:pt x="5064264" y="135623"/>
                  </a:lnTo>
                  <a:lnTo>
                    <a:pt x="5058168" y="123431"/>
                  </a:lnTo>
                  <a:lnTo>
                    <a:pt x="5053596" y="109715"/>
                  </a:lnTo>
                  <a:lnTo>
                    <a:pt x="5047500" y="99047"/>
                  </a:lnTo>
                  <a:lnTo>
                    <a:pt x="5041404" y="86855"/>
                  </a:lnTo>
                  <a:lnTo>
                    <a:pt x="5036832" y="76187"/>
                  </a:lnTo>
                  <a:lnTo>
                    <a:pt x="5028704" y="63995"/>
                  </a:lnTo>
                  <a:lnTo>
                    <a:pt x="5027688" y="62471"/>
                  </a:lnTo>
                  <a:lnTo>
                    <a:pt x="5024640" y="57899"/>
                  </a:lnTo>
                  <a:lnTo>
                    <a:pt x="5024640" y="56375"/>
                  </a:lnTo>
                  <a:lnTo>
                    <a:pt x="5020348" y="52946"/>
                  </a:lnTo>
                  <a:lnTo>
                    <a:pt x="5026926" y="44183"/>
                  </a:lnTo>
                  <a:lnTo>
                    <a:pt x="5042928" y="22847"/>
                  </a:lnTo>
                  <a:lnTo>
                    <a:pt x="4949964" y="4559"/>
                  </a:lnTo>
                  <a:lnTo>
                    <a:pt x="4992636" y="89903"/>
                  </a:lnTo>
                  <a:lnTo>
                    <a:pt x="5014049" y="61353"/>
                  </a:lnTo>
                  <a:lnTo>
                    <a:pt x="5015763" y="62890"/>
                  </a:lnTo>
                  <a:lnTo>
                    <a:pt x="5021592" y="71615"/>
                  </a:lnTo>
                  <a:lnTo>
                    <a:pt x="5027688" y="82283"/>
                  </a:lnTo>
                  <a:lnTo>
                    <a:pt x="5038356" y="103619"/>
                  </a:lnTo>
                  <a:lnTo>
                    <a:pt x="5044452" y="114287"/>
                  </a:lnTo>
                  <a:lnTo>
                    <a:pt x="5049024" y="126479"/>
                  </a:lnTo>
                  <a:lnTo>
                    <a:pt x="5055120" y="140195"/>
                  </a:lnTo>
                  <a:lnTo>
                    <a:pt x="5059692" y="152387"/>
                  </a:lnTo>
                  <a:lnTo>
                    <a:pt x="5070360" y="181343"/>
                  </a:lnTo>
                  <a:lnTo>
                    <a:pt x="5081028" y="211823"/>
                  </a:lnTo>
                  <a:lnTo>
                    <a:pt x="5090172" y="243827"/>
                  </a:lnTo>
                  <a:lnTo>
                    <a:pt x="5100840" y="278879"/>
                  </a:lnTo>
                  <a:lnTo>
                    <a:pt x="5109984" y="315455"/>
                  </a:lnTo>
                  <a:lnTo>
                    <a:pt x="5119128" y="353555"/>
                  </a:lnTo>
                  <a:lnTo>
                    <a:pt x="5126748" y="393179"/>
                  </a:lnTo>
                  <a:lnTo>
                    <a:pt x="5135892" y="434327"/>
                  </a:lnTo>
                  <a:lnTo>
                    <a:pt x="5143512" y="476999"/>
                  </a:lnTo>
                  <a:lnTo>
                    <a:pt x="5151132" y="521195"/>
                  </a:lnTo>
                  <a:lnTo>
                    <a:pt x="5163324" y="612635"/>
                  </a:lnTo>
                  <a:lnTo>
                    <a:pt x="5169420" y="659879"/>
                  </a:lnTo>
                  <a:lnTo>
                    <a:pt x="5175516" y="708647"/>
                  </a:lnTo>
                  <a:lnTo>
                    <a:pt x="5180088" y="757415"/>
                  </a:lnTo>
                  <a:lnTo>
                    <a:pt x="5184660" y="807707"/>
                  </a:lnTo>
                  <a:lnTo>
                    <a:pt x="5190756" y="908291"/>
                  </a:lnTo>
                  <a:lnTo>
                    <a:pt x="5193804" y="960107"/>
                  </a:lnTo>
                  <a:lnTo>
                    <a:pt x="5196852" y="1063739"/>
                  </a:lnTo>
                  <a:lnTo>
                    <a:pt x="5196852" y="1115555"/>
                  </a:lnTo>
                  <a:lnTo>
                    <a:pt x="5193804" y="1167371"/>
                  </a:lnTo>
                  <a:lnTo>
                    <a:pt x="5184660" y="1219187"/>
                  </a:lnTo>
                  <a:lnTo>
                    <a:pt x="5167896" y="1269479"/>
                  </a:lnTo>
                  <a:lnTo>
                    <a:pt x="5146560" y="1321295"/>
                  </a:lnTo>
                  <a:lnTo>
                    <a:pt x="5119128" y="1371587"/>
                  </a:lnTo>
                  <a:lnTo>
                    <a:pt x="5085600" y="1421879"/>
                  </a:lnTo>
                  <a:lnTo>
                    <a:pt x="5047500" y="1470647"/>
                  </a:lnTo>
                  <a:lnTo>
                    <a:pt x="5003304" y="1519415"/>
                  </a:lnTo>
                  <a:lnTo>
                    <a:pt x="4956060" y="1568183"/>
                  </a:lnTo>
                  <a:lnTo>
                    <a:pt x="4901196" y="1615427"/>
                  </a:lnTo>
                  <a:lnTo>
                    <a:pt x="4843284" y="1661147"/>
                  </a:lnTo>
                  <a:lnTo>
                    <a:pt x="4782324" y="1706867"/>
                  </a:lnTo>
                  <a:lnTo>
                    <a:pt x="4715268" y="1751063"/>
                  </a:lnTo>
                  <a:lnTo>
                    <a:pt x="4645164" y="1793735"/>
                  </a:lnTo>
                  <a:lnTo>
                    <a:pt x="4570488" y="1834883"/>
                  </a:lnTo>
                  <a:lnTo>
                    <a:pt x="4492764" y="1874507"/>
                  </a:lnTo>
                  <a:lnTo>
                    <a:pt x="4411992" y="1912607"/>
                  </a:lnTo>
                  <a:lnTo>
                    <a:pt x="4328172" y="1949183"/>
                  </a:lnTo>
                  <a:lnTo>
                    <a:pt x="4239780" y="1984235"/>
                  </a:lnTo>
                  <a:lnTo>
                    <a:pt x="4151388" y="2016239"/>
                  </a:lnTo>
                  <a:lnTo>
                    <a:pt x="4058424" y="2046719"/>
                  </a:lnTo>
                  <a:lnTo>
                    <a:pt x="3963936" y="2075675"/>
                  </a:lnTo>
                  <a:lnTo>
                    <a:pt x="3867924" y="2101583"/>
                  </a:lnTo>
                  <a:lnTo>
                    <a:pt x="3768864" y="2125967"/>
                  </a:lnTo>
                  <a:lnTo>
                    <a:pt x="3668280" y="2147303"/>
                  </a:lnTo>
                  <a:lnTo>
                    <a:pt x="3567696" y="2167115"/>
                  </a:lnTo>
                  <a:lnTo>
                    <a:pt x="3464064" y="2182355"/>
                  </a:lnTo>
                  <a:lnTo>
                    <a:pt x="3360432" y="2196071"/>
                  </a:lnTo>
                  <a:lnTo>
                    <a:pt x="3255276" y="2206739"/>
                  </a:lnTo>
                  <a:lnTo>
                    <a:pt x="3150120" y="2214359"/>
                  </a:lnTo>
                  <a:lnTo>
                    <a:pt x="3044964" y="2218931"/>
                  </a:lnTo>
                  <a:lnTo>
                    <a:pt x="2938272" y="2221979"/>
                  </a:lnTo>
                  <a:lnTo>
                    <a:pt x="2939808" y="2231123"/>
                  </a:lnTo>
                  <a:lnTo>
                    <a:pt x="3044964" y="2229599"/>
                  </a:lnTo>
                  <a:lnTo>
                    <a:pt x="3151644" y="2225027"/>
                  </a:lnTo>
                  <a:lnTo>
                    <a:pt x="3256800" y="2217407"/>
                  </a:lnTo>
                  <a:lnTo>
                    <a:pt x="3361956" y="2206739"/>
                  </a:lnTo>
                  <a:lnTo>
                    <a:pt x="3465588" y="2193023"/>
                  </a:lnTo>
                  <a:lnTo>
                    <a:pt x="3569220" y="2176259"/>
                  </a:lnTo>
                  <a:lnTo>
                    <a:pt x="3671328" y="2157971"/>
                  </a:lnTo>
                  <a:lnTo>
                    <a:pt x="3770388" y="2136635"/>
                  </a:lnTo>
                  <a:lnTo>
                    <a:pt x="3869448" y="2112251"/>
                  </a:lnTo>
                  <a:lnTo>
                    <a:pt x="3966984" y="2086343"/>
                  </a:lnTo>
                  <a:lnTo>
                    <a:pt x="4061472" y="2057387"/>
                  </a:lnTo>
                  <a:lnTo>
                    <a:pt x="4154436" y="2026907"/>
                  </a:lnTo>
                  <a:lnTo>
                    <a:pt x="4244352" y="1993379"/>
                  </a:lnTo>
                  <a:lnTo>
                    <a:pt x="4331220" y="1958327"/>
                  </a:lnTo>
                  <a:lnTo>
                    <a:pt x="4416564" y="1921751"/>
                  </a:lnTo>
                  <a:lnTo>
                    <a:pt x="4497336" y="1883651"/>
                  </a:lnTo>
                  <a:lnTo>
                    <a:pt x="4575060" y="1844027"/>
                  </a:lnTo>
                  <a:lnTo>
                    <a:pt x="4649736" y="1802879"/>
                  </a:lnTo>
                  <a:lnTo>
                    <a:pt x="4719840" y="1760207"/>
                  </a:lnTo>
                  <a:lnTo>
                    <a:pt x="4786896" y="1716011"/>
                  </a:lnTo>
                  <a:lnTo>
                    <a:pt x="4849380" y="1670291"/>
                  </a:lnTo>
                  <a:lnTo>
                    <a:pt x="4908816" y="1623047"/>
                  </a:lnTo>
                  <a:lnTo>
                    <a:pt x="4962156" y="1575803"/>
                  </a:lnTo>
                  <a:lnTo>
                    <a:pt x="5010924" y="1527035"/>
                  </a:lnTo>
                  <a:lnTo>
                    <a:pt x="5055120" y="1478267"/>
                  </a:lnTo>
                  <a:lnTo>
                    <a:pt x="5094744" y="1427975"/>
                  </a:lnTo>
                  <a:lnTo>
                    <a:pt x="5128272" y="1377683"/>
                  </a:lnTo>
                  <a:lnTo>
                    <a:pt x="5155704" y="1325867"/>
                  </a:lnTo>
                  <a:lnTo>
                    <a:pt x="5178564" y="1274051"/>
                  </a:lnTo>
                  <a:lnTo>
                    <a:pt x="5193804" y="1220711"/>
                  </a:lnTo>
                  <a:lnTo>
                    <a:pt x="5204472" y="1168895"/>
                  </a:lnTo>
                  <a:lnTo>
                    <a:pt x="5207520" y="1115555"/>
                  </a:lnTo>
                  <a:lnTo>
                    <a:pt x="5207520" y="1063739"/>
                  </a:lnTo>
                  <a:close/>
                </a:path>
              </a:pathLst>
            </a:custGeom>
            <a:solidFill>
              <a:srgbClr val="000000"/>
            </a:solidFill>
          </p:spPr>
          <p:txBody>
            <a:bodyPr wrap="square" lIns="0" tIns="0" rIns="0" bIns="0" rtlCol="0"/>
            <a:lstStyle/>
            <a:p/>
          </p:txBody>
        </p:sp>
        <p:sp>
          <p:nvSpPr>
            <p:cNvPr id="17" name="object 17"/>
            <p:cNvSpPr/>
            <p:nvPr/>
          </p:nvSpPr>
          <p:spPr>
            <a:xfrm>
              <a:off x="1341120" y="3047999"/>
              <a:ext cx="2011680" cy="1173480"/>
            </a:xfrm>
            <a:custGeom>
              <a:avLst/>
              <a:gdLst/>
              <a:ahLst/>
              <a:cxnLst/>
              <a:rect l="l" t="t" r="r" b="b"/>
              <a:pathLst>
                <a:path w="2011679" h="1173479">
                  <a:moveTo>
                    <a:pt x="0" y="0"/>
                  </a:moveTo>
                  <a:lnTo>
                    <a:pt x="2011679" y="0"/>
                  </a:lnTo>
                  <a:lnTo>
                    <a:pt x="2011679" y="1173479"/>
                  </a:lnTo>
                  <a:lnTo>
                    <a:pt x="0" y="1173479"/>
                  </a:lnTo>
                  <a:lnTo>
                    <a:pt x="0" y="0"/>
                  </a:lnTo>
                  <a:close/>
                </a:path>
              </a:pathLst>
            </a:custGeom>
            <a:ln w="10668">
              <a:solidFill>
                <a:srgbClr val="000000"/>
              </a:solidFill>
            </a:ln>
          </p:spPr>
          <p:txBody>
            <a:bodyPr wrap="square" lIns="0" tIns="0" rIns="0" bIns="0" rtlCol="0"/>
            <a:lstStyle/>
            <a:p/>
          </p:txBody>
        </p:sp>
      </p:grpSp>
      <p:sp>
        <p:nvSpPr>
          <p:cNvPr id="18" name="object 18"/>
          <p:cNvSpPr txBox="1"/>
          <p:nvPr/>
        </p:nvSpPr>
        <p:spPr>
          <a:xfrm>
            <a:off x="1345121" y="3458996"/>
            <a:ext cx="864869" cy="360680"/>
          </a:xfrm>
          <a:prstGeom prst="rect">
            <a:avLst/>
          </a:prstGeom>
        </p:spPr>
        <p:txBody>
          <a:bodyPr vert="horz" wrap="square" lIns="0" tIns="12065" rIns="0" bIns="0" rtlCol="0">
            <a:spAutoFit/>
          </a:bodyPr>
          <a:lstStyle/>
          <a:p>
            <a:pPr marL="12700">
              <a:lnSpc>
                <a:spcPct val="100000"/>
              </a:lnSpc>
              <a:spcBef>
                <a:spcPts val="95"/>
              </a:spcBef>
            </a:pPr>
            <a:r>
              <a:rPr sz="2200" i="1" dirty="0">
                <a:latin typeface="Arial" panose="020B0604020202020204"/>
                <a:cs typeface="Arial" panose="020B0604020202020204"/>
              </a:rPr>
              <a:t>p</a:t>
            </a:r>
            <a:r>
              <a:rPr sz="2200" i="1" spc="-5" dirty="0">
                <a:latin typeface="Arial" panose="020B0604020202020204"/>
                <a:cs typeface="Arial" panose="020B0604020202020204"/>
              </a:rPr>
              <a:t>f</a:t>
            </a:r>
            <a:r>
              <a:rPr sz="2200" i="1" spc="-20" dirty="0">
                <a:latin typeface="Arial" panose="020B0604020202020204"/>
                <a:cs typeface="Arial" panose="020B0604020202020204"/>
              </a:rPr>
              <a:t>d</a:t>
            </a:r>
            <a:r>
              <a:rPr sz="2200" i="1" spc="15" dirty="0">
                <a:latin typeface="Arial" panose="020B0604020202020204"/>
                <a:cs typeface="Arial" panose="020B0604020202020204"/>
              </a:rPr>
              <a:t>s</a:t>
            </a:r>
            <a:r>
              <a:rPr sz="2200" i="1" spc="-5" dirty="0">
                <a:latin typeface="Arial" panose="020B0604020202020204"/>
                <a:cs typeface="Arial" panose="020B0604020202020204"/>
              </a:rPr>
              <a:t>[</a:t>
            </a:r>
            <a:r>
              <a:rPr sz="2200" i="1" spc="-20" dirty="0">
                <a:latin typeface="Arial" panose="020B0604020202020204"/>
                <a:cs typeface="Arial" panose="020B0604020202020204"/>
              </a:rPr>
              <a:t>1</a:t>
            </a:r>
            <a:r>
              <a:rPr sz="2200" i="1" spc="-5" dirty="0">
                <a:latin typeface="Arial" panose="020B0604020202020204"/>
                <a:cs typeface="Arial" panose="020B0604020202020204"/>
              </a:rPr>
              <a:t>]</a:t>
            </a:r>
            <a:endParaRPr sz="2200">
              <a:latin typeface="Arial" panose="020B0604020202020204"/>
              <a:cs typeface="Arial" panose="020B0604020202020204"/>
            </a:endParaRPr>
          </a:p>
        </p:txBody>
      </p:sp>
      <p:sp>
        <p:nvSpPr>
          <p:cNvPr id="19" name="object 19"/>
          <p:cNvSpPr txBox="1"/>
          <p:nvPr/>
        </p:nvSpPr>
        <p:spPr>
          <a:xfrm>
            <a:off x="2459765" y="3200840"/>
            <a:ext cx="839469" cy="311785"/>
          </a:xfrm>
          <a:prstGeom prst="rect">
            <a:avLst/>
          </a:prstGeom>
        </p:spPr>
        <p:txBody>
          <a:bodyPr vert="horz" wrap="square" lIns="0" tIns="0" rIns="0" bIns="0" rtlCol="0">
            <a:spAutoFit/>
          </a:bodyPr>
          <a:lstStyle/>
          <a:p>
            <a:pPr>
              <a:lnSpc>
                <a:spcPts val="2430"/>
              </a:lnSpc>
            </a:pPr>
            <a:r>
              <a:rPr sz="2200" i="1" dirty="0">
                <a:latin typeface="Arial" panose="020B0604020202020204"/>
                <a:cs typeface="Arial" panose="020B0604020202020204"/>
              </a:rPr>
              <a:t>p</a:t>
            </a:r>
            <a:r>
              <a:rPr sz="2200" i="1" spc="-5" dirty="0">
                <a:latin typeface="Arial" panose="020B0604020202020204"/>
                <a:cs typeface="Arial" panose="020B0604020202020204"/>
              </a:rPr>
              <a:t>f</a:t>
            </a:r>
            <a:r>
              <a:rPr sz="2200" i="1" spc="-20" dirty="0">
                <a:latin typeface="Arial" panose="020B0604020202020204"/>
                <a:cs typeface="Arial" panose="020B0604020202020204"/>
              </a:rPr>
              <a:t>d</a:t>
            </a:r>
            <a:r>
              <a:rPr sz="2200" i="1" spc="15" dirty="0">
                <a:latin typeface="Arial" panose="020B0604020202020204"/>
                <a:cs typeface="Arial" panose="020B0604020202020204"/>
              </a:rPr>
              <a:t>s</a:t>
            </a:r>
            <a:r>
              <a:rPr sz="2200" i="1" spc="-25" dirty="0">
                <a:latin typeface="Arial" panose="020B0604020202020204"/>
                <a:cs typeface="Arial" panose="020B0604020202020204"/>
              </a:rPr>
              <a:t>[</a:t>
            </a:r>
            <a:r>
              <a:rPr sz="2200" i="1" dirty="0">
                <a:latin typeface="Arial" panose="020B0604020202020204"/>
                <a:cs typeface="Arial" panose="020B0604020202020204"/>
              </a:rPr>
              <a:t>0</a:t>
            </a:r>
            <a:r>
              <a:rPr sz="2200" i="1" spc="-5" dirty="0">
                <a:latin typeface="Arial" panose="020B0604020202020204"/>
                <a:cs typeface="Arial" panose="020B0604020202020204"/>
              </a:rPr>
              <a:t>]</a:t>
            </a:r>
            <a:endParaRPr sz="2200">
              <a:latin typeface="Arial" panose="020B0604020202020204"/>
              <a:cs typeface="Arial" panose="020B0604020202020204"/>
            </a:endParaRPr>
          </a:p>
        </p:txBody>
      </p:sp>
      <p:grpSp>
        <p:nvGrpSpPr>
          <p:cNvPr id="20" name="object 20"/>
          <p:cNvGrpSpPr/>
          <p:nvPr/>
        </p:nvGrpSpPr>
        <p:grpSpPr>
          <a:xfrm>
            <a:off x="3436620" y="3342132"/>
            <a:ext cx="3621404" cy="481965"/>
            <a:chOff x="3436620" y="3342132"/>
            <a:chExt cx="3621404" cy="481965"/>
          </a:xfrm>
        </p:grpSpPr>
        <p:sp>
          <p:nvSpPr>
            <p:cNvPr id="21" name="object 21"/>
            <p:cNvSpPr/>
            <p:nvPr/>
          </p:nvSpPr>
          <p:spPr>
            <a:xfrm>
              <a:off x="3436620" y="3342131"/>
              <a:ext cx="2346960" cy="84455"/>
            </a:xfrm>
            <a:custGeom>
              <a:avLst/>
              <a:gdLst/>
              <a:ahLst/>
              <a:cxnLst/>
              <a:rect l="l" t="t" r="r" b="b"/>
              <a:pathLst>
                <a:path w="2346960" h="84454">
                  <a:moveTo>
                    <a:pt x="2346960" y="41160"/>
                  </a:moveTo>
                  <a:lnTo>
                    <a:pt x="2337638" y="36576"/>
                  </a:lnTo>
                  <a:lnTo>
                    <a:pt x="2263140" y="0"/>
                  </a:lnTo>
                  <a:lnTo>
                    <a:pt x="2263140" y="36576"/>
                  </a:lnTo>
                  <a:lnTo>
                    <a:pt x="0" y="36576"/>
                  </a:lnTo>
                  <a:lnTo>
                    <a:pt x="0" y="47256"/>
                  </a:lnTo>
                  <a:lnTo>
                    <a:pt x="2263140" y="47256"/>
                  </a:lnTo>
                  <a:lnTo>
                    <a:pt x="2263140" y="83832"/>
                  </a:lnTo>
                  <a:lnTo>
                    <a:pt x="2334984" y="47256"/>
                  </a:lnTo>
                  <a:lnTo>
                    <a:pt x="2346960" y="41160"/>
                  </a:lnTo>
                  <a:close/>
                </a:path>
              </a:pathLst>
            </a:custGeom>
            <a:solidFill>
              <a:srgbClr val="000000"/>
            </a:solidFill>
          </p:spPr>
          <p:txBody>
            <a:bodyPr wrap="square" lIns="0" tIns="0" rIns="0" bIns="0" rtlCol="0"/>
            <a:lstStyle/>
            <a:p/>
          </p:txBody>
        </p:sp>
        <p:sp>
          <p:nvSpPr>
            <p:cNvPr id="22" name="object 22"/>
            <p:cNvSpPr/>
            <p:nvPr/>
          </p:nvSpPr>
          <p:spPr>
            <a:xfrm>
              <a:off x="4777740" y="3383280"/>
              <a:ext cx="2280285" cy="440690"/>
            </a:xfrm>
            <a:custGeom>
              <a:avLst/>
              <a:gdLst/>
              <a:ahLst/>
              <a:cxnLst/>
              <a:rect l="l" t="t" r="r" b="b"/>
              <a:pathLst>
                <a:path w="2280284" h="440689">
                  <a:moveTo>
                    <a:pt x="2279904" y="440436"/>
                  </a:moveTo>
                  <a:lnTo>
                    <a:pt x="0" y="440436"/>
                  </a:lnTo>
                  <a:lnTo>
                    <a:pt x="0" y="0"/>
                  </a:lnTo>
                  <a:lnTo>
                    <a:pt x="2279904" y="0"/>
                  </a:lnTo>
                  <a:lnTo>
                    <a:pt x="2279904" y="440436"/>
                  </a:lnTo>
                  <a:close/>
                </a:path>
              </a:pathLst>
            </a:custGeom>
            <a:solidFill>
              <a:srgbClr val="FFFFFF"/>
            </a:solidFill>
          </p:spPr>
          <p:txBody>
            <a:bodyPr wrap="square" lIns="0" tIns="0" rIns="0" bIns="0" rtlCol="0"/>
            <a:lstStyle/>
            <a:p/>
          </p:txBody>
        </p:sp>
      </p:grpSp>
      <p:sp>
        <p:nvSpPr>
          <p:cNvPr id="23" name="object 23"/>
          <p:cNvSpPr txBox="1">
            <a:spLocks noGrp="1"/>
          </p:cNvSpPr>
          <p:nvPr>
            <p:ph type="title"/>
          </p:nvPr>
        </p:nvSpPr>
        <p:spPr>
          <a:prstGeom prst="rect">
            <a:avLst/>
          </a:prstGeom>
        </p:spPr>
        <p:txBody>
          <a:bodyPr vert="horz" wrap="square" lIns="0" tIns="13970" rIns="0" bIns="0" rtlCol="0">
            <a:spAutoFit/>
          </a:bodyPr>
          <a:lstStyle/>
          <a:p>
            <a:pPr marL="14605">
              <a:lnSpc>
                <a:spcPct val="100000"/>
              </a:lnSpc>
              <a:spcBef>
                <a:spcPts val="110"/>
              </a:spcBef>
            </a:pPr>
            <a:r>
              <a:rPr spc="-735" dirty="0"/>
              <a:t>A </a:t>
            </a:r>
            <a:r>
              <a:rPr spc="-254" dirty="0"/>
              <a:t>Channel </a:t>
            </a:r>
            <a:r>
              <a:rPr spc="-225" dirty="0"/>
              <a:t>between </a:t>
            </a:r>
            <a:r>
              <a:rPr spc="-305" dirty="0"/>
              <a:t>two</a:t>
            </a:r>
            <a:r>
              <a:rPr spc="-125" dirty="0"/>
              <a:t> </a:t>
            </a:r>
            <a:r>
              <a:rPr spc="-290" dirty="0"/>
              <a:t>processes</a:t>
            </a:r>
            <a:endParaRPr spc="-290" dirty="0"/>
          </a:p>
        </p:txBody>
      </p:sp>
      <p:sp>
        <p:nvSpPr>
          <p:cNvPr id="24" name="object 24"/>
          <p:cNvSpPr txBox="1"/>
          <p:nvPr/>
        </p:nvSpPr>
        <p:spPr>
          <a:xfrm>
            <a:off x="1764273" y="4167661"/>
            <a:ext cx="1080770" cy="360680"/>
          </a:xfrm>
          <a:prstGeom prst="rect">
            <a:avLst/>
          </a:prstGeom>
        </p:spPr>
        <p:txBody>
          <a:bodyPr vert="horz" wrap="square" lIns="0" tIns="12065" rIns="0" bIns="0" rtlCol="0">
            <a:spAutoFit/>
          </a:bodyPr>
          <a:lstStyle/>
          <a:p>
            <a:pPr marL="12700">
              <a:lnSpc>
                <a:spcPct val="100000"/>
              </a:lnSpc>
              <a:spcBef>
                <a:spcPts val="95"/>
              </a:spcBef>
            </a:pPr>
            <a:r>
              <a:rPr sz="2200" i="1" dirty="0">
                <a:latin typeface="Arial" panose="020B0604020202020204"/>
                <a:cs typeface="Arial" panose="020B0604020202020204"/>
              </a:rPr>
              <a:t>1.</a:t>
            </a:r>
            <a:r>
              <a:rPr sz="2200" i="1" spc="-80" dirty="0">
                <a:latin typeface="Arial" panose="020B0604020202020204"/>
                <a:cs typeface="Arial" panose="020B0604020202020204"/>
              </a:rPr>
              <a:t> </a:t>
            </a:r>
            <a:r>
              <a:rPr sz="2200" i="1" spc="-5" dirty="0">
                <a:latin typeface="Arial" panose="020B0604020202020204"/>
                <a:cs typeface="Arial" panose="020B0604020202020204"/>
              </a:rPr>
              <a:t>Pipe()</a:t>
            </a:r>
            <a:endParaRPr sz="2200">
              <a:latin typeface="Arial" panose="020B0604020202020204"/>
              <a:cs typeface="Arial" panose="020B0604020202020204"/>
            </a:endParaRPr>
          </a:p>
        </p:txBody>
      </p:sp>
      <p:sp>
        <p:nvSpPr>
          <p:cNvPr id="25" name="object 25"/>
          <p:cNvSpPr txBox="1"/>
          <p:nvPr/>
        </p:nvSpPr>
        <p:spPr>
          <a:xfrm>
            <a:off x="4865569" y="3413241"/>
            <a:ext cx="2014855" cy="360680"/>
          </a:xfrm>
          <a:prstGeom prst="rect">
            <a:avLst/>
          </a:prstGeom>
        </p:spPr>
        <p:txBody>
          <a:bodyPr vert="horz" wrap="square" lIns="0" tIns="12065" rIns="0" bIns="0" rtlCol="0">
            <a:spAutoFit/>
          </a:bodyPr>
          <a:lstStyle/>
          <a:p>
            <a:pPr marL="12700">
              <a:lnSpc>
                <a:spcPct val="100000"/>
              </a:lnSpc>
              <a:spcBef>
                <a:spcPts val="95"/>
              </a:spcBef>
            </a:pPr>
            <a:r>
              <a:rPr sz="2200" i="1" dirty="0">
                <a:latin typeface="Arial" panose="020B0604020202020204"/>
                <a:cs typeface="Arial" panose="020B0604020202020204"/>
              </a:rPr>
              <a:t>3.</a:t>
            </a:r>
            <a:r>
              <a:rPr sz="2200" i="1" spc="-50" dirty="0">
                <a:latin typeface="Arial" panose="020B0604020202020204"/>
                <a:cs typeface="Arial" panose="020B0604020202020204"/>
              </a:rPr>
              <a:t> </a:t>
            </a:r>
            <a:r>
              <a:rPr sz="2200" i="1" spc="-5" dirty="0">
                <a:latin typeface="Arial" panose="020B0604020202020204"/>
                <a:cs typeface="Arial" panose="020B0604020202020204"/>
              </a:rPr>
              <a:t>close(pfds[1])</a:t>
            </a:r>
            <a:endParaRPr sz="2200">
              <a:latin typeface="Arial" panose="020B0604020202020204"/>
              <a:cs typeface="Arial" panose="020B0604020202020204"/>
            </a:endParaRPr>
          </a:p>
        </p:txBody>
      </p:sp>
      <p:sp>
        <p:nvSpPr>
          <p:cNvPr id="26" name="object 26"/>
          <p:cNvSpPr/>
          <p:nvPr/>
        </p:nvSpPr>
        <p:spPr>
          <a:xfrm>
            <a:off x="1158239" y="3131820"/>
            <a:ext cx="2278380" cy="440690"/>
          </a:xfrm>
          <a:custGeom>
            <a:avLst/>
            <a:gdLst/>
            <a:ahLst/>
            <a:cxnLst/>
            <a:rect l="l" t="t" r="r" b="b"/>
            <a:pathLst>
              <a:path w="2278379" h="440689">
                <a:moveTo>
                  <a:pt x="2278380" y="440436"/>
                </a:moveTo>
                <a:lnTo>
                  <a:pt x="0" y="440436"/>
                </a:lnTo>
                <a:lnTo>
                  <a:pt x="0" y="0"/>
                </a:lnTo>
                <a:lnTo>
                  <a:pt x="2278380" y="0"/>
                </a:lnTo>
                <a:lnTo>
                  <a:pt x="2278380" y="440436"/>
                </a:lnTo>
                <a:close/>
              </a:path>
            </a:pathLst>
          </a:custGeom>
          <a:solidFill>
            <a:srgbClr val="FFFFFF"/>
          </a:solidFill>
        </p:spPr>
        <p:txBody>
          <a:bodyPr wrap="square" lIns="0" tIns="0" rIns="0" bIns="0" rtlCol="0"/>
          <a:lstStyle/>
          <a:p/>
        </p:txBody>
      </p:sp>
      <p:sp>
        <p:nvSpPr>
          <p:cNvPr id="27" name="object 27"/>
          <p:cNvSpPr txBox="1"/>
          <p:nvPr/>
        </p:nvSpPr>
        <p:spPr>
          <a:xfrm>
            <a:off x="506919" y="1599691"/>
            <a:ext cx="8052434" cy="1922145"/>
          </a:xfrm>
          <a:prstGeom prst="rect">
            <a:avLst/>
          </a:prstGeom>
        </p:spPr>
        <p:txBody>
          <a:bodyPr vert="horz" wrap="square" lIns="0" tIns="59055" rIns="0" bIns="0" rtlCol="0">
            <a:spAutoFit/>
          </a:bodyPr>
          <a:lstStyle/>
          <a:p>
            <a:pPr marL="390525" marR="5080" indent="-378460">
              <a:lnSpc>
                <a:spcPts val="2840"/>
              </a:lnSpc>
              <a:spcBef>
                <a:spcPts val="465"/>
              </a:spcBef>
              <a:buChar char="•"/>
              <a:tabLst>
                <a:tab pos="391160" algn="l"/>
                <a:tab pos="391795" algn="l"/>
              </a:tabLst>
            </a:pPr>
            <a:r>
              <a:rPr sz="2650" spc="-220" dirty="0">
                <a:latin typeface="Arial" panose="020B0604020202020204"/>
                <a:cs typeface="Arial" panose="020B0604020202020204"/>
              </a:rPr>
              <a:t>To </a:t>
            </a:r>
            <a:r>
              <a:rPr sz="2650" spc="-10" dirty="0">
                <a:latin typeface="Arial" panose="020B0604020202020204"/>
                <a:cs typeface="Arial" panose="020B0604020202020204"/>
              </a:rPr>
              <a:t>allow</a:t>
            </a:r>
            <a:r>
              <a:rPr sz="2650" spc="-540" dirty="0">
                <a:latin typeface="Arial" panose="020B0604020202020204"/>
                <a:cs typeface="Arial" panose="020B0604020202020204"/>
              </a:rPr>
              <a:t> </a:t>
            </a:r>
            <a:r>
              <a:rPr sz="2650" spc="-60" dirty="0">
                <a:latin typeface="Arial" panose="020B0604020202020204"/>
                <a:cs typeface="Arial" panose="020B0604020202020204"/>
              </a:rPr>
              <a:t>one </a:t>
            </a:r>
            <a:r>
              <a:rPr sz="2650" spc="-55" dirty="0">
                <a:latin typeface="Arial" panose="020B0604020202020204"/>
                <a:cs typeface="Arial" panose="020B0604020202020204"/>
              </a:rPr>
              <a:t>way </a:t>
            </a:r>
            <a:r>
              <a:rPr sz="2650" spc="-45" dirty="0">
                <a:latin typeface="Arial" panose="020B0604020202020204"/>
                <a:cs typeface="Arial" panose="020B0604020202020204"/>
              </a:rPr>
              <a:t>communication </a:t>
            </a:r>
            <a:r>
              <a:rPr sz="2650" spc="-125" dirty="0">
                <a:latin typeface="Arial" panose="020B0604020202020204"/>
                <a:cs typeface="Arial" panose="020B0604020202020204"/>
              </a:rPr>
              <a:t>each </a:t>
            </a:r>
            <a:r>
              <a:rPr sz="2650" spc="-95" dirty="0">
                <a:latin typeface="Arial" panose="020B0604020202020204"/>
                <a:cs typeface="Arial" panose="020B0604020202020204"/>
              </a:rPr>
              <a:t>process </a:t>
            </a:r>
            <a:r>
              <a:rPr sz="2650" spc="-55" dirty="0">
                <a:latin typeface="Arial" panose="020B0604020202020204"/>
                <a:cs typeface="Arial" panose="020B0604020202020204"/>
              </a:rPr>
              <a:t>should  </a:t>
            </a:r>
            <a:r>
              <a:rPr sz="2650" spc="-100" dirty="0">
                <a:latin typeface="Arial" panose="020B0604020202020204"/>
                <a:cs typeface="Arial" panose="020B0604020202020204"/>
              </a:rPr>
              <a:t>close</a:t>
            </a:r>
            <a:r>
              <a:rPr sz="2650" spc="-145" dirty="0">
                <a:latin typeface="Arial" panose="020B0604020202020204"/>
                <a:cs typeface="Arial" panose="020B0604020202020204"/>
              </a:rPr>
              <a:t> </a:t>
            </a:r>
            <a:r>
              <a:rPr sz="2650" spc="-60" dirty="0">
                <a:latin typeface="Arial" panose="020B0604020202020204"/>
                <a:cs typeface="Arial" panose="020B0604020202020204"/>
              </a:rPr>
              <a:t>one</a:t>
            </a:r>
            <a:r>
              <a:rPr sz="2650" spc="-165" dirty="0">
                <a:latin typeface="Arial" panose="020B0604020202020204"/>
                <a:cs typeface="Arial" panose="020B0604020202020204"/>
              </a:rPr>
              <a:t> </a:t>
            </a:r>
            <a:r>
              <a:rPr sz="2650" spc="-60" dirty="0">
                <a:latin typeface="Arial" panose="020B0604020202020204"/>
                <a:cs typeface="Arial" panose="020B0604020202020204"/>
              </a:rPr>
              <a:t>end</a:t>
            </a:r>
            <a:r>
              <a:rPr sz="2650" spc="-160" dirty="0">
                <a:latin typeface="Arial" panose="020B0604020202020204"/>
                <a:cs typeface="Arial" panose="020B0604020202020204"/>
              </a:rPr>
              <a:t> </a:t>
            </a:r>
            <a:r>
              <a:rPr sz="2650" spc="75" dirty="0">
                <a:latin typeface="Arial" panose="020B0604020202020204"/>
                <a:cs typeface="Arial" panose="020B0604020202020204"/>
              </a:rPr>
              <a:t>of</a:t>
            </a:r>
            <a:r>
              <a:rPr sz="2650" spc="-155" dirty="0">
                <a:latin typeface="Arial" panose="020B0604020202020204"/>
                <a:cs typeface="Arial" panose="020B0604020202020204"/>
              </a:rPr>
              <a:t> </a:t>
            </a:r>
            <a:r>
              <a:rPr sz="2650" spc="10" dirty="0">
                <a:latin typeface="Arial" panose="020B0604020202020204"/>
                <a:cs typeface="Arial" panose="020B0604020202020204"/>
              </a:rPr>
              <a:t>the</a:t>
            </a:r>
            <a:r>
              <a:rPr sz="2650" spc="-165" dirty="0">
                <a:latin typeface="Arial" panose="020B0604020202020204"/>
                <a:cs typeface="Arial" panose="020B0604020202020204"/>
              </a:rPr>
              <a:t> </a:t>
            </a:r>
            <a:r>
              <a:rPr sz="2650" spc="-50" dirty="0">
                <a:latin typeface="Arial" panose="020B0604020202020204"/>
                <a:cs typeface="Arial" panose="020B0604020202020204"/>
              </a:rPr>
              <a:t>pipe.</a:t>
            </a:r>
            <a:endParaRPr sz="2650">
              <a:latin typeface="Arial" panose="020B0604020202020204"/>
              <a:cs typeface="Arial" panose="020B0604020202020204"/>
            </a:endParaRPr>
          </a:p>
          <a:p>
            <a:pPr marL="1185545">
              <a:lnSpc>
                <a:spcPct val="100000"/>
              </a:lnSpc>
              <a:spcBef>
                <a:spcPts val="1630"/>
              </a:spcBef>
              <a:tabLst>
                <a:tab pos="5963285" algn="l"/>
              </a:tabLst>
            </a:pPr>
            <a:r>
              <a:rPr sz="2200" i="1" spc="-5" dirty="0">
                <a:latin typeface="Arial" panose="020B0604020202020204"/>
                <a:cs typeface="Arial" panose="020B0604020202020204"/>
              </a:rPr>
              <a:t>Parent	</a:t>
            </a:r>
            <a:r>
              <a:rPr sz="2200" i="1" dirty="0">
                <a:latin typeface="Arial" panose="020B0604020202020204"/>
                <a:cs typeface="Arial" panose="020B0604020202020204"/>
              </a:rPr>
              <a:t>Child</a:t>
            </a:r>
            <a:endParaRPr sz="2200">
              <a:latin typeface="Arial" panose="020B0604020202020204"/>
              <a:cs typeface="Arial" panose="020B0604020202020204"/>
            </a:endParaRPr>
          </a:p>
          <a:p>
            <a:pPr marL="3572510">
              <a:lnSpc>
                <a:spcPts val="2310"/>
              </a:lnSpc>
            </a:pPr>
            <a:r>
              <a:rPr sz="2200" i="1" dirty="0">
                <a:latin typeface="Arial" panose="020B0604020202020204"/>
                <a:cs typeface="Arial" panose="020B0604020202020204"/>
              </a:rPr>
              <a:t>2.</a:t>
            </a:r>
            <a:r>
              <a:rPr sz="2200" i="1" spc="-20" dirty="0">
                <a:latin typeface="Arial" panose="020B0604020202020204"/>
                <a:cs typeface="Arial" panose="020B0604020202020204"/>
              </a:rPr>
              <a:t> </a:t>
            </a:r>
            <a:r>
              <a:rPr sz="2200" i="1" spc="-5" dirty="0">
                <a:latin typeface="Arial" panose="020B0604020202020204"/>
                <a:cs typeface="Arial" panose="020B0604020202020204"/>
              </a:rPr>
              <a:t>Fork()</a:t>
            </a:r>
            <a:endParaRPr sz="2200">
              <a:latin typeface="Arial" panose="020B0604020202020204"/>
              <a:cs typeface="Arial" panose="020B0604020202020204"/>
            </a:endParaRPr>
          </a:p>
          <a:p>
            <a:pPr marL="751840">
              <a:lnSpc>
                <a:spcPts val="2310"/>
              </a:lnSpc>
              <a:tabLst>
                <a:tab pos="6562725" algn="l"/>
              </a:tabLst>
            </a:pPr>
            <a:r>
              <a:rPr sz="2200" i="1" dirty="0">
                <a:latin typeface="Arial" panose="020B0604020202020204"/>
                <a:cs typeface="Arial" panose="020B0604020202020204"/>
              </a:rPr>
              <a:t>4.</a:t>
            </a:r>
            <a:r>
              <a:rPr sz="2200" i="1" spc="5" dirty="0">
                <a:latin typeface="Arial" panose="020B0604020202020204"/>
                <a:cs typeface="Arial" panose="020B0604020202020204"/>
              </a:rPr>
              <a:t> </a:t>
            </a:r>
            <a:r>
              <a:rPr sz="2200" i="1" spc="-5" dirty="0">
                <a:latin typeface="Arial" panose="020B0604020202020204"/>
                <a:cs typeface="Arial" panose="020B0604020202020204"/>
              </a:rPr>
              <a:t>close(pfds[0])	pfds[0]</a:t>
            </a:r>
            <a:endParaRPr sz="2200">
              <a:latin typeface="Arial" panose="020B0604020202020204"/>
              <a:cs typeface="Arial" panose="020B0604020202020204"/>
            </a:endParaRPr>
          </a:p>
        </p:txBody>
      </p:sp>
      <p:sp>
        <p:nvSpPr>
          <p:cNvPr id="28" name="object 28"/>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29" name="object 29"/>
          <p:cNvSpPr txBox="1"/>
          <p:nvPr/>
        </p:nvSpPr>
        <p:spPr>
          <a:xfrm>
            <a:off x="280400" y="7095872"/>
            <a:ext cx="262255" cy="212725"/>
          </a:xfrm>
          <a:prstGeom prst="rect">
            <a:avLst/>
          </a:prstGeom>
        </p:spPr>
        <p:txBody>
          <a:bodyPr vert="horz" wrap="square" lIns="0" tIns="0" rIns="0" bIns="0" rtlCol="0">
            <a:spAutoFit/>
          </a:bodyPr>
          <a:lstStyle/>
          <a:p>
            <a:pPr marL="38100">
              <a:lnSpc>
                <a:spcPts val="1555"/>
              </a:lnSpc>
            </a:pPr>
            <a:fld id="{81D60167-4931-47E6-BA6A-407CBD079E47}" type="slidenum">
              <a:rPr sz="1300" spc="10" dirty="0">
                <a:latin typeface="Arial" panose="020B0604020202020204"/>
                <a:cs typeface="Arial" panose="020B0604020202020204"/>
              </a:rPr>
            </a:fld>
            <a:endParaRPr sz="1300">
              <a:latin typeface="Arial" panose="020B0604020202020204"/>
              <a:cs typeface="Arial" panose="020B060402020202020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5800" y="7079992"/>
            <a:ext cx="211454"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panose="020B0604020202020204"/>
                <a:cs typeface="Arial" panose="020B0604020202020204"/>
              </a:rPr>
              <a:t>4</a:t>
            </a:r>
            <a:r>
              <a:rPr sz="1300" spc="10" dirty="0">
                <a:latin typeface="Arial" panose="020B0604020202020204"/>
                <a:cs typeface="Arial" panose="020B0604020202020204"/>
              </a:rPr>
              <a:t>1</a:t>
            </a:r>
            <a:endParaRPr sz="1300">
              <a:latin typeface="Arial" panose="020B0604020202020204"/>
              <a:cs typeface="Arial" panose="020B0604020202020204"/>
            </a:endParaRPr>
          </a:p>
        </p:txBody>
      </p:sp>
      <p:sp>
        <p:nvSpPr>
          <p:cNvPr id="3" name="object 3"/>
          <p:cNvSpPr txBox="1">
            <a:spLocks noGrp="1"/>
          </p:cNvSpPr>
          <p:nvPr>
            <p:ph type="title"/>
          </p:nvPr>
        </p:nvSpPr>
        <p:spPr>
          <a:xfrm>
            <a:off x="1093625" y="472051"/>
            <a:ext cx="6944995" cy="696595"/>
          </a:xfrm>
          <a:prstGeom prst="rect">
            <a:avLst/>
          </a:prstGeom>
        </p:spPr>
        <p:txBody>
          <a:bodyPr vert="horz" wrap="square" lIns="0" tIns="12700" rIns="0" bIns="0" rtlCol="0">
            <a:spAutoFit/>
          </a:bodyPr>
          <a:lstStyle/>
          <a:p>
            <a:pPr marL="12700">
              <a:lnSpc>
                <a:spcPct val="100000"/>
              </a:lnSpc>
              <a:spcBef>
                <a:spcPts val="100"/>
              </a:spcBef>
            </a:pPr>
            <a:r>
              <a:rPr sz="4400" b="0" spc="-120" dirty="0">
                <a:latin typeface="Trebuchet MS" panose="020B0603020202020204"/>
                <a:cs typeface="Trebuchet MS" panose="020B0603020202020204"/>
              </a:rPr>
              <a:t>An Example </a:t>
            </a:r>
            <a:r>
              <a:rPr sz="4400" b="0" spc="-190" dirty="0">
                <a:latin typeface="Trebuchet MS" panose="020B0603020202020204"/>
                <a:cs typeface="Trebuchet MS" panose="020B0603020202020204"/>
              </a:rPr>
              <a:t>of </a:t>
            </a:r>
            <a:r>
              <a:rPr sz="4400" b="0" spc="-60" dirty="0">
                <a:latin typeface="Trebuchet MS" panose="020B0603020202020204"/>
                <a:cs typeface="Trebuchet MS" panose="020B0603020202020204"/>
              </a:rPr>
              <a:t>pipes </a:t>
            </a:r>
            <a:r>
              <a:rPr sz="4400" b="0" spc="-254" dirty="0">
                <a:latin typeface="Trebuchet MS" panose="020B0603020202020204"/>
                <a:cs typeface="Trebuchet MS" panose="020B0603020202020204"/>
              </a:rPr>
              <a:t>with</a:t>
            </a:r>
            <a:r>
              <a:rPr sz="4400" b="0" spc="-819" dirty="0">
                <a:latin typeface="Trebuchet MS" panose="020B0603020202020204"/>
                <a:cs typeface="Trebuchet MS" panose="020B0603020202020204"/>
              </a:rPr>
              <a:t> </a:t>
            </a:r>
            <a:r>
              <a:rPr sz="4400" b="0" spc="-200" dirty="0">
                <a:latin typeface="Trebuchet MS" panose="020B0603020202020204"/>
                <a:cs typeface="Trebuchet MS" panose="020B0603020202020204"/>
              </a:rPr>
              <a:t>fork</a:t>
            </a:r>
            <a:endParaRPr sz="4400">
              <a:latin typeface="Trebuchet MS" panose="020B0603020202020204"/>
              <a:cs typeface="Trebuchet MS" panose="020B0603020202020204"/>
            </a:endParaRPr>
          </a:p>
        </p:txBody>
      </p:sp>
      <p:sp>
        <p:nvSpPr>
          <p:cNvPr id="4" name="object 4"/>
          <p:cNvSpPr txBox="1"/>
          <p:nvPr/>
        </p:nvSpPr>
        <p:spPr>
          <a:xfrm>
            <a:off x="842010" y="1403350"/>
            <a:ext cx="8830310" cy="6043295"/>
          </a:xfrm>
          <a:prstGeom prst="rect">
            <a:avLst/>
          </a:prstGeom>
        </p:spPr>
        <p:txBody>
          <a:bodyPr vert="horz" wrap="square" lIns="0" tIns="12065" rIns="0" bIns="0" rtlCol="0">
            <a:spAutoFit/>
          </a:bodyPr>
          <a:lstStyle/>
          <a:p>
            <a:pPr marL="312420" marR="5331460" indent="-300355">
              <a:lnSpc>
                <a:spcPct val="109000"/>
              </a:lnSpc>
              <a:spcBef>
                <a:spcPts val="95"/>
              </a:spcBef>
            </a:pPr>
            <a:r>
              <a:rPr sz="1950" b="1" i="1" spc="10" dirty="0">
                <a:latin typeface="Arial" panose="020B0604020202020204"/>
                <a:cs typeface="Arial" panose="020B0604020202020204"/>
              </a:rPr>
              <a:t>int main() </a:t>
            </a:r>
            <a:endParaRPr sz="1950" b="1" i="1" spc="10" dirty="0">
              <a:latin typeface="Arial" panose="020B0604020202020204"/>
              <a:cs typeface="Arial" panose="020B0604020202020204"/>
            </a:endParaRPr>
          </a:p>
          <a:p>
            <a:pPr marL="312420" marR="5331460" indent="-300355">
              <a:lnSpc>
                <a:spcPct val="109000"/>
              </a:lnSpc>
              <a:spcBef>
                <a:spcPts val="95"/>
              </a:spcBef>
            </a:pPr>
            <a:r>
              <a:rPr sz="1950" b="1" i="1" spc="10" dirty="0">
                <a:latin typeface="Arial" panose="020B0604020202020204"/>
                <a:cs typeface="Arial" panose="020B0604020202020204"/>
              </a:rPr>
              <a:t>{  </a:t>
            </a:r>
            <a:endParaRPr sz="1950" b="1" i="1" spc="10" dirty="0">
              <a:latin typeface="Arial" panose="020B0604020202020204"/>
              <a:cs typeface="Arial" panose="020B0604020202020204"/>
            </a:endParaRPr>
          </a:p>
          <a:p>
            <a:pPr marL="312420" marR="5331460" indent="-300355">
              <a:lnSpc>
                <a:spcPct val="109000"/>
              </a:lnSpc>
              <a:spcBef>
                <a:spcPts val="95"/>
              </a:spcBef>
            </a:pPr>
            <a:r>
              <a:rPr lang="en-US" sz="1950" b="1" i="1" spc="10" dirty="0">
                <a:latin typeface="Arial" panose="020B0604020202020204"/>
                <a:cs typeface="Arial" panose="020B0604020202020204"/>
              </a:rPr>
              <a:t>	</a:t>
            </a:r>
            <a:r>
              <a:rPr sz="1950" b="1" i="1" spc="10" dirty="0">
                <a:latin typeface="Arial" panose="020B0604020202020204"/>
                <a:cs typeface="Arial" panose="020B0604020202020204"/>
              </a:rPr>
              <a:t>int</a:t>
            </a:r>
            <a:r>
              <a:rPr lang="en-US" sz="1950" b="1" i="1" spc="10" dirty="0">
                <a:latin typeface="Arial" panose="020B0604020202020204"/>
                <a:cs typeface="Arial" panose="020B0604020202020204"/>
              </a:rPr>
              <a:t> </a:t>
            </a:r>
            <a:r>
              <a:rPr sz="1950" b="1" i="1" spc="10" dirty="0">
                <a:solidFill>
                  <a:srgbClr val="CC3300"/>
                </a:solidFill>
                <a:latin typeface="Arial" panose="020B0604020202020204"/>
                <a:cs typeface="Arial" panose="020B0604020202020204"/>
              </a:rPr>
              <a:t>pfds</a:t>
            </a:r>
            <a:r>
              <a:rPr sz="1950" b="1" i="1" spc="10" dirty="0">
                <a:latin typeface="Arial" panose="020B0604020202020204"/>
                <a:cs typeface="Arial" panose="020B0604020202020204"/>
              </a:rPr>
              <a:t>[2];</a:t>
            </a:r>
            <a:endParaRPr sz="1950">
              <a:latin typeface="Arial" panose="020B0604020202020204"/>
              <a:cs typeface="Arial" panose="020B0604020202020204"/>
            </a:endParaRPr>
          </a:p>
          <a:p>
            <a:pPr marL="312420" marR="1165860">
              <a:lnSpc>
                <a:spcPct val="109000"/>
              </a:lnSpc>
              <a:spcBef>
                <a:spcPts val="10"/>
              </a:spcBef>
            </a:pPr>
            <a:r>
              <a:rPr sz="1950" b="1" i="1" spc="15" dirty="0">
                <a:latin typeface="Arial" panose="020B0604020202020204"/>
                <a:cs typeface="Arial" panose="020B0604020202020204"/>
              </a:rPr>
              <a:t>char </a:t>
            </a:r>
            <a:r>
              <a:rPr sz="1950" b="1" i="1" spc="10" dirty="0">
                <a:latin typeface="Arial" panose="020B0604020202020204"/>
                <a:cs typeface="Arial" panose="020B0604020202020204"/>
              </a:rPr>
              <a:t>buf[30];  </a:t>
            </a:r>
            <a:r>
              <a:rPr sz="1950" b="1" i="1" spc="20" dirty="0">
                <a:solidFill>
                  <a:srgbClr val="CC3300"/>
                </a:solidFill>
                <a:latin typeface="Arial" panose="020B0604020202020204"/>
                <a:cs typeface="Arial" panose="020B0604020202020204"/>
              </a:rPr>
              <a:t>pipe(</a:t>
            </a:r>
            <a:r>
              <a:rPr sz="1950" b="1" i="1" spc="20" dirty="0">
                <a:latin typeface="Arial" panose="020B0604020202020204"/>
                <a:cs typeface="Arial" panose="020B0604020202020204"/>
              </a:rPr>
              <a:t>pfds);…………………………………………1  </a:t>
            </a:r>
            <a:r>
              <a:rPr sz="1950" b="1" i="1" spc="5" dirty="0">
                <a:latin typeface="Arial" panose="020B0604020202020204"/>
                <a:cs typeface="Arial" panose="020B0604020202020204"/>
              </a:rPr>
              <a:t>if </a:t>
            </a:r>
            <a:r>
              <a:rPr sz="1950" b="1" i="1" spc="10" dirty="0">
                <a:solidFill>
                  <a:srgbClr val="CC3300"/>
                </a:solidFill>
                <a:latin typeface="Arial" panose="020B0604020202020204"/>
                <a:cs typeface="Arial" panose="020B0604020202020204"/>
              </a:rPr>
              <a:t>(fork()==0</a:t>
            </a:r>
            <a:r>
              <a:rPr sz="1950" b="1" i="1" spc="10" dirty="0">
                <a:latin typeface="Arial" panose="020B0604020202020204"/>
                <a:cs typeface="Arial" panose="020B0604020202020204"/>
              </a:rPr>
              <a:t>)</a:t>
            </a:r>
            <a:r>
              <a:rPr sz="1950" b="1" i="1" spc="-10" dirty="0">
                <a:latin typeface="Arial" panose="020B0604020202020204"/>
                <a:cs typeface="Arial" panose="020B0604020202020204"/>
              </a:rPr>
              <a:t> </a:t>
            </a:r>
            <a:r>
              <a:rPr sz="1950" b="1" i="1" spc="25" dirty="0">
                <a:latin typeface="Arial" panose="020B0604020202020204"/>
                <a:cs typeface="Arial" panose="020B0604020202020204"/>
              </a:rPr>
              <a:t>………………………………………2</a:t>
            </a:r>
            <a:endParaRPr sz="1950">
              <a:latin typeface="Arial" panose="020B0604020202020204"/>
              <a:cs typeface="Arial" panose="020B0604020202020204"/>
            </a:endParaRPr>
          </a:p>
          <a:p>
            <a:pPr marL="291465" marR="1478280" indent="-139065">
              <a:lnSpc>
                <a:spcPct val="110000"/>
              </a:lnSpc>
              <a:spcBef>
                <a:spcPts val="5"/>
              </a:spcBef>
            </a:pPr>
            <a:r>
              <a:rPr sz="1950" b="1" i="1" spc="10" dirty="0">
                <a:latin typeface="Arial" panose="020B0604020202020204"/>
                <a:cs typeface="Arial" panose="020B0604020202020204"/>
              </a:rPr>
              <a:t>{</a:t>
            </a:r>
            <a:r>
              <a:rPr sz="1950" b="1" i="1" spc="-80" dirty="0">
                <a:latin typeface="Arial" panose="020B0604020202020204"/>
                <a:cs typeface="Arial" panose="020B0604020202020204"/>
              </a:rPr>
              <a:t> </a:t>
            </a:r>
            <a:endParaRPr sz="1950" b="1" i="1" spc="-80" dirty="0">
              <a:latin typeface="Arial" panose="020B0604020202020204"/>
              <a:cs typeface="Arial" panose="020B0604020202020204"/>
            </a:endParaRPr>
          </a:p>
          <a:p>
            <a:pPr marL="291465" marR="1478280" indent="-139065">
              <a:lnSpc>
                <a:spcPct val="110000"/>
              </a:lnSpc>
              <a:spcBef>
                <a:spcPts val="5"/>
              </a:spcBef>
            </a:pPr>
            <a:r>
              <a:rPr lang="en-US" sz="1950" b="1" i="1" spc="20" dirty="0">
                <a:solidFill>
                  <a:srgbClr val="CC3300"/>
                </a:solidFill>
                <a:latin typeface="Arial" panose="020B0604020202020204"/>
                <a:cs typeface="Arial" panose="020B0604020202020204"/>
              </a:rPr>
              <a:t>	</a:t>
            </a:r>
            <a:r>
              <a:rPr sz="1950" b="1" i="1" spc="20" dirty="0">
                <a:solidFill>
                  <a:srgbClr val="CC3300"/>
                </a:solidFill>
                <a:latin typeface="Arial" panose="020B0604020202020204"/>
                <a:cs typeface="Arial" panose="020B0604020202020204"/>
              </a:rPr>
              <a:t>close(pfds[0]);…………………………………3  </a:t>
            </a:r>
            <a:endParaRPr sz="1950" b="1" i="1" spc="20" dirty="0">
              <a:solidFill>
                <a:srgbClr val="CC3300"/>
              </a:solidFill>
              <a:latin typeface="Arial" panose="020B0604020202020204"/>
              <a:cs typeface="Arial" panose="020B0604020202020204"/>
            </a:endParaRPr>
          </a:p>
          <a:p>
            <a:pPr marL="291465" marR="1478280" indent="-139065">
              <a:lnSpc>
                <a:spcPct val="110000"/>
              </a:lnSpc>
              <a:spcBef>
                <a:spcPts val="5"/>
              </a:spcBef>
            </a:pPr>
            <a:r>
              <a:rPr lang="en-US" sz="1950" b="1" i="1" spc="10" dirty="0">
                <a:latin typeface="Arial" panose="020B0604020202020204"/>
                <a:cs typeface="Arial" panose="020B0604020202020204"/>
              </a:rPr>
              <a:t>	</a:t>
            </a:r>
            <a:r>
              <a:rPr sz="1950" b="1" i="1" spc="10" dirty="0">
                <a:latin typeface="Arial" panose="020B0604020202020204"/>
                <a:cs typeface="Arial" panose="020B0604020202020204"/>
              </a:rPr>
              <a:t>printf(" </a:t>
            </a:r>
            <a:r>
              <a:rPr sz="1950" b="1" i="1" spc="15" dirty="0">
                <a:latin typeface="Arial" panose="020B0604020202020204"/>
                <a:cs typeface="Arial" panose="020B0604020202020204"/>
              </a:rPr>
              <a:t>CHILD: </a:t>
            </a:r>
            <a:r>
              <a:rPr sz="1950" b="1" i="1" spc="10" dirty="0">
                <a:latin typeface="Arial" panose="020B0604020202020204"/>
                <a:cs typeface="Arial" panose="020B0604020202020204"/>
              </a:rPr>
              <a:t>writing </a:t>
            </a:r>
            <a:r>
              <a:rPr sz="1950" b="1" i="1" spc="5" dirty="0">
                <a:latin typeface="Arial" panose="020B0604020202020204"/>
                <a:cs typeface="Arial" panose="020B0604020202020204"/>
              </a:rPr>
              <a:t>to </a:t>
            </a:r>
            <a:r>
              <a:rPr sz="1950" b="1" i="1" spc="15" dirty="0">
                <a:latin typeface="Arial" panose="020B0604020202020204"/>
                <a:cs typeface="Arial" panose="020B0604020202020204"/>
              </a:rPr>
              <a:t>the </a:t>
            </a:r>
            <a:r>
              <a:rPr sz="1950" b="1" i="1" spc="10" dirty="0">
                <a:latin typeface="Arial" panose="020B0604020202020204"/>
                <a:cs typeface="Arial" panose="020B0604020202020204"/>
              </a:rPr>
              <a:t>pipe\n");  </a:t>
            </a:r>
            <a:endParaRPr sz="1950" b="1" i="1" spc="10" dirty="0">
              <a:latin typeface="Arial" panose="020B0604020202020204"/>
              <a:cs typeface="Arial" panose="020B0604020202020204"/>
            </a:endParaRPr>
          </a:p>
          <a:p>
            <a:pPr marL="291465" marR="1478280" indent="-139065">
              <a:lnSpc>
                <a:spcPct val="110000"/>
              </a:lnSpc>
              <a:spcBef>
                <a:spcPts val="5"/>
              </a:spcBef>
            </a:pPr>
            <a:r>
              <a:rPr lang="en-US" sz="1950" b="1" i="1" spc="10" dirty="0">
                <a:latin typeface="Arial" panose="020B0604020202020204"/>
                <a:cs typeface="Arial" panose="020B0604020202020204"/>
              </a:rPr>
              <a:t>	</a:t>
            </a:r>
            <a:r>
              <a:rPr sz="1950" b="1" i="1" spc="10" dirty="0">
                <a:solidFill>
                  <a:srgbClr val="CC3300"/>
                </a:solidFill>
                <a:latin typeface="Arial" panose="020B0604020202020204"/>
                <a:cs typeface="Arial" panose="020B0604020202020204"/>
              </a:rPr>
              <a:t>write</a:t>
            </a:r>
            <a:r>
              <a:rPr sz="1950" b="1" i="1" spc="10" dirty="0">
                <a:latin typeface="Arial" panose="020B0604020202020204"/>
                <a:cs typeface="Arial" panose="020B0604020202020204"/>
              </a:rPr>
              <a:t>(pfds[1], "test",</a:t>
            </a:r>
            <a:r>
              <a:rPr sz="1950" b="1" i="1" spc="-25" dirty="0">
                <a:latin typeface="Arial" panose="020B0604020202020204"/>
                <a:cs typeface="Arial" panose="020B0604020202020204"/>
              </a:rPr>
              <a:t> </a:t>
            </a:r>
            <a:r>
              <a:rPr sz="1950" b="1" i="1" spc="10" dirty="0">
                <a:latin typeface="Arial" panose="020B0604020202020204"/>
                <a:cs typeface="Arial" panose="020B0604020202020204"/>
              </a:rPr>
              <a:t>5);</a:t>
            </a:r>
            <a:endParaRPr sz="1950">
              <a:latin typeface="Arial" panose="020B0604020202020204"/>
              <a:cs typeface="Arial" panose="020B0604020202020204"/>
            </a:endParaRPr>
          </a:p>
          <a:p>
            <a:pPr marL="291465" marR="3489960">
              <a:lnSpc>
                <a:spcPct val="109000"/>
              </a:lnSpc>
            </a:pPr>
            <a:r>
              <a:rPr sz="1950" b="1" i="1" spc="10" dirty="0">
                <a:latin typeface="Arial" panose="020B0604020202020204"/>
                <a:cs typeface="Arial" panose="020B0604020202020204"/>
              </a:rPr>
              <a:t>printf(" </a:t>
            </a:r>
            <a:r>
              <a:rPr sz="1950" b="1" i="1" spc="15" dirty="0">
                <a:latin typeface="Arial" panose="020B0604020202020204"/>
                <a:cs typeface="Arial" panose="020B0604020202020204"/>
              </a:rPr>
              <a:t>CHILD:</a:t>
            </a:r>
            <a:r>
              <a:rPr sz="1950" b="1" i="1" spc="-65" dirty="0">
                <a:latin typeface="Arial" panose="020B0604020202020204"/>
                <a:cs typeface="Arial" panose="020B0604020202020204"/>
              </a:rPr>
              <a:t> </a:t>
            </a:r>
            <a:r>
              <a:rPr sz="1950" b="1" i="1" spc="10" dirty="0">
                <a:latin typeface="Arial" panose="020B0604020202020204"/>
                <a:cs typeface="Arial" panose="020B0604020202020204"/>
              </a:rPr>
              <a:t>exiting\n");  </a:t>
            </a:r>
            <a:r>
              <a:rPr sz="1950" b="1" i="1" spc="10" dirty="0">
                <a:latin typeface="Arial" panose="020B0604020202020204"/>
                <a:cs typeface="Arial" panose="020B0604020202020204"/>
              </a:rPr>
              <a:t>exit(0);</a:t>
            </a:r>
            <a:endParaRPr sz="1950">
              <a:latin typeface="Arial" panose="020B0604020202020204"/>
              <a:cs typeface="Arial" panose="020B0604020202020204"/>
            </a:endParaRPr>
          </a:p>
          <a:p>
            <a:pPr marL="152400">
              <a:lnSpc>
                <a:spcPct val="100000"/>
              </a:lnSpc>
              <a:spcBef>
                <a:spcPts val="230"/>
              </a:spcBef>
            </a:pPr>
            <a:r>
              <a:rPr sz="1950" b="1" i="1" spc="10" dirty="0">
                <a:latin typeface="Arial" panose="020B0604020202020204"/>
                <a:cs typeface="Arial" panose="020B0604020202020204"/>
              </a:rPr>
              <a:t>}</a:t>
            </a:r>
            <a:endParaRPr sz="1950">
              <a:latin typeface="Arial" panose="020B0604020202020204"/>
              <a:cs typeface="Arial" panose="020B0604020202020204"/>
            </a:endParaRPr>
          </a:p>
          <a:p>
            <a:pPr marL="640080" marR="5080" indent="-328295">
              <a:lnSpc>
                <a:spcPts val="2570"/>
              </a:lnSpc>
              <a:spcBef>
                <a:spcPts val="110"/>
              </a:spcBef>
            </a:pPr>
            <a:r>
              <a:rPr sz="1950" b="1" i="1" spc="10" dirty="0">
                <a:latin typeface="Arial" panose="020B0604020202020204"/>
                <a:cs typeface="Arial" panose="020B0604020202020204"/>
              </a:rPr>
              <a:t>else { </a:t>
            </a:r>
            <a:endParaRPr sz="1950" b="1" i="1" spc="10" dirty="0">
              <a:latin typeface="Arial" panose="020B0604020202020204"/>
              <a:cs typeface="Arial" panose="020B0604020202020204"/>
            </a:endParaRPr>
          </a:p>
          <a:p>
            <a:pPr marL="640080" marR="5080" indent="-328295">
              <a:lnSpc>
                <a:spcPts val="2570"/>
              </a:lnSpc>
              <a:spcBef>
                <a:spcPts val="110"/>
              </a:spcBef>
            </a:pPr>
            <a:r>
              <a:rPr sz="1950" b="1" i="1" spc="10" dirty="0">
                <a:latin typeface="Arial" panose="020B0604020202020204"/>
                <a:cs typeface="Arial" panose="020B0604020202020204"/>
                <a:sym typeface="+mn-ea"/>
              </a:rPr>
              <a:t>wait(NULL);</a:t>
            </a:r>
            <a:endParaRPr sz="1950" b="1" i="1" spc="10" dirty="0">
              <a:latin typeface="Arial" panose="020B0604020202020204"/>
              <a:cs typeface="Arial" panose="020B0604020202020204"/>
            </a:endParaRPr>
          </a:p>
          <a:p>
            <a:pPr marL="640080" marR="5080" indent="-328295">
              <a:lnSpc>
                <a:spcPts val="2570"/>
              </a:lnSpc>
              <a:spcBef>
                <a:spcPts val="110"/>
              </a:spcBef>
            </a:pPr>
            <a:r>
              <a:rPr sz="1950" b="1" i="1" spc="20" dirty="0">
                <a:solidFill>
                  <a:srgbClr val="CC3300"/>
                </a:solidFill>
                <a:latin typeface="Arial" panose="020B0604020202020204"/>
                <a:cs typeface="Arial" panose="020B0604020202020204"/>
              </a:rPr>
              <a:t>close(pfds[1]);…………………………………………4  </a:t>
            </a:r>
            <a:endParaRPr sz="1950" b="1" i="1" spc="20" dirty="0">
              <a:solidFill>
                <a:srgbClr val="CC3300"/>
              </a:solidFill>
              <a:latin typeface="Arial" panose="020B0604020202020204"/>
              <a:cs typeface="Arial" panose="020B0604020202020204"/>
            </a:endParaRPr>
          </a:p>
          <a:p>
            <a:pPr marL="640080" marR="5080" indent="-328295">
              <a:lnSpc>
                <a:spcPts val="2570"/>
              </a:lnSpc>
              <a:spcBef>
                <a:spcPts val="110"/>
              </a:spcBef>
            </a:pPr>
            <a:r>
              <a:rPr sz="1950" b="1" i="1" spc="-10" dirty="0">
                <a:latin typeface="Arial" panose="020B0604020202020204"/>
                <a:cs typeface="Arial" panose="020B0604020202020204"/>
              </a:rPr>
              <a:t>printf("PARENT: </a:t>
            </a:r>
            <a:r>
              <a:rPr sz="1950" b="1" i="1" spc="15" dirty="0">
                <a:latin typeface="Arial" panose="020B0604020202020204"/>
                <a:cs typeface="Arial" panose="020B0604020202020204"/>
              </a:rPr>
              <a:t>reading from</a:t>
            </a:r>
            <a:r>
              <a:rPr sz="1950" b="1" i="1" spc="-25" dirty="0">
                <a:latin typeface="Arial" panose="020B0604020202020204"/>
                <a:cs typeface="Arial" panose="020B0604020202020204"/>
              </a:rPr>
              <a:t> </a:t>
            </a:r>
            <a:r>
              <a:rPr sz="1950" b="1" i="1" spc="10" dirty="0">
                <a:latin typeface="Arial" panose="020B0604020202020204"/>
                <a:cs typeface="Arial" panose="020B0604020202020204"/>
              </a:rPr>
              <a:t>pipe\n");</a:t>
            </a:r>
            <a:endParaRPr sz="1950" b="1" i="1" spc="10" dirty="0">
              <a:latin typeface="Arial" panose="020B0604020202020204"/>
              <a:cs typeface="Arial" panose="020B0604020202020204"/>
            </a:endParaRPr>
          </a:p>
          <a:p>
            <a:pPr marL="640080" marR="5080" indent="-328295">
              <a:lnSpc>
                <a:spcPts val="2570"/>
              </a:lnSpc>
              <a:spcBef>
                <a:spcPts val="110"/>
              </a:spcBef>
            </a:pPr>
            <a:r>
              <a:rPr sz="1950" b="1" i="1" spc="10" dirty="0">
                <a:solidFill>
                  <a:srgbClr val="CC3300"/>
                </a:solidFill>
                <a:latin typeface="Arial" panose="020B0604020202020204"/>
                <a:cs typeface="Arial" panose="020B0604020202020204"/>
              </a:rPr>
              <a:t>read</a:t>
            </a:r>
            <a:r>
              <a:rPr sz="1950" b="1" i="1" spc="10" dirty="0">
                <a:latin typeface="Arial" panose="020B0604020202020204"/>
                <a:cs typeface="Arial" panose="020B0604020202020204"/>
              </a:rPr>
              <a:t>(pfds[0], buf,</a:t>
            </a:r>
            <a:r>
              <a:rPr sz="1950" b="1" i="1" spc="-25" dirty="0">
                <a:latin typeface="Arial" panose="020B0604020202020204"/>
                <a:cs typeface="Arial" panose="020B0604020202020204"/>
              </a:rPr>
              <a:t> </a:t>
            </a:r>
            <a:r>
              <a:rPr sz="1950" b="1" i="1" spc="10" dirty="0">
                <a:latin typeface="Arial" panose="020B0604020202020204"/>
                <a:cs typeface="Arial" panose="020B0604020202020204"/>
              </a:rPr>
              <a:t>5);</a:t>
            </a:r>
            <a:endParaRPr sz="1950" b="1" i="1" spc="10" dirty="0">
              <a:latin typeface="Arial" panose="020B0604020202020204"/>
              <a:cs typeface="Arial" panose="020B0604020202020204"/>
            </a:endParaRPr>
          </a:p>
          <a:p>
            <a:pPr marL="640080" marR="5080" indent="-328295">
              <a:lnSpc>
                <a:spcPts val="2570"/>
              </a:lnSpc>
              <a:spcBef>
                <a:spcPts val="110"/>
              </a:spcBef>
            </a:pPr>
            <a:r>
              <a:rPr sz="1950" b="1" i="1" spc="10" dirty="0">
                <a:latin typeface="Arial" panose="020B0604020202020204"/>
                <a:cs typeface="Arial" panose="020B0604020202020204"/>
              </a:rPr>
              <a:t>printf( </a:t>
            </a:r>
            <a:r>
              <a:rPr sz="1950" b="1" i="1" spc="-20" dirty="0">
                <a:latin typeface="Arial" panose="020B0604020202020204"/>
                <a:cs typeface="Arial" panose="020B0604020202020204"/>
              </a:rPr>
              <a:t>"PARENT: </a:t>
            </a:r>
            <a:r>
              <a:rPr sz="1950" b="1" i="1" spc="10" dirty="0">
                <a:latin typeface="Arial" panose="020B0604020202020204"/>
                <a:cs typeface="Arial" panose="020B0604020202020204"/>
              </a:rPr>
              <a:t>read \"%s\"\n", buf);  }</a:t>
            </a:r>
            <a:endParaRPr sz="1950">
              <a:latin typeface="Arial" panose="020B0604020202020204"/>
              <a:cs typeface="Arial" panose="020B0604020202020204"/>
            </a:endParaRPr>
          </a:p>
          <a:p>
            <a:pPr marL="82550">
              <a:lnSpc>
                <a:spcPct val="100000"/>
              </a:lnSpc>
              <a:spcBef>
                <a:spcPts val="300"/>
              </a:spcBef>
            </a:pPr>
            <a:r>
              <a:rPr sz="2925" b="1" i="1" spc="15" baseline="1000" dirty="0">
                <a:latin typeface="Arial" panose="020B0604020202020204"/>
                <a:cs typeface="Arial" panose="020B0604020202020204"/>
              </a:rPr>
              <a:t>} </a:t>
            </a:r>
            <a:r>
              <a:rPr sz="1500" spc="15" dirty="0">
                <a:solidFill>
                  <a:srgbClr val="696464"/>
                </a:solidFill>
                <a:latin typeface="Arial" panose="020B0604020202020204"/>
                <a:cs typeface="Arial" panose="020B0604020202020204"/>
              </a:rPr>
              <a:t>CS-2006 Operating</a:t>
            </a:r>
            <a:r>
              <a:rPr sz="1500" spc="114" dirty="0">
                <a:solidFill>
                  <a:srgbClr val="696464"/>
                </a:solidFill>
                <a:latin typeface="Arial" panose="020B0604020202020204"/>
                <a:cs typeface="Arial" panose="020B0604020202020204"/>
              </a:rPr>
              <a:t> </a:t>
            </a:r>
            <a:r>
              <a:rPr sz="1500" spc="10" dirty="0">
                <a:solidFill>
                  <a:srgbClr val="696464"/>
                </a:solidFill>
                <a:latin typeface="Arial" panose="020B0604020202020204"/>
                <a:cs typeface="Arial" panose="020B0604020202020204"/>
              </a:rPr>
              <a:t>Systems</a:t>
            </a:r>
            <a:endParaRPr sz="1500">
              <a:latin typeface="Arial" panose="020B0604020202020204"/>
              <a:cs typeface="Arial" panose="020B060402020202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3470" y="630555"/>
            <a:ext cx="6011545" cy="689610"/>
          </a:xfrm>
          <a:prstGeom prst="rect">
            <a:avLst/>
          </a:prstGeom>
        </p:spPr>
        <p:txBody>
          <a:bodyPr vert="horz" wrap="square" lIns="0" tIns="12700" rIns="0" bIns="0" rtlCol="0">
            <a:spAutoFit/>
          </a:bodyPr>
          <a:lstStyle/>
          <a:p>
            <a:pPr marL="12700">
              <a:lnSpc>
                <a:spcPct val="100000"/>
              </a:lnSpc>
              <a:spcBef>
                <a:spcPts val="100"/>
              </a:spcBef>
            </a:pPr>
            <a:r>
              <a:rPr lang="en-US" sz="4400" spc="-235" dirty="0"/>
              <a:t>2- </a:t>
            </a:r>
            <a:r>
              <a:rPr sz="4400" spc="-235" dirty="0"/>
              <a:t>Named</a:t>
            </a:r>
            <a:r>
              <a:rPr sz="4400" spc="-240" dirty="0"/>
              <a:t> </a:t>
            </a:r>
            <a:r>
              <a:rPr sz="4400" spc="-280" dirty="0"/>
              <a:t>pipes</a:t>
            </a:r>
            <a:r>
              <a:rPr lang="en-US" sz="4400" spc="-280" dirty="0"/>
              <a:t>/ FIFO</a:t>
            </a:r>
            <a:endParaRPr lang="en-US" sz="4400" spc="-280" dirty="0"/>
          </a:p>
        </p:txBody>
      </p:sp>
      <p:sp>
        <p:nvSpPr>
          <p:cNvPr id="3" name="object 3"/>
          <p:cNvSpPr txBox="1"/>
          <p:nvPr/>
        </p:nvSpPr>
        <p:spPr>
          <a:xfrm>
            <a:off x="1093655" y="1604959"/>
            <a:ext cx="7844155" cy="4283710"/>
          </a:xfrm>
          <a:prstGeom prst="rect">
            <a:avLst/>
          </a:prstGeom>
        </p:spPr>
        <p:txBody>
          <a:bodyPr vert="horz" wrap="square" lIns="0" tIns="99695" rIns="0" bIns="0" rtlCol="0">
            <a:spAutoFit/>
          </a:bodyPr>
          <a:lstStyle/>
          <a:p>
            <a:pPr marL="312420" indent="-300355">
              <a:lnSpc>
                <a:spcPct val="100000"/>
              </a:lnSpc>
              <a:spcBef>
                <a:spcPts val="785"/>
              </a:spcBef>
              <a:buClr>
                <a:srgbClr val="D34816"/>
              </a:buClr>
              <a:buSzPct val="85000"/>
              <a:buFont typeface="Webdings" panose="05030102010509060703"/>
              <a:buChar char=""/>
              <a:tabLst>
                <a:tab pos="313055" algn="l"/>
              </a:tabLst>
            </a:pPr>
            <a:r>
              <a:rPr sz="3050" spc="-150" dirty="0">
                <a:latin typeface="Times New Roman" panose="02020603050405020304"/>
                <a:cs typeface="Times New Roman" panose="02020603050405020304"/>
              </a:rPr>
              <a:t>Named </a:t>
            </a:r>
            <a:r>
              <a:rPr sz="3050" spc="-140" dirty="0">
                <a:latin typeface="Times New Roman" panose="02020603050405020304"/>
                <a:cs typeface="Times New Roman" panose="02020603050405020304"/>
              </a:rPr>
              <a:t>pipes </a:t>
            </a:r>
            <a:r>
              <a:rPr sz="3050" spc="-110" dirty="0">
                <a:latin typeface="Times New Roman" panose="02020603050405020304"/>
                <a:cs typeface="Times New Roman" panose="02020603050405020304"/>
              </a:rPr>
              <a:t>are </a:t>
            </a:r>
            <a:r>
              <a:rPr sz="3050" spc="-95" dirty="0">
                <a:latin typeface="Times New Roman" panose="02020603050405020304"/>
                <a:cs typeface="Times New Roman" panose="02020603050405020304"/>
              </a:rPr>
              <a:t>more </a:t>
            </a:r>
            <a:r>
              <a:rPr sz="3050" spc="-140" dirty="0">
                <a:latin typeface="Times New Roman" panose="02020603050405020304"/>
                <a:cs typeface="Times New Roman" panose="02020603050405020304"/>
              </a:rPr>
              <a:t>powerful </a:t>
            </a:r>
            <a:r>
              <a:rPr sz="3050" spc="-125" dirty="0">
                <a:latin typeface="Times New Roman" panose="02020603050405020304"/>
                <a:cs typeface="Times New Roman" panose="02020603050405020304"/>
              </a:rPr>
              <a:t>than </a:t>
            </a:r>
            <a:r>
              <a:rPr sz="3050" spc="-105" dirty="0">
                <a:latin typeface="Times New Roman" panose="02020603050405020304"/>
                <a:cs typeface="Times New Roman" panose="02020603050405020304"/>
              </a:rPr>
              <a:t>ordinary</a:t>
            </a:r>
            <a:r>
              <a:rPr sz="3050" spc="210" dirty="0">
                <a:latin typeface="Times New Roman" panose="02020603050405020304"/>
                <a:cs typeface="Times New Roman" panose="02020603050405020304"/>
              </a:rPr>
              <a:t> </a:t>
            </a:r>
            <a:r>
              <a:rPr sz="3050" spc="-140" dirty="0">
                <a:latin typeface="Times New Roman" panose="02020603050405020304"/>
                <a:cs typeface="Times New Roman" panose="02020603050405020304"/>
              </a:rPr>
              <a:t>pipes</a:t>
            </a:r>
            <a:endParaRPr sz="3050">
              <a:latin typeface="Times New Roman" panose="02020603050405020304"/>
              <a:cs typeface="Times New Roman" panose="02020603050405020304"/>
            </a:endParaRPr>
          </a:p>
          <a:p>
            <a:pPr marL="312420" indent="-300355">
              <a:lnSpc>
                <a:spcPct val="100000"/>
              </a:lnSpc>
              <a:spcBef>
                <a:spcPts val="700"/>
              </a:spcBef>
              <a:buClr>
                <a:srgbClr val="D34816"/>
              </a:buClr>
              <a:buSzPct val="85000"/>
              <a:buFont typeface="Webdings" panose="05030102010509060703"/>
              <a:buChar char=""/>
              <a:tabLst>
                <a:tab pos="313055" algn="l"/>
              </a:tabLst>
            </a:pPr>
            <a:r>
              <a:rPr sz="3050" spc="-135" dirty="0">
                <a:latin typeface="Times New Roman" panose="02020603050405020304"/>
                <a:cs typeface="Times New Roman" panose="02020603050405020304"/>
              </a:rPr>
              <a:t>Communication </a:t>
            </a:r>
            <a:r>
              <a:rPr sz="3050" spc="-185" dirty="0">
                <a:latin typeface="Times New Roman" panose="02020603050405020304"/>
                <a:cs typeface="Times New Roman" panose="02020603050405020304"/>
              </a:rPr>
              <a:t>is</a:t>
            </a:r>
            <a:r>
              <a:rPr sz="3050" spc="-45" dirty="0">
                <a:latin typeface="Times New Roman" panose="02020603050405020304"/>
                <a:cs typeface="Times New Roman" panose="02020603050405020304"/>
              </a:rPr>
              <a:t> </a:t>
            </a:r>
            <a:r>
              <a:rPr sz="3050" spc="-114" dirty="0">
                <a:latin typeface="Times New Roman" panose="02020603050405020304"/>
                <a:cs typeface="Times New Roman" panose="02020603050405020304"/>
              </a:rPr>
              <a:t>bidirectional</a:t>
            </a:r>
            <a:endParaRPr sz="3050">
              <a:latin typeface="Times New Roman" panose="02020603050405020304"/>
              <a:cs typeface="Times New Roman" panose="02020603050405020304"/>
            </a:endParaRPr>
          </a:p>
          <a:p>
            <a:pPr marL="312420" marR="5080" indent="-300355">
              <a:lnSpc>
                <a:spcPct val="101000"/>
              </a:lnSpc>
              <a:spcBef>
                <a:spcPts val="655"/>
              </a:spcBef>
              <a:buClr>
                <a:srgbClr val="D34816"/>
              </a:buClr>
              <a:buSzPct val="85000"/>
              <a:buFont typeface="Webdings" panose="05030102010509060703"/>
              <a:buChar char=""/>
              <a:tabLst>
                <a:tab pos="313055" algn="l"/>
              </a:tabLst>
            </a:pPr>
            <a:r>
              <a:rPr sz="3050" spc="-130" dirty="0">
                <a:latin typeface="Times New Roman" panose="02020603050405020304"/>
                <a:cs typeface="Times New Roman" panose="02020603050405020304"/>
              </a:rPr>
              <a:t>No </a:t>
            </a:r>
            <a:r>
              <a:rPr sz="3050" spc="-105" dirty="0">
                <a:latin typeface="Times New Roman" panose="02020603050405020304"/>
                <a:cs typeface="Times New Roman" panose="02020603050405020304"/>
              </a:rPr>
              <a:t>parent-child </a:t>
            </a:r>
            <a:r>
              <a:rPr sz="3050" spc="-125" dirty="0">
                <a:latin typeface="Times New Roman" panose="02020603050405020304"/>
                <a:cs typeface="Times New Roman" panose="02020603050405020304"/>
              </a:rPr>
              <a:t>relationship </a:t>
            </a:r>
            <a:r>
              <a:rPr sz="3050" spc="-185" dirty="0">
                <a:latin typeface="Times New Roman" panose="02020603050405020304"/>
                <a:cs typeface="Times New Roman" panose="02020603050405020304"/>
              </a:rPr>
              <a:t>is </a:t>
            </a:r>
            <a:r>
              <a:rPr sz="3050" spc="-155" dirty="0">
                <a:latin typeface="Times New Roman" panose="02020603050405020304"/>
                <a:cs typeface="Times New Roman" panose="02020603050405020304"/>
              </a:rPr>
              <a:t>necessary </a:t>
            </a:r>
            <a:r>
              <a:rPr sz="3050" spc="-120" dirty="0">
                <a:latin typeface="Times New Roman" panose="02020603050405020304"/>
                <a:cs typeface="Times New Roman" panose="02020603050405020304"/>
              </a:rPr>
              <a:t>between </a:t>
            </a:r>
            <a:r>
              <a:rPr sz="3050" spc="-70" dirty="0">
                <a:latin typeface="Times New Roman" panose="02020603050405020304"/>
                <a:cs typeface="Times New Roman" panose="02020603050405020304"/>
              </a:rPr>
              <a:t>the  </a:t>
            </a:r>
            <a:r>
              <a:rPr sz="3050" spc="-145" dirty="0">
                <a:latin typeface="Times New Roman" panose="02020603050405020304"/>
                <a:cs typeface="Times New Roman" panose="02020603050405020304"/>
              </a:rPr>
              <a:t>communicating</a:t>
            </a:r>
            <a:r>
              <a:rPr sz="3050" spc="-114" dirty="0">
                <a:latin typeface="Times New Roman" panose="02020603050405020304"/>
                <a:cs typeface="Times New Roman" panose="02020603050405020304"/>
              </a:rPr>
              <a:t> </a:t>
            </a:r>
            <a:r>
              <a:rPr sz="3050" spc="-145" dirty="0">
                <a:latin typeface="Times New Roman" panose="02020603050405020304"/>
                <a:cs typeface="Times New Roman" panose="02020603050405020304"/>
              </a:rPr>
              <a:t>processes</a:t>
            </a:r>
            <a:endParaRPr sz="3050">
              <a:latin typeface="Times New Roman" panose="02020603050405020304"/>
              <a:cs typeface="Times New Roman" panose="02020603050405020304"/>
            </a:endParaRPr>
          </a:p>
          <a:p>
            <a:pPr marL="312420" marR="1238885" indent="-300355">
              <a:lnSpc>
                <a:spcPct val="101000"/>
              </a:lnSpc>
              <a:spcBef>
                <a:spcPts val="660"/>
              </a:spcBef>
              <a:buClr>
                <a:srgbClr val="D34816"/>
              </a:buClr>
              <a:buSzPct val="85000"/>
              <a:buFont typeface="Webdings" panose="05030102010509060703"/>
              <a:buChar char=""/>
              <a:tabLst>
                <a:tab pos="313055" algn="l"/>
              </a:tabLst>
            </a:pPr>
            <a:r>
              <a:rPr sz="3050" spc="-185" dirty="0">
                <a:latin typeface="Times New Roman" panose="02020603050405020304"/>
                <a:cs typeface="Times New Roman" panose="02020603050405020304"/>
              </a:rPr>
              <a:t>Several </a:t>
            </a:r>
            <a:r>
              <a:rPr sz="3050" spc="-145" dirty="0">
                <a:latin typeface="Times New Roman" panose="02020603050405020304"/>
                <a:cs typeface="Times New Roman" panose="02020603050405020304"/>
              </a:rPr>
              <a:t>processes </a:t>
            </a:r>
            <a:r>
              <a:rPr sz="3050" spc="-175" dirty="0">
                <a:latin typeface="Times New Roman" panose="02020603050405020304"/>
                <a:cs typeface="Times New Roman" panose="02020603050405020304"/>
              </a:rPr>
              <a:t>can </a:t>
            </a:r>
            <a:r>
              <a:rPr sz="3050" spc="-150" dirty="0">
                <a:latin typeface="Times New Roman" panose="02020603050405020304"/>
                <a:cs typeface="Times New Roman" panose="02020603050405020304"/>
              </a:rPr>
              <a:t>use </a:t>
            </a:r>
            <a:r>
              <a:rPr sz="3050" spc="-70" dirty="0">
                <a:latin typeface="Times New Roman" panose="02020603050405020304"/>
                <a:cs typeface="Times New Roman" panose="02020603050405020304"/>
              </a:rPr>
              <a:t>the </a:t>
            </a:r>
            <a:r>
              <a:rPr sz="3050" spc="-145" dirty="0">
                <a:latin typeface="Times New Roman" panose="02020603050405020304"/>
                <a:cs typeface="Times New Roman" panose="02020603050405020304"/>
              </a:rPr>
              <a:t>named </a:t>
            </a:r>
            <a:r>
              <a:rPr sz="3050" spc="-114" dirty="0">
                <a:latin typeface="Times New Roman" panose="02020603050405020304"/>
                <a:cs typeface="Times New Roman" panose="02020603050405020304"/>
              </a:rPr>
              <a:t>pipe </a:t>
            </a:r>
            <a:r>
              <a:rPr sz="3050" spc="-95" dirty="0">
                <a:latin typeface="Times New Roman" panose="02020603050405020304"/>
                <a:cs typeface="Times New Roman" panose="02020603050405020304"/>
              </a:rPr>
              <a:t>for  </a:t>
            </a:r>
            <a:r>
              <a:rPr sz="3050" spc="-135" dirty="0">
                <a:latin typeface="Times New Roman" panose="02020603050405020304"/>
                <a:cs typeface="Times New Roman" panose="02020603050405020304"/>
              </a:rPr>
              <a:t>communication</a:t>
            </a:r>
            <a:endParaRPr sz="3050">
              <a:latin typeface="Times New Roman" panose="02020603050405020304"/>
              <a:cs typeface="Times New Roman" panose="02020603050405020304"/>
            </a:endParaRPr>
          </a:p>
          <a:p>
            <a:pPr marL="312420" indent="-300355">
              <a:lnSpc>
                <a:spcPct val="100000"/>
              </a:lnSpc>
              <a:spcBef>
                <a:spcPts val="700"/>
              </a:spcBef>
              <a:buClr>
                <a:srgbClr val="D34816"/>
              </a:buClr>
              <a:buSzPct val="85000"/>
              <a:buFont typeface="Webdings" panose="05030102010509060703"/>
              <a:buChar char=""/>
              <a:tabLst>
                <a:tab pos="313055" algn="l"/>
              </a:tabLst>
            </a:pPr>
            <a:r>
              <a:rPr sz="3050" spc="-135" dirty="0">
                <a:latin typeface="Times New Roman" panose="02020603050405020304"/>
                <a:cs typeface="Times New Roman" panose="02020603050405020304"/>
              </a:rPr>
              <a:t>Provided </a:t>
            </a:r>
            <a:r>
              <a:rPr sz="3050" spc="-110" dirty="0">
                <a:latin typeface="Times New Roman" panose="02020603050405020304"/>
                <a:cs typeface="Times New Roman" panose="02020603050405020304"/>
              </a:rPr>
              <a:t>on </a:t>
            </a:r>
            <a:r>
              <a:rPr sz="3050" spc="-95" dirty="0">
                <a:latin typeface="Times New Roman" panose="02020603050405020304"/>
                <a:cs typeface="Times New Roman" panose="02020603050405020304"/>
              </a:rPr>
              <a:t>both </a:t>
            </a:r>
            <a:r>
              <a:rPr sz="3050" spc="-210" dirty="0">
                <a:latin typeface="Times New Roman" panose="02020603050405020304"/>
                <a:cs typeface="Times New Roman" panose="02020603050405020304"/>
              </a:rPr>
              <a:t>UNIX </a:t>
            </a:r>
            <a:r>
              <a:rPr sz="3050" spc="-150" dirty="0">
                <a:latin typeface="Times New Roman" panose="02020603050405020304"/>
                <a:cs typeface="Times New Roman" panose="02020603050405020304"/>
              </a:rPr>
              <a:t>and</a:t>
            </a:r>
            <a:r>
              <a:rPr sz="3050" spc="-254" dirty="0">
                <a:latin typeface="Times New Roman" panose="02020603050405020304"/>
                <a:cs typeface="Times New Roman" panose="02020603050405020304"/>
              </a:rPr>
              <a:t> </a:t>
            </a:r>
            <a:r>
              <a:rPr sz="3050" spc="-155" dirty="0">
                <a:latin typeface="Times New Roman" panose="02020603050405020304"/>
                <a:cs typeface="Times New Roman" panose="02020603050405020304"/>
              </a:rPr>
              <a:t>Windows</a:t>
            </a:r>
            <a:endParaRPr sz="3050">
              <a:latin typeface="Times New Roman" panose="02020603050405020304"/>
              <a:cs typeface="Times New Roman" panose="02020603050405020304"/>
            </a:endParaRPr>
          </a:p>
          <a:p>
            <a:pPr marL="312420" indent="-300355">
              <a:lnSpc>
                <a:spcPct val="100000"/>
              </a:lnSpc>
              <a:spcBef>
                <a:spcPts val="695"/>
              </a:spcBef>
              <a:buClr>
                <a:srgbClr val="D34816"/>
              </a:buClr>
              <a:buSzPct val="85000"/>
              <a:buFont typeface="Webdings" panose="05030102010509060703"/>
              <a:buChar char=""/>
              <a:tabLst>
                <a:tab pos="313055" algn="l"/>
              </a:tabLst>
            </a:pPr>
            <a:r>
              <a:rPr sz="3050" spc="-135" dirty="0">
                <a:latin typeface="Times New Roman" panose="02020603050405020304"/>
                <a:cs typeface="Times New Roman" panose="02020603050405020304"/>
              </a:rPr>
              <a:t>Called </a:t>
            </a:r>
            <a:r>
              <a:rPr sz="3050" spc="-185" dirty="0">
                <a:latin typeface="Times New Roman" panose="02020603050405020304"/>
                <a:cs typeface="Times New Roman" panose="02020603050405020304"/>
              </a:rPr>
              <a:t>FIFO </a:t>
            </a:r>
            <a:r>
              <a:rPr sz="3050" spc="-130" dirty="0">
                <a:latin typeface="Times New Roman" panose="02020603050405020304"/>
                <a:cs typeface="Times New Roman" panose="02020603050405020304"/>
              </a:rPr>
              <a:t>in</a:t>
            </a:r>
            <a:r>
              <a:rPr sz="3050" spc="70" dirty="0">
                <a:latin typeface="Times New Roman" panose="02020603050405020304"/>
                <a:cs typeface="Times New Roman" panose="02020603050405020304"/>
              </a:rPr>
              <a:t> </a:t>
            </a:r>
            <a:r>
              <a:rPr sz="3050" spc="-210" dirty="0">
                <a:latin typeface="Times New Roman" panose="02020603050405020304"/>
                <a:cs typeface="Times New Roman" panose="02020603050405020304"/>
              </a:rPr>
              <a:t>UNIX</a:t>
            </a:r>
            <a:endParaRPr sz="30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r>
              <a:rPr spc="114" dirty="0"/>
              <a:t>4</a:t>
            </a:r>
            <a:r>
              <a:rPr spc="114" dirty="0"/>
              <a:t>5</a:t>
            </a:r>
            <a:endParaRPr spc="114"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00533" y="590902"/>
            <a:ext cx="7257333" cy="607695"/>
          </a:xfrm>
        </p:spPr>
        <p:txBody>
          <a:bodyPr/>
          <a:p>
            <a:r>
              <a:rPr lang="en-US"/>
              <a:t>Introduction to FIFOs</a:t>
            </a:r>
            <a:endParaRPr lang="en-US"/>
          </a:p>
        </p:txBody>
      </p:sp>
      <p:sp>
        <p:nvSpPr>
          <p:cNvPr id="3" name="Text Placeholder 2"/>
          <p:cNvSpPr>
            <a:spLocks noGrp="1"/>
          </p:cNvSpPr>
          <p:nvPr>
            <p:ph type="body" idx="1"/>
          </p:nvPr>
        </p:nvSpPr>
        <p:spPr>
          <a:xfrm>
            <a:off x="381000" y="1447800"/>
            <a:ext cx="9425940" cy="5170805"/>
          </a:xfrm>
        </p:spPr>
        <p:txBody>
          <a:bodyPr wrap="square"/>
          <a:p>
            <a:r>
              <a:rPr lang="en-US" sz="2400" b="0" i="0">
                <a:latin typeface="Times New Roman" panose="02020603050405020304" pitchFamily="18" charset="0"/>
                <a:cs typeface="Times New Roman" panose="02020603050405020304" pitchFamily="18" charset="0"/>
                <a:sym typeface="+mn-ea"/>
              </a:rPr>
              <a:t>●</a:t>
            </a:r>
            <a:r>
              <a:rPr lang="en-US" sz="2400" b="0" i="0">
                <a:latin typeface="Times New Roman" panose="02020603050405020304" pitchFamily="18" charset="0"/>
                <a:cs typeface="Times New Roman" panose="02020603050405020304" pitchFamily="18" charset="0"/>
              </a:rPr>
              <a:t>Pipes have no names, and their biggest disadvantage is that they can be only used between processes that have a parent process in common (ignoring descriptor passing)</a:t>
            </a:r>
            <a:endParaRPr lang="en-US" sz="2400" b="0" i="0">
              <a:latin typeface="Times New Roman" panose="02020603050405020304" pitchFamily="18" charset="0"/>
              <a:cs typeface="Times New Roman" panose="02020603050405020304" pitchFamily="18" charset="0"/>
            </a:endParaRPr>
          </a:p>
          <a:p>
            <a:r>
              <a:rPr lang="en-US" sz="2400" b="0" i="0">
                <a:latin typeface="Times New Roman" panose="02020603050405020304" pitchFamily="18" charset="0"/>
                <a:cs typeface="Times New Roman" panose="02020603050405020304" pitchFamily="18" charset="0"/>
              </a:rPr>
              <a:t>● UNIX FIFO is similar to a pipe, as it is a one way (half duplex) flow of data. But unlike pipes a FIFO has a path name associated with it allowing unrelated processes to access a single pipe</a:t>
            </a:r>
            <a:endParaRPr lang="en-US" sz="2400" b="0" i="0">
              <a:latin typeface="Times New Roman" panose="02020603050405020304" pitchFamily="18" charset="0"/>
              <a:cs typeface="Times New Roman" panose="02020603050405020304" pitchFamily="18" charset="0"/>
            </a:endParaRPr>
          </a:p>
          <a:p>
            <a:r>
              <a:rPr lang="en-US" sz="2400" b="0" i="0">
                <a:latin typeface="Times New Roman" panose="02020603050405020304" pitchFamily="18" charset="0"/>
                <a:cs typeface="Times New Roman" panose="02020603050405020304" pitchFamily="18" charset="0"/>
              </a:rPr>
              <a:t>● FIFOs/named pipes are used for communication between related or unrelated processes executing on the same machine</a:t>
            </a:r>
            <a:endParaRPr lang="en-US" sz="2400" b="0" i="0">
              <a:latin typeface="Times New Roman" panose="02020603050405020304" pitchFamily="18" charset="0"/>
              <a:cs typeface="Times New Roman" panose="02020603050405020304" pitchFamily="18" charset="0"/>
            </a:endParaRPr>
          </a:p>
          <a:p>
            <a:r>
              <a:rPr lang="en-US" sz="2400" b="0" i="0">
                <a:latin typeface="Times New Roman" panose="02020603050405020304" pitchFamily="18" charset="0"/>
                <a:cs typeface="Times New Roman" panose="02020603050405020304" pitchFamily="18" charset="0"/>
              </a:rPr>
              <a:t>● A FIFO is created by one process and can be opened by multiple processes for reading or writing. When processes are reading or writing data via FIFO, kernel passes all data internally without writing it to the file system. Thus a FIFO file has no contents on the file system; the file system entry merely serves as a reference point so that processes can access the pipe using a name in the file system</a:t>
            </a:r>
            <a:endParaRPr lang="en-US" sz="2400" b="0" i="0">
              <a:latin typeface="Times New Roman" panose="02020603050405020304" pitchFamily="18" charset="0"/>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00533" y="590902"/>
            <a:ext cx="7257333" cy="607695"/>
          </a:xfrm>
        </p:spPr>
        <p:txBody>
          <a:bodyPr/>
          <a:p>
            <a:r>
              <a:rPr lang="en-US"/>
              <a:t>mkfifo() Library Call</a:t>
            </a:r>
            <a:endParaRPr lang="en-US"/>
          </a:p>
        </p:txBody>
      </p:sp>
      <p:sp>
        <p:nvSpPr>
          <p:cNvPr id="3" name="Text Placeholder 2"/>
          <p:cNvSpPr>
            <a:spLocks noGrp="1"/>
          </p:cNvSpPr>
          <p:nvPr>
            <p:ph type="body" idx="1"/>
          </p:nvPr>
        </p:nvSpPr>
        <p:spPr>
          <a:xfrm>
            <a:off x="506951" y="1602168"/>
            <a:ext cx="9044305" cy="3877945"/>
          </a:xfrm>
        </p:spPr>
        <p:txBody>
          <a:bodyPr/>
          <a:p>
            <a:pPr algn="ctr"/>
            <a:r>
              <a:rPr lang="en-US" sz="2800" b="0" i="0">
                <a:latin typeface="Times New Roman" panose="02020603050405020304" pitchFamily="18" charset="0"/>
                <a:cs typeface="Times New Roman" panose="02020603050405020304" pitchFamily="18" charset="0"/>
              </a:rPr>
              <a:t>int </a:t>
            </a:r>
            <a:r>
              <a:rPr lang="en-US" sz="2800" i="0">
                <a:latin typeface="Times New Roman" panose="02020603050405020304" pitchFamily="18" charset="0"/>
                <a:cs typeface="Times New Roman" panose="02020603050405020304" pitchFamily="18" charset="0"/>
              </a:rPr>
              <a:t>mkfifo</a:t>
            </a:r>
            <a:r>
              <a:rPr lang="en-US" sz="2800" b="0" i="0">
                <a:latin typeface="Times New Roman" panose="02020603050405020304" pitchFamily="18" charset="0"/>
                <a:cs typeface="Times New Roman" panose="02020603050405020304" pitchFamily="18" charset="0"/>
              </a:rPr>
              <a:t>(const char*pathname, mode_t mode);</a:t>
            </a:r>
            <a:endParaRPr lang="en-US" sz="2800" b="0" i="0">
              <a:latin typeface="Times New Roman" panose="02020603050405020304" pitchFamily="18" charset="0"/>
              <a:cs typeface="Times New Roman" panose="02020603050405020304" pitchFamily="18" charset="0"/>
            </a:endParaRPr>
          </a:p>
          <a:p>
            <a:pPr algn="ctr"/>
            <a:endParaRPr lang="en-US" sz="2800" b="0" i="0">
              <a:latin typeface="Times New Roman" panose="02020603050405020304" pitchFamily="18" charset="0"/>
              <a:cs typeface="Times New Roman" panose="02020603050405020304" pitchFamily="18" charset="0"/>
            </a:endParaRPr>
          </a:p>
          <a:p>
            <a:r>
              <a:rPr lang="en-US" sz="2800" b="0" i="0">
                <a:latin typeface="Times New Roman" panose="02020603050405020304" pitchFamily="18" charset="0"/>
                <a:cs typeface="Times New Roman" panose="02020603050405020304" pitchFamily="18" charset="0"/>
              </a:rPr>
              <a:t>● Makes a FIFO special file with name pathname. The second argument mode specifies the FIFO’s permissions. </a:t>
            </a:r>
            <a:endParaRPr lang="en-US" sz="2800" b="0" i="0">
              <a:latin typeface="Times New Roman" panose="02020603050405020304" pitchFamily="18" charset="0"/>
              <a:cs typeface="Times New Roman" panose="02020603050405020304" pitchFamily="18" charset="0"/>
            </a:endParaRPr>
          </a:p>
          <a:p>
            <a:endParaRPr lang="en-US" sz="2800" b="0" i="0">
              <a:latin typeface="Times New Roman" panose="02020603050405020304" pitchFamily="18" charset="0"/>
              <a:cs typeface="Times New Roman" panose="02020603050405020304" pitchFamily="18" charset="0"/>
            </a:endParaRPr>
          </a:p>
          <a:p>
            <a:r>
              <a:rPr lang="en-US" sz="2800" b="0" i="0">
                <a:latin typeface="Times New Roman" panose="02020603050405020304" pitchFamily="18" charset="0"/>
                <a:cs typeface="Times New Roman" panose="02020603050405020304" pitchFamily="18" charset="0"/>
              </a:rPr>
              <a:t>● Once you have created a FIFO, any process can open it for reading or writing, in the same way as an ordinary file. Opening a FIFO for reading normally blocks until some other process opens the same FIFO for writing, and vice versa</a:t>
            </a:r>
            <a:endParaRPr lang="en-US" sz="2800" b="0" i="0">
              <a:latin typeface="Times New Roman" panose="02020603050405020304" pitchFamily="18" charset="0"/>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71323" y="304517"/>
            <a:ext cx="7257333" cy="607695"/>
          </a:xfrm>
        </p:spPr>
        <p:txBody>
          <a:bodyPr/>
          <a:p>
            <a:r>
              <a:rPr lang="en-US"/>
              <a:t>Communication Using FIFO</a:t>
            </a:r>
            <a:endParaRPr lang="en-US"/>
          </a:p>
        </p:txBody>
      </p:sp>
      <p:pic>
        <p:nvPicPr>
          <p:cNvPr id="4" name="Picture 3"/>
          <p:cNvPicPr>
            <a:picLocks noChangeAspect="1"/>
          </p:cNvPicPr>
          <p:nvPr/>
        </p:nvPicPr>
        <p:blipFill>
          <a:blip r:embed="rId1"/>
          <a:stretch>
            <a:fillRect/>
          </a:stretch>
        </p:blipFill>
        <p:spPr>
          <a:xfrm>
            <a:off x="90170" y="982345"/>
            <a:ext cx="9888855" cy="581406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00533" y="590902"/>
            <a:ext cx="7257333" cy="607695"/>
          </a:xfrm>
        </p:spPr>
        <p:txBody>
          <a:bodyPr/>
          <a:p>
            <a:r>
              <a:rPr lang="en-US"/>
              <a:t>mkfifo command</a:t>
            </a:r>
            <a:endParaRPr lang="en-US"/>
          </a:p>
        </p:txBody>
      </p:sp>
      <p:sp>
        <p:nvSpPr>
          <p:cNvPr id="3" name="Text Placeholder 2"/>
          <p:cNvSpPr>
            <a:spLocks noGrp="1"/>
          </p:cNvSpPr>
          <p:nvPr>
            <p:ph type="body" idx="1"/>
          </p:nvPr>
        </p:nvSpPr>
        <p:spPr>
          <a:xfrm>
            <a:off x="506951" y="1602168"/>
            <a:ext cx="9044305" cy="3446780"/>
          </a:xfrm>
        </p:spPr>
        <p:txBody>
          <a:bodyPr/>
          <a:p>
            <a:r>
              <a:rPr lang="en-US" altLang="en-US" sz="2800" i="0">
                <a:latin typeface="Times New Roman" panose="02020603050405020304" pitchFamily="18" charset="0"/>
                <a:cs typeface="Times New Roman" panose="02020603050405020304" pitchFamily="18" charset="0"/>
              </a:rPr>
              <a:t>Process1:</a:t>
            </a:r>
            <a:endParaRPr lang="en-US" altLang="en-US" sz="2800" i="0">
              <a:latin typeface="Times New Roman" panose="02020603050405020304" pitchFamily="18" charset="0"/>
              <a:cs typeface="Times New Roman" panose="02020603050405020304" pitchFamily="18" charset="0"/>
            </a:endParaRPr>
          </a:p>
          <a:p>
            <a:r>
              <a:rPr lang="en-US" altLang="en-US" sz="2800" i="0">
                <a:latin typeface="Times New Roman" panose="02020603050405020304" pitchFamily="18" charset="0"/>
                <a:cs typeface="Times New Roman" panose="02020603050405020304" pitchFamily="18" charset="0"/>
              </a:rPr>
              <a:t>mkfifo mypipe</a:t>
            </a:r>
            <a:endParaRPr lang="en-US" altLang="en-US" sz="2800" i="0">
              <a:latin typeface="Times New Roman" panose="02020603050405020304" pitchFamily="18" charset="0"/>
              <a:cs typeface="Times New Roman" panose="02020603050405020304" pitchFamily="18" charset="0"/>
            </a:endParaRPr>
          </a:p>
          <a:p>
            <a:r>
              <a:rPr lang="en-US" altLang="en-US" sz="2800" i="0">
                <a:latin typeface="Times New Roman" panose="02020603050405020304" pitchFamily="18" charset="0"/>
                <a:cs typeface="Times New Roman" panose="02020603050405020304" pitchFamily="18" charset="0"/>
              </a:rPr>
              <a:t>echo "Hello from Process 1" &gt; mypipe</a:t>
            </a:r>
            <a:endParaRPr lang="en-US" altLang="en-US" sz="2800" i="0">
              <a:latin typeface="Times New Roman" panose="02020603050405020304" pitchFamily="18" charset="0"/>
              <a:cs typeface="Times New Roman" panose="02020603050405020304" pitchFamily="18" charset="0"/>
            </a:endParaRPr>
          </a:p>
          <a:p>
            <a:endParaRPr lang="en-US" altLang="en-US" sz="2800" i="0">
              <a:latin typeface="Times New Roman" panose="02020603050405020304" pitchFamily="18" charset="0"/>
              <a:cs typeface="Times New Roman" panose="02020603050405020304" pitchFamily="18" charset="0"/>
            </a:endParaRPr>
          </a:p>
          <a:p>
            <a:r>
              <a:rPr lang="en-US" altLang="en-US" sz="2800" i="0">
                <a:latin typeface="Times New Roman" panose="02020603050405020304" pitchFamily="18" charset="0"/>
                <a:cs typeface="Times New Roman" panose="02020603050405020304" pitchFamily="18" charset="0"/>
              </a:rPr>
              <a:t>Process2:</a:t>
            </a:r>
            <a:endParaRPr lang="en-US" altLang="en-US" sz="2800" i="0">
              <a:latin typeface="Times New Roman" panose="02020603050405020304" pitchFamily="18" charset="0"/>
              <a:cs typeface="Times New Roman" panose="02020603050405020304" pitchFamily="18" charset="0"/>
            </a:endParaRPr>
          </a:p>
          <a:p>
            <a:r>
              <a:rPr lang="en-US" altLang="en-US" sz="2800" i="0">
                <a:latin typeface="Times New Roman" panose="02020603050405020304" pitchFamily="18" charset="0"/>
                <a:cs typeface="Times New Roman" panose="02020603050405020304" pitchFamily="18" charset="0"/>
              </a:rPr>
              <a:t>cat &lt; mypipe</a:t>
            </a:r>
            <a:endParaRPr lang="en-US" altLang="en-US" sz="2800" i="0">
              <a:latin typeface="Times New Roman" panose="02020603050405020304" pitchFamily="18" charset="0"/>
              <a:cs typeface="Times New Roman" panose="02020603050405020304" pitchFamily="18" charset="0"/>
            </a:endParaRPr>
          </a:p>
          <a:p>
            <a:endParaRPr lang="en-US" altLang="en-US" sz="2800" i="0">
              <a:latin typeface="Times New Roman" panose="02020603050405020304" pitchFamily="18" charset="0"/>
              <a:cs typeface="Times New Roman" panose="02020603050405020304" pitchFamily="18" charset="0"/>
            </a:endParaRPr>
          </a:p>
          <a:p>
            <a:r>
              <a:rPr lang="en-US" altLang="en-US" sz="2800" i="0">
                <a:latin typeface="Times New Roman" panose="02020603050405020304" pitchFamily="18" charset="0"/>
                <a:cs typeface="Times New Roman" panose="02020603050405020304" pitchFamily="18" charset="0"/>
              </a:rPr>
              <a:t>"Hello from Process 1" will be get printed on output screen.</a:t>
            </a:r>
            <a:endParaRPr lang="en-US" altLang="en-US" sz="2800" i="0">
              <a:latin typeface="Times New Roman" panose="02020603050405020304" pitchFamily="18" charset="0"/>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idx="1"/>
          </p:nvPr>
        </p:nvSpPr>
        <p:spPr>
          <a:xfrm>
            <a:off x="506730" y="643890"/>
            <a:ext cx="9044305" cy="6713220"/>
          </a:xfrm>
        </p:spPr>
        <p:txBody>
          <a:bodyPr>
            <a:noAutofit/>
          </a:bodyPr>
          <a:p>
            <a:r>
              <a:rPr lang="en-US" altLang="en-US" i="0">
                <a:latin typeface="Times New Roman" panose="02020603050405020304" pitchFamily="18" charset="0"/>
                <a:cs typeface="Times New Roman" panose="02020603050405020304" pitchFamily="18" charset="0"/>
              </a:rPr>
              <a:t>Step 1: Create a FIFO File</a:t>
            </a:r>
            <a:endParaRPr lang="en-US" altLang="en-US" i="0">
              <a:latin typeface="Times New Roman" panose="02020603050405020304" pitchFamily="18" charset="0"/>
              <a:cs typeface="Times New Roman" panose="02020603050405020304" pitchFamily="18" charset="0"/>
            </a:endParaRPr>
          </a:p>
          <a:p>
            <a:r>
              <a:rPr lang="en-US" altLang="en-US" i="0">
                <a:latin typeface="Times New Roman" panose="02020603050405020304" pitchFamily="18" charset="0"/>
                <a:cs typeface="Times New Roman" panose="02020603050405020304" pitchFamily="18" charset="0"/>
              </a:rPr>
              <a:t>mkfifo myfifo </a:t>
            </a:r>
            <a:endParaRPr lang="en-US" altLang="en-US" i="0">
              <a:latin typeface="Times New Roman" panose="02020603050405020304" pitchFamily="18" charset="0"/>
              <a:cs typeface="Times New Roman" panose="02020603050405020304" pitchFamily="18" charset="0"/>
            </a:endParaRPr>
          </a:p>
          <a:p>
            <a:r>
              <a:rPr lang="en-US" altLang="en-US" b="0" i="0">
                <a:latin typeface="Times New Roman" panose="02020603050405020304" pitchFamily="18" charset="0"/>
                <a:cs typeface="Times New Roman" panose="02020603050405020304" pitchFamily="18" charset="0"/>
              </a:rPr>
              <a:t>This creates a special file named </a:t>
            </a:r>
            <a:r>
              <a:rPr lang="en-US" altLang="en-US" i="0">
                <a:latin typeface="Times New Roman" panose="02020603050405020304" pitchFamily="18" charset="0"/>
                <a:cs typeface="Times New Roman" panose="02020603050405020304" pitchFamily="18" charset="0"/>
              </a:rPr>
              <a:t>myfifo </a:t>
            </a:r>
            <a:r>
              <a:rPr lang="en-US" altLang="en-US" b="0" i="0">
                <a:latin typeface="Times New Roman" panose="02020603050405020304" pitchFamily="18" charset="0"/>
                <a:cs typeface="Times New Roman" panose="02020603050405020304" pitchFamily="18" charset="0"/>
              </a:rPr>
              <a:t>that will be used for inter-process communication.</a:t>
            </a:r>
            <a:endParaRPr lang="en-US" altLang="en-US" b="0" i="0">
              <a:latin typeface="Times New Roman" panose="02020603050405020304" pitchFamily="18" charset="0"/>
              <a:cs typeface="Times New Roman" panose="02020603050405020304" pitchFamily="18" charset="0"/>
            </a:endParaRPr>
          </a:p>
          <a:p>
            <a:endParaRPr lang="en-US" altLang="en-US" i="0">
              <a:latin typeface="Times New Roman" panose="02020603050405020304" pitchFamily="18" charset="0"/>
              <a:cs typeface="Times New Roman" panose="02020603050405020304" pitchFamily="18" charset="0"/>
            </a:endParaRPr>
          </a:p>
          <a:p>
            <a:r>
              <a:rPr lang="en-US" altLang="en-US" i="0">
                <a:latin typeface="Times New Roman" panose="02020603050405020304" pitchFamily="18" charset="0"/>
                <a:cs typeface="Times New Roman" panose="02020603050405020304" pitchFamily="18" charset="0"/>
              </a:rPr>
              <a:t>Process1: (Writer process)</a:t>
            </a:r>
            <a:endParaRPr lang="en-US" altLang="en-US" i="0">
              <a:latin typeface="Times New Roman" panose="02020603050405020304" pitchFamily="18" charset="0"/>
              <a:cs typeface="Times New Roman" panose="02020603050405020304" pitchFamily="18" charset="0"/>
            </a:endParaRPr>
          </a:p>
          <a:p>
            <a:pPr indent="457200"/>
            <a:r>
              <a:rPr lang="en-US" altLang="en-US" i="0">
                <a:latin typeface="Times New Roman" panose="02020603050405020304" pitchFamily="18" charset="0"/>
                <a:cs typeface="Times New Roman" panose="02020603050405020304" pitchFamily="18" charset="0"/>
              </a:rPr>
              <a:t> </a:t>
            </a:r>
            <a:r>
              <a:rPr lang="en-US" altLang="en-US" b="0" i="0">
                <a:latin typeface="Times New Roman" panose="02020603050405020304" pitchFamily="18" charset="0"/>
                <a:cs typeface="Times New Roman" panose="02020603050405020304" pitchFamily="18" charset="0"/>
              </a:rPr>
              <a:t>char msg[] = "Hello from Writer!";</a:t>
            </a:r>
            <a:endParaRPr lang="en-US" altLang="en-US" b="0" i="0">
              <a:latin typeface="Times New Roman" panose="02020603050405020304" pitchFamily="18" charset="0"/>
              <a:cs typeface="Times New Roman" panose="02020603050405020304" pitchFamily="18" charset="0"/>
            </a:endParaRPr>
          </a:p>
          <a:p>
            <a:pPr indent="457200"/>
            <a:r>
              <a:rPr lang="en-US" altLang="en-US" b="0" i="0">
                <a:latin typeface="Times New Roman" panose="02020603050405020304" pitchFamily="18" charset="0"/>
                <a:cs typeface="Times New Roman" panose="02020603050405020304" pitchFamily="18" charset="0"/>
              </a:rPr>
              <a:t>// Open FIFO in Write-Only mode</a:t>
            </a:r>
            <a:endParaRPr lang="en-US" altLang="en-US" b="0" i="0">
              <a:latin typeface="Times New Roman" panose="02020603050405020304" pitchFamily="18" charset="0"/>
              <a:cs typeface="Times New Roman" panose="02020603050405020304" pitchFamily="18" charset="0"/>
            </a:endParaRPr>
          </a:p>
          <a:p>
            <a:r>
              <a:rPr lang="en-US" altLang="en-US" b="0" i="0">
                <a:latin typeface="Times New Roman" panose="02020603050405020304" pitchFamily="18" charset="0"/>
                <a:cs typeface="Times New Roman" panose="02020603050405020304" pitchFamily="18" charset="0"/>
              </a:rPr>
              <a:t>    fd = open("myfifo", O_WRONLY);</a:t>
            </a:r>
            <a:endParaRPr lang="en-US" altLang="en-US" b="0" i="0">
              <a:latin typeface="Times New Roman" panose="02020603050405020304" pitchFamily="18" charset="0"/>
              <a:cs typeface="Times New Roman" panose="02020603050405020304" pitchFamily="18" charset="0"/>
            </a:endParaRPr>
          </a:p>
          <a:p>
            <a:r>
              <a:rPr lang="en-US" altLang="en-US" b="0" i="0">
                <a:latin typeface="Times New Roman" panose="02020603050405020304" pitchFamily="18" charset="0"/>
                <a:cs typeface="Times New Roman" panose="02020603050405020304" pitchFamily="18" charset="0"/>
              </a:rPr>
              <a:t>    write(fd, msg, strlen(msg) + 1);</a:t>
            </a:r>
            <a:endParaRPr lang="en-US" altLang="en-US" b="0" i="0">
              <a:latin typeface="Times New Roman" panose="02020603050405020304" pitchFamily="18" charset="0"/>
              <a:cs typeface="Times New Roman" panose="02020603050405020304" pitchFamily="18" charset="0"/>
            </a:endParaRPr>
          </a:p>
          <a:p>
            <a:endParaRPr lang="en-US" altLang="en-US" i="0">
              <a:latin typeface="Times New Roman" panose="02020603050405020304" pitchFamily="18" charset="0"/>
              <a:cs typeface="Times New Roman" panose="02020603050405020304" pitchFamily="18" charset="0"/>
            </a:endParaRPr>
          </a:p>
          <a:p>
            <a:r>
              <a:rPr lang="en-US" altLang="en-US" i="0">
                <a:latin typeface="Times New Roman" panose="02020603050405020304" pitchFamily="18" charset="0"/>
                <a:cs typeface="Times New Roman" panose="02020603050405020304" pitchFamily="18" charset="0"/>
              </a:rPr>
              <a:t>Process2: (Reader process)</a:t>
            </a:r>
            <a:endParaRPr lang="en-US" altLang="en-US" i="0">
              <a:latin typeface="Times New Roman" panose="02020603050405020304" pitchFamily="18" charset="0"/>
              <a:cs typeface="Times New Roman" panose="02020603050405020304" pitchFamily="18" charset="0"/>
            </a:endParaRPr>
          </a:p>
          <a:p>
            <a:pPr indent="457200"/>
            <a:r>
              <a:rPr lang="en-US" altLang="en-US" b="0" i="0">
                <a:latin typeface="Times New Roman" panose="02020603050405020304" pitchFamily="18" charset="0"/>
                <a:cs typeface="Times New Roman" panose="02020603050405020304" pitchFamily="18" charset="0"/>
              </a:rPr>
              <a:t>char buffer[100];</a:t>
            </a:r>
            <a:endParaRPr lang="en-US" altLang="en-US" b="0" i="0">
              <a:latin typeface="Times New Roman" panose="02020603050405020304" pitchFamily="18" charset="0"/>
              <a:cs typeface="Times New Roman" panose="02020603050405020304" pitchFamily="18" charset="0"/>
            </a:endParaRPr>
          </a:p>
          <a:p>
            <a:pPr indent="457200"/>
            <a:r>
              <a:rPr lang="en-US" altLang="en-US" b="0" i="0">
                <a:latin typeface="Times New Roman" panose="02020603050405020304" pitchFamily="18" charset="0"/>
                <a:cs typeface="Times New Roman" panose="02020603050405020304" pitchFamily="18" charset="0"/>
              </a:rPr>
              <a:t>// Open FIFO in Read-Only mode</a:t>
            </a:r>
            <a:endParaRPr lang="en-US" altLang="en-US" b="0" i="0">
              <a:latin typeface="Times New Roman" panose="02020603050405020304" pitchFamily="18" charset="0"/>
              <a:cs typeface="Times New Roman" panose="02020603050405020304" pitchFamily="18" charset="0"/>
            </a:endParaRPr>
          </a:p>
          <a:p>
            <a:pPr indent="457200"/>
            <a:r>
              <a:rPr lang="en-US" altLang="en-US" b="0" i="0">
                <a:latin typeface="Times New Roman" panose="02020603050405020304" pitchFamily="18" charset="0"/>
                <a:cs typeface="Times New Roman" panose="02020603050405020304" pitchFamily="18" charset="0"/>
              </a:rPr>
              <a:t>fd = open("myfifo", O_RDONLY);</a:t>
            </a:r>
            <a:endParaRPr lang="en-US" altLang="en-US" b="0" i="0">
              <a:latin typeface="Times New Roman" panose="02020603050405020304" pitchFamily="18" charset="0"/>
              <a:cs typeface="Times New Roman" panose="02020603050405020304" pitchFamily="18" charset="0"/>
            </a:endParaRPr>
          </a:p>
          <a:p>
            <a:pPr indent="457200"/>
            <a:r>
              <a:rPr lang="en-US" altLang="en-US" b="0" i="0">
                <a:latin typeface="Times New Roman" panose="02020603050405020304" pitchFamily="18" charset="0"/>
                <a:cs typeface="Times New Roman" panose="02020603050405020304" pitchFamily="18" charset="0"/>
              </a:rPr>
              <a:t>read(fd, buffer, sizeof(buffer));</a:t>
            </a:r>
            <a:endParaRPr lang="en-US" altLang="en-US" b="0" i="0">
              <a:latin typeface="Times New Roman" panose="02020603050405020304" pitchFamily="18" charset="0"/>
              <a:cs typeface="Times New Roman" panose="02020603050405020304" pitchFamily="18" charset="0"/>
            </a:endParaRPr>
          </a:p>
          <a:p>
            <a:pPr indent="457200"/>
            <a:r>
              <a:rPr lang="en-US" altLang="en-US" b="0" i="0">
                <a:latin typeface="Times New Roman" panose="02020603050405020304" pitchFamily="18" charset="0"/>
                <a:cs typeface="Times New Roman" panose="02020603050405020304" pitchFamily="18" charset="0"/>
              </a:rPr>
              <a:t> printf("Message received: %s\n", buffer);</a:t>
            </a:r>
            <a:endParaRPr lang="en-US" altLang="en-US" b="0" i="0">
              <a:latin typeface="Times New Roman" panose="02020603050405020304" pitchFamily="18" charset="0"/>
              <a:cs typeface="Times New Roman" panose="02020603050405020304" pitchFamily="18" charset="0"/>
            </a:endParaRPr>
          </a:p>
          <a:p>
            <a:pPr indent="457200"/>
            <a:endParaRPr lang="en-US" altLang="en-US" b="0" i="0">
              <a:latin typeface="Times New Roman" panose="02020603050405020304" pitchFamily="18" charset="0"/>
              <a:cs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04800" y="304800"/>
            <a:ext cx="8453755" cy="607695"/>
          </a:xfrm>
        </p:spPr>
        <p:txBody>
          <a:bodyPr wrap="square"/>
          <a:p>
            <a:r>
              <a:rPr lang="en-US" altLang="en-US"/>
              <a:t>Bidirectional Comm Using FIFOs</a:t>
            </a:r>
            <a:endParaRPr lang="en-US" altLang="en-US"/>
          </a:p>
        </p:txBody>
      </p:sp>
      <p:pic>
        <p:nvPicPr>
          <p:cNvPr id="4" name="Picture 3"/>
          <p:cNvPicPr>
            <a:picLocks noChangeAspect="1"/>
          </p:cNvPicPr>
          <p:nvPr/>
        </p:nvPicPr>
        <p:blipFill>
          <a:blip r:embed="rId1"/>
          <a:stretch>
            <a:fillRect/>
          </a:stretch>
        </p:blipFill>
        <p:spPr>
          <a:xfrm>
            <a:off x="84455" y="1143635"/>
            <a:ext cx="9806305" cy="588137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3625" y="709647"/>
            <a:ext cx="2689860" cy="696595"/>
          </a:xfrm>
          <a:prstGeom prst="rect">
            <a:avLst/>
          </a:prstGeom>
        </p:spPr>
        <p:txBody>
          <a:bodyPr vert="horz" wrap="square" lIns="0" tIns="12700" rIns="0" bIns="0" rtlCol="0">
            <a:spAutoFit/>
          </a:bodyPr>
          <a:lstStyle/>
          <a:p>
            <a:pPr marL="12700">
              <a:lnSpc>
                <a:spcPct val="100000"/>
              </a:lnSpc>
              <a:spcBef>
                <a:spcPts val="100"/>
              </a:spcBef>
            </a:pPr>
            <a:r>
              <a:rPr sz="4400" b="1" spc="-280" dirty="0">
                <a:solidFill>
                  <a:srgbClr val="BF0000"/>
                </a:solidFill>
                <a:latin typeface="Arial" panose="020B0604020202020204"/>
                <a:cs typeface="Arial" panose="020B0604020202020204"/>
              </a:rPr>
              <a:t>References</a:t>
            </a:r>
            <a:endParaRPr sz="4400">
              <a:latin typeface="Arial" panose="020B0604020202020204"/>
              <a:cs typeface="Arial" panose="020B0604020202020204"/>
            </a:endParaRPr>
          </a:p>
        </p:txBody>
      </p:sp>
      <p:sp>
        <p:nvSpPr>
          <p:cNvPr id="3" name="object 3"/>
          <p:cNvSpPr txBox="1"/>
          <p:nvPr/>
        </p:nvSpPr>
        <p:spPr>
          <a:xfrm>
            <a:off x="1080955" y="1688136"/>
            <a:ext cx="7927975" cy="965200"/>
          </a:xfrm>
          <a:prstGeom prst="rect">
            <a:avLst/>
          </a:prstGeom>
        </p:spPr>
        <p:txBody>
          <a:bodyPr vert="horz" wrap="square" lIns="0" tIns="12065" rIns="0" bIns="0" rtlCol="0">
            <a:spAutoFit/>
          </a:bodyPr>
          <a:lstStyle/>
          <a:p>
            <a:pPr marL="325120" marR="17780" indent="-300355">
              <a:lnSpc>
                <a:spcPct val="101000"/>
              </a:lnSpc>
              <a:spcBef>
                <a:spcPts val="95"/>
              </a:spcBef>
            </a:pPr>
            <a:r>
              <a:rPr sz="2600" spc="-1155" dirty="0">
                <a:solidFill>
                  <a:srgbClr val="D34816"/>
                </a:solidFill>
                <a:latin typeface="Webdings" panose="05030102010509060703"/>
                <a:cs typeface="Webdings" panose="05030102010509060703"/>
              </a:rPr>
              <a:t></a:t>
            </a:r>
            <a:r>
              <a:rPr sz="2600" spc="265" dirty="0">
                <a:solidFill>
                  <a:srgbClr val="D34816"/>
                </a:solidFill>
                <a:latin typeface="Times New Roman" panose="02020603050405020304"/>
                <a:cs typeface="Times New Roman" panose="02020603050405020304"/>
              </a:rPr>
              <a:t> </a:t>
            </a:r>
            <a:r>
              <a:rPr sz="3050" spc="-95" dirty="0">
                <a:latin typeface="Times New Roman" panose="02020603050405020304"/>
                <a:cs typeface="Times New Roman" panose="02020603050405020304"/>
              </a:rPr>
              <a:t>Operating </a:t>
            </a:r>
            <a:r>
              <a:rPr sz="3050" spc="-185" dirty="0">
                <a:latin typeface="Times New Roman" panose="02020603050405020304"/>
                <a:cs typeface="Times New Roman" panose="02020603050405020304"/>
              </a:rPr>
              <a:t>System </a:t>
            </a:r>
            <a:r>
              <a:rPr sz="3050" spc="-120" dirty="0">
                <a:latin typeface="Times New Roman" panose="02020603050405020304"/>
                <a:cs typeface="Times New Roman" panose="02020603050405020304"/>
              </a:rPr>
              <a:t>Concepts </a:t>
            </a:r>
            <a:r>
              <a:rPr sz="3050" spc="-125" dirty="0">
                <a:latin typeface="Times New Roman" panose="02020603050405020304"/>
                <a:cs typeface="Times New Roman" panose="02020603050405020304"/>
              </a:rPr>
              <a:t>(Silberschatz, </a:t>
            </a:r>
            <a:r>
              <a:rPr sz="3050" spc="-70" dirty="0">
                <a:latin typeface="Times New Roman" panose="02020603050405020304"/>
                <a:cs typeface="Times New Roman" panose="02020603050405020304"/>
              </a:rPr>
              <a:t>9</a:t>
            </a:r>
            <a:r>
              <a:rPr sz="3075" spc="-104" baseline="24000" dirty="0">
                <a:latin typeface="Times New Roman" panose="02020603050405020304"/>
                <a:cs typeface="Times New Roman" panose="02020603050405020304"/>
              </a:rPr>
              <a:t>th </a:t>
            </a:r>
            <a:r>
              <a:rPr sz="3050" spc="-95" dirty="0">
                <a:latin typeface="Times New Roman" panose="02020603050405020304"/>
                <a:cs typeface="Times New Roman" panose="02020603050405020304"/>
              </a:rPr>
              <a:t>edition)  Chapter</a:t>
            </a:r>
            <a:r>
              <a:rPr sz="3050" spc="-105" dirty="0">
                <a:latin typeface="Times New Roman" panose="02020603050405020304"/>
                <a:cs typeface="Times New Roman" panose="02020603050405020304"/>
              </a:rPr>
              <a:t> </a:t>
            </a:r>
            <a:r>
              <a:rPr sz="3050" spc="-114" dirty="0">
                <a:latin typeface="Times New Roman" panose="02020603050405020304"/>
                <a:cs typeface="Times New Roman" panose="02020603050405020304"/>
              </a:rPr>
              <a:t>3</a:t>
            </a:r>
            <a:endParaRPr sz="3050">
              <a:latin typeface="Times New Roman" panose="02020603050405020304"/>
              <a:cs typeface="Times New Roman" panose="02020603050405020304"/>
            </a:endParaRPr>
          </a:p>
        </p:txBody>
      </p:sp>
      <p:sp>
        <p:nvSpPr>
          <p:cNvPr id="4" name="object 4"/>
          <p:cNvSpPr/>
          <p:nvPr/>
        </p:nvSpPr>
        <p:spPr>
          <a:xfrm>
            <a:off x="161544" y="6946392"/>
            <a:ext cx="502920" cy="502920"/>
          </a:xfrm>
          <a:custGeom>
            <a:avLst/>
            <a:gdLst/>
            <a:ahLst/>
            <a:cxnLst/>
            <a:rect l="l" t="t" r="r" b="b"/>
            <a:pathLst>
              <a:path w="502920" h="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p:spPr>
        <p:txBody>
          <a:bodyPr wrap="square" lIns="0" tIns="0" rIns="0" bIns="0" rtlCol="0"/>
          <a:lstStyle/>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790"/>
              </a:lnSpc>
            </a:pPr>
            <a:r>
              <a:rPr spc="15" dirty="0"/>
              <a:t>CS-2006 Operating</a:t>
            </a:r>
            <a:r>
              <a:rPr spc="-45" dirty="0"/>
              <a:t> </a:t>
            </a:r>
            <a:r>
              <a:rPr spc="10" dirty="0"/>
              <a:t>Systems</a:t>
            </a:r>
            <a:endParaRPr spc="10" dirty="0"/>
          </a:p>
        </p:txBody>
      </p:sp>
      <p:sp>
        <p:nvSpPr>
          <p:cNvPr id="6" name="object 6"/>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r>
              <a:rPr spc="114" dirty="0"/>
              <a:t>4</a:t>
            </a:r>
            <a:r>
              <a:rPr spc="114" dirty="0"/>
              <a:t>6</a:t>
            </a:r>
            <a:endParaRPr spc="11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14607</Words>
  <Application>WPS Presentation</Application>
  <PresentationFormat>On-screen Show (4:3)</PresentationFormat>
  <Paragraphs>653</Paragraphs>
  <Slides>63</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63</vt:i4>
      </vt:variant>
    </vt:vector>
  </HeadingPairs>
  <TitlesOfParts>
    <vt:vector size="85" baseType="lpstr">
      <vt:lpstr>Arial</vt:lpstr>
      <vt:lpstr>SimSun</vt:lpstr>
      <vt:lpstr>Wingdings</vt:lpstr>
      <vt:lpstr>Arial</vt:lpstr>
      <vt:lpstr>Courier New</vt:lpstr>
      <vt:lpstr>Trebuchet MS</vt:lpstr>
      <vt:lpstr>Calibri</vt:lpstr>
      <vt:lpstr>Verdana</vt:lpstr>
      <vt:lpstr>MS PGothic</vt:lpstr>
      <vt:lpstr>Helvetica</vt:lpstr>
      <vt:lpstr>Times New Roman</vt:lpstr>
      <vt:lpstr>Monotype Sorts</vt:lpstr>
      <vt:lpstr>Wingdings</vt:lpstr>
      <vt:lpstr>Webdings</vt:lpstr>
      <vt:lpstr>Times New Roman</vt:lpstr>
      <vt:lpstr>Webdings</vt:lpstr>
      <vt:lpstr>Microsoft YaHei</vt:lpstr>
      <vt:lpstr>Arial Unicode MS</vt:lpstr>
      <vt:lpstr>AoyagiKouzanFontT</vt:lpstr>
      <vt:lpstr>Segoe Print</vt:lpstr>
      <vt:lpstr>ui-monospace</vt:lpstr>
      <vt:lpstr>Office Theme</vt:lpstr>
      <vt:lpstr>Operating Systems  CS2006</vt:lpstr>
      <vt:lpstr>PowerPoint 演示文稿</vt:lpstr>
      <vt:lpstr>PowerPoint 演示文稿</vt:lpstr>
      <vt:lpstr>PowerPoint 演示文稿</vt:lpstr>
      <vt:lpstr>PowerPoint 演示文稿</vt:lpstr>
      <vt:lpstr>PowerPoint 演示文稿</vt:lpstr>
      <vt:lpstr>What’s in today’s lecture</vt:lpstr>
      <vt:lpstr>Introduction</vt:lpstr>
      <vt:lpstr>Cooperating Processes</vt:lpstr>
      <vt:lpstr>Inter-Process Communication (IPC)</vt:lpstr>
      <vt:lpstr>Communications Models</vt:lpstr>
      <vt:lpstr>PowerPoint 演示文稿</vt:lpstr>
      <vt:lpstr>Producer-Consumer Problem</vt:lpstr>
      <vt:lpstr>Producer-Consumer Problem</vt:lpstr>
      <vt:lpstr>Bounded-Buffer – Shared-Memory Solution</vt:lpstr>
      <vt:lpstr>Bounded-Buffer – Producer</vt:lpstr>
      <vt:lpstr>Bounded Buffer – Consumer</vt:lpstr>
      <vt:lpstr>Message Passing (IPC)</vt:lpstr>
      <vt:lpstr>Implementation Questions</vt:lpstr>
      <vt:lpstr>Message Passing Systems</vt:lpstr>
      <vt:lpstr>Direct Communication</vt:lpstr>
      <vt:lpstr>Indirect Communication</vt:lpstr>
      <vt:lpstr>Indirect Communication (Cont.)</vt:lpstr>
      <vt:lpstr>Indirect Communication (Cont.)</vt:lpstr>
      <vt:lpstr>Synchronization</vt:lpstr>
      <vt:lpstr>Produces Consumer</vt:lpstr>
      <vt:lpstr>Buffering</vt:lpstr>
      <vt:lpstr>Communication in Client/Server  Systems</vt:lpstr>
      <vt:lpstr>1. Sockets</vt:lpstr>
      <vt:lpstr>Sockets</vt:lpstr>
      <vt:lpstr>Sockets</vt:lpstr>
      <vt:lpstr>PowerPoint 演示文稿</vt:lpstr>
      <vt:lpstr>PowerPoint 演示文稿</vt:lpstr>
      <vt:lpstr>PowerPoint 演示文稿</vt:lpstr>
      <vt:lpstr>Default File Descriptors</vt:lpstr>
      <vt:lpstr>PowerPoint 演示文稿</vt:lpstr>
      <vt:lpstr>PowerPoint 演示文稿</vt:lpstr>
      <vt:lpstr>PowerPoint 演示文稿</vt:lpstr>
      <vt:lpstr>Sharing File Descriptors</vt:lpstr>
      <vt:lpstr>Duplicate File Descriptors</vt:lpstr>
      <vt:lpstr>3. Pipes</vt:lpstr>
      <vt:lpstr>Pipes: Shared info in kernel’s memory</vt:lpstr>
      <vt:lpstr>Pipes</vt:lpstr>
      <vt:lpstr>Ordinary pipes</vt:lpstr>
      <vt:lpstr>Ordinary pipe</vt:lpstr>
      <vt:lpstr>Pipe Creation (Unix)</vt:lpstr>
      <vt:lpstr>Pipe Creation</vt:lpstr>
      <vt:lpstr>Reading/Writing from/to a Pipe</vt:lpstr>
      <vt:lpstr>PowerPoint 演示文稿</vt:lpstr>
      <vt:lpstr>Example</vt:lpstr>
      <vt:lpstr>PowerPoint 演示文稿</vt:lpstr>
      <vt:lpstr>A Channel between two processes</vt:lpstr>
      <vt:lpstr>PowerPoint 演示文稿</vt:lpstr>
      <vt:lpstr>A Channel between two processes</vt:lpstr>
      <vt:lpstr>An Example of pipes with fork</vt:lpstr>
      <vt:lpstr>Named pipes</vt:lpstr>
      <vt:lpstr>Introduction to FIFOs</vt:lpstr>
      <vt:lpstr>mkfifo() Library Call</vt:lpstr>
      <vt:lpstr>Communication Using FIFO</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  CS2006</dc:title>
  <dc:creator>rana.asif</dc:creator>
  <cp:lastModifiedBy>Rubab Anam Janjua Ilyas janjua</cp:lastModifiedBy>
  <cp:revision>17</cp:revision>
  <dcterms:created xsi:type="dcterms:W3CDTF">2023-09-13T08:54:00Z</dcterms:created>
  <dcterms:modified xsi:type="dcterms:W3CDTF">2025-02-13T20:58:18Z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2022-03-26T01:00:00Z</vt:filetime>
  </property>
  <property fmtid="{D5CDD505-2E9C-101B-9397-08002B2CF9AE}" pid="3" name="LastSaved">
    <vt:filetime>2023-09-14T01:00:00Z</vt:filetime>
  </property>
  <property fmtid="{D5CDD505-2E9C-101B-9397-08002B2CF9AE}" pid="4" name="KSOProductBuildVer">
    <vt:lpwstr>1033-12.2.0.19805</vt:lpwstr>
  </property>
  <property fmtid="{D5CDD505-2E9C-101B-9397-08002B2CF9AE}" pid="5" name="ICV">
    <vt:lpwstr>43192305C63E465995F30A11E910B946_12</vt:lpwstr>
  </property>
</Properties>
</file>