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4"/>
  </p:notesMasterIdLst>
  <p:sldIdLst>
    <p:sldId id="256" r:id="rId2"/>
    <p:sldId id="266" r:id="rId3"/>
    <p:sldId id="267" r:id="rId4"/>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5" autoAdjust="0"/>
    <p:restoredTop sz="94660"/>
  </p:normalViewPr>
  <p:slideViewPr>
    <p:cSldViewPr snapToGrid="0">
      <p:cViewPr varScale="1">
        <p:scale>
          <a:sx n="57" d="100"/>
          <a:sy n="57" d="100"/>
        </p:scale>
        <p:origin x="90"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EF15F1-1BE3-41E1-BDAB-E49B30D87D57}" type="datetimeFigureOut">
              <a:rPr lang="en-US" smtClean="0"/>
              <a:t>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EAD1D5-89F0-4126-839D-5B9BDBED7262}" type="slidenum">
              <a:rPr lang="en-US" smtClean="0"/>
              <a:t>‹#›</a:t>
            </a:fld>
            <a:endParaRPr lang="en-US"/>
          </a:p>
        </p:txBody>
      </p:sp>
    </p:spTree>
    <p:extLst>
      <p:ext uri="{BB962C8B-B14F-4D97-AF65-F5344CB8AC3E}">
        <p14:creationId xmlns:p14="http://schemas.microsoft.com/office/powerpoint/2010/main" val="513803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 Full Block Form                       </a:t>
            </a:r>
          </a:p>
          <a:p>
            <a:r>
              <a:rPr lang="en-US" dirty="0" smtClean="0"/>
              <a:t>2. Modified Block Form</a:t>
            </a:r>
          </a:p>
          <a:p>
            <a:r>
              <a:rPr lang="en-US" dirty="0" smtClean="0"/>
              <a:t>3. Simplified</a:t>
            </a:r>
          </a:p>
          <a:p>
            <a:endParaRPr lang="en-US" dirty="0" smtClean="0"/>
          </a:p>
          <a:p>
            <a:r>
              <a:rPr lang="en-US" dirty="0" smtClean="0"/>
              <a:t>Out of the three, this is Full Block format. All lines in the letter begin at the left margin (no tabbing or indenting)</a:t>
            </a:r>
          </a:p>
          <a:p>
            <a:endParaRPr lang="en-US" dirty="0"/>
          </a:p>
        </p:txBody>
      </p:sp>
      <p:sp>
        <p:nvSpPr>
          <p:cNvPr id="4" name="Slide Number Placeholder 3"/>
          <p:cNvSpPr>
            <a:spLocks noGrp="1"/>
          </p:cNvSpPr>
          <p:nvPr>
            <p:ph type="sldNum" sz="quarter" idx="10"/>
          </p:nvPr>
        </p:nvSpPr>
        <p:spPr/>
        <p:txBody>
          <a:bodyPr/>
          <a:lstStyle/>
          <a:p>
            <a:fld id="{BC04709A-E58A-4CDF-94D1-2BE8D1A5DF8E}" type="slidenum">
              <a:rPr lang="en-US" smtClean="0"/>
              <a:t>2</a:t>
            </a:fld>
            <a:endParaRPr lang="en-US"/>
          </a:p>
        </p:txBody>
      </p:sp>
    </p:spTree>
    <p:extLst>
      <p:ext uri="{BB962C8B-B14F-4D97-AF65-F5344CB8AC3E}">
        <p14:creationId xmlns:p14="http://schemas.microsoft.com/office/powerpoint/2010/main" val="1093282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(For information on subject lines, read pages 122–123 of </a:t>
            </a:r>
            <a:r>
              <a:rPr lang="en-US" b="1" dirty="0">
                <a:latin typeface="Times New Roman" panose="02020603050405020304" pitchFamily="18" charset="0"/>
                <a:cs typeface="Times New Roman" panose="02020603050405020304" pitchFamily="18" charset="0"/>
              </a:rPr>
              <a:t>The Business Writer's Handbook</a:t>
            </a:r>
            <a:r>
              <a:rPr lang="en-US" dirty="0">
                <a:latin typeface="Times New Roman" panose="02020603050405020304" pitchFamily="18" charset="0"/>
                <a:cs typeface="Times New Roman" panose="02020603050405020304" pitchFamily="18" charset="0"/>
              </a:rPr>
              <a:t>.) </a:t>
            </a:r>
          </a:p>
          <a:p>
            <a:endParaRPr lang="en-US" dirty="0"/>
          </a:p>
        </p:txBody>
      </p:sp>
      <p:sp>
        <p:nvSpPr>
          <p:cNvPr id="4" name="Slide Number Placeholder 3"/>
          <p:cNvSpPr>
            <a:spLocks noGrp="1"/>
          </p:cNvSpPr>
          <p:nvPr>
            <p:ph type="sldNum" sz="quarter" idx="10"/>
          </p:nvPr>
        </p:nvSpPr>
        <p:spPr/>
        <p:txBody>
          <a:bodyPr/>
          <a:lstStyle/>
          <a:p>
            <a:fld id="{B9C07A05-6602-43AE-8025-32C8865F4688}" type="slidenum">
              <a:rPr lang="en-US" smtClean="0"/>
              <a:t>7</a:t>
            </a:fld>
            <a:endParaRPr lang="en-US"/>
          </a:p>
        </p:txBody>
      </p:sp>
    </p:spTree>
    <p:extLst>
      <p:ext uri="{BB962C8B-B14F-4D97-AF65-F5344CB8AC3E}">
        <p14:creationId xmlns:p14="http://schemas.microsoft.com/office/powerpoint/2010/main" val="715724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Place the salutation, or greeting, below the subject and the inside address and align it with the left margin.</a:t>
            </a:r>
          </a:p>
          <a:p>
            <a:endParaRPr lang="en-US" dirty="0"/>
          </a:p>
        </p:txBody>
      </p:sp>
      <p:sp>
        <p:nvSpPr>
          <p:cNvPr id="4" name="Slide Number Placeholder 3"/>
          <p:cNvSpPr>
            <a:spLocks noGrp="1"/>
          </p:cNvSpPr>
          <p:nvPr>
            <p:ph type="sldNum" sz="quarter" idx="10"/>
          </p:nvPr>
        </p:nvSpPr>
        <p:spPr/>
        <p:txBody>
          <a:bodyPr/>
          <a:lstStyle/>
          <a:p>
            <a:fld id="{B9C07A05-6602-43AE-8025-32C8865F4688}" type="slidenum">
              <a:rPr lang="en-US" smtClean="0"/>
              <a:t>8</a:t>
            </a:fld>
            <a:endParaRPr lang="en-US"/>
          </a:p>
        </p:txBody>
      </p:sp>
    </p:spTree>
    <p:extLst>
      <p:ext uri="{BB962C8B-B14F-4D97-AF65-F5344CB8AC3E}">
        <p14:creationId xmlns:p14="http://schemas.microsoft.com/office/powerpoint/2010/main" val="2658959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a:t>
            </a:r>
            <a:r>
              <a:rPr lang="en-US" baseline="0" dirty="0"/>
              <a:t> r</a:t>
            </a:r>
            <a:r>
              <a:rPr lang="en-US" dirty="0"/>
              <a:t>ead about the ABC format in the Correspondence guidelines.</a:t>
            </a:r>
          </a:p>
        </p:txBody>
      </p:sp>
      <p:sp>
        <p:nvSpPr>
          <p:cNvPr id="4" name="Slide Number Placeholder 3"/>
          <p:cNvSpPr>
            <a:spLocks noGrp="1"/>
          </p:cNvSpPr>
          <p:nvPr>
            <p:ph type="sldNum" sz="quarter" idx="10"/>
          </p:nvPr>
        </p:nvSpPr>
        <p:spPr/>
        <p:txBody>
          <a:bodyPr/>
          <a:lstStyle/>
          <a:p>
            <a:fld id="{B9C07A05-6602-43AE-8025-32C8865F4688}" type="slidenum">
              <a:rPr lang="en-US" smtClean="0"/>
              <a:t>9</a:t>
            </a:fld>
            <a:endParaRPr lang="en-US"/>
          </a:p>
        </p:txBody>
      </p:sp>
    </p:spTree>
    <p:extLst>
      <p:ext uri="{BB962C8B-B14F-4D97-AF65-F5344CB8AC3E}">
        <p14:creationId xmlns:p14="http://schemas.microsoft.com/office/powerpoint/2010/main" val="537561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Times New Roman" panose="02020603050405020304" pitchFamily="18" charset="0"/>
                <a:cs typeface="Times New Roman" panose="02020603050405020304" pitchFamily="18" charset="0"/>
              </a:rPr>
              <a:t>Business letters sometimes require additional information placed at the left margin.</a:t>
            </a:r>
          </a:p>
          <a:p>
            <a:r>
              <a:rPr lang="en-US" sz="1200" dirty="0">
                <a:latin typeface="Times New Roman" panose="02020603050405020304" pitchFamily="18" charset="0"/>
                <a:cs typeface="Times New Roman" panose="02020603050405020304" pitchFamily="18" charset="0"/>
              </a:rPr>
              <a:t>two spaces below the typed name and title of the writer in a long letter, four spaces below in a short letter.</a:t>
            </a:r>
          </a:p>
          <a:p>
            <a:endParaRPr lang="en-US" dirty="0"/>
          </a:p>
        </p:txBody>
      </p:sp>
      <p:sp>
        <p:nvSpPr>
          <p:cNvPr id="4" name="Slide Number Placeholder 3"/>
          <p:cNvSpPr>
            <a:spLocks noGrp="1"/>
          </p:cNvSpPr>
          <p:nvPr>
            <p:ph type="sldNum" sz="quarter" idx="10"/>
          </p:nvPr>
        </p:nvSpPr>
        <p:spPr/>
        <p:txBody>
          <a:bodyPr/>
          <a:lstStyle/>
          <a:p>
            <a:fld id="{B9C07A05-6602-43AE-8025-32C8865F4688}" type="slidenum">
              <a:rPr lang="en-US" smtClean="0"/>
              <a:t>12</a:t>
            </a:fld>
            <a:endParaRPr lang="en-US"/>
          </a:p>
        </p:txBody>
      </p:sp>
    </p:spTree>
    <p:extLst>
      <p:ext uri="{BB962C8B-B14F-4D97-AF65-F5344CB8AC3E}">
        <p14:creationId xmlns:p14="http://schemas.microsoft.com/office/powerpoint/2010/main" val="2453981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8A45DE3-660F-49E5-A348-03388B115C6B}"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EECE5-3CB8-47E5-949C-9DAE8E728E7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0694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8A45DE3-660F-49E5-A348-03388B115C6B}"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EECE5-3CB8-47E5-949C-9DAE8E728E77}" type="slidenum">
              <a:rPr lang="en-US" smtClean="0"/>
              <a:t>‹#›</a:t>
            </a:fld>
            <a:endParaRPr lang="en-US"/>
          </a:p>
        </p:txBody>
      </p:sp>
    </p:spTree>
    <p:extLst>
      <p:ext uri="{BB962C8B-B14F-4D97-AF65-F5344CB8AC3E}">
        <p14:creationId xmlns:p14="http://schemas.microsoft.com/office/powerpoint/2010/main" val="3831026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8A45DE3-660F-49E5-A348-03388B115C6B}"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EECE5-3CB8-47E5-949C-9DAE8E728E7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837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8A45DE3-660F-49E5-A348-03388B115C6B}"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EECE5-3CB8-47E5-949C-9DAE8E728E77}" type="slidenum">
              <a:rPr lang="en-US" smtClean="0"/>
              <a:t>‹#›</a:t>
            </a:fld>
            <a:endParaRPr lang="en-US"/>
          </a:p>
        </p:txBody>
      </p:sp>
    </p:spTree>
    <p:extLst>
      <p:ext uri="{BB962C8B-B14F-4D97-AF65-F5344CB8AC3E}">
        <p14:creationId xmlns:p14="http://schemas.microsoft.com/office/powerpoint/2010/main" val="1131102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8A45DE3-660F-49E5-A348-03388B115C6B}" type="datetimeFigureOut">
              <a:rPr lang="en-US" smtClean="0"/>
              <a:t>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9EECE5-3CB8-47E5-949C-9DAE8E728E77}" type="slidenum">
              <a:rPr lang="en-US" smtClean="0"/>
              <a:t>‹#›</a:t>
            </a:fld>
            <a:endParaRPr lang="en-US"/>
          </a:p>
        </p:txBody>
      </p:sp>
    </p:spTree>
    <p:extLst>
      <p:ext uri="{BB962C8B-B14F-4D97-AF65-F5344CB8AC3E}">
        <p14:creationId xmlns:p14="http://schemas.microsoft.com/office/powerpoint/2010/main" val="1721500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8A45DE3-660F-49E5-A348-03388B115C6B}" type="datetimeFigureOut">
              <a:rPr lang="en-US" smtClean="0"/>
              <a:t>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9EECE5-3CB8-47E5-949C-9DAE8E728E77}" type="slidenum">
              <a:rPr lang="en-US" smtClean="0"/>
              <a:t>‹#›</a:t>
            </a:fld>
            <a:endParaRPr lang="en-US"/>
          </a:p>
        </p:txBody>
      </p:sp>
    </p:spTree>
    <p:extLst>
      <p:ext uri="{BB962C8B-B14F-4D97-AF65-F5344CB8AC3E}">
        <p14:creationId xmlns:p14="http://schemas.microsoft.com/office/powerpoint/2010/main" val="1090895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8A45DE3-660F-49E5-A348-03388B115C6B}" type="datetimeFigureOut">
              <a:rPr lang="en-US" smtClean="0"/>
              <a:t>2/7/2025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79EECE5-3CB8-47E5-949C-9DAE8E728E77}" type="slidenum">
              <a:rPr lang="en-US" smtClean="0"/>
              <a:t>‹#›</a:t>
            </a:fld>
            <a:endParaRPr lang="en-US"/>
          </a:p>
        </p:txBody>
      </p:sp>
    </p:spTree>
    <p:extLst>
      <p:ext uri="{BB962C8B-B14F-4D97-AF65-F5344CB8AC3E}">
        <p14:creationId xmlns:p14="http://schemas.microsoft.com/office/powerpoint/2010/main" val="2466829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8A45DE3-660F-49E5-A348-03388B115C6B}" type="datetimeFigureOut">
              <a:rPr lang="en-US" smtClean="0"/>
              <a:t>2/7/2025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79EECE5-3CB8-47E5-949C-9DAE8E728E77}" type="slidenum">
              <a:rPr lang="en-US" smtClean="0"/>
              <a:t>‹#›</a:t>
            </a:fld>
            <a:endParaRPr lang="en-US"/>
          </a:p>
        </p:txBody>
      </p:sp>
    </p:spTree>
    <p:extLst>
      <p:ext uri="{BB962C8B-B14F-4D97-AF65-F5344CB8AC3E}">
        <p14:creationId xmlns:p14="http://schemas.microsoft.com/office/powerpoint/2010/main" val="411372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8A45DE3-660F-49E5-A348-03388B115C6B}"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EECE5-3CB8-47E5-949C-9DAE8E728E77}" type="slidenum">
              <a:rPr lang="en-US" smtClean="0"/>
              <a:t>‹#›</a:t>
            </a:fld>
            <a:endParaRPr lang="en-US"/>
          </a:p>
        </p:txBody>
      </p:sp>
    </p:spTree>
    <p:extLst>
      <p:ext uri="{BB962C8B-B14F-4D97-AF65-F5344CB8AC3E}">
        <p14:creationId xmlns:p14="http://schemas.microsoft.com/office/powerpoint/2010/main" val="4097907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8A45DE3-660F-49E5-A348-03388B115C6B}"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EECE5-3CB8-47E5-949C-9DAE8E728E77}" type="slidenum">
              <a:rPr lang="en-US" smtClean="0"/>
              <a:t>‹#›</a:t>
            </a:fld>
            <a:endParaRPr lang="en-US"/>
          </a:p>
        </p:txBody>
      </p:sp>
    </p:spTree>
    <p:extLst>
      <p:ext uri="{BB962C8B-B14F-4D97-AF65-F5344CB8AC3E}">
        <p14:creationId xmlns:p14="http://schemas.microsoft.com/office/powerpoint/2010/main" val="4029770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8A45DE3-660F-49E5-A348-03388B115C6B}"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EECE5-3CB8-47E5-949C-9DAE8E728E77}" type="slidenum">
              <a:rPr lang="en-US" smtClean="0"/>
              <a:t>‹#›</a:t>
            </a:fld>
            <a:endParaRPr lang="en-US"/>
          </a:p>
        </p:txBody>
      </p:sp>
    </p:spTree>
    <p:extLst>
      <p:ext uri="{BB962C8B-B14F-4D97-AF65-F5344CB8AC3E}">
        <p14:creationId xmlns:p14="http://schemas.microsoft.com/office/powerpoint/2010/main" val="2257391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8A45DE3-660F-49E5-A348-03388B115C6B}" type="datetimeFigureOut">
              <a:rPr lang="en-US" smtClean="0"/>
              <a:t>2/7/2025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79EECE5-3CB8-47E5-949C-9DAE8E728E7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22116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Correspondence</a:t>
            </a:r>
            <a:endParaRPr lang="en-US" dirty="0"/>
          </a:p>
        </p:txBody>
      </p:sp>
      <p:sp>
        <p:nvSpPr>
          <p:cNvPr id="3" name="Subtitle 2"/>
          <p:cNvSpPr>
            <a:spLocks noGrp="1"/>
          </p:cNvSpPr>
          <p:nvPr>
            <p:ph type="subTitle" idx="1"/>
          </p:nvPr>
        </p:nvSpPr>
        <p:spPr/>
        <p:txBody>
          <a:bodyPr>
            <a:normAutofit fontScale="85000" lnSpcReduction="20000"/>
          </a:bodyPr>
          <a:lstStyle/>
          <a:p>
            <a:r>
              <a:rPr lang="en-US" b="1" dirty="0" smtClean="0">
                <a:solidFill>
                  <a:schemeClr val="tx1"/>
                </a:solidFill>
              </a:rPr>
              <a:t>Chapter: 6</a:t>
            </a:r>
          </a:p>
          <a:p>
            <a:endParaRPr lang="en-US" b="1" dirty="0">
              <a:solidFill>
                <a:schemeClr val="tx1"/>
              </a:solidFill>
            </a:endParaRPr>
          </a:p>
          <a:p>
            <a:r>
              <a:rPr lang="en-US" b="1" i="1" dirty="0" smtClean="0">
                <a:solidFill>
                  <a:schemeClr val="tx1"/>
                </a:solidFill>
              </a:rPr>
              <a:t>Business Letters</a:t>
            </a:r>
            <a:endParaRPr lang="en-US" b="1" i="1" dirty="0">
              <a:solidFill>
                <a:schemeClr val="tx1"/>
              </a:solidFill>
            </a:endParaRPr>
          </a:p>
        </p:txBody>
      </p:sp>
    </p:spTree>
    <p:extLst>
      <p:ext uri="{BB962C8B-B14F-4D97-AF65-F5344CB8AC3E}">
        <p14:creationId xmlns:p14="http://schemas.microsoft.com/office/powerpoint/2010/main" val="1661623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3100387" y="0"/>
            <a:ext cx="4462463" cy="6938951"/>
          </a:xfrm>
          <a:prstGeom prst="rect">
            <a:avLst/>
          </a:prstGeom>
        </p:spPr>
      </p:pic>
    </p:spTree>
    <p:extLst>
      <p:ext uri="{BB962C8B-B14F-4D97-AF65-F5344CB8AC3E}">
        <p14:creationId xmlns:p14="http://schemas.microsoft.com/office/powerpoint/2010/main" val="31614709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111426F0-B771-4BFB-11E6-4412652203B2}"/>
              </a:ext>
            </a:extLst>
          </p:cNvPr>
          <p:cNvPicPr>
            <a:picLocks noChangeAspect="1"/>
          </p:cNvPicPr>
          <p:nvPr/>
        </p:nvPicPr>
        <p:blipFill>
          <a:blip r:embed="rId2">
            <a:duotone>
              <a:prstClr val="black"/>
              <a:srgbClr val="D9C3A5">
                <a:tint val="50000"/>
                <a:satMod val="180000"/>
              </a:srgbClr>
            </a:duotone>
          </a:blip>
          <a:stretch>
            <a:fillRect/>
          </a:stretch>
        </p:blipFill>
        <p:spPr>
          <a:xfrm>
            <a:off x="3028938" y="0"/>
            <a:ext cx="6134124" cy="6858000"/>
          </a:xfrm>
          <a:prstGeom prst="rect">
            <a:avLst/>
          </a:prstGeom>
        </p:spPr>
      </p:pic>
    </p:spTree>
    <p:extLst>
      <p:ext uri="{BB962C8B-B14F-4D97-AF65-F5344CB8AC3E}">
        <p14:creationId xmlns:p14="http://schemas.microsoft.com/office/powerpoint/2010/main" val="37135073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CA82D3-9506-BAB7-9AEC-7BB878F5975E}"/>
              </a:ext>
            </a:extLst>
          </p:cNvPr>
          <p:cNvSpPr>
            <a:spLocks noGrp="1"/>
          </p:cNvSpPr>
          <p:nvPr>
            <p:ph type="title"/>
          </p:nvPr>
        </p:nvSpPr>
        <p:spPr>
          <a:xfrm>
            <a:off x="502921" y="0"/>
            <a:ext cx="10131425" cy="1456267"/>
          </a:xfrm>
        </p:spPr>
        <p:txBody>
          <a:bodyPr>
            <a:normAutofit/>
          </a:bodyPr>
          <a:lstStyle/>
          <a:p>
            <a:r>
              <a:rPr lang="en-US" sz="4400" b="1" dirty="0">
                <a:latin typeface="+mn-lt"/>
              </a:rPr>
              <a:t>Parts of a Letter </a:t>
            </a:r>
          </a:p>
        </p:txBody>
      </p:sp>
      <p:sp>
        <p:nvSpPr>
          <p:cNvPr id="3" name="Content Placeholder 2">
            <a:extLst>
              <a:ext uri="{FF2B5EF4-FFF2-40B4-BE49-F238E27FC236}">
                <a16:creationId xmlns:a16="http://schemas.microsoft.com/office/drawing/2014/main" xmlns="" id="{7B4A3085-642D-33BE-F5BE-16C1E139B056}"/>
              </a:ext>
            </a:extLst>
          </p:cNvPr>
          <p:cNvSpPr>
            <a:spLocks noGrp="1"/>
          </p:cNvSpPr>
          <p:nvPr>
            <p:ph idx="1"/>
          </p:nvPr>
        </p:nvSpPr>
        <p:spPr>
          <a:xfrm>
            <a:off x="502921" y="1300480"/>
            <a:ext cx="11465559" cy="5557520"/>
          </a:xfrm>
        </p:spPr>
        <p:txBody>
          <a:bodyPr>
            <a:normAutofit/>
          </a:bodyPr>
          <a:lstStyle/>
          <a:p>
            <a:pPr marL="342900" indent="-342900">
              <a:buFont typeface="+mj-lt"/>
              <a:buAutoNum type="arabicPeriod"/>
            </a:pPr>
            <a:r>
              <a:rPr lang="en-US" sz="2800" dirty="0"/>
              <a:t>Letterhead of your Organization</a:t>
            </a:r>
          </a:p>
          <a:p>
            <a:pPr marL="342900" indent="-342900">
              <a:buFont typeface="+mj-lt"/>
              <a:buAutoNum type="arabicPeriod"/>
            </a:pPr>
            <a:r>
              <a:rPr lang="en-US" sz="2800" dirty="0"/>
              <a:t>Date</a:t>
            </a:r>
          </a:p>
          <a:p>
            <a:pPr marL="342900" indent="-342900">
              <a:buFont typeface="+mj-lt"/>
              <a:buAutoNum type="arabicPeriod"/>
            </a:pPr>
            <a:r>
              <a:rPr lang="en-US" sz="2800" dirty="0"/>
              <a:t>Inside Address</a:t>
            </a:r>
          </a:p>
          <a:p>
            <a:pPr marL="342900" indent="-342900">
              <a:buFont typeface="+mj-lt"/>
              <a:buAutoNum type="arabicPeriod"/>
            </a:pPr>
            <a:r>
              <a:rPr lang="en-US" sz="2800" dirty="0"/>
              <a:t>Subject Line</a:t>
            </a:r>
          </a:p>
          <a:p>
            <a:pPr marL="342900" indent="-342900">
              <a:buFont typeface="+mj-lt"/>
              <a:buAutoNum type="arabicPeriod"/>
            </a:pPr>
            <a:r>
              <a:rPr lang="en-US" sz="2800" dirty="0"/>
              <a:t>Salutation</a:t>
            </a:r>
          </a:p>
          <a:p>
            <a:pPr marL="342900" indent="-342900">
              <a:buFont typeface="+mj-lt"/>
              <a:buAutoNum type="arabicPeriod"/>
            </a:pPr>
            <a:r>
              <a:rPr lang="en-US" sz="2800" dirty="0"/>
              <a:t>Body</a:t>
            </a:r>
          </a:p>
          <a:p>
            <a:pPr marL="342900" indent="-342900">
              <a:buFont typeface="+mj-lt"/>
              <a:buAutoNum type="arabicPeriod"/>
            </a:pPr>
            <a:r>
              <a:rPr lang="en-US" sz="2800" dirty="0"/>
              <a:t>Complimentary Closing</a:t>
            </a:r>
          </a:p>
          <a:p>
            <a:pPr marL="342900" indent="-342900">
              <a:buFont typeface="+mj-lt"/>
              <a:buAutoNum type="arabicPeriod"/>
            </a:pPr>
            <a:r>
              <a:rPr lang="en-US" sz="2800" dirty="0"/>
              <a:t>Writer’s Signature Block</a:t>
            </a:r>
          </a:p>
          <a:p>
            <a:pPr marL="342900" indent="-342900">
              <a:buFont typeface="+mj-lt"/>
              <a:buAutoNum type="arabicPeriod"/>
            </a:pPr>
            <a:r>
              <a:rPr lang="en-US" sz="2800" dirty="0"/>
              <a:t>Your full name (typed)</a:t>
            </a:r>
          </a:p>
          <a:p>
            <a:pPr marL="342900" indent="-342900">
              <a:buFont typeface="+mj-lt"/>
              <a:buAutoNum type="arabicPeriod"/>
            </a:pPr>
            <a:r>
              <a:rPr lang="en-US" sz="2800" dirty="0"/>
              <a:t>End Notations CC</a:t>
            </a:r>
          </a:p>
          <a:p>
            <a:endParaRPr lang="en-US" dirty="0"/>
          </a:p>
        </p:txBody>
      </p:sp>
    </p:spTree>
    <p:extLst>
      <p:ext uri="{BB962C8B-B14F-4D97-AF65-F5344CB8AC3E}">
        <p14:creationId xmlns:p14="http://schemas.microsoft.com/office/powerpoint/2010/main" val="2981434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476" y="259556"/>
            <a:ext cx="10515600" cy="871538"/>
          </a:xfrm>
        </p:spPr>
        <p:txBody>
          <a:bodyPr/>
          <a:lstStyle/>
          <a:p>
            <a:r>
              <a:rPr lang="en-US" b="1" dirty="0">
                <a:latin typeface="+mn-lt"/>
                <a:cs typeface="Times New Roman" panose="02020603050405020304" pitchFamily="18" charset="0"/>
              </a:rPr>
              <a:t>Heading or Letterhead</a:t>
            </a:r>
          </a:p>
        </p:txBody>
      </p:sp>
      <p:sp>
        <p:nvSpPr>
          <p:cNvPr id="3" name="Content Placeholder 2"/>
          <p:cNvSpPr>
            <a:spLocks noGrp="1"/>
          </p:cNvSpPr>
          <p:nvPr>
            <p:ph idx="1"/>
          </p:nvPr>
        </p:nvSpPr>
        <p:spPr>
          <a:xfrm>
            <a:off x="225690" y="1804988"/>
            <a:ext cx="11672888" cy="5614988"/>
          </a:xfrm>
        </p:spPr>
        <p:txBody>
          <a:bodyPr>
            <a:normAutofit/>
          </a:bodyPr>
          <a:lstStyle/>
          <a:p>
            <a:r>
              <a:rPr lang="en-US" sz="2800" dirty="0">
                <a:cs typeface="Times New Roman" panose="02020603050405020304" pitchFamily="18" charset="0"/>
              </a:rPr>
              <a:t>Place your </a:t>
            </a:r>
            <a:r>
              <a:rPr lang="en-US" sz="2800" b="1" dirty="0">
                <a:cs typeface="Times New Roman" panose="02020603050405020304" pitchFamily="18" charset="0"/>
              </a:rPr>
              <a:t>full return address </a:t>
            </a:r>
            <a:r>
              <a:rPr lang="en-US" sz="2800" dirty="0">
                <a:cs typeface="Times New Roman" panose="02020603050405020304" pitchFamily="18" charset="0"/>
              </a:rPr>
              <a:t>and the </a:t>
            </a:r>
            <a:r>
              <a:rPr lang="en-US" sz="2800" b="1" dirty="0">
                <a:cs typeface="Times New Roman" panose="02020603050405020304" pitchFamily="18" charset="0"/>
              </a:rPr>
              <a:t>date</a:t>
            </a:r>
            <a:r>
              <a:rPr lang="en-US" sz="2800" dirty="0">
                <a:cs typeface="Times New Roman" panose="02020603050405020304" pitchFamily="18" charset="0"/>
              </a:rPr>
              <a:t> in the heading (if no letterhead).</a:t>
            </a:r>
          </a:p>
          <a:p>
            <a:r>
              <a:rPr lang="en-US" sz="2800" dirty="0">
                <a:cs typeface="Times New Roman" panose="02020603050405020304" pitchFamily="18" charset="0"/>
              </a:rPr>
              <a:t>Avoid writing </a:t>
            </a:r>
            <a:r>
              <a:rPr lang="en-US" sz="2800" b="1" dirty="0">
                <a:cs typeface="Times New Roman" panose="02020603050405020304" pitchFamily="18" charset="0"/>
              </a:rPr>
              <a:t>name</a:t>
            </a:r>
            <a:r>
              <a:rPr lang="en-US" sz="2800" dirty="0">
                <a:cs typeface="Times New Roman" panose="02020603050405020304" pitchFamily="18" charset="0"/>
              </a:rPr>
              <a:t> (your name appears at the end of the letter)</a:t>
            </a:r>
          </a:p>
          <a:p>
            <a:r>
              <a:rPr lang="en-US" sz="2800" b="1" dirty="0">
                <a:cs typeface="Times New Roman" panose="02020603050405020304" pitchFamily="18" charset="0"/>
              </a:rPr>
              <a:t>Spell out </a:t>
            </a:r>
            <a:r>
              <a:rPr lang="en-US" sz="2800" dirty="0">
                <a:cs typeface="Times New Roman" panose="02020603050405020304" pitchFamily="18" charset="0"/>
              </a:rPr>
              <a:t>words such as street, avenue, first, and west rather than abbreviating them. </a:t>
            </a:r>
          </a:p>
          <a:p>
            <a:r>
              <a:rPr lang="en-US" sz="2800" dirty="0">
                <a:cs typeface="Times New Roman" panose="02020603050405020304" pitchFamily="18" charset="0"/>
              </a:rPr>
              <a:t>The </a:t>
            </a:r>
            <a:r>
              <a:rPr lang="en-US" sz="2800" b="1" dirty="0">
                <a:cs typeface="Times New Roman" panose="02020603050405020304" pitchFamily="18" charset="0"/>
              </a:rPr>
              <a:t>date</a:t>
            </a:r>
            <a:r>
              <a:rPr lang="en-US" sz="2800" dirty="0">
                <a:cs typeface="Times New Roman" panose="02020603050405020304" pitchFamily="18" charset="0"/>
              </a:rPr>
              <a:t> usually goes directly beneath the last line of the return address. Avoid abbreviating the name of the month.</a:t>
            </a:r>
          </a:p>
          <a:p>
            <a:r>
              <a:rPr lang="en-US" sz="2800" dirty="0">
                <a:cs typeface="Times New Roman" panose="02020603050405020304" pitchFamily="18" charset="0"/>
              </a:rPr>
              <a:t>Begin the </a:t>
            </a:r>
            <a:r>
              <a:rPr lang="en-US" sz="2800" b="1" dirty="0">
                <a:cs typeface="Times New Roman" panose="02020603050405020304" pitchFamily="18" charset="0"/>
              </a:rPr>
              <a:t>heading</a:t>
            </a:r>
            <a:r>
              <a:rPr lang="en-US" sz="2800" dirty="0">
                <a:cs typeface="Times New Roman" panose="02020603050405020304" pitchFamily="18" charset="0"/>
              </a:rPr>
              <a:t> about two inches from the top of the page. </a:t>
            </a:r>
          </a:p>
          <a:p>
            <a:r>
              <a:rPr lang="en-US" sz="2800" dirty="0">
                <a:cs typeface="Times New Roman" panose="02020603050405020304" pitchFamily="18" charset="0"/>
              </a:rPr>
              <a:t>If you are using </a:t>
            </a:r>
            <a:r>
              <a:rPr lang="en-US" sz="2800" b="1" dirty="0">
                <a:cs typeface="Times New Roman" panose="02020603050405020304" pitchFamily="18" charset="0"/>
              </a:rPr>
              <a:t>letterhead </a:t>
            </a:r>
            <a:r>
              <a:rPr lang="en-US" sz="2800" dirty="0">
                <a:cs typeface="Times New Roman" panose="02020603050405020304" pitchFamily="18" charset="0"/>
              </a:rPr>
              <a:t>that gives the company address, enter only the date, below the last line of the letterhead.</a:t>
            </a:r>
          </a:p>
        </p:txBody>
      </p:sp>
    </p:spTree>
    <p:extLst>
      <p:ext uri="{BB962C8B-B14F-4D97-AF65-F5344CB8AC3E}">
        <p14:creationId xmlns:p14="http://schemas.microsoft.com/office/powerpoint/2010/main" val="9812280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mn-lt"/>
                <a:cs typeface="Times New Roman" panose="02020603050405020304" pitchFamily="18" charset="0"/>
              </a:rPr>
              <a:t>Inside Address</a:t>
            </a:r>
          </a:p>
        </p:txBody>
      </p:sp>
      <p:sp>
        <p:nvSpPr>
          <p:cNvPr id="3" name="Content Placeholder 2"/>
          <p:cNvSpPr>
            <a:spLocks noGrp="1"/>
          </p:cNvSpPr>
          <p:nvPr>
            <p:ph idx="1"/>
          </p:nvPr>
        </p:nvSpPr>
        <p:spPr>
          <a:xfrm>
            <a:off x="685801" y="2142067"/>
            <a:ext cx="11506199" cy="3913293"/>
          </a:xfrm>
        </p:spPr>
        <p:txBody>
          <a:bodyPr>
            <a:normAutofit/>
          </a:bodyPr>
          <a:lstStyle/>
          <a:p>
            <a:r>
              <a:rPr lang="en-US" sz="3200" dirty="0">
                <a:cs typeface="Times New Roman" panose="02020603050405020304" pitchFamily="18" charset="0"/>
              </a:rPr>
              <a:t>the recipient’s full name </a:t>
            </a:r>
          </a:p>
          <a:p>
            <a:r>
              <a:rPr lang="en-US" sz="3200" dirty="0">
                <a:cs typeface="Times New Roman" panose="02020603050405020304" pitchFamily="18" charset="0"/>
              </a:rPr>
              <a:t>Title/designation</a:t>
            </a:r>
          </a:p>
          <a:p>
            <a:r>
              <a:rPr lang="en-US" sz="3200" dirty="0">
                <a:cs typeface="Times New Roman" panose="02020603050405020304" pitchFamily="18" charset="0"/>
              </a:rPr>
              <a:t>address in the inside address, </a:t>
            </a:r>
          </a:p>
          <a:p>
            <a:r>
              <a:rPr lang="en-US" sz="3200" dirty="0">
                <a:cs typeface="Times New Roman" panose="02020603050405020304" pitchFamily="18" charset="0"/>
              </a:rPr>
              <a:t>One line below the date, depending on the length of the letter </a:t>
            </a:r>
          </a:p>
        </p:txBody>
      </p:sp>
    </p:spTree>
    <p:extLst>
      <p:ext uri="{BB962C8B-B14F-4D97-AF65-F5344CB8AC3E}">
        <p14:creationId xmlns:p14="http://schemas.microsoft.com/office/powerpoint/2010/main" val="29380572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886" y="299962"/>
            <a:ext cx="10515600" cy="1014413"/>
          </a:xfrm>
        </p:spPr>
        <p:txBody>
          <a:bodyPr/>
          <a:lstStyle/>
          <a:p>
            <a:r>
              <a:rPr lang="en-US" b="1" dirty="0">
                <a:latin typeface="+mn-lt"/>
                <a:cs typeface="Times New Roman" panose="02020603050405020304" pitchFamily="18" charset="0"/>
              </a:rPr>
              <a:t>Subject Line</a:t>
            </a:r>
          </a:p>
        </p:txBody>
      </p:sp>
      <p:sp>
        <p:nvSpPr>
          <p:cNvPr id="3" name="Content Placeholder 2"/>
          <p:cNvSpPr>
            <a:spLocks noGrp="1"/>
          </p:cNvSpPr>
          <p:nvPr>
            <p:ph idx="1"/>
          </p:nvPr>
        </p:nvSpPr>
        <p:spPr>
          <a:xfrm>
            <a:off x="440266" y="1930400"/>
            <a:ext cx="11751733" cy="4783592"/>
          </a:xfrm>
        </p:spPr>
        <p:txBody>
          <a:bodyPr>
            <a:normAutofit/>
          </a:bodyPr>
          <a:lstStyle/>
          <a:p>
            <a:r>
              <a:rPr lang="en-US" sz="2800" dirty="0">
                <a:cs typeface="Times New Roman" panose="02020603050405020304" pitchFamily="18" charset="0"/>
              </a:rPr>
              <a:t>An </a:t>
            </a:r>
            <a:r>
              <a:rPr lang="en-US" sz="2800" dirty="0" smtClean="0">
                <a:cs typeface="Times New Roman" panose="02020603050405020304" pitchFamily="18" charset="0"/>
              </a:rPr>
              <a:t>important </a:t>
            </a:r>
            <a:r>
              <a:rPr lang="en-US" sz="2800" dirty="0">
                <a:cs typeface="Times New Roman" panose="02020603050405020304" pitchFamily="18" charset="0"/>
              </a:rPr>
              <a:t>element in a letter is a subject line.</a:t>
            </a:r>
          </a:p>
          <a:p>
            <a:r>
              <a:rPr lang="en-US" sz="2800" dirty="0">
                <a:cs typeface="Times New Roman" panose="02020603050405020304" pitchFamily="18" charset="0"/>
              </a:rPr>
              <a:t>It follows the recipient’s address</a:t>
            </a:r>
          </a:p>
          <a:p>
            <a:r>
              <a:rPr lang="en-US" sz="2800" dirty="0">
                <a:cs typeface="Times New Roman" panose="02020603050405020304" pitchFamily="18" charset="0"/>
              </a:rPr>
              <a:t>Insert one blank line above and one blank line below the subject line.</a:t>
            </a:r>
          </a:p>
          <a:p>
            <a:r>
              <a:rPr lang="en-US" sz="2800" dirty="0">
                <a:cs typeface="Times New Roman" panose="02020603050405020304" pitchFamily="18" charset="0"/>
              </a:rPr>
              <a:t>The subject line in a letter functions as an aid in focusing the topic and filing the letter. </a:t>
            </a:r>
          </a:p>
          <a:p>
            <a:r>
              <a:rPr lang="en-US" sz="2800" dirty="0">
                <a:cs typeface="Times New Roman" panose="02020603050405020304" pitchFamily="18" charset="0"/>
              </a:rPr>
              <a:t>Subject lines are especially useful if you are writing to a large company and do not know the name or title of the recipient. In such cases, you may address a letter to an appropriate department or identify the subject in a subject line and use no salutation.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31024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457" y="0"/>
            <a:ext cx="10515600" cy="857250"/>
          </a:xfrm>
        </p:spPr>
        <p:txBody>
          <a:bodyPr/>
          <a:lstStyle/>
          <a:p>
            <a:r>
              <a:rPr lang="en-US" b="1" dirty="0">
                <a:latin typeface="Century Gothic" panose="020B0502020202020204" pitchFamily="34" charset="0"/>
                <a:cs typeface="Times New Roman" panose="02020603050405020304" pitchFamily="18" charset="0"/>
              </a:rPr>
              <a:t>Salutation</a:t>
            </a:r>
          </a:p>
        </p:txBody>
      </p:sp>
      <p:sp>
        <p:nvSpPr>
          <p:cNvPr id="3" name="Content Placeholder 2"/>
          <p:cNvSpPr>
            <a:spLocks noGrp="1"/>
          </p:cNvSpPr>
          <p:nvPr>
            <p:ph idx="1"/>
          </p:nvPr>
        </p:nvSpPr>
        <p:spPr>
          <a:xfrm>
            <a:off x="118533" y="857250"/>
            <a:ext cx="12199258" cy="5762818"/>
          </a:xfrm>
        </p:spPr>
        <p:txBody>
          <a:bodyPr>
            <a:normAutofit lnSpcReduction="10000"/>
          </a:bodyPr>
          <a:lstStyle/>
          <a:p>
            <a:r>
              <a:rPr lang="en-US" sz="2400" dirty="0">
                <a:cs typeface="Times New Roman" panose="02020603050405020304" pitchFamily="18" charset="0"/>
              </a:rPr>
              <a:t>In most business letters, the salutation contains the recipient’s personal title (such as Mr., Ms., Dr.) and last name, followed by a colon (:).</a:t>
            </a:r>
          </a:p>
          <a:p>
            <a:r>
              <a:rPr lang="en-US" sz="2400" dirty="0">
                <a:cs typeface="Times New Roman" panose="02020603050405020304" pitchFamily="18" charset="0"/>
              </a:rPr>
              <a:t>If you are on a first-name basis with the recipient, use only the first name in the salutation. </a:t>
            </a:r>
          </a:p>
          <a:p>
            <a:r>
              <a:rPr lang="en-US" sz="2400" dirty="0">
                <a:cs typeface="Times New Roman" panose="02020603050405020304" pitchFamily="18" charset="0"/>
              </a:rPr>
              <a:t>Address women as Ms. unless they have expressed a preference for Miss or Mrs. </a:t>
            </a:r>
          </a:p>
          <a:p>
            <a:r>
              <a:rPr lang="en-US" sz="2400" dirty="0">
                <a:cs typeface="Times New Roman" panose="02020603050405020304" pitchFamily="18" charset="0"/>
              </a:rPr>
              <a:t>Professional titles (such as Professor, Senator, Major) take precedence over Ms. and similar courtesy titles. </a:t>
            </a:r>
          </a:p>
          <a:p>
            <a:r>
              <a:rPr lang="en-US" sz="2400" dirty="0">
                <a:cs typeface="Times New Roman" panose="02020603050405020304" pitchFamily="18" charset="0"/>
              </a:rPr>
              <a:t>When a person’s first name could refer to either a woman or a man, one solution is to use both the first and last names in the salutation.</a:t>
            </a:r>
          </a:p>
          <a:p>
            <a:r>
              <a:rPr lang="en-US" sz="2400" dirty="0">
                <a:cs typeface="Times New Roman" panose="02020603050405020304" pitchFamily="18" charset="0"/>
              </a:rPr>
              <a:t>Avoid “To Whom It May Concern” because it is impersonal and dated. </a:t>
            </a:r>
          </a:p>
          <a:p>
            <a:r>
              <a:rPr lang="en-US" sz="2400" dirty="0">
                <a:cs typeface="Times New Roman" panose="02020603050405020304" pitchFamily="18" charset="0"/>
              </a:rPr>
              <a:t>Dear Professor Ali and Dr. </a:t>
            </a:r>
            <a:r>
              <a:rPr lang="en-US" sz="2400" dirty="0" err="1">
                <a:cs typeface="Times New Roman" panose="02020603050405020304" pitchFamily="18" charset="0"/>
              </a:rPr>
              <a:t>Alishba</a:t>
            </a:r>
            <a:r>
              <a:rPr lang="en-US" sz="2400" dirty="0">
                <a:cs typeface="Times New Roman" panose="02020603050405020304" pitchFamily="18" charset="0"/>
              </a:rPr>
              <a:t>: [two recipients],  Dear Ms. </a:t>
            </a:r>
            <a:r>
              <a:rPr lang="en-US" sz="2400" dirty="0" err="1">
                <a:cs typeface="Times New Roman" panose="02020603050405020304" pitchFamily="18" charset="0"/>
              </a:rPr>
              <a:t>Asma</a:t>
            </a:r>
            <a:r>
              <a:rPr lang="en-US" sz="2400" dirty="0">
                <a:cs typeface="Times New Roman" panose="02020603050405020304" pitchFamily="18" charset="0"/>
              </a:rPr>
              <a:t>, Ms. Aleena, and Mr. </a:t>
            </a:r>
            <a:r>
              <a:rPr lang="en-US" sz="2400" dirty="0" err="1">
                <a:cs typeface="Times New Roman" panose="02020603050405020304" pitchFamily="18" charset="0"/>
              </a:rPr>
              <a:t>Asim</a:t>
            </a:r>
            <a:r>
              <a:rPr lang="en-US" sz="2400" dirty="0">
                <a:cs typeface="Times New Roman" panose="02020603050405020304" pitchFamily="18" charset="0"/>
              </a:rPr>
              <a:t>: [three recipients],  Dear Colleagues: [Members, or other suitable collective term].</a:t>
            </a:r>
          </a:p>
          <a:p>
            <a:r>
              <a:rPr lang="en-US" sz="2400" dirty="0">
                <a:cs typeface="Times New Roman" panose="02020603050405020304" pitchFamily="18" charset="0"/>
              </a:rPr>
              <a:t>In other circumstances in which you do not know the recipient’s name, use a title appropriate to the context of the letter, such as Dear Customer or Dear IT Professional.</a:t>
            </a:r>
          </a:p>
          <a:p>
            <a:r>
              <a:rPr lang="en-US" sz="2400" dirty="0">
                <a:cs typeface="Times New Roman" panose="02020603050405020304" pitchFamily="18" charset="0"/>
              </a:rPr>
              <a:t>Dear Sir/Madam</a:t>
            </a:r>
          </a:p>
        </p:txBody>
      </p:sp>
    </p:spTree>
    <p:extLst>
      <p:ext uri="{BB962C8B-B14F-4D97-AF65-F5344CB8AC3E}">
        <p14:creationId xmlns:p14="http://schemas.microsoft.com/office/powerpoint/2010/main" val="32119311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457" y="118533"/>
            <a:ext cx="10515600" cy="957263"/>
          </a:xfrm>
        </p:spPr>
        <p:txBody>
          <a:bodyPr>
            <a:normAutofit/>
          </a:bodyPr>
          <a:lstStyle/>
          <a:p>
            <a:r>
              <a:rPr lang="en-US" sz="4400" b="1" dirty="0">
                <a:latin typeface="+mn-lt"/>
                <a:cs typeface="Times New Roman" panose="02020603050405020304" pitchFamily="18" charset="0"/>
              </a:rPr>
              <a:t>Body</a:t>
            </a:r>
          </a:p>
        </p:txBody>
      </p:sp>
      <p:sp>
        <p:nvSpPr>
          <p:cNvPr id="3" name="Content Placeholder 2"/>
          <p:cNvSpPr>
            <a:spLocks noGrp="1"/>
          </p:cNvSpPr>
          <p:nvPr>
            <p:ph idx="1"/>
          </p:nvPr>
        </p:nvSpPr>
        <p:spPr>
          <a:xfrm>
            <a:off x="239485" y="1201103"/>
            <a:ext cx="11713029" cy="5013779"/>
          </a:xfrm>
        </p:spPr>
        <p:txBody>
          <a:bodyPr>
            <a:noAutofit/>
          </a:bodyPr>
          <a:lstStyle/>
          <a:p>
            <a:r>
              <a:rPr lang="en-US" sz="2800" dirty="0">
                <a:cs typeface="Times New Roman" panose="02020603050405020304" pitchFamily="18" charset="0"/>
              </a:rPr>
              <a:t>The body of the letter should begin a line below the salutation</a:t>
            </a:r>
          </a:p>
          <a:p>
            <a:r>
              <a:rPr lang="en-US" sz="2800" dirty="0">
                <a:cs typeface="Times New Roman" panose="02020603050405020304" pitchFamily="18" charset="0"/>
              </a:rPr>
              <a:t>Leave a line within paragraphs</a:t>
            </a:r>
          </a:p>
          <a:p>
            <a:r>
              <a:rPr lang="en-US" sz="2800" dirty="0">
                <a:cs typeface="Times New Roman" panose="02020603050405020304" pitchFamily="18" charset="0"/>
              </a:rPr>
              <a:t>To provide a fuller appearance to a very short letter, you can increase the side margins, increase the font size and insert extra space above the inside address, the writer’s signature block, and the initials of the person typing the letter..</a:t>
            </a:r>
          </a:p>
          <a:p>
            <a:r>
              <a:rPr lang="en-US" sz="2800" dirty="0">
                <a:cs typeface="Times New Roman" panose="02020603050405020304" pitchFamily="18" charset="0"/>
              </a:rPr>
              <a:t>Components of Body:</a:t>
            </a:r>
          </a:p>
          <a:p>
            <a:pPr marL="971550" lvl="1" indent="-514350">
              <a:buFont typeface="+mj-lt"/>
              <a:buAutoNum type="arabicPeriod"/>
            </a:pPr>
            <a:r>
              <a:rPr lang="en-US" sz="2800" dirty="0">
                <a:cs typeface="Times New Roman" panose="02020603050405020304" pitchFamily="18" charset="0"/>
              </a:rPr>
              <a:t>Purpose</a:t>
            </a:r>
          </a:p>
          <a:p>
            <a:pPr marL="971550" lvl="1" indent="-514350">
              <a:buFont typeface="+mj-lt"/>
              <a:buAutoNum type="arabicPeriod"/>
            </a:pPr>
            <a:r>
              <a:rPr lang="en-US" sz="2800" dirty="0">
                <a:cs typeface="Times New Roman" panose="02020603050405020304" pitchFamily="18" charset="0"/>
              </a:rPr>
              <a:t>Details</a:t>
            </a:r>
          </a:p>
          <a:p>
            <a:pPr marL="971550" lvl="1" indent="-514350">
              <a:buFont typeface="+mj-lt"/>
              <a:buAutoNum type="arabicPeriod"/>
            </a:pPr>
            <a:r>
              <a:rPr lang="en-US" sz="2800" dirty="0">
                <a:cs typeface="Times New Roman" panose="02020603050405020304" pitchFamily="18" charset="0"/>
              </a:rPr>
              <a:t>Call for Action</a:t>
            </a:r>
          </a:p>
          <a:p>
            <a:pPr marL="971550" lvl="1" indent="-514350">
              <a:buFont typeface="+mj-lt"/>
              <a:buAutoNum type="arabicPeriod"/>
            </a:pPr>
            <a:r>
              <a:rPr lang="en-US" sz="2800" dirty="0">
                <a:cs typeface="Times New Roman" panose="02020603050405020304" pitchFamily="18" charset="0"/>
              </a:rPr>
              <a:t>Closing off</a:t>
            </a:r>
          </a:p>
        </p:txBody>
      </p:sp>
    </p:spTree>
    <p:extLst>
      <p:ext uri="{BB962C8B-B14F-4D97-AF65-F5344CB8AC3E}">
        <p14:creationId xmlns:p14="http://schemas.microsoft.com/office/powerpoint/2010/main" val="2418216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9005" y="266094"/>
            <a:ext cx="10515600" cy="957263"/>
          </a:xfrm>
        </p:spPr>
        <p:txBody>
          <a:bodyPr>
            <a:normAutofit/>
          </a:bodyPr>
          <a:lstStyle/>
          <a:p>
            <a:r>
              <a:rPr lang="en-US" sz="4400" b="1" dirty="0">
                <a:latin typeface="+mn-lt"/>
                <a:cs typeface="Times New Roman" panose="02020603050405020304" pitchFamily="18" charset="0"/>
              </a:rPr>
              <a:t>Complimentary Closing</a:t>
            </a:r>
          </a:p>
        </p:txBody>
      </p:sp>
      <p:sp>
        <p:nvSpPr>
          <p:cNvPr id="3" name="Content Placeholder 2"/>
          <p:cNvSpPr>
            <a:spLocks noGrp="1"/>
          </p:cNvSpPr>
          <p:nvPr>
            <p:ph idx="1"/>
          </p:nvPr>
        </p:nvSpPr>
        <p:spPr>
          <a:xfrm>
            <a:off x="419100" y="1934558"/>
            <a:ext cx="11772900" cy="5657849"/>
          </a:xfrm>
        </p:spPr>
        <p:txBody>
          <a:bodyPr>
            <a:noAutofit/>
          </a:bodyPr>
          <a:lstStyle/>
          <a:p>
            <a:r>
              <a:rPr lang="en-US" sz="3200" dirty="0">
                <a:cs typeface="Times New Roman" panose="02020603050405020304" pitchFamily="18" charset="0"/>
              </a:rPr>
              <a:t>Type the complimentary closing a space below the body. </a:t>
            </a:r>
          </a:p>
          <a:p>
            <a:r>
              <a:rPr lang="en-US" sz="3200" dirty="0">
                <a:cs typeface="Times New Roman" panose="02020603050405020304" pitchFamily="18" charset="0"/>
              </a:rPr>
              <a:t>Use a standard expression such as Sincerely, Yours sincerely or Yours truly. </a:t>
            </a:r>
          </a:p>
          <a:p>
            <a:r>
              <a:rPr lang="en-US" sz="3200" dirty="0">
                <a:cs typeface="Times New Roman" panose="02020603050405020304" pitchFamily="18" charset="0"/>
              </a:rPr>
              <a:t>If the recipient is a friend as well as a business associate, you can use a less-formal closing such as Best wishes or Best regards or, simply, Best.</a:t>
            </a:r>
          </a:p>
          <a:p>
            <a:r>
              <a:rPr lang="en-US" sz="3200" dirty="0">
                <a:cs typeface="Times New Roman" panose="02020603050405020304" pitchFamily="18" charset="0"/>
              </a:rPr>
              <a:t>Capitalize only the initial letter of the first word, and follow the expression with a comma (,).</a:t>
            </a:r>
          </a:p>
        </p:txBody>
      </p:sp>
    </p:spTree>
    <p:extLst>
      <p:ext uri="{BB962C8B-B14F-4D97-AF65-F5344CB8AC3E}">
        <p14:creationId xmlns:p14="http://schemas.microsoft.com/office/powerpoint/2010/main" val="40112093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657" y="128587"/>
            <a:ext cx="10515600" cy="957263"/>
          </a:xfrm>
        </p:spPr>
        <p:txBody>
          <a:bodyPr>
            <a:normAutofit/>
          </a:bodyPr>
          <a:lstStyle/>
          <a:p>
            <a:r>
              <a:rPr lang="en-US" sz="4400" b="1" dirty="0">
                <a:latin typeface="+mn-lt"/>
                <a:cs typeface="Times New Roman" panose="02020603050405020304" pitchFamily="18" charset="0"/>
              </a:rPr>
              <a:t>Writer’s Signature Block</a:t>
            </a:r>
          </a:p>
        </p:txBody>
      </p:sp>
      <p:sp>
        <p:nvSpPr>
          <p:cNvPr id="3" name="Content Placeholder 2"/>
          <p:cNvSpPr>
            <a:spLocks noGrp="1"/>
          </p:cNvSpPr>
          <p:nvPr>
            <p:ph idx="1"/>
          </p:nvPr>
        </p:nvSpPr>
        <p:spPr>
          <a:xfrm>
            <a:off x="413657" y="2017183"/>
            <a:ext cx="11772900" cy="5657849"/>
          </a:xfrm>
        </p:spPr>
        <p:txBody>
          <a:bodyPr>
            <a:noAutofit/>
          </a:bodyPr>
          <a:lstStyle/>
          <a:p>
            <a:r>
              <a:rPr lang="en-US" sz="2800" dirty="0">
                <a:cs typeface="Times New Roman" panose="02020603050405020304" pitchFamily="18" charset="0"/>
              </a:rPr>
              <a:t>Type your full name four lines below and aligned with the complimentary closing.</a:t>
            </a:r>
          </a:p>
          <a:p>
            <a:r>
              <a:rPr lang="en-US" sz="2800" dirty="0">
                <a:cs typeface="Times New Roman" panose="02020603050405020304" pitchFamily="18" charset="0"/>
              </a:rPr>
              <a:t>Sign the letter in the space between the complimentary closing and your name.</a:t>
            </a:r>
          </a:p>
          <a:p>
            <a:r>
              <a:rPr lang="en-US" sz="2800" dirty="0">
                <a:cs typeface="Times New Roman" panose="02020603050405020304" pitchFamily="18" charset="0"/>
              </a:rPr>
              <a:t>On the next line include your business title, if appropriate. </a:t>
            </a:r>
          </a:p>
          <a:p>
            <a:r>
              <a:rPr lang="en-US" sz="2800" dirty="0">
                <a:cs typeface="Times New Roman" panose="02020603050405020304" pitchFamily="18" charset="0"/>
              </a:rPr>
              <a:t>The following lines may contain individual contact information, such as a telephone number or an e-mail address, if not included in the letterhead or the body of your letter.</a:t>
            </a:r>
          </a:p>
        </p:txBody>
      </p:sp>
    </p:spTree>
    <p:extLst>
      <p:ext uri="{BB962C8B-B14F-4D97-AF65-F5344CB8AC3E}">
        <p14:creationId xmlns:p14="http://schemas.microsoft.com/office/powerpoint/2010/main" val="20538186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446" y="0"/>
            <a:ext cx="10515600" cy="957263"/>
          </a:xfrm>
        </p:spPr>
        <p:txBody>
          <a:bodyPr>
            <a:normAutofit/>
          </a:bodyPr>
          <a:lstStyle/>
          <a:p>
            <a:r>
              <a:rPr lang="en-US" sz="4400" b="1" dirty="0">
                <a:latin typeface="+mn-lt"/>
                <a:cs typeface="Times New Roman" panose="02020603050405020304" pitchFamily="18" charset="0"/>
              </a:rPr>
              <a:t>End Notations</a:t>
            </a:r>
          </a:p>
        </p:txBody>
      </p:sp>
      <p:sp>
        <p:nvSpPr>
          <p:cNvPr id="3" name="Content Placeholder 2"/>
          <p:cNvSpPr>
            <a:spLocks noGrp="1"/>
          </p:cNvSpPr>
          <p:nvPr>
            <p:ph idx="1"/>
          </p:nvPr>
        </p:nvSpPr>
        <p:spPr>
          <a:xfrm>
            <a:off x="209550" y="957263"/>
            <a:ext cx="11772900" cy="6015036"/>
          </a:xfrm>
        </p:spPr>
        <p:txBody>
          <a:bodyPr>
            <a:noAutofit/>
          </a:bodyPr>
          <a:lstStyle/>
          <a:p>
            <a:r>
              <a:rPr lang="en-US" sz="2800" b="1" dirty="0">
                <a:cs typeface="Times New Roman" panose="02020603050405020304" pitchFamily="18" charset="0"/>
              </a:rPr>
              <a:t>Reference initials </a:t>
            </a:r>
            <a:r>
              <a:rPr lang="en-US" sz="2800" dirty="0">
                <a:cs typeface="Times New Roman" panose="02020603050405020304" pitchFamily="18" charset="0"/>
              </a:rPr>
              <a:t>show the letter writer’s initials in capital letters, followed by a slash mark (or colon), and then the initials of the person typing the letter in lowercase letters (When the writer is also the person typing the letter, no initials are needed). </a:t>
            </a:r>
          </a:p>
          <a:p>
            <a:r>
              <a:rPr lang="en-US" sz="2800" b="1" dirty="0">
                <a:cs typeface="Times New Roman" panose="02020603050405020304" pitchFamily="18" charset="0"/>
              </a:rPr>
              <a:t>Enclosure notations </a:t>
            </a:r>
            <a:r>
              <a:rPr lang="en-US" sz="2800" dirty="0">
                <a:cs typeface="Times New Roman" panose="02020603050405020304" pitchFamily="18" charset="0"/>
              </a:rPr>
              <a:t>indicate that the writer is sending material along with the letter (an invoice, an article, and so on).</a:t>
            </a:r>
          </a:p>
          <a:p>
            <a:r>
              <a:rPr lang="en-US" sz="2800" dirty="0">
                <a:cs typeface="Times New Roman" panose="02020603050405020304" pitchFamily="18" charset="0"/>
              </a:rPr>
              <a:t>Enclosure notations may take several forms: Enclosure: Final Safety Report</a:t>
            </a:r>
          </a:p>
          <a:p>
            <a:r>
              <a:rPr lang="en-US" sz="2800" b="1" dirty="0">
                <a:cs typeface="Times New Roman" panose="02020603050405020304" pitchFamily="18" charset="0"/>
              </a:rPr>
              <a:t>Copy notation </a:t>
            </a:r>
            <a:r>
              <a:rPr lang="en-US" sz="2800" dirty="0">
                <a:cs typeface="Times New Roman" panose="02020603050405020304" pitchFamily="18" charset="0"/>
              </a:rPr>
              <a:t>(“cc:”) tells the reader that a copy of the letter is being sent to the named recipient(s). </a:t>
            </a:r>
          </a:p>
          <a:p>
            <a:r>
              <a:rPr lang="en-US" sz="2800" dirty="0">
                <a:cs typeface="Times New Roman" panose="02020603050405020304" pitchFamily="18" charset="0"/>
              </a:rPr>
              <a:t>Use a </a:t>
            </a:r>
            <a:r>
              <a:rPr lang="en-US" sz="2800" b="1" dirty="0">
                <a:cs typeface="Times New Roman" panose="02020603050405020304" pitchFamily="18" charset="0"/>
              </a:rPr>
              <a:t>blind-copy notation </a:t>
            </a:r>
            <a:r>
              <a:rPr lang="en-US" sz="2800" dirty="0">
                <a:cs typeface="Times New Roman" panose="02020603050405020304" pitchFamily="18" charset="0"/>
              </a:rPr>
              <a:t>(“bcc:”) when you do not want the addressee to know that a copy is being sent to someone else. A blind-copy notation appears only on the copy, not on the original (“bcc: Dr. Ali Afzal”).</a:t>
            </a:r>
          </a:p>
        </p:txBody>
      </p:sp>
    </p:spTree>
    <p:extLst>
      <p:ext uri="{BB962C8B-B14F-4D97-AF65-F5344CB8AC3E}">
        <p14:creationId xmlns:p14="http://schemas.microsoft.com/office/powerpoint/2010/main" val="269821166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199</TotalTime>
  <Words>996</Words>
  <Application>Microsoft Office PowerPoint</Application>
  <PresentationFormat>Widescreen</PresentationFormat>
  <Paragraphs>83</Paragraphs>
  <Slides>12</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Calibri Light</vt:lpstr>
      <vt:lpstr>Century Gothic</vt:lpstr>
      <vt:lpstr>Times New Roman</vt:lpstr>
      <vt:lpstr>Retrospect</vt:lpstr>
      <vt:lpstr>Correspondence</vt:lpstr>
      <vt:lpstr>PowerPoint Presentation</vt:lpstr>
      <vt:lpstr>PowerPoint Presentation</vt:lpstr>
      <vt:lpstr>Parts of a Letter </vt:lpstr>
      <vt:lpstr>Heading or Letterhead</vt:lpstr>
      <vt:lpstr>Inside Address</vt:lpstr>
      <vt:lpstr>Subject Line</vt:lpstr>
      <vt:lpstr>Salutation</vt:lpstr>
      <vt:lpstr>Body</vt:lpstr>
      <vt:lpstr>Complimentary Closing</vt:lpstr>
      <vt:lpstr>Writer’s Signature Block</vt:lpstr>
      <vt:lpstr>End Notations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5</cp:revision>
  <dcterms:created xsi:type="dcterms:W3CDTF">2025-01-21T10:47:28Z</dcterms:created>
  <dcterms:modified xsi:type="dcterms:W3CDTF">2025-02-07T10:57:17Z</dcterms:modified>
</cp:coreProperties>
</file>