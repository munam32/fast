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embeddedFontLst>
    <p:embeddedFont>
      <p:font typeface="Source Sans Pro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3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65226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429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932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6855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7383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977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575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2679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ts val="3520"/>
              <a:buFont typeface="Noto Sans Symbols"/>
              <a:buNone/>
            </a:pPr>
            <a:endParaRPr sz="3200" b="0" i="0" u="none" strike="noStrike" cap="none">
              <a:solidFill>
                <a:srgbClr val="59595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6DB7D7"/>
              </a:buClr>
              <a:buSzPts val="5060"/>
              <a:buFont typeface="Noto Sans Symbols"/>
              <a:buNone/>
              <a:defRPr sz="4600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None/>
              <a:defRPr sz="1800">
                <a:solidFill>
                  <a:srgbClr val="88888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4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5pPr>
            <a:lvl6pPr marL="2743200" lvl="5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6pPr>
            <a:lvl7pPr marL="3200400" lvl="6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7pPr>
            <a:lvl8pPr marL="3657600" lvl="7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8pPr>
            <a:lvl9pPr marL="4114800" lvl="8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Picture">
  <p:cSld name="Title Slide with Pictur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spcBef>
                <a:spcPts val="3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42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98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C66619"/>
              </a:solidFill>
            </a:endParaRPr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370980" y="363538"/>
            <a:ext cx="8402040" cy="283686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2000"/>
              </a:spcBef>
              <a:spcAft>
                <a:spcPts val="0"/>
              </a:spcAft>
              <a:buClr>
                <a:srgbClr val="6DB7D7"/>
              </a:buClr>
              <a:buSzPts val="3520"/>
              <a:buFont typeface="Noto Sans Symbols"/>
              <a:buNone/>
              <a:defRPr sz="32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3080"/>
              <a:buFont typeface="Noto Sans Symbols"/>
              <a:buNone/>
              <a:defRPr sz="2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2640"/>
              <a:buFont typeface="Noto Sans Symbols"/>
              <a:buNone/>
              <a:defRPr sz="24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Source Sans Pro"/>
              <a:buNone/>
              <a:defRPr sz="46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54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C6661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549275" y="1600201"/>
            <a:ext cx="384048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68300" algn="l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000"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5pPr>
            <a:lvl6pPr marL="2743200" lvl="5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6pPr>
            <a:lvl7pPr marL="3200400" lvl="6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7pPr>
            <a:lvl8pPr marL="3657600" lvl="7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8pPr>
            <a:lvl9pPr marL="4114800" lvl="8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51071" y="1600201"/>
            <a:ext cx="384048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68300" algn="l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000"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5pPr>
            <a:lvl6pPr marL="2743200" lvl="5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6pPr>
            <a:lvl7pPr marL="3200400" lvl="6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7pPr>
            <a:lvl8pPr marL="3657600" lvl="7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8pPr>
            <a:lvl9pPr marL="4114800" lvl="8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Source Sans P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2640"/>
              <a:buNone/>
              <a:defRPr sz="2400" b="0">
                <a:solidFill>
                  <a:srgbClr val="6DB7D7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98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549274" y="2347415"/>
            <a:ext cx="3840480" cy="35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68300" algn="l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000"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5pPr>
            <a:lvl6pPr marL="2743200" lvl="5" indent="-340360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6pPr>
            <a:lvl7pPr marL="3200400" lvl="6" indent="-340360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7pPr>
            <a:lvl8pPr marL="3657600" lvl="7" indent="-340359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8pPr>
            <a:lvl9pPr marL="4114800" lvl="8" indent="-340359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3"/>
          </p:nvPr>
        </p:nvSpPr>
        <p:spPr>
          <a:xfrm>
            <a:off x="4751070" y="1453224"/>
            <a:ext cx="3840480" cy="7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ctr">
              <a:spcBef>
                <a:spcPts val="0"/>
              </a:spcBef>
              <a:spcAft>
                <a:spcPts val="0"/>
              </a:spcAft>
              <a:buSzPts val="2640"/>
              <a:buNone/>
              <a:defRPr sz="2400" b="0">
                <a:solidFill>
                  <a:srgbClr val="6DB7D7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2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98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76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76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4"/>
          </p:nvPr>
        </p:nvSpPr>
        <p:spPr>
          <a:xfrm>
            <a:off x="4751070" y="2347415"/>
            <a:ext cx="3840480" cy="3596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68300" algn="l">
              <a:spcBef>
                <a:spcPts val="1600"/>
              </a:spcBef>
              <a:spcAft>
                <a:spcPts val="0"/>
              </a:spcAft>
              <a:buSzPts val="2200"/>
              <a:buChar char="●"/>
              <a:defRPr sz="2000"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5pPr>
            <a:lvl6pPr marL="2743200" lvl="5" indent="-340360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6pPr>
            <a:lvl7pPr marL="3200400" lvl="6" indent="-340360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7pPr>
            <a:lvl8pPr marL="3657600" lvl="7" indent="-340359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8pPr>
            <a:lvl9pPr marL="4114800" lvl="8" indent="-340359" algn="l">
              <a:spcBef>
                <a:spcPts val="320"/>
              </a:spcBef>
              <a:spcAft>
                <a:spcPts val="0"/>
              </a:spcAft>
              <a:buSzPts val="1760"/>
              <a:buChar char="●"/>
              <a:defRPr sz="16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Source Sans Pro"/>
              <a:buNone/>
              <a:defRPr sz="36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742824" y="368300"/>
            <a:ext cx="3840480" cy="55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82270" algn="l">
              <a:spcBef>
                <a:spcPts val="2000"/>
              </a:spcBef>
              <a:spcAft>
                <a:spcPts val="0"/>
              </a:spcAft>
              <a:buSzPts val="2420"/>
              <a:buChar char="●"/>
              <a:defRPr sz="2200"/>
            </a:lvl1pPr>
            <a:lvl2pPr marL="914400" lvl="1" indent="-368300" algn="l">
              <a:spcBef>
                <a:spcPts val="600"/>
              </a:spcBef>
              <a:spcAft>
                <a:spcPts val="0"/>
              </a:spcAft>
              <a:buSzPts val="2200"/>
              <a:buChar char="●"/>
              <a:defRPr sz="2000"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 sz="1800"/>
            </a:lvl5pPr>
            <a:lvl6pPr marL="2743200" lvl="5" indent="-368300" algn="l">
              <a:spcBef>
                <a:spcPts val="400"/>
              </a:spcBef>
              <a:spcAft>
                <a:spcPts val="0"/>
              </a:spcAft>
              <a:buSzPts val="2200"/>
              <a:buChar char="●"/>
              <a:defRPr sz="2000"/>
            </a:lvl6pPr>
            <a:lvl7pPr marL="3200400" lvl="6" indent="-368300" algn="l">
              <a:spcBef>
                <a:spcPts val="400"/>
              </a:spcBef>
              <a:spcAft>
                <a:spcPts val="0"/>
              </a:spcAft>
              <a:buSzPts val="2200"/>
              <a:buChar char="●"/>
              <a:defRPr sz="2000"/>
            </a:lvl7pPr>
            <a:lvl8pPr marL="3657600" lvl="7" indent="-368300" algn="l">
              <a:spcBef>
                <a:spcPts val="400"/>
              </a:spcBef>
              <a:spcAft>
                <a:spcPts val="0"/>
              </a:spcAft>
              <a:buSzPts val="2200"/>
              <a:buChar char="●"/>
              <a:defRPr sz="2000"/>
            </a:lvl8pPr>
            <a:lvl9pPr marL="4114800" lvl="8" indent="-368300" algn="l">
              <a:spcBef>
                <a:spcPts val="400"/>
              </a:spcBef>
              <a:spcAft>
                <a:spcPts val="0"/>
              </a:spcAft>
              <a:buSzPts val="2200"/>
              <a:buChar char="●"/>
              <a:defRPr sz="2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533399" y="1787856"/>
            <a:ext cx="3840480" cy="372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spcBef>
                <a:spcPts val="600"/>
              </a:spcBef>
              <a:spcAft>
                <a:spcPts val="0"/>
              </a:spcAft>
              <a:buSzPts val="198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2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Source Sans Pro"/>
              <a:buNone/>
              <a:defRPr sz="36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33398" y="1787856"/>
            <a:ext cx="4079545" cy="372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ctr">
              <a:spcBef>
                <a:spcPts val="600"/>
              </a:spcBef>
              <a:spcAft>
                <a:spcPts val="0"/>
              </a:spcAft>
              <a:buSzPts val="1980"/>
              <a:buNone/>
              <a:defRPr sz="18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32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9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9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1"/>
          <p:cNvSpPr>
            <a:spLocks noGrp="1"/>
          </p:cNvSpPr>
          <p:nvPr>
            <p:ph type="pic" idx="2"/>
          </p:nvPr>
        </p:nvSpPr>
        <p:spPr>
          <a:xfrm>
            <a:off x="5090617" y="359392"/>
            <a:ext cx="3657600" cy="531807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0500" sy="1005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2000"/>
              </a:spcBef>
              <a:spcAft>
                <a:spcPts val="0"/>
              </a:spcAft>
              <a:buClr>
                <a:srgbClr val="6DB7D7"/>
              </a:buClr>
              <a:buSzPts val="3520"/>
              <a:buFont typeface="Noto Sans Symbols"/>
              <a:buNone/>
              <a:defRPr sz="32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3080"/>
              <a:buFont typeface="Noto Sans Symbols"/>
              <a:buNone/>
              <a:defRPr sz="2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2640"/>
              <a:buFont typeface="Noto Sans Symbols"/>
              <a:buNone/>
              <a:defRPr sz="24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2398713" y="-249237"/>
            <a:ext cx="4343400" cy="804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5pPr>
            <a:lvl6pPr marL="2743200" lvl="5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6pPr>
            <a:lvl7pPr marL="3200400" lvl="6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7pPr>
            <a:lvl8pPr marL="3657600" lvl="7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8pPr>
            <a:lvl9pPr marL="4114800" lvl="8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 rot="5400000">
            <a:off x="5344142" y="2393951"/>
            <a:ext cx="55753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1106487" y="-188912"/>
            <a:ext cx="5575300" cy="668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5433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SzPts val="1980"/>
              <a:buChar char="●"/>
              <a:defRPr/>
            </a:lvl5pPr>
            <a:lvl6pPr marL="2743200" lvl="5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6pPr>
            <a:lvl7pPr marL="3200400" lvl="6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7pPr>
            <a:lvl8pPr marL="3657600" lvl="7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8pPr>
            <a:lvl9pPr marL="4114800" lvl="8" indent="-354329" algn="l">
              <a:spcBef>
                <a:spcPts val="360"/>
              </a:spcBef>
              <a:spcAft>
                <a:spcPts val="0"/>
              </a:spcAft>
              <a:buSzPts val="1980"/>
              <a:buChar char="●"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Source Sans Pro"/>
              <a:buNone/>
              <a:defRPr sz="4600" b="0" i="0" u="none" strike="noStrike" cap="none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96240" algn="l" rtl="0">
              <a:spcBef>
                <a:spcPts val="2000"/>
              </a:spcBef>
              <a:spcAft>
                <a:spcPts val="0"/>
              </a:spcAft>
              <a:buClr>
                <a:srgbClr val="6DB7D7"/>
              </a:buClr>
              <a:buSzPts val="2640"/>
              <a:buFont typeface="Noto Sans Symbols"/>
              <a:buChar char="●"/>
              <a:defRPr sz="24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2269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2420"/>
              <a:buFont typeface="Noto Sans Symbols"/>
              <a:buChar char="●"/>
              <a:defRPr sz="22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68300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4330" algn="l" rtl="0">
              <a:spcBef>
                <a:spcPts val="600"/>
              </a:spcBef>
              <a:spcAft>
                <a:spcPts val="0"/>
              </a:spcAft>
              <a:buClr>
                <a:srgbClr val="205C77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4329" algn="l" rtl="0">
              <a:spcBef>
                <a:spcPts val="60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432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4329" algn="l" rtl="0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4329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4329" algn="l" rtl="0">
              <a:spcBef>
                <a:spcPts val="36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 rtl="0">
              <a:spcBef>
                <a:spcPts val="0"/>
              </a:spcBef>
              <a:buNone/>
              <a:defRPr sz="36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600">
              <a:solidFill>
                <a:srgbClr val="C66619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ctrTitle"/>
          </p:nvPr>
        </p:nvSpPr>
        <p:spPr>
          <a:xfrm>
            <a:off x="685800" y="1331057"/>
            <a:ext cx="7772400" cy="2952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400"/>
            </a:pPr>
            <a:r>
              <a:rPr lang="en-US" sz="4000" b="1" dirty="0" smtClean="0">
                <a:solidFill>
                  <a:srgbClr val="FF0000"/>
                </a:solidFill>
              </a:rPr>
              <a:t>CHATBOTS </a:t>
            </a:r>
            <a:r>
              <a:rPr lang="en-US" sz="4000" b="1" dirty="0">
                <a:solidFill>
                  <a:srgbClr val="FF0000"/>
                </a:solidFill>
              </a:rPr>
              <a:t/>
            </a:r>
            <a:br>
              <a:rPr lang="en-US" sz="4000" b="1" dirty="0">
                <a:solidFill>
                  <a:srgbClr val="FF0000"/>
                </a:solidFill>
              </a:rPr>
            </a:br>
            <a:r>
              <a:rPr lang="en-US" sz="4000" b="1" dirty="0">
                <a:solidFill>
                  <a:srgbClr val="FF0000"/>
                </a:solidFill>
              </a:rPr>
              <a:t>ARE </a:t>
            </a:r>
            <a:r>
              <a:rPr lang="en-US" sz="4000" b="1" dirty="0" smtClean="0">
                <a:solidFill>
                  <a:srgbClr val="FF0000"/>
                </a:solidFill>
              </a:rPr>
              <a:t>THREAT </a:t>
            </a:r>
            <a:r>
              <a:rPr lang="en-US" sz="4000" b="1" dirty="0" smtClean="0">
                <a:solidFill>
                  <a:srgbClr val="FF0000"/>
                </a:solidFill>
              </a:rPr>
              <a:t>To Humans</a:t>
            </a:r>
            <a:endParaRPr sz="4000" b="1" dirty="0">
              <a:solidFill>
                <a:srgbClr val="FF0000"/>
              </a:solidFill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1"/>
          </p:nvPr>
        </p:nvSpPr>
        <p:spPr>
          <a:xfrm>
            <a:off x="1371600" y="4436854"/>
            <a:ext cx="6400800" cy="1637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6DB7D7"/>
              </a:buClr>
              <a:buSzPts val="1980"/>
              <a:buFont typeface="Noto Sans Symbols"/>
              <a:buNone/>
            </a:pPr>
            <a:r>
              <a:rPr lang="en-US" sz="1800" b="1" dirty="0" smtClean="0">
                <a:solidFill>
                  <a:schemeClr val="dk1"/>
                </a:solidFill>
              </a:rPr>
              <a:t>By</a:t>
            </a:r>
            <a:endParaRPr dirty="0"/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rgbClr val="6DB7D7"/>
              </a:buClr>
              <a:buSzPts val="2200"/>
              <a:buFont typeface="Noto Sans Symbols"/>
              <a:buNone/>
            </a:pPr>
            <a:r>
              <a:rPr lang="en-US" sz="2000" b="1" dirty="0" err="1">
                <a:solidFill>
                  <a:schemeClr val="dk1"/>
                </a:solidFill>
              </a:rPr>
              <a:t>Mahnoor</a:t>
            </a:r>
            <a:r>
              <a:rPr lang="en-US" sz="2000" b="1" dirty="0">
                <a:solidFill>
                  <a:schemeClr val="dk1"/>
                </a:solidFill>
              </a:rPr>
              <a:t> Imam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376165" y="736494"/>
            <a:ext cx="8185802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Particularly,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48%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consumers prefer a chatbot that solves issues over a chatbot that has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personality and 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(Business Insider,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2017) by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2020, over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80%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businesses are expected to have some sort of chatbot automation implemented (Business Insider, 2016). </a:t>
            </a:r>
            <a:r>
              <a:rPr lang="en-US" sz="2400" b="0" i="0" u="none" strike="noStrike" cap="none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 are interactive messaging bots that harness recent advances in artificial intelligence and machine learning. 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 are a threat for human race, as they </a:t>
            </a:r>
            <a:r>
              <a:rPr lang="en-US" sz="2400" b="0" i="0" u="none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pose </a:t>
            </a:r>
            <a:r>
              <a:rPr lang="en-US" sz="2400" b="1" i="0" u="sng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 </a:t>
            </a:r>
            <a:r>
              <a:rPr lang="en-US" sz="2400" b="1" i="0" u="sng" strike="noStrike" cap="none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security risks</a:t>
            </a:r>
            <a:r>
              <a:rPr lang="en-US" sz="2400" b="0" i="0" u="none" strike="noStrike" cap="none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provide </a:t>
            </a:r>
            <a:r>
              <a:rPr lang="en-US" sz="2400" u="sng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unsatisfactory </a:t>
            </a:r>
            <a:r>
              <a:rPr lang="en-US" sz="2400" b="1" i="0" u="sng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customer </a:t>
            </a:r>
            <a:r>
              <a:rPr lang="en-US" sz="2400" b="1" i="0" u="sng" strike="noStrike" cap="none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services </a:t>
            </a:r>
            <a:r>
              <a:rPr lang="en-US" sz="2400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</a:t>
            </a:r>
            <a:r>
              <a:rPr lang="en-US" sz="2400" b="1" i="0" u="sng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lack </a:t>
            </a:r>
            <a:r>
              <a:rPr lang="en-US" sz="2400" b="1" i="0" u="sng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humanly </a:t>
            </a:r>
            <a:r>
              <a:rPr lang="en-US" sz="2400" b="1" i="0" u="sng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interaction. </a:t>
            </a:r>
            <a:r>
              <a:rPr lang="en-US" sz="2400" b="0" i="0" u="none" strike="noStrike" cap="none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b="0" i="0" u="none" strike="noStrike" cap="none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</a:t>
            </a:r>
            <a:r>
              <a:rPr lang="en-US" sz="2400" b="0" i="0" u="none" strike="noStrike" cap="none" dirty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major concern about chatbots today is the security </a:t>
            </a:r>
            <a:r>
              <a:rPr lang="en-US" sz="2400" b="0" i="0" u="none" strike="noStrike" cap="none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issues because of its </a:t>
            </a:r>
            <a:r>
              <a:rPr lang="en-US" sz="2400" b="0" i="0" u="none" strike="noStrike" cap="none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unreliability</a:t>
            </a:r>
            <a:r>
              <a:rPr lang="en-US" sz="2400" b="0" i="0" u="none" strike="noStrike" cap="none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</a:t>
            </a:r>
            <a:r>
              <a:rPr lang="en-US" sz="2400" b="0" i="0" u="none" strike="noStrike" cap="none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hackers’ threat</a:t>
            </a:r>
            <a:r>
              <a:rPr lang="en-US" sz="2400" b="0" i="0" u="none" strike="noStrike" cap="none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</a:t>
            </a:r>
            <a:endParaRPr sz="2400" dirty="0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397815" y="117694"/>
            <a:ext cx="8277605" cy="637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</a:t>
            </a: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unreliability and hackers’ threat  add significantly to the </a:t>
            </a:r>
            <a:r>
              <a:rPr lang="en-US" sz="2400" b="1" u="sng" dirty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security risks 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of the uses of </a:t>
            </a:r>
            <a:r>
              <a:rPr lang="en-US" sz="2400" b="1" u="sng" dirty="0" err="1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.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Firstly</a:t>
            </a:r>
            <a:r>
              <a:rPr lang="en-US" sz="2400" dirty="0">
                <a:solidFill>
                  <a:srgbClr val="EDAB76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these chatbots are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unreliable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when dealing with a massive amount of customer data.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can be setup for propagandas related to politics and more on social media. Since Facebook unveiled its </a:t>
            </a:r>
            <a:r>
              <a:rPr lang="en-US" sz="2400" u="sng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‘Bot Platform’ for Messenger </a:t>
            </a:r>
            <a:r>
              <a:rPr lang="en-US" sz="2400" b="1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over 30,000 bots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have been created and pushed on this platform alone.  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Finally,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 chatbots become better at imitating humans, the technology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will be used by hackers</a:t>
            </a:r>
            <a:r>
              <a:rPr lang="en-US" sz="2400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phishing schemes and other social engineering hacks.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Having credit card data, customer information, and more readily dangling stuff from the chatbot tree it is more than a hacker can resist.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For instance,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hackers can easily create bots to convince users to share personal information.</a:t>
            </a:r>
            <a:r>
              <a:rPr lang="en-US" sz="2400" dirty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addition, the </a:t>
            </a:r>
            <a:r>
              <a:rPr lang="en-US" sz="2400" dirty="0" err="1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 provides unsatisfactory services  as the customers </a:t>
            </a:r>
            <a:r>
              <a:rPr lang="en-US" sz="2400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remain unattended 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</a:t>
            </a:r>
            <a:r>
              <a:rPr lang="en-US" sz="2400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find it cost inefficient.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2400" dirty="0">
              <a:solidFill>
                <a:srgbClr val="0000F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/>
        </p:nvSpPr>
        <p:spPr>
          <a:xfrm>
            <a:off x="443716" y="382487"/>
            <a:ext cx="8338808" cy="6370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</a:t>
            </a: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unattended state of </a:t>
            </a: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customers and cost  inefficient services add to dissatisfaction among customers.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survey shows </a:t>
            </a:r>
            <a:r>
              <a:rPr lang="en-US" sz="2400" b="1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95%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of consumers believe 'customer service' is going to be the major beneficiary of chatbots (Mindbrowser, 2017).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Therefore the need is that </a:t>
            </a:r>
            <a:r>
              <a:rPr lang="en-US" sz="2400" b="1" u="sng" dirty="0" smtClean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no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customer stays unattended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and everyone’s problem is being resolved.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Unlike humans, chatbots once installed can attend queries at any time of the day with no limitation constraint and they can handle as many queries as required at once. </a:t>
            </a:r>
            <a:r>
              <a:rPr lang="en-US" sz="2400" dirty="0" smtClean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Moreover, if the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“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employing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”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chatbots that complements human agents, </a:t>
            </a:r>
            <a:r>
              <a:rPr lang="en-US" sz="2400" dirty="0" smtClean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 not installed , it will lead to cost inefficient process of the uses of </a:t>
            </a:r>
            <a:r>
              <a:rPr lang="en-US" sz="2400" dirty="0" err="1" smtClean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</a:t>
            </a:r>
            <a:r>
              <a:rPr lang="en-US" sz="2400" dirty="0" smtClean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there are no feelings and emotions so they can work consistently and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accurately.</a:t>
            </a:r>
            <a:r>
              <a:rPr lang="en-US" sz="2400" dirty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 all communication reasons, humans prefer human to human interaction which the use of </a:t>
            </a:r>
            <a:r>
              <a:rPr lang="en-US" sz="2400" dirty="0" err="1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lack by not passing the </a:t>
            </a:r>
            <a:r>
              <a:rPr lang="en-US" sz="2400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‘turning test’</a:t>
            </a:r>
            <a:r>
              <a:rPr lang="en-US" sz="2400" dirty="0" smtClean="0">
                <a:solidFill>
                  <a:srgbClr val="0000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and inability to </a:t>
            </a:r>
            <a:r>
              <a:rPr lang="en-US" sz="2400" dirty="0" smtClean="0">
                <a:solidFill>
                  <a:schemeClr val="accent5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rationalize. </a:t>
            </a:r>
            <a:endParaRPr sz="2400" dirty="0">
              <a:solidFill>
                <a:schemeClr val="accent5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474318" y="178892"/>
            <a:ext cx="8155201" cy="6740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Inability to pass ‘turning test’ and rationalize are the major aspects of Chabot's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lack </a:t>
            </a:r>
            <a:r>
              <a:rPr lang="en-US" sz="2400" b="1" u="sng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humanly interaction</a:t>
            </a: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. 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begin with,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most of the Chatbots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do not pass ‘</a:t>
            </a:r>
            <a:r>
              <a:rPr lang="en-US" sz="2400" b="1" u="sng" dirty="0" err="1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turing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test’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risking the conversations.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They are just software systems and cannot capture variations in human conversations resulting in high error rate and less customer satisfaction. 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Although,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 might be highly intelligent, but they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can’t think 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of themselves and don’t have their own personality to come across too generic conversations.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As there are no feelings and emotions, it becomes critical to interact with humans. </a:t>
            </a: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the first place, </a:t>
            </a:r>
            <a:r>
              <a:rPr lang="en-US" sz="2400" b="1" u="sng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human-to-human interaction</a:t>
            </a:r>
            <a:r>
              <a:rPr lang="en-US" sz="2400" dirty="0">
                <a:solidFill>
                  <a:schemeClr val="accent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is deeply ingrained in us.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People have a biological need to connect with other people thus, chatbots are not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enough.</a:t>
            </a:r>
            <a:endParaRPr sz="24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581421" y="642579"/>
            <a:ext cx="7956294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conclude</a:t>
            </a:r>
            <a:r>
              <a:rPr lang="en-US" sz="2400" dirty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en-US" sz="2400" dirty="0" err="1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Chatbots</a:t>
            </a:r>
            <a:r>
              <a:rPr lang="en-US" sz="2400" dirty="0" smtClean="0">
                <a:solidFill>
                  <a:srgbClr val="3B8CE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pose major threats because of its high security risks, unsatisfactory customer services and lack of humanly interaction. </a:t>
            </a:r>
            <a:r>
              <a:rPr lang="en-US" sz="2400" dirty="0" smtClean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With </a:t>
            </a:r>
            <a:r>
              <a:rPr lang="en-US" sz="24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rapid development of chatbots in mind, the point to ponder is that if technology reached a place of being able to replace humans entirely</a:t>
            </a:r>
            <a:r>
              <a:rPr lang="en-US" sz="2400" b="1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would we let it? Would we want it? Isn’t it against nature?</a:t>
            </a:r>
            <a:endParaRPr sz="2400" b="1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1728964" y="2677412"/>
            <a:ext cx="572241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C78D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THANK YOU</a:t>
            </a:r>
            <a:endParaRPr sz="4000" b="1">
              <a:solidFill>
                <a:srgbClr val="3C78D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eze">
  <a:themeElements>
    <a:clrScheme name="Breeze">
      <a:dk1>
        <a:srgbClr val="000000"/>
      </a:dk1>
      <a:lt1>
        <a:srgbClr val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635</Words>
  <Application>Microsoft Office PowerPoint</Application>
  <PresentationFormat>On-screen Show (4:3)</PresentationFormat>
  <Paragraphs>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Noto Sans Symbols</vt:lpstr>
      <vt:lpstr>Source Sans Pro</vt:lpstr>
      <vt:lpstr>Arial</vt:lpstr>
      <vt:lpstr>Breeze</vt:lpstr>
      <vt:lpstr>CHATBOTS  ARE THREAT To Humans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CHATBOTS  A BOON  OR  A THREAT ?</dc:title>
  <dc:creator>Dr.Sumaira</dc:creator>
  <cp:lastModifiedBy>Sumera</cp:lastModifiedBy>
  <cp:revision>14</cp:revision>
  <dcterms:modified xsi:type="dcterms:W3CDTF">2023-10-08T13:11:54Z</dcterms:modified>
</cp:coreProperties>
</file>