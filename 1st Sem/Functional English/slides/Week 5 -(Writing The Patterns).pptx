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8" r:id="rId1"/>
  </p:sldMasterIdLst>
  <p:notesMasterIdLst>
    <p:notesMasterId r:id="rId21"/>
  </p:notesMasterIdLst>
  <p:sldIdLst>
    <p:sldId id="256" r:id="rId2"/>
    <p:sldId id="284" r:id="rId3"/>
    <p:sldId id="293" r:id="rId4"/>
    <p:sldId id="258" r:id="rId5"/>
    <p:sldId id="261" r:id="rId6"/>
    <p:sldId id="281" r:id="rId7"/>
    <p:sldId id="296" r:id="rId8"/>
    <p:sldId id="277" r:id="rId9"/>
    <p:sldId id="271" r:id="rId10"/>
    <p:sldId id="275" r:id="rId11"/>
    <p:sldId id="273" r:id="rId12"/>
    <p:sldId id="279" r:id="rId13"/>
    <p:sldId id="264" r:id="rId14"/>
    <p:sldId id="265" r:id="rId15"/>
    <p:sldId id="266" r:id="rId16"/>
    <p:sldId id="288" r:id="rId17"/>
    <p:sldId id="291" r:id="rId18"/>
    <p:sldId id="286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738" autoAdjust="0"/>
  </p:normalViewPr>
  <p:slideViewPr>
    <p:cSldViewPr snapToGrid="0">
      <p:cViewPr varScale="1">
        <p:scale>
          <a:sx n="58" d="100"/>
          <a:sy n="58" d="100"/>
        </p:scale>
        <p:origin x="117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FF5B3-98ED-4096-9BA3-434F16458ACF}" type="datetimeFigureOut">
              <a:rPr lang="en-US" smtClean="0"/>
              <a:t>18-Sep-23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73AA-2798-4A49-A479-6486304A3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73AA-2798-4A49-A479-6486304A37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89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73AA-2798-4A49-A479-6486304A37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1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Pre-writing is an informal process that allows you to explore ideas as they occur to you.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five main strategies for getting started on any writing assignment: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Free-writing 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Brainstorming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Listing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Clustering</a:t>
            </a:r>
          </a:p>
          <a:p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Outlining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73AA-2798-4A49-A479-6486304A37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15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AA20D7-3F09-42BB-A5FB-9DF10866D48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40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73AA-2798-4A49-A479-6486304A37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72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73AA-2798-4A49-A479-6486304A37F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37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335B2-36D2-4D38-B1AE-9A7F23D505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898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0C9435-F572-4AF5-BD53-92184017D5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03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8BC34C-3A51-466D-8D23-875AAB1793C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398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82F91C-3775-4637-BC61-14C3C7B2A5B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40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C49FB5-1160-4F11-9212-CAE6F6B2BA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67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A1F480-9C59-4E54-AC5E-4F09E8A7CF7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034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A9E6D6-8180-4BD1-96F7-890C3768B5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58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F8212C-1E14-46E6-BC5A-91399A63536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8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AA359A-206C-4A5E-A22D-7E57FF063F5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1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B14305-ACC5-4FD6-9E60-39D8706BF73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594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370C3B-77C3-4EAD-AD80-AF839A06052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05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18-Sep-23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384806" cy="356616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Writing Process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34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3755" y="1095182"/>
            <a:ext cx="11375571" cy="4642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Writing is a process that is done through a series of stages</a:t>
            </a:r>
            <a:r>
              <a:rPr lang="en-US" sz="36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:</a:t>
            </a:r>
          </a:p>
          <a:p>
            <a:pPr>
              <a:buClrTx/>
              <a:buFont typeface="Courier New" pitchFamily="49" charset="0"/>
              <a:buChar char="o"/>
            </a:pPr>
            <a:r>
              <a:rPr lang="en-US" sz="4000" b="1" i="1" dirty="0">
                <a:solidFill>
                  <a:schemeClr val="tx1"/>
                </a:solidFill>
              </a:rPr>
              <a:t>Each stage is essential.</a:t>
            </a:r>
          </a:p>
          <a:p>
            <a:pPr lvl="3" indent="-457200">
              <a:buClrTx/>
              <a:buFont typeface="Courier New" pitchFamily="49" charset="0"/>
              <a:buChar char="o"/>
            </a:pPr>
            <a:r>
              <a:rPr lang="en-US" sz="4000" b="1" dirty="0">
                <a:solidFill>
                  <a:schemeClr val="tx1"/>
                </a:solidFill>
              </a:rPr>
              <a:t>Prewriting</a:t>
            </a:r>
          </a:p>
          <a:p>
            <a:pPr lvl="3" indent="-457200">
              <a:buClrTx/>
              <a:buFont typeface="Courier New" pitchFamily="49" charset="0"/>
              <a:buChar char="o"/>
            </a:pPr>
            <a:r>
              <a:rPr lang="en-US" sz="4000" b="1" dirty="0">
                <a:solidFill>
                  <a:schemeClr val="tx1"/>
                </a:solidFill>
              </a:rPr>
              <a:t>Writing (Drafting)</a:t>
            </a:r>
          </a:p>
          <a:p>
            <a:pPr lvl="3" indent="-457200">
              <a:buClrTx/>
              <a:buFont typeface="Courier New" pitchFamily="49" charset="0"/>
              <a:buChar char="o"/>
            </a:pPr>
            <a:r>
              <a:rPr lang="en-US" sz="4000" b="1" dirty="0">
                <a:solidFill>
                  <a:schemeClr val="tx1"/>
                </a:solidFill>
              </a:rPr>
              <a:t>Revising</a:t>
            </a:r>
          </a:p>
          <a:p>
            <a:pPr lvl="3" indent="-457200">
              <a:buClrTx/>
              <a:buFont typeface="Courier New" pitchFamily="49" charset="0"/>
              <a:buChar char="o"/>
            </a:pPr>
            <a:r>
              <a:rPr lang="en-US" sz="4000" b="1" dirty="0" smtClean="0">
                <a:solidFill>
                  <a:schemeClr val="tx1"/>
                </a:solidFill>
              </a:rPr>
              <a:t>Editing  &amp; Proofreading</a:t>
            </a:r>
            <a:endParaRPr lang="en-US" sz="4000" b="1" dirty="0">
              <a:solidFill>
                <a:schemeClr val="tx1"/>
              </a:solidFill>
            </a:endParaRPr>
          </a:p>
          <a:p>
            <a:pPr>
              <a:buNone/>
            </a:pPr>
            <a:endParaRPr lang="en-US" sz="3600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3755" y="185249"/>
            <a:ext cx="26458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Prewriting</a:t>
            </a:r>
          </a:p>
        </p:txBody>
      </p:sp>
    </p:spTree>
    <p:extLst>
      <p:ext uri="{BB962C8B-B14F-4D97-AF65-F5344CB8AC3E}">
        <p14:creationId xmlns:p14="http://schemas.microsoft.com/office/powerpoint/2010/main" val="174702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b="1" dirty="0" smtClean="0"/>
              <a:t>I. Prewriting</a:t>
            </a:r>
          </a:p>
        </p:txBody>
      </p:sp>
      <p:sp>
        <p:nvSpPr>
          <p:cNvPr id="7175" name="Rectangle 7"/>
          <p:cNvSpPr>
            <a:spLocks noGrp="1" noChangeArrowheads="1"/>
          </p:cNvSpPr>
          <p:nvPr>
            <p:ph idx="1"/>
          </p:nvPr>
        </p:nvSpPr>
        <p:spPr>
          <a:xfrm>
            <a:off x="1097280" y="1737361"/>
            <a:ext cx="10058400" cy="4226117"/>
          </a:xfrm>
        </p:spPr>
        <p:txBody>
          <a:bodyPr>
            <a:normAutofit/>
          </a:bodyPr>
          <a:lstStyle/>
          <a:p>
            <a:pPr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Choose </a:t>
            </a:r>
            <a:r>
              <a:rPr lang="en-US" sz="2400" b="1" dirty="0"/>
              <a:t>a topic to write on</a:t>
            </a:r>
          </a:p>
          <a:p>
            <a:pPr lvl="1"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narrow </a:t>
            </a:r>
            <a:r>
              <a:rPr lang="en-US" sz="2400" b="1" dirty="0"/>
              <a:t>your topic</a:t>
            </a:r>
          </a:p>
          <a:p>
            <a:pPr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Determine your</a:t>
            </a:r>
          </a:p>
          <a:p>
            <a:pPr lvl="3"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Purpose</a:t>
            </a:r>
          </a:p>
          <a:p>
            <a:pPr lvl="3"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Tone</a:t>
            </a:r>
          </a:p>
          <a:p>
            <a:pPr lvl="3"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Tense</a:t>
            </a:r>
          </a:p>
          <a:p>
            <a:pPr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Focus </a:t>
            </a:r>
            <a:r>
              <a:rPr lang="en-US" sz="2400" b="1" dirty="0"/>
              <a:t>in on central ideas</a:t>
            </a:r>
          </a:p>
          <a:p>
            <a:pPr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Explore your topic</a:t>
            </a:r>
          </a:p>
          <a:p>
            <a:pPr lvl="1"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Brainstorm </a:t>
            </a:r>
            <a:r>
              <a:rPr lang="en-US" sz="2400" b="1" dirty="0"/>
              <a:t>or generate ideas for your topic</a:t>
            </a:r>
          </a:p>
          <a:p>
            <a:pPr indent="-457200">
              <a:spcAft>
                <a:spcPts val="0"/>
              </a:spcAft>
              <a:buClrTx/>
              <a:buFont typeface="Wingdings" pitchFamily="2" charset="2"/>
              <a:buChar char="§"/>
              <a:defRPr/>
            </a:pPr>
            <a:r>
              <a:rPr lang="en-US" sz="2400" b="1" dirty="0" smtClean="0"/>
              <a:t>Make a plan</a:t>
            </a:r>
          </a:p>
        </p:txBody>
      </p:sp>
    </p:spTree>
    <p:extLst>
      <p:ext uri="{BB962C8B-B14F-4D97-AF65-F5344CB8AC3E}">
        <p14:creationId xmlns:p14="http://schemas.microsoft.com/office/powerpoint/2010/main" val="28316424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403814"/>
              </p:ext>
            </p:extLst>
          </p:nvPr>
        </p:nvGraphicFramePr>
        <p:xfrm>
          <a:off x="0" y="-1"/>
          <a:ext cx="12191999" cy="66084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0123"/>
                <a:gridCol w="10331876"/>
              </a:tblGrid>
              <a:tr h="505669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chemeClr val="tx1"/>
                          </a:solidFill>
                        </a:rPr>
                        <a:t>How to narrow down a topic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4373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Aspect</a:t>
                      </a:r>
                      <a:endParaRPr lang="en-US" sz="2400" dirty="0" smtClean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dirty="0" smtClean="0"/>
                        <a:t>Select one perspective/aspect and use it for viewing a problem. For example, instead of studying the different factors that cause cancer, study how smoking can cause lung cancer.</a:t>
                      </a:r>
                    </a:p>
                  </a:txBody>
                  <a:tcPr/>
                </a:tc>
              </a:tr>
              <a:tr h="14373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Components/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Elements</a:t>
                      </a:r>
                      <a:endParaRPr lang="en-US" sz="2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sz="25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igure out the type or</a:t>
                      </a:r>
                      <a:r>
                        <a:rPr lang="en-US" sz="25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category</a:t>
                      </a:r>
                      <a:r>
                        <a:rPr lang="en-US" sz="25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For example, a topic on tobacco use  among teenagers can be narrowed down to </a:t>
                      </a:r>
                      <a:r>
                        <a:rPr lang="en-US" sz="25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chewing tobacco </a:t>
                      </a:r>
                      <a:r>
                        <a:rPr lang="en-US" sz="25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instead of all forms of tobacco use or teenagers in general.</a:t>
                      </a:r>
                    </a:p>
                    <a:p>
                      <a:endParaRPr lang="en-US" sz="2500" dirty="0"/>
                    </a:p>
                  </a:txBody>
                  <a:tcPr/>
                </a:tc>
              </a:tr>
              <a:tr h="13438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Place</a:t>
                      </a:r>
                      <a:endParaRPr lang="en-US" sz="2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analyzing a smaller geographical unit means a narrow topical focus. For example, instead of studying trade relations in Asia, focus on trade relations between China and Singapore guide you in explaining problems in that region.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</a:tr>
              <a:tr h="14373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</a:t>
                      </a:r>
                      <a:endParaRPr lang="en-US" sz="2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adding a time frame </a:t>
                      </a:r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narrows the topic</a:t>
                      </a:r>
                      <a:r>
                        <a:rPr lang="en-US" sz="24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For example, instead of studying trade relations between China and Singapore, focus on the trade relations between China and Singapore between 2010 and 2018.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86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title"/>
          </p:nvPr>
        </p:nvSpPr>
        <p:spPr>
          <a:xfrm>
            <a:off x="1262267" y="773692"/>
            <a:ext cx="4514765" cy="1061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100" b="1" dirty="0" smtClean="0"/>
              <a:t>Narrow Down Your </a:t>
            </a:r>
            <a:r>
              <a:rPr lang="en-US" sz="3100" b="1" dirty="0"/>
              <a:t>Topic</a:t>
            </a:r>
          </a:p>
        </p:txBody>
      </p:sp>
      <p:sp>
        <p:nvSpPr>
          <p:cNvPr id="13315" name="Rectangle 7"/>
          <p:cNvSpPr>
            <a:spLocks noGrp="1" noChangeArrowheads="1"/>
          </p:cNvSpPr>
          <p:nvPr>
            <p:ph idx="1"/>
          </p:nvPr>
        </p:nvSpPr>
        <p:spPr>
          <a:xfrm>
            <a:off x="301457" y="1825282"/>
            <a:ext cx="6248972" cy="4482754"/>
          </a:xfrm>
        </p:spPr>
        <p:txBody>
          <a:bodyPr anchor="t">
            <a:normAutofit/>
          </a:bodyPr>
          <a:lstStyle/>
          <a:p>
            <a:pPr marL="0" indent="0">
              <a:buClrTx/>
              <a:buNone/>
            </a:pPr>
            <a:endParaRPr lang="en-US" sz="2800" dirty="0"/>
          </a:p>
          <a:p>
            <a:pPr lvl="1">
              <a:buClrTx/>
            </a:pPr>
            <a:r>
              <a:rPr lang="en-US" sz="2800" dirty="0" smtClean="0"/>
              <a:t>Your </a:t>
            </a:r>
            <a:r>
              <a:rPr lang="en-US" sz="2800" dirty="0"/>
              <a:t>topic should pass the 3-question test:</a:t>
            </a:r>
          </a:p>
          <a:p>
            <a:pPr marL="841248" lvl="2" indent="-457200">
              <a:buClrTx/>
              <a:buFont typeface="+mj-lt"/>
              <a:buAutoNum type="arabicPeriod"/>
            </a:pPr>
            <a:r>
              <a:rPr lang="en-US" sz="2800" dirty="0"/>
              <a:t>Does it interest me?</a:t>
            </a:r>
          </a:p>
          <a:p>
            <a:pPr marL="841248" lvl="2" indent="-457200">
              <a:buClrTx/>
              <a:buFont typeface="+mj-lt"/>
              <a:buAutoNum type="arabicPeriod"/>
            </a:pPr>
            <a:r>
              <a:rPr lang="en-US" sz="2800" dirty="0"/>
              <a:t>Do I have something to say about it?</a:t>
            </a:r>
          </a:p>
          <a:p>
            <a:pPr marL="841248" lvl="2" indent="-457200">
              <a:buClrTx/>
              <a:buFont typeface="+mj-lt"/>
              <a:buAutoNum type="arabicPeriod"/>
            </a:pPr>
            <a:r>
              <a:rPr lang="en-US" sz="2800" dirty="0"/>
              <a:t>Is it specific?</a:t>
            </a:r>
          </a:p>
          <a:p>
            <a:pPr marL="0" indent="0">
              <a:buClrTx/>
              <a:buNone/>
            </a:pPr>
            <a:endParaRPr 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496"/>
          <a:stretch/>
        </p:blipFill>
        <p:spPr bwMode="auto">
          <a:xfrm>
            <a:off x="6550429" y="437322"/>
            <a:ext cx="5453149" cy="5870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845870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149629" y="133004"/>
            <a:ext cx="6457546" cy="6145559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tx1"/>
              </a:solidFill>
            </a:endParaRPr>
          </a:p>
          <a:p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7874780" y="1280737"/>
            <a:ext cx="4017962" cy="43116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Topics</a:t>
            </a:r>
          </a:p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Culture</a:t>
            </a:r>
          </a:p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Festivals</a:t>
            </a:r>
          </a:p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Environment</a:t>
            </a:r>
          </a:p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Happiness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11974" y="759876"/>
            <a:ext cx="289367" cy="5208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3211973" y="2381960"/>
            <a:ext cx="289367" cy="5208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3304568" y="4379474"/>
            <a:ext cx="289367" cy="5208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9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11524" y="188640"/>
            <a:ext cx="7942076" cy="838200"/>
          </a:xfrm>
        </p:spPr>
        <p:txBody>
          <a:bodyPr/>
          <a:lstStyle/>
          <a:p>
            <a:pPr algn="ctr">
              <a:defRPr/>
            </a:pPr>
            <a:r>
              <a:rPr lang="en-US" b="1" dirty="0" smtClean="0"/>
              <a:t>Explore Your Topic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334290" y="1175318"/>
            <a:ext cx="4896544" cy="362196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sz="3600" b="1" dirty="0"/>
              <a:t>Pre-writing Techniques:</a:t>
            </a:r>
          </a:p>
          <a:p>
            <a:pPr lvl="1">
              <a:buClrTx/>
              <a:buFont typeface="Arial" panose="020B0604020202020204" pitchFamily="34" charset="0"/>
              <a:buChar char="•"/>
            </a:pPr>
            <a:r>
              <a:rPr lang="en-US" sz="3200" b="1" dirty="0"/>
              <a:t>Free writing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sz="3200" b="1" dirty="0" smtClean="0"/>
              <a:t>Brainstorming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sz="3200" b="1" dirty="0" smtClean="0"/>
              <a:t>Listing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sz="3200" b="1" dirty="0" smtClean="0"/>
              <a:t>Clustering/Mapping</a:t>
            </a:r>
          </a:p>
          <a:p>
            <a:pPr lvl="1">
              <a:lnSpc>
                <a:spcPct val="90000"/>
              </a:lnSpc>
              <a:buClrTx/>
              <a:buFont typeface="Arial" panose="020B0604020202020204" pitchFamily="34" charset="0"/>
              <a:buChar char="•"/>
            </a:pPr>
            <a:r>
              <a:rPr lang="en-US" sz="3200" b="1" dirty="0" smtClean="0"/>
              <a:t>Outlining</a:t>
            </a:r>
          </a:p>
        </p:txBody>
      </p:sp>
      <p:sp>
        <p:nvSpPr>
          <p:cNvPr id="2" name="AutoShape 2" descr="data:image/jpeg;base64,/9j/4AAQSkZJRgABAQAAAQABAAD/2wCEAAkGBxQTEhQUExQWFhUVGB8aGRcYFx8ZHBkhIB0bIB8fIh8eHCggHh0lHyAYITEhJyorMS4uGiAzODMsNygvLisBCgoKDg0OGxAQGzQkICQsLCw0LDQsNC8sLDQwLCwsLi8vNC80LCwtNCwsLCwsLCwsLywsNDQsLyw0LCwsLCwsLP/AABEIANsA5gMBEQACEQEDEQH/xAAbAAEAAwEBAQEAAAAAAAAAAAAABAUGAwIBB//EAD0QAAEDAwIEBAQFAgQFBQAAAAECAxEABCESMQVBUWEGEyJxFDKBkSNCUqGxwfAHFWLRMzRyguEWQ2OS8f/EABsBAQACAwEBAAAAAAAAAAAAAAABBAIDBQYH/8QAOBEAAQQABAMGBQMDBQADAAAAAQACAxEEEiExQVFhBSJxgZHwE6GxwdEUMuEjQvEVMzRScgZTkv/aAAwDAQACEQMRAD8A/caIlESiJREoiURKIlESiJREoiURKIlESiJREoiURKIlESiJREoiURKIlESiJREoiURKIlESiJREoiURKIlESiJRF51CYnPSsS9ocG3qeCmjVr1WShKIuFmiEmTPqP8AMVTwUZZGbN9531r7LZKbPkF3q4taURKIlESiJREoiURKIlESiJREoiURKIlESiJREoiURKIlESiJREoi5OsSQQYI51WmwwkcHg04cfsVm19CuC9OOhIlRgVslmZCzPIaHv1UNaXGgqx7jP6U/c/0rz8//wAhA/2mX4n7fk30VtuD/wCxX1jixMSnlJg7fessP2655AdHwJNHb10+ah+FA2KsLe4SsSkz/IrtYXFxYlmeM39R4qs+NzDTl4U0pSpJhI2A3961ugkllzPNNGwG/iT9B8+CyDg1tDdSKurUlESiJREoiURKIlESiJREoiURKIlESiJREoiURRbC8DoUQCNKygg9qxa7MtccmcHoaUqslsUNy7V5yW0gH06lHoCYH8Kx/sawLu9QWovOfKOVqZWa2pREoioOJ3BWqBEDA/3rxfa2KfiJTGKyjQfS/wAdOGq6WHjDG3xUDTM5riBpeTr1Vq6XprBkie3WtkPcdmLbrhz97rF2opdrW4KFgid89x/eas4PFOw04e0k669R71CwkjD20VpUmRI519Ba4OAI2K5BFaL7UolESiKHZqX5joWSQCCjAAgjtzmZrTGXZ3B3kt8oZkaW9b8VMrctC5XNyltOpZgTFYve1gtyzZG55poXUVksEoiURKIlESiJREoiURKIlESiKmv+PMMOKSVErIkoTmIHPkCRGJnbFaXSsaa4qrJiYo3EE68lBPjNoadTawFCQQUmMkZEiNjWH6lvELV/qDBVg6q74beNOguNEGd+RxyIOR7VuY5rtQrUUjJBmYplZravLhMY3rCQuDbbupbV6r4FHpH1rFrnndteakgc1k1c6+Zu3OtldoKc0EgGUFXcxt2jbefaK7UTYI2EPjL9tTW3Stt711ArmFXcXE6Gl0IQQZRBJ+ZJ574nAEdetbsuHewkx0SR3mnW9xV0AK3utTzWHfB0PkVXrgEgHFcN+WN5a06X7uvmrQsiytFaLIaR6SfSNo6dzXusFI9mDiphd3RtXLqQuXIAZHa1qu7DmoGQR71cgmMoJLS3xWt7cvG10resEoiquIceZa1SSpSdwiCRtvkAb9aqy4uOO+JHJXIcFLLVaA81Ba8YMk+pK0jqdJ/YKn9q0jtKPiCPT8re7sqUbEH1/CtWlNv6HEqStCTI5+rrnYgTjvVoFk1OBsD6/wAKo4SQWwiifp/KnVuVdKIlESiJREoiURKIlESiKEGng4SFpUhR+UiCnEYI/r3rCnX0WrK8Ou9OSr/F3E1Ms+iQteARukRlX0wO0zWE7y1ui04yYxx93c/JfmqlEmY2/j7+/wB+9c7dcHUldW3CEaDsDqII29JAM/XYxyqQdKWQNNpduEcTUw4HEHJPqE4UOY/ffMSKyY8sNhZwzGJ2Zv8AlfprzrriQWdISoA61HMEThIB/f7V0SXEd1d5xe4dzjxU1sGBO8ZiswtoutV6opWd4lblDkjZUkY26ivCdq4R+FxJc0aOsjTbiR5fddWCQPZR4KMl0kHJxnGIzH9aoNne5jhZ0100A1o1012GnRbS0AhelLOn5ue8np396zdI4Q6Ps3vZ5ajXx/lQAM2yWbJWoJH17DrTA4d2IlEbB/AFapK8MbZWoSmBA5V9Fa0NAaNguOTZtfayULg/b6ikzBTMfWsHMsg8lsZJlBHNUPi3i62mwhJAWvdQOyf5BOfsao47EOjZlG5+n8rodnYVsr852H1/hYcrCpkZjcY2H9/2K4tg7r0NFu2y8KTEGfmE1jXHmpBvTkrjgvEFMDzfVEhOkRpUN1c5mNu/vFW8PM6IZ/KuHX+FSxUDZj8PjvfEcv5X6H8QnRrKgEETqJgQecmvQZ25c16LzPw3Zsla8lxteJNuKKUKCoEyNt4+v0rBkzHmmm1nJh5I224UpdbVpSiJREoiURKIlESiJRFiv8RN2pmIMAbTImf2qniuC5XaX9trM8NQhSypwHSndKSZMpVA9IkCRvyquyibKoRBpdbtv46K8RxDRqQgJZSYASRqKiBAJOdYnMxzEnet2etBorYly2G90fX8rOXz/mOEnUesnJgZ+uP72qu42VSkdmfa/UfDk/CsT+gfaMftFdKL9gXfw3+y3wVjWxb0oi43TAWkj7Gq2LwwxERYfI8j736LON5Y61m9EFQzsf2IP9K8AIwxz2dD46EHy2XWuwCjnypgbzvnoP6VM1CNuQVd768Q37ckbubV9wy08tGfmOT/ALfSvZ9k4AYSHX9x1P48lzcRL8R3QKZXUWhKIlEX5742/wCaztoTyyBn+s1wO0f9/XkPuvS9l/8AH05n7KPYupSmUKCiCcKSCVGDpIB5xjM88YzhG4NFtN7+fJbZWlxpwrbjsOPv5qc7Zof1lKS0vKoTKkrOkGJMaSc4wc1uMTZboUd+YOl+Xgq7ZXwVZzDbXQjWut+KoFkkkQSQTMiCDzET2OIqiSTpS6IoC7X6T4d/5Zmf0D/x+1eiwn+y3wXlsb/yH1zVlFWFVSiJREoiURKIlESiLh8R+J5cH5dU8t4issvdzLHN3qXq4cUkDSnVJg5277dYrAkhHEjYKr8QcJVcMkHTrT6kbgAxsT36+1apYy9vVV8RAZWVx4L82SVMlQKVJWMQrEfTY5+lc/Vq4YJjJBGq+FWqVkBRBhc4mdlY+x7x1pvqovN3j5/leuIMqUsSDqczERk7/ZWofSjgSfFTI0l3U+/ra/X2kBICRsBA+ldYCl6UChS9UUpREoipOItQ4SIGoZlSRvjmZ+teQ7Ug+Hiy5lDMNe80biv7iDfUUujA646PDofsvFhblS0zBA/1A7T0PtWvs7COkxDC6iG8cwO1ngT04eimaQNYa49KV9Xs1zUoiURKIsP49b/FSZGUCeuCr6xmuL2m3vg9PyvQdkO/pkdfws95U6W8zEmM+pQmMxiAJ6Zrn5bpnuz/AB910s1W/wB0P5+y6PXuyBC0gQCrO+5E7dvYVm6X+3cdffosWQ/3bE8vfqvthYuXDoSBleSqNgd1H++gpHE+Z9c+P3USzRwR3y4fZfpVo62mGkmCgBIScGAMb7iOYr0UZYO4OHBeWka939R3HW1KratKURKIlESiJRFyuUqKFBCglUYJEgH2qW1eqh11oot5xVDKU+aYUrAQMknt2PUx9KzbEXnu7LB0gaO8qVnxrblfqQ6icaikHqRgEnmeXOrBwclaEFaBi2XqCrxXEApCVNDzdfy6TiOZJ2Efziq+SiQ7SlYz2Lbqpta1moPE+EtPj1p9QBAWMKTPQ/0OKwfG1+60ywMk/cPPisDxvgqrVxMSW1mNXvuOxG49p5VRkiMZ6Ljz4cwOHI+/8KClOUJHrUhZIKQSV7HAidMgnr6jtWHRagNQN6Pr7+6/WhXUXo0oiURKIoHEZ21EAjYIk/flXG7Tz2AJC0EbBhJ9eA9DyVmCuV+acOSMRpEb4z95Pfmans1gAAaACLvTXprZ43epScnip9dhVkoiURKIsJ4tIVdeqdKEDGkmYk9sEnSSDiuJjqM+uwHL34L0PZ1tw/d3J5+9t1TrcVGmdS1npkTH1JUdwJx1mqZLqq7J9/Pz0V4NbeaqA9/L6q54V4PcX63leWD+VOVffZP7/SrkPZr3d6Q10G/4Co4jtVjO7GM3U7fytfw7hzbCdLaYnc7k+5rrRQsiFMC4k2IkmdmeV0ubRCykqElJkf7dx2rJ8bXEE8FiyVzAQ07rvWa1pREoiURKIvhNEXNm4QsShSVDqkg/xUlpG4UBwOy/IeLXyn3luKPzdTAA/KO0Y/s13I2BjQAuNI8vcSpY4WSjU4vSqJCIlWmEgKOfSM7EflP0w+LrTQs/h6WSrf8Aw64gQ4pkmUrBUB0Ij+RM/wDSK0Y2MZc3JbsG85sq/Qa5i6KURcrq3S4goUJSreoIBFFYuaHCisPc2PlqCYJbQYcOWkLMEaQMrWkDdRKvdIk1SLaNcPT381yXR5TXAb8AenM9TZ8lsuGPBSJBBEkCElIicAT8wAgahg8quMNhdSJ1t9+/NS6yWxKIvilAAkmANyaKQCTQWe4j4utEktlSnDzDaFL9sgR33rCSJsrCx2x8l0oOy8U4ZwA0dSB9V54f4xtFKS3K2ycAONqTP1Igb8zzpHE2Nga3YdbWU3ZWKAL6DvAg/L8LSCs1ykoiURcbx7QhSpiBuQVAdyBkisJHZWkrOJuZ4bV/JYxbSnVkfgBPzKIKvLVgkqjOhX+r077qrkFpkdWlbnkevQ9dPNd0ObE0HvXsNrHTqOmvktDwLgiGfWQdZ6nVp6gHv132q/hsK2PvcfWlzcXjHTd0belq4q2qKURKIlESiLjaXKXE6kzEkZEbfyO9QDeqzkjMbspXapWCURDRF5bbCRAAA7CKkkndQAAvyfjlkq2fKSDpCtST+oe/LaO1dmJ4kZa5ErDG+l4u74rXhR1EyqT8x6dByG0GPaZayhsjn2d124E8Gbll3ZOrSsfp1AjPQc/p1BrGYZ4y1TEcsgcv1euMuulESiKHfcNbdyoHUBAUDlOZx0PfesHMDt1rfE1+p3XvzG2UpSpYSAIBWrOO6jJ96yAoUtsULiMrATXms3f+KFvOeRYFpSpIU6tXoTtkCfVMkAicpOIzWVc12IuzmQs+Li7A4NA1O+/Lzrfe9F2HhVxwI+IvH1KTM+UrygqTOQJGNsRS1h/qUcZPwYWgHmMxHvrarLThfmX6rfznlsWwQ4pDjhXqWcpGfyjBg8x9nBW5MTkwYmyND32AQKobHz4LRWdwo3brSG0oabSCtWmCtxecHYwnfcyoVC5csYGGbI51ucdBewGnzO3gvHii/aQgMrbLy35ShkDK+pn8oGCVct6BZYCCR7zIx2UM1LuX5vlxVBw1HFLW2CQ0ytLaTCStSnAMkDEJVG0DfAFZaLpTns3FTlxc4Eka0A356i+ZXXgto/es+cq/chf5WU+X5ZkSmZkkbZ5Hng1B0WGKlhwcvwmwDTi45r68vT+FLf4Jeteq2u1OQP8AhPjWFR/q+YE/z0FNFoZjMHL3Z4q6t0ry298VP4Dxz4jW04hTL7eHGyf3SobjIyNpHUEwQq+Lwf6epGOzMOx+xHv6qVZcIS3upS5nVqiFT1ERPfBPOarx4cM439/fNapcU5/ADw4eB38tuSsasKqlESiJRFDffSyVLcWEoPNSoAI5Z69uhrEkN1K3sY6UBrBZ6BQk+KbUmPN7yUqA+5EVh8ZnNbz2biQLy/MKzs9GhPllJRHpKTIjsRWwVWiqSZ85z78bXapWCURKIvDoMHSYPIkTUir1UHoo11wxt1Gh1IWN87z1B3H05Vk2RzTbTSxdG1wpwtYyy4VZ3L7rLSXUFvV6plODp5532E5g10HSzRsD3EG1RbHFI8taCKXC/wDDLjMlZC0JBOoSNQGwV02xzzAOcSzEtftuodh3N32Wx4Be60BJnUgAGQQQeYPTsN4GaozMo2rsTrFKFceK0JuxbaFH1JQVgjClRy6ZEn3xWxuFJi+Ja1nEgSZKWiqqrKzPFuIvvvKtbQhPlx57xOW9QJASCMnv9MbiV1cPBDDEMRiBd3lbzrn7667HrZ+DbZIlxJeWclbpKiTn+JMTJ70tYydrYhx7hyjkNAl14JsViDbpHdJKT+xpZUR9sY1hsSE+Oqqz5/DXEanFP2biwklZlbJVgEnmn9uwO7dXP6PaLDTQyUC9NnV05+9ttCxZttXLjmo67rSNJ2ltJ27lMf8A1qFzHTSS4drK0jvX/wBH8/VVtkfK4o+knFy0hxPYt+gjpmSfpU8Fbl/q9nscP7HEf/rVaN1UAqiYBqFy2izSq/CnFjdWrb6gEqXqkDYQojn7VJFFW+0MKMNiHRNNgV8wCqi8uEcPvFOKkW9yiSEoJh1JHJI/MDvzPYU3V2ON2OwwY3V7DxP9p8eVe7VhwVbqRc3FwopQtRUlBJIQhAImCMSACY3351CrYoRu+HDCLIFE8yfwdPkqWytX+ILF0F/DNwpKCgAuKTMAkkbYnl0gRJnZX5ZIMC39OW/EdoTf7QenvretCVa3r1k6hq7fDrTqoQ8vSjRCVGFZmZAAkmZ3BEFvstMkMOMjMmHZlc0atFm9Rt7/ACNTb3CFiUKSobSkgj9qhch8bmGnCvFdaLBKIvLjgSCpRgASSeQG9CaUtaXEAblfk/F79y8eUZgTCGyYhP8AE8zz+1c57jI5eyw0EeEiA9T197cPVQn7NSUJJgpVJSoewx752NYlpAW9krXOI4jce/DdXPgrjKmnktkjy3DCgTEE7Ed5gHt7VsgkIdXBUe1MI2SIvH7h9OIX6Km1OvWXFGBAQMI+25Peau1rdrzBkGTKGjx4qTWS1JREoi86sxnadsfeiL4GwJIABO56+9Tail5W4kynCimCU4J6jH8UAI1SxsqHwdeeaHVeR5UEJBySoZMEnmCST3UedWcUzJQzWq+Gfms5aVWlZv7ha7ZKGkNkoN0UBS1mI9E4GnBCt9sjY6c7g3LenJd92Cw+CDZMQ3NIdQ3avHx2U9fhEqUXPjLxK1EmA6NKZ5BMHA6TWFo3tUBob8Flf+dfW168PcMXZJW0pbRbWqUOmUrU4owEqBMKOwBBkxEUOqjGYlmMIka05gNW7gAcRy66LiPCrpl24vbhbg9UNq8tAjMBGfblNLWw9pRj+nDC0N21Fn1U3gPFVmyU+76ykLXgySBJA+VOYxsNvrUKvi8M0YoQs0uh66cz47ldrdwXdiFOtBYebktgxq5gAzgnGZwanZYPacLi8rHVlNXy5+PpqoNqh915F1doTbN24WUtlYUZUmCtSh6QAnVjvTwViQwxxnD4cl7n1ZqtjdAb70qriXiNt65YdtkPPfDlYV5bSiFhaYMGORAOYwcTU0rkHZ8kUD45y1ueqtw0o38/PrS98a489cKZtEsvWxfXClLASS2Mr0EGZj/bnUALHC4KKBr8S57Xhg0A5na/NTuBLXZreYdSvyQVONvkSgIgEhSuRnVg/vNFXxYbi2smjIz6NLeN9B6I3f3d4ubci3tZgPKSC453SlQICZ6jI58g0Cl0GFwbam78n/W+63xI4+H+eSrp+1Wlq9dS9bvgoLxKWtBzIIxggjZROCe1N9lkI4cS0yYVpa9uuXV1+/DouvG/EbTTbTNmptbjnob8tSSlsYEk5CQJEYPsYpSxwuAkle6XEggN1Ng2enM9V6tm7RS02rhTcPOJCnSPUCUJQNS8mCYETmT3osXuxTWnEMtjAaHDck0Oe/BV3iGwbsPx7RQQ6AAWNY/ETyASZJ9UGByBiDuGqs4OaTHf0cQLb/2rY+I0259LsLa2rwWhKxjUAYO4kTB71C4UjMji08F0JosFifGPHysKZZgo/wDcXOBOwn+vPAG9VZpL7oXf7NwQaRLJvwH39+Kx7TKgTonUBOs4GenIAjmrcTtVYDku254I7+3L39B81cLWlVu5JJEa0xkBWoBUEiIIOQCMJxOY2aFpVEBzZ20OnlWn8Xz1rRQeCDU80htI1LWATuQkGTAMxgTIzWLNXABWMV3YnOedAD6+9KX64D+1dFeLpfaIlESiL4TRFUcKsrlLjin3wpBUdCEgRB2k6QQQIwD9TW+R8ZaAxuvNaI2SBxLnacl44o7bWal3SxDjsJwSVLIAhKUzE4G0bVgZHOaGcArmEwLp5T8Ma8TwA5nkojaL+5EqUmzbM+gAOOkdyfSnlsJ9qw0XQccFhzTR8V3PZv5K6+GOGPWk26tLjAlSHAAkpkj0qTz3J1Ce8YoSsMfiIcV/WGj9ARuD1B+2nmvdhek8QuWtZUlLbZ08kHMx7gg/SoUTQgYKOSqJLtef+FD/AMRbsItkJzrW8jQAJPpUFEgbnb9xUhb+xYi+cngGuvlqK+68/wDrQ7/AXunqWo/rH71OXqp/0gf/AHsv/wBKh4RxBbDq2LJs3LTqfMDSjpLOoDCiRpAjkTnGZmW+66OJgZPGJcU74bmmsw1zVew3OvH7VU/hVvxO0RoQwy63JhsOQpMkn5lEDnHPl9WhVbEP7OxTsznua7nWh0rYK3tH/wDMG3WLm3W0EFOtPmYKp1aQUwTEJJ96jZUpGfoXtlgkDrutOG10fNWFpxC3Qp1hGlsWqUleyUICgSM+wk+4oq0kE7w2V2peTXEmlSPeJkurSu2s3LkonQ7AQkThWlSsiYg4FKV9vZzomFs8wjurbueYsBROK3jt49bWjzC2ErUVugrSoLSgTpBSdiYB25VI0W/DxRYSKTExPDyBQ0IonS9em3mtyhIAAAgDAA2FYrz5JJsrFWPAkvPXFzxBOA6W2kuKhARICSBMHUSAOpzzrK+S70uNMMUcGDP9tuI3urPp72V074Qslb26PpI/g1FlUG9q4xu0hXx1VrYtOeWGm1JQVBMgExtOZiSB7q71CNGJxsjc9uBIF8Pxt9FV217bNW7L7pD5ecSlbhIWEKVKs5hIT0ER0qaVx8OIlnfFGMmUEgbWBp4m+q6ccsfgUG5tEhCUq1PtAelxOAY/SU7iMbn3DVYYSb9a74GJNkimu4tO/nfX/EjjF046W/J1aFpSttew1GSkg7fLIKVfqTGd9Ema6C14aOOPN8TcEgjoKv56gjkbVK74XecKVI8s4woiEkYKYTnkdEHYJG+9aTC47K83tKFgIdfhxvjrpx1vqo9z4Kuz+dpUbDUoR2HoAA+1QcO9bWdr4UcCPIfPVQ0eDbsmPL09ytMfsSevKsPgP5Lee1sKBea/I3781sfCvh5NuPMUoLcIjUBhOcgc95knpsKtRRBuvFcPtDHunOQCm7+PU/ZXFzYIWoKI9SYhQwd5ieY7VsLQdVRZO9jS0HQ8FKrJal8UYoi+LJgxkxQIqfi3h5u4bCFFSJX5h0mckQd5G3Tnmt8U7o3WNdKWiSBsjaOnFXIrQt6zXB7dN1cG9USpKJSwkgaUiBKwQTJV3iMiMVK62Jkdhof0rdCdXHienSvnurTjCLpWlNuppA/MtYKlDslIEH3J+lQqeGOGbZmBPICgPM7+gVQ5wO/iU8Q9UbFhIE9fmMfb6VOiutxmBujh9P8A0fwPqqjw/crs7x0X4hy6I0vg/hq0/l2EbxntjYmTtoruMjZi8K04Q92O+7/cL49ffgtKzZWz9yLlLodW2kBKQsKSiQcgDmoK59j0qFynTYiCAwFuUOOulE9PKldKmDG9QqI31VT4ZtFoaK3W223nVFbiUARJJiSNzEZ6k1JVzHStfIGxuLmtAAJ96KbZXoc1gYLayhQkSI2OOoIP1qFXlhMeUnYgEe+h0VP4KUSi41SV/FOhRP5oIAPsAAn/ALakq92oAHx5dsja6aX9dfNceJ+HCq5W6Eh1t7R5rRVplSMJV0KQOWPrsFrODH1AI7yubdOq9DuOh96LSkpSnklKR7AD+gqFytXHmSsTxrj7Pxls6A6EsrUhbxQQ16kkaSTkkb7fflIC7+FwM36WSOxbgCG33tDurjxLfqt37NyT5anCy4Jx+IBpMbYKZnpPWgCpYGFs8UrP7gMw8tx5gqy49w34i3cZnSVjCv0qBBSfooA1AVXCYj9PM2SrrhzGx+Sy1vxK9ul/BkBhbUfEvIVJ0nbRHyqWM9v2rLbVdd+HwmGZ+qHfDv2NI48b5hvzVt4fsrRK32m2QHGSEuFYClK1AKSrUZJCt+WQcVBVLGTYpzGSPf3XAkVoBRoiui7cZtbMtKtnVMtJczpCkNnVyUB+rA5UCwwsuLEgnjBcRxonTl4LN8T+KtbN1hw+eyppSUO7FIIIEnOAM+qOgUokJDiupB+mxWKbKzuPDgS3nz5ceV9QN1qfCK0myt9KgsBtIkdQACOxBxFDuuR2iHDFSZhXeJVvUKklESiKPa2ugrIUSFq1RyT1j3OagClskkzhorYV4qRUrWlESiLwpRkCMZkzttGOc5+1TwUL3UKVneLcVecdVbWiAVBP4jy50NziBHzK/j6GJXTw+GijjE+IOl6NG5/A98rjcBS5/lMNgpeDbgCdJSUqlXpgwQeVDutuLMf+o2/Vtt1u7FDVaDhd6HmkuDnIMgjIJBwQDEg7jaoXNxEJhkLD79FG4zxNTZbbab8x52dKZgJCY1LUegkYxJIEjcFtw2HbIHPkdTW1fW9gPGvLdZnxnbP/AOXOKuS0t0LSUBtBhJUQiBJkmFGDArIbrrdmSQfrmiAENo3Z3rXhtsuPizwym3Z+KtZYdaA1hslIUDAVzxG+MEA42oDehWfZ3aLp5f0+I7zXbXrR4e91Y2XB75xtJXxBWhQB9LKQqCJjVuDtmosclVlxWCjecuH1FjVxr0V4y2zZMGVaUJlSlrVKlHmSdyo/vyqFz3Omxk2gsnQADQdByAXLw+3JdfkFL6gpPoCTEQJIJ1Y/MemMRRZ4x1BsXFgo63rflXh91nWby5F3cuWlootqML1kIC1o1AqTMfNjInqcmBK6josOcNGzES04bVrQNaGuSlNs8VfGvzmrbmlsN6z7KKgcjqKaLSX9mQnJkMnW69K+6r+Mt3znlW94EfDqdT5j7UgKQM6VfpkxnGY3qRSs4Z2CZmnw15w0008DzHPw1W1c4a0pryVNoLQAGggFONsViuC3EStk+IHHNz4qg8dq8wW1qnLjzyTHRKMqV9B/WpC6XZIyfExB2a0+ZOgHmtBxK/bYbU66oJQkZP8ATuT0qFzIIHzvEcYslY3g7N644+7bpSw3crC/MfEriABpQD7/ADYqdF3cS7BsYyOY53MFU3bfifwu/FUrsmkssOKcu712PMXvOApUbAJEADlPOKbrXhyzGSGSVobFE3YfIefz810uuDcPsWAq5QlwkwXHE+YpajJMTMTk8vvmmpWMeLx2NmywHL0BoAfdfODeMOHISGUFTKM6QtKtOd85AHvApRTE9lY97jI7vHjRF/Zc7F5u04kptK0i3u2w4kT6Q4TA0naFAH3kDkKbhZysfi8AHltvjOU86rj4fk81tqhcBKIlESiJREoiURKIvKzAJ6CikCysx/h+4Pgg6tUlalqUpUDdSifpqKj/AN1Sd11u2Gn9WY2jYAADwH2oeStuG2zSFuqacTpcOtSAQRrOSqZxqBGNtjzqFTnkkexrZG6t0B6Dh5fwqvinCbhgqdsCmVK1OMr+VR/0nGmTJIkZMyNjIrircGKgmAjxd6Cg4bjx5+h8OI6eFOJPPOXPno8paFJSGpkJGmZB56lTkdAOVCse0MPFCyP4JzAgnNz1+wV1e2KHSjWJDawsCcahMEjnEyO4FQqEUz482XiK8uPquHGeDNXKNDoMQQClRSRPsYPsZFFsw2Llwzs0f0v35Km4NdPMvKsX16pbKrd6ACpIxpI2K079wM1KvYqOKWIYuJta05vAHn4FVPhrhYuLm5TdLW+bVwBAcUdO6vVo25bbUV3HYk4eCM4doZ8RutDXhpe/HxWl43x4WrjIcRDLhKS7OGziARGx6zyPSlLlYXBHEseWHvN1y8SONK4bcCgCkgg7EGQfrUKi5paaIoqvVxZAuUsa0SpBIT+aQR3jacROKKyMK8wGXKaBGvDX+V34o4yG1C4KA2oQrzCAkzyzRa4Gyl4MIOYct1Vt+JGNbNvbEPqVj8NWpLaBgqUrMQOW5Mdamlbd2fNkfNP3AOYokngAo73Bro3JukrYDgCm0BSVqSG5BTsoQuZkjGaWtrcXhhAICHZdCaIBzceB05BVfib4mbZV42g27Tut1TBUoYkJ1JUNWkc98E/UFbwH6epG4ZxzubTQ6h40RpfLb8bC54m0hrzluJDUAhc4IO0dZ5RvULiMw8r5PhNac21LE3vF1P3lvdM2ty4ywleQ3GvUIlMnI+1ZbaLvxYUQYaTDySNa55HHauB5LUcK8R29wFAEoU2JW26NC0AcyDyHUSBUELkYjs+eAgkWDsRqD4LjwR3421JuWklKlKABSQCkHCoOQe/bFQs8U39HiP6LtQBx2PEaLH8J8KNOXd5auKUUsoAaMyUBR1g+6ZGNjqV1rInRdzEdpyx4aHEMAtxJd1rT518gtP4I4i4Q9avmXrVWmf1JPynOTt9tM5qCuT2rBGCzERftkF+B4+/HgtRULkJREoiURKIlESiLhf3aWm1uL+VCSo7cvcgTRbIonSvDG7k0sJ4f8JMuMF65V+EpSnEIClNoSkk5PqjSRB5ECJNZEr0OM7UlZN8KAd4ANJoEk+m4OnEXsrq0tuGr0aA2rzDCMqk6PSNMn8ukAEbQI5ViqEknaDLzWK32466+N2R49Vb279ux+ElxCNOdCl5Ez+ozGD9jRU3snm/qFpN8a/Co+IWyH7gP2TwD4BQtTakqQcHSHBmRIgkZ25xUq/DI6GExYpnc3AIIPXKfDy+a5p41xDzlW3k2xeCAvVrVoCSSATznt/FNFmcJgPhCfO7LdVQu6tWfAuCuodVcXLvmPqToATIbbTIOlI55Ayf/ANEqpi8XE+MQwMysBvX9xPM/hUXi7jDfxlklJKXWrgBWpKkDQogKIKgAU43BqQNF0OzsJJ+lmLhbXM0og6jUaDUFXdrYtG+ceYeAXGi4aEHVj0neUqHXM5GDNRwVCSaUYRsUrNN2u5cx1Hp9FM8TXbbVq6p0JKdJGlUQokYTnGTUBaMDFJJiGNju73HDmV+ecA4J5zKA1aOpKkQu4U4Up1RhYbUQHEzHP6VkSvTYzGfClJklBo6MqzXLMNWmv8qxRwZxm3SHbNpstpJNy06ErRpHzfLJVHQ9T6TQlVTi45pyY5ibP7C2wbO2+3l6hWXAPCpeQh/iClPuKSClCydLYjAgQCYOcR7nJXyVXGdpiJxiwYyNBOo3P8cvYWms+H27IUppppvHqKEBOB1IHLNY2uVLPPNTZHE+JJ+qrFNXT6A6xdoQlfqQPIkFJ+WSo6siCce1SrQdhoHGOWIkjQ97jxqtNFwt/E5aV5PEEBlZwlwSWXPZX5T2V/WKVyW1/Zwlb8XBnMOX9zfLj4hQGEtX98UgpVbWaU6EJgtrUob4wQIIj/T3MzsFYeZcDgw7aSQmyf3AD87+fgthZ3bbqdTagpIJTI2BBgisVxJYnxmnijv6rEosP81uVOuAJtWFFtAAhbpG8q3Cfb23k1lsu8Z/9MgEbNZHgE8m8tNr97aK84hxvynEWlox5rqUiUAhCGkYA1KjGNh/4BiuKoQ4P4rDicQ/K0k67lx6D6n+apPh76zdeu1IYdDuguhKlBSQMYKgAlKZyTOEyYqdDor/AMTB4uNmGDnNy3l0FHxrUk8hWprVSeA3CXeKPOtKCm1W6dUEGFakiDBIkBJ2JERBzUcFqxbHRdnMjkFODzXhR2vxWzqFwkoiURKIlESiJRFVeKbVTto8hAJUUSANyUwoD6xH1ormAkbHiWOdtf10Vb4e8m+4e02vISlKHEpUU5QACDp/KRnuDUnQq1jPi4LGue3iSQSL0PjxH1WiAQ0j8qEIHZKUgfsBULmd+R3MnzJUDiHALa4hTjKF51TtJgCSRE4AGelLViHHYiDRjyOHvkplnZNtAhtCUyZMCJPUncnuaLRJM+Q282sY5xlpri+vzElt1oNKUD6ULBJAJ25R9exqeC7owksnZuXLTmuzVxIpa/i1+GGlOkEhMSBvBUAT3gEmOcRULiYeEzSCMGifwvHF+Es3Teh1IUk7Hmnuk8jS1lhsVLhn54zR+vivzN+xat3nW1uvpuG9IaWxIW8FbIg7wNPMcxmBWS9YyaXERNexrSx12HbNrj5m+HXiVeeG+FG4unS+64+3aL0IDpmVwNRI29JEc9+1CufjsSIMOwRNDHSCzXLh11Wz4vq8lzQsNqCSUrMQkjIJnETv2rFcHDZfitzNzC9RzUThl43e2qSSkhxA1pSo+k8xIIUIPsaLfPFJg8QQOBNEjf7L1xvjbduAnKnV4Q0kalEkwDHJM7kx98UUYXBvnN7NG5Og/wA9FEs+BrTw9VuVfiuNr1KP63Aoq25ajHsKnit0mMY7GicDugih0bVfILx4W420W2rZakouG0JQppRhUhI2nfGcTGaFZdoYOQPdO0WxxJDuGp+Xmp/HrhCQ0242l0POpb0KAIzJJgg7AE1CrYSN5LnsdlytLr+3mV1sOFW9sFqabQ0CJURgQJ37CTRYy4mfEUJHF3LzWT4d4Zcdddh1bdipfmIQ2sAuFQBnUkfLnqdgOU1la7M3aLIo290OmAokj9tabHj/AJ40tE54aZ8tDbZdaQjVAadWn5pmc5M5kzUWuW3tCXOXvAcTW7QdvfBUmp3hzqnHS0th9z1ugKS4CflmSRpTB3P5iRnBK/UfaEYZHYe0aN0LdN+Wp8OHJbJaQQQcgjNQuGCQbCx3+F9mlNu44E6Stwgf9KflAnJElW5NSV3O3pS6ZrCbofM7/QLZ1C4SURKIlESiJREoiURZO74E9bPrubIBQc/4jBVpBP6gduZMY5wcxUrsx42LEQiDFGsuzqs1y/n/ACvvDrh26fcbuNLYQ2UqYQsknXGScGUjp+tJFFEzI8LE18PesghxHLkNdz9CuDXhq9tsWd0ny+TTycD6gH9gkdqWOK2O7QwmI1xMRzf9mn/HztQ/FC+INsDzX0S8pLWlpMBOqZVrICu0dzmgpb8AMDJN3GHugusnU1wrUdbWnXwO2Ra+QtCfIQmTqxEDKycQdzqpZtckYzEvxHxmk5yfYr7LA8Wtm3Ai2sbm5eDu6NRW02mSBJIBA1Ac9gTnAMjmV6PDyPjJxGLja3LxqnE/fQ+unOv1JpGlIT0AH2rFeQccxJWEc4c5c8UuVNPFoNJQ2paUgqykEpTPynf1DaD1zPBeibiI8P2fG2RmbMSQCdNzqefgrVfhW0t23HVl5WlJWtZeWFGBJJ0qSJxvS1THaWJne2NuUWaAyihfiDovvDuCm6Qly8IcSTqaaCpQgRCTqBJcJTmSSM7U2SbFjDPLMN3TsXcSeOnCjwq16vOC2Tj+lKvJuQJlpwocg8+ih9DRYxYzGMhzEZo+otv8fJeLewsbFRWXEeeR877oKz99p5kDampWT58bjWhoacnJrdPfS1xsvGLpBLlotSRP4lutLyDHcEQf9MzSlsl7JjBpkoB5OBaffXZT2+ONOfiJtnFLTIB0I1YHJWo4MwCCQcxioVZ2Dkj7jpAAepr0rhxvZV3+RO36vNvAu3CcNNIUCpIwdRJBAUewBjBqdla/WxYIfDw1PvdxGh6DbRVzlhcouW7By5Uu2e1KClJClqCQSpuTkcs+0dKnhastnw78O7FsjAkbQoaAE7Or3x8VuDYI8sNAFKEjSAhRTAgjdJB2P3zvWK4Hx35y86k66gHjfH3wWeveBXDH4tncOGMqZeUXUqA5CTqB9snrU2ulFjYJ/wCniYx0c0BpHjwU11ocQt2FSEoK0rWkgKnQTLfT5xBMcjimy0NccDO8bmiAdt9j6ahcvEnGDPwtt633DpOlWny07qJV+VWmYiSN4PMFngsIP+RPowa7XmPDTiL32HC1dcOskstpbQMCTkkmSSSZOTJJyahUJ5nTPL3b/jRSaLUlESiJREoiURKIlESiLN8f4Q6l34q0CfOCSFJhMuYGkalchAkCJgeoVK6mDxURj/T4j9t6HXTnoOPI61yKqL7xy+0BrsnEKSseYSlRQUbEpVAgnETippXouxoJCcswII02u+o1861Wh4vYN39ugoWI1JcbWBqEjt7FQ7E9RWK5mGnfgpjmHAtI2960eqs33UttlTqkhKU+tRwO57CiqMa576jGpOg4rjw1LABLAaAO/lhI++nnRZzme/6t+d/derzibTUBxxCSowAVAEnsKKIsPLLeRpNdFjeD8dDNy846kNM3BBn8zSwYCXAJKVKB1HVtgbCaml3cTgjLAxkZzOZ6OHNvMAihW/iVsOIW6bi3cQFDS62UhQMj1DBHXeahcOGR2Hma8jVpBrwKoeA+JUobQxcym5bWhlSTusk6UrEn1JO5I79pkhdHF9nlzzLBrGQXA8BQsjoRsP8AKt/EXCkvtERDiPU0vmhYyCDvvE9RUKlgsS6CQH+06EcxxVV4M4O18I2pxgeYsEuFwalKVJlRKp339iKk7q52ni5P1Lmsf3RtWgArbTko3izw223bvu2wWyvQdSGTpS4MiFJiNiraN+cCgK29n9oSSTMjnpwvQu1I8D4gbrUcM0+S3o+XQmB0EDFQuRPm+K7NvZUPjzRdZUWnVIWyrUC2oTKRlJk6TIJEKxkTRb8I4RygSNBDtNRz4jjvxGq6cJdTcNsvqSNekx/pJwoD6iKLHENdBI+EHS/Xkq3xBe6L3h6CSELW4T0JCISD3lWPeppWsHDmws7gLIDfHez8grziClhpwtp1rCTpTIGoxgScZNQufCGmRoeaFizyCzD+qysre2bBLytKfRyJMrUTB9MnTOPm3G4ndddmXGYuSd/7RZ148h41rx22KkWr3xN6hxAPlW6TDgA0OFwZjJ6JII6HJBFQtUjf0+ELHfueRpxblOn3u/TRaei5KURKIlESiJREoiURKIlESiLw62FJKVAFKhBBEgg7gjpRS1xaQQaIWVHgwtLKrS6dt0kklv50T2B7xvNTa7H+riVobiYg8jjsfl9qQ8A4gsaXeIegiFBLKJI55gRj3qbHJT+uwLDmZBrwtxXpP+HlkAPSvUN1+YoKP2OkfQCozFQe3cYSdRXKhX59Spdt4NtG0qCGykqEagtWoexJ9PPbqaWtD+1sVIQXOuuFCvPmqy74Gts6jZM3q8y4opbUoSYKpBSpUaQTA5nnQFW48Y14yiZ0Q5CyB4VqBd8Vx8HW4tXXUOshh18lTSS5qTp5NyPTqBmIEkDtQrPtN5xMbXRvztZoTVG/+3Oj6X4qzteAvO3LdzeKa1NT5bbSTAnmpSvUqN42nNLVWTGwxwOgwwNO3Ljr5AaD6qZwzi2u5ubdwgLQoFAiNTZSnI6wqZPcVFLRPhcsEc7NiKPQgn00pWtuwltCUIASlIgAbACipve6Rxc42SqHwpfruTdOKksqdKWgoY0pEHHQn95qSuj2hAzDiJjf3htu8TqPRfX/AA00hpTbTzzCFGYbcCdIk6gJ5GSSTnAEwIpahvaEj5BJIxryOYu+XpXh56qg4xxG1tbZVnZguqWD5nl+tQSYDi1KAjVpkDkMTAEVI11XSw2HxOJnGJxPdA2vQX/aAOV+virngHiOxRboQ28NDSMghQIjeRHv1+tQQVRxmAxr5y57NXHpSrL8q4o62lAUzbNEqS8oaVuLg6dAOYG/05GKnZW4cvZkbi6nSO0LRqAOObx92FIul8UaCEebanUQhK3CdS1GYgBIAMflhWxyaaLVGOzZSXZX6a0KoDzJ9dPBR+LeHlqcZFw8XlOkIWMNwgETGlOokqKegyrYGotbMPj2tjeYWZQ3UcdeG5ra+fDeltbO0Q0hLbaQlCRASOVQuFLK+V5e82Su1FrSiJREoiURKIlESiJREoiURKIlESiJREoiURQeL8KbuUaHUhQCgodiOY779s5BGKKxhsTJh354zWlLN8O8NXyQpKr5aUBZCU/8QlHKVHSoK5Y2jHabC6k3aGDcQRACa1O2vhqCPFS1eCGdBHmPB0qCi+HD5kiYyZxk4770taR2xNnvK3LVZa7tLG+O7p5h1LCnnHEhAVKzGrJjA+ZQInV1I2gVIFru9kxxTxmYMDTdacPwDy/K0drx26ti3arskLVolAYXpBSN/SoY7yajRcuTBYbEB2IbMQLo5hx8R+FB4taovXQbkM2boGnS46FOKTnSQAsAQokxpk6QJg1O2ysYeV+DjqAmRu9htAHjwPDTfjsrw8Nct22xw5NuGyBrcXlSh+qRAVjOSP8AaPFc8YiOeRxxpdfADYdOnoqK0vFrUQ7cWCVrHpW035iiRkyFIhQxMyI+0DS6EkTWAGOOQgbhxoctKOnoVPseIMIU0suF+4WNDa3JbTMckmS2VAxgdBiRJVpYJnhzQ3IwakDU11IrMBvvzOtGpds2tCzcXziVLTCm2UJnypBTykkmSJmJA7QWl7mOb8HCNoHQuJ/dx8NN9r+d2PD7bz1t3TgUkhJ0NqTBTqCdwchQ9aZ56vaoVaaT4LHYdhBF6kcaJ+R0PSvFXVFQSiJREoiURKIlESiJREoiURKIlESiJREoiURKIlEXwnGPttRTxQj70RcLtpB0qWgLKVDT6dRSSQJHSNyegos43PFhrqsc6tcOJcOS6UqEJdQFeW4U6tMiD07bEHG+9FsgnMYLTq01Yurr3yI6LL8fbdSFG8tW7pnBK2RpWkCYn1ajplW0DnImpC6+DdE4gYaUxu5O1BPTStaHXxVd4X4Gzcm5Uwt9m3DiQ0W1lJPo9UlQJO/PrUnRWsfjJsOIxK1rn0bsXx02rkr0cJZCX27Za1PNABQmVlQbOj1LwDBTkYEDvWK536mUuY+cANdtyAza6DXgepUiz8OIVoccU8XB6glbvmFpRTpUATIwecbpHSpWuXHubmYwDLto2swuwSOv0JVnZcKZR8jYlJOSMySCSCepAMjoOlQqkuJmf+529fLQKY+8lCVLWoJSkSVEwAKLQxjnuDWiyVysb5t5GtpaXE9UmR7e9FnLC+J2WRpB6qTRakoiURKIlESiJREoiURKIlESiJREoiURKIlESiL5FEX2iL4aIq/jvDfiGi35i2wSCVI+aBmB9Y5HEjnIK1hMR8CT4mUHodvfopFihSWkBWVBIB9RVkADKiAT7wPai1SlrpHFu1nhXy1r1WY8JOXheuGrltCGwJCUBACSTiNOSCJMqzipNLrdotwgijkhcSeZvWvHl0Vkwy8h91wqdW2tSEJbhMiAApydUBJ35HfG1Qqr3wviawABwBN6+Ibtv6+K5+HGHkecl66S84Vkj/4+QlOME7pEDEA1Kyxr4n5HRxFra9fPX11KnXfFGWXGkKUAp9QSkxOs4AyPoM/qFQq8eGlmY5zRYaLPT39ivPFGG7lLlu6hzSpAUVAY+b0wcysFMxB+s0UwPfh3NmjIsGq8tbHI3S5+GfD7dmlaEFatStRUsjOIgAREe3P7STayx+Ofi3BzwBQqh/KuqhUUoiURKIlESiJREoiURKIlESiJREoiURKIlESiJREoi+RRF9oi+URedlfLuJKscowec/7HbElluN/JRruzDmnUVp0rC/QojURyMbpPMbUW2OUsuqNgjUbeHXkV0dbSCVpCQs6QpWiSQDsYycFUchM0WLXEjKdtdL/PlfPZRmksPHASs27hAJT8ixvBPMTuMfai2uM0I1JGceoPP39VItmwgBAUpRMmVEr55yfeB/4otT3F/eIA8KCke1FqUdppZXrUSmNSQhKtSSJkKMpBC4G0wJO+9Ftc5oblbrsbrXbUbnT3opNFqSiJREoiURKIlESiJREoiURKIlESiJREoiURKIlESiJREoiURKIvgEbCindc2kkTqg5wex5f30osnEHZewnud6LG16ooSiJREoiURKIlESiJREoiURKIlESiJREoiURKIlESiJREoiURKIlESiJREoiURKIlESiJREoiURKIv//Z"/>
          <p:cNvSpPr>
            <a:spLocks noChangeAspect="1" noChangeArrowheads="1"/>
          </p:cNvSpPr>
          <p:nvPr/>
        </p:nvSpPr>
        <p:spPr bwMode="auto">
          <a:xfrm>
            <a:off x="1679576" y="-1866899"/>
            <a:ext cx="3968756" cy="3783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6188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02" y="0"/>
            <a:ext cx="3646998" cy="928739"/>
          </a:xfrm>
        </p:spPr>
        <p:txBody>
          <a:bodyPr/>
          <a:lstStyle/>
          <a:p>
            <a:r>
              <a:rPr lang="en-US" b="1" dirty="0" smtClean="0"/>
              <a:t>Free-Writing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" y="1245703"/>
            <a:ext cx="11852744" cy="2451653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Freewriting is just what it says—writing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freely</a:t>
            </a:r>
          </a:p>
          <a:p>
            <a:pPr fontAlgn="base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whatever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comes into your mind,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even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researching about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  <a:p>
            <a:pPr fontAlgn="base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require complete sentences, proper spelling, or correct punctuation and grammar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10 to 15 minutes to write everything that comes to mind even if it doesn’t necessarily make sense yet.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/>
          </a:p>
        </p:txBody>
      </p:sp>
      <p:sp>
        <p:nvSpPr>
          <p:cNvPr id="5" name="Rectangle 4"/>
          <p:cNvSpPr/>
          <p:nvPr/>
        </p:nvSpPr>
        <p:spPr>
          <a:xfrm>
            <a:off x="60960" y="3491100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59111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51888"/>
          </a:xfrm>
        </p:spPr>
        <p:txBody>
          <a:bodyPr/>
          <a:lstStyle/>
          <a:p>
            <a:pPr algn="ctr"/>
            <a:r>
              <a:rPr lang="en-US" b="1" dirty="0" smtClean="0"/>
              <a:t>Brainstorming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622" y="1238491"/>
            <a:ext cx="11505056" cy="2591387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creating a list of ideas in response to a problem or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question.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by brainstorming don’t need to be related to each other; they only need to be related to the problem at hand.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ways of brainstorming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answering questions about a problem or topic: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Who? What? Where? When? Why? How?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of ideas related to the problem or topic. 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22" y="3729639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1088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216220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is a process of generating a lot of information within a short time by generating some broad ideas and then building on those associations for more detail.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all the possible terms that emerge from the general topic you are working on.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as many possibilities as you ca</a:t>
            </a:r>
            <a:r>
              <a:rPr lang="en-US" sz="2800" dirty="0"/>
              <a:t>n.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280" y="4058607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23909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803" y="251434"/>
            <a:ext cx="10058400" cy="786059"/>
          </a:xfrm>
        </p:spPr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" y="1288928"/>
            <a:ext cx="11131673" cy="242168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What </a:t>
            </a:r>
            <a:r>
              <a:rPr lang="en-US" sz="2800" dirty="0"/>
              <a:t>is it? </a:t>
            </a:r>
            <a:endParaRPr lang="en-US" sz="2800" dirty="0" smtClean="0"/>
          </a:p>
          <a:p>
            <a:r>
              <a:rPr lang="en-US" sz="2800" dirty="0" smtClean="0"/>
              <a:t>Clustering </a:t>
            </a:r>
            <a:r>
              <a:rPr lang="en-US" sz="2800" dirty="0"/>
              <a:t>utilizes a visual map to shape ideas and explore how those ideas relate to each other. </a:t>
            </a:r>
            <a:endParaRPr lang="en-US" sz="2800" dirty="0" smtClean="0"/>
          </a:p>
          <a:p>
            <a:r>
              <a:rPr lang="en-US" sz="2800" dirty="0" smtClean="0"/>
              <a:t>Helpful </a:t>
            </a:r>
            <a:r>
              <a:rPr lang="en-US" sz="2800" dirty="0"/>
              <a:t>tip: </a:t>
            </a:r>
            <a:r>
              <a:rPr lang="en-US" sz="2800" dirty="0" smtClean="0"/>
              <a:t>When </a:t>
            </a:r>
            <a:r>
              <a:rPr lang="en-US" sz="2800" dirty="0"/>
              <a:t>you cluster, your topic goes in a bubble in the middle of the page. From there, your ideas expand to form a spider-web visual. 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987" y="3557361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32440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123" y="1737361"/>
            <a:ext cx="11412415" cy="4645854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specially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long papers, outlines can be quite detailed, but even a short outline can be helpful in giving the writer ideas and a sense of organization for an essay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looking carefully at 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photograph of a refugee mother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feels that he has identified three important ideas that might be the focus of his essay. He writes down these ideas: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family is living in severe poverty.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mother is trying to care for her family.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mother is determined not to be defeated by her difficulties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3577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36141"/>
          </a:xfrm>
        </p:spPr>
        <p:txBody>
          <a:bodyPr/>
          <a:lstStyle/>
          <a:p>
            <a:r>
              <a:rPr lang="en-US" b="1" dirty="0"/>
              <a:t>Writing your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Thesis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1" y="1388962"/>
            <a:ext cx="11402169" cy="316978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statement generally consists of two parts: </a:t>
            </a: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point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analysis, explanation(s), or assertion(s) that you are making about the topic.</a:t>
            </a: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statement = Narrowed topic + main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</a:p>
          <a:p>
            <a:pPr algn="ctr">
              <a:buNone/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Euthanasia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suicidal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banned. </a:t>
            </a:r>
          </a:p>
          <a:p>
            <a:pPr algn="ctr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Narrowed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        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point </a:t>
            </a:r>
          </a:p>
        </p:txBody>
      </p:sp>
      <p:sp>
        <p:nvSpPr>
          <p:cNvPr id="4" name="Rectangle 3"/>
          <p:cNvSpPr/>
          <p:nvPr/>
        </p:nvSpPr>
        <p:spPr>
          <a:xfrm>
            <a:off x="4157007" y="3244334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________________________________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1" y="4731026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95720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263" y="1095220"/>
            <a:ext cx="11204294" cy="1860016"/>
          </a:xfrm>
        </p:spPr>
        <p:txBody>
          <a:bodyPr>
            <a:noAutofit/>
          </a:bodyPr>
          <a:lstStyle/>
          <a:p>
            <a:pPr marL="640080" lvl="1" indent="-4572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thesis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 is a coherent statement that integrates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essential components of a standard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statement.</a:t>
            </a:r>
          </a:p>
          <a:p>
            <a:pPr marL="640080" lvl="1" indent="-4572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topic, an assertion, and reasons justifying the claim.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0080" lvl="1" indent="-457200">
              <a:lnSpc>
                <a:spcPct val="100000"/>
              </a:lnSpc>
              <a:buClrTx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= Narrowed topic + Main point + First supporting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reason/idea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Second supporting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reason/idea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Third supporting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reason/idea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8263" y="162046"/>
            <a:ext cx="112042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Point Thesis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tatement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263" y="2955236"/>
            <a:ext cx="14502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40890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, text&#10;&#10;Description automatically generated">
            <a:extLst>
              <a:ext uri="{FF2B5EF4-FFF2-40B4-BE49-F238E27FC236}">
                <a16:creationId xmlns="" xmlns:a16="http://schemas.microsoft.com/office/drawing/2014/main" id="{01277F43-524C-41A5-AD3A-42178F1E51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5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3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18" y="165621"/>
            <a:ext cx="10515600" cy="53639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Practice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78" y="702017"/>
            <a:ext cx="11810579" cy="553791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Writing Prompt: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en-US" sz="2800" b="1" i="1" dirty="0" smtClean="0">
                <a:solidFill>
                  <a:schemeClr val="tx1"/>
                </a:solidFill>
              </a:rPr>
              <a:t>Should </a:t>
            </a:r>
            <a:r>
              <a:rPr lang="en-US" sz="2800" b="1" i="1" dirty="0">
                <a:solidFill>
                  <a:schemeClr val="tx1"/>
                </a:solidFill>
              </a:rPr>
              <a:t>students be allowed to eat snacks </a:t>
            </a:r>
            <a:r>
              <a:rPr lang="en-US" sz="2800" b="1" i="1" dirty="0" smtClean="0">
                <a:solidFill>
                  <a:schemeClr val="tx1"/>
                </a:solidFill>
              </a:rPr>
              <a:t>in the </a:t>
            </a:r>
            <a:r>
              <a:rPr lang="en-US" sz="2800" b="1" i="1" dirty="0">
                <a:solidFill>
                  <a:schemeClr val="tx1"/>
                </a:solidFill>
              </a:rPr>
              <a:t>classroom? Why or why not?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Thesis </a:t>
            </a:r>
            <a:r>
              <a:rPr lang="en-US" sz="2800" dirty="0" smtClean="0">
                <a:solidFill>
                  <a:schemeClr val="tx1"/>
                </a:solidFill>
              </a:rPr>
              <a:t>Statement: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Students </a:t>
            </a:r>
            <a:r>
              <a:rPr lang="en-US" sz="2800" dirty="0">
                <a:solidFill>
                  <a:schemeClr val="tx1"/>
                </a:solidFill>
              </a:rPr>
              <a:t>(should / should not) be </a:t>
            </a:r>
            <a:r>
              <a:rPr lang="en-US" sz="2800" dirty="0" smtClean="0">
                <a:solidFill>
                  <a:schemeClr val="tx1"/>
                </a:solidFill>
              </a:rPr>
              <a:t>allowed to </a:t>
            </a:r>
            <a:r>
              <a:rPr lang="en-US" sz="2800" dirty="0">
                <a:solidFill>
                  <a:schemeClr val="tx1"/>
                </a:solidFill>
              </a:rPr>
              <a:t>eat snacks in the classroom because</a:t>
            </a:r>
          </a:p>
          <a:p>
            <a:r>
              <a:rPr lang="en-US" sz="2800" dirty="0">
                <a:solidFill>
                  <a:schemeClr val="tx1"/>
                </a:solidFill>
              </a:rPr>
              <a:t>______, _________, and </a:t>
            </a:r>
            <a:r>
              <a:rPr lang="en-US" sz="2800" dirty="0" smtClean="0">
                <a:solidFill>
                  <a:schemeClr val="tx1"/>
                </a:solidFill>
              </a:rPr>
              <a:t>________.</a:t>
            </a:r>
          </a:p>
          <a:p>
            <a:r>
              <a:rPr lang="en-US" sz="2800" dirty="0">
                <a:solidFill>
                  <a:schemeClr val="tx1"/>
                </a:solidFill>
              </a:rPr>
              <a:t>Writing Prompt: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chemeClr val="tx1"/>
                </a:solidFill>
              </a:rPr>
              <a:t>2. Write </a:t>
            </a:r>
            <a:r>
              <a:rPr lang="en-US" sz="2800" b="1" dirty="0">
                <a:solidFill>
                  <a:schemeClr val="tx1"/>
                </a:solidFill>
              </a:rPr>
              <a:t>an essay explaining why a </a:t>
            </a:r>
            <a:r>
              <a:rPr lang="en-US" sz="2800" b="1" dirty="0" smtClean="0">
                <a:solidFill>
                  <a:schemeClr val="tx1"/>
                </a:solidFill>
              </a:rPr>
              <a:t>decision you </a:t>
            </a:r>
            <a:r>
              <a:rPr lang="en-US" sz="2800" b="1" dirty="0">
                <a:solidFill>
                  <a:schemeClr val="tx1"/>
                </a:solidFill>
              </a:rPr>
              <a:t>made was the right one?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Thesis </a:t>
            </a:r>
            <a:r>
              <a:rPr lang="en-US" sz="2800" dirty="0" smtClean="0">
                <a:solidFill>
                  <a:schemeClr val="tx1"/>
                </a:solidFill>
              </a:rPr>
              <a:t>Statement:</a:t>
            </a:r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My </a:t>
            </a:r>
            <a:r>
              <a:rPr lang="en-US" sz="2800" dirty="0">
                <a:solidFill>
                  <a:schemeClr val="tx1"/>
                </a:solidFill>
              </a:rPr>
              <a:t>decision to______________ was </a:t>
            </a:r>
            <a:r>
              <a:rPr lang="en-US" sz="2800" dirty="0" smtClean="0">
                <a:solidFill>
                  <a:schemeClr val="tx1"/>
                </a:solidFill>
              </a:rPr>
              <a:t>the right </a:t>
            </a:r>
            <a:r>
              <a:rPr lang="en-US" sz="2800" dirty="0">
                <a:solidFill>
                  <a:schemeClr val="tx1"/>
                </a:solidFill>
              </a:rPr>
              <a:t>one because___________,</a:t>
            </a:r>
          </a:p>
          <a:p>
            <a:r>
              <a:rPr lang="en-US" sz="2800" dirty="0">
                <a:solidFill>
                  <a:schemeClr val="tx1"/>
                </a:solidFill>
              </a:rPr>
              <a:t>___________, and ____________.</a:t>
            </a:r>
          </a:p>
        </p:txBody>
      </p:sp>
    </p:spTree>
    <p:extLst>
      <p:ext uri="{BB962C8B-B14F-4D97-AF65-F5344CB8AC3E}">
        <p14:creationId xmlns:p14="http://schemas.microsoft.com/office/powerpoint/2010/main" val="387279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639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Practice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4" y="901522"/>
            <a:ext cx="11837325" cy="539952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Add Thesis Statement: .</a:t>
            </a:r>
          </a:p>
          <a:p>
            <a:r>
              <a:rPr lang="en-US" sz="2800" dirty="0" smtClean="0">
                <a:solidFill>
                  <a:schemeClr val="tx1"/>
                </a:solidFill>
              </a:rPr>
              <a:t>Topic </a:t>
            </a:r>
            <a:r>
              <a:rPr lang="en-US" sz="2800" dirty="0">
                <a:solidFill>
                  <a:schemeClr val="tx1"/>
                </a:solidFill>
              </a:rPr>
              <a:t>Sentence Paragraph 1</a:t>
            </a:r>
            <a:r>
              <a:rPr lang="en-US" sz="2800" dirty="0" smtClean="0">
                <a:solidFill>
                  <a:schemeClr val="tx1"/>
                </a:solidFill>
              </a:rPr>
              <a:t>:___________________________________________</a:t>
            </a:r>
          </a:p>
          <a:p>
            <a:r>
              <a:rPr lang="en-US" sz="2800" dirty="0">
                <a:solidFill>
                  <a:schemeClr val="tx1"/>
                </a:solidFill>
              </a:rPr>
              <a:t>__________________________________________________________________</a:t>
            </a:r>
          </a:p>
          <a:p>
            <a:r>
              <a:rPr lang="en-US" sz="2800" dirty="0">
                <a:solidFill>
                  <a:schemeClr val="tx1"/>
                </a:solidFill>
              </a:rPr>
              <a:t>Topic Sentence Paragraph </a:t>
            </a:r>
            <a:r>
              <a:rPr lang="en-US" sz="2800" dirty="0" smtClean="0">
                <a:solidFill>
                  <a:schemeClr val="tx1"/>
                </a:solidFill>
              </a:rPr>
              <a:t>2</a:t>
            </a:r>
            <a:r>
              <a:rPr lang="en-US" sz="2800" dirty="0">
                <a:solidFill>
                  <a:schemeClr val="tx1"/>
                </a:solidFill>
              </a:rPr>
              <a:t>:___________________________________________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__________________________________________________________________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 smtClean="0">
                <a:solidFill>
                  <a:schemeClr val="tx1"/>
                </a:solidFill>
              </a:rPr>
              <a:t>Topic </a:t>
            </a:r>
            <a:r>
              <a:rPr lang="en-US" sz="2800" dirty="0">
                <a:solidFill>
                  <a:schemeClr val="tx1"/>
                </a:solidFill>
              </a:rPr>
              <a:t>Sentence Paragraph </a:t>
            </a:r>
            <a:r>
              <a:rPr lang="en-US" sz="2800" dirty="0" smtClean="0">
                <a:solidFill>
                  <a:schemeClr val="tx1"/>
                </a:solidFill>
              </a:rPr>
              <a:t>3</a:t>
            </a:r>
            <a:r>
              <a:rPr lang="en-US" sz="2800" dirty="0">
                <a:solidFill>
                  <a:schemeClr val="tx1"/>
                </a:solidFill>
              </a:rPr>
              <a:t>:___________________________________________</a:t>
            </a:r>
            <a:endParaRPr lang="en-US" sz="2800" dirty="0" smtClean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__________________________________________________________________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24228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1092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11965"/>
            <a:ext cx="10644146" cy="2955236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Instructions: Read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outline and write a thesis statement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fontAlgn="base"/>
            <a:r>
              <a:rPr lang="en-US" sz="2800" b="1" dirty="0"/>
              <a:t>Topic: </a:t>
            </a:r>
            <a:r>
              <a:rPr lang="en-US" sz="2800" dirty="0"/>
              <a:t>Young people should pay attention to politics. </a:t>
            </a:r>
          </a:p>
          <a:p>
            <a:pPr marL="514350" indent="-514350" fontAlgn="base">
              <a:buClrTx/>
              <a:buFont typeface="+mj-lt"/>
              <a:buAutoNum type="alphaUcPeriod"/>
            </a:pPr>
            <a:r>
              <a:rPr lang="en-US" sz="2800" dirty="0" smtClean="0"/>
              <a:t>Young </a:t>
            </a:r>
            <a:r>
              <a:rPr lang="en-US" sz="2800" dirty="0"/>
              <a:t>people are intelligent enough to understand what’s going on.</a:t>
            </a:r>
          </a:p>
          <a:p>
            <a:pPr marL="514350" indent="-514350" fontAlgn="base">
              <a:buClrTx/>
              <a:buFont typeface="+mj-lt"/>
              <a:buAutoNum type="alphaUcPeriod"/>
            </a:pPr>
            <a:r>
              <a:rPr lang="en-US" sz="2800" dirty="0" smtClean="0"/>
              <a:t>Politics </a:t>
            </a:r>
            <a:r>
              <a:rPr lang="en-US" sz="2800" dirty="0"/>
              <a:t>affects everyone’s lives, including young people’s. </a:t>
            </a:r>
          </a:p>
          <a:p>
            <a:pPr marL="514350" indent="-514350" fontAlgn="base">
              <a:buClrTx/>
              <a:buFont typeface="+mj-lt"/>
              <a:buAutoNum type="alphaUcPeriod"/>
            </a:pPr>
            <a:r>
              <a:rPr lang="en-US" sz="2800" dirty="0" smtClean="0"/>
              <a:t>Paying </a:t>
            </a:r>
            <a:r>
              <a:rPr lang="en-US" sz="2800" dirty="0"/>
              <a:t>attention to politics now will help young people to be informed citizens when they are old enough to vote. </a:t>
            </a:r>
          </a:p>
          <a:p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768778" y="4058419"/>
            <a:ext cx="27461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Thesis Statement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6064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12192000" cy="7894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600" b="1" dirty="0" smtClean="0">
                <a:cs typeface="Times New Roman" panose="02020603050405020304" pitchFamily="18" charset="0"/>
              </a:rPr>
              <a:t>II. </a:t>
            </a:r>
            <a:r>
              <a:rPr lang="en-US" sz="2600" b="1" dirty="0">
                <a:cs typeface="Times New Roman" panose="02020603050405020304" pitchFamily="18" charset="0"/>
              </a:rPr>
              <a:t>Drafting </a:t>
            </a:r>
            <a:r>
              <a:rPr lang="en-US" sz="2600" dirty="0">
                <a:cs typeface="Times New Roman" panose="02020603050405020304" pitchFamily="18" charset="0"/>
              </a:rPr>
              <a:t>- Putting your ideas and thoughts together in sentences and paragraphs</a:t>
            </a:r>
            <a:r>
              <a:rPr lang="en-US" sz="2600" dirty="0" smtClean="0"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endParaRPr lang="en-US" sz="2600" dirty="0"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organize </a:t>
            </a:r>
            <a:r>
              <a:rPr lang="en-US" sz="2600" dirty="0">
                <a:cs typeface="Times New Roman" panose="02020603050405020304" pitchFamily="18" charset="0"/>
              </a:rPr>
              <a:t>all of your notes from your </a:t>
            </a:r>
            <a:r>
              <a:rPr lang="en-US" sz="2600" dirty="0" smtClean="0">
                <a:cs typeface="Times New Roman" panose="02020603050405020304" pitchFamily="18" charset="0"/>
              </a:rPr>
              <a:t>pre-writing into </a:t>
            </a:r>
            <a:r>
              <a:rPr lang="en-US" sz="2600" dirty="0">
                <a:cs typeface="Times New Roman" panose="02020603050405020304" pitchFamily="18" charset="0"/>
              </a:rPr>
              <a:t>separate paragraphs. </a:t>
            </a:r>
            <a:endParaRPr lang="en-US" sz="2600" dirty="0" smtClean="0"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The </a:t>
            </a:r>
            <a:r>
              <a:rPr lang="en-US" sz="2600" dirty="0">
                <a:cs typeface="Times New Roman" panose="02020603050405020304" pitchFamily="18" charset="0"/>
              </a:rPr>
              <a:t>paragraphs should </a:t>
            </a:r>
            <a:r>
              <a:rPr lang="en-US" sz="2600" dirty="0" smtClean="0">
                <a:cs typeface="Times New Roman" panose="02020603050405020304" pitchFamily="18" charset="0"/>
              </a:rPr>
              <a:t>support your </a:t>
            </a:r>
            <a:r>
              <a:rPr lang="en-US" sz="2600" dirty="0">
                <a:cs typeface="Times New Roman" panose="02020603050405020304" pitchFamily="18" charset="0"/>
              </a:rPr>
              <a:t>introduction and your </a:t>
            </a:r>
            <a:r>
              <a:rPr lang="en-US" sz="2600" dirty="0" smtClean="0">
                <a:cs typeface="Times New Roman" panose="02020603050405020304" pitchFamily="18" charset="0"/>
              </a:rPr>
              <a:t>thesis statement.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Everything </a:t>
            </a:r>
            <a:r>
              <a:rPr lang="en-US" sz="2600" dirty="0">
                <a:cs typeface="Times New Roman" panose="02020603050405020304" pitchFamily="18" charset="0"/>
              </a:rPr>
              <a:t>needs to flow smoothly.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The </a:t>
            </a:r>
            <a:r>
              <a:rPr lang="en-US" sz="2600" dirty="0">
                <a:cs typeface="Times New Roman" panose="02020603050405020304" pitchFamily="18" charset="0"/>
              </a:rPr>
              <a:t>conclusion, or "end", of your </a:t>
            </a:r>
            <a:r>
              <a:rPr lang="en-US" sz="2600" dirty="0" smtClean="0">
                <a:cs typeface="Times New Roman" panose="02020603050405020304" pitchFamily="18" charset="0"/>
              </a:rPr>
              <a:t>essay </a:t>
            </a:r>
            <a:r>
              <a:rPr lang="en-US" sz="2600" dirty="0">
                <a:cs typeface="Times New Roman" panose="02020603050405020304" pitchFamily="18" charset="0"/>
              </a:rPr>
              <a:t>should sum up what you have said, without </a:t>
            </a:r>
            <a:r>
              <a:rPr lang="en-US" sz="2600" dirty="0" smtClean="0">
                <a:cs typeface="Times New Roman" panose="02020603050405020304" pitchFamily="18" charset="0"/>
              </a:rPr>
              <a:t>repeating. </a:t>
            </a:r>
            <a:r>
              <a:rPr lang="en-US" sz="2600" dirty="0">
                <a:cs typeface="Times New Roman" panose="02020603050405020304" pitchFamily="18" charset="0"/>
              </a:rPr>
              <a:t>It should give the reader some final thoughts on the topic you are writing about. </a:t>
            </a:r>
            <a:endParaRPr lang="en-US" sz="2600" dirty="0" smtClean="0">
              <a:cs typeface="Times New Roman" panose="02020603050405020304" pitchFamily="18" charset="0"/>
            </a:endParaRPr>
          </a:p>
          <a:p>
            <a:endParaRPr lang="en-US" sz="2600" dirty="0" smtClean="0">
              <a:cs typeface="Times New Roman" panose="02020603050405020304" pitchFamily="18" charset="0"/>
            </a:endParaRPr>
          </a:p>
          <a:p>
            <a:r>
              <a:rPr lang="en-US" sz="2600" b="1" dirty="0">
                <a:cs typeface="Times New Roman" panose="02020603050405020304" pitchFamily="18" charset="0"/>
              </a:rPr>
              <a:t>III. Revising</a:t>
            </a:r>
            <a:r>
              <a:rPr lang="en-US" sz="2600" dirty="0">
                <a:cs typeface="Times New Roman" panose="02020603050405020304" pitchFamily="18" charset="0"/>
              </a:rPr>
              <a:t> is rewriting or rearranging sentences to make sense</a:t>
            </a:r>
            <a:r>
              <a:rPr lang="en-US" sz="2600" dirty="0" smtClean="0">
                <a:cs typeface="Times New Roman" panose="02020603050405020304" pitchFamily="18" charset="0"/>
              </a:rPr>
              <a:t>.</a:t>
            </a:r>
          </a:p>
          <a:p>
            <a:endParaRPr lang="en-US" sz="2600" dirty="0"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making </a:t>
            </a:r>
            <a:r>
              <a:rPr lang="en-US" sz="2600" dirty="0">
                <a:cs typeface="Times New Roman" panose="02020603050405020304" pitchFamily="18" charset="0"/>
              </a:rPr>
              <a:t>decisions about how you want to improve your </a:t>
            </a:r>
            <a:r>
              <a:rPr lang="en-US" sz="2600" dirty="0" smtClean="0">
                <a:cs typeface="Times New Roman" panose="02020603050405020304" pitchFamily="18" charset="0"/>
              </a:rPr>
              <a:t>writing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looking </a:t>
            </a:r>
            <a:r>
              <a:rPr lang="en-US" sz="2600" dirty="0">
                <a:cs typeface="Times New Roman" panose="02020603050405020304" pitchFamily="18" charset="0"/>
              </a:rPr>
              <a:t>at your writing from a different point of </a:t>
            </a:r>
            <a:r>
              <a:rPr lang="en-US" sz="2600" dirty="0" smtClean="0">
                <a:cs typeface="Times New Roman" panose="02020603050405020304" pitchFamily="18" charset="0"/>
              </a:rPr>
              <a:t>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 smtClean="0">
                <a:cs typeface="Times New Roman" panose="02020603050405020304" pitchFamily="18" charset="0"/>
              </a:rPr>
              <a:t>picking </a:t>
            </a:r>
            <a:r>
              <a:rPr lang="en-US" sz="2600" dirty="0">
                <a:cs typeface="Times New Roman" panose="02020603050405020304" pitchFamily="18" charset="0"/>
              </a:rPr>
              <a:t>places where your writing could be clearer, more interesting, more informative and more convincing.</a:t>
            </a:r>
          </a:p>
          <a:p>
            <a:endParaRPr lang="en-US" sz="2600" dirty="0">
              <a:cs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en-US" sz="2600" b="1" dirty="0">
              <a:solidFill>
                <a:srgbClr val="00B0F0"/>
              </a:solidFill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sz="2600" b="1" dirty="0">
              <a:solidFill>
                <a:srgbClr val="0099FF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6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1947</TotalTime>
  <Words>958</Words>
  <Application>Microsoft Office PowerPoint</Application>
  <PresentationFormat>Widescreen</PresentationFormat>
  <Paragraphs>157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Times New Roman</vt:lpstr>
      <vt:lpstr>Wingdings</vt:lpstr>
      <vt:lpstr>Retrospect</vt:lpstr>
      <vt:lpstr>The Writing Process</vt:lpstr>
      <vt:lpstr>PowerPoint Presentation</vt:lpstr>
      <vt:lpstr>I. Prewriting</vt:lpstr>
      <vt:lpstr>PowerPoint Presentation</vt:lpstr>
      <vt:lpstr>Narrow Down Your Topic</vt:lpstr>
      <vt:lpstr>PowerPoint Presentation</vt:lpstr>
      <vt:lpstr>Explore Your Topic</vt:lpstr>
      <vt:lpstr>Free-Writing</vt:lpstr>
      <vt:lpstr>Brainstorming</vt:lpstr>
      <vt:lpstr>Listing</vt:lpstr>
      <vt:lpstr>Clustering</vt:lpstr>
      <vt:lpstr>Outlines</vt:lpstr>
      <vt:lpstr>Writing your Thesis Statement</vt:lpstr>
      <vt:lpstr>PowerPoint Presentation</vt:lpstr>
      <vt:lpstr>PowerPoint Presentation</vt:lpstr>
      <vt:lpstr>Practice</vt:lpstr>
      <vt:lpstr>Practice</vt:lpstr>
      <vt:lpstr>Practice : </vt:lpstr>
      <vt:lpstr>PowerPoint Presentation</vt:lpstr>
    </vt:vector>
  </TitlesOfParts>
  <Company>Razer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sultan</dc:creator>
  <cp:lastModifiedBy>HOD english</cp:lastModifiedBy>
  <cp:revision>39</cp:revision>
  <dcterms:created xsi:type="dcterms:W3CDTF">2021-08-31T12:59:28Z</dcterms:created>
  <dcterms:modified xsi:type="dcterms:W3CDTF">2023-09-18T05:06:06Z</dcterms:modified>
</cp:coreProperties>
</file>