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5"/>
  </p:notesMasterIdLst>
  <p:sldIdLst>
    <p:sldId id="315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4BFC2-6A74-4294-8C64-8CC1C1677891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7206D-AC08-4AAB-9FE9-61729B684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0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706438"/>
            <a:ext cx="61976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90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706438"/>
            <a:ext cx="61976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8780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706438"/>
            <a:ext cx="61976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66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53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424692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223263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25644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480913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488230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99573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41B60A-05B1-4DEB-B4F6-37751D1DD1CA}" type="datetimeFigureOut">
              <a:rPr lang="en-US" smtClean="0"/>
              <a:pPr>
                <a:defRPr/>
              </a:pPr>
              <a:t>8/23/2023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441DAE-FFCA-4A09-8E64-E463CAC5EE5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51570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154709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8/23/2023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179746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4263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165362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983800" y="690033"/>
            <a:ext cx="8046000" cy="9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983800" y="1967600"/>
            <a:ext cx="8046000" cy="40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800"/>
              </a:spcBef>
              <a:spcAft>
                <a:spcPts val="0"/>
              </a:spcAft>
              <a:buSzPts val="2400"/>
              <a:buChar char="◦"/>
              <a:defRPr/>
            </a:lvl1pPr>
            <a:lvl2pPr marL="1219170" lvl="1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2pPr>
            <a:lvl3pPr marL="1828754" lvl="2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3pPr>
            <a:lvl4pPr marL="2438339" lvl="3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4pPr>
            <a:lvl5pPr marL="3047924" lvl="4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5pPr>
            <a:lvl6pPr marL="3657509" lvl="5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6pPr>
            <a:lvl7pPr marL="4267093" lvl="6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7pPr>
            <a:lvl8pPr marL="4876678" lvl="7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8pPr>
            <a:lvl9pPr marL="5486263" lvl="8" indent="-507987" rtl="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2423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379067" y="1233367"/>
            <a:ext cx="9434000" cy="15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3813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ottom waves">
  <p:cSld name="Blank bottom wave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339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0779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ransition>
    <p:fade thruBlk="1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067" y="1233366"/>
            <a:ext cx="10440400" cy="1713033"/>
          </a:xfrm>
        </p:spPr>
        <p:txBody>
          <a:bodyPr/>
          <a:lstStyle/>
          <a:p>
            <a:r>
              <a:rPr lang="en-US" dirty="0"/>
              <a:t>Patterns of Organization</a:t>
            </a:r>
          </a:p>
        </p:txBody>
      </p:sp>
    </p:spTree>
    <p:extLst>
      <p:ext uri="{BB962C8B-B14F-4D97-AF65-F5344CB8AC3E}">
        <p14:creationId xmlns:p14="http://schemas.microsoft.com/office/powerpoint/2010/main" val="99043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33" y="466843"/>
            <a:ext cx="10530867" cy="5714376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Details support a main or implied main idea</a:t>
            </a:r>
          </a:p>
          <a:p>
            <a:pPr eaLnBrk="1" hangingPunct="1">
              <a:defRPr/>
            </a:pPr>
            <a:r>
              <a:rPr lang="en-US" sz="2800" dirty="0"/>
              <a:t>Authors often organize </a:t>
            </a:r>
            <a:r>
              <a:rPr lang="en-US" sz="2800" b="1" dirty="0"/>
              <a:t>supporting details </a:t>
            </a:r>
            <a:r>
              <a:rPr lang="en-US" sz="2800" dirty="0"/>
              <a:t>in a particular order…thus creating a pattern</a:t>
            </a:r>
          </a:p>
          <a:p>
            <a:pPr>
              <a:defRPr/>
            </a:pPr>
            <a:r>
              <a:rPr lang="en-US" sz="2800" dirty="0"/>
              <a:t>Patterns are how the groups of supporting details are organized </a:t>
            </a:r>
          </a:p>
          <a:p>
            <a:pPr eaLnBrk="1" hangingPunct="1">
              <a:defRPr/>
            </a:pPr>
            <a:r>
              <a:rPr lang="en-US" sz="2800" dirty="0"/>
              <a:t>Recognizing the patterns, of the organization of the supporting details, will help </a:t>
            </a:r>
          </a:p>
          <a:p>
            <a:pPr lvl="1">
              <a:defRPr/>
            </a:pPr>
            <a:r>
              <a:rPr lang="en-US" sz="2800" dirty="0"/>
              <a:t>understand how an author thinks</a:t>
            </a:r>
          </a:p>
          <a:p>
            <a:pPr lvl="1" eaLnBrk="1" hangingPunct="1">
              <a:defRPr/>
            </a:pPr>
            <a:r>
              <a:rPr lang="en-US" sz="2800" dirty="0"/>
              <a:t>logically order the information</a:t>
            </a:r>
          </a:p>
          <a:p>
            <a:pPr lvl="1" eaLnBrk="1" hangingPunct="1">
              <a:defRPr/>
            </a:pPr>
            <a:r>
              <a:rPr lang="en-US" sz="2800" dirty="0"/>
              <a:t>begin predicting test questions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2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48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800" y="351367"/>
            <a:ext cx="8046000" cy="992400"/>
          </a:xfrm>
        </p:spPr>
        <p:txBody>
          <a:bodyPr/>
          <a:lstStyle/>
          <a:p>
            <a:r>
              <a:rPr lang="en-US" sz="4267" b="1" dirty="0"/>
              <a:t>Types of Organizational Patterns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800" y="1967600"/>
            <a:ext cx="9565667" cy="4687200"/>
          </a:xfrm>
        </p:spPr>
        <p:txBody>
          <a:bodyPr/>
          <a:lstStyle/>
          <a:p>
            <a:pPr marL="711182" indent="-609585">
              <a:buFont typeface="+mj-lt"/>
              <a:buAutoNum type="arabicPeriod"/>
              <a:defRPr/>
            </a:pPr>
            <a:r>
              <a:rPr lang="en-US" dirty="0"/>
              <a:t>Chronological Order</a:t>
            </a:r>
          </a:p>
          <a:p>
            <a:pPr marL="711182" indent="-609585">
              <a:buFont typeface="+mj-lt"/>
              <a:buAutoNum type="arabicPeriod"/>
              <a:defRPr/>
            </a:pPr>
            <a:r>
              <a:rPr lang="en-US" dirty="0"/>
              <a:t>Definition and Example</a:t>
            </a:r>
          </a:p>
          <a:p>
            <a:pPr marL="711182" indent="-609585">
              <a:buFont typeface="+mj-lt"/>
              <a:buAutoNum type="arabicPeriod"/>
              <a:defRPr/>
            </a:pPr>
            <a:r>
              <a:rPr lang="en-US" dirty="0"/>
              <a:t>Cause and Effect</a:t>
            </a:r>
          </a:p>
          <a:p>
            <a:pPr marL="711182" indent="-609585">
              <a:buFont typeface="+mj-lt"/>
              <a:buAutoNum type="arabicPeriod"/>
              <a:defRPr/>
            </a:pPr>
            <a:r>
              <a:rPr lang="en-US" dirty="0"/>
              <a:t>Comparison and Contrast</a:t>
            </a:r>
          </a:p>
          <a:p>
            <a:pPr marL="711182" indent="-609585">
              <a:buFont typeface="+mj-lt"/>
              <a:buAutoNum type="arabicPeriod"/>
              <a:defRPr/>
            </a:pPr>
            <a:r>
              <a:rPr lang="en-US" dirty="0"/>
              <a:t>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3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4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Chronological 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800" y="1967599"/>
            <a:ext cx="9938200" cy="436553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also known as </a:t>
            </a:r>
            <a:r>
              <a:rPr lang="en-US" b="1" dirty="0"/>
              <a:t>time order, or sequence of events. </a:t>
            </a:r>
          </a:p>
          <a:p>
            <a:pPr eaLnBrk="1" hangingPunct="1">
              <a:defRPr/>
            </a:pPr>
            <a:r>
              <a:rPr lang="en-US" dirty="0"/>
              <a:t>ideas are presented in the order in which they occur or take place in time.</a:t>
            </a:r>
          </a:p>
          <a:p>
            <a:pPr eaLnBrk="1" hangingPunct="1">
              <a:defRPr/>
            </a:pPr>
            <a:r>
              <a:rPr lang="en-US" b="1" dirty="0"/>
              <a:t>Questions Answered:</a:t>
            </a:r>
          </a:p>
          <a:p>
            <a:pPr lvl="1" eaLnBrk="1" hangingPunct="1">
              <a:defRPr/>
            </a:pPr>
            <a:r>
              <a:rPr lang="en-US" dirty="0"/>
              <a:t>“When did it happen?”</a:t>
            </a:r>
          </a:p>
          <a:p>
            <a:pPr lvl="1" eaLnBrk="1" hangingPunct="1">
              <a:defRPr/>
            </a:pPr>
            <a:r>
              <a:rPr lang="en-US" dirty="0"/>
              <a:t>“In what order did it happen?”</a:t>
            </a:r>
          </a:p>
          <a:p>
            <a:pPr eaLnBrk="1" hangingPunct="1">
              <a:defRPr/>
            </a:pPr>
            <a:r>
              <a:rPr lang="en-US" b="1" dirty="0"/>
              <a:t>When Used:</a:t>
            </a:r>
          </a:p>
          <a:p>
            <a:pPr lvl="1" eaLnBrk="1" hangingPunct="1">
              <a:defRPr/>
            </a:pPr>
            <a:r>
              <a:rPr lang="en-US" dirty="0"/>
              <a:t>Commonly used in history and narratives.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4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00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533" y="0"/>
            <a:ext cx="8046000" cy="992400"/>
          </a:xfrm>
        </p:spPr>
        <p:txBody>
          <a:bodyPr/>
          <a:lstStyle/>
          <a:p>
            <a:r>
              <a:rPr lang="en-US" dirty="0"/>
              <a:t>Definition and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405467"/>
            <a:ext cx="9956800" cy="516466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found primarily in textbooks</a:t>
            </a:r>
          </a:p>
          <a:p>
            <a:pPr eaLnBrk="1" hangingPunct="1">
              <a:defRPr/>
            </a:pPr>
            <a:r>
              <a:rPr lang="en-US" dirty="0"/>
              <a:t>a word or concept is explained or described. An example of its use then follows.</a:t>
            </a:r>
          </a:p>
          <a:p>
            <a:pPr eaLnBrk="1" hangingPunct="1">
              <a:defRPr/>
            </a:pPr>
            <a:r>
              <a:rPr lang="en-US" dirty="0"/>
              <a:t>The pattern is very close to </a:t>
            </a:r>
            <a:r>
              <a:rPr lang="en-US" b="1" dirty="0"/>
              <a:t>Illustration </a:t>
            </a:r>
            <a:r>
              <a:rPr lang="en-US" dirty="0"/>
              <a:t>or </a:t>
            </a:r>
            <a:r>
              <a:rPr lang="en-US" b="1" dirty="0"/>
              <a:t>description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Readings answer the question: </a:t>
            </a:r>
            <a:r>
              <a:rPr lang="en-US" dirty="0"/>
              <a:t>“What is it?”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key term (often </a:t>
            </a:r>
            <a:r>
              <a:rPr lang="en-US" b="1" dirty="0"/>
              <a:t>boldfaced, </a:t>
            </a:r>
            <a:r>
              <a:rPr lang="en-US" dirty="0"/>
              <a:t>underlined or in italics)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definition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example</a:t>
            </a:r>
          </a:p>
          <a:p>
            <a:pPr eaLnBrk="1" hangingPunct="1">
              <a:defRPr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5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7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600" y="0"/>
            <a:ext cx="8046000" cy="992400"/>
          </a:xfrm>
        </p:spPr>
        <p:txBody>
          <a:bodyPr/>
          <a:lstStyle/>
          <a:p>
            <a:r>
              <a:rPr lang="en-US" dirty="0"/>
              <a:t>Definition and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6</a:t>
            </a:fld>
            <a:endParaRPr lang="en" kern="0">
              <a:solidFill>
                <a:srgbClr val="FFFFFF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0600" y="1456267"/>
            <a:ext cx="10683267" cy="5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Light"/>
              <a:buChar char="◦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indent="0" defTabSz="1219170">
              <a:lnSpc>
                <a:spcPct val="90000"/>
              </a:lnSpc>
              <a:spcBef>
                <a:spcPts val="800"/>
              </a:spcBef>
              <a:buClr>
                <a:srgbClr val="FF9F00"/>
              </a:buClr>
              <a:buNone/>
              <a:defRPr/>
            </a:pPr>
            <a:r>
              <a:rPr lang="en-US" sz="37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Ragtime music is a style that developed at the </a:t>
            </a:r>
            <a:r>
              <a:rPr lang="en-US" sz="3733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turn of the twentieth century</a:t>
            </a:r>
          </a:p>
          <a:p>
            <a:pPr marL="1219170" lvl="1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3467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TERM</a:t>
            </a:r>
          </a:p>
          <a:p>
            <a:pPr marL="1828754" lvl="2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9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Class Distinguishing</a:t>
            </a:r>
          </a:p>
          <a:p>
            <a:pPr marL="1828754" lvl="2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9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Characteristics</a:t>
            </a:r>
          </a:p>
          <a:p>
            <a:pPr marL="2438339" lvl="3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9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Examples</a:t>
            </a:r>
            <a:endParaRPr lang="en-US" sz="2533" kern="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19170" lvl="1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3467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RAGTIME</a:t>
            </a:r>
          </a:p>
          <a:p>
            <a:pPr marL="1828754" lvl="2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5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piano jazz</a:t>
            </a:r>
          </a:p>
          <a:p>
            <a:pPr marL="1828754" lvl="2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5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syncopated rhythm</a:t>
            </a:r>
          </a:p>
          <a:p>
            <a:pPr marL="2438339" lvl="3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r>
              <a:rPr lang="en-US" sz="2533" b="1" kern="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ex. Rocking Horse Rag</a:t>
            </a:r>
          </a:p>
          <a:p>
            <a:pPr marL="2438339" lvl="3" indent="-507987" defTabSz="1219170">
              <a:lnSpc>
                <a:spcPct val="90000"/>
              </a:lnSpc>
              <a:buClr>
                <a:srgbClr val="FF9F00"/>
              </a:buClr>
              <a:defRPr/>
            </a:pPr>
            <a:endParaRPr lang="en-US" sz="2533" kern="0" dirty="0">
              <a:solidFill>
                <a:srgbClr val="222222"/>
              </a:solidFill>
            </a:endParaRPr>
          </a:p>
          <a:p>
            <a:pPr marL="609585" indent="-507987" defTabSz="1219170">
              <a:lnSpc>
                <a:spcPct val="90000"/>
              </a:lnSpc>
              <a:spcBef>
                <a:spcPts val="800"/>
              </a:spcBef>
              <a:buClr>
                <a:srgbClr val="FF9F00"/>
              </a:buClr>
              <a:defRPr/>
            </a:pPr>
            <a:endParaRPr lang="en-US" sz="4000" kern="0" dirty="0">
              <a:solidFill>
                <a:srgbClr val="222222"/>
              </a:solidFill>
            </a:endParaRPr>
          </a:p>
          <a:p>
            <a:pPr marL="609585" indent="-507987" defTabSz="1219170">
              <a:lnSpc>
                <a:spcPct val="90000"/>
              </a:lnSpc>
              <a:spcBef>
                <a:spcPts val="800"/>
              </a:spcBef>
              <a:buClr>
                <a:srgbClr val="FF9F00"/>
              </a:buClr>
              <a:defRPr/>
            </a:pPr>
            <a:endParaRPr lang="en-US" sz="4000" kern="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4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33" y="0"/>
            <a:ext cx="8046000" cy="992400"/>
          </a:xfrm>
        </p:spPr>
        <p:txBody>
          <a:bodyPr/>
          <a:lstStyle/>
          <a:p>
            <a:r>
              <a:rPr lang="en-US" dirty="0"/>
              <a:t>Cause and Effect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2399"/>
            <a:ext cx="12429067" cy="534073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/>
              <a:t>Describes or discusses an event or action that is caused by another event or action. On occasion, this pattern is also referred to as </a:t>
            </a:r>
            <a:r>
              <a:rPr lang="en-US" sz="2400" b="1" dirty="0"/>
              <a:t>result.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3600" b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3600" b="1" dirty="0"/>
              <a:t>cause-effect relationships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667" dirty="0"/>
              <a:t>single cause - single effect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667" dirty="0"/>
              <a:t>single cause - multiple effects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667" dirty="0"/>
              <a:t>multiple causes - single effect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667" dirty="0"/>
              <a:t>multiple causes - multiple effects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3600" b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3600" b="1" dirty="0"/>
              <a:t>Readings answer the questions: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“</a:t>
            </a:r>
            <a:r>
              <a:rPr lang="en-US" sz="2667" dirty="0"/>
              <a:t>Why did something happen?”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667" dirty="0"/>
              <a:t>“What were the results of a particular event?”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7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47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1117600"/>
            <a:ext cx="7010400" cy="523875"/>
          </a:xfrm>
        </p:spPr>
        <p:txBody>
          <a:bodyPr spcFirstLastPara="1" wrap="square" lIns="90000" tIns="46800" rIns="90000" bIns="46800" anchor="b" anchorCtr="0">
            <a:spAutoFit/>
          </a:bodyPr>
          <a:lstStyle/>
          <a:p>
            <a:pPr>
              <a:lnSpc>
                <a:spcPct val="93000"/>
              </a:lnSpc>
              <a:tabLst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3" algn="l"/>
                <a:tab pos="5943451" algn="l"/>
                <a:tab pos="6400640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  <a:defRPr/>
            </a:pPr>
            <a:r>
              <a:rPr lang="en-GB" dirty="0"/>
              <a:t>Focus on Effects</a:t>
            </a:r>
          </a:p>
        </p:txBody>
      </p:sp>
      <p:sp>
        <p:nvSpPr>
          <p:cNvPr id="11267" name="Oval 2"/>
          <p:cNvSpPr>
            <a:spLocks noChangeArrowheads="1"/>
          </p:cNvSpPr>
          <p:nvPr/>
        </p:nvSpPr>
        <p:spPr bwMode="auto">
          <a:xfrm>
            <a:off x="2895600" y="2895600"/>
            <a:ext cx="2286000" cy="1295400"/>
          </a:xfrm>
          <a:prstGeom prst="ellipse">
            <a:avLst/>
          </a:prstGeom>
          <a:solidFill>
            <a:srgbClr val="C9DDF1"/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3352800" y="3276601"/>
            <a:ext cx="1447800" cy="495265"/>
          </a:xfrm>
          <a:prstGeom prst="rect">
            <a:avLst/>
          </a:prstGeom>
          <a:solidFill>
            <a:srgbClr val="C9DDF1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6477000" y="22098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 #1</a:t>
            </a:r>
          </a:p>
        </p:txBody>
      </p:sp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6477000" y="32766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 #2</a:t>
            </a:r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6477000" y="44196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 #3</a:t>
            </a:r>
          </a:p>
        </p:txBody>
      </p:sp>
      <p:sp>
        <p:nvSpPr>
          <p:cNvPr id="11272" name="Line 7"/>
          <p:cNvSpPr>
            <a:spLocks noChangeShapeType="1"/>
          </p:cNvSpPr>
          <p:nvPr/>
        </p:nvSpPr>
        <p:spPr bwMode="auto">
          <a:xfrm flipV="1">
            <a:off x="5029200" y="2589214"/>
            <a:ext cx="1219200" cy="460375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73" name="Line 8"/>
          <p:cNvSpPr>
            <a:spLocks noChangeShapeType="1"/>
          </p:cNvSpPr>
          <p:nvPr/>
        </p:nvSpPr>
        <p:spPr bwMode="auto">
          <a:xfrm>
            <a:off x="5334000" y="3581401"/>
            <a:ext cx="838200" cy="1588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74" name="Line 9"/>
          <p:cNvSpPr>
            <a:spLocks noChangeShapeType="1"/>
          </p:cNvSpPr>
          <p:nvPr/>
        </p:nvSpPr>
        <p:spPr bwMode="auto">
          <a:xfrm>
            <a:off x="5029200" y="3962400"/>
            <a:ext cx="1371600" cy="533400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91400" y="0"/>
            <a:ext cx="43460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4000" b="1" kern="0" dirty="0">
                <a:solidFill>
                  <a:srgbClr val="FFFFFF">
                    <a:lumMod val="75000"/>
                  </a:srgbClr>
                </a:solidFill>
                <a:latin typeface="Arial"/>
                <a:cs typeface="Arial"/>
                <a:sym typeface="Arial"/>
              </a:rPr>
              <a:t>Cause and Effect</a:t>
            </a:r>
            <a:endParaRPr lang="en-US" sz="4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7565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419600" y="1192213"/>
            <a:ext cx="7772400" cy="523875"/>
          </a:xfrm>
        </p:spPr>
        <p:txBody>
          <a:bodyPr spcFirstLastPara="1" wrap="square" lIns="90000" tIns="46800" rIns="90000" bIns="46800" anchor="b" anchorCtr="0">
            <a:spAutoFit/>
          </a:bodyPr>
          <a:lstStyle/>
          <a:p>
            <a:pPr>
              <a:lnSpc>
                <a:spcPct val="93000"/>
              </a:lnSpc>
              <a:tabLst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3" algn="l"/>
                <a:tab pos="5943451" algn="l"/>
                <a:tab pos="6400640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  <a:defRPr/>
            </a:pPr>
            <a:r>
              <a:rPr lang="en-GB" dirty="0"/>
              <a:t>Focus on Causes</a:t>
            </a:r>
          </a:p>
        </p:txBody>
      </p:sp>
      <p:sp>
        <p:nvSpPr>
          <p:cNvPr id="13315" name="Oval 2"/>
          <p:cNvSpPr>
            <a:spLocks noChangeArrowheads="1"/>
          </p:cNvSpPr>
          <p:nvPr/>
        </p:nvSpPr>
        <p:spPr bwMode="auto">
          <a:xfrm>
            <a:off x="2895600" y="2895600"/>
            <a:ext cx="2286000" cy="1295400"/>
          </a:xfrm>
          <a:prstGeom prst="ellipse">
            <a:avLst/>
          </a:prstGeom>
          <a:solidFill>
            <a:srgbClr val="C9DDF1"/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3352800" y="3276600"/>
            <a:ext cx="1600200" cy="495265"/>
          </a:xfrm>
          <a:prstGeom prst="rect">
            <a:avLst/>
          </a:prstGeom>
          <a:solidFill>
            <a:srgbClr val="C9DDF1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6477000" y="22098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 #1</a:t>
            </a: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6477000" y="32766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 #2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6477000" y="4419601"/>
            <a:ext cx="1981200" cy="49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 #3</a:t>
            </a:r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 flipV="1">
            <a:off x="5029200" y="2589214"/>
            <a:ext cx="1219200" cy="460375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>
            <a:off x="5334000" y="3581401"/>
            <a:ext cx="838200" cy="1588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22" name="Line 9"/>
          <p:cNvSpPr>
            <a:spLocks noChangeShapeType="1"/>
          </p:cNvSpPr>
          <p:nvPr/>
        </p:nvSpPr>
        <p:spPr bwMode="auto">
          <a:xfrm>
            <a:off x="5029200" y="3962400"/>
            <a:ext cx="1371600" cy="533400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91400" y="0"/>
            <a:ext cx="43460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4000" b="1" kern="0" dirty="0">
                <a:solidFill>
                  <a:srgbClr val="FFFFFF">
                    <a:lumMod val="75000"/>
                  </a:srgbClr>
                </a:solidFill>
                <a:latin typeface="Arial"/>
                <a:cs typeface="Arial"/>
                <a:sym typeface="Arial"/>
              </a:rPr>
              <a:t>Cause and Effect</a:t>
            </a:r>
            <a:endParaRPr lang="en-US" sz="4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71117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419600" y="1074738"/>
            <a:ext cx="7772400" cy="523875"/>
          </a:xfrm>
        </p:spPr>
        <p:txBody>
          <a:bodyPr spcFirstLastPara="1" wrap="square" lIns="90000" tIns="46800" rIns="90000" bIns="46800" anchor="b" anchorCtr="0">
            <a:spAutoFit/>
          </a:bodyPr>
          <a:lstStyle/>
          <a:p>
            <a:pPr>
              <a:lnSpc>
                <a:spcPct val="93000"/>
              </a:lnSpc>
              <a:tabLst>
                <a:tab pos="0" algn="l"/>
                <a:tab pos="457189" algn="l"/>
                <a:tab pos="914377" algn="l"/>
                <a:tab pos="1371566" algn="l"/>
                <a:tab pos="1828754" algn="l"/>
                <a:tab pos="2285943" algn="l"/>
                <a:tab pos="2743131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3" algn="l"/>
                <a:tab pos="5943451" algn="l"/>
                <a:tab pos="6400640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  <a:defRPr/>
            </a:pPr>
            <a:r>
              <a:rPr lang="en-GB" dirty="0"/>
              <a:t>Cause and Effect Chain</a:t>
            </a:r>
          </a:p>
        </p:txBody>
      </p:sp>
      <p:sp>
        <p:nvSpPr>
          <p:cNvPr id="15363" name="Oval 2"/>
          <p:cNvSpPr>
            <a:spLocks noChangeArrowheads="1"/>
          </p:cNvSpPr>
          <p:nvPr/>
        </p:nvSpPr>
        <p:spPr bwMode="auto">
          <a:xfrm>
            <a:off x="7010400" y="2514600"/>
            <a:ext cx="2286000" cy="1295400"/>
          </a:xfrm>
          <a:prstGeom prst="ellipse">
            <a:avLst/>
          </a:prstGeom>
          <a:solidFill>
            <a:srgbClr val="C9DDF1"/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7315200" y="2895600"/>
            <a:ext cx="1600200" cy="495265"/>
          </a:xfrm>
          <a:prstGeom prst="rect">
            <a:avLst/>
          </a:prstGeom>
          <a:solidFill>
            <a:srgbClr val="C9DDF1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</a:t>
            </a:r>
          </a:p>
        </p:txBody>
      </p:sp>
      <p:sp>
        <p:nvSpPr>
          <p:cNvPr id="15365" name="Oval 4"/>
          <p:cNvSpPr>
            <a:spLocks noChangeArrowheads="1"/>
          </p:cNvSpPr>
          <p:nvPr/>
        </p:nvSpPr>
        <p:spPr bwMode="auto">
          <a:xfrm>
            <a:off x="7162800" y="4648200"/>
            <a:ext cx="2286000" cy="1295400"/>
          </a:xfrm>
          <a:prstGeom prst="ellipse">
            <a:avLst/>
          </a:prstGeom>
          <a:solidFill>
            <a:srgbClr val="C9DDF1"/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7620000" y="5029200"/>
            <a:ext cx="1600200" cy="495265"/>
          </a:xfrm>
          <a:prstGeom prst="rect">
            <a:avLst/>
          </a:prstGeom>
          <a:solidFill>
            <a:srgbClr val="C9DDF1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EFFECT</a:t>
            </a:r>
          </a:p>
        </p:txBody>
      </p:sp>
      <p:sp>
        <p:nvSpPr>
          <p:cNvPr id="15367" name="Oval 6"/>
          <p:cNvSpPr>
            <a:spLocks noChangeArrowheads="1"/>
          </p:cNvSpPr>
          <p:nvPr/>
        </p:nvSpPr>
        <p:spPr bwMode="auto">
          <a:xfrm>
            <a:off x="3048000" y="1981200"/>
            <a:ext cx="2286000" cy="1295400"/>
          </a:xfrm>
          <a:prstGeom prst="ellipse">
            <a:avLst/>
          </a:prstGeom>
          <a:solidFill>
            <a:srgbClr val="CC99FF">
              <a:alpha val="50195"/>
            </a:srgbClr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5368" name="Text Box 7"/>
          <p:cNvSpPr txBox="1">
            <a:spLocks noChangeArrowheads="1"/>
          </p:cNvSpPr>
          <p:nvPr/>
        </p:nvSpPr>
        <p:spPr bwMode="auto">
          <a:xfrm>
            <a:off x="3505200" y="2362201"/>
            <a:ext cx="1447800" cy="495265"/>
          </a:xfrm>
          <a:prstGeom prst="rect">
            <a:avLst/>
          </a:prstGeom>
          <a:solidFill>
            <a:srgbClr val="CC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</a:t>
            </a:r>
          </a:p>
        </p:txBody>
      </p:sp>
      <p:sp>
        <p:nvSpPr>
          <p:cNvPr id="15369" name="Oval 8"/>
          <p:cNvSpPr>
            <a:spLocks noChangeArrowheads="1"/>
          </p:cNvSpPr>
          <p:nvPr/>
        </p:nvSpPr>
        <p:spPr bwMode="auto">
          <a:xfrm>
            <a:off x="3048000" y="3962400"/>
            <a:ext cx="2286000" cy="1295400"/>
          </a:xfrm>
          <a:prstGeom prst="ellipse">
            <a:avLst/>
          </a:prstGeom>
          <a:solidFill>
            <a:srgbClr val="CC99FF">
              <a:alpha val="50195"/>
            </a:srgbClr>
          </a:solidFill>
          <a:ln w="9360">
            <a:solidFill>
              <a:srgbClr val="5B524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spcBef>
                <a:spcPct val="0"/>
              </a:spcBef>
              <a:buClrTx/>
              <a:buSzTx/>
              <a:buNone/>
            </a:pPr>
            <a:endParaRPr lang="en-US" altLang="en-US" sz="1800" kern="0">
              <a:solidFill>
                <a:srgbClr val="22222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3505200" y="4343401"/>
            <a:ext cx="1447800" cy="495265"/>
          </a:xfrm>
          <a:prstGeom prst="rect">
            <a:avLst/>
          </a:prstGeom>
          <a:solidFill>
            <a:srgbClr val="CC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1219170">
              <a:lnSpc>
                <a:spcPct val="93000"/>
              </a:lnSpc>
              <a:spcBef>
                <a:spcPts val="1751"/>
              </a:spcBef>
              <a:buClrTx/>
              <a:buSzTx/>
              <a:buNone/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GB" altLang="en-US" sz="2800" kern="0">
                <a:solidFill>
                  <a:srgbClr val="5B5249"/>
                </a:solidFill>
                <a:latin typeface="Calibri" panose="020F0502020204030204" pitchFamily="34" charset="0"/>
                <a:cs typeface="Arial"/>
                <a:sym typeface="Arial"/>
              </a:rPr>
              <a:t>CAUSE</a:t>
            </a:r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>
            <a:off x="5410200" y="2743200"/>
            <a:ext cx="1447800" cy="304800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72" name="Line 11"/>
          <p:cNvSpPr>
            <a:spLocks noChangeShapeType="1"/>
          </p:cNvSpPr>
          <p:nvPr/>
        </p:nvSpPr>
        <p:spPr bwMode="auto">
          <a:xfrm flipH="1">
            <a:off x="5332414" y="3581400"/>
            <a:ext cx="1831975" cy="838200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>
            <a:off x="5334000" y="4800600"/>
            <a:ext cx="1752600" cy="381000"/>
          </a:xfrm>
          <a:prstGeom prst="line">
            <a:avLst/>
          </a:prstGeom>
          <a:noFill/>
          <a:ln w="9360">
            <a:solidFill>
              <a:srgbClr val="5B524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91400" y="0"/>
            <a:ext cx="43460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4000" b="1" kern="0" dirty="0">
                <a:solidFill>
                  <a:srgbClr val="FFFFFF">
                    <a:lumMod val="75000"/>
                  </a:srgbClr>
                </a:solidFill>
                <a:latin typeface="Arial"/>
                <a:cs typeface="Arial"/>
                <a:sym typeface="Arial"/>
              </a:rPr>
              <a:t>Cause and Effect</a:t>
            </a:r>
            <a:endParaRPr lang="en-US" sz="4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60637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000" y="-321733"/>
            <a:ext cx="8046000" cy="992400"/>
          </a:xfrm>
        </p:spPr>
        <p:txBody>
          <a:bodyPr/>
          <a:lstStyle/>
          <a:p>
            <a:r>
              <a:rPr lang="en-US" dirty="0"/>
              <a:t>Comparison and Contrast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85535"/>
            <a:ext cx="12326355" cy="6058667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667" dirty="0"/>
              <a:t>Text is organized to show relationship between two objects</a:t>
            </a:r>
          </a:p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667" dirty="0"/>
              <a:t>emphasizes the similarities and/or differences  between two or more items or topics..</a:t>
            </a:r>
          </a:p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667" dirty="0"/>
              <a:t>Results in a meaningful analysis of what these differences and similarities mean</a:t>
            </a:r>
          </a:p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667" b="1" dirty="0"/>
              <a:t>comparison means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what things have in common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how items or concepts are alike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the similarities between elements or ideas</a:t>
            </a:r>
          </a:p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667" b="1" dirty="0"/>
              <a:t>contrast means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667" dirty="0"/>
              <a:t> </a:t>
            </a:r>
            <a:r>
              <a:rPr lang="en-US" dirty="0"/>
              <a:t>the differences between items or concepts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how things are not alike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distinctions between elements</a:t>
            </a:r>
          </a:p>
          <a:p>
            <a:pPr>
              <a:spcBef>
                <a:spcPts val="0"/>
              </a:spcBef>
              <a:defRPr/>
            </a:pPr>
            <a:r>
              <a:rPr lang="en-US" sz="2667" b="1" dirty="0">
                <a:solidFill>
                  <a:schemeClr val="tx1"/>
                </a:solidFill>
              </a:rPr>
              <a:t>Readings answer the questions:</a:t>
            </a:r>
          </a:p>
          <a:p>
            <a:pPr lvl="1">
              <a:defRPr/>
            </a:pPr>
            <a:r>
              <a:rPr lang="en-US" sz="2667" dirty="0">
                <a:solidFill>
                  <a:schemeClr val="tx1"/>
                </a:solidFill>
              </a:rPr>
              <a:t>“How are these similar?”</a:t>
            </a:r>
          </a:p>
          <a:p>
            <a:pPr lvl="1">
              <a:defRPr/>
            </a:pPr>
            <a:r>
              <a:rPr lang="en-US" sz="2667" dirty="0">
                <a:solidFill>
                  <a:schemeClr val="tx1"/>
                </a:solidFill>
              </a:rPr>
              <a:t>“How are these different?”</a:t>
            </a:r>
          </a:p>
          <a:p>
            <a:pPr>
              <a:spcBef>
                <a:spcPts val="0"/>
              </a:spcBef>
              <a:defRPr/>
            </a:pPr>
            <a:r>
              <a:rPr lang="en-US" sz="2667" b="1" dirty="0">
                <a:solidFill>
                  <a:schemeClr val="accent1"/>
                </a:solidFill>
              </a:rPr>
              <a:t>Thesis: Gangs and fraternities share many </a:t>
            </a:r>
            <a:r>
              <a:rPr lang="en-US" sz="2667" dirty="0">
                <a:solidFill>
                  <a:schemeClr val="accent1"/>
                </a:solidFill>
              </a:rPr>
              <a:t>characteristics, but are quite different.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11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18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67" y="54199"/>
            <a:ext cx="8046000" cy="992400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400" y="1273333"/>
            <a:ext cx="10984045" cy="544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The information explains the steps in a particular procedure or process.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The steps and stages lead up to a final product or finished project.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Answers the questions: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“How does x become y?”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“In what sequence?”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In order to drive a car, everyone must </a:t>
            </a:r>
            <a:r>
              <a:rPr lang="en-US" dirty="0"/>
              <a:t>follow the steps which the state requires for a license.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12</a:t>
            </a:fld>
            <a:endParaRPr lang="en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66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13</a:t>
            </a:fld>
            <a:endParaRPr kern="0">
              <a:solidFill>
                <a:srgbClr val="FFFFFF"/>
              </a:solidFill>
            </a:endParaRPr>
          </a:p>
        </p:txBody>
      </p:sp>
      <p:sp>
        <p:nvSpPr>
          <p:cNvPr id="327" name="Google Shape;327;p34"/>
          <p:cNvSpPr txBox="1">
            <a:spLocks noGrp="1"/>
          </p:cNvSpPr>
          <p:nvPr>
            <p:ph type="ctrTitle" idx="4294967295"/>
          </p:nvPr>
        </p:nvSpPr>
        <p:spPr>
          <a:xfrm>
            <a:off x="928047" y="610525"/>
            <a:ext cx="8791575" cy="154622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8000" dirty="0">
                <a:solidFill>
                  <a:schemeClr val="accent1"/>
                </a:solidFill>
              </a:rPr>
              <a:t>Thanks!</a:t>
            </a:r>
            <a:endParaRPr sz="8000" dirty="0">
              <a:solidFill>
                <a:schemeClr val="accent1"/>
              </a:solidFill>
            </a:endParaRPr>
          </a:p>
        </p:txBody>
      </p:sp>
      <p:sp>
        <p:nvSpPr>
          <p:cNvPr id="328" name="Google Shape;328;p34"/>
          <p:cNvSpPr txBox="1">
            <a:spLocks noGrp="1"/>
          </p:cNvSpPr>
          <p:nvPr>
            <p:ph type="subTitle" idx="4294967295"/>
          </p:nvPr>
        </p:nvSpPr>
        <p:spPr>
          <a:xfrm>
            <a:off x="1700212" y="2966280"/>
            <a:ext cx="8791575" cy="25114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" sz="4800" b="1" dirty="0">
                <a:latin typeface="Lato"/>
                <a:ea typeface="Lato"/>
                <a:cs typeface="Lato"/>
                <a:sym typeface="Lato"/>
              </a:rPr>
              <a:t>Any questions?</a:t>
            </a:r>
            <a:endParaRPr sz="4800" b="1"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</TotalTime>
  <Words>518</Words>
  <Application>Microsoft Office PowerPoint</Application>
  <PresentationFormat>Widescreen</PresentationFormat>
  <Paragraphs>105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Lato</vt:lpstr>
      <vt:lpstr>Lato Light</vt:lpstr>
      <vt:lpstr>Rockwell</vt:lpstr>
      <vt:lpstr>Rockwell Condensed</vt:lpstr>
      <vt:lpstr>Wingdings</vt:lpstr>
      <vt:lpstr>Wood Type</vt:lpstr>
      <vt:lpstr>Patterns of Organization</vt:lpstr>
      <vt:lpstr>PowerPoint Presentation</vt:lpstr>
      <vt:lpstr>Types of Organizational Patterns</vt:lpstr>
      <vt:lpstr>Chronological Order</vt:lpstr>
      <vt:lpstr>Definition and Example</vt:lpstr>
      <vt:lpstr>Definition and Example</vt:lpstr>
      <vt:lpstr>Cause and Effect</vt:lpstr>
      <vt:lpstr>Focus on Effects</vt:lpstr>
      <vt:lpstr>Focus on Causes</vt:lpstr>
      <vt:lpstr>Cause and Effect Chain</vt:lpstr>
      <vt:lpstr>Comparison and Contrast</vt:lpstr>
      <vt:lpstr>Process</vt:lpstr>
      <vt:lpstr>Thanks!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 of Organization</dc:title>
  <dc:creator>H.I. Butt</dc:creator>
  <cp:lastModifiedBy>Windows User</cp:lastModifiedBy>
  <cp:revision>2</cp:revision>
  <dcterms:created xsi:type="dcterms:W3CDTF">2022-09-02T10:19:45Z</dcterms:created>
  <dcterms:modified xsi:type="dcterms:W3CDTF">2023-08-23T10:15:52Z</dcterms:modified>
</cp:coreProperties>
</file>