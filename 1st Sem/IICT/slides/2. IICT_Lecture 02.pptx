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8" r:id="rId4"/>
    <p:sldId id="267" r:id="rId5"/>
    <p:sldId id="269" r:id="rId6"/>
    <p:sldId id="270" r:id="rId7"/>
    <p:sldId id="271" r:id="rId8"/>
    <p:sldId id="274" r:id="rId9"/>
    <p:sldId id="272" r:id="rId10"/>
    <p:sldId id="273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7" r:id="rId22"/>
    <p:sldId id="286" r:id="rId23"/>
    <p:sldId id="285" r:id="rId24"/>
    <p:sldId id="288" r:id="rId25"/>
    <p:sldId id="289" r:id="rId26"/>
    <p:sldId id="291" r:id="rId27"/>
    <p:sldId id="290" r:id="rId28"/>
    <p:sldId id="292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94" autoAdjust="0"/>
    <p:restoredTop sz="94660"/>
  </p:normalViewPr>
  <p:slideViewPr>
    <p:cSldViewPr snapToGrid="0">
      <p:cViewPr varScale="1">
        <p:scale>
          <a:sx n="81" d="100"/>
          <a:sy n="81" d="100"/>
        </p:scale>
        <p:origin x="8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 /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02</a:t>
            </a:r>
            <a:br>
              <a:rPr lang="en-US" dirty="0"/>
            </a:br>
            <a:r>
              <a:rPr lang="en-US" sz="1800" dirty="0">
                <a:solidFill>
                  <a:srgbClr val="FF0000"/>
                </a:solidFill>
              </a:rPr>
              <a:t>Path to Lecture Folder: </a:t>
            </a:r>
            <a:r>
              <a:rPr lang="en-US" sz="2000" dirty="0">
                <a:solidFill>
                  <a:srgbClr val="0070C0"/>
                </a:solidFill>
              </a:rPr>
              <a:t>\\sandata\Xeon\Fall 2018\Bismillah Jan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527352"/>
            <a:ext cx="7766936" cy="1096899"/>
          </a:xfrm>
        </p:spPr>
        <p:txBody>
          <a:bodyPr>
            <a:normAutofit/>
          </a:bodyPr>
          <a:lstStyle/>
          <a:p>
            <a:r>
              <a:rPr lang="en-US" sz="2400" b="1" dirty="0"/>
              <a:t>Data Representation and Number System</a:t>
            </a:r>
          </a:p>
        </p:txBody>
      </p:sp>
    </p:spTree>
    <p:extLst>
      <p:ext uri="{BB962C8B-B14F-4D97-AF65-F5344CB8AC3E}">
        <p14:creationId xmlns:p14="http://schemas.microsoft.com/office/powerpoint/2010/main" val="2496461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Computers Process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06828"/>
            <a:ext cx="8596668" cy="5151549"/>
          </a:xfrm>
        </p:spPr>
        <p:txBody>
          <a:bodyPr>
            <a:noAutofit/>
          </a:bodyPr>
          <a:lstStyle/>
          <a:p>
            <a:r>
              <a:rPr lang="en-US" sz="2800" dirty="0"/>
              <a:t>Computers are used to process all types of information in a broad spectrum fields. For example </a:t>
            </a:r>
          </a:p>
          <a:p>
            <a:pPr lvl="1"/>
            <a:r>
              <a:rPr lang="en-US" sz="2800" dirty="0"/>
              <a:t> </a:t>
            </a:r>
            <a:r>
              <a:rPr lang="en-US" sz="2400" b="1" dirty="0"/>
              <a:t>Numeric data</a:t>
            </a:r>
            <a:r>
              <a:rPr lang="en-US" sz="2400" dirty="0"/>
              <a:t> consisting of Integers and real numbers are used in programs calculating payroll. We typically perform </a:t>
            </a:r>
            <a:r>
              <a:rPr lang="en-US" sz="2400" b="1" dirty="0"/>
              <a:t>arithmetic</a:t>
            </a:r>
            <a:r>
              <a:rPr lang="en-US" sz="2400" dirty="0"/>
              <a:t> </a:t>
            </a:r>
            <a:r>
              <a:rPr lang="en-US" sz="2400" b="1" dirty="0"/>
              <a:t>operations</a:t>
            </a:r>
            <a:r>
              <a:rPr lang="en-US" sz="2400" dirty="0"/>
              <a:t> on numeric data.</a:t>
            </a:r>
          </a:p>
          <a:p>
            <a:pPr lvl="1"/>
            <a:endParaRPr lang="en-US" sz="2400" dirty="0"/>
          </a:p>
          <a:p>
            <a:pPr lvl="1"/>
            <a:r>
              <a:rPr lang="en-US" sz="2400" b="1" dirty="0"/>
              <a:t>Strings</a:t>
            </a:r>
            <a:r>
              <a:rPr lang="en-US" sz="2400" dirty="0"/>
              <a:t> of </a:t>
            </a:r>
            <a:r>
              <a:rPr lang="en-US" sz="2400" b="1" dirty="0"/>
              <a:t>alphabets</a:t>
            </a:r>
            <a:r>
              <a:rPr lang="en-US" sz="2400" dirty="0"/>
              <a:t> and numbers (</a:t>
            </a:r>
            <a:r>
              <a:rPr lang="en-US" sz="2400" b="1" dirty="0"/>
              <a:t>Alphanumeric Data</a:t>
            </a:r>
            <a:r>
              <a:rPr lang="en-US" sz="2400" dirty="0"/>
              <a:t>) are processed in customer record keeping systems.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78120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Computers Process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06828"/>
            <a:ext cx="8596668" cy="5151549"/>
          </a:xfrm>
        </p:spPr>
        <p:txBody>
          <a:bodyPr>
            <a:noAutofit/>
          </a:bodyPr>
          <a:lstStyle/>
          <a:p>
            <a:r>
              <a:rPr lang="en-US" sz="2400" dirty="0"/>
              <a:t>Multimedia content including </a:t>
            </a:r>
            <a:r>
              <a:rPr lang="en-US" sz="2400" b="1" dirty="0"/>
              <a:t>images</a:t>
            </a:r>
            <a:r>
              <a:rPr lang="en-US" sz="2400" dirty="0"/>
              <a:t>, </a:t>
            </a:r>
            <a:r>
              <a:rPr lang="en-US" sz="2400" b="1" dirty="0"/>
              <a:t>sound</a:t>
            </a:r>
            <a:r>
              <a:rPr lang="en-US" sz="2400" dirty="0"/>
              <a:t> and </a:t>
            </a:r>
            <a:r>
              <a:rPr lang="en-US" sz="2400" b="1" dirty="0"/>
              <a:t>text</a:t>
            </a:r>
            <a:r>
              <a:rPr lang="en-US" sz="2400" dirty="0"/>
              <a:t> are frequently used in a large collection of application areas.</a:t>
            </a:r>
          </a:p>
          <a:p>
            <a:endParaRPr lang="en-US" sz="2400" b="1" dirty="0"/>
          </a:p>
          <a:p>
            <a:r>
              <a:rPr lang="en-US" sz="2400" b="1" dirty="0"/>
              <a:t>Signals</a:t>
            </a:r>
            <a:r>
              <a:rPr lang="en-US" sz="2400" dirty="0"/>
              <a:t> representing various types of information like </a:t>
            </a:r>
            <a:r>
              <a:rPr lang="en-US" sz="2400" b="1" dirty="0"/>
              <a:t>temperature</a:t>
            </a:r>
            <a:r>
              <a:rPr lang="en-US" sz="2400" dirty="0"/>
              <a:t>, </a:t>
            </a:r>
            <a:r>
              <a:rPr lang="en-US" sz="2400" b="1" dirty="0"/>
              <a:t>pressure</a:t>
            </a:r>
            <a:r>
              <a:rPr lang="en-US" sz="2400" dirty="0"/>
              <a:t>, </a:t>
            </a:r>
            <a:r>
              <a:rPr lang="en-US" sz="2400" b="1" dirty="0"/>
              <a:t>presence or absence of objects</a:t>
            </a:r>
            <a:r>
              <a:rPr lang="en-US" sz="2400" dirty="0"/>
              <a:t> etc. are processed by computers in Robotics, </a:t>
            </a:r>
            <a:r>
              <a:rPr lang="en-US" sz="2400" dirty="0" err="1"/>
              <a:t>IoT</a:t>
            </a:r>
            <a:r>
              <a:rPr lang="en-US" sz="2400" dirty="0"/>
              <a:t>, monitoring and control applications.</a:t>
            </a:r>
          </a:p>
          <a:p>
            <a:endParaRPr lang="en-US" sz="2000" dirty="0"/>
          </a:p>
          <a:p>
            <a:r>
              <a:rPr lang="en-US" sz="20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22802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store data in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29523"/>
            <a:ext cx="8596668" cy="4948551"/>
          </a:xfrm>
        </p:spPr>
        <p:txBody>
          <a:bodyPr>
            <a:normAutofit/>
          </a:bodyPr>
          <a:lstStyle/>
          <a:p>
            <a:r>
              <a:rPr lang="en-US" sz="2400" dirty="0"/>
              <a:t>Digital computers have been made such that all data and instructions(program) for processing must be stored in computers memory before processing.</a:t>
            </a:r>
          </a:p>
          <a:p>
            <a:endParaRPr lang="en-US" sz="2400" dirty="0"/>
          </a:p>
          <a:p>
            <a:pPr algn="just"/>
            <a:r>
              <a:rPr lang="en-US" sz="2400" b="1" dirty="0"/>
              <a:t>TODAY WE ARE GOING TO LEARN HOW VARIOUS TYPES OF DATA/INFORMATION IS REPRESENTED IN A MODERN COMPUTER’S MEMORY AND SOME IDEA OF HOW THE PROCESSING IS DONE.</a:t>
            </a:r>
          </a:p>
        </p:txBody>
      </p:sp>
    </p:spTree>
    <p:extLst>
      <p:ext uri="{BB962C8B-B14F-4D97-AF65-F5344CB8AC3E}">
        <p14:creationId xmlns:p14="http://schemas.microsoft.com/office/powerpoint/2010/main" val="2182543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5713"/>
          </a:xfrm>
        </p:spPr>
        <p:txBody>
          <a:bodyPr>
            <a:normAutofit/>
          </a:bodyPr>
          <a:lstStyle/>
          <a:p>
            <a:r>
              <a:rPr lang="en-US" dirty="0"/>
              <a:t>WHAT IS Random Access MEMORY(RAM)?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96981"/>
            <a:ext cx="8596668" cy="4444382"/>
          </a:xfrm>
        </p:spPr>
        <p:txBody>
          <a:bodyPr>
            <a:normAutofit/>
          </a:bodyPr>
          <a:lstStyle/>
          <a:p>
            <a:r>
              <a:rPr lang="en-US" sz="2400" dirty="0"/>
              <a:t>A computer scientists view memory as a sequence of </a:t>
            </a:r>
            <a:r>
              <a:rPr lang="en-US" sz="2400" b="1" dirty="0"/>
              <a:t>Bytes</a:t>
            </a:r>
            <a:r>
              <a:rPr lang="en-US" sz="2400" dirty="0"/>
              <a:t> with each byte having a unique </a:t>
            </a:r>
            <a:r>
              <a:rPr lang="en-US" sz="2400" b="1" dirty="0"/>
              <a:t>address</a:t>
            </a:r>
            <a:r>
              <a:rPr lang="en-US" sz="2400" dirty="0"/>
              <a:t>.</a:t>
            </a:r>
          </a:p>
          <a:p>
            <a:pPr lvl="1"/>
            <a:r>
              <a:rPr lang="en-US" sz="2200" dirty="0"/>
              <a:t>Byte is enough </a:t>
            </a:r>
            <a:r>
              <a:rPr lang="en-US" sz="2200" b="1" dirty="0"/>
              <a:t>space</a:t>
            </a:r>
            <a:r>
              <a:rPr lang="en-US" sz="2200" dirty="0"/>
              <a:t> to store a alphabet/character.</a:t>
            </a:r>
          </a:p>
          <a:p>
            <a:endParaRPr lang="en-US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261" y="2944169"/>
            <a:ext cx="9159502" cy="388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954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5561"/>
          </a:xfrm>
        </p:spPr>
        <p:txBody>
          <a:bodyPr/>
          <a:lstStyle/>
          <a:p>
            <a:r>
              <a:rPr lang="en-US" dirty="0"/>
              <a:t>What is inside a Byte?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632555"/>
            <a:ext cx="9007579" cy="5012944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Byte is enough </a:t>
            </a:r>
            <a:r>
              <a:rPr lang="en-US" sz="2400" b="1" dirty="0"/>
              <a:t>space</a:t>
            </a:r>
            <a:r>
              <a:rPr lang="en-US" sz="2400" dirty="0"/>
              <a:t> to store a alphabet/character.</a:t>
            </a:r>
          </a:p>
          <a:p>
            <a:endParaRPr lang="en-US" sz="2400" dirty="0"/>
          </a:p>
          <a:p>
            <a:r>
              <a:rPr lang="en-US" sz="2400" dirty="0"/>
              <a:t>We view a byte consisting of eight </a:t>
            </a:r>
            <a:r>
              <a:rPr lang="en-US" sz="2400" b="1" dirty="0"/>
              <a:t>bi-state</a:t>
            </a:r>
            <a:r>
              <a:rPr lang="en-US" sz="2400" dirty="0"/>
              <a:t> </a:t>
            </a:r>
            <a:r>
              <a:rPr lang="en-US" sz="2400" b="1" dirty="0"/>
              <a:t>circuits/switches </a:t>
            </a:r>
          </a:p>
          <a:p>
            <a:r>
              <a:rPr lang="en-US" sz="2400" b="1" dirty="0"/>
              <a:t>E</a:t>
            </a:r>
            <a:r>
              <a:rPr lang="en-US" sz="2400" dirty="0"/>
              <a:t>ach </a:t>
            </a:r>
            <a:r>
              <a:rPr lang="en-US" sz="2400" b="1" dirty="0"/>
              <a:t>circuit/switch</a:t>
            </a:r>
            <a:r>
              <a:rPr lang="en-US" sz="2400" dirty="0"/>
              <a:t> can either be in the </a:t>
            </a:r>
            <a:r>
              <a:rPr lang="en-US" sz="2400" b="1" dirty="0"/>
              <a:t>ON</a:t>
            </a:r>
            <a:r>
              <a:rPr lang="en-US" sz="2400" dirty="0"/>
              <a:t> state or </a:t>
            </a:r>
            <a:r>
              <a:rPr lang="en-US" sz="2400" b="1" dirty="0"/>
              <a:t>OFF</a:t>
            </a:r>
            <a:r>
              <a:rPr lang="en-US" sz="2400" dirty="0"/>
              <a:t> state or it hold either </a:t>
            </a:r>
            <a:r>
              <a:rPr lang="en-US" sz="2400" b="1" dirty="0"/>
              <a:t>positive</a:t>
            </a:r>
            <a:r>
              <a:rPr lang="en-US" sz="2400" dirty="0"/>
              <a:t> </a:t>
            </a:r>
            <a:r>
              <a:rPr lang="en-US" sz="2400" b="1" dirty="0"/>
              <a:t>charge</a:t>
            </a:r>
            <a:r>
              <a:rPr lang="en-US" sz="2400" dirty="0"/>
              <a:t> or </a:t>
            </a:r>
            <a:r>
              <a:rPr lang="en-US" sz="2400" b="1" dirty="0"/>
              <a:t>negative</a:t>
            </a:r>
            <a:r>
              <a:rPr lang="en-US" sz="2400" dirty="0"/>
              <a:t> </a:t>
            </a:r>
            <a:r>
              <a:rPr lang="en-US" sz="2400" b="1" dirty="0"/>
              <a:t>charge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A byte consists of 8 such switches/circuits and each one of </a:t>
            </a:r>
            <a:br>
              <a:rPr lang="en-US" sz="2400" dirty="0"/>
            </a:br>
            <a:r>
              <a:rPr lang="en-US" sz="2400" dirty="0"/>
              <a:t>these switches is known as a </a:t>
            </a:r>
            <a:r>
              <a:rPr lang="en-US" sz="2400" b="1" dirty="0"/>
              <a:t>Bit.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314" y="3666440"/>
            <a:ext cx="6452890" cy="1935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227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be represented using a Bit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52251"/>
            <a:ext cx="9097732" cy="4459152"/>
          </a:xfrm>
        </p:spPr>
        <p:txBody>
          <a:bodyPr>
            <a:noAutofit/>
          </a:bodyPr>
          <a:lstStyle/>
          <a:p>
            <a:r>
              <a:rPr lang="en-US" sz="2800" dirty="0"/>
              <a:t>Single Bit can be used to represent two different quantities</a:t>
            </a:r>
          </a:p>
          <a:p>
            <a:pPr lvl="1"/>
            <a:r>
              <a:rPr lang="en-US" sz="2400" dirty="0"/>
              <a:t>ON means TRUE and OFF means FALSE</a:t>
            </a:r>
          </a:p>
          <a:p>
            <a:pPr lvl="1"/>
            <a:r>
              <a:rPr lang="en-US" sz="2400" dirty="0"/>
              <a:t>ON means number 79 and OFF means number -23</a:t>
            </a:r>
          </a:p>
          <a:p>
            <a:pPr lvl="1"/>
            <a:r>
              <a:rPr lang="en-US" sz="2400" dirty="0"/>
              <a:t>ON means 23.5 and OFF means 39.25</a:t>
            </a:r>
          </a:p>
          <a:p>
            <a:pPr lvl="1"/>
            <a:r>
              <a:rPr lang="en-US" sz="2400" dirty="0"/>
              <a:t>ON means </a:t>
            </a:r>
            <a:r>
              <a:rPr lang="en-US" sz="2400" b="1" dirty="0"/>
              <a:t>RED COLOR</a:t>
            </a:r>
            <a:r>
              <a:rPr lang="en-US" sz="2400" dirty="0"/>
              <a:t> and OFF means </a:t>
            </a:r>
            <a:r>
              <a:rPr lang="en-US" sz="2400" b="1" dirty="0"/>
              <a:t>BLUE COLOR</a:t>
            </a:r>
          </a:p>
          <a:p>
            <a:pPr lvl="1"/>
            <a:r>
              <a:rPr lang="en-US" sz="2400" dirty="0"/>
              <a:t>…</a:t>
            </a:r>
          </a:p>
          <a:p>
            <a:r>
              <a:rPr lang="en-US" sz="2800" dirty="0"/>
              <a:t>Most commonly ON means 1 and OFF means </a:t>
            </a:r>
            <a:r>
              <a:rPr lang="en-US" sz="2800" b="1" dirty="0"/>
              <a:t>0 and </a:t>
            </a:r>
            <a:r>
              <a:rPr lang="en-US" sz="2800" dirty="0"/>
              <a:t>therefore</a:t>
            </a:r>
            <a:r>
              <a:rPr lang="en-US" sz="2800" b="1" dirty="0"/>
              <a:t> Bit </a:t>
            </a:r>
            <a:r>
              <a:rPr lang="en-US" sz="2800" dirty="0"/>
              <a:t>is also known as</a:t>
            </a:r>
            <a:r>
              <a:rPr lang="en-US" sz="2800" b="1" dirty="0"/>
              <a:t> Bi</a:t>
            </a:r>
            <a:r>
              <a:rPr lang="en-US" sz="2800" dirty="0"/>
              <a:t>nary</a:t>
            </a:r>
            <a:r>
              <a:rPr lang="en-US" sz="2800" b="1" dirty="0"/>
              <a:t> </a:t>
            </a:r>
            <a:r>
              <a:rPr lang="en-US" sz="2800" dirty="0"/>
              <a:t>Digi</a:t>
            </a:r>
            <a:r>
              <a:rPr lang="en-US" sz="2800" b="1" dirty="0"/>
              <a:t>t (Bit)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94408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0107"/>
          </a:xfrm>
        </p:spPr>
        <p:txBody>
          <a:bodyPr>
            <a:normAutofit fontScale="90000"/>
          </a:bodyPr>
          <a:lstStyle/>
          <a:p>
            <a:r>
              <a:rPr lang="en-US" dirty="0"/>
              <a:t>Memory Measuring Units </a:t>
            </a:r>
            <a:br>
              <a:rPr lang="en-US" dirty="0"/>
            </a:br>
            <a:r>
              <a:rPr lang="en-US" sz="2700" dirty="0"/>
              <a:t>(As viewed by computer scientists)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44" y="1838962"/>
            <a:ext cx="9042119" cy="4536079"/>
          </a:xfrm>
        </p:spPr>
      </p:pic>
    </p:spTree>
    <p:extLst>
      <p:ext uri="{BB962C8B-B14F-4D97-AF65-F5344CB8AC3E}">
        <p14:creationId xmlns:p14="http://schemas.microsoft.com/office/powerpoint/2010/main" val="4229448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32834"/>
          </a:xfrm>
        </p:spPr>
        <p:txBody>
          <a:bodyPr/>
          <a:lstStyle/>
          <a:p>
            <a:r>
              <a:rPr lang="en-US" dirty="0"/>
              <a:t>Bits within Bytes and Place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503767"/>
            <a:ext cx="9213639" cy="3880773"/>
          </a:xfrm>
        </p:spPr>
        <p:txBody>
          <a:bodyPr>
            <a:normAutofit/>
          </a:bodyPr>
          <a:lstStyle/>
          <a:p>
            <a:r>
              <a:rPr lang="en-US" sz="2400" dirty="0"/>
              <a:t>Bits within a byte have Place and a Place Value with least significant bit at place 0 and most significant bit at place 7.</a:t>
            </a:r>
          </a:p>
          <a:p>
            <a:endParaRPr lang="en-US" sz="2400" dirty="0"/>
          </a:p>
          <a:p>
            <a:r>
              <a:rPr lang="en-US" sz="2400" dirty="0"/>
              <a:t>Bit at place </a:t>
            </a:r>
            <a:r>
              <a:rPr lang="en-US" sz="2400" b="1" i="1" dirty="0" err="1"/>
              <a:t>i</a:t>
            </a:r>
            <a:r>
              <a:rPr lang="en-US" sz="2400" dirty="0"/>
              <a:t> has place value </a:t>
            </a:r>
            <a:r>
              <a:rPr lang="en-US" sz="2400" b="1" i="1" dirty="0"/>
              <a:t>2</a:t>
            </a:r>
            <a:r>
              <a:rPr lang="en-US" sz="2400" b="1" i="1" baseline="30000" dirty="0"/>
              <a:t>i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4008" y="3466233"/>
            <a:ext cx="7796965" cy="3348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067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596721"/>
            <a:ext cx="8596668" cy="897228"/>
          </a:xfrm>
        </p:spPr>
        <p:txBody>
          <a:bodyPr/>
          <a:lstStyle/>
          <a:p>
            <a:r>
              <a:rPr lang="en-US" dirty="0"/>
              <a:t>Bytes as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301" y="1400735"/>
            <a:ext cx="9986373" cy="5257642"/>
          </a:xfrm>
        </p:spPr>
        <p:txBody>
          <a:bodyPr>
            <a:noAutofit/>
          </a:bodyPr>
          <a:lstStyle/>
          <a:p>
            <a:r>
              <a:rPr lang="en-US" sz="2400" dirty="0"/>
              <a:t>We can view each byte as a binary number. For Example the following Binary number represents the quantity two hundred and seventeen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Can you see the similarity between Binary and Decimal numbers?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302" y="2547308"/>
            <a:ext cx="5222117" cy="341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60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70088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Exercise # 1</a:t>
            </a:r>
            <a:br>
              <a:rPr lang="en-US" dirty="0"/>
            </a:br>
            <a:r>
              <a:rPr lang="en-US" sz="2000" dirty="0">
                <a:solidFill>
                  <a:srgbClr val="FF0000"/>
                </a:solidFill>
              </a:rPr>
              <a:t>Note: Write exercises on a separate page, you have to submit it at the end of lecture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90888"/>
            <a:ext cx="9084852" cy="4922791"/>
          </a:xfrm>
        </p:spPr>
        <p:txBody>
          <a:bodyPr>
            <a:normAutofit/>
          </a:bodyPr>
          <a:lstStyle/>
          <a:p>
            <a:r>
              <a:rPr lang="en-US" sz="2400" dirty="0"/>
              <a:t>What Quantities are Represented by the following 8-bit binary numbers.</a:t>
            </a:r>
          </a:p>
          <a:p>
            <a:endParaRPr lang="en-US" sz="24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434822"/>
              </p:ext>
            </p:extLst>
          </p:nvPr>
        </p:nvGraphicFramePr>
        <p:xfrm>
          <a:off x="1815920" y="2412718"/>
          <a:ext cx="6078828" cy="43338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51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6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90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7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17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87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0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74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87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4948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Bit#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7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6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5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4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3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2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1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0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9488"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948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0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1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1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1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0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1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0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1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948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b.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1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0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1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1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1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0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1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1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948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0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1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0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0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0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1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0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0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948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d.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1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0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1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0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0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0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0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0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948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e.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0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0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0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0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1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1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>
                          <a:effectLst/>
                        </a:rPr>
                        <a:t>1</a:t>
                      </a:r>
                      <a:endParaRPr lang="en-US" sz="4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4000" u="none" strike="noStrike" dirty="0">
                          <a:effectLst/>
                        </a:rPr>
                        <a:t>1</a:t>
                      </a:r>
                      <a:endParaRPr lang="en-US" sz="4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8146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7076"/>
          </a:xfrm>
        </p:spPr>
        <p:txBody>
          <a:bodyPr/>
          <a:lstStyle/>
          <a:p>
            <a:r>
              <a:rPr lang="en-US" dirty="0"/>
              <a:t>Exercise #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581039"/>
            <a:ext cx="9535612" cy="3880773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If a Byte is assumed to represent a number, as described earlier, then what is the range (minimum and maximum values) of numbers that can be stored in a 8-bit Byte?</a:t>
            </a:r>
          </a:p>
        </p:txBody>
      </p:sp>
    </p:spTree>
    <p:extLst>
      <p:ext uri="{BB962C8B-B14F-4D97-AF65-F5344CB8AC3E}">
        <p14:creationId xmlns:p14="http://schemas.microsoft.com/office/powerpoint/2010/main" val="3974973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26017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Representing a Decimal Number in Binary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35617"/>
            <a:ext cx="8596668" cy="3880773"/>
          </a:xfrm>
        </p:spPr>
        <p:txBody>
          <a:bodyPr>
            <a:normAutofit/>
          </a:bodyPr>
          <a:lstStyle/>
          <a:p>
            <a:r>
              <a:rPr lang="en-US" sz="2400" dirty="0"/>
              <a:t>Let us solve the reverse problem of representing a number within a byte using the idea of place value.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50911"/>
              </p:ext>
            </p:extLst>
          </p:nvPr>
        </p:nvGraphicFramePr>
        <p:xfrm>
          <a:off x="775145" y="2813999"/>
          <a:ext cx="7815062" cy="3033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4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3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3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3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3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63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63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9126">
                <a:tc>
                  <a:txBody>
                    <a:bodyPr/>
                    <a:lstStyle/>
                    <a:p>
                      <a:pPr algn="l" fontAlgn="b"/>
                      <a:r>
                        <a:rPr lang="en-US" sz="2300" u="none" strike="noStrike" dirty="0">
                          <a:effectLst/>
                        </a:rPr>
                        <a:t>Bit#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7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6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5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4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3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2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1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0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126">
                <a:tc>
                  <a:txBody>
                    <a:bodyPr/>
                    <a:lstStyle/>
                    <a:p>
                      <a:pPr algn="l" fontAlgn="b"/>
                      <a:r>
                        <a:rPr lang="en-US" sz="2300" u="none" strike="noStrike">
                          <a:effectLst/>
                        </a:rPr>
                        <a:t>value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128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64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32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16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8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4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2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1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126">
                <a:tc>
                  <a:txBody>
                    <a:bodyPr/>
                    <a:lstStyle/>
                    <a:p>
                      <a:pPr algn="l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126">
                <a:tc>
                  <a:txBody>
                    <a:bodyPr/>
                    <a:lstStyle/>
                    <a:p>
                      <a:pPr algn="l" fontAlgn="b"/>
                      <a:r>
                        <a:rPr lang="en-US" sz="2300" u="none" strike="noStrike">
                          <a:effectLst/>
                        </a:rPr>
                        <a:t>8 =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0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0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0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0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1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0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0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0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126">
                <a:tc>
                  <a:txBody>
                    <a:bodyPr/>
                    <a:lstStyle/>
                    <a:p>
                      <a:pPr algn="l" fontAlgn="b"/>
                      <a:r>
                        <a:rPr lang="en-US" sz="2300" u="none" strike="noStrike">
                          <a:effectLst/>
                        </a:rPr>
                        <a:t>128 =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1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0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0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0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0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0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0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0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126">
                <a:tc>
                  <a:txBody>
                    <a:bodyPr/>
                    <a:lstStyle/>
                    <a:p>
                      <a:pPr algn="l" fontAlgn="b"/>
                      <a:r>
                        <a:rPr lang="en-US" sz="2300" u="none" strike="noStrike">
                          <a:effectLst/>
                        </a:rPr>
                        <a:t>64=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0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1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0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0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0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0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0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0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126">
                <a:tc>
                  <a:txBody>
                    <a:bodyPr/>
                    <a:lstStyle/>
                    <a:p>
                      <a:pPr algn="l" fontAlgn="b"/>
                      <a:r>
                        <a:rPr lang="en-US" sz="2300" u="none" strike="noStrike">
                          <a:effectLst/>
                        </a:rPr>
                        <a:t>96 = 64 + 32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0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1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1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0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0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0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0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0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126">
                <a:tc>
                  <a:txBody>
                    <a:bodyPr/>
                    <a:lstStyle/>
                    <a:p>
                      <a:pPr algn="l" fontAlgn="b"/>
                      <a:r>
                        <a:rPr lang="en-US" sz="2300" u="none" strike="noStrike">
                          <a:effectLst/>
                        </a:rPr>
                        <a:t>250=128+64+32+16+8+2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1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1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1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1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1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0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1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0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6321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#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09824"/>
            <a:ext cx="8596668" cy="3880773"/>
          </a:xfrm>
        </p:spPr>
        <p:txBody>
          <a:bodyPr>
            <a:normAutofit/>
          </a:bodyPr>
          <a:lstStyle/>
          <a:p>
            <a:r>
              <a:rPr lang="en-US" sz="2400" dirty="0"/>
              <a:t>Represent each of the following quantities as 8-bit binary number.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376440"/>
              </p:ext>
            </p:extLst>
          </p:nvPr>
        </p:nvGraphicFramePr>
        <p:xfrm>
          <a:off x="775145" y="2813999"/>
          <a:ext cx="7815062" cy="3033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4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3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3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3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3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63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63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9126">
                <a:tc>
                  <a:txBody>
                    <a:bodyPr/>
                    <a:lstStyle/>
                    <a:p>
                      <a:pPr algn="l" fontAlgn="b"/>
                      <a:r>
                        <a:rPr lang="en-US" sz="2300" u="none" strike="noStrike" dirty="0">
                          <a:effectLst/>
                        </a:rPr>
                        <a:t>Bit#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7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6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5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4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3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2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1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0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126">
                <a:tc>
                  <a:txBody>
                    <a:bodyPr/>
                    <a:lstStyle/>
                    <a:p>
                      <a:pPr algn="l" fontAlgn="b"/>
                      <a:r>
                        <a:rPr lang="en-US" sz="2300" u="none" strike="noStrike">
                          <a:effectLst/>
                        </a:rPr>
                        <a:t>value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128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64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32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16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8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4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>
                          <a:effectLst/>
                        </a:rPr>
                        <a:t>2</a:t>
                      </a:r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300" u="none" strike="noStrike" dirty="0">
                          <a:effectLst/>
                        </a:rPr>
                        <a:t>1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126">
                <a:tc>
                  <a:txBody>
                    <a:bodyPr/>
                    <a:lstStyle/>
                    <a:p>
                      <a:pPr algn="l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126">
                <a:tc>
                  <a:txBody>
                    <a:bodyPr/>
                    <a:lstStyle/>
                    <a:p>
                      <a:pPr algn="l" fontAlgn="b"/>
                      <a:r>
                        <a:rPr lang="en-US" sz="2300" u="none" strike="noStrike" dirty="0">
                          <a:effectLst/>
                        </a:rPr>
                        <a:t>27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126">
                <a:tc>
                  <a:txBody>
                    <a:bodyPr/>
                    <a:lstStyle/>
                    <a:p>
                      <a:pPr algn="l" fontAlgn="b"/>
                      <a:r>
                        <a:rPr lang="en-US" sz="2300" u="none" strike="noStrike" dirty="0">
                          <a:effectLst/>
                        </a:rPr>
                        <a:t>139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126">
                <a:tc>
                  <a:txBody>
                    <a:bodyPr/>
                    <a:lstStyle/>
                    <a:p>
                      <a:pPr algn="l" fontAlgn="b"/>
                      <a:r>
                        <a:rPr lang="en-US" sz="2300" u="none" strike="noStrike" dirty="0">
                          <a:effectLst/>
                        </a:rPr>
                        <a:t>164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126">
                <a:tc>
                  <a:txBody>
                    <a:bodyPr/>
                    <a:lstStyle/>
                    <a:p>
                      <a:pPr algn="l" fontAlgn="b"/>
                      <a:r>
                        <a:rPr lang="en-US" sz="2300" u="none" strike="noStrike" dirty="0">
                          <a:effectLst/>
                        </a:rPr>
                        <a:t>196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126">
                <a:tc>
                  <a:txBody>
                    <a:bodyPr/>
                    <a:lstStyle/>
                    <a:p>
                      <a:pPr algn="l" fontAlgn="b"/>
                      <a:r>
                        <a:rPr lang="en-US" sz="2300" u="none" strike="noStrike" dirty="0">
                          <a:effectLst/>
                        </a:rPr>
                        <a:t>259</a:t>
                      </a:r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6174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22986"/>
          </a:xfrm>
        </p:spPr>
        <p:txBody>
          <a:bodyPr/>
          <a:lstStyle/>
          <a:p>
            <a:r>
              <a:rPr lang="en-US" dirty="0"/>
              <a:t>How can we represent a character?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09828"/>
            <a:ext cx="8596668" cy="4806882"/>
          </a:xfrm>
        </p:spPr>
        <p:txBody>
          <a:bodyPr>
            <a:normAutofit/>
          </a:bodyPr>
          <a:lstStyle/>
          <a:p>
            <a:r>
              <a:rPr lang="en-US" sz="2400" dirty="0"/>
              <a:t>IDEA.</a:t>
            </a:r>
          </a:p>
          <a:p>
            <a:pPr lvl="1"/>
            <a:r>
              <a:rPr lang="en-US" sz="2200" dirty="0"/>
              <a:t>Assign numeric codes to characters and represent each character in a Byte using it’s numeric code.</a:t>
            </a:r>
          </a:p>
          <a:p>
            <a:pPr lvl="1"/>
            <a:r>
              <a:rPr lang="en-US" sz="2200" dirty="0"/>
              <a:t>Can we assign numeric codes of our choice to each character?. What might be a problem with this approach?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768718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22986"/>
          </a:xfrm>
        </p:spPr>
        <p:txBody>
          <a:bodyPr/>
          <a:lstStyle/>
          <a:p>
            <a:r>
              <a:rPr lang="en-US" dirty="0"/>
              <a:t>How can we represent a character?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09828"/>
            <a:ext cx="8596668" cy="4806882"/>
          </a:xfrm>
        </p:spPr>
        <p:txBody>
          <a:bodyPr>
            <a:normAutofit/>
          </a:bodyPr>
          <a:lstStyle/>
          <a:p>
            <a:r>
              <a:rPr lang="en-US" sz="2400" dirty="0"/>
              <a:t>IDEA </a:t>
            </a:r>
          </a:p>
          <a:p>
            <a:pPr lvl="1"/>
            <a:r>
              <a:rPr lang="en-US" sz="2200" dirty="0"/>
              <a:t>Create a Standard coding scheme so that information can be easily shared between devices from different vendors.</a:t>
            </a:r>
          </a:p>
          <a:p>
            <a:r>
              <a:rPr lang="en-US" sz="2400" dirty="0"/>
              <a:t>Standard Codes</a:t>
            </a:r>
          </a:p>
          <a:p>
            <a:pPr lvl="1"/>
            <a:r>
              <a:rPr lang="en-US" sz="2200" dirty="0"/>
              <a:t>ASCII</a:t>
            </a:r>
          </a:p>
          <a:p>
            <a:pPr lvl="1"/>
            <a:r>
              <a:rPr lang="en-US" sz="2200" dirty="0"/>
              <a:t>Unicode </a:t>
            </a:r>
          </a:p>
          <a:p>
            <a:pPr lvl="1"/>
            <a:r>
              <a:rPr lang="en-US" sz="2200" dirty="0"/>
              <a:t>Unicode Transformation Format(UTF) UTF-8, UTF-16</a:t>
            </a:r>
          </a:p>
          <a:p>
            <a:pPr lvl="1"/>
            <a:r>
              <a:rPr lang="en-US" sz="2200" dirty="0"/>
              <a:t>ANSI Character Set</a:t>
            </a:r>
          </a:p>
          <a:p>
            <a:pPr lvl="1"/>
            <a:r>
              <a:rPr lang="en-US" sz="22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518052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0"/>
            <a:ext cx="8596668" cy="1320800"/>
          </a:xfrm>
        </p:spPr>
        <p:txBody>
          <a:bodyPr>
            <a:normAutofit/>
          </a:bodyPr>
          <a:lstStyle/>
          <a:p>
            <a:r>
              <a:rPr lang="en-US" sz="3200" dirty="0"/>
              <a:t>ASCII Character Encoding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39334" y="489957"/>
            <a:ext cx="9170052" cy="636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4830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#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90888"/>
            <a:ext cx="8596668" cy="3880773"/>
          </a:xfrm>
        </p:spPr>
        <p:txBody>
          <a:bodyPr>
            <a:normAutofit/>
          </a:bodyPr>
          <a:lstStyle/>
          <a:p>
            <a:r>
              <a:rPr lang="en-US" sz="2400" dirty="0"/>
              <a:t>The following 23 values represents a message consisting of 23 characters stored in RAM. </a:t>
            </a:r>
          </a:p>
          <a:p>
            <a:endParaRPr lang="en-US" sz="2400" dirty="0"/>
          </a:p>
          <a:p>
            <a:r>
              <a:rPr lang="en-US" sz="2400" dirty="0"/>
              <a:t>If the message has been written using 8-Bit Extended ASCII codes then decipher the message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77334" y="4048939"/>
            <a:ext cx="95650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87</a:t>
            </a:r>
            <a:r>
              <a:rPr lang="en-US" sz="2000" dirty="0">
                <a:latin typeface="Calibri" panose="020F0502020204030204" pitchFamily="34" charset="0"/>
              </a:rPr>
              <a:t> 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104 </a:t>
            </a:r>
            <a:r>
              <a:rPr lang="en-US" sz="2000" dirty="0">
                <a:latin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97 </a:t>
            </a:r>
            <a:r>
              <a:rPr lang="en-US" sz="2000" dirty="0">
                <a:latin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84 </a:t>
            </a:r>
            <a:r>
              <a:rPr lang="en-US" sz="2000" dirty="0">
                <a:latin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32 </a:t>
            </a:r>
            <a:r>
              <a:rPr lang="en-US" sz="2000" dirty="0">
                <a:latin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105 </a:t>
            </a:r>
            <a:r>
              <a:rPr lang="en-US" sz="2000" dirty="0">
                <a:latin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83 </a:t>
            </a:r>
            <a:r>
              <a:rPr lang="en-US" sz="2000" dirty="0">
                <a:latin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32</a:t>
            </a:r>
            <a:r>
              <a:rPr lang="en-US" sz="2000" dirty="0">
                <a:latin typeface="Calibri" panose="020F0502020204030204" pitchFamily="34" charset="0"/>
              </a:rPr>
              <a:t> 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89</a:t>
            </a:r>
            <a:r>
              <a:rPr lang="en-US" sz="2000" dirty="0">
                <a:latin typeface="Calibri" panose="020F0502020204030204" pitchFamily="34" charset="0"/>
              </a:rPr>
              <a:t> 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111</a:t>
            </a:r>
            <a:r>
              <a:rPr lang="en-US" sz="2000" dirty="0">
                <a:latin typeface="Calibri" panose="020F0502020204030204" pitchFamily="34" charset="0"/>
              </a:rPr>
              <a:t> 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117 </a:t>
            </a:r>
            <a:r>
              <a:rPr lang="en-US" sz="2000" dirty="0">
                <a:latin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82 </a:t>
            </a:r>
            <a:r>
              <a:rPr lang="en-US" sz="2000" dirty="0">
                <a:latin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32  76  65 </a:t>
            </a:r>
            <a:r>
              <a:rPr lang="en-US" sz="2000" dirty="0">
                <a:latin typeface="Calibri" panose="020F0502020204030204" pitchFamily="34" charset="0"/>
              </a:rPr>
              <a:t> 83  116 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32 </a:t>
            </a:r>
            <a:r>
              <a:rPr lang="en-US" sz="2000" dirty="0">
                <a:latin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78 </a:t>
            </a:r>
            <a:r>
              <a:rPr lang="en-US" sz="2000" dirty="0">
                <a:latin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65 </a:t>
            </a:r>
            <a:r>
              <a:rPr lang="en-US" sz="2000" dirty="0">
                <a:latin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77 </a:t>
            </a:r>
            <a:r>
              <a:rPr lang="en-US" sz="2000" dirty="0">
                <a:latin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69 </a:t>
            </a:r>
            <a:r>
              <a:rPr lang="en-US" sz="2000" dirty="0">
                <a:latin typeface="Calibri" panose="020F0502020204030204" pitchFamily="34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</a:rPr>
              <a:t>63</a:t>
            </a:r>
            <a:r>
              <a:rPr lang="en-US" sz="2000" dirty="0"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2890" y="4997003"/>
            <a:ext cx="7392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WhaT</a:t>
            </a:r>
            <a:r>
              <a:rPr lang="en-US" dirty="0"/>
              <a:t> </a:t>
            </a:r>
            <a:r>
              <a:rPr lang="en-US" dirty="0" err="1"/>
              <a:t>iS</a:t>
            </a:r>
            <a:r>
              <a:rPr lang="en-US" dirty="0"/>
              <a:t> </a:t>
            </a:r>
            <a:r>
              <a:rPr lang="en-US" dirty="0" err="1"/>
              <a:t>YouR</a:t>
            </a:r>
            <a:r>
              <a:rPr lang="en-US" dirty="0"/>
              <a:t> </a:t>
            </a:r>
            <a:r>
              <a:rPr lang="en-US" dirty="0" err="1"/>
              <a:t>LASt</a:t>
            </a:r>
            <a:r>
              <a:rPr lang="en-US" dirty="0"/>
              <a:t> NAME?</a:t>
            </a:r>
          </a:p>
        </p:txBody>
      </p:sp>
    </p:spTree>
    <p:extLst>
      <p:ext uri="{BB962C8B-B14F-4D97-AF65-F5344CB8AC3E}">
        <p14:creationId xmlns:p14="http://schemas.microsoft.com/office/powerpoint/2010/main" val="2643299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#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751527"/>
            <a:ext cx="8596668" cy="4289835"/>
          </a:xfrm>
        </p:spPr>
        <p:txBody>
          <a:bodyPr>
            <a:normAutofit/>
          </a:bodyPr>
          <a:lstStyle/>
          <a:p>
            <a:r>
              <a:rPr lang="en-US" sz="2400" dirty="0"/>
              <a:t>Use ASCII encoding to give answer to the question in the previous Exercise?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199613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994700" cy="778258"/>
          </a:xfrm>
        </p:spPr>
        <p:txBody>
          <a:bodyPr>
            <a:noAutofit/>
          </a:bodyPr>
          <a:lstStyle/>
          <a:p>
            <a:r>
              <a:rPr lang="en-US" sz="2800" dirty="0"/>
              <a:t>Representing Non-Negative(Unsigned) Integer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08" y="1387858"/>
            <a:ext cx="9633398" cy="5193246"/>
          </a:xfrm>
        </p:spPr>
        <p:txBody>
          <a:bodyPr>
            <a:normAutofit/>
          </a:bodyPr>
          <a:lstStyle/>
          <a:p>
            <a:r>
              <a:rPr lang="en-US" sz="2400" dirty="0"/>
              <a:t>Idea No 1.</a:t>
            </a:r>
          </a:p>
          <a:p>
            <a:pPr lvl="1"/>
            <a:r>
              <a:rPr lang="en-US" sz="2200" dirty="0"/>
              <a:t>Each integer is a sequence of characters and hence we can use character encoding to represent each quantity as a sequence of characters.</a:t>
            </a:r>
          </a:p>
          <a:p>
            <a:pPr lvl="1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714154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97197"/>
          </a:xfrm>
        </p:spPr>
        <p:txBody>
          <a:bodyPr/>
          <a:lstStyle/>
          <a:p>
            <a:r>
              <a:rPr lang="en-US" dirty="0"/>
              <a:t>Exercise #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606797"/>
            <a:ext cx="8596668" cy="3880773"/>
          </a:xfrm>
        </p:spPr>
        <p:txBody>
          <a:bodyPr>
            <a:normAutofit/>
          </a:bodyPr>
          <a:lstStyle/>
          <a:p>
            <a:r>
              <a:rPr lang="en-US" sz="2400" dirty="0"/>
              <a:t>Represent the following integer quantities as sequence of bytes encoded using ASCII characters.</a:t>
            </a:r>
          </a:p>
          <a:p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59519"/>
              </p:ext>
            </p:extLst>
          </p:nvPr>
        </p:nvGraphicFramePr>
        <p:xfrm>
          <a:off x="2236631" y="2594683"/>
          <a:ext cx="1524000" cy="27629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20456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1024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32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100015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1971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994700" cy="778258"/>
          </a:xfrm>
        </p:spPr>
        <p:txBody>
          <a:bodyPr>
            <a:noAutofit/>
          </a:bodyPr>
          <a:lstStyle/>
          <a:p>
            <a:r>
              <a:rPr lang="en-US" sz="2800" dirty="0"/>
              <a:t>Representing Non-Negative(Unsigned) Integer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08" y="1387858"/>
            <a:ext cx="9633398" cy="5193246"/>
          </a:xfrm>
        </p:spPr>
        <p:txBody>
          <a:bodyPr>
            <a:normAutofit/>
          </a:bodyPr>
          <a:lstStyle/>
          <a:p>
            <a:r>
              <a:rPr lang="en-US" sz="2400" dirty="0"/>
              <a:t>Idea No 2.</a:t>
            </a:r>
          </a:p>
          <a:p>
            <a:pPr lvl="1"/>
            <a:r>
              <a:rPr lang="en-US" sz="2200" dirty="0"/>
              <a:t>Integer quantities can be represented using the idea of place value using binary number system. That is each bit has a place value and total value stored is sum of all the place values included in the number.</a:t>
            </a:r>
          </a:p>
        </p:txBody>
      </p:sp>
    </p:spTree>
    <p:extLst>
      <p:ext uri="{BB962C8B-B14F-4D97-AF65-F5344CB8AC3E}">
        <p14:creationId xmlns:p14="http://schemas.microsoft.com/office/powerpoint/2010/main" val="13750412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994700" cy="778258"/>
          </a:xfrm>
        </p:spPr>
        <p:txBody>
          <a:bodyPr>
            <a:noAutofit/>
          </a:bodyPr>
          <a:lstStyle/>
          <a:p>
            <a:r>
              <a:rPr lang="en-US" sz="2800" dirty="0"/>
              <a:t>Representing Non-Negative(Unsigned) Integer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08" y="1387858"/>
            <a:ext cx="9633398" cy="5193246"/>
          </a:xfrm>
        </p:spPr>
        <p:txBody>
          <a:bodyPr>
            <a:normAutofit/>
          </a:bodyPr>
          <a:lstStyle/>
          <a:p>
            <a:r>
              <a:rPr lang="en-US" sz="2400" dirty="0"/>
              <a:t>Problem</a:t>
            </a:r>
          </a:p>
          <a:p>
            <a:pPr lvl="1"/>
            <a:r>
              <a:rPr lang="en-US" sz="2200" dirty="0"/>
              <a:t> A byte has only eight bits and hence we can not represent quantities bigger than 255 in a byte. For processing integer quantities this is an unacceptably low value.</a:t>
            </a:r>
          </a:p>
          <a:p>
            <a:pPr lvl="1"/>
            <a:endParaRPr lang="en-US" sz="2200" dirty="0"/>
          </a:p>
          <a:p>
            <a:r>
              <a:rPr lang="en-US" sz="2400" dirty="0"/>
              <a:t>Solution</a:t>
            </a:r>
          </a:p>
          <a:p>
            <a:pPr lvl="1"/>
            <a:r>
              <a:rPr lang="en-US" sz="2200" dirty="0"/>
              <a:t>Use 2 or more bytes to store an integer quantity</a:t>
            </a:r>
          </a:p>
          <a:p>
            <a:pPr lvl="1"/>
            <a:endParaRPr lang="en-US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89" y="4842925"/>
            <a:ext cx="9925050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747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9955"/>
          </a:xfrm>
        </p:spPr>
        <p:txBody>
          <a:bodyPr/>
          <a:lstStyle/>
          <a:p>
            <a:r>
              <a:rPr lang="en-US" dirty="0"/>
              <a:t>Exercise # 6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29555"/>
            <a:ext cx="8596668" cy="473942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Use 2-Bytes to represent each of the following quantity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What is the Maximum unsigned integer value that can be represented using 2 Bytes?</a:t>
            </a:r>
          </a:p>
          <a:p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800704"/>
              </p:ext>
            </p:extLst>
          </p:nvPr>
        </p:nvGraphicFramePr>
        <p:xfrm>
          <a:off x="1180564" y="2118164"/>
          <a:ext cx="1524000" cy="27629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20456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1024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32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100015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348508" y="2232338"/>
            <a:ext cx="41469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= 01001111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11101000</a:t>
            </a:r>
          </a:p>
        </p:txBody>
      </p:sp>
    </p:spTree>
    <p:extLst>
      <p:ext uri="{BB962C8B-B14F-4D97-AF65-F5344CB8AC3E}">
        <p14:creationId xmlns:p14="http://schemas.microsoft.com/office/powerpoint/2010/main" val="5821136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19955"/>
          </a:xfrm>
        </p:spPr>
        <p:txBody>
          <a:bodyPr/>
          <a:lstStyle/>
          <a:p>
            <a:r>
              <a:rPr lang="en-US" dirty="0"/>
              <a:t>Exercise # 7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29555"/>
            <a:ext cx="8596668" cy="5112913"/>
          </a:xfrm>
        </p:spPr>
        <p:txBody>
          <a:bodyPr>
            <a:normAutofit/>
          </a:bodyPr>
          <a:lstStyle/>
          <a:p>
            <a:r>
              <a:rPr lang="en-US" sz="2400" dirty="0"/>
              <a:t>Use 4-Bytes to represent each of the following quantity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What is the Maximum unsigned integer value that can be represented using 4 Bytes?</a:t>
            </a:r>
          </a:p>
          <a:p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80564" y="2118164"/>
          <a:ext cx="1524000" cy="27629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20456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1024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32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100015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348507" y="2232338"/>
            <a:ext cx="6697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= </a:t>
            </a:r>
            <a:r>
              <a:rPr lang="en-US" sz="2400" dirty="0"/>
              <a:t>00000000 00000000 </a:t>
            </a:r>
            <a:r>
              <a:rPr lang="en-US" sz="2400" dirty="0">
                <a:solidFill>
                  <a:srgbClr val="0070C0"/>
                </a:solidFill>
              </a:rPr>
              <a:t>01001111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11101000</a:t>
            </a:r>
          </a:p>
        </p:txBody>
      </p:sp>
    </p:spTree>
    <p:extLst>
      <p:ext uri="{BB962C8B-B14F-4D97-AF65-F5344CB8AC3E}">
        <p14:creationId xmlns:p14="http://schemas.microsoft.com/office/powerpoint/2010/main" val="10297797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994700" cy="778258"/>
          </a:xfrm>
        </p:spPr>
        <p:txBody>
          <a:bodyPr>
            <a:noAutofit/>
          </a:bodyPr>
          <a:lstStyle/>
          <a:p>
            <a:r>
              <a:rPr lang="en-US" sz="2800" dirty="0"/>
              <a:t>Representing signed Integer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608" y="1387858"/>
            <a:ext cx="9633398" cy="5193246"/>
          </a:xfrm>
        </p:spPr>
        <p:txBody>
          <a:bodyPr>
            <a:normAutofit/>
          </a:bodyPr>
          <a:lstStyle/>
          <a:p>
            <a:r>
              <a:rPr lang="en-US" sz="2400" dirty="0"/>
              <a:t>Problem</a:t>
            </a:r>
          </a:p>
          <a:p>
            <a:pPr lvl="1"/>
            <a:r>
              <a:rPr lang="en-US" sz="2200" dirty="0"/>
              <a:t>How can we represent Signed (Both negative and positive) numbers? </a:t>
            </a:r>
          </a:p>
          <a:p>
            <a:endParaRPr lang="en-US" sz="2400" dirty="0"/>
          </a:p>
          <a:p>
            <a:r>
              <a:rPr lang="en-US" sz="2400" dirty="0"/>
              <a:t>Solution</a:t>
            </a:r>
          </a:p>
          <a:p>
            <a:pPr lvl="1"/>
            <a:r>
              <a:rPr lang="en-US" sz="2200" dirty="0"/>
              <a:t>FIX ONE OF THE BIT FOR REPRESENTING SIGN </a:t>
            </a:r>
            <a:br>
              <a:rPr lang="en-US" sz="2200" dirty="0"/>
            </a:br>
            <a:r>
              <a:rPr lang="en-US" sz="2200" dirty="0"/>
              <a:t>(Sign-Magnitude method) </a:t>
            </a:r>
          </a:p>
          <a:p>
            <a:pPr lvl="1"/>
            <a:endParaRPr lang="en-US" sz="2200" dirty="0"/>
          </a:p>
          <a:p>
            <a:pPr lvl="1"/>
            <a:r>
              <a:rPr lang="en-US" sz="2200" dirty="0"/>
              <a:t>Use 2’s Complement Representation (Optional)</a:t>
            </a:r>
          </a:p>
          <a:p>
            <a:pPr lvl="2"/>
            <a:r>
              <a:rPr lang="en-US" sz="2000" dirty="0"/>
              <a:t>Place value of the most significant bit is considered negative</a:t>
            </a:r>
          </a:p>
        </p:txBody>
      </p:sp>
    </p:spTree>
    <p:extLst>
      <p:ext uri="{BB962C8B-B14F-4D97-AF65-F5344CB8AC3E}">
        <p14:creationId xmlns:p14="http://schemas.microsoft.com/office/powerpoint/2010/main" val="18576611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10107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542403"/>
            <a:ext cx="9303793" cy="3880773"/>
          </a:xfrm>
        </p:spPr>
        <p:txBody>
          <a:bodyPr>
            <a:normAutofit/>
          </a:bodyPr>
          <a:lstStyle/>
          <a:p>
            <a:r>
              <a:rPr lang="en-US" sz="2400" dirty="0"/>
              <a:t>Represent each of the following quantity in 2-bytes using </a:t>
            </a:r>
            <a:br>
              <a:rPr lang="en-US" sz="2400" dirty="0"/>
            </a:br>
            <a:r>
              <a:rPr lang="en-US" sz="2400" dirty="0"/>
              <a:t>sign-magnitude method.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059338"/>
              </p:ext>
            </p:extLst>
          </p:nvPr>
        </p:nvGraphicFramePr>
        <p:xfrm>
          <a:off x="1605567" y="2955291"/>
          <a:ext cx="1524000" cy="27629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65536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196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-65535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-32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586">
                <a:tc>
                  <a:txBody>
                    <a:bodyPr/>
                    <a:lstStyle/>
                    <a:p>
                      <a:pPr algn="r" fontAlgn="b"/>
                      <a:r>
                        <a:rPr lang="en-US" sz="2800" u="none" strike="noStrike" dirty="0">
                          <a:effectLst/>
                        </a:rPr>
                        <a:t>100015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51541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5713"/>
          </a:xfrm>
        </p:spPr>
        <p:txBody>
          <a:bodyPr/>
          <a:lstStyle/>
          <a:p>
            <a:r>
              <a:rPr lang="en-US" dirty="0"/>
              <a:t>How to represent images in RAM?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06062" y="1362098"/>
            <a:ext cx="4816699" cy="5308056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Image is a rectangular collection{array} of samples.</a:t>
            </a:r>
          </a:p>
          <a:p>
            <a:r>
              <a:rPr lang="en-US" sz="2400" dirty="0"/>
              <a:t>IDEA</a:t>
            </a:r>
          </a:p>
          <a:p>
            <a:pPr lvl="1"/>
            <a:r>
              <a:rPr lang="en-US" sz="2200" dirty="0"/>
              <a:t>Let’s represent as a </a:t>
            </a:r>
            <a:r>
              <a:rPr lang="en-US" sz="2200" b="1" dirty="0"/>
              <a:t>value of color </a:t>
            </a:r>
            <a:r>
              <a:rPr lang="en-US" sz="2200" dirty="0"/>
              <a:t>at each sample point.</a:t>
            </a:r>
          </a:p>
          <a:p>
            <a:r>
              <a:rPr lang="en-US" sz="2400" dirty="0"/>
              <a:t>Color at each point can be the amounts of RED, GREEN and BLUE colors to makeup the color.</a:t>
            </a:r>
          </a:p>
          <a:p>
            <a:pPr lvl="1"/>
            <a:r>
              <a:rPr lang="en-US" sz="2200" dirty="0"/>
              <a:t>We can represent color at each point as three unsigned numbers and hence we might use three bytes to represent each color value</a:t>
            </a:r>
          </a:p>
        </p:txBody>
      </p:sp>
      <p:pic>
        <p:nvPicPr>
          <p:cNvPr id="9" name="Content Placeholder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380" y="2078769"/>
            <a:ext cx="2244389" cy="220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41296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927</TotalTime>
  <Words>1180</Words>
  <Application>Microsoft Office PowerPoint</Application>
  <PresentationFormat>Widescreen</PresentationFormat>
  <Paragraphs>300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Facet</vt:lpstr>
      <vt:lpstr>Lecture 02 Path to Lecture Folder: \\sandata\Xeon\Fall 2018\Bismillah Jan</vt:lpstr>
      <vt:lpstr>Computers Process Data</vt:lpstr>
      <vt:lpstr>Computers Process Data</vt:lpstr>
      <vt:lpstr>Computer store data in memory</vt:lpstr>
      <vt:lpstr>WHAT IS Random Access MEMORY(RAM)?</vt:lpstr>
      <vt:lpstr>What is inside a Byte?</vt:lpstr>
      <vt:lpstr>What can be represented using a Bit</vt:lpstr>
      <vt:lpstr>Memory Measuring Units  (As viewed by computer scientists)</vt:lpstr>
      <vt:lpstr>Bits within Bytes and Place Value</vt:lpstr>
      <vt:lpstr>Bytes as Numbers</vt:lpstr>
      <vt:lpstr>Exercise # 1 Note: Write exercises on a separate page, you have to submit it at the end of lecture</vt:lpstr>
      <vt:lpstr>Exercise # 2</vt:lpstr>
      <vt:lpstr>Representing a Decimal Number in Binary</vt:lpstr>
      <vt:lpstr>Exercise # 3</vt:lpstr>
      <vt:lpstr>How can we represent a character?</vt:lpstr>
      <vt:lpstr>How can we represent a character?</vt:lpstr>
      <vt:lpstr>ASCII Character Encoding</vt:lpstr>
      <vt:lpstr>Exercise # 4</vt:lpstr>
      <vt:lpstr>Exercise # 5</vt:lpstr>
      <vt:lpstr>Representing Non-Negative(Unsigned) Integer Values</vt:lpstr>
      <vt:lpstr>Exercise # 5</vt:lpstr>
      <vt:lpstr>Representing Non-Negative(Unsigned) Integer Values</vt:lpstr>
      <vt:lpstr>Representing Non-Negative(Unsigned) Integer Values</vt:lpstr>
      <vt:lpstr>Exercise # 6 </vt:lpstr>
      <vt:lpstr>Exercise # 7 </vt:lpstr>
      <vt:lpstr>Representing signed Integer Values</vt:lpstr>
      <vt:lpstr>Exercise</vt:lpstr>
      <vt:lpstr>How to represent images in RAM?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II</dc:title>
  <dc:creator>iuser</dc:creator>
  <cp:lastModifiedBy>Unknown User</cp:lastModifiedBy>
  <cp:revision>145</cp:revision>
  <dcterms:created xsi:type="dcterms:W3CDTF">2018-08-31T12:28:43Z</dcterms:created>
  <dcterms:modified xsi:type="dcterms:W3CDTF">2022-08-21T04:20:47Z</dcterms:modified>
</cp:coreProperties>
</file>