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11F76-6282-422A-AE9F-13DCEE1728B2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7841-2624-4E4B-87D2-341ED27EDE4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Earth Resource</a:t>
            </a:r>
            <a:r>
              <a:rPr lang="en-US" baseline="0" dirty="0"/>
              <a:t> Data Analyses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C7841-2624-4E4B-87D2-341ED27EDE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4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png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Artificial Intelligence</a:t>
            </a:r>
            <a:br>
              <a:rPr lang="en-US" dirty="0"/>
            </a:br>
            <a:r>
              <a:rPr lang="en-US" sz="3600" dirty="0">
                <a:solidFill>
                  <a:schemeClr val="accent2"/>
                </a:solidFill>
              </a:rPr>
              <a:t>IICT Lecture 09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Bismillah</a:t>
            </a:r>
            <a:r>
              <a:rPr lang="en-US" dirty="0"/>
              <a:t> Jan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FAST NU CS Dept.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very general mental capability that involves the ability to </a:t>
            </a:r>
            <a:r>
              <a:rPr lang="en-US" dirty="0">
                <a:solidFill>
                  <a:srgbClr val="FF0000"/>
                </a:solidFill>
              </a:rPr>
              <a:t>reason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plan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solve problems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think abstractly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comprehend complex ideas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learn quickly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learn from experience</a:t>
            </a:r>
            <a:r>
              <a:rPr lang="en-US" dirty="0"/>
              <a:t>. [1]</a:t>
            </a:r>
          </a:p>
          <a:p>
            <a:r>
              <a:rPr lang="en-US" dirty="0"/>
              <a:t>Measurement of Intelligence: </a:t>
            </a:r>
          </a:p>
          <a:p>
            <a:pPr lvl="1"/>
            <a:r>
              <a:rPr lang="en-US" dirty="0"/>
              <a:t> Intelligence Quotient (IQ)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396336"/>
            <a:ext cx="891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Mainstream Science on Intelligence reprinted in </a:t>
            </a:r>
            <a:r>
              <a:rPr lang="en-US" sz="1200" dirty="0" err="1"/>
              <a:t>Gottfredson</a:t>
            </a:r>
            <a:r>
              <a:rPr lang="en-US" sz="1200" dirty="0"/>
              <a:t> (1997). </a:t>
            </a:r>
            <a:r>
              <a:rPr lang="en-US" sz="1200" i="1" dirty="0"/>
              <a:t>Intelligence </a:t>
            </a:r>
            <a:r>
              <a:rPr lang="en-US" sz="1200" dirty="0"/>
              <a:t>p. 13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 flipH="1" flipV="1">
            <a:off x="2971800" y="2971800"/>
            <a:ext cx="21336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6200000" flipH="1">
            <a:off x="4343400" y="3048000"/>
            <a:ext cx="2514600" cy="1447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124200" y="3886200"/>
            <a:ext cx="289560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Calculative Puzzle: </a:t>
            </a:r>
            <a:br>
              <a:rPr lang="en-US" dirty="0"/>
            </a:br>
            <a:r>
              <a:rPr lang="en-US" sz="4000" dirty="0">
                <a:solidFill>
                  <a:srgbClr val="0070C0"/>
                </a:solidFill>
              </a:rPr>
              <a:t>Calculation, </a:t>
            </a:r>
            <a:r>
              <a:rPr lang="en-US" sz="4000" dirty="0">
                <a:solidFill>
                  <a:srgbClr val="FF0000"/>
                </a:solidFill>
              </a:rPr>
              <a:t>Computation</a:t>
            </a:r>
            <a:r>
              <a:rPr lang="en-US" sz="4000" dirty="0">
                <a:solidFill>
                  <a:srgbClr val="0070C0"/>
                </a:solidFill>
              </a:rPr>
              <a:t>, </a:t>
            </a:r>
            <a:r>
              <a:rPr lang="en-US" sz="4000" dirty="0">
                <a:solidFill>
                  <a:srgbClr val="00B050"/>
                </a:solidFill>
              </a:rPr>
              <a:t>Reasoning 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543800" cy="393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number of times the digit 0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1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2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3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4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5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6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7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8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9 appears in this puzzle is ?. 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62484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Replace </a:t>
            </a:r>
            <a:r>
              <a:rPr lang="en-US" sz="2400" b="1" dirty="0"/>
              <a:t>?</a:t>
            </a:r>
            <a:r>
              <a:rPr lang="en-US" sz="2400" dirty="0"/>
              <a:t> s</a:t>
            </a:r>
            <a:r>
              <a:rPr lang="en-US" sz="2000" dirty="0"/>
              <a:t>ign with count of numbers?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Calculative Puzzle: </a:t>
            </a:r>
            <a:br>
              <a:rPr lang="en-US" dirty="0"/>
            </a:br>
            <a:r>
              <a:rPr lang="en-US" sz="4000" dirty="0">
                <a:solidFill>
                  <a:srgbClr val="0070C0"/>
                </a:solidFill>
              </a:rPr>
              <a:t>Calculation, </a:t>
            </a:r>
            <a:r>
              <a:rPr lang="en-US" sz="4000" dirty="0">
                <a:solidFill>
                  <a:srgbClr val="FF0000"/>
                </a:solidFill>
              </a:rPr>
              <a:t>Computation</a:t>
            </a:r>
            <a:r>
              <a:rPr lang="en-US" sz="4000" dirty="0">
                <a:solidFill>
                  <a:srgbClr val="0070C0"/>
                </a:solidFill>
              </a:rPr>
              <a:t>, </a:t>
            </a:r>
            <a:r>
              <a:rPr lang="en-US" sz="4000" dirty="0">
                <a:solidFill>
                  <a:srgbClr val="00B050"/>
                </a:solidFill>
              </a:rPr>
              <a:t>Reasoning 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543800" cy="393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number of times the digit 0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1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2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3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4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5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6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7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8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9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 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62484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Replace </a:t>
            </a:r>
            <a:r>
              <a:rPr lang="en-US" sz="2400" b="1" dirty="0"/>
              <a:t>?</a:t>
            </a:r>
            <a:r>
              <a:rPr lang="en-US" sz="2400" dirty="0"/>
              <a:t> s</a:t>
            </a:r>
            <a:r>
              <a:rPr lang="en-US" sz="2000" dirty="0"/>
              <a:t>ign with count of numbers?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Painting by two different painters:</a:t>
            </a:r>
            <a:br>
              <a:rPr lang="en-US" sz="4000" dirty="0"/>
            </a:br>
            <a:r>
              <a:rPr lang="en-US" sz="4000" dirty="0">
                <a:solidFill>
                  <a:srgbClr val="0070C0"/>
                </a:solidFill>
              </a:rP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7372350" cy="421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467600" y="2438400"/>
            <a:ext cx="1354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4648200"/>
            <a:ext cx="1342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your turn…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Who’s painting is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1" y="2021999"/>
            <a:ext cx="4343400" cy="379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05000"/>
            <a:ext cx="5468937" cy="411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odd one out: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Unsupervised Learning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676401"/>
            <a:ext cx="518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3352800"/>
            <a:ext cx="7029450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9530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is the next number in this series?</a:t>
            </a:r>
          </a:p>
          <a:p>
            <a:r>
              <a:rPr lang="en-US" dirty="0"/>
              <a:t>1, 1, 2, 3, 5, 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Would you cross a road when a fast car is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approaching? </a:t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971800"/>
            <a:ext cx="3657600" cy="331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sz="2200" dirty="0"/>
              <a:t>Knight’s Plight</a:t>
            </a:r>
          </a:p>
          <a:p>
            <a:pPr lvl="1"/>
            <a:r>
              <a:rPr lang="en-US" sz="1800" dirty="0"/>
              <a:t>Planning</a:t>
            </a:r>
          </a:p>
          <a:p>
            <a:r>
              <a:rPr lang="en-US" sz="2200" dirty="0"/>
              <a:t> Calculative Puzzle</a:t>
            </a:r>
          </a:p>
          <a:p>
            <a:pPr lvl="1"/>
            <a:r>
              <a:rPr lang="en-US" sz="1800" dirty="0"/>
              <a:t>Calculation, Computation, Reasoning</a:t>
            </a:r>
          </a:p>
          <a:p>
            <a:r>
              <a:rPr lang="en-US" sz="2200" dirty="0"/>
              <a:t>Finding the odd one out</a:t>
            </a:r>
          </a:p>
          <a:p>
            <a:pPr lvl="1"/>
            <a:r>
              <a:rPr lang="en-US" sz="1800" dirty="0"/>
              <a:t>Unsupervised Learning</a:t>
            </a:r>
          </a:p>
          <a:p>
            <a:r>
              <a:rPr lang="en-US" sz="2200" dirty="0"/>
              <a:t>Painting by two different painters</a:t>
            </a:r>
          </a:p>
          <a:p>
            <a:pPr lvl="1"/>
            <a:r>
              <a:rPr lang="en-US" sz="1800" dirty="0"/>
              <a:t>Supervised Learning</a:t>
            </a:r>
          </a:p>
          <a:p>
            <a:r>
              <a:rPr lang="en-US" sz="2200" dirty="0"/>
              <a:t>Series Completion</a:t>
            </a:r>
          </a:p>
          <a:p>
            <a:pPr lvl="1"/>
            <a:r>
              <a:rPr lang="en-US" sz="1800" dirty="0"/>
              <a:t>Prediction</a:t>
            </a:r>
          </a:p>
          <a:p>
            <a:r>
              <a:rPr lang="en-US" sz="2200" dirty="0"/>
              <a:t>Road Crossing</a:t>
            </a:r>
          </a:p>
          <a:p>
            <a:pPr lvl="1"/>
            <a:r>
              <a:rPr lang="en-US" sz="1800" dirty="0"/>
              <a:t>Rational Actions</a:t>
            </a:r>
          </a:p>
          <a:p>
            <a:r>
              <a:rPr lang="en-US" sz="2200" dirty="0"/>
              <a:t>Process of Writing this Conclusion</a:t>
            </a:r>
          </a:p>
          <a:p>
            <a:pPr lvl="1"/>
            <a:r>
              <a:rPr lang="en-US" sz="1800" dirty="0"/>
              <a:t> Summarizing, Abstraction 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590800"/>
            <a:ext cx="1676400" cy="299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loud Callout 5"/>
          <p:cNvSpPr/>
          <p:nvPr/>
        </p:nvSpPr>
        <p:spPr>
          <a:xfrm>
            <a:off x="5638800" y="914400"/>
            <a:ext cx="2743200" cy="19050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Searching for a solution is central to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are the very characteristics of Intelligent beings!!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Computers are ______.</a:t>
            </a:r>
          </a:p>
          <a:p>
            <a:r>
              <a:rPr lang="en-US" dirty="0"/>
              <a:t>Making a machine (computer) to perform the</a:t>
            </a:r>
            <a:br>
              <a:rPr lang="en-US" dirty="0"/>
            </a:br>
            <a:r>
              <a:rPr lang="en-US" dirty="0"/>
              <a:t>same tasks which you have just done is called______.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Artificial Intelligence </a:t>
            </a:r>
          </a:p>
          <a:p>
            <a:r>
              <a:rPr lang="en-US" dirty="0"/>
              <a:t>If you learn to do these tasks using existing</a:t>
            </a:r>
            <a:br>
              <a:rPr lang="en-US" dirty="0"/>
            </a:br>
            <a:r>
              <a:rPr lang="en-US" dirty="0"/>
              <a:t>data, then this is called 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Learning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1752600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>
                <a:solidFill>
                  <a:srgbClr val="FF0000"/>
                </a:solidFill>
              </a:rPr>
              <a:t>Dumb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Artificial Intelligence takes the problem of</a:t>
            </a:r>
            <a:br>
              <a:rPr lang="en-US" dirty="0"/>
            </a:br>
            <a:r>
              <a:rPr lang="en-US" dirty="0"/>
              <a:t>understanding </a:t>
            </a:r>
            <a:r>
              <a:rPr lang="en-US" i="1" dirty="0"/>
              <a:t>how we think </a:t>
            </a:r>
            <a:r>
              <a:rPr lang="en-US" dirty="0"/>
              <a:t>a step further</a:t>
            </a:r>
          </a:p>
          <a:p>
            <a:pPr lvl="1"/>
            <a:r>
              <a:rPr lang="en-US" dirty="0"/>
              <a:t> It attempts not just to understand it – but – also</a:t>
            </a:r>
            <a:br>
              <a:rPr lang="en-US" dirty="0"/>
            </a:br>
            <a:r>
              <a:rPr lang="en-US" dirty="0"/>
              <a:t>to build intelligent entities</a:t>
            </a:r>
          </a:p>
          <a:p>
            <a:r>
              <a:rPr lang="en-US" dirty="0"/>
              <a:t>A more proper definition of Artificial</a:t>
            </a:r>
            <a:br>
              <a:rPr lang="en-US" dirty="0"/>
            </a:br>
            <a:r>
              <a:rPr lang="en-US" dirty="0"/>
              <a:t>Intelligence</a:t>
            </a:r>
          </a:p>
          <a:p>
            <a:pPr lvl="1"/>
            <a:r>
              <a:rPr lang="en-US" i="1" dirty="0"/>
              <a:t>The art of creating machines that perform</a:t>
            </a:r>
            <a:br>
              <a:rPr lang="en-US" i="1" dirty="0"/>
            </a:br>
            <a:r>
              <a:rPr lang="en-US" i="1" dirty="0"/>
              <a:t>functions that require intelligence when</a:t>
            </a:r>
            <a:br>
              <a:rPr lang="en-US" i="1" dirty="0"/>
            </a:br>
            <a:r>
              <a:rPr lang="en-US" i="1" dirty="0"/>
              <a:t>performed by people [1]</a:t>
            </a:r>
          </a:p>
          <a:p>
            <a:r>
              <a:rPr lang="en-US" dirty="0"/>
              <a:t>Measurement of Artificial Intelligence</a:t>
            </a:r>
          </a:p>
          <a:p>
            <a:pPr lvl="1"/>
            <a:r>
              <a:rPr lang="en-US" dirty="0"/>
              <a:t>Turing Test 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581001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Rich E., and Knight K., (1991). </a:t>
            </a:r>
            <a:r>
              <a:rPr lang="en-US" sz="1200" i="1" dirty="0"/>
              <a:t>Artificial Intelligence (2e), </a:t>
            </a:r>
            <a:r>
              <a:rPr lang="en-US" sz="1200" dirty="0"/>
              <a:t>McGraw-Hill, </a:t>
            </a:r>
            <a:r>
              <a:rPr lang="en-US" sz="1200" dirty="0" err="1"/>
              <a:t>NewYork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5105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Turing Test</a:t>
            </a:r>
          </a:p>
          <a:p>
            <a:pPr lvl="1"/>
            <a:r>
              <a:rPr lang="en-US" dirty="0"/>
              <a:t>Suggested major components of AI: knowledge, reasoning, language understanding,</a:t>
            </a:r>
            <a:br>
              <a:rPr lang="en-US" dirty="0"/>
            </a:br>
            <a:r>
              <a:rPr lang="en-US" dirty="0"/>
              <a:t>learning</a:t>
            </a:r>
          </a:p>
          <a:p>
            <a:r>
              <a:rPr lang="en-US" dirty="0"/>
              <a:t>Application of the Turing</a:t>
            </a:r>
            <a:br>
              <a:rPr lang="en-US" dirty="0"/>
            </a:br>
            <a:r>
              <a:rPr lang="en-US" dirty="0"/>
              <a:t>Test</a:t>
            </a:r>
          </a:p>
          <a:p>
            <a:pPr lvl="1"/>
            <a:r>
              <a:rPr lang="en-US" dirty="0"/>
              <a:t>CAPTCHA: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ompletely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utomated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ublic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uring test to tell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omputers and 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umans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part </a:t>
            </a:r>
            <a:br>
              <a:rPr lang="en-US" dirty="0"/>
            </a:b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2057400"/>
            <a:ext cx="3738729" cy="28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5334000"/>
            <a:ext cx="3048000" cy="125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  <a:p>
            <a:pPr lvl="1"/>
            <a:r>
              <a:rPr lang="en-US" dirty="0"/>
              <a:t>Kasparov Vs. IBM Blue</a:t>
            </a:r>
            <a:br>
              <a:rPr lang="en-US" dirty="0"/>
            </a:br>
            <a:r>
              <a:rPr lang="en-US" dirty="0"/>
              <a:t>(1997)</a:t>
            </a:r>
          </a:p>
          <a:p>
            <a:r>
              <a:rPr lang="en-US" dirty="0"/>
              <a:t>Calculation</a:t>
            </a:r>
          </a:p>
          <a:p>
            <a:pPr lvl="1"/>
            <a:r>
              <a:rPr lang="en-US" dirty="0"/>
              <a:t>Symbolic Integration in</a:t>
            </a:r>
            <a:br>
              <a:rPr lang="en-US" dirty="0"/>
            </a:br>
            <a:r>
              <a:rPr lang="en-US" dirty="0" err="1"/>
              <a:t>Mathematica</a:t>
            </a:r>
            <a:endParaRPr lang="en-US" dirty="0"/>
          </a:p>
          <a:p>
            <a:pPr lvl="1"/>
            <a:r>
              <a:rPr lang="en-US" dirty="0"/>
              <a:t>Theorem </a:t>
            </a:r>
            <a:r>
              <a:rPr lang="en-US" dirty="0" err="1"/>
              <a:t>Provers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3152" y="0"/>
            <a:ext cx="4180848" cy="24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590800"/>
            <a:ext cx="403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without a Teacher</a:t>
            </a:r>
          </a:p>
          <a:p>
            <a:pPr lvl="1"/>
            <a:r>
              <a:rPr lang="en-US" dirty="0"/>
              <a:t> ERDAS Imagine</a:t>
            </a:r>
          </a:p>
          <a:p>
            <a:pPr lvl="1"/>
            <a:r>
              <a:rPr lang="en-US" dirty="0"/>
              <a:t>Classification of Land</a:t>
            </a:r>
            <a:br>
              <a:rPr lang="en-US" dirty="0"/>
            </a:br>
            <a:r>
              <a:rPr lang="en-US" dirty="0"/>
              <a:t>Use</a:t>
            </a:r>
          </a:p>
          <a:p>
            <a:pPr>
              <a:buNone/>
            </a:pPr>
            <a:r>
              <a:rPr lang="en-US" dirty="0">
                <a:solidFill>
                  <a:schemeClr val="tx2"/>
                </a:solidFill>
              </a:rPr>
              <a:t>ERDAS: 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World Class Remote Sensing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Software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2409" y="1752600"/>
            <a:ext cx="3671591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2450" y="6372225"/>
            <a:ext cx="85915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3886200" cy="30479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Learning with a teacher</a:t>
            </a:r>
          </a:p>
          <a:p>
            <a:pPr lvl="1"/>
            <a:r>
              <a:rPr lang="en-US" dirty="0"/>
              <a:t>No Hands Across America!</a:t>
            </a:r>
          </a:p>
          <a:p>
            <a:pPr lvl="1"/>
            <a:r>
              <a:rPr lang="en-US" dirty="0"/>
              <a:t>Optical Character Recognition </a:t>
            </a:r>
            <a:br>
              <a:rPr lang="en-US" dirty="0"/>
            </a:b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24400"/>
            <a:ext cx="4572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21275" y="4732337"/>
            <a:ext cx="4022725" cy="212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1066800"/>
            <a:ext cx="6934200" cy="337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</a:t>
            </a:r>
            <a:r>
              <a:rPr lang="en-US"/>
              <a:t>and Prediction</a:t>
            </a:r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95400"/>
            <a:ext cx="7086600" cy="51323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0070C0"/>
                </a:solidFill>
              </a:rPr>
              <a:t>Is deep blue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4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Deep Blue defeated the world chess champion Garry Kasparov. Does this make Deep Blue </a:t>
            </a:r>
            <a:r>
              <a:rPr lang="en-US" sz="3400" b="1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an intelligent machine</a:t>
            </a:r>
            <a:r>
              <a:rPr lang="en-US" sz="34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?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Think about it for a few seconds and take a stance</a:t>
            </a:r>
          </a:p>
          <a:p>
            <a:r>
              <a:rPr lang="en-US" sz="3400" b="1" dirty="0">
                <a:latin typeface="+mj-lt"/>
                <a:cs typeface="Times New Roman" pitchFamily="18" charset="0"/>
              </a:rPr>
              <a:t>Write down at least two items </a:t>
            </a:r>
            <a:r>
              <a:rPr lang="en-US" sz="3400" dirty="0">
                <a:latin typeface="+mj-lt"/>
                <a:cs typeface="Times New Roman" pitchFamily="18" charset="0"/>
              </a:rPr>
              <a:t>that support your claim either way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Pair up with your neighbor and Exchange opinions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Try to argue for your stance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Listen carefully to the arguments of your neighbor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Try to reach an agreement, if possible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Make your verdict: YES (machine is intelligent) or NO (</a:t>
            </a:r>
            <a:r>
              <a:rPr lang="en-US" sz="3400">
                <a:latin typeface="+mj-lt"/>
                <a:cs typeface="Times New Roman" pitchFamily="18" charset="0"/>
              </a:rPr>
              <a:t>machine is not </a:t>
            </a:r>
            <a:r>
              <a:rPr lang="en-US" sz="3400" dirty="0">
                <a:latin typeface="+mj-lt"/>
                <a:cs typeface="Times New Roman" pitchFamily="18" charset="0"/>
              </a:rPr>
              <a:t>intelligent) or X (no agreement)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0"/>
            <a:ext cx="3429000" cy="2027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Blue Vs Garry Kasparov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8474449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8523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Natural Language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The man tried to take a picture of a man with a turban.</a:t>
            </a:r>
          </a:p>
          <a:p>
            <a:pPr lvl="1"/>
            <a:r>
              <a:rPr lang="en-US" dirty="0"/>
              <a:t>Did the man try to take a picture with a turban, or</a:t>
            </a:r>
          </a:p>
          <a:p>
            <a:pPr lvl="1"/>
            <a:r>
              <a:rPr lang="en-US" dirty="0"/>
              <a:t> take a picture of a man who is wearing a turban? </a:t>
            </a:r>
          </a:p>
          <a:p>
            <a:r>
              <a:rPr lang="en-US" i="1" dirty="0"/>
              <a:t>The man saw the boy with the telescope</a:t>
            </a:r>
          </a:p>
          <a:p>
            <a:r>
              <a:rPr lang="en-US" dirty="0">
                <a:solidFill>
                  <a:srgbClr val="0070C0"/>
                </a:solidFill>
              </a:rPr>
              <a:t>Communicating in natural language assumes </a:t>
            </a:r>
            <a:r>
              <a:rPr lang="en-US" b="1" dirty="0">
                <a:solidFill>
                  <a:srgbClr val="0070C0"/>
                </a:solidFill>
              </a:rPr>
              <a:t>world knowledge </a:t>
            </a:r>
            <a:r>
              <a:rPr lang="en-US" dirty="0">
                <a:solidFill>
                  <a:srgbClr val="0070C0"/>
                </a:solidFill>
              </a:rPr>
              <a:t>and </a:t>
            </a:r>
            <a:r>
              <a:rPr lang="en-US" b="1" dirty="0">
                <a:solidFill>
                  <a:srgbClr val="0070C0"/>
                </a:solidFill>
              </a:rPr>
              <a:t>the understanding of context</a:t>
            </a:r>
            <a:r>
              <a:rPr lang="en-US" dirty="0">
                <a:solidFill>
                  <a:srgbClr val="0070C0"/>
                </a:solidFill>
              </a:rPr>
              <a:t>, both of which are required to resolve the ambiguities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Study: Self-driving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two pages summary of Autonomous Car in </a:t>
            </a:r>
            <a:r>
              <a:rPr lang="en-US" dirty="0">
                <a:solidFill>
                  <a:srgbClr val="FF0000"/>
                </a:solidFill>
              </a:rPr>
              <a:t>YOUR OWN WORDS</a:t>
            </a:r>
            <a:r>
              <a:rPr lang="en-US" dirty="0"/>
              <a:t>, take help from </a:t>
            </a:r>
            <a:r>
              <a:rPr lang="en-US" dirty="0" err="1"/>
              <a:t>google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558</Words>
  <Application>Microsoft Office PowerPoint</Application>
  <PresentationFormat>On-screen Show (4:3)</PresentationFormat>
  <Paragraphs>105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Introduction to Artificial Intelligence IICT Lecture 09</vt:lpstr>
      <vt:lpstr>Intelligence</vt:lpstr>
      <vt:lpstr>Planning: Knight’s Plight Can we move the given knight to the “Target” location?</vt:lpstr>
      <vt:lpstr>Planning: Knight’s Plight Can we move the given knight to the “Target” location?</vt:lpstr>
      <vt:lpstr>Calculative Puzzle:  Calculation, Computation, Reasoning </vt:lpstr>
      <vt:lpstr>Calculative Puzzle:  Calculation, Computation, Reasoning </vt:lpstr>
      <vt:lpstr>Painting by two different painters: Supervised Learning</vt:lpstr>
      <vt:lpstr>Now your turn…  Who’s painting is this?</vt:lpstr>
      <vt:lpstr>And this?</vt:lpstr>
      <vt:lpstr>Finding the odd one out: Unsupervised Learning</vt:lpstr>
      <vt:lpstr>Some more…</vt:lpstr>
      <vt:lpstr>Conclusion</vt:lpstr>
      <vt:lpstr>What is Artificial Intelligence?</vt:lpstr>
      <vt:lpstr>Artificial Intelligence</vt:lpstr>
      <vt:lpstr>Turing Test</vt:lpstr>
      <vt:lpstr>Is AI intelligent?</vt:lpstr>
      <vt:lpstr>Is AI intelligent?</vt:lpstr>
      <vt:lpstr>Is AI intelligent?</vt:lpstr>
      <vt:lpstr>Forecasting and Prediction</vt:lpstr>
      <vt:lpstr>Is deep blue Intelligent?</vt:lpstr>
      <vt:lpstr>Deep Blue Vs Garry Kasparov</vt:lpstr>
      <vt:lpstr>PowerPoint Presentation</vt:lpstr>
      <vt:lpstr>Natural Language Understanding</vt:lpstr>
      <vt:lpstr>Case Study: Self-driving 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creator>bismillahjan</dc:creator>
  <cp:lastModifiedBy>hanana Nankay</cp:lastModifiedBy>
  <cp:revision>220</cp:revision>
  <dcterms:created xsi:type="dcterms:W3CDTF">2006-08-16T00:00:00Z</dcterms:created>
  <dcterms:modified xsi:type="dcterms:W3CDTF">2023-11-05T18:30:54Z</dcterms:modified>
</cp:coreProperties>
</file>