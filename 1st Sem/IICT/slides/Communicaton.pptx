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sldIdLst>
    <p:sldId id="407" r:id="rId2"/>
    <p:sldId id="487" r:id="rId3"/>
    <p:sldId id="406" r:id="rId4"/>
    <p:sldId id="460" r:id="rId5"/>
    <p:sldId id="461" r:id="rId6"/>
    <p:sldId id="463" r:id="rId7"/>
    <p:sldId id="464" r:id="rId8"/>
    <p:sldId id="468" r:id="rId9"/>
    <p:sldId id="465" r:id="rId10"/>
    <p:sldId id="466" r:id="rId11"/>
    <p:sldId id="467" r:id="rId12"/>
    <p:sldId id="469" r:id="rId13"/>
    <p:sldId id="470" r:id="rId14"/>
    <p:sldId id="471" r:id="rId15"/>
    <p:sldId id="472" r:id="rId16"/>
    <p:sldId id="473" r:id="rId17"/>
    <p:sldId id="474" r:id="rId18"/>
    <p:sldId id="476" r:id="rId19"/>
    <p:sldId id="486" r:id="rId20"/>
    <p:sldId id="478" r:id="rId21"/>
    <p:sldId id="479" r:id="rId22"/>
    <p:sldId id="477" r:id="rId23"/>
    <p:sldId id="480" r:id="rId24"/>
    <p:sldId id="481" r:id="rId25"/>
    <p:sldId id="482" r:id="rId26"/>
    <p:sldId id="483" r:id="rId27"/>
    <p:sldId id="484" r:id="rId28"/>
    <p:sldId id="485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4873"/>
    <a:srgbClr val="993366"/>
    <a:srgbClr val="008000"/>
    <a:srgbClr val="CC00CC"/>
    <a:srgbClr val="FF5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"/>
    </p:cViewPr>
  </p:sorterViewPr>
  <p:notesViewPr>
    <p:cSldViewPr>
      <p:cViewPr varScale="1">
        <p:scale>
          <a:sx n="36" d="100"/>
          <a:sy n="36" d="100"/>
        </p:scale>
        <p:origin x="-148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EBC4CFA-76A8-3C63-4452-6DD3DE9E3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80CD2A0-B6CB-739C-4C6D-7A465603E8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11BCD716-0FCB-4A04-0AAA-10EAD54178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367F8F7B-3B56-45CB-2109-2F7DF9FCF11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CEA2CAE7-6FED-9247-EA23-49DE5B15AF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1AA10153-25C9-384C-9A8E-5784AEAB9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82DD1C89-F337-47A4-9E86-1A5F910AB3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35E0D66-46FE-75B0-8E17-4595F0BA52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6E2AC435-89D4-C2CA-BFA8-DD9FB7BA5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/>
              <a:t>Act of transferring information from one place to another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F9C9553-C58B-D9E7-66B0-374738FD9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02AAA7-7304-4FA7-A45F-4F28F0A77301}" type="slidenum">
              <a:rPr lang="en-US" altLang="en-US" sz="1200" b="0"/>
              <a:pPr/>
              <a:t>2</a:t>
            </a:fld>
            <a:endParaRPr lang="en-US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0F5208-92D2-8145-990D-612024C84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4DAB48-D227-23E9-463E-718C80FFA2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DAA150-D260-C3C0-EB65-7BC7F0238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A8F19B-B9F1-4A85-A985-270EDF98D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47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474B76-5ADE-CA0C-D7CF-16A704948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41F444-EE50-84E0-ABFC-AD6A61EADC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BD41EC-6C98-C4B3-7D32-34416CD133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E636B-9032-4CA6-A2DF-2A0EB693BC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3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899200-6FAB-B823-4CC4-D93B0023E6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8DC847-9B50-38BC-5B42-DA481A865E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492F5F-A23F-0AEB-1937-62FA38F8F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506CED-2633-4A6B-8699-02B7E6908C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788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705C7-3014-A020-0B87-981EA7F9CE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2238E-4C85-AEB5-C91B-EBDD7FA962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D8FD9-977F-0C72-039A-CA2793CB9B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7B8D91-903A-4838-8679-8C52107DA5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24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0C10BC-80DC-6414-295B-CE648C76E5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A8D17D-2679-72CB-7242-3C745A74A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277CD71-4D42-B887-1B33-5283B7920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90374D-3ECF-442C-A9BF-4E7BC308EB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0883A38-AC09-ECD3-FD43-325B3E0998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EEB0DB5-732D-3249-911F-84B76AF68E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1F0F35-1F01-0A38-2475-E6FA0A7A94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60F2FF-7606-4A6D-9340-3038B4226B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82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77A4F2-2CD2-588A-316B-C518B3A91B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50FCB3B-AEBD-9B03-2348-9D3DA0137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2238DE-6B8B-7325-B787-7D62CAD5FB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27B193-A617-4382-BD84-C015DADC39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08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DA6A8-D599-CA6C-4752-E58359B040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DE608-E85E-A311-8E48-0C6051AABF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8136C-51F7-50D1-FFE5-CD52CB85D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BDD4A-C3F5-4285-A7AE-252512E7D8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66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0AB74-A509-A732-281D-A59C52A95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0C0B3-3D86-9188-58C4-EA0D10C6C0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07F39-942A-71B9-E32C-936274EE78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234FC-D2AB-4AED-ACE3-8914747BA2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15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992998-02B2-B13B-B4F6-921C929A7B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3EEACE-095C-3523-D4CC-3F9F9C646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7A4249-A53D-A338-85E3-A4B44FA8E7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1BD93D-E388-4C5B-A4B3-685A2D0916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35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B21EF-F050-602D-FE95-3CA0BE49BF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B05935-C121-9A82-0509-89D1AD67A5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6432EA-3B2C-1D60-FEBF-5D59AA3C3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72A43E-3FA4-4C15-A8FB-709370E645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45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DA9A98-7D24-24A9-EE4E-A6F854B10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1EED73-746F-6ED7-35BB-E7130A876E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1CE954-7E1C-BA3A-22DA-54D52451A6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3ADFB9-CA85-4EBC-B822-31D8F1974E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496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AAAA0-3134-1094-0C18-112D74A998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E2FE7-CA21-EFD0-50E4-140D782BB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3628F-07BD-3B67-8F4F-9565CE0E7C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08FA12-B221-40DD-8E81-8632729B08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16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1.jpe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7B14DF6-AAEA-A1F6-36E1-C217DD386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60960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C533591-DC67-B5DC-7BEC-1DB508FD9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711E48-7B45-D704-2358-AED76797BC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B451B6-204C-049B-BEAB-6F75C39CE5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C3B342-75F3-7B85-093C-7E4AF93CDA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48888573-5D67-40A8-A054-ABC09607393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6" descr="Logo Fast ">
            <a:extLst>
              <a:ext uri="{FF2B5EF4-FFF2-40B4-BE49-F238E27FC236}">
                <a16:creationId xmlns:a16="http://schemas.microsoft.com/office/drawing/2014/main" id="{D8943CFD-4EB0-77AF-8E7B-4E3FCE3687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6248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6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6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18.jpeg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7A4F12B6-3746-0D81-5C41-80C6B19A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0400"/>
            <a:ext cx="9144000" cy="1524000"/>
          </a:xfrm>
          <a:solidFill>
            <a:schemeClr val="accent2"/>
          </a:solidFill>
        </p:spPr>
        <p:txBody>
          <a:bodyPr/>
          <a:lstStyle/>
          <a:p>
            <a:br>
              <a:rPr lang="en-US" altLang="en-US">
                <a:solidFill>
                  <a:schemeClr val="bg1"/>
                </a:solidFill>
              </a:rPr>
            </a:br>
            <a:r>
              <a:rPr lang="en-US" altLang="en-US">
                <a:solidFill>
                  <a:schemeClr val="bg1"/>
                </a:solidFill>
              </a:rPr>
              <a:t>Communication System</a:t>
            </a:r>
            <a:br>
              <a:rPr lang="en-US" altLang="en-US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bg1"/>
                </a:solidFill>
              </a:rPr>
              <a:t>IICT Lecture 10</a:t>
            </a:r>
            <a:br>
              <a:rPr lang="en-US" altLang="en-US" sz="3200">
                <a:solidFill>
                  <a:schemeClr val="bg1"/>
                </a:solidFill>
              </a:rPr>
            </a:br>
            <a:br>
              <a:rPr lang="en-US" altLang="en-US" sz="3200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tx1"/>
                </a:solidFill>
              </a:rPr>
              <a:t>Bismillah Jan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051" name="Footer Placeholder 3">
            <a:extLst>
              <a:ext uri="{FF2B5EF4-FFF2-40B4-BE49-F238E27FC236}">
                <a16:creationId xmlns:a16="http://schemas.microsoft.com/office/drawing/2014/main" id="{D82363F2-9A44-7C84-A991-BCC993EB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2052" name="Picture 4" descr="Logo Fast ">
            <a:extLst>
              <a:ext uri="{FF2B5EF4-FFF2-40B4-BE49-F238E27FC236}">
                <a16:creationId xmlns:a16="http://schemas.microsoft.com/office/drawing/2014/main" id="{CB7BFDB1-306A-614E-67E7-D7B10FC57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62000"/>
            <a:ext cx="2133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0FF6757-73D3-E1AE-24F6-41D5BCFA20F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A84873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What is Communication?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6494FDDE-C67B-B50D-CFB0-21C2C1087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076" name="Footer Placeholder 3">
            <a:extLst>
              <a:ext uri="{FF2B5EF4-FFF2-40B4-BE49-F238E27FC236}">
                <a16:creationId xmlns:a16="http://schemas.microsoft.com/office/drawing/2014/main" id="{E3BE4781-0C21-8489-7178-FB247D83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F104A6C-547B-477B-008E-A2F8C646F60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Characteristics of Communication System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BD70BD8-A572-0325-5850-6E3C139F8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marL="225425">
              <a:spcBef>
                <a:spcPts val="100"/>
              </a:spcBef>
              <a:tabLst>
                <a:tab pos="3386138" algn="l"/>
              </a:tabLst>
            </a:pPr>
            <a:r>
              <a:rPr lang="en-US" altLang="en-US" sz="2400"/>
              <a:t>There must be a Sender and Receiver</a:t>
            </a:r>
          </a:p>
          <a:p>
            <a:pPr marL="225425">
              <a:spcBef>
                <a:spcPts val="100"/>
              </a:spcBef>
              <a:tabLst>
                <a:tab pos="3386138" algn="l"/>
              </a:tabLst>
            </a:pPr>
            <a:r>
              <a:rPr lang="en-US" altLang="en-US" sz="2400"/>
              <a:t>A protocol is a set of rules which governs the transfer of data between computers. Protocols allow communication between computers and networks.</a:t>
            </a:r>
          </a:p>
          <a:p>
            <a:pPr marL="225425">
              <a:spcBef>
                <a:spcPts val="100"/>
              </a:spcBef>
              <a:tabLst>
                <a:tab pos="3386138" algn="l"/>
              </a:tabLst>
            </a:pPr>
            <a:r>
              <a:rPr lang="en-US" altLang="en-US" sz="2400"/>
              <a:t>Handshaking is used to establish which protocols to use. Handshaking controls the flow of data between computers</a:t>
            </a:r>
          </a:p>
          <a:p>
            <a:pPr marL="225425">
              <a:spcBef>
                <a:spcPts val="100"/>
              </a:spcBef>
              <a:tabLst>
                <a:tab pos="3386138" algn="l"/>
              </a:tabLst>
            </a:pPr>
            <a:r>
              <a:rPr lang="en-US" altLang="en-US" sz="2400"/>
              <a:t>Protocols will determine the speed of transmission, error checking method, size of bytes, and whether synchronous or asynchronous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1AE383CC-0D99-AEA6-2BEE-19C54473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711B4F0-BBFE-E011-B01B-BD1323BD97E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Five Basic Components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FF33A2E-891D-D382-11E5-2E97057CE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800" b="1"/>
              <a:t>Every communication system has 5 basic requirements</a:t>
            </a:r>
          </a:p>
          <a:p>
            <a:r>
              <a:rPr lang="en-US" altLang="en-US" sz="2400"/>
              <a:t>Data Source (where the data originates)</a:t>
            </a:r>
          </a:p>
          <a:p>
            <a:r>
              <a:rPr lang="en-US" altLang="en-US" sz="2400"/>
              <a:t>Transmitter (device used to transmit data)</a:t>
            </a:r>
          </a:p>
          <a:p>
            <a:r>
              <a:rPr lang="en-US" altLang="en-US" sz="2400"/>
              <a:t>Transmission Medium (cables or non cable)</a:t>
            </a:r>
          </a:p>
          <a:p>
            <a:r>
              <a:rPr lang="en-US" altLang="en-US" sz="2400"/>
              <a:t>Receiver (device used to receive data)</a:t>
            </a:r>
          </a:p>
          <a:p>
            <a:r>
              <a:rPr lang="en-US" altLang="en-US" sz="2400"/>
              <a:t>Destination (where the data will be placed)</a:t>
            </a:r>
          </a:p>
          <a:p>
            <a:endParaRPr lang="en-US" altLang="en-US" sz="2400"/>
          </a:p>
        </p:txBody>
      </p:sp>
      <p:sp>
        <p:nvSpPr>
          <p:cNvPr id="5124" name="Footer Placeholder 3">
            <a:extLst>
              <a:ext uri="{FF2B5EF4-FFF2-40B4-BE49-F238E27FC236}">
                <a16:creationId xmlns:a16="http://schemas.microsoft.com/office/drawing/2014/main" id="{F35A1ACE-D6FC-AB0A-E44A-C948A4E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5125" name="object 8">
            <a:extLst>
              <a:ext uri="{FF2B5EF4-FFF2-40B4-BE49-F238E27FC236}">
                <a16:creationId xmlns:a16="http://schemas.microsoft.com/office/drawing/2014/main" id="{C71BA7DB-477F-3A50-7FA4-8BC295719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78450"/>
            <a:ext cx="9144000" cy="14795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A86755F-9F7E-4F54-D2AE-50F858D8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Pictorial Representation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662D27F6-1801-BF86-4AE6-9A73D1A69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148" name="Footer Placeholder 3">
            <a:extLst>
              <a:ext uri="{FF2B5EF4-FFF2-40B4-BE49-F238E27FC236}">
                <a16:creationId xmlns:a16="http://schemas.microsoft.com/office/drawing/2014/main" id="{FEF73717-1228-00A9-3D90-50CDFE63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6149" name="object 7">
            <a:extLst>
              <a:ext uri="{FF2B5EF4-FFF2-40B4-BE49-F238E27FC236}">
                <a16:creationId xmlns:a16="http://schemas.microsoft.com/office/drawing/2014/main" id="{F5234FA2-2EE6-5DA9-2DA6-89E22FC65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52600"/>
            <a:ext cx="9144000" cy="43291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753E580-712E-A51F-1898-E568308B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OSI Model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0CBE5F3A-8308-6527-187E-6435A41AA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The Open Systems Interconnection </a:t>
            </a:r>
            <a:r>
              <a:rPr lang="en-US" altLang="en-US" sz="2800" b="1"/>
              <a:t>model</a:t>
            </a:r>
            <a:r>
              <a:rPr lang="en-US" altLang="en-US" sz="2800"/>
              <a:t> (</a:t>
            </a:r>
            <a:r>
              <a:rPr lang="en-US" altLang="en-US" sz="2800" b="1"/>
              <a:t>OSI model</a:t>
            </a:r>
            <a:r>
              <a:rPr lang="en-US" altLang="en-US" sz="2800"/>
              <a:t>) is a conceptual </a:t>
            </a:r>
            <a:r>
              <a:rPr lang="en-US" altLang="en-US" sz="2800" b="1"/>
              <a:t>model</a:t>
            </a:r>
            <a:r>
              <a:rPr lang="en-US" altLang="en-US" sz="2800"/>
              <a:t> that characterizes and standardizes the communication functions of a telecommunication or computing system without regard to its underlying internal structure and technology.</a:t>
            </a:r>
          </a:p>
          <a:p>
            <a:r>
              <a:rPr lang="en-US" altLang="en-US" sz="2800"/>
              <a:t>The OSI model also provides much  more information which is included with  each package.</a:t>
            </a:r>
          </a:p>
          <a:p>
            <a:endParaRPr lang="en-US" altLang="en-US" sz="2800"/>
          </a:p>
        </p:txBody>
      </p:sp>
      <p:sp>
        <p:nvSpPr>
          <p:cNvPr id="7172" name="Footer Placeholder 3">
            <a:extLst>
              <a:ext uri="{FF2B5EF4-FFF2-40B4-BE49-F238E27FC236}">
                <a16:creationId xmlns:a16="http://schemas.microsoft.com/office/drawing/2014/main" id="{22BDFB55-29FA-DBE6-99BE-80230269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6E75246-5869-9C4E-27D6-1F62BB03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7 Layers of OSI Model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A69FB1F1-1C37-9BA8-843F-6DBB6E07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OSI	“Open System Interconnection”</a:t>
            </a:r>
          </a:p>
          <a:p>
            <a:r>
              <a:rPr lang="en-US" altLang="en-US" sz="2800"/>
              <a:t>OSI is not a protocol but a list of protocols  divided between 7 layers with each layer having  a different set of functions.</a:t>
            </a:r>
          </a:p>
          <a:p>
            <a:r>
              <a:rPr lang="en-US" altLang="en-US" sz="2800"/>
              <a:t>Each packet is layered/packaged with protocols  from each of the layers as it is processed.</a:t>
            </a:r>
          </a:p>
          <a:p>
            <a:r>
              <a:rPr lang="en-US" altLang="en-US" sz="2800"/>
              <a:t>The process of layering the protocols around  each package is called encapsulation. The final  encapsulated data packet is called a frame.</a:t>
            </a:r>
          </a:p>
          <a:p>
            <a:endParaRPr lang="en-US" altLang="en-US" sz="2800"/>
          </a:p>
        </p:txBody>
      </p:sp>
      <p:sp>
        <p:nvSpPr>
          <p:cNvPr id="8196" name="Footer Placeholder 3">
            <a:extLst>
              <a:ext uri="{FF2B5EF4-FFF2-40B4-BE49-F238E27FC236}">
                <a16:creationId xmlns:a16="http://schemas.microsoft.com/office/drawing/2014/main" id="{6935163A-094C-2EFD-3EFA-B32CAEAA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B777EF5-ECFD-840A-9CE5-F187F832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OSI Model</a:t>
            </a:r>
          </a:p>
        </p:txBody>
      </p:sp>
      <p:sp>
        <p:nvSpPr>
          <p:cNvPr id="9219" name="Footer Placeholder 3">
            <a:extLst>
              <a:ext uri="{FF2B5EF4-FFF2-40B4-BE49-F238E27FC236}">
                <a16:creationId xmlns:a16="http://schemas.microsoft.com/office/drawing/2014/main" id="{E5986DFD-A83C-2EB1-D8E2-B4E8A16C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9220" name="Picture 2" descr="Related image">
            <a:extLst>
              <a:ext uri="{FF2B5EF4-FFF2-40B4-BE49-F238E27FC236}">
                <a16:creationId xmlns:a16="http://schemas.microsoft.com/office/drawing/2014/main" id="{501A7072-F2D6-821B-AC27-C4589B8EF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684847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60F087C-1FE9-3E26-D69F-7BED2098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OSI Model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FE483051-325F-0675-BAED-74C16C303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OSI Reference Model</a:t>
            </a:r>
          </a:p>
        </p:txBody>
      </p:sp>
      <p:sp>
        <p:nvSpPr>
          <p:cNvPr id="10244" name="Footer Placeholder 3">
            <a:extLst>
              <a:ext uri="{FF2B5EF4-FFF2-40B4-BE49-F238E27FC236}">
                <a16:creationId xmlns:a16="http://schemas.microsoft.com/office/drawing/2014/main" id="{C7FE8745-5C5A-F8C4-D475-EB98015F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0245" name="Picture 2">
            <a:extLst>
              <a:ext uri="{FF2B5EF4-FFF2-40B4-BE49-F238E27FC236}">
                <a16:creationId xmlns:a16="http://schemas.microsoft.com/office/drawing/2014/main" id="{99FDF03C-CA0C-8681-7F0E-5D189630F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684371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701898C-7F48-73C2-4C41-C54E110E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Service Performed at Each Layer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7A4FB00-FF61-0B8B-52E1-1C6FD052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0" y="2133600"/>
            <a:ext cx="5410200" cy="4114800"/>
          </a:xfrm>
        </p:spPr>
        <p:txBody>
          <a:bodyPr/>
          <a:lstStyle/>
          <a:p>
            <a:r>
              <a:rPr lang="en-US" altLang="en-US" sz="2800"/>
              <a:t>Identification, authentication</a:t>
            </a:r>
          </a:p>
          <a:p>
            <a:r>
              <a:rPr lang="en-US" altLang="en-US" sz="2800"/>
              <a:t>Format conversion</a:t>
            </a:r>
          </a:p>
          <a:p>
            <a:r>
              <a:rPr lang="en-US" altLang="en-US" sz="2800"/>
              <a:t>Set-up coordinate conversation</a:t>
            </a:r>
          </a:p>
          <a:p>
            <a:r>
              <a:rPr lang="en-US" altLang="en-US" sz="2800"/>
              <a:t>Ensures error-free transfer</a:t>
            </a:r>
          </a:p>
          <a:p>
            <a:r>
              <a:rPr lang="en-US" altLang="en-US" sz="2800"/>
              <a:t>Routing of data through network</a:t>
            </a:r>
          </a:p>
          <a:p>
            <a:r>
              <a:rPr lang="en-US" altLang="en-US" sz="2800"/>
              <a:t>Error control and synchronization</a:t>
            </a:r>
          </a:p>
          <a:p>
            <a:r>
              <a:rPr lang="en-US" altLang="en-US" sz="2800"/>
              <a:t>Placing signals on the carrier</a:t>
            </a:r>
          </a:p>
          <a:p>
            <a:endParaRPr lang="en-US" altLang="en-US" sz="2800"/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719B769D-F583-5B95-2EE5-1A6131F3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1269" name="Picture 2">
            <a:extLst>
              <a:ext uri="{FF2B5EF4-FFF2-40B4-BE49-F238E27FC236}">
                <a16:creationId xmlns:a16="http://schemas.microsoft.com/office/drawing/2014/main" id="{55713121-3E6A-6D90-43CF-430E0EDAA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t="4443" r="61156" b="13333"/>
          <a:stretch>
            <a:fillRect/>
          </a:stretch>
        </p:blipFill>
        <p:spPr bwMode="auto">
          <a:xfrm>
            <a:off x="0" y="2286000"/>
            <a:ext cx="3262313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446B572-5FC1-0D2D-8254-E742AA11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Service Performed at Each Layer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C2CF3DB-DC73-32C8-5803-1B4D18DCA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0" y="2133600"/>
            <a:ext cx="5410200" cy="4114800"/>
          </a:xfrm>
        </p:spPr>
        <p:txBody>
          <a:bodyPr/>
          <a:lstStyle/>
          <a:p>
            <a:r>
              <a:rPr lang="en-US" altLang="en-US" sz="2400"/>
              <a:t>E-mail, Web browser, Directory</a:t>
            </a:r>
          </a:p>
          <a:p>
            <a:r>
              <a:rPr lang="en-US" altLang="en-US" sz="2400"/>
              <a:t>POP, SMTP, FTP, HTTP, DNS</a:t>
            </a:r>
          </a:p>
          <a:p>
            <a:r>
              <a:rPr lang="en-US" altLang="en-US" sz="2400"/>
              <a:t>Sockets</a:t>
            </a:r>
          </a:p>
          <a:p>
            <a:r>
              <a:rPr lang="en-US" altLang="en-US" sz="2400"/>
              <a:t>TCP</a:t>
            </a:r>
          </a:p>
          <a:p>
            <a:r>
              <a:rPr lang="en-US" altLang="en-US" sz="2400"/>
              <a:t>IP</a:t>
            </a:r>
          </a:p>
          <a:p>
            <a:r>
              <a:rPr lang="en-US" altLang="en-US" sz="2400"/>
              <a:t>PPP, Ethernet, Token ring</a:t>
            </a:r>
          </a:p>
          <a:p>
            <a:r>
              <a:rPr lang="en-US" altLang="en-US" sz="2400"/>
              <a:t>100baseT</a:t>
            </a:r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9614743B-FE49-88E4-0944-C69B5FA5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2293" name="Picture 2">
            <a:extLst>
              <a:ext uri="{FF2B5EF4-FFF2-40B4-BE49-F238E27FC236}">
                <a16:creationId xmlns:a16="http://schemas.microsoft.com/office/drawing/2014/main" id="{AE0D50B6-372E-D4BE-92B6-165D9DC31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t="4443" r="61156" b="13333"/>
          <a:stretch>
            <a:fillRect/>
          </a:stretch>
        </p:blipFill>
        <p:spPr bwMode="auto">
          <a:xfrm>
            <a:off x="0" y="2286000"/>
            <a:ext cx="3262313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68F990B-26E2-A0E7-8084-3715FF97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95600"/>
            <a:ext cx="9144000" cy="1143000"/>
          </a:xfrm>
          <a:solidFill>
            <a:srgbClr val="993366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Transmitting and Receiving in Comm. Systems</a:t>
            </a:r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A5385A17-DEEE-DEC5-4F5F-EEB883C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FCD5403-F205-4172-21D5-531512191C4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993366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Serial Transmission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26E0C78E-C148-47BE-8FC9-1DE6FBEF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Data is transmitted, on a single channel, one bit at a  time one after another</a:t>
            </a:r>
          </a:p>
          <a:p>
            <a:r>
              <a:rPr lang="en-US" altLang="en-US"/>
              <a:t>Much faster than parallel because of way bits  processed (e.g. USB and SATA drives)</a:t>
            </a:r>
          </a:p>
          <a:p>
            <a:endParaRPr lang="en-US" altLang="en-US"/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85C48112-1065-C2B9-6B12-D75551A8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4341" name="Picture 2">
            <a:extLst>
              <a:ext uri="{FF2B5EF4-FFF2-40B4-BE49-F238E27FC236}">
                <a16:creationId xmlns:a16="http://schemas.microsoft.com/office/drawing/2014/main" id="{8718C8F5-B7BF-B413-44F7-EC62CFE28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57816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DECE732-4C2C-6E0E-AD28-A48A51E8DD7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993366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Parallel Transmission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02245C8-C1D4-A67D-4FDE-1A704B881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n-US" altLang="en-US" sz="2400"/>
              <a:t>Each bit has it’s own piece of wire along which it travels</a:t>
            </a:r>
          </a:p>
          <a:p>
            <a:r>
              <a:rPr lang="en-US" altLang="en-US" sz="2400"/>
              <a:t>Often used to send data to a printer</a:t>
            </a:r>
          </a:p>
          <a:p>
            <a:endParaRPr lang="en-US" altLang="en-US" sz="2400"/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3A9BA442-85C4-C860-0EC8-C164B9A2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5365" name="Picture 2">
            <a:extLst>
              <a:ext uri="{FF2B5EF4-FFF2-40B4-BE49-F238E27FC236}">
                <a16:creationId xmlns:a16="http://schemas.microsoft.com/office/drawing/2014/main" id="{AF269FDA-C1BD-5499-4007-2C3E1B578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71800"/>
            <a:ext cx="454342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BE0864C-F309-745A-AB0C-A5F3C55DDB3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993366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Why not to use Parallel instead Serial?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BFBC2B2D-8497-FC42-DBB2-161D34C1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Due to inconsistencies on channels data  arrives at different times</a:t>
            </a:r>
          </a:p>
          <a:p>
            <a:r>
              <a:rPr lang="en-US" altLang="en-US" sz="2800"/>
              <a:t>Because of the way it is transmitted packet  switching cannot be used</a:t>
            </a:r>
          </a:p>
          <a:p>
            <a:r>
              <a:rPr lang="en-US" altLang="en-US" sz="2800"/>
              <a:t>The above two points makes parallel slower  than serial and requires higher bandwidth.</a:t>
            </a:r>
          </a:p>
          <a:p>
            <a:r>
              <a:rPr lang="en-US" altLang="en-US" sz="2800"/>
              <a:t>Parallel transmissions are rarely used  anymore</a:t>
            </a:r>
          </a:p>
          <a:p>
            <a:endParaRPr lang="en-US" altLang="en-US" sz="2800"/>
          </a:p>
        </p:txBody>
      </p:sp>
      <p:sp>
        <p:nvSpPr>
          <p:cNvPr id="16388" name="Footer Placeholder 3">
            <a:extLst>
              <a:ext uri="{FF2B5EF4-FFF2-40B4-BE49-F238E27FC236}">
                <a16:creationId xmlns:a16="http://schemas.microsoft.com/office/drawing/2014/main" id="{8B5BDEEE-6CD4-ACD9-77C5-9D856307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F8B11453-B587-175C-B731-839654F2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Synchronous VS Asynchronous Transmission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A9335A8-1492-272A-2CE7-6AAA88D8E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b="1"/>
              <a:t>Synchronous Transmission</a:t>
            </a:r>
          </a:p>
          <a:p>
            <a:r>
              <a:rPr lang="en-US" altLang="en-US" sz="2400"/>
              <a:t>All data sent at once and no packet switching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 b="1"/>
              <a:t>Asynchronous Transmission</a:t>
            </a:r>
          </a:p>
          <a:p>
            <a:r>
              <a:rPr lang="en-US" altLang="en-US" sz="2400"/>
              <a:t>Uses stop/ start bits</a:t>
            </a:r>
          </a:p>
          <a:p>
            <a:r>
              <a:rPr lang="en-US" altLang="en-US" sz="2400"/>
              <a:t>most common type of serial data transfer</a:t>
            </a:r>
          </a:p>
          <a:p>
            <a:r>
              <a:rPr lang="en-US" altLang="en-US" sz="2400"/>
              <a:t>Allows packet switching</a:t>
            </a:r>
          </a:p>
          <a:p>
            <a:r>
              <a:rPr lang="en-US" altLang="en-US" sz="2400"/>
              <a:t>Allows sharing of bandwidth (i.e. talk on phone  while another person is using internet)</a:t>
            </a:r>
          </a:p>
          <a:p>
            <a:endParaRPr lang="en-US" altLang="en-US" sz="2400"/>
          </a:p>
        </p:txBody>
      </p:sp>
      <p:sp>
        <p:nvSpPr>
          <p:cNvPr id="17412" name="Footer Placeholder 3">
            <a:extLst>
              <a:ext uri="{FF2B5EF4-FFF2-40B4-BE49-F238E27FC236}">
                <a16:creationId xmlns:a16="http://schemas.microsoft.com/office/drawing/2014/main" id="{68549AFE-8AC2-B06C-1BF3-5FC68CEA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7A5A-4D94-605C-F884-45CD58BEA2A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/>
              <a:t>Transmission Directions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B4153BC9-7602-F0B8-35BD-FADB9A0BA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Simplex: One direction only</a:t>
            </a:r>
          </a:p>
          <a:p>
            <a:r>
              <a:rPr lang="en-US" altLang="en-US"/>
              <a:t>Half duplex: Both directions but only one</a:t>
            </a:r>
            <a:br>
              <a:rPr lang="en-US" altLang="en-US"/>
            </a:br>
            <a:r>
              <a:rPr lang="en-US" altLang="en-US"/>
              <a:t>direction at a time </a:t>
            </a:r>
          </a:p>
          <a:p>
            <a:r>
              <a:rPr lang="en-US" altLang="en-US"/>
              <a:t>Full duplex: send and receive both directions at once 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endParaRPr lang="en-US" altLang="en-US"/>
          </a:p>
        </p:txBody>
      </p:sp>
      <p:sp>
        <p:nvSpPr>
          <p:cNvPr id="18436" name="Footer Placeholder 3">
            <a:extLst>
              <a:ext uri="{FF2B5EF4-FFF2-40B4-BE49-F238E27FC236}">
                <a16:creationId xmlns:a16="http://schemas.microsoft.com/office/drawing/2014/main" id="{F2B02C4F-10AA-C193-885C-5FC75A3F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851F742-B1A3-38D3-281D-DA0DC749C14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altLang="en-US"/>
              <a:t>Network Topologies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1F344C3B-6F15-2B7C-7659-6468B265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Mesh Topology</a:t>
            </a:r>
          </a:p>
          <a:p>
            <a:r>
              <a:rPr lang="en-US" altLang="en-US"/>
              <a:t>Ring Topology</a:t>
            </a:r>
          </a:p>
          <a:p>
            <a:r>
              <a:rPr lang="en-US" altLang="en-US"/>
              <a:t>Bus Topology</a:t>
            </a:r>
          </a:p>
          <a:p>
            <a:r>
              <a:rPr lang="en-US" altLang="en-US"/>
              <a:t>Star Topology</a:t>
            </a:r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78F30E83-653A-3194-B3D5-03E93FAC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18566CC-579D-3693-277E-A282AA62C09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altLang="en-US"/>
              <a:t>Mesh Topology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1A7A258-9F73-0548-9D10-11941D10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4" name="Footer Placeholder 3">
            <a:extLst>
              <a:ext uri="{FF2B5EF4-FFF2-40B4-BE49-F238E27FC236}">
                <a16:creationId xmlns:a16="http://schemas.microsoft.com/office/drawing/2014/main" id="{4CDBFB38-9B14-D78C-D3BA-541E805C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20485" name="Picture 2" descr="Image result for mesh topology">
            <a:extLst>
              <a:ext uri="{FF2B5EF4-FFF2-40B4-BE49-F238E27FC236}">
                <a16:creationId xmlns:a16="http://schemas.microsoft.com/office/drawing/2014/main" id="{1D43B98A-60A9-8D09-EE8B-1C741D5D4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28800"/>
            <a:ext cx="4495800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6EC3712-E953-58F4-D4DB-F29B8BD18A1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altLang="en-US"/>
              <a:t>Ring Topology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A8726163-7C69-B29F-A229-8BC47A26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1508" name="Footer Placeholder 3">
            <a:extLst>
              <a:ext uri="{FF2B5EF4-FFF2-40B4-BE49-F238E27FC236}">
                <a16:creationId xmlns:a16="http://schemas.microsoft.com/office/drawing/2014/main" id="{78711820-FBAF-741B-82C7-6E8851C6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21509" name="object 9">
            <a:extLst>
              <a:ext uri="{FF2B5EF4-FFF2-40B4-BE49-F238E27FC236}">
                <a16:creationId xmlns:a16="http://schemas.microsoft.com/office/drawing/2014/main" id="{289B7C00-7CDE-9C49-5947-0B2CBF506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133600"/>
            <a:ext cx="5257800" cy="40401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BD8A0CF-78B9-890E-45F2-5502017E777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altLang="en-US"/>
              <a:t>Bus Topology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EC60F7B3-D3C6-6AB5-9EEA-3266F79C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2532" name="Footer Placeholder 3">
            <a:extLst>
              <a:ext uri="{FF2B5EF4-FFF2-40B4-BE49-F238E27FC236}">
                <a16:creationId xmlns:a16="http://schemas.microsoft.com/office/drawing/2014/main" id="{9D9EBDBA-E124-70A2-E876-BFADB767C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22533" name="object 7">
            <a:extLst>
              <a:ext uri="{FF2B5EF4-FFF2-40B4-BE49-F238E27FC236}">
                <a16:creationId xmlns:a16="http://schemas.microsoft.com/office/drawing/2014/main" id="{4426FFED-7F5D-AFD9-9252-4420632BB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67000"/>
            <a:ext cx="8151813" cy="25638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B136327-5952-1B3E-7003-C447A95254A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altLang="en-US"/>
              <a:t>Star Topology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2647642-EDBC-7106-89BA-BABA83649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81467519-8984-CE21-E170-8EEE730F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23557" name="object 8">
            <a:extLst>
              <a:ext uri="{FF2B5EF4-FFF2-40B4-BE49-F238E27FC236}">
                <a16:creationId xmlns:a16="http://schemas.microsoft.com/office/drawing/2014/main" id="{45359725-B708-D35E-A47C-8655C50C9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5105400" cy="38687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6F30-78E7-037E-8007-311E5B85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7000"/>
            <a:ext cx="9144000" cy="1143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/>
              <a:t>Network Hardware</a:t>
            </a:r>
          </a:p>
        </p:txBody>
      </p:sp>
      <p:sp>
        <p:nvSpPr>
          <p:cNvPr id="24579" name="Footer Placeholder 2">
            <a:extLst>
              <a:ext uri="{FF2B5EF4-FFF2-40B4-BE49-F238E27FC236}">
                <a16:creationId xmlns:a16="http://schemas.microsoft.com/office/drawing/2014/main" id="{1729409B-E0A3-DBE3-281C-21EACD59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0A2-02FC-CDBE-DB2F-40CC4E0109B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/>
              <a:t>Bridge</a:t>
            </a:r>
          </a:p>
        </p:txBody>
      </p:sp>
      <p:sp>
        <p:nvSpPr>
          <p:cNvPr id="25603" name="Footer Placeholder 2">
            <a:extLst>
              <a:ext uri="{FF2B5EF4-FFF2-40B4-BE49-F238E27FC236}">
                <a16:creationId xmlns:a16="http://schemas.microsoft.com/office/drawing/2014/main" id="{BBEF30B5-EAEC-1AEE-4F48-63EAE55B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A3CE24BD-9CF8-EA2E-144A-825BD8CE8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419600"/>
            <a:ext cx="64674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0EFACD-86AC-7F14-0604-D9C9D6404E35}"/>
              </a:ext>
            </a:extLst>
          </p:cNvPr>
          <p:cNvSpPr txBox="1"/>
          <p:nvPr/>
        </p:nvSpPr>
        <p:spPr>
          <a:xfrm>
            <a:off x="457200" y="2057400"/>
            <a:ext cx="83820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pc="-10" dirty="0">
                <a:latin typeface="Calibri" pitchFamily="34" charset="0"/>
                <a:cs typeface="Calibri" pitchFamily="34" charset="0"/>
              </a:rPr>
              <a:t>Large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networks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can be separated into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two </a:t>
            </a:r>
            <a:r>
              <a:rPr lang="en-US" dirty="0">
                <a:latin typeface="Calibri" pitchFamily="34" charset="0"/>
                <a:cs typeface="Calibri" pitchFamily="34" charset="0"/>
              </a:rPr>
              <a:t>or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more smaller  networks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using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>
                <a:latin typeface="Calibri" pitchFamily="34" charset="0"/>
                <a:cs typeface="Calibri" pitchFamily="34" charset="0"/>
              </a:rPr>
              <a:t>a bridge. This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is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done to increase speed and  </a:t>
            </a:r>
            <a:r>
              <a:rPr lang="en-US" spc="-20" dirty="0">
                <a:latin typeface="Calibri" pitchFamily="34" charset="0"/>
                <a:cs typeface="Calibri" pitchFamily="34" charset="0"/>
              </a:rPr>
              <a:t>efficiency. </a:t>
            </a:r>
            <a:r>
              <a:rPr lang="en-US" dirty="0">
                <a:latin typeface="Calibri" pitchFamily="34" charset="0"/>
                <a:cs typeface="Calibri" pitchFamily="34" charset="0"/>
              </a:rPr>
              <a:t>This type of network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is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called a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segmented LAN </a:t>
            </a:r>
            <a:r>
              <a:rPr lang="en-US" dirty="0">
                <a:latin typeface="Calibri" pitchFamily="34" charset="0"/>
                <a:cs typeface="Calibri" pitchFamily="34" charset="0"/>
              </a:rPr>
              <a:t>and  has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largely </a:t>
            </a:r>
            <a:r>
              <a:rPr lang="en-US" dirty="0">
                <a:latin typeface="Calibri" pitchFamily="34" charset="0"/>
                <a:cs typeface="Calibri" pitchFamily="34" charset="0"/>
              </a:rPr>
              <a:t>been superseded by the use of switches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which </a:t>
            </a:r>
            <a:r>
              <a:rPr lang="en-US" dirty="0">
                <a:latin typeface="Calibri" pitchFamily="34" charset="0"/>
                <a:cs typeface="Calibri" pitchFamily="34" charset="0"/>
              </a:rPr>
              <a:t>can  transfer data straight to a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computer </a:t>
            </a:r>
            <a:r>
              <a:rPr lang="en-US" dirty="0">
                <a:latin typeface="Calibri" pitchFamily="34" charset="0"/>
                <a:cs typeface="Calibri" pitchFamily="34" charset="0"/>
              </a:rPr>
              <a:t>and thus avoid bottleneck</a:t>
            </a:r>
            <a:r>
              <a:rPr lang="en-US" spc="-215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jams  which </a:t>
            </a:r>
            <a:r>
              <a:rPr lang="en-US" dirty="0">
                <a:latin typeface="Calibri" pitchFamily="34" charset="0"/>
                <a:cs typeface="Calibri" pitchFamily="34" charset="0"/>
              </a:rPr>
              <a:t>bridges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were </a:t>
            </a:r>
            <a:r>
              <a:rPr lang="en-US" dirty="0">
                <a:latin typeface="Calibri" pitchFamily="34" charset="0"/>
                <a:cs typeface="Calibri" pitchFamily="34" charset="0"/>
              </a:rPr>
              <a:t>designed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to</a:t>
            </a:r>
            <a:r>
              <a:rPr lang="en-US" spc="-6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fix.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3979-8101-21F7-CB99-1F596ACC23A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/>
              <a:t>Gateway</a:t>
            </a:r>
          </a:p>
        </p:txBody>
      </p:sp>
      <p:sp>
        <p:nvSpPr>
          <p:cNvPr id="26627" name="Footer Placeholder 2">
            <a:extLst>
              <a:ext uri="{FF2B5EF4-FFF2-40B4-BE49-F238E27FC236}">
                <a16:creationId xmlns:a16="http://schemas.microsoft.com/office/drawing/2014/main" id="{E0A988AD-BFF9-E3AE-24CA-07DC445C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275EAD5A-6691-5540-BCD4-3E6492A3A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86250"/>
            <a:ext cx="61817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AF475A-96CA-8894-0479-D78E77DA5FC2}"/>
              </a:ext>
            </a:extLst>
          </p:cNvPr>
          <p:cNvSpPr txBox="1"/>
          <p:nvPr/>
        </p:nvSpPr>
        <p:spPr>
          <a:xfrm>
            <a:off x="1295400" y="2133600"/>
            <a:ext cx="6477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spc="-5" dirty="0">
                <a:latin typeface="Calibri" pitchFamily="34" charset="0"/>
                <a:cs typeface="Calibri" pitchFamily="34" charset="0"/>
              </a:rPr>
              <a:t> Often </a:t>
            </a:r>
            <a:r>
              <a:rPr lang="en-US" dirty="0">
                <a:latin typeface="Calibri" pitchFamily="34" charset="0"/>
                <a:cs typeface="Calibri" pitchFamily="34" charset="0"/>
              </a:rPr>
              <a:t>used to connect a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LAN </a:t>
            </a:r>
            <a:r>
              <a:rPr lang="en-US" dirty="0">
                <a:latin typeface="Calibri" pitchFamily="34" charset="0"/>
                <a:cs typeface="Calibri" pitchFamily="34" charset="0"/>
              </a:rPr>
              <a:t>with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spc="-5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pc="-80" dirty="0">
                <a:latin typeface="Calibri" pitchFamily="34" charset="0"/>
                <a:cs typeface="Calibri" pitchFamily="34" charset="0"/>
              </a:rPr>
              <a:t>WAN.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pc="-8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Gateways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join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two</a:t>
            </a:r>
            <a:r>
              <a:rPr lang="en-US" spc="-6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>
                <a:latin typeface="Calibri" pitchFamily="34" charset="0"/>
                <a:cs typeface="Calibri" pitchFamily="34" charset="0"/>
              </a:rPr>
              <a:t>or  More </a:t>
            </a:r>
            <a:r>
              <a:rPr lang="en-US" spc="-10" dirty="0">
                <a:latin typeface="Calibri" pitchFamily="34" charset="0"/>
                <a:cs typeface="Calibri" pitchFamily="34" charset="0"/>
              </a:rPr>
              <a:t>different </a:t>
            </a:r>
            <a:r>
              <a:rPr lang="en-US" spc="-5" dirty="0">
                <a:latin typeface="Calibri" pitchFamily="34" charset="0"/>
                <a:cs typeface="Calibri" pitchFamily="34" charset="0"/>
              </a:rPr>
              <a:t>networks</a:t>
            </a:r>
            <a:r>
              <a:rPr lang="en-US" spc="-3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pc="-15" dirty="0">
                <a:latin typeface="Calibri" pitchFamily="34" charset="0"/>
                <a:cs typeface="Calibri" pitchFamily="34" charset="0"/>
              </a:rPr>
              <a:t>together.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DECF-3E7B-13E9-6EBF-17062089BB4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/>
              <a:t>Some more</a:t>
            </a:r>
          </a:p>
        </p:txBody>
      </p:sp>
      <p:sp>
        <p:nvSpPr>
          <p:cNvPr id="27651" name="Footer Placeholder 2">
            <a:extLst>
              <a:ext uri="{FF2B5EF4-FFF2-40B4-BE49-F238E27FC236}">
                <a16:creationId xmlns:a16="http://schemas.microsoft.com/office/drawing/2014/main" id="{8367A2E8-94E3-559B-0E38-B8B34539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B84CEB96-1934-DC67-0F5B-163ABBB3E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79248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Routers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: A router is a networking device that forwards data packets between computer networks. Can be used in place of a switch or bridge.</a:t>
            </a:r>
          </a:p>
          <a:p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Switches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: smart hubs which transmit packets to the</a:t>
            </a:r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destination port only</a:t>
            </a:r>
          </a:p>
          <a:p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Hubs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: like double adapters /power boards in the home</a:t>
            </a:r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except instead of plugging in extension cords we are plugging</a:t>
            </a:r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in computers to allow them to communicate.</a:t>
            </a: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048DA7B8-2A76-F890-91EB-4F3CD3923D1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Transmission Media</a:t>
            </a:r>
          </a:p>
        </p:txBody>
      </p:sp>
      <p:sp>
        <p:nvSpPr>
          <p:cNvPr id="28675" name="Footer Placeholder 2">
            <a:extLst>
              <a:ext uri="{FF2B5EF4-FFF2-40B4-BE49-F238E27FC236}">
                <a16:creationId xmlns:a16="http://schemas.microsoft.com/office/drawing/2014/main" id="{8EB88131-EAF4-653D-511A-2904BEC8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sp>
        <p:nvSpPr>
          <p:cNvPr id="28676" name="TextBox 3">
            <a:extLst>
              <a:ext uri="{FF2B5EF4-FFF2-40B4-BE49-F238E27FC236}">
                <a16:creationId xmlns:a16="http://schemas.microsoft.com/office/drawing/2014/main" id="{6D043934-AD3A-EE71-DAC6-0DFBE24E1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8229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Twisted pair – 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Ethernet cable</a:t>
            </a:r>
          </a:p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Coaxial cable –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Thick black cable used for  higher bandwidth communications than  twisted pair (i.e. Optus cable)</a:t>
            </a:r>
          </a:p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Fiber optic – </a:t>
            </a:r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data transferred through  pulses of light. Extremely fast.</a:t>
            </a:r>
          </a:p>
          <a:p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Non cable methods such as satellite,  microwave, wireless and Bluetooth</a:t>
            </a: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677" name="Picture 6" descr="Image result for twisted pair">
            <a:extLst>
              <a:ext uri="{FF2B5EF4-FFF2-40B4-BE49-F238E27FC236}">
                <a16:creationId xmlns:a16="http://schemas.microsoft.com/office/drawing/2014/main" id="{E1844FC1-183C-07C5-84F4-9050CC4DE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216525"/>
            <a:ext cx="28194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7" descr="Image result for coaxial cable">
            <a:extLst>
              <a:ext uri="{FF2B5EF4-FFF2-40B4-BE49-F238E27FC236}">
                <a16:creationId xmlns:a16="http://schemas.microsoft.com/office/drawing/2014/main" id="{9D430B3E-CBA0-582B-3040-DC68EDC20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708525"/>
            <a:ext cx="3581400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9" descr="Image result for fiber optic single cable">
            <a:extLst>
              <a:ext uri="{FF2B5EF4-FFF2-40B4-BE49-F238E27FC236}">
                <a16:creationId xmlns:a16="http://schemas.microsoft.com/office/drawing/2014/main" id="{23CD082A-2FA2-823B-EE61-BF3F71166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83175"/>
            <a:ext cx="23622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1AF82FB-EA4E-A464-A3BC-6AA3220E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1800"/>
            <a:ext cx="9144000" cy="1143000"/>
          </a:xfrm>
          <a:solidFill>
            <a:srgbClr val="FF0000"/>
          </a:solidFill>
        </p:spPr>
        <p:txBody>
          <a:bodyPr/>
          <a:lstStyle/>
          <a:p>
            <a:r>
              <a:rPr lang="en-US" altLang="en-US"/>
              <a:t>End of the Lecture</a:t>
            </a:r>
          </a:p>
        </p:txBody>
      </p:sp>
      <p:sp>
        <p:nvSpPr>
          <p:cNvPr id="29699" name="Footer Placeholder 2">
            <a:extLst>
              <a:ext uri="{FF2B5EF4-FFF2-40B4-BE49-F238E27FC236}">
                <a16:creationId xmlns:a16="http://schemas.microsoft.com/office/drawing/2014/main" id="{0354CD0B-76FC-1001-629F-F49745F3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E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6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702</Words>
  <Application>Microsoft Office PowerPoint</Application>
  <PresentationFormat>On-screen Show (4:3)</PresentationFormat>
  <Paragraphs>122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Default Design</vt:lpstr>
      <vt:lpstr> Communication System IICT Lecture 10  Bismillah Jan</vt:lpstr>
      <vt:lpstr>What is Communication?</vt:lpstr>
      <vt:lpstr>Characteristics of Communication System</vt:lpstr>
      <vt:lpstr>Five Basic Components</vt:lpstr>
      <vt:lpstr>Pictorial Representation</vt:lpstr>
      <vt:lpstr>OSI Model</vt:lpstr>
      <vt:lpstr>7 Layers of OSI Model</vt:lpstr>
      <vt:lpstr>OSI Model</vt:lpstr>
      <vt:lpstr>OSI Model</vt:lpstr>
      <vt:lpstr>Service Performed at Each Layer</vt:lpstr>
      <vt:lpstr>Service Performed at Each Layer</vt:lpstr>
      <vt:lpstr>Transmitting and Receiving in Comm. Systems</vt:lpstr>
      <vt:lpstr>Serial Transmission</vt:lpstr>
      <vt:lpstr>Parallel Transmission</vt:lpstr>
      <vt:lpstr>Why not to use Parallel instead Serial?</vt:lpstr>
      <vt:lpstr>Synchronous VS Asynchronous Transmission</vt:lpstr>
      <vt:lpstr>Transmission Directions</vt:lpstr>
      <vt:lpstr>Network Topologies</vt:lpstr>
      <vt:lpstr>Mesh Topology</vt:lpstr>
      <vt:lpstr>Ring Topology</vt:lpstr>
      <vt:lpstr>Bus Topology</vt:lpstr>
      <vt:lpstr>Star Topology</vt:lpstr>
      <vt:lpstr>Network Hardware</vt:lpstr>
      <vt:lpstr>Bridge</vt:lpstr>
      <vt:lpstr>Gateway</vt:lpstr>
      <vt:lpstr>Some more</vt:lpstr>
      <vt:lpstr>Transmission Media</vt:lpstr>
      <vt:lpstr>End of the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COMMUNICATION SYSTEMS</dc:title>
  <dc:creator>JANAKA</dc:creator>
  <cp:lastModifiedBy>hanana Nankay</cp:lastModifiedBy>
  <cp:revision>137</cp:revision>
  <dcterms:created xsi:type="dcterms:W3CDTF">2004-07-28T03:48:58Z</dcterms:created>
  <dcterms:modified xsi:type="dcterms:W3CDTF">2023-10-12T11:12:44Z</dcterms:modified>
</cp:coreProperties>
</file>