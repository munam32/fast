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1"/>
  </p:notesMasterIdLst>
  <p:sldIdLst>
    <p:sldId id="407" r:id="rId2"/>
    <p:sldId id="494" r:id="rId3"/>
    <p:sldId id="495" r:id="rId4"/>
    <p:sldId id="496" r:id="rId5"/>
    <p:sldId id="497" r:id="rId6"/>
    <p:sldId id="498" r:id="rId7"/>
    <p:sldId id="499" r:id="rId8"/>
    <p:sldId id="500" r:id="rId9"/>
    <p:sldId id="488" r:id="rId10"/>
    <p:sldId id="505" r:id="rId11"/>
    <p:sldId id="487" r:id="rId12"/>
    <p:sldId id="489" r:id="rId13"/>
    <p:sldId id="490" r:id="rId14"/>
    <p:sldId id="492" r:id="rId15"/>
    <p:sldId id="493" r:id="rId16"/>
    <p:sldId id="502" r:id="rId17"/>
    <p:sldId id="503" r:id="rId18"/>
    <p:sldId id="504" r:id="rId19"/>
    <p:sldId id="485" r:id="rId2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CC"/>
    <a:srgbClr val="008000"/>
    <a:srgbClr val="FF5050"/>
    <a:srgbClr val="A84873"/>
    <a:srgbClr val="99336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4" autoAdjust="0"/>
  </p:normalViewPr>
  <p:slideViewPr>
    <p:cSldViewPr>
      <p:cViewPr varScale="1">
        <p:scale>
          <a:sx n="69" d="100"/>
          <a:sy n="69" d="100"/>
        </p:scale>
        <p:origin x="-140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34"/>
    </p:cViewPr>
  </p:sorterViewPr>
  <p:notesViewPr>
    <p:cSldViewPr>
      <p:cViewPr varScale="1">
        <p:scale>
          <a:sx n="36" d="100"/>
          <a:sy n="36" d="100"/>
        </p:scale>
        <p:origin x="-1488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notesMaster" Target="notesMasters/notesMaster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viewProps" Target="view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F2E894D5-04CE-4BB6-B70E-FE6803A28E4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47A95915-A9B1-5323-B173-64E1745605D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CFE7CC75-A7DB-8B54-AA8C-A2D8F19E8E5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BA36AC03-DF63-95C5-570A-9D43EBAF53F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2774" name="Rectangle 6">
            <a:extLst>
              <a:ext uri="{FF2B5EF4-FFF2-40B4-BE49-F238E27FC236}">
                <a16:creationId xmlns:a16="http://schemas.microsoft.com/office/drawing/2014/main" id="{D6F9AC0A-0E53-2779-EAF7-2BF1E999F98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5" name="Rectangle 7">
            <a:extLst>
              <a:ext uri="{FF2B5EF4-FFF2-40B4-BE49-F238E27FC236}">
                <a16:creationId xmlns:a16="http://schemas.microsoft.com/office/drawing/2014/main" id="{3D124FD7-D7F3-F36E-3540-9BF2BE0D25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56E22E47-D629-44F8-997F-161E111087A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21049625-EC6A-3C2B-5676-E0BD93D2FEF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B306A4F7-0DBB-D96F-A007-D15DCACAC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 European Organization for Nuclear Research</a:t>
            </a:r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B305483F-292E-8821-E400-0DE73C1BD7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F7D5061-17DC-48E6-9673-A64E93357B97}" type="slidenum">
              <a:rPr lang="en-US" altLang="en-US" sz="1200" b="0"/>
              <a:pPr/>
              <a:t>7</a:t>
            </a:fld>
            <a:endParaRPr lang="en-US" altLang="en-US" sz="1200" b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>
            <a:extLst>
              <a:ext uri="{FF2B5EF4-FFF2-40B4-BE49-F238E27FC236}">
                <a16:creationId xmlns:a16="http://schemas.microsoft.com/office/drawing/2014/main" id="{1F50FB0C-FFC5-851D-D2C2-B4ECBF8F12E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>
            <a:extLst>
              <a:ext uri="{FF2B5EF4-FFF2-40B4-BE49-F238E27FC236}">
                <a16:creationId xmlns:a16="http://schemas.microsoft.com/office/drawing/2014/main" id="{8E03A156-52D3-D9CA-AD5D-FF77E4A49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35A28D21-F1BC-644B-85A0-E168EDE407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749F0A9-4B81-4586-99D9-455D5BE8FFA7}" type="slidenum">
              <a:rPr lang="en-US" altLang="en-US" sz="1200" b="0"/>
              <a:pPr/>
              <a:t>11</a:t>
            </a:fld>
            <a:endParaRPr lang="en-US" altLang="en-US" sz="1200" b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E3867E2-37B4-385C-5A30-4EDD7F955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A0D0185-CEC4-BC6D-67F6-0CBDA107DF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FAST NUCES, Lahore 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584911C-DCBF-0C7F-FFE1-6A2D4E026F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833616-F360-49BB-882F-9FDD57D0BD1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1938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798C919-7328-006C-82B2-12147D4AD6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382EC96-F6B6-D62D-8AFA-AC9A34A54F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FAST NUCES, Lahore 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9434576-B8A9-D5D0-815A-9E6F26E4D1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6D0C7A-FA6A-4015-A088-D35B57FF4B9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330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AB3EBC5-DAEA-51C0-ECBF-DC8B64CE3D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C5EF942-69FE-015D-0C9E-03FA902F7B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FAST NUCES, Lahore 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787973E-E7FA-10EA-E84E-0B9247628F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ADCC9D-2B19-40EF-853A-245EF4E0BE3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7775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7BBD88-0B70-88F2-D053-861CB1DCF0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316FA1-7C15-EDAB-B775-09E43C3764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FAST NUCES, Lahore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826F0E-794D-6EDC-FB76-7A8EC75E91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B95F87-587E-4213-8D35-7528F80A48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0112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53FAF29-0CFA-6046-86CA-473AAED0ED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7BA6AA1-4AF0-EA70-AF09-280D18E1ED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FAST NUCES, Lahore 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ECFE7AA-AED6-DEAB-1CF2-E46225830C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1A0004-EBC8-4478-91D5-A662586877C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0275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CA2F151-E89D-EA61-450C-A879F397FD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BE9D92B-8C48-34DE-5C6B-B57F7D85A8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FAST NUCES, Lahore 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707134B-6870-8E5F-8251-A228512FBC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D515C1-89B1-4DF8-8C3D-5F71E9D6074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0908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F772FC0-B8FD-FCCC-77DE-A6FBB6E3B7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912828F-2E72-BFC9-5C3F-EAA312E374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FAST NUCES, Lahore 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A3A9442-3674-BA4D-C296-6890EFDAE6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36E42D-8259-45CD-B639-7A0C323D3A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2326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C95FCD-48E3-20AD-17F7-2E404693B5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07048B-3935-D435-4FF9-3AB3D22D24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FAST NUCES, Lahore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126C25-5788-C44B-20DF-474CA1E2E7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FD7EF2-8558-44D5-B49A-C3B31526754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3215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560279-C48D-4F6D-1BCF-20C392CD6E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745467-5FBE-26AE-4926-379D7A057A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FAST NUCES, Lahore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44E66B-9D95-A1AB-1AB5-1683BBE393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52E0BB-76FF-434A-95C9-FC7EF9E28D2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0223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460536A-1CDD-FC07-4957-37DB06D851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8059C60-E771-1D1F-D0C1-D61110095E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FAST NUCES, Lahore 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F8B5C5-D384-BBF4-DB79-9204C44C9E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54343C-7D66-4A9B-8350-946A6E6F3DF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8482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A9414C3-75DE-C50B-4EFA-7113F2B15C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7BF529A-F5E7-FDD1-A066-DB8B28A732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FAST NUCES, Lahore 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60EC700-931F-3AE3-41BB-D875CB348B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36F175-2A47-4DDA-878D-8188DED27D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6297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793ABA7-E7A6-6F9C-404B-5FCA6A55A2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602DD47-778C-BB77-CA9E-DF6038BFDD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FAST NUCES, Lahore 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460F0CB-8F7C-28DE-B7DF-7ECDDF399B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155F98-94B7-45C9-ACFE-8C97A577E1C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07236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8737A7-E0C5-635B-ED59-6084075ECE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8D2951-BA19-369E-573D-DEB3CECCEA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FAST NUCES, Lahore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4F2EBD-A638-52AF-F435-003510388A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4523E5-8B8D-4240-8171-615B9C472F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5459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image" Target="../media/image1.jpeg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618A2D0-A06A-C916-2A42-D6845A52E6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60960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2791C11-3046-8099-5F1D-CEB5DB5E8C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C5759AC-6C10-EB5D-4DA2-3D2E077509F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F50DE0C-D244-1811-7574-F49DCFCAB9B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US"/>
              <a:t>FAST NUCES, Lahore 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661AE5A-CA6D-2B9D-FFFE-59E2CDB5406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fld id="{16E436A1-CFF4-4530-9A0C-90B51B340E0D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1031" name="Picture 6" descr="Logo Fast ">
            <a:extLst>
              <a:ext uri="{FF2B5EF4-FFF2-40B4-BE49-F238E27FC236}">
                <a16:creationId xmlns:a16="http://schemas.microsoft.com/office/drawing/2014/main" id="{8D034EAE-F1B7-DC5D-A85A-F62BB53C5E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6248400"/>
            <a:ext cx="457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  <a:ea typeface="+mj-ea"/>
          <a:cs typeface="Calibri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  <a:cs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  <a:cs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  <a:cs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  <a:cs typeface="Calibri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Calibri" pitchFamily="34" charset="0"/>
          <a:cs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Calibri" pitchFamily="34" charset="0"/>
          <a:cs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  <a:cs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  <a:cs typeface="Calibri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6.png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>
            <a:extLst>
              <a:ext uri="{FF2B5EF4-FFF2-40B4-BE49-F238E27FC236}">
                <a16:creationId xmlns:a16="http://schemas.microsoft.com/office/drawing/2014/main" id="{FDBAB13D-D22C-E776-45BA-2A40F5C1A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00400"/>
            <a:ext cx="9144000" cy="1524000"/>
          </a:xfrm>
          <a:solidFill>
            <a:schemeClr val="accent2"/>
          </a:solidFill>
        </p:spPr>
        <p:txBody>
          <a:bodyPr/>
          <a:lstStyle/>
          <a:p>
            <a:br>
              <a:rPr lang="en-US" altLang="en-US">
                <a:solidFill>
                  <a:schemeClr val="bg1"/>
                </a:solidFill>
              </a:rPr>
            </a:br>
            <a:r>
              <a:rPr lang="en-US" altLang="en-US">
                <a:solidFill>
                  <a:schemeClr val="bg1"/>
                </a:solidFill>
              </a:rPr>
              <a:t>Data Science</a:t>
            </a:r>
            <a:br>
              <a:rPr lang="en-US" altLang="en-US">
                <a:solidFill>
                  <a:schemeClr val="bg1"/>
                </a:solidFill>
              </a:rPr>
            </a:br>
            <a:r>
              <a:rPr lang="en-US" altLang="en-US" sz="3200">
                <a:solidFill>
                  <a:schemeClr val="bg1"/>
                </a:solidFill>
              </a:rPr>
              <a:t>IICT Lecture 11</a:t>
            </a:r>
            <a:br>
              <a:rPr lang="en-US" altLang="en-US" sz="3200">
                <a:solidFill>
                  <a:schemeClr val="bg1"/>
                </a:solidFill>
              </a:rPr>
            </a:br>
            <a:br>
              <a:rPr lang="en-US" altLang="en-US" sz="3200">
                <a:solidFill>
                  <a:schemeClr val="bg1"/>
                </a:solidFill>
              </a:rPr>
            </a:br>
            <a:r>
              <a:rPr lang="en-US" altLang="en-US" sz="3200">
                <a:solidFill>
                  <a:schemeClr val="tx1"/>
                </a:solidFill>
              </a:rPr>
              <a:t>Bismillah Jan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2051" name="Footer Placeholder 3">
            <a:extLst>
              <a:ext uri="{FF2B5EF4-FFF2-40B4-BE49-F238E27FC236}">
                <a16:creationId xmlns:a16="http://schemas.microsoft.com/office/drawing/2014/main" id="{A7CC9390-EDAA-ED33-DB12-DB968D53B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  <p:pic>
        <p:nvPicPr>
          <p:cNvPr id="2052" name="Picture 4" descr="Logo Fast ">
            <a:extLst>
              <a:ext uri="{FF2B5EF4-FFF2-40B4-BE49-F238E27FC236}">
                <a16:creationId xmlns:a16="http://schemas.microsoft.com/office/drawing/2014/main" id="{7360F5C3-8469-34DA-914E-139C1E43B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762000"/>
            <a:ext cx="21336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9450B715-5FA8-72F8-2A06-743B8DF32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Big Data?</a:t>
            </a:r>
          </a:p>
        </p:txBody>
      </p:sp>
      <p:sp>
        <p:nvSpPr>
          <p:cNvPr id="3075" name="Footer Placeholder 3">
            <a:extLst>
              <a:ext uri="{FF2B5EF4-FFF2-40B4-BE49-F238E27FC236}">
                <a16:creationId xmlns:a16="http://schemas.microsoft.com/office/drawing/2014/main" id="{AB710CEE-CB12-7E95-FFAC-0EBE67932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  <p:pic>
        <p:nvPicPr>
          <p:cNvPr id="3076" name="Picture 3">
            <a:extLst>
              <a:ext uri="{FF2B5EF4-FFF2-40B4-BE49-F238E27FC236}">
                <a16:creationId xmlns:a16="http://schemas.microsoft.com/office/drawing/2014/main" id="{03D98080-9D85-9709-AC48-121E222B70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811338"/>
            <a:ext cx="4191000" cy="428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6">
            <a:extLst>
              <a:ext uri="{FF2B5EF4-FFF2-40B4-BE49-F238E27FC236}">
                <a16:creationId xmlns:a16="http://schemas.microsoft.com/office/drawing/2014/main" id="{F7AD467C-641C-9289-A5AF-0136BD056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905000"/>
            <a:ext cx="19812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>
                <a:latin typeface="Calibri" panose="020F0502020204030204" pitchFamily="34" charset="0"/>
                <a:cs typeface="Calibri" panose="020F0502020204030204" pitchFamily="34" charset="0"/>
              </a:rPr>
              <a:t>Lots of Data (Terabytes or Petabytes)</a:t>
            </a:r>
          </a:p>
        </p:txBody>
      </p:sp>
      <p:sp>
        <p:nvSpPr>
          <p:cNvPr id="3078" name="Right Arrow 7">
            <a:extLst>
              <a:ext uri="{FF2B5EF4-FFF2-40B4-BE49-F238E27FC236}">
                <a16:creationId xmlns:a16="http://schemas.microsoft.com/office/drawing/2014/main" id="{396F650A-3843-705D-EB99-3128D476E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828800"/>
            <a:ext cx="838200" cy="304800"/>
          </a:xfrm>
          <a:prstGeom prst="rightArrow">
            <a:avLst>
              <a:gd name="adj1" fmla="val 50000"/>
              <a:gd name="adj2" fmla="val 49997"/>
            </a:avLst>
          </a:prstGeom>
          <a:solidFill>
            <a:srgbClr val="FF505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983D9B-0F89-82B8-56FE-5EB669F8D882}"/>
              </a:ext>
            </a:extLst>
          </p:cNvPr>
          <p:cNvSpPr txBox="1"/>
          <p:nvPr/>
        </p:nvSpPr>
        <p:spPr>
          <a:xfrm>
            <a:off x="6477000" y="4419600"/>
            <a:ext cx="2667000" cy="13239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0" dirty="0">
                <a:latin typeface="Calibri" pitchFamily="34" charset="0"/>
                <a:cs typeface="Calibri" pitchFamily="34" charset="0"/>
              </a:rPr>
              <a:t>Enterprises/Companies achieve related amount of information and business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CCA922B9-B5FC-E0BF-2300-630D16765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19400"/>
            <a:ext cx="9144000" cy="1143000"/>
          </a:xfrm>
          <a:solidFill>
            <a:schemeClr val="tx1"/>
          </a:solidFill>
        </p:spPr>
        <p:txBody>
          <a:bodyPr/>
          <a:lstStyle/>
          <a:p>
            <a:r>
              <a:rPr lang="en-US" altLang="en-US">
                <a:solidFill>
                  <a:schemeClr val="bg1"/>
                </a:solidFill>
              </a:rPr>
              <a:t>Big Data Scenarios</a:t>
            </a:r>
          </a:p>
        </p:txBody>
      </p:sp>
      <p:sp>
        <p:nvSpPr>
          <p:cNvPr id="4099" name="Footer Placeholder 3">
            <a:extLst>
              <a:ext uri="{FF2B5EF4-FFF2-40B4-BE49-F238E27FC236}">
                <a16:creationId xmlns:a16="http://schemas.microsoft.com/office/drawing/2014/main" id="{50C39052-A3F2-6416-5244-7762D73FF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B264A508-E741-12D4-490A-F435C85694A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pPr algn="r"/>
            <a:r>
              <a:rPr lang="en-US" altLang="en-US" sz="3200">
                <a:solidFill>
                  <a:schemeClr val="bg1"/>
                </a:solidFill>
              </a:rPr>
              <a:t>CrickInfo: </a:t>
            </a:r>
            <a:r>
              <a:rPr lang="en-US" altLang="en-US" sz="3200" b="1">
                <a:solidFill>
                  <a:schemeClr val="bg1"/>
                </a:solidFill>
              </a:rPr>
              <a:t>Sports</a:t>
            </a:r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528091FA-6301-73A6-7DF0-01375756D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191000"/>
            <a:ext cx="3581400" cy="2286000"/>
          </a:xfrm>
        </p:spPr>
        <p:txBody>
          <a:bodyPr/>
          <a:lstStyle/>
          <a:p>
            <a:r>
              <a:rPr lang="en-US" altLang="en-US" sz="2400"/>
              <a:t>Ticketing companies used big data to track ticket Sales</a:t>
            </a:r>
          </a:p>
          <a:p>
            <a:r>
              <a:rPr lang="en-US" altLang="en-US" sz="2400"/>
              <a:t>Sports Teams are using data for tracking team strategies</a:t>
            </a:r>
          </a:p>
        </p:txBody>
      </p:sp>
      <p:sp>
        <p:nvSpPr>
          <p:cNvPr id="5124" name="Footer Placeholder 3">
            <a:extLst>
              <a:ext uri="{FF2B5EF4-FFF2-40B4-BE49-F238E27FC236}">
                <a16:creationId xmlns:a16="http://schemas.microsoft.com/office/drawing/2014/main" id="{828E1653-6B57-A968-717C-2A2203A59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  <p:pic>
        <p:nvPicPr>
          <p:cNvPr id="5125" name="Picture 2">
            <a:extLst>
              <a:ext uri="{FF2B5EF4-FFF2-40B4-BE49-F238E27FC236}">
                <a16:creationId xmlns:a16="http://schemas.microsoft.com/office/drawing/2014/main" id="{FFD1C684-2554-6A91-B0EA-61B175508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278563" cy="375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4" descr="Image result for weak point of virat kohli">
            <a:extLst>
              <a:ext uri="{FF2B5EF4-FFF2-40B4-BE49-F238E27FC236}">
                <a16:creationId xmlns:a16="http://schemas.microsoft.com/office/drawing/2014/main" id="{26B0BE26-D7E1-CFF4-B0B7-DAA15E920E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0" y="3429000"/>
            <a:ext cx="5143500" cy="34290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7" name="Picture 5">
            <a:extLst>
              <a:ext uri="{FF2B5EF4-FFF2-40B4-BE49-F238E27FC236}">
                <a16:creationId xmlns:a16="http://schemas.microsoft.com/office/drawing/2014/main" id="{EEF844B6-3CE9-60B4-9E2F-F9AB0F992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3886200"/>
            <a:ext cx="1676400" cy="191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B973A33E-FF01-6BCE-CC99-D5E0D7CF5A7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pPr algn="r"/>
            <a:r>
              <a:rPr lang="en-US" altLang="en-US">
                <a:solidFill>
                  <a:schemeClr val="bg1"/>
                </a:solidFill>
              </a:rPr>
              <a:t>Hospital Care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314DF4D9-C099-E4FB-57A3-09EEBC336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3657600"/>
            <a:ext cx="7772400" cy="2438400"/>
          </a:xfrm>
        </p:spPr>
        <p:txBody>
          <a:bodyPr/>
          <a:lstStyle/>
          <a:p>
            <a:r>
              <a:rPr lang="en-US" altLang="en-US" sz="2400"/>
              <a:t>Hospitals are analyzing medical data and patient records to predict those patients that are likely to seek readmission within a few months of discharge.</a:t>
            </a:r>
          </a:p>
          <a:p>
            <a:r>
              <a:rPr lang="en-US" altLang="en-US" sz="2400"/>
              <a:t>Medical diagnostics company analyzes  previous existing data to develop non-intrusive test for predicting </a:t>
            </a:r>
            <a:r>
              <a:rPr lang="en-US" altLang="en-US" sz="2400">
                <a:solidFill>
                  <a:srgbClr val="0070C0"/>
                </a:solidFill>
              </a:rPr>
              <a:t>coronary</a:t>
            </a:r>
            <a:r>
              <a:rPr lang="en-US" altLang="en-US" sz="2400"/>
              <a:t> </a:t>
            </a:r>
            <a:r>
              <a:rPr lang="en-US" altLang="en-US" sz="2400">
                <a:solidFill>
                  <a:srgbClr val="0070C0"/>
                </a:solidFill>
              </a:rPr>
              <a:t>artery</a:t>
            </a:r>
            <a:r>
              <a:rPr lang="en-US" altLang="en-US" sz="2400"/>
              <a:t> </a:t>
            </a:r>
            <a:r>
              <a:rPr lang="en-US" altLang="en-US" sz="2400">
                <a:solidFill>
                  <a:srgbClr val="0070C0"/>
                </a:solidFill>
              </a:rPr>
              <a:t>diseases</a:t>
            </a:r>
            <a:r>
              <a:rPr lang="en-US" altLang="en-US" sz="2400"/>
              <a:t>, </a:t>
            </a:r>
            <a:r>
              <a:rPr lang="en-US" altLang="en-US" sz="2400">
                <a:solidFill>
                  <a:srgbClr val="FF0000"/>
                </a:solidFill>
              </a:rPr>
              <a:t>lung</a:t>
            </a:r>
            <a:r>
              <a:rPr lang="en-US" altLang="en-US" sz="2400"/>
              <a:t> </a:t>
            </a:r>
            <a:r>
              <a:rPr lang="en-US" altLang="en-US" sz="2400">
                <a:solidFill>
                  <a:srgbClr val="FF0000"/>
                </a:solidFill>
              </a:rPr>
              <a:t>cancers</a:t>
            </a:r>
            <a:r>
              <a:rPr lang="en-US" altLang="en-US" sz="2400"/>
              <a:t>, </a:t>
            </a:r>
            <a:r>
              <a:rPr lang="en-US" altLang="en-US" sz="2400">
                <a:solidFill>
                  <a:srgbClr val="008000"/>
                </a:solidFill>
              </a:rPr>
              <a:t>brain tumors </a:t>
            </a:r>
            <a:r>
              <a:rPr lang="en-US" altLang="en-US" sz="2400"/>
              <a:t>and so on</a:t>
            </a:r>
          </a:p>
        </p:txBody>
      </p:sp>
      <p:sp>
        <p:nvSpPr>
          <p:cNvPr id="6148" name="Footer Placeholder 3">
            <a:extLst>
              <a:ext uri="{FF2B5EF4-FFF2-40B4-BE49-F238E27FC236}">
                <a16:creationId xmlns:a16="http://schemas.microsoft.com/office/drawing/2014/main" id="{C84B69E2-AAB1-1411-F4B3-215EF57F1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  <p:pic>
        <p:nvPicPr>
          <p:cNvPr id="6149" name="Picture 2">
            <a:extLst>
              <a:ext uri="{FF2B5EF4-FFF2-40B4-BE49-F238E27FC236}">
                <a16:creationId xmlns:a16="http://schemas.microsoft.com/office/drawing/2014/main" id="{676E2709-3BEE-F82D-69B9-4B9719CDF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181600" cy="348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AB80A442-01DC-6906-7C24-D253B5CEDDF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pPr algn="r"/>
            <a:r>
              <a:rPr lang="en-US" altLang="en-US">
                <a:solidFill>
                  <a:schemeClr val="bg1"/>
                </a:solidFill>
              </a:rPr>
              <a:t>NetFlix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3D0DDDD5-3B1A-AC76-0DA7-237D9C139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3276600"/>
            <a:ext cx="7772400" cy="2819400"/>
          </a:xfrm>
        </p:spPr>
        <p:txBody>
          <a:bodyPr/>
          <a:lstStyle/>
          <a:p>
            <a:r>
              <a:rPr lang="en-US" altLang="en-US" sz="2400"/>
              <a:t>Netflix, Inc. is an American media-services provider headquartered in Los Gatos, California</a:t>
            </a:r>
          </a:p>
          <a:p>
            <a:r>
              <a:rPr lang="en-US" altLang="en-US" sz="2400"/>
              <a:t>Uses 1 Petabyte to store the videos for streaming</a:t>
            </a:r>
          </a:p>
          <a:p>
            <a:pPr>
              <a:buFontTx/>
              <a:buNone/>
            </a:pPr>
            <a:r>
              <a:rPr lang="en-US" altLang="en-US" sz="1200"/>
              <a:t>	(According to the Motion Picture Association of America, the number fluctuates, but the average seems to be around </a:t>
            </a:r>
            <a:r>
              <a:rPr lang="en-US" altLang="en-US" sz="1200" b="1"/>
              <a:t>600</a:t>
            </a:r>
            <a:r>
              <a:rPr lang="en-US" altLang="en-US" sz="1200"/>
              <a:t> movies created in the US every year)</a:t>
            </a:r>
          </a:p>
          <a:p>
            <a:r>
              <a:rPr lang="en-US" altLang="en-US" sz="2400"/>
              <a:t>1 Petabyte of average MP3-Encoded songs (for mobile, roughly one megabyte per minute), would require 2000 years to play</a:t>
            </a:r>
          </a:p>
          <a:p>
            <a:r>
              <a:rPr lang="en-US" altLang="en-US" sz="2400"/>
              <a:t>Movies recommendation</a:t>
            </a:r>
          </a:p>
        </p:txBody>
      </p:sp>
      <p:pic>
        <p:nvPicPr>
          <p:cNvPr id="7172" name="Picture 2" descr="Image result for netflix">
            <a:extLst>
              <a:ext uri="{FF2B5EF4-FFF2-40B4-BE49-F238E27FC236}">
                <a16:creationId xmlns:a16="http://schemas.microsoft.com/office/drawing/2014/main" id="{6D675916-E38A-4690-4AAD-298C07FF60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096000" cy="324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2E906FF5-AC95-06AA-FE6A-7EED51B4581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pPr algn="r"/>
            <a:r>
              <a:rPr lang="en-US" altLang="en-US" sz="3200">
                <a:solidFill>
                  <a:schemeClr val="bg1"/>
                </a:solidFill>
              </a:rPr>
              <a:t>The Large Hadron Collider</a:t>
            </a:r>
            <a:br>
              <a:rPr lang="en-US" altLang="en-US" sz="3200">
                <a:solidFill>
                  <a:schemeClr val="bg1"/>
                </a:solidFill>
              </a:rPr>
            </a:br>
            <a:r>
              <a:rPr lang="en-US" altLang="en-US" sz="3200">
                <a:solidFill>
                  <a:schemeClr val="bg1"/>
                </a:solidFill>
              </a:rPr>
              <a:t>(CERN Franco-Swiss)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531E5-C46E-65DD-1288-A0F96C80C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819400"/>
            <a:ext cx="7772400" cy="3276600"/>
          </a:xfrm>
        </p:spPr>
        <p:txBody>
          <a:bodyPr/>
          <a:lstStyle/>
          <a:p>
            <a:pPr>
              <a:defRPr/>
            </a:pPr>
            <a:r>
              <a:rPr lang="en-US" sz="2000" dirty="0"/>
              <a:t>The </a:t>
            </a:r>
            <a:r>
              <a:rPr lang="en-US" sz="2000" b="1" dirty="0"/>
              <a:t>Large </a:t>
            </a:r>
            <a:r>
              <a:rPr lang="en-US" sz="2000" b="1" dirty="0" err="1"/>
              <a:t>Hadron</a:t>
            </a:r>
            <a:r>
              <a:rPr lang="en-US" sz="2000" b="1" dirty="0"/>
              <a:t> Collider</a:t>
            </a:r>
            <a:r>
              <a:rPr lang="en-US" sz="2000" dirty="0"/>
              <a:t> (</a:t>
            </a:r>
            <a:r>
              <a:rPr lang="en-US" sz="2000" b="1" dirty="0"/>
              <a:t>LHC</a:t>
            </a:r>
            <a:r>
              <a:rPr lang="en-US" sz="2000" dirty="0"/>
              <a:t>) is the world's largest and most powerful </a:t>
            </a:r>
            <a:r>
              <a:rPr lang="en-US" sz="2000" b="1" dirty="0"/>
              <a:t>particle collider</a:t>
            </a:r>
            <a:r>
              <a:rPr lang="en-US" sz="2000" dirty="0"/>
              <a:t> and the largest machine in the world.</a:t>
            </a:r>
          </a:p>
          <a:p>
            <a:pPr>
              <a:defRPr/>
            </a:pPr>
            <a:r>
              <a:rPr lang="en-US" sz="2000" dirty="0"/>
              <a:t>The LHC consists of a 27-kilometre ring of </a:t>
            </a:r>
            <a:r>
              <a:rPr lang="en-US" sz="2000" dirty="0" err="1"/>
              <a:t>uperconducting</a:t>
            </a:r>
            <a:r>
              <a:rPr lang="en-US" sz="2000" dirty="0"/>
              <a:t> magnets with a number of accelerating structures to boost the energy of the particles along the way.</a:t>
            </a:r>
          </a:p>
          <a:p>
            <a:pPr>
              <a:defRPr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The experiments in the LHC produce about 15 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</a:rPr>
              <a:t>petaytes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of data per year, which are distributed over the Worldwide LHC Computing Grid</a:t>
            </a:r>
          </a:p>
          <a:p>
            <a:pPr>
              <a:defRPr/>
            </a:pPr>
            <a:endParaRPr lang="en-US" sz="2400" dirty="0"/>
          </a:p>
        </p:txBody>
      </p:sp>
      <p:sp>
        <p:nvSpPr>
          <p:cNvPr id="8196" name="Footer Placeholder 3">
            <a:extLst>
              <a:ext uri="{FF2B5EF4-FFF2-40B4-BE49-F238E27FC236}">
                <a16:creationId xmlns:a16="http://schemas.microsoft.com/office/drawing/2014/main" id="{CB8A1AFF-953F-5792-102E-BA246C32C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  <p:pic>
        <p:nvPicPr>
          <p:cNvPr id="8197" name="Picture 2">
            <a:extLst>
              <a:ext uri="{FF2B5EF4-FFF2-40B4-BE49-F238E27FC236}">
                <a16:creationId xmlns:a16="http://schemas.microsoft.com/office/drawing/2014/main" id="{DE4B0C6F-B2BD-C0A0-D174-528ECFBB3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743450" cy="282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5C9C7BA9-069F-5188-904F-44AA6FB0D1F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r>
              <a:rPr lang="en-US" altLang="en-US">
                <a:solidFill>
                  <a:schemeClr val="bg1"/>
                </a:solidFill>
              </a:rPr>
              <a:t>And many more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68FA0B4B-5E96-75B9-3706-CADA83F1F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Predict Traffic given a time and location</a:t>
            </a:r>
          </a:p>
          <a:p>
            <a:r>
              <a:rPr lang="en-US" altLang="en-US"/>
              <a:t>Facebook’s friends suggestions, Image automatic annotations….etc.</a:t>
            </a:r>
          </a:p>
          <a:p>
            <a:r>
              <a:rPr lang="en-US" altLang="en-US"/>
              <a:t>Real time soccer Analytics</a:t>
            </a:r>
          </a:p>
          <a:p>
            <a:r>
              <a:rPr lang="en-US" altLang="en-US"/>
              <a:t>…</a:t>
            </a:r>
          </a:p>
        </p:txBody>
      </p:sp>
      <p:sp>
        <p:nvSpPr>
          <p:cNvPr id="9220" name="Footer Placeholder 3">
            <a:extLst>
              <a:ext uri="{FF2B5EF4-FFF2-40B4-BE49-F238E27FC236}">
                <a16:creationId xmlns:a16="http://schemas.microsoft.com/office/drawing/2014/main" id="{1A5FE88F-714D-BEBE-EAA1-C27427634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ADBDD-1DBF-26EF-4B07-ECD6C384180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75000"/>
            </a:schemeClr>
          </a:solidFill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What can Data do?</a:t>
            </a:r>
          </a:p>
        </p:txBody>
      </p:sp>
      <p:sp>
        <p:nvSpPr>
          <p:cNvPr id="10243" name="Footer Placeholder 3">
            <a:extLst>
              <a:ext uri="{FF2B5EF4-FFF2-40B4-BE49-F238E27FC236}">
                <a16:creationId xmlns:a16="http://schemas.microsoft.com/office/drawing/2014/main" id="{29522DF6-40D7-9F0B-DD38-AD9B6A972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  <p:pic>
        <p:nvPicPr>
          <p:cNvPr id="10244" name="Picture 2">
            <a:extLst>
              <a:ext uri="{FF2B5EF4-FFF2-40B4-BE49-F238E27FC236}">
                <a16:creationId xmlns:a16="http://schemas.microsoft.com/office/drawing/2014/main" id="{E600DD51-B314-04B5-6651-001AFAA7E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057400"/>
            <a:ext cx="58674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3">
            <a:extLst>
              <a:ext uri="{FF2B5EF4-FFF2-40B4-BE49-F238E27FC236}">
                <a16:creationId xmlns:a16="http://schemas.microsoft.com/office/drawing/2014/main" id="{4033A8BA-860C-863A-5B6E-14D0FC03E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  <p:pic>
        <p:nvPicPr>
          <p:cNvPr id="11267" name="Picture 2">
            <a:extLst>
              <a:ext uri="{FF2B5EF4-FFF2-40B4-BE49-F238E27FC236}">
                <a16:creationId xmlns:a16="http://schemas.microsoft.com/office/drawing/2014/main" id="{80F0E47A-A1B6-A011-5FC5-67EF42C27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381000"/>
            <a:ext cx="3886200" cy="564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2B297CEA-FF13-036B-2485-133AC82B57E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75000"/>
            </a:schemeClr>
          </a:solidFill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What is Data Science?</a:t>
            </a:r>
          </a:p>
        </p:txBody>
      </p:sp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id="{539B5907-5A4F-0809-0357-005A3C2A5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52600"/>
            <a:ext cx="7772400" cy="4114800"/>
          </a:xfrm>
        </p:spPr>
        <p:txBody>
          <a:bodyPr/>
          <a:lstStyle/>
          <a:p>
            <a:pPr>
              <a:defRPr/>
            </a:pPr>
            <a:r>
              <a:rPr lang="en-US" sz="2400" dirty="0"/>
              <a:t>Data science is a multifaceted field used to gain insights from complex data. [</a:t>
            </a:r>
            <a:r>
              <a:rPr lang="en-US" sz="2400" dirty="0" err="1"/>
              <a:t>MITx</a:t>
            </a:r>
            <a:r>
              <a:rPr lang="en-US" sz="2400" dirty="0"/>
              <a:t>]</a:t>
            </a:r>
          </a:p>
          <a:p>
            <a:pPr>
              <a:defRPr/>
            </a:pPr>
            <a:r>
              <a:rPr lang="en-US" sz="2400" b="1" dirty="0"/>
              <a:t>Data science</a:t>
            </a:r>
            <a:r>
              <a:rPr lang="en-US" sz="2400" dirty="0"/>
              <a:t> is an interdisciplinary field that uses </a:t>
            </a:r>
            <a:r>
              <a:rPr lang="en-US" sz="2400" b="1" dirty="0"/>
              <a:t>scientific methods</a:t>
            </a:r>
            <a:r>
              <a:rPr lang="en-US" sz="2400" dirty="0"/>
              <a:t>, </a:t>
            </a:r>
            <a:r>
              <a:rPr lang="en-US" sz="2400" dirty="0">
                <a:solidFill>
                  <a:schemeClr val="accent2"/>
                </a:solidFill>
              </a:rPr>
              <a:t>processes</a:t>
            </a:r>
            <a:r>
              <a:rPr lang="en-US" sz="2400" dirty="0"/>
              <a:t>,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algorithms</a:t>
            </a:r>
            <a:r>
              <a:rPr lang="en-US" sz="2400" dirty="0"/>
              <a:t> and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systems</a:t>
            </a:r>
            <a:r>
              <a:rPr lang="en-US" sz="2400" dirty="0"/>
              <a:t> to extract </a:t>
            </a:r>
            <a:r>
              <a:rPr lang="en-US" sz="2400" b="1" dirty="0"/>
              <a:t>knowledge</a:t>
            </a:r>
            <a:r>
              <a:rPr lang="en-US" sz="2400" dirty="0"/>
              <a:t> and </a:t>
            </a:r>
            <a:r>
              <a:rPr lang="en-US" sz="2400" b="1" dirty="0"/>
              <a:t>insights</a:t>
            </a:r>
            <a:r>
              <a:rPr lang="en-US" sz="2400" dirty="0"/>
              <a:t> from </a:t>
            </a:r>
            <a:r>
              <a:rPr lang="en-US" sz="2400" b="1" dirty="0"/>
              <a:t>data</a:t>
            </a:r>
            <a:r>
              <a:rPr lang="en-US" sz="2400" dirty="0"/>
              <a:t> in various forms, both structured and unstructured. [Wikipedia]</a:t>
            </a:r>
          </a:p>
          <a:p>
            <a:pPr>
              <a:defRPr/>
            </a:pPr>
            <a:r>
              <a:rPr lang="en-US" sz="2400" b="1" dirty="0"/>
              <a:t>Data science</a:t>
            </a:r>
            <a:r>
              <a:rPr lang="en-US" sz="2400" dirty="0"/>
              <a:t> is the study of where information comes from, what it represents and how it can be turned into a valuable resource in the creation of business and IT strategies</a:t>
            </a:r>
          </a:p>
        </p:txBody>
      </p:sp>
      <p:sp>
        <p:nvSpPr>
          <p:cNvPr id="12292" name="Footer Placeholder 3">
            <a:extLst>
              <a:ext uri="{FF2B5EF4-FFF2-40B4-BE49-F238E27FC236}">
                <a16:creationId xmlns:a16="http://schemas.microsoft.com/office/drawing/2014/main" id="{2F100371-4D7D-CE2E-3BCF-5B86ADD5C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9794D-F2EF-DD4A-0423-7908B68ABAC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75000"/>
            </a:schemeClr>
          </a:solidFill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What can Data Science do for business?</a:t>
            </a:r>
          </a:p>
        </p:txBody>
      </p:sp>
      <p:sp>
        <p:nvSpPr>
          <p:cNvPr id="13315" name="Footer Placeholder 3">
            <a:extLst>
              <a:ext uri="{FF2B5EF4-FFF2-40B4-BE49-F238E27FC236}">
                <a16:creationId xmlns:a16="http://schemas.microsoft.com/office/drawing/2014/main" id="{895E6027-56C1-ED77-AEFD-E5DAE970A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  <p:grpSp>
        <p:nvGrpSpPr>
          <p:cNvPr id="13316" name="Group 9">
            <a:extLst>
              <a:ext uri="{FF2B5EF4-FFF2-40B4-BE49-F238E27FC236}">
                <a16:creationId xmlns:a16="http://schemas.microsoft.com/office/drawing/2014/main" id="{00B08395-F668-9AF5-166E-62DC0C72795C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1828800"/>
            <a:ext cx="4098925" cy="2728913"/>
            <a:chOff x="685800" y="1981200"/>
            <a:chExt cx="4098925" cy="2729201"/>
          </a:xfrm>
        </p:grpSpPr>
        <p:pic>
          <p:nvPicPr>
            <p:cNvPr id="13319" name="Picture 2" descr="Image result for overlapping two circles">
              <a:extLst>
                <a:ext uri="{FF2B5EF4-FFF2-40B4-BE49-F238E27FC236}">
                  <a16:creationId xmlns:a16="http://schemas.microsoft.com/office/drawing/2014/main" id="{88F8B486-F07B-6B03-F5D2-E671B816C4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1981200"/>
              <a:ext cx="4098925" cy="2729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20" name="TextBox 7">
              <a:extLst>
                <a:ext uri="{FF2B5EF4-FFF2-40B4-BE49-F238E27FC236}">
                  <a16:creationId xmlns:a16="http://schemas.microsoft.com/office/drawing/2014/main" id="{FAF5AD84-5637-E9C0-126E-00D44E8BCD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400" y="2357735"/>
              <a:ext cx="126028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b="0">
                  <a:latin typeface="Calibri" panose="020F0502020204030204" pitchFamily="34" charset="0"/>
                  <a:cs typeface="Calibri" panose="020F0502020204030204" pitchFamily="34" charset="0"/>
                </a:rPr>
                <a:t>Business</a:t>
              </a:r>
            </a:p>
          </p:txBody>
        </p:sp>
        <p:sp>
          <p:nvSpPr>
            <p:cNvPr id="13321" name="TextBox 8">
              <a:extLst>
                <a:ext uri="{FF2B5EF4-FFF2-40B4-BE49-F238E27FC236}">
                  <a16:creationId xmlns:a16="http://schemas.microsoft.com/office/drawing/2014/main" id="{E19B4C1C-BBB7-7B76-10E0-66ACBDBB7C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400" y="2667000"/>
              <a:ext cx="76495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b="0">
                  <a:latin typeface="Calibri" panose="020F0502020204030204" pitchFamily="34" charset="0"/>
                  <a:cs typeface="Calibri" panose="020F0502020204030204" pitchFamily="34" charset="0"/>
                </a:rPr>
                <a:t>Data</a:t>
              </a:r>
            </a:p>
          </p:txBody>
        </p:sp>
      </p:grpSp>
      <p:sp>
        <p:nvSpPr>
          <p:cNvPr id="13317" name="TextBox 10">
            <a:extLst>
              <a:ext uri="{FF2B5EF4-FFF2-40B4-BE49-F238E27FC236}">
                <a16:creationId xmlns:a16="http://schemas.microsoft.com/office/drawing/2014/main" id="{97B92154-4D50-54AA-4F6F-CB98085C89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514600"/>
            <a:ext cx="4114800" cy="34163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0">
                <a:latin typeface="Calibri" panose="020F0502020204030204" pitchFamily="34" charset="0"/>
                <a:cs typeface="Calibri" panose="020F0502020204030204" pitchFamily="34" charset="0"/>
              </a:rPr>
              <a:t>Data Science! Extracting useful information and knowledge from large volumes of data in order to improve business decision-making or providing the business insights to make data-driven decisions </a:t>
            </a:r>
            <a:br>
              <a:rPr lang="en-US" altLang="en-US" b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altLang="en-US" b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en-US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318" name="Shape 20">
            <a:extLst>
              <a:ext uri="{FF2B5EF4-FFF2-40B4-BE49-F238E27FC236}">
                <a16:creationId xmlns:a16="http://schemas.microsoft.com/office/drawing/2014/main" id="{67EFA5EA-1083-B3BD-85AA-A65EFAD0442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724400" y="3840163"/>
            <a:ext cx="2125663" cy="1570037"/>
          </a:xfrm>
          <a:prstGeom prst="curvedConnector3">
            <a:avLst>
              <a:gd name="adj1" fmla="val 50000"/>
            </a:avLst>
          </a:prstGeom>
          <a:noFill/>
          <a:ln w="28575" algn="ctr">
            <a:solidFill>
              <a:schemeClr val="accent2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B08E6-5F72-1B47-ABEE-7616A4B7B80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75000"/>
            </a:schemeClr>
          </a:solidFill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Other applications of Data Science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EA75B974-B642-5543-197F-BC0CAFE9C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4340" name="Footer Placeholder 3">
            <a:extLst>
              <a:ext uri="{FF2B5EF4-FFF2-40B4-BE49-F238E27FC236}">
                <a16:creationId xmlns:a16="http://schemas.microsoft.com/office/drawing/2014/main" id="{58F4ACAB-5B22-E40E-7431-C9818FA3C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  <p:pic>
        <p:nvPicPr>
          <p:cNvPr id="14341" name="Picture 2">
            <a:extLst>
              <a:ext uri="{FF2B5EF4-FFF2-40B4-BE49-F238E27FC236}">
                <a16:creationId xmlns:a16="http://schemas.microsoft.com/office/drawing/2014/main" id="{5CD7C328-96DA-BDBE-2B98-6F260F9C7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828800"/>
            <a:ext cx="64770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F5814-8887-7A24-12A3-B4AC44C60E6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75000"/>
            </a:schemeClr>
          </a:solidFill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What Data Science Involve?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F4FAFCDD-375F-C7C3-333E-2EC45AA5E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Math and Statistics Knowledge</a:t>
            </a:r>
          </a:p>
          <a:p>
            <a:r>
              <a:rPr lang="en-US" altLang="en-US"/>
              <a:t>Machine Learning</a:t>
            </a:r>
          </a:p>
          <a:p>
            <a:r>
              <a:rPr lang="en-US" altLang="en-US"/>
              <a:t>Data Analyses </a:t>
            </a:r>
          </a:p>
          <a:p>
            <a:r>
              <a:rPr lang="en-US" altLang="en-US"/>
              <a:t>Moreover, It employs techniques and theories drawn from many fields within the context of mathematics, statistics, information science, and computer science.</a:t>
            </a:r>
          </a:p>
          <a:p>
            <a:endParaRPr lang="en-US" altLang="en-US"/>
          </a:p>
        </p:txBody>
      </p:sp>
      <p:sp>
        <p:nvSpPr>
          <p:cNvPr id="15364" name="Footer Placeholder 3">
            <a:extLst>
              <a:ext uri="{FF2B5EF4-FFF2-40B4-BE49-F238E27FC236}">
                <a16:creationId xmlns:a16="http://schemas.microsoft.com/office/drawing/2014/main" id="{2A9E5488-45B5-1291-50A1-3230BBEDA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67301-46A3-6122-A584-47E17CA4DDE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10000"/>
            </a:schemeClr>
          </a:solidFill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Machine Learning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1A5D1046-071A-D222-7A10-36AF78B6F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 </a:t>
            </a:r>
            <a:r>
              <a:rPr lang="en-US" altLang="en-US" b="1"/>
              <a:t>Machine learning</a:t>
            </a:r>
            <a:r>
              <a:rPr lang="en-US" altLang="en-US"/>
              <a:t> focuses on the development of computer programs that can access data and use it  to learn for themselves.</a:t>
            </a:r>
          </a:p>
          <a:p>
            <a:r>
              <a:rPr lang="en-US" altLang="en-US"/>
              <a:t>Machine Learning programs are also designed to learn and improve over time when exposed to new data</a:t>
            </a:r>
          </a:p>
          <a:p>
            <a:endParaRPr lang="en-US" altLang="en-US"/>
          </a:p>
        </p:txBody>
      </p:sp>
      <p:sp>
        <p:nvSpPr>
          <p:cNvPr id="16388" name="Footer Placeholder 3">
            <a:extLst>
              <a:ext uri="{FF2B5EF4-FFF2-40B4-BE49-F238E27FC236}">
                <a16:creationId xmlns:a16="http://schemas.microsoft.com/office/drawing/2014/main" id="{9576AA89-E835-8031-0356-FFDE00368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347E0212-99CF-3B84-CCA1-192A5458ED7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r>
              <a:rPr lang="en-US" altLang="en-US">
                <a:solidFill>
                  <a:schemeClr val="bg1"/>
                </a:solidFill>
              </a:rPr>
              <a:t>Supervised Learning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BD062181-59D7-929B-2961-B9EC5BEDD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81200"/>
            <a:ext cx="7772400" cy="4114800"/>
          </a:xfrm>
        </p:spPr>
        <p:txBody>
          <a:bodyPr/>
          <a:lstStyle/>
          <a:p>
            <a:r>
              <a:rPr lang="en-US" altLang="en-US" sz="2800"/>
              <a:t>Definition:</a:t>
            </a:r>
          </a:p>
          <a:p>
            <a:pPr lvl="1"/>
            <a:r>
              <a:rPr lang="en-US" altLang="en-US" sz="2400"/>
              <a:t>Where a program is “trained” on a pre-defined dataset. Based off its training data the program can make accurate decisions when given new data. </a:t>
            </a:r>
          </a:p>
          <a:p>
            <a:r>
              <a:rPr lang="en-US" altLang="en-US" sz="2800"/>
              <a:t>Business Application</a:t>
            </a:r>
          </a:p>
          <a:p>
            <a:pPr lvl="1"/>
            <a:r>
              <a:rPr lang="en-US" altLang="en-US" sz="2400"/>
              <a:t>Classifying Twitter sentiments</a:t>
            </a:r>
          </a:p>
          <a:p>
            <a:pPr lvl="1"/>
            <a:r>
              <a:rPr lang="en-US" altLang="en-US" sz="2400"/>
              <a:t>Recommender systems </a:t>
            </a:r>
            <a:br>
              <a:rPr lang="en-US" altLang="en-US" sz="2400"/>
            </a:br>
            <a:endParaRPr lang="en-US" altLang="en-US" sz="2400"/>
          </a:p>
        </p:txBody>
      </p:sp>
      <p:pic>
        <p:nvPicPr>
          <p:cNvPr id="17412" name="Picture 2">
            <a:extLst>
              <a:ext uri="{FF2B5EF4-FFF2-40B4-BE49-F238E27FC236}">
                <a16:creationId xmlns:a16="http://schemas.microsoft.com/office/drawing/2014/main" id="{19B13771-7220-C794-C131-A48AA0EF8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1263" y="4267200"/>
            <a:ext cx="4122737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E9C5245B-B935-4658-7797-924811FE639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pPr algn="l"/>
            <a:r>
              <a:rPr lang="en-US" altLang="en-US" sz="4000">
                <a:solidFill>
                  <a:schemeClr val="bg1"/>
                </a:solidFill>
              </a:rPr>
              <a:t>Unsupervised Learning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8DFB3E54-E419-5480-D0B7-A1A2E491B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81200"/>
            <a:ext cx="7772400" cy="4114800"/>
          </a:xfrm>
        </p:spPr>
        <p:txBody>
          <a:bodyPr/>
          <a:lstStyle/>
          <a:p>
            <a:r>
              <a:rPr lang="en-US" altLang="en-US" sz="2800"/>
              <a:t>Definition</a:t>
            </a:r>
          </a:p>
          <a:p>
            <a:pPr lvl="1"/>
            <a:r>
              <a:rPr lang="en-US" altLang="en-US" sz="2400"/>
              <a:t>Where a program, given a dataset, can automatically find patterns and relationships within the dataset.</a:t>
            </a:r>
          </a:p>
          <a:p>
            <a:pPr lvl="1"/>
            <a:r>
              <a:rPr lang="en-US" altLang="en-US" sz="2400"/>
              <a:t>Clustering or grouping of like data.</a:t>
            </a:r>
          </a:p>
          <a:p>
            <a:r>
              <a:rPr lang="en-US" altLang="en-US" sz="2800"/>
              <a:t>Business Application</a:t>
            </a:r>
          </a:p>
          <a:p>
            <a:pPr lvl="1"/>
            <a:r>
              <a:rPr lang="en-US" altLang="en-US" sz="2400"/>
              <a:t>Customer segmentation</a:t>
            </a:r>
          </a:p>
          <a:p>
            <a:pPr lvl="1"/>
            <a:r>
              <a:rPr lang="en-US" altLang="en-US" sz="2400"/>
              <a:t>Understanding users and Behaviors</a:t>
            </a:r>
          </a:p>
          <a:p>
            <a:pPr lvl="1"/>
            <a:r>
              <a:rPr lang="en-US" altLang="en-US" sz="2400"/>
              <a:t>Classifying unknown and predefined images into categories</a:t>
            </a:r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B3DBEF2D-7D62-E2E3-1877-57D123656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0"/>
            <a:ext cx="4187825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A10A05D4-92DF-914F-4E56-B7888830114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r>
              <a:rPr lang="en-US" altLang="en-US">
                <a:solidFill>
                  <a:schemeClr val="bg1"/>
                </a:solidFill>
              </a:rPr>
              <a:t>Regression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554DA577-D7CA-CBB3-E7E0-B334848F3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Sub-category of Supervised Learning</a:t>
            </a:r>
          </a:p>
          <a:p>
            <a:r>
              <a:rPr lang="en-US" altLang="en-US"/>
              <a:t>Regression is a type of algorithm that predicts a continuous values 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19460" name="Footer Placeholder 3">
            <a:extLst>
              <a:ext uri="{FF2B5EF4-FFF2-40B4-BE49-F238E27FC236}">
                <a16:creationId xmlns:a16="http://schemas.microsoft.com/office/drawing/2014/main" id="{DB97B062-158C-A950-FD80-A95A9FF4F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  <p:pic>
        <p:nvPicPr>
          <p:cNvPr id="19461" name="Picture 2" descr="Image result for plot prices with area regression">
            <a:extLst>
              <a:ext uri="{FF2B5EF4-FFF2-40B4-BE49-F238E27FC236}">
                <a16:creationId xmlns:a16="http://schemas.microsoft.com/office/drawing/2014/main" id="{6C8AA594-77A9-51F6-2E13-71C35218F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/>
          <a:stretch>
            <a:fillRect/>
          </a:stretch>
        </p:blipFill>
        <p:spPr bwMode="auto">
          <a:xfrm>
            <a:off x="3810000" y="3810000"/>
            <a:ext cx="4675188" cy="28194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6D4241-BA1E-362C-0367-460C65E8F73F}"/>
              </a:ext>
            </a:extLst>
          </p:cNvPr>
          <p:cNvSpPr txBox="1"/>
          <p:nvPr/>
        </p:nvSpPr>
        <p:spPr>
          <a:xfrm>
            <a:off x="990600" y="4953000"/>
            <a:ext cx="2667000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b="0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Plots prices with relative to increase in area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264DB197-D701-7AC8-BF3E-D6ED676BE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71800"/>
            <a:ext cx="9144000" cy="1143000"/>
          </a:xfrm>
          <a:solidFill>
            <a:srgbClr val="FF0000"/>
          </a:solidFill>
        </p:spPr>
        <p:txBody>
          <a:bodyPr/>
          <a:lstStyle/>
          <a:p>
            <a:r>
              <a:rPr lang="en-US" altLang="en-US"/>
              <a:t>End of the Lecture</a:t>
            </a:r>
          </a:p>
        </p:txBody>
      </p:sp>
      <p:sp>
        <p:nvSpPr>
          <p:cNvPr id="20483" name="Footer Placeholder 2">
            <a:extLst>
              <a:ext uri="{FF2B5EF4-FFF2-40B4-BE49-F238E27FC236}">
                <a16:creationId xmlns:a16="http://schemas.microsoft.com/office/drawing/2014/main" id="{570FE4F8-8AEB-5217-834C-7E07CC498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0">
                <a:latin typeface="Calibri" panose="020F0502020204030204" pitchFamily="34" charset="0"/>
              </a:rPr>
              <a:t>FAST NUCES, Lahore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E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6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1952</TotalTime>
  <Words>442</Words>
  <Application>Microsoft Office PowerPoint</Application>
  <PresentationFormat>On-screen Show (4:3)</PresentationFormat>
  <Paragraphs>82</Paragraphs>
  <Slides>19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Default Design</vt:lpstr>
      <vt:lpstr> Data Science IICT Lecture 11  Bismillah Jan</vt:lpstr>
      <vt:lpstr>What is Big Data?</vt:lpstr>
      <vt:lpstr>Big Data Scenarios</vt:lpstr>
      <vt:lpstr>CrickInfo: Sports</vt:lpstr>
      <vt:lpstr>Hospital Care</vt:lpstr>
      <vt:lpstr>NetFlix</vt:lpstr>
      <vt:lpstr>The Large Hadron Collider (CERN Franco-Swiss)</vt:lpstr>
      <vt:lpstr>And many more</vt:lpstr>
      <vt:lpstr>What can Data do?</vt:lpstr>
      <vt:lpstr>PowerPoint Presentation</vt:lpstr>
      <vt:lpstr>What is Data Science?</vt:lpstr>
      <vt:lpstr>What can Data Science do for business?</vt:lpstr>
      <vt:lpstr>Other applications of Data Science</vt:lpstr>
      <vt:lpstr>What Data Science Involve?</vt:lpstr>
      <vt:lpstr>Machine Learning</vt:lpstr>
      <vt:lpstr>Supervised Learning</vt:lpstr>
      <vt:lpstr>Unsupervised Learning</vt:lpstr>
      <vt:lpstr>Regression</vt:lpstr>
      <vt:lpstr>End of the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COMMUNICATION SYSTEMS</dc:title>
  <dc:creator>JANAKA</dc:creator>
  <cp:lastModifiedBy>hanana Nankay</cp:lastModifiedBy>
  <cp:revision>279</cp:revision>
  <dcterms:created xsi:type="dcterms:W3CDTF">2004-07-28T03:48:58Z</dcterms:created>
  <dcterms:modified xsi:type="dcterms:W3CDTF">2023-11-05T18:31:16Z</dcterms:modified>
</cp:coreProperties>
</file>