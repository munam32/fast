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0"/>
  </p:handoutMasterIdLst>
  <p:sldIdLst>
    <p:sldId id="343" r:id="rId3"/>
    <p:sldId id="35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99" r:id="rId13"/>
    <p:sldId id="400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  <p:sldId id="411" r:id="rId25"/>
    <p:sldId id="412" r:id="rId26"/>
    <p:sldId id="413" r:id="rId27"/>
    <p:sldId id="414" r:id="rId28"/>
    <p:sldId id="415" r:id="rId29"/>
    <p:sldId id="416" r:id="rId30"/>
    <p:sldId id="417" r:id="rId31"/>
    <p:sldId id="419" r:id="rId32"/>
    <p:sldId id="420" r:id="rId33"/>
    <p:sldId id="421" r:id="rId34"/>
    <p:sldId id="422" r:id="rId35"/>
    <p:sldId id="423" r:id="rId36"/>
    <p:sldId id="424" r:id="rId37"/>
    <p:sldId id="418" r:id="rId38"/>
    <p:sldId id="425" r:id="rId39"/>
    <p:sldId id="428" r:id="rId40"/>
    <p:sldId id="429" r:id="rId41"/>
    <p:sldId id="430" r:id="rId42"/>
    <p:sldId id="431" r:id="rId43"/>
    <p:sldId id="432" r:id="rId44"/>
    <p:sldId id="433" r:id="rId45"/>
    <p:sldId id="434" r:id="rId46"/>
    <p:sldId id="435" r:id="rId47"/>
    <p:sldId id="436" r:id="rId48"/>
    <p:sldId id="426" r:id="rId49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2000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9900"/>
    <a:srgbClr val="008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1" d="100"/>
          <a:sy n="61" d="100"/>
        </p:scale>
        <p:origin x="-672" y="-84"/>
      </p:cViewPr>
      <p:guideLst>
        <p:guide orient="horz" pos="2160"/>
        <p:guide pos="28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0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7" Type="http://schemas.openxmlformats.org/officeDocument/2006/relationships/image" Target="../media/image43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>
              <a:spcBef>
                <a:spcPct val="0"/>
              </a:spcBef>
            </a:pPr>
            <a:fld id="{9A0DB2DC-4C9A-4742-B13C-FB6460FD3503}" type="slidenum"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292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>
              <a:spcBef>
                <a:spcPct val="0"/>
              </a:spcBef>
            </a:pPr>
            <a:fld id="{9A0DB2DC-4C9A-4742-B13C-FB6460FD3503}" type="slidenum"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spcBef>
                <a:spcPct val="0"/>
              </a:spcBef>
            </a:pPr>
            <a:fld id="{9A0DB2DC-4C9A-4742-B13C-FB6460FD3503}" type="slidenum"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p>
            <a:pPr lvl="0"/>
            <a:endParaRPr lang="en-US" altLang="en-US" dirty="0"/>
          </a:p>
        </p:txBody>
      </p:sp>
      <p:sp>
        <p:nvSpPr>
          <p:cNvPr id="922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en-US" dirty="0">
                <a:cs typeface="Arial" panose="020B0604020202020204" pitchFamily="34" charset="0"/>
              </a:rPr>
            </a:fld>
            <a:endParaRPr lang="en-US" altLang="en-US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p>
            <a:pPr lvl="0"/>
            <a:endParaRPr lang="en-US" altLang="en-US" dirty="0"/>
          </a:p>
        </p:txBody>
      </p:sp>
      <p:sp>
        <p:nvSpPr>
          <p:cNvPr id="1126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en-US" dirty="0">
                <a:cs typeface="Arial" panose="020B0604020202020204" pitchFamily="34" charset="0"/>
              </a:rPr>
            </a:fld>
            <a:endParaRPr lang="en-US" altLang="en-US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p>
            <a:pPr lvl="0"/>
            <a:endParaRPr lang="en-US" altLang="en-US" dirty="0"/>
          </a:p>
        </p:txBody>
      </p:sp>
      <p:sp>
        <p:nvSpPr>
          <p:cNvPr id="1331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en-US" dirty="0">
                <a:cs typeface="Arial" panose="020B0604020202020204" pitchFamily="34" charset="0"/>
              </a:rPr>
            </a:fld>
            <a:endParaRPr lang="en-US" altLang="en-US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p>
            <a:pPr lvl="0"/>
            <a:endParaRPr lang="en-US" altLang="en-US" dirty="0"/>
          </a:p>
        </p:txBody>
      </p:sp>
      <p:sp>
        <p:nvSpPr>
          <p:cNvPr id="1536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en-US" dirty="0">
                <a:cs typeface="Arial" panose="020B0604020202020204" pitchFamily="34" charset="0"/>
              </a:rPr>
            </a:fld>
            <a:endParaRPr lang="en-US" altLang="en-US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p>
            <a:pPr lvl="0"/>
            <a:endParaRPr lang="en-US" altLang="en-US" dirty="0"/>
          </a:p>
        </p:txBody>
      </p:sp>
      <p:sp>
        <p:nvSpPr>
          <p:cNvPr id="1741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en-US" dirty="0">
                <a:cs typeface="Arial" panose="020B0604020202020204" pitchFamily="34" charset="0"/>
              </a:rPr>
            </a:fld>
            <a:endParaRPr lang="en-US" altLang="en-US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p>
            <a:pPr lvl="0"/>
            <a:endParaRPr lang="en-US" altLang="en-US" dirty="0"/>
          </a:p>
        </p:txBody>
      </p:sp>
      <p:sp>
        <p:nvSpPr>
          <p:cNvPr id="1946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en-US" dirty="0">
                <a:cs typeface="Arial" panose="020B0604020202020204" pitchFamily="34" charset="0"/>
              </a:rPr>
            </a:fld>
            <a:endParaRPr lang="en-US" altLang="en-US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p>
            <a:pPr lvl="0"/>
            <a:endParaRPr lang="en-US" altLang="en-US" dirty="0"/>
          </a:p>
        </p:txBody>
      </p:sp>
      <p:sp>
        <p:nvSpPr>
          <p:cNvPr id="2560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en-US" dirty="0">
                <a:cs typeface="Arial" panose="020B0604020202020204" pitchFamily="34" charset="0"/>
              </a:rPr>
            </a:fld>
            <a:endParaRPr lang="en-US" altLang="en-US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838200"/>
            <a:ext cx="4343400" cy="2667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657600"/>
            <a:ext cx="4343400" cy="2667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Courtesy Costas Busch - RPI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lvl="0">
              <a:spcBef>
                <a:spcPct val="0"/>
              </a:spcBef>
            </a:pPr>
            <a:fld id="{9A0DB2DC-4C9A-4742-B13C-FB6460FD3503}" type="slidenum">
              <a:rPr lang="en-US" dirty="0"/>
            </a:fld>
            <a:endParaRPr lang="en-US" dirty="0">
              <a:latin typeface="Comic Sans MS" panose="030F0702030302020204" pitchFamily="66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.wmf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7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.w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8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2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12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17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1.wmf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9.wmf"/><Relationship Id="rId11" Type="http://schemas.openxmlformats.org/officeDocument/2006/relationships/oleObject" Target="../embeddings/oleObject21.bin"/><Relationship Id="rId10" Type="http://schemas.openxmlformats.org/officeDocument/2006/relationships/image" Target="../media/image18.wmf"/><Relationship Id="rId1" Type="http://schemas.openxmlformats.org/officeDocument/2006/relationships/oleObject" Target="../embeddings/oleObject16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0.wmf"/><Relationship Id="rId18" Type="http://schemas.openxmlformats.org/officeDocument/2006/relationships/vmlDrawing" Target="../drawings/vmlDrawing6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29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22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1.wmf"/><Relationship Id="rId7" Type="http://schemas.openxmlformats.org/officeDocument/2006/relationships/oleObject" Target="../embeddings/oleObject33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28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30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5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2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34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40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37.wmf"/><Relationship Id="rId18" Type="http://schemas.openxmlformats.org/officeDocument/2006/relationships/vmlDrawing" Target="../drawings/vmlDrawing9.v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44.wmf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43.wmf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42.w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41.wmf"/><Relationship Id="rId1" Type="http://schemas.openxmlformats.org/officeDocument/2006/relationships/oleObject" Target="../embeddings/oleObject38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5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emf"/><Relationship Id="rId1" Type="http://schemas.openxmlformats.org/officeDocument/2006/relationships/oleObject" Target="../embeddings/oleObject46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emf"/><Relationship Id="rId1" Type="http://schemas.openxmlformats.org/officeDocument/2006/relationships/oleObject" Target="../embeddings/oleObject47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Text Box 4"/>
          <p:cNvSpPr txBox="1"/>
          <p:nvPr/>
        </p:nvSpPr>
        <p:spPr>
          <a:xfrm>
            <a:off x="762000" y="1447800"/>
            <a:ext cx="7543800" cy="34264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endParaRPr sz="4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algn="ctr"/>
            <a:r>
              <a:rPr sz="4400" dirty="0">
                <a:solidFill>
                  <a:schemeClr val="tx1"/>
                </a:solidFill>
                <a:latin typeface="Comic Sans MS" panose="030F0702030302020204" pitchFamily="66" charset="0"/>
              </a:rPr>
              <a:t>Automata Theory</a:t>
            </a:r>
            <a:endParaRPr sz="4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algn="ctr"/>
            <a:endParaRPr sz="28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algn="ctr"/>
            <a:r>
              <a:rPr sz="2800" dirty="0">
                <a:solidFill>
                  <a:schemeClr val="tx1"/>
                </a:solidFill>
                <a:latin typeface="Comic Sans MS" panose="030F0702030302020204" pitchFamily="66" charset="0"/>
              </a:rPr>
              <a:t>Lecture # 3</a:t>
            </a:r>
            <a:endParaRPr sz="28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algn="ctr"/>
            <a:r>
              <a:rPr sz="4400" dirty="0">
                <a:solidFill>
                  <a:schemeClr val="tx1"/>
                </a:solidFill>
                <a:latin typeface="Comic Sans MS" panose="030F0702030302020204" pitchFamily="66" charset="0"/>
              </a:rPr>
              <a:t>Languages-II</a:t>
            </a:r>
            <a:endParaRPr sz="4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dirty="0"/>
              <a:t>Formal Language</a:t>
            </a:r>
            <a:endParaRPr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5715000"/>
          </a:xfrm>
        </p:spPr>
        <p:txBody>
          <a:bodyPr vert="horz" wrap="square" lIns="91440" tIns="45720" rIns="91440" bIns="45720" anchor="t" anchorCtr="0"/>
          <a:p>
            <a:pPr marL="0" indent="0"/>
            <a:r>
              <a:rPr sz="3000" dirty="0">
                <a:solidFill>
                  <a:schemeClr val="tx1"/>
                </a:solidFill>
              </a:rPr>
              <a:t>A </a:t>
            </a:r>
            <a:r>
              <a:rPr sz="3000" b="1" dirty="0"/>
              <a:t>formal language</a:t>
            </a:r>
            <a:r>
              <a:rPr sz="3000" dirty="0"/>
              <a:t> </a:t>
            </a:r>
            <a:r>
              <a:rPr sz="3000" dirty="0">
                <a:solidFill>
                  <a:schemeClr val="tx1"/>
                </a:solidFill>
              </a:rPr>
              <a:t>is a set of words—that is, strings of symbols drawn from a common alphabet.</a:t>
            </a:r>
            <a:endParaRPr sz="3000" dirty="0">
              <a:solidFill>
                <a:schemeClr val="tx1"/>
              </a:solidFill>
            </a:endParaRPr>
          </a:p>
          <a:p>
            <a:pPr marL="0" indent="0"/>
            <a:r>
              <a:rPr sz="3000" dirty="0">
                <a:solidFill>
                  <a:schemeClr val="tx1"/>
                </a:solidFill>
              </a:rPr>
              <a:t>The word </a:t>
            </a:r>
            <a:r>
              <a:rPr sz="3000" dirty="0"/>
              <a:t>"formal” </a:t>
            </a:r>
            <a:r>
              <a:rPr sz="3000" dirty="0">
                <a:solidFill>
                  <a:schemeClr val="tx1"/>
                </a:solidFill>
              </a:rPr>
              <a:t>refers to the fact that all the rules for the language are explicitly stated in terms of what strings of symbols can occur. </a:t>
            </a:r>
            <a:endParaRPr sz="3000" dirty="0">
              <a:solidFill>
                <a:schemeClr val="tx1"/>
              </a:solidFill>
            </a:endParaRPr>
          </a:p>
          <a:p>
            <a:pPr marL="0" indent="0"/>
            <a:r>
              <a:rPr sz="3000" dirty="0">
                <a:solidFill>
                  <a:schemeClr val="tx1"/>
                </a:solidFill>
              </a:rPr>
              <a:t>Language will be considered solely as symbols on paper and not as expressions of ideas in the minds of humans. The term "formal" used here emphasizes that it is the </a:t>
            </a:r>
            <a:r>
              <a:rPr sz="3000" i="1" dirty="0"/>
              <a:t>form</a:t>
            </a:r>
            <a:r>
              <a:rPr sz="3000" i="1" dirty="0">
                <a:solidFill>
                  <a:schemeClr val="tx1"/>
                </a:solidFill>
              </a:rPr>
              <a:t> </a:t>
            </a:r>
            <a:r>
              <a:rPr sz="3000" dirty="0">
                <a:solidFill>
                  <a:schemeClr val="tx1"/>
                </a:solidFill>
              </a:rPr>
              <a:t>of the string of symbols we are interested in, not the </a:t>
            </a:r>
            <a:r>
              <a:rPr sz="3000" i="1" dirty="0"/>
              <a:t>meaning.</a:t>
            </a:r>
            <a:endParaRPr sz="3000" dirty="0"/>
          </a:p>
        </p:txBody>
      </p:sp>
      <p:sp>
        <p:nvSpPr>
          <p:cNvPr id="4100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0"/>
              </a:spcBef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0"/>
              </a:spcBef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609600"/>
          </a:xfrm>
        </p:spPr>
        <p:txBody>
          <a:bodyPr vert="horz" wrap="square" lIns="91440" tIns="45720" rIns="91440" bIns="45720" anchor="ctr" anchorCtr="0"/>
          <a:p>
            <a:r>
              <a:rPr dirty="0"/>
              <a:t>Descriptive definition of Languages</a:t>
            </a:r>
            <a:endParaRPr dirty="0"/>
          </a:p>
        </p:txBody>
      </p:sp>
      <p:sp>
        <p:nvSpPr>
          <p:cNvPr id="5124" name="Rectangle 13"/>
          <p:cNvSpPr/>
          <p:nvPr/>
        </p:nvSpPr>
        <p:spPr>
          <a:xfrm>
            <a:off x="5715000" y="4038600"/>
            <a:ext cx="32004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5125" name="Text Box 17"/>
          <p:cNvSpPr>
            <a:spLocks noGrp="1"/>
          </p:cNvSpPr>
          <p:nvPr>
            <p:ph idx="1"/>
          </p:nvPr>
        </p:nvSpPr>
        <p:spPr>
          <a:xfrm>
            <a:off x="381000" y="1144588"/>
            <a:ext cx="8458200" cy="5332412"/>
          </a:xfrm>
        </p:spPr>
        <p:txBody>
          <a:bodyPr vert="horz" wrap="square" lIns="91440" tIns="45720" rIns="91440" bIns="45720" anchor="t" anchorCtr="0"/>
          <a:p>
            <a:pPr marL="0" indent="0"/>
            <a:r>
              <a:rPr dirty="0">
                <a:solidFill>
                  <a:schemeClr val="tx1"/>
                </a:solidFill>
              </a:rPr>
              <a:t>The language is defined, describing the conditions imposed on its words. </a:t>
            </a:r>
            <a:endParaRPr dirty="0">
              <a:solidFill>
                <a:schemeClr val="tx1"/>
              </a:solidFill>
            </a:endParaRPr>
          </a:p>
          <a:p>
            <a:pPr marL="0" indent="0"/>
            <a:r>
              <a:rPr dirty="0"/>
              <a:t>Example: </a:t>
            </a:r>
            <a:r>
              <a:rPr dirty="0">
                <a:solidFill>
                  <a:schemeClr val="tx1"/>
                </a:solidFill>
              </a:rPr>
              <a:t>The language L of strings of odd length, defined over Σ={a}, can be written as</a:t>
            </a:r>
            <a:endParaRPr dirty="0">
              <a:solidFill>
                <a:schemeClr val="tx1"/>
              </a:solidFill>
            </a:endParaRPr>
          </a:p>
          <a:p>
            <a:pPr marL="0" indent="0"/>
            <a:r>
              <a:rPr dirty="0">
                <a:solidFill>
                  <a:schemeClr val="tx1"/>
                </a:solidFill>
              </a:rPr>
              <a:t>	L={a, aaa, aaaaa,…..}</a:t>
            </a:r>
            <a:endParaRPr dirty="0">
              <a:solidFill>
                <a:schemeClr val="tx1"/>
              </a:solidFill>
            </a:endParaRPr>
          </a:p>
          <a:p>
            <a:pPr marL="0" indent="0"/>
            <a:r>
              <a:rPr dirty="0"/>
              <a:t>Example: </a:t>
            </a:r>
            <a:r>
              <a:rPr dirty="0">
                <a:solidFill>
                  <a:schemeClr val="tx1"/>
                </a:solidFill>
              </a:rPr>
              <a:t>The language L of strings that does not start with a, defined over Σ ={a,b,c}, can be written as</a:t>
            </a:r>
            <a:endParaRPr dirty="0">
              <a:solidFill>
                <a:schemeClr val="tx1"/>
              </a:solidFill>
            </a:endParaRPr>
          </a:p>
          <a:p>
            <a:pPr marL="0" indent="0"/>
            <a:r>
              <a:rPr dirty="0">
                <a:solidFill>
                  <a:schemeClr val="tx1"/>
                </a:solidFill>
              </a:rPr>
              <a:t>	L ={</a:t>
            </a:r>
            <a:r>
              <a:rPr lang="el-GR" altLang="x-none" dirty="0">
                <a:solidFill>
                  <a:schemeClr val="tx1"/>
                </a:solidFill>
              </a:rPr>
              <a:t>Λ, </a:t>
            </a:r>
            <a:r>
              <a:rPr dirty="0">
                <a:solidFill>
                  <a:schemeClr val="tx1"/>
                </a:solidFill>
              </a:rPr>
              <a:t>b, c, ba, bb, bc, ca, cb, cc, …}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6019800"/>
          </a:xfrm>
        </p:spPr>
        <p:txBody>
          <a:bodyPr vert="horz" wrap="square" lIns="91440" tIns="45720" rIns="91440" bIns="45720" anchor="t" anchorCtr="0"/>
          <a:p>
            <a:pPr marL="50800" indent="-50800"/>
            <a:r>
              <a:rPr sz="3000" dirty="0"/>
              <a:t>Example:</a:t>
            </a:r>
            <a:r>
              <a:rPr sz="3000" dirty="0">
                <a:solidFill>
                  <a:schemeClr val="tx1"/>
                </a:solidFill>
              </a:rPr>
              <a:t>The language L of strings of length 2, defined over Σ ={0,1,2}, can be written as</a:t>
            </a:r>
            <a:endParaRPr sz="3000" dirty="0">
              <a:solidFill>
                <a:schemeClr val="tx1"/>
              </a:solidFill>
            </a:endParaRPr>
          </a:p>
          <a:p>
            <a:pPr marL="50800" indent="-50800"/>
            <a:r>
              <a:rPr sz="3000" dirty="0">
                <a:solidFill>
                  <a:schemeClr val="tx1"/>
                </a:solidFill>
              </a:rPr>
              <a:t>L={00, 01, 02,10, 11,12,20,21,22}</a:t>
            </a:r>
            <a:endParaRPr sz="3000" dirty="0">
              <a:solidFill>
                <a:schemeClr val="tx1"/>
              </a:solidFill>
            </a:endParaRPr>
          </a:p>
          <a:p>
            <a:pPr marL="50800" indent="-50800"/>
            <a:r>
              <a:rPr sz="3000" dirty="0"/>
              <a:t>Example: </a:t>
            </a:r>
            <a:r>
              <a:rPr sz="3000" dirty="0">
                <a:solidFill>
                  <a:schemeClr val="tx1"/>
                </a:solidFill>
              </a:rPr>
              <a:t>The language L of strings ending in 0, defined over Σ ={0,1}, can be written as</a:t>
            </a:r>
            <a:endParaRPr sz="3000" dirty="0">
              <a:solidFill>
                <a:schemeClr val="tx1"/>
              </a:solidFill>
            </a:endParaRPr>
          </a:p>
          <a:p>
            <a:pPr marL="50800" indent="-50800"/>
            <a:r>
              <a:rPr sz="3000" dirty="0">
                <a:solidFill>
                  <a:schemeClr val="tx1"/>
                </a:solidFill>
              </a:rPr>
              <a:t>L={0,00,10,000,010,100,110,…}</a:t>
            </a:r>
            <a:endParaRPr sz="3000" dirty="0">
              <a:solidFill>
                <a:schemeClr val="tx1"/>
              </a:solidFill>
            </a:endParaRPr>
          </a:p>
          <a:p>
            <a:pPr marL="50800" indent="-50800"/>
            <a:r>
              <a:rPr sz="3000" dirty="0"/>
              <a:t>Example:</a:t>
            </a:r>
            <a:r>
              <a:rPr sz="3000" dirty="0">
                <a:solidFill>
                  <a:schemeClr val="tx1"/>
                </a:solidFill>
              </a:rPr>
              <a:t>The language </a:t>
            </a:r>
            <a:r>
              <a:rPr sz="3000" b="1" dirty="0">
                <a:solidFill>
                  <a:schemeClr val="tx1"/>
                </a:solidFill>
              </a:rPr>
              <a:t>EQUAL, </a:t>
            </a:r>
            <a:r>
              <a:rPr sz="3000" dirty="0">
                <a:solidFill>
                  <a:schemeClr val="tx1"/>
                </a:solidFill>
              </a:rPr>
              <a:t>of strings with number of a’s equal to the number of b’s, defined over Σ={a,b}, can be written as</a:t>
            </a:r>
            <a:endParaRPr sz="3000" dirty="0">
              <a:solidFill>
                <a:schemeClr val="tx1"/>
              </a:solidFill>
            </a:endParaRPr>
          </a:p>
          <a:p>
            <a:pPr marL="50800" indent="-50800"/>
            <a:r>
              <a:rPr lang="el-GR" altLang="x-none" sz="3000" dirty="0">
                <a:solidFill>
                  <a:schemeClr val="tx1"/>
                </a:solidFill>
              </a:rPr>
              <a:t>{Λ ,</a:t>
            </a:r>
            <a:r>
              <a:rPr sz="3000" dirty="0">
                <a:solidFill>
                  <a:schemeClr val="tx1"/>
                </a:solidFill>
              </a:rPr>
              <a:t> ab, aabb, abab, baba, abba,…}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6147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0"/>
              </a:spcBef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dirty="0"/>
              <a:t>Descriptive definition of Languages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177800" indent="-177800"/>
            <a:r>
              <a:rPr dirty="0"/>
              <a:t>Example: </a:t>
            </a:r>
            <a:r>
              <a:rPr dirty="0">
                <a:solidFill>
                  <a:schemeClr val="tx1"/>
                </a:solidFill>
              </a:rPr>
              <a:t>The language </a:t>
            </a:r>
            <a:r>
              <a:rPr b="1" dirty="0">
                <a:solidFill>
                  <a:schemeClr val="tx1"/>
                </a:solidFill>
              </a:rPr>
              <a:t>EVEN-EVEN</a:t>
            </a:r>
            <a:r>
              <a:rPr dirty="0">
                <a:solidFill>
                  <a:schemeClr val="tx1"/>
                </a:solidFill>
              </a:rPr>
              <a:t>, of strings with even number of a’s and even number of b’s, defined over Σ={a,b}, can be written as</a:t>
            </a:r>
            <a:endParaRPr dirty="0">
              <a:solidFill>
                <a:schemeClr val="tx1"/>
              </a:solidFill>
            </a:endParaRPr>
          </a:p>
          <a:p>
            <a:pPr marL="177800" indent="-177800"/>
            <a:r>
              <a:rPr lang="el-GR" altLang="x-none" dirty="0">
                <a:solidFill>
                  <a:schemeClr val="tx1"/>
                </a:solidFill>
              </a:rPr>
              <a:t>{Λ, </a:t>
            </a:r>
            <a:r>
              <a:rPr dirty="0">
                <a:solidFill>
                  <a:schemeClr val="tx1"/>
                </a:solidFill>
              </a:rPr>
              <a:t>aa, bb, aaaa, aabb, abab, abba, baab, baba, bbaa, bbbb,…}</a:t>
            </a:r>
            <a:endParaRPr dirty="0">
              <a:solidFill>
                <a:schemeClr val="tx1"/>
              </a:solidFill>
            </a:endParaRPr>
          </a:p>
          <a:p>
            <a:pPr marL="177800" indent="-177800"/>
            <a:r>
              <a:rPr dirty="0"/>
              <a:t>Example: </a:t>
            </a:r>
            <a:r>
              <a:rPr dirty="0">
                <a:solidFill>
                  <a:schemeClr val="tx1"/>
                </a:solidFill>
              </a:rPr>
              <a:t>The language </a:t>
            </a:r>
            <a:r>
              <a:rPr b="1" dirty="0">
                <a:solidFill>
                  <a:schemeClr val="tx1"/>
                </a:solidFill>
              </a:rPr>
              <a:t>INTEGER</a:t>
            </a:r>
            <a:r>
              <a:rPr dirty="0">
                <a:solidFill>
                  <a:schemeClr val="tx1"/>
                </a:solidFill>
              </a:rPr>
              <a:t>, of strings defined over Σ={-,0,1,2,3,4,5,6,7,8,9}, can be written as</a:t>
            </a:r>
            <a:endParaRPr dirty="0">
              <a:solidFill>
                <a:schemeClr val="tx1"/>
              </a:solidFill>
            </a:endParaRPr>
          </a:p>
          <a:p>
            <a:pPr marL="177800" indent="-177800"/>
            <a:r>
              <a:rPr dirty="0">
                <a:solidFill>
                  <a:schemeClr val="tx1"/>
                </a:solidFill>
              </a:rPr>
              <a:t>INTEGER = {…,-2,-1,0,1,2,…}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172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0"/>
              </a:spcBef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dirty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dirty="0"/>
              <a:t>Example: </a:t>
            </a:r>
            <a:r>
              <a:rPr dirty="0">
                <a:solidFill>
                  <a:schemeClr val="tx1"/>
                </a:solidFill>
              </a:rPr>
              <a:t>The language {a</a:t>
            </a:r>
            <a:r>
              <a:rPr baseline="30000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b</a:t>
            </a:r>
            <a:r>
              <a:rPr baseline="30000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 }, of strings defined over Σ={a,b}, as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{a</a:t>
            </a:r>
            <a:r>
              <a:rPr baseline="30000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 b</a:t>
            </a:r>
            <a:r>
              <a:rPr baseline="30000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 : n=1,2,3,…}, can be written as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{ab, aabb, aaabbb,aaaabbbb,…}</a:t>
            </a:r>
            <a:endParaRPr dirty="0">
              <a:solidFill>
                <a:schemeClr val="tx1"/>
              </a:solidFill>
            </a:endParaRPr>
          </a:p>
          <a:p>
            <a:r>
              <a:rPr dirty="0"/>
              <a:t>Example: </a:t>
            </a:r>
            <a:endParaRPr dirty="0"/>
          </a:p>
          <a:p>
            <a:r>
              <a:rPr dirty="0">
                <a:solidFill>
                  <a:schemeClr val="tx1"/>
                </a:solidFill>
              </a:rPr>
              <a:t>The language {a</a:t>
            </a:r>
            <a:r>
              <a:rPr baseline="30000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b</a:t>
            </a:r>
            <a:r>
              <a:rPr baseline="30000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a</a:t>
            </a:r>
            <a:r>
              <a:rPr baseline="30000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 }, of strings defined over Σ={a,b}, as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{a</a:t>
            </a:r>
            <a:r>
              <a:rPr baseline="30000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 b</a:t>
            </a:r>
            <a:r>
              <a:rPr baseline="30000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 a</a:t>
            </a:r>
            <a:r>
              <a:rPr baseline="30000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: n=1,2,3,…}, can be written as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{aba, aabbaa, aaabbbaaa,aaaabbbbaaaa,…}</a:t>
            </a:r>
            <a:endParaRPr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8196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0"/>
              </a:spcBef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dirty="0"/>
              <a:t>Example: </a:t>
            </a:r>
            <a:r>
              <a:rPr dirty="0">
                <a:solidFill>
                  <a:schemeClr val="tx1"/>
                </a:solidFill>
              </a:rPr>
              <a:t>The language </a:t>
            </a:r>
            <a:r>
              <a:rPr b="1" dirty="0">
                <a:solidFill>
                  <a:schemeClr val="tx1"/>
                </a:solidFill>
              </a:rPr>
              <a:t>factorial, </a:t>
            </a:r>
            <a:r>
              <a:rPr dirty="0">
                <a:solidFill>
                  <a:schemeClr val="tx1"/>
                </a:solidFill>
              </a:rPr>
              <a:t>of strings defined over Σ={0,1,2,3,4,5,6,7,8,9} </a:t>
            </a:r>
            <a:r>
              <a:rPr i="1" dirty="0">
                <a:solidFill>
                  <a:schemeClr val="tx1"/>
                </a:solidFill>
              </a:rPr>
              <a:t>i.e.</a:t>
            </a:r>
            <a:endParaRPr i="1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{1,2,6,24,120,…}</a:t>
            </a:r>
            <a:endParaRPr dirty="0">
              <a:solidFill>
                <a:schemeClr val="tx1"/>
              </a:solidFill>
            </a:endParaRPr>
          </a:p>
          <a:p>
            <a:r>
              <a:rPr dirty="0"/>
              <a:t>Example:</a:t>
            </a:r>
            <a:endParaRPr dirty="0"/>
          </a:p>
          <a:p>
            <a:r>
              <a:rPr dirty="0">
                <a:solidFill>
                  <a:schemeClr val="tx1"/>
                </a:solidFill>
              </a:rPr>
              <a:t>The language </a:t>
            </a:r>
            <a:r>
              <a:rPr b="1" dirty="0">
                <a:solidFill>
                  <a:schemeClr val="tx1"/>
                </a:solidFill>
              </a:rPr>
              <a:t>FACTORIAL, </a:t>
            </a:r>
            <a:r>
              <a:rPr dirty="0">
                <a:solidFill>
                  <a:schemeClr val="tx1"/>
                </a:solidFill>
              </a:rPr>
              <a:t>of strings defined over Σ={a}, as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{a</a:t>
            </a:r>
            <a:r>
              <a:rPr baseline="30000" dirty="0">
                <a:solidFill>
                  <a:schemeClr val="tx1"/>
                </a:solidFill>
              </a:rPr>
              <a:t>n! </a:t>
            </a:r>
            <a:r>
              <a:rPr dirty="0">
                <a:solidFill>
                  <a:schemeClr val="tx1"/>
                </a:solidFill>
              </a:rPr>
              <a:t>: n=1,2,3,…}, can be written as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{a,aa,aaaaaa,…}. It is to be noted that the language FACTORIAL can be defined over any single letter alphabet.</a:t>
            </a:r>
            <a:endParaRPr dirty="0">
              <a:solidFill>
                <a:schemeClr val="tx1"/>
              </a:solidFill>
            </a:endParaRPr>
          </a:p>
          <a:p>
            <a:endParaRPr dirty="0"/>
          </a:p>
        </p:txBody>
      </p:sp>
      <p:sp>
        <p:nvSpPr>
          <p:cNvPr id="9220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0"/>
              </a:spcBef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dirty="0"/>
          </a:p>
        </p:txBody>
      </p:sp>
      <p:sp>
        <p:nvSpPr>
          <p:cNvPr id="1028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dirty="0"/>
              <a:t>Example:</a:t>
            </a:r>
            <a:endParaRPr dirty="0"/>
          </a:p>
          <a:p>
            <a:r>
              <a:rPr dirty="0">
                <a:solidFill>
                  <a:schemeClr val="tx1"/>
                </a:solidFill>
              </a:rPr>
              <a:t>The language </a:t>
            </a:r>
            <a:r>
              <a:rPr b="1" dirty="0">
                <a:solidFill>
                  <a:schemeClr val="tx1"/>
                </a:solidFill>
              </a:rPr>
              <a:t>DOUBLEFACTORIAL, </a:t>
            </a:r>
            <a:r>
              <a:rPr dirty="0">
                <a:solidFill>
                  <a:schemeClr val="tx1"/>
                </a:solidFill>
              </a:rPr>
              <a:t>of strings defined over Σ={a, b}, as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{a</a:t>
            </a:r>
            <a:r>
              <a:rPr baseline="30000" dirty="0">
                <a:solidFill>
                  <a:schemeClr val="tx1"/>
                </a:solidFill>
              </a:rPr>
              <a:t>n!</a:t>
            </a:r>
            <a:r>
              <a:rPr dirty="0">
                <a:solidFill>
                  <a:schemeClr val="tx1"/>
                </a:solidFill>
              </a:rPr>
              <a:t>b</a:t>
            </a:r>
            <a:r>
              <a:rPr baseline="30000" dirty="0">
                <a:solidFill>
                  <a:schemeClr val="tx1"/>
                </a:solidFill>
              </a:rPr>
              <a:t>n! </a:t>
            </a:r>
            <a:r>
              <a:rPr dirty="0">
                <a:solidFill>
                  <a:schemeClr val="tx1"/>
                </a:solidFill>
              </a:rPr>
              <a:t>: n=1,2,3,…}, can be written as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{ab, aabb, aaaaaabbbbbb,…}</a:t>
            </a:r>
            <a:endParaRPr dirty="0">
              <a:solidFill>
                <a:schemeClr val="tx1"/>
              </a:solidFill>
            </a:endParaRPr>
          </a:p>
          <a:p>
            <a:r>
              <a:rPr dirty="0"/>
              <a:t>Example:</a:t>
            </a:r>
            <a:endParaRPr dirty="0"/>
          </a:p>
          <a:p>
            <a:r>
              <a:rPr dirty="0">
                <a:solidFill>
                  <a:schemeClr val="tx1"/>
                </a:solidFill>
              </a:rPr>
              <a:t>The language </a:t>
            </a:r>
            <a:r>
              <a:rPr b="1" dirty="0">
                <a:solidFill>
                  <a:schemeClr val="tx1"/>
                </a:solidFill>
              </a:rPr>
              <a:t>SQUARE, </a:t>
            </a:r>
            <a:r>
              <a:rPr dirty="0">
                <a:solidFill>
                  <a:schemeClr val="tx1"/>
                </a:solidFill>
              </a:rPr>
              <a:t>of strings defined over Σ={a}, as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{      : n=1,2,3,…}, can be written as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{a, aaaa, aaaaaaaaa,…}</a:t>
            </a:r>
            <a:endParaRPr dirty="0">
              <a:solidFill>
                <a:schemeClr val="tx1"/>
              </a:solidFill>
            </a:endParaRP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1029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0"/>
              </a:spcBef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26" name="Object 6"/>
          <p:cNvGraphicFramePr/>
          <p:nvPr/>
        </p:nvGraphicFramePr>
        <p:xfrm>
          <a:off x="381000" y="5167313"/>
          <a:ext cx="8382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28600" imgH="228600" progId="Equation.DSMT4">
                  <p:embed/>
                </p:oleObj>
              </mc:Choice>
              <mc:Fallback>
                <p:oleObj name="" r:id="rId1" imgW="228600" imgH="228600" progId="Equation.DSMT4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" y="5167313"/>
                        <a:ext cx="838200" cy="750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PALINDROME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language consisting of Λ and the strings s defined over Σ such that Rev(s)=s.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to be noted that the words of PALINDROME are called palindromes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For </a:t>
            </a:r>
            <a:r>
              <a:rPr kumimoji="0" lang="el-GR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Σ={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a,b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},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PALINDROME={</a:t>
            </a:r>
            <a:r>
              <a:rPr kumimoji="0" lang="el-GR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Λ ,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a, b,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bb,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aaa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bbb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...}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Remark: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There are as many palindromes of length 2n as there are of length 2n-1.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44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0"/>
              </a:spcBef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Regular Expressions (REs)</a:t>
            </a:r>
            <a:endParaRPr lang="en-US" altLang="en-US" dirty="0"/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/>
            <a:r>
              <a:rPr lang="en-US" altLang="en-US" dirty="0">
                <a:solidFill>
                  <a:schemeClr val="tx1"/>
                </a:solidFill>
              </a:rPr>
              <a:t>Any language-defining symbols generated according to some rule are called regular expressions </a:t>
            </a:r>
            <a:r>
              <a:rPr lang="en-US" altLang="en-US" dirty="0"/>
              <a:t>OR </a:t>
            </a:r>
            <a:r>
              <a:rPr lang="en-US" altLang="en-US" dirty="0">
                <a:solidFill>
                  <a:schemeClr val="tx1"/>
                </a:solidFill>
              </a:rPr>
              <a:t>a regular expression is a pattern describing a certain amount of text </a:t>
            </a:r>
            <a:r>
              <a:rPr lang="en-US" altLang="en-US" dirty="0"/>
              <a:t>OR</a:t>
            </a:r>
            <a:endParaRPr lang="en-US" altLang="en-US" dirty="0"/>
          </a:p>
          <a:p>
            <a:pPr marL="0" indent="0"/>
            <a:r>
              <a:rPr lang="en-US" altLang="en-US" dirty="0">
                <a:solidFill>
                  <a:schemeClr val="tx1"/>
                </a:solidFill>
              </a:rPr>
              <a:t>A regular expression represents a "pattern“; strings that match the pattern are in the language, strings that do not match the pattern are not in the language.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/>
            <a:r>
              <a:rPr lang="en-US" altLang="en-US" dirty="0">
                <a:solidFill>
                  <a:schemeClr val="tx1"/>
                </a:solidFill>
              </a:rPr>
              <a:t>Regular expressions describe regular languages.</a:t>
            </a: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Regular Expressions</a:t>
            </a:r>
            <a:endParaRPr lang="en-US" altLang="en-US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34400" cy="5486400"/>
          </a:xfrm>
        </p:spPr>
        <p:txBody>
          <a:bodyPr vert="horz" wrap="square" lIns="91440" tIns="45720" rIns="91440" bIns="45720" anchor="t" anchorCtr="0"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Example:</a:t>
            </a:r>
            <a:endParaRPr lang="en-US" altLang="en-US" dirty="0"/>
          </a:p>
          <a:p>
            <a:r>
              <a:rPr lang="en-US" altLang="en-US" sz="2800" dirty="0"/>
              <a:t>         </a:t>
            </a:r>
            <a:r>
              <a:rPr lang="en-US" altLang="en-US" sz="2800" dirty="0">
                <a:solidFill>
                  <a:schemeClr val="tx1"/>
                </a:solidFill>
              </a:rPr>
              <a:t>describes the language</a:t>
            </a:r>
            <a:endParaRPr lang="en-US" altLang="en-US" sz="2800" dirty="0">
              <a:solidFill>
                <a:schemeClr val="tx1"/>
              </a:solidFill>
            </a:endParaRPr>
          </a:p>
          <a:p>
            <a:endParaRPr lang="en-US" altLang="en-US" dirty="0"/>
          </a:p>
          <a:p>
            <a:r>
              <a:rPr lang="en-US" altLang="en-US" dirty="0"/>
              <a:t>Example: </a:t>
            </a:r>
            <a:endParaRPr lang="en-US" altLang="en-US" dirty="0"/>
          </a:p>
          <a:p>
            <a:r>
              <a:rPr lang="en-US" altLang="en-US" dirty="0">
                <a:solidFill>
                  <a:schemeClr val="tx1"/>
                </a:solidFill>
              </a:rPr>
              <a:t>		</a:t>
            </a:r>
            <a:r>
              <a:rPr lang="en-US" altLang="en-US" sz="2800" dirty="0">
                <a:solidFill>
                  <a:schemeClr val="tx1"/>
                </a:solidFill>
              </a:rPr>
              <a:t>describes the language</a:t>
            </a:r>
            <a:endParaRPr lang="en-US" altLang="en-US" sz="2800" dirty="0">
              <a:solidFill>
                <a:schemeClr val="tx1"/>
              </a:solidFill>
            </a:endParaRPr>
          </a:p>
          <a:p>
            <a:endParaRPr lang="en-US" altLang="en-US" sz="2800" dirty="0">
              <a:solidFill>
                <a:schemeClr val="tx1"/>
              </a:solidFill>
            </a:endParaRPr>
          </a:p>
          <a:p>
            <a:r>
              <a:rPr lang="en-US" altLang="en-US" dirty="0"/>
              <a:t>Example: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  </a:t>
            </a:r>
            <a:endParaRPr lang="en-US" altLang="en-US" dirty="0"/>
          </a:p>
        </p:txBody>
      </p:sp>
      <p:sp>
        <p:nvSpPr>
          <p:cNvPr id="15364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5365" name="Object 2"/>
          <p:cNvGraphicFramePr>
            <a:graphicFrameLocks noChangeAspect="1"/>
          </p:cNvGraphicFramePr>
          <p:nvPr/>
        </p:nvGraphicFramePr>
        <p:xfrm>
          <a:off x="2286000" y="2663825"/>
          <a:ext cx="132715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495300" imgH="228600" progId="Equation.DSMT4">
                  <p:embed/>
                </p:oleObj>
              </mc:Choice>
              <mc:Fallback>
                <p:oleObj name="" r:id="rId1" imgW="495300" imgH="228600" progId="Equation.DSMT4">
                  <p:embed/>
                  <p:pic>
                    <p:nvPicPr>
                      <p:cNvPr id="0" name="Picture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0" y="2663825"/>
                        <a:ext cx="1327150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3"/>
          <p:cNvGraphicFramePr>
            <a:graphicFrameLocks noChangeAspect="1"/>
          </p:cNvGraphicFramePr>
          <p:nvPr/>
        </p:nvGraphicFramePr>
        <p:xfrm>
          <a:off x="1295400" y="2133600"/>
          <a:ext cx="6400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6692900" imgH="558800" progId="Equation.3">
                  <p:embed/>
                </p:oleObj>
              </mc:Choice>
              <mc:Fallback>
                <p:oleObj name="" r:id="rId3" imgW="6692900" imgH="558800" progId="Equation.3">
                  <p:embed/>
                  <p:pic>
                    <p:nvPicPr>
                      <p:cNvPr id="0" name="Picture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5400" y="2133600"/>
                        <a:ext cx="64008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4"/>
          <p:cNvGraphicFramePr>
            <a:graphicFrameLocks noChangeAspect="1"/>
          </p:cNvGraphicFramePr>
          <p:nvPr/>
        </p:nvGraphicFramePr>
        <p:xfrm>
          <a:off x="2362200" y="947738"/>
          <a:ext cx="19812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2108200" imgH="533400" progId="Equation.3">
                  <p:embed/>
                </p:oleObj>
              </mc:Choice>
              <mc:Fallback>
                <p:oleObj name="" r:id="rId5" imgW="2108200" imgH="533400" progId="Equation.3">
                  <p:embed/>
                  <p:pic>
                    <p:nvPicPr>
                      <p:cNvPr id="0" name="Picture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2200" y="947738"/>
                        <a:ext cx="1981200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5"/>
          <p:cNvGraphicFramePr>
            <a:graphicFrameLocks noChangeAspect="1"/>
          </p:cNvGraphicFramePr>
          <p:nvPr/>
        </p:nvGraphicFramePr>
        <p:xfrm>
          <a:off x="1295400" y="3733800"/>
          <a:ext cx="54244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7" imgW="2209800" imgH="279400" progId="Equation.DSMT4">
                  <p:embed/>
                </p:oleObj>
              </mc:Choice>
              <mc:Fallback>
                <p:oleObj name="" r:id="rId7" imgW="2209800" imgH="279400" progId="Equation.DSMT4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95400" y="3733800"/>
                        <a:ext cx="5424488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6"/>
          <p:cNvGraphicFramePr>
            <a:graphicFrameLocks noChangeAspect="1"/>
          </p:cNvGraphicFramePr>
          <p:nvPr/>
        </p:nvGraphicFramePr>
        <p:xfrm>
          <a:off x="2420938" y="4495800"/>
          <a:ext cx="35718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9" imgW="1130300" imgH="457200" progId="Equation.DSMT4">
                  <p:embed/>
                </p:oleObj>
              </mc:Choice>
              <mc:Fallback>
                <p:oleObj name="" r:id="rId9" imgW="1130300" imgH="457200" progId="Equation.DSMT4">
                  <p:embed/>
                  <p:pic>
                    <p:nvPicPr>
                      <p:cNvPr id="0" name="Picture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20938" y="4495800"/>
                        <a:ext cx="3571875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0" name="Group 9"/>
          <p:cNvGrpSpPr/>
          <p:nvPr/>
        </p:nvGrpSpPr>
        <p:grpSpPr>
          <a:xfrm>
            <a:off x="2295525" y="5648325"/>
            <a:ext cx="6010275" cy="523875"/>
            <a:chOff x="182" y="2448"/>
            <a:chExt cx="4156" cy="330"/>
          </a:xfrm>
        </p:grpSpPr>
        <p:graphicFrame>
          <p:nvGraphicFramePr>
            <p:cNvPr id="15371" name="Object 7"/>
            <p:cNvGraphicFramePr>
              <a:graphicFrameLocks noChangeAspect="1"/>
            </p:cNvGraphicFramePr>
            <p:nvPr/>
          </p:nvGraphicFramePr>
          <p:xfrm>
            <a:off x="3424" y="2448"/>
            <a:ext cx="914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1" imgW="1701800" imgH="558800" progId="Equation.DSMT4">
                    <p:embed/>
                  </p:oleObj>
                </mc:Choice>
                <mc:Fallback>
                  <p:oleObj name="" r:id="rId11" imgW="1701800" imgH="558800" progId="Equation.DSMT4">
                    <p:embed/>
                    <p:pic>
                      <p:nvPicPr>
                        <p:cNvPr id="0" name="Picture 307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24" y="2448"/>
                          <a:ext cx="914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2" name="Text Box 8"/>
            <p:cNvSpPr txBox="1"/>
            <p:nvPr/>
          </p:nvSpPr>
          <p:spPr>
            <a:xfrm>
              <a:off x="182" y="2448"/>
              <a:ext cx="310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accent2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accent2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+mn-lt"/>
                </a:defRPr>
              </a:lvl5pPr>
            </a:lstStyle>
            <a:p>
              <a:pPr marL="0" lvl="0" indent="0"/>
              <a:r>
                <a:rPr lang="en-US" altLang="en-US" sz="2800" dirty="0">
                  <a:solidFill>
                    <a:schemeClr val="tx1"/>
                  </a:solidFill>
                  <a:cs typeface="Arial" panose="020B0604020202020204" pitchFamily="34" charset="0"/>
                </a:rPr>
                <a:t>Not a regular expression:</a:t>
              </a:r>
              <a:endParaRPr lang="en-US" altLang="en-US" sz="2800" dirty="0">
                <a:solidFill>
                  <a:schemeClr val="tx1"/>
                </a:solidFill>
                <a:ea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REs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382000" cy="5715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Here instead of applying </a:t>
            </a: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Kleene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Star Operation (KSO) over some set S, we shall straight away apply KSO on some alphabet say “a” and write it as “a*” which means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a* =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, a, </a:t>
            </a: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aa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, </a:t>
            </a: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aaa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, …….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And </a:t>
            </a: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Kleene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 plus closure is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	a</a:t>
            </a:r>
            <a:r>
              <a:rPr kumimoji="0" lang="en-US" sz="28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+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= a, </a:t>
            </a: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aa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, </a:t>
            </a: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aaa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, …….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Where   a</a:t>
            </a:r>
            <a:r>
              <a:rPr kumimoji="0" lang="en-US" sz="28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+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= </a:t>
            </a: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aa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* 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		    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a* =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 + a</a:t>
            </a:r>
            <a:r>
              <a:rPr kumimoji="0" lang="en-US" sz="28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+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/>
            </a:endParaRPr>
          </a:p>
        </p:txBody>
      </p:sp>
      <p:sp>
        <p:nvSpPr>
          <p:cNvPr id="16388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Operators allowed in REs  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486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Every RE can contains concatenation “dot” operator, + i.e. logical operator “or”,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Kleene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 Star Closure,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Kleene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 Plus Closure and parenthesis only.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Precedence of Operators: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The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Kleene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 Star (or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Kleene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 Plus) operator has highest precedence.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Next come the precedence of concatenation or “dot” operator.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The union or + operator has the lowest priority.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2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Primitive REs </a:t>
            </a:r>
            <a:endParaRPr lang="en-US" altLang="en-US" dirty="0"/>
          </a:p>
        </p:txBody>
      </p:sp>
      <p:graphicFrame>
        <p:nvGraphicFramePr>
          <p:cNvPr id="18436" name="Object 2"/>
          <p:cNvGraphicFramePr>
            <a:graphicFrameLocks noChangeAspect="1"/>
          </p:cNvGraphicFramePr>
          <p:nvPr/>
        </p:nvGraphicFramePr>
        <p:xfrm>
          <a:off x="6283325" y="990600"/>
          <a:ext cx="14684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647700" imgH="203200" progId="Equation.DSMT4">
                  <p:embed/>
                </p:oleObj>
              </mc:Choice>
              <mc:Fallback>
                <p:oleObj name="" r:id="rId1" imgW="647700" imgH="203200" progId="Equation.DSMT4">
                  <p:embed/>
                  <p:pic>
                    <p:nvPicPr>
                      <p:cNvPr id="0" name="Picture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83325" y="990600"/>
                        <a:ext cx="1468438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3"/>
          <p:cNvGraphicFramePr>
            <a:graphicFrameLocks noChangeAspect="1"/>
          </p:cNvGraphicFramePr>
          <p:nvPr/>
        </p:nvGraphicFramePr>
        <p:xfrm>
          <a:off x="1847850" y="3808413"/>
          <a:ext cx="971550" cy="240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1168400" imgH="2895600" progId="Equation.3">
                  <p:embed/>
                </p:oleObj>
              </mc:Choice>
              <mc:Fallback>
                <p:oleObj name="" r:id="rId3" imgW="1168400" imgH="2895600" progId="Equation.3">
                  <p:embed/>
                  <p:pic>
                    <p:nvPicPr>
                      <p:cNvPr id="0" name="Picture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7850" y="3808413"/>
                        <a:ext cx="971550" cy="2408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8" name="Group 14"/>
          <p:cNvGrpSpPr/>
          <p:nvPr/>
        </p:nvGrpSpPr>
        <p:grpSpPr>
          <a:xfrm>
            <a:off x="3124200" y="3962400"/>
            <a:ext cx="4648200" cy="2209800"/>
            <a:chOff x="1968" y="2160"/>
            <a:chExt cx="3415" cy="1728"/>
          </a:xfrm>
        </p:grpSpPr>
        <p:sp>
          <p:nvSpPr>
            <p:cNvPr id="18444" name="AutoShape 8"/>
            <p:cNvSpPr/>
            <p:nvPr/>
          </p:nvSpPr>
          <p:spPr>
            <a:xfrm>
              <a:off x="1968" y="2160"/>
              <a:ext cx="336" cy="1728"/>
            </a:xfrm>
            <a:prstGeom prst="rightBrace">
              <a:avLst>
                <a:gd name="adj1" fmla="val 42857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accent2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accent2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+mn-lt"/>
                </a:defRPr>
              </a:lvl5pPr>
            </a:lstStyle>
            <a:p>
              <a:pPr marL="0" lvl="0" indent="0"/>
              <a:endParaRPr lang="en-US" altLang="en-US" dirty="0">
                <a:ea typeface="Arial" panose="020B0604020202020204" pitchFamily="34" charset="0"/>
              </a:endParaRPr>
            </a:p>
          </p:txBody>
        </p:sp>
        <p:sp>
          <p:nvSpPr>
            <p:cNvPr id="18445" name="Text Box 9"/>
            <p:cNvSpPr txBox="1"/>
            <p:nvPr/>
          </p:nvSpPr>
          <p:spPr>
            <a:xfrm>
              <a:off x="2400" y="2832"/>
              <a:ext cx="298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accent2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accent2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+mn-lt"/>
                </a:defRPr>
              </a:lvl5pPr>
            </a:lstStyle>
            <a:p>
              <a:pPr marL="0" lvl="0" indent="0"/>
              <a:r>
                <a:rPr lang="en-US" altLang="en-US" dirty="0">
                  <a:cs typeface="Arial" panose="020B0604020202020204" pitchFamily="34" charset="0"/>
                </a:rPr>
                <a:t>Are regular expressions</a:t>
              </a:r>
              <a:endParaRPr lang="en-US" altLang="en-US" dirty="0">
                <a:ea typeface="Arial" panose="020B0604020202020204" pitchFamily="34" charset="0"/>
              </a:endParaRPr>
            </a:p>
          </p:txBody>
        </p:sp>
      </p:grpSp>
      <p:sp>
        <p:nvSpPr>
          <p:cNvPr id="18439" name="Text Box 11"/>
          <p:cNvSpPr txBox="1"/>
          <p:nvPr/>
        </p:nvSpPr>
        <p:spPr>
          <a:xfrm>
            <a:off x="381000" y="914400"/>
            <a:ext cx="7772400" cy="2160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r>
              <a:rPr lang="en-US" altLang="en-US" dirty="0">
                <a:cs typeface="Arial" panose="020B0604020202020204" pitchFamily="34" charset="0"/>
              </a:rPr>
              <a:t>Primitive regular expressions:</a:t>
            </a:r>
            <a:endParaRPr lang="en-US" altLang="en-US" dirty="0">
              <a:cs typeface="Arial" panose="020B0604020202020204" pitchFamily="34" charset="0"/>
            </a:endParaRPr>
          </a:p>
          <a:p>
            <a:pPr marL="0" lvl="0" indent="0"/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</a:rPr>
              <a:t>Thus, if |</a:t>
            </a:r>
            <a:r>
              <a:rPr lang="el-GR" altLang="en-US" dirty="0">
                <a:solidFill>
                  <a:schemeClr val="tx1"/>
                </a:solidFill>
                <a:cs typeface="Arial" panose="020B0604020202020204" pitchFamily="34" charset="0"/>
              </a:rPr>
              <a:t>Σ</a:t>
            </a:r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</a:rPr>
              <a:t>| = n, then there are n+2 primitive regular expressions defined over </a:t>
            </a:r>
            <a:r>
              <a:rPr lang="el-GR" altLang="en-US" dirty="0">
                <a:solidFill>
                  <a:schemeClr val="tx1"/>
                </a:solidFill>
                <a:cs typeface="Arial" panose="020B0604020202020204" pitchFamily="34" charset="0"/>
              </a:rPr>
              <a:t>Σ</a:t>
            </a:r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</a:rPr>
              <a:t> .</a:t>
            </a:r>
            <a:endParaRPr lang="en-US" altLang="en-US" dirty="0">
              <a:solidFill>
                <a:schemeClr val="tx1"/>
              </a:solidFill>
              <a:ea typeface="Arial" panose="020B0604020202020204" pitchFamily="34" charset="0"/>
            </a:endParaRPr>
          </a:p>
        </p:txBody>
      </p:sp>
      <p:grpSp>
        <p:nvGrpSpPr>
          <p:cNvPr id="18440" name="Group 13"/>
          <p:cNvGrpSpPr/>
          <p:nvPr/>
        </p:nvGrpSpPr>
        <p:grpSpPr>
          <a:xfrm>
            <a:off x="381000" y="3128963"/>
            <a:ext cx="7010400" cy="604837"/>
            <a:chOff x="96" y="1280"/>
            <a:chExt cx="4463" cy="381"/>
          </a:xfrm>
        </p:grpSpPr>
        <p:graphicFrame>
          <p:nvGraphicFramePr>
            <p:cNvPr id="18441" name="Object 4"/>
            <p:cNvGraphicFramePr>
              <a:graphicFrameLocks noChangeAspect="1"/>
            </p:cNvGraphicFramePr>
            <p:nvPr/>
          </p:nvGraphicFramePr>
          <p:xfrm>
            <a:off x="4320" y="1296"/>
            <a:ext cx="239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5" imgW="381000" imgH="571500" progId="Equation.3">
                    <p:embed/>
                  </p:oleObj>
                </mc:Choice>
                <mc:Fallback>
                  <p:oleObj name="" r:id="rId5" imgW="381000" imgH="571500" progId="Equation.3">
                    <p:embed/>
                    <p:pic>
                      <p:nvPicPr>
                        <p:cNvPr id="0" name="Picture 308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20" y="1296"/>
                          <a:ext cx="239" cy="3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2" name="Object 5"/>
            <p:cNvGraphicFramePr>
              <a:graphicFrameLocks noChangeAspect="1"/>
            </p:cNvGraphicFramePr>
            <p:nvPr/>
          </p:nvGraphicFramePr>
          <p:xfrm>
            <a:off x="3400" y="1280"/>
            <a:ext cx="192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7" imgW="304800" imgH="571500" progId="Equation.3">
                    <p:embed/>
                  </p:oleObj>
                </mc:Choice>
                <mc:Fallback>
                  <p:oleObj name="" r:id="rId7" imgW="304800" imgH="571500" progId="Equation.3">
                    <p:embed/>
                    <p:pic>
                      <p:nvPicPr>
                        <p:cNvPr id="0" name="Picture 308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00" y="1280"/>
                          <a:ext cx="192" cy="3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3" name="Text Box 12"/>
            <p:cNvSpPr txBox="1"/>
            <p:nvPr/>
          </p:nvSpPr>
          <p:spPr>
            <a:xfrm>
              <a:off x="96" y="1296"/>
              <a:ext cx="420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accent2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accent2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+mn-lt"/>
                </a:defRPr>
              </a:lvl5pPr>
            </a:lstStyle>
            <a:p>
              <a:pPr marL="0" lvl="0" indent="0"/>
              <a:r>
                <a:rPr lang="en-US" altLang="en-US" dirty="0">
                  <a:cs typeface="Arial" panose="020B0604020202020204" pitchFamily="34" charset="0"/>
                </a:rPr>
                <a:t>Given regular expressions       and </a:t>
              </a:r>
              <a:endParaRPr lang="en-US" altLang="en-US" dirty="0">
                <a:ea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Languages of Regular Expressions</a:t>
            </a:r>
            <a:endParaRPr lang="en-US" altLang="en-US" dirty="0"/>
          </a:p>
        </p:txBody>
      </p:sp>
      <p:sp>
        <p:nvSpPr>
          <p:cNvPr id="5128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 language of regular expression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languages defined by the primitive regular expressions are: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The primitive regular expression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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denotes the language {}. There are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strings in this language. 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(ii) The primitive regular expression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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denotes the language {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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}. The only string in this language is the empty string or the string with no letters. 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(iii) For each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 </a:t>
            </a:r>
            <a:r>
              <a:rPr kumimoji="0" lang="az-Cyrl-AZ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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l-G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, the primitive regular expression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denotes the language {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i.e. the only string in the language is the string "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". 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9461" name="Object 2"/>
          <p:cNvGraphicFramePr>
            <a:graphicFrameLocks noChangeAspect="1"/>
          </p:cNvGraphicFramePr>
          <p:nvPr/>
        </p:nvGraphicFramePr>
        <p:xfrm>
          <a:off x="485775" y="838200"/>
          <a:ext cx="8096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889000" imgH="558800" progId="Equation.3">
                  <p:embed/>
                </p:oleObj>
              </mc:Choice>
              <mc:Fallback>
                <p:oleObj name="" r:id="rId1" imgW="889000" imgH="558800" progId="Equation.3">
                  <p:embed/>
                  <p:pic>
                    <p:nvPicPr>
                      <p:cNvPr id="0" name="Picture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5775" y="838200"/>
                        <a:ext cx="809625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3"/>
          <p:cNvGraphicFramePr>
            <a:graphicFrameLocks noChangeAspect="1"/>
          </p:cNvGraphicFramePr>
          <p:nvPr/>
        </p:nvGraphicFramePr>
        <p:xfrm>
          <a:off x="7010400" y="990600"/>
          <a:ext cx="25241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254000" imgH="292100" progId="Equation.3">
                  <p:embed/>
                </p:oleObj>
              </mc:Choice>
              <mc:Fallback>
                <p:oleObj name="" r:id="rId3" imgW="254000" imgH="292100" progId="Equation.3">
                  <p:embed/>
                  <p:pic>
                    <p:nvPicPr>
                      <p:cNvPr id="0" name="Picture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10400" y="990600"/>
                        <a:ext cx="252413" cy="290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4"/>
          <p:cNvGraphicFramePr>
            <a:graphicFrameLocks noChangeAspect="1"/>
          </p:cNvGraphicFramePr>
          <p:nvPr/>
        </p:nvGraphicFramePr>
        <p:xfrm>
          <a:off x="2057400" y="1524000"/>
          <a:ext cx="64770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5" imgW="7962900" imgH="558800" progId="Equation.3">
                  <p:embed/>
                </p:oleObj>
              </mc:Choice>
              <mc:Fallback>
                <p:oleObj name="" r:id="rId5" imgW="7962900" imgH="558800" progId="Equation.3">
                  <p:embed/>
                  <p:pic>
                    <p:nvPicPr>
                      <p:cNvPr id="0" name="Picture 30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7400" y="1524000"/>
                        <a:ext cx="6477000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5"/>
          <p:cNvGraphicFramePr>
            <a:graphicFrameLocks noChangeAspect="1"/>
          </p:cNvGraphicFramePr>
          <p:nvPr/>
        </p:nvGraphicFramePr>
        <p:xfrm>
          <a:off x="1035050" y="2851150"/>
          <a:ext cx="58991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7" imgW="2984500" imgH="254000" progId="Equation.DSMT4">
                  <p:embed/>
                </p:oleObj>
              </mc:Choice>
              <mc:Fallback>
                <p:oleObj name="" r:id="rId7" imgW="2984500" imgH="254000" progId="Equation.DSMT4">
                  <p:embed/>
                  <p:pic>
                    <p:nvPicPr>
                      <p:cNvPr id="0" name="Picture 30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35050" y="2851150"/>
                        <a:ext cx="5899150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en-US" alt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sz="2800" dirty="0"/>
              <a:t>Note: </a:t>
            </a:r>
            <a:r>
              <a:rPr lang="en-US" altLang="en-US" dirty="0">
                <a:solidFill>
                  <a:schemeClr val="tx1"/>
                </a:solidFill>
              </a:rPr>
              <a:t>The language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 is the language with no words and for REs, the  is the regular expression for the null language. </a:t>
            </a:r>
            <a:endParaRPr lang="en-US" altLang="en-US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If r and  are REs then</a:t>
            </a:r>
            <a:endParaRPr lang="en-US" altLang="en-US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			r +  = r</a:t>
            </a:r>
            <a:endParaRPr lang="en-US" altLang="en-US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and 		r = </a:t>
            </a:r>
            <a:endParaRPr lang="en-US" altLang="en-US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1- {a}.{</a:t>
            </a:r>
            <a:r>
              <a:rPr lang="en-US" altLang="en-US" dirty="0">
                <a:solidFill>
                  <a:schemeClr val="tx1"/>
                </a:solidFill>
              </a:rPr>
              <a:t>ϵ</a:t>
            </a:r>
            <a:r>
              <a:rPr lang="en-US" altLang="en-US" dirty="0">
                <a:solidFill>
                  <a:schemeClr val="tx1"/>
                </a:solidFill>
              </a:rPr>
              <a:t>}={a}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2- {a}. ∅=∅      :L(</a:t>
            </a:r>
            <a:r>
              <a:rPr lang="en-US" altLang="en-US" dirty="0">
                <a:solidFill>
                  <a:schemeClr val="tx1"/>
                </a:solidFill>
              </a:rPr>
              <a:t>ϕ</a:t>
            </a:r>
            <a:r>
              <a:rPr lang="en-US" altLang="en-US" dirty="0">
                <a:solidFill>
                  <a:schemeClr val="tx1"/>
                </a:solidFill>
              </a:rPr>
              <a:t>)={}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3- {a} . {λ} = a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20484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Languages of Regular Expressions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6019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Consider the alphabet </a:t>
            </a:r>
            <a:r>
              <a:rPr kumimoji="0" lang="el-GR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={a}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language of all words containing even number of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a’s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can be defined by the following RE 	(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)*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Language of all words containing only odd no. of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a’s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can be defined by the following RE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(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aaa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)* 2. a(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)*+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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3. a+(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)*  4.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4400" b="0" i="0" u="none" strike="noStrike" kern="0" cap="none" spc="0" normalizeH="0" baseline="3000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 a+(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)*a 	correct but inefficient due to repetition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6. (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)*a    or    a(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)*  correct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8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32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232" end="2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75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275" end="3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30" end="3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330" end="3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Languages of Regular Expressions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610600" cy="5486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language of all words having all possible combinations of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a’s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followed by one b can be described by the following RE.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a+b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2. a*+b 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 a*b  4. (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+a</a:t>
            </a:r>
            <a:r>
              <a:rPr kumimoji="0" lang="en-US" sz="40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+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)b  5.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a</a:t>
            </a:r>
            <a:r>
              <a:rPr kumimoji="0" lang="en-US" sz="4000" b="0" i="0" u="none" strike="noStrike" kern="0" cap="none" spc="0" normalizeH="0" baseline="3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+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b+b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language of all words in which all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a’s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(if any) comes before all the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b’s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(if any) can be defined the following RE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)*  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a*b* 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a+b+a</a:t>
            </a:r>
            <a:r>
              <a:rPr kumimoji="0" lang="en-US" sz="3600" b="0" i="0" u="none" strike="noStrike" kern="0" cap="none" spc="0" normalizeH="0" baseline="3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sz="36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  4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b+a</a:t>
            </a:r>
            <a:r>
              <a:rPr kumimoji="0" lang="en-US" sz="3600" b="0" i="0" u="none" strike="noStrike" kern="0" cap="none" spc="0" normalizeH="0" baseline="3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*+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 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both are inefficient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2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31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131" end="1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06" end="3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306" end="3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24" end="3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charRg st="324" end="3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458200" cy="5486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language of all words of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a’s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&amp;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b’s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that have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atleast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two letters, that begin &amp; end with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a’s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&amp; that have nothing but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b’s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inside (if any thing at all) can be defined by following RE.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l-GR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{a, b}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)*  2.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*a</a:t>
            </a:r>
            <a:r>
              <a:rPr kumimoji="0" lang="en-US" sz="36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  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</a:t>
            </a:r>
            <a:r>
              <a:rPr kumimoji="0" lang="en-US" sz="3600" b="0" i="0" u="none" strike="noStrike" kern="0" cap="none" spc="0" normalizeH="0" baseline="3000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4.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600" b="0" i="0" u="none" strike="noStrike" kern="0" cap="none" spc="0" normalizeH="0" baseline="3000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*a</a:t>
            </a:r>
            <a:r>
              <a:rPr kumimoji="0" lang="en-US" sz="36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  </a:t>
            </a:r>
            <a:endParaRPr kumimoji="0" lang="en-US" sz="3600" b="0" i="0" u="none" strike="noStrike" kern="0" cap="none" spc="0" normalizeH="0" baseline="3000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*a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6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05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205" end="2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45" end="2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245" end="2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en-US" alt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486400"/>
          </a:xfrm>
        </p:spPr>
        <p:txBody>
          <a:bodyPr vert="horz" wrap="square" lIns="91440" tIns="45720" rIns="91440" bIns="45720" anchor="t" anchorCtr="0"/>
          <a:p>
            <a:pPr marL="0" indent="0"/>
            <a:r>
              <a:rPr lang="en-US" altLang="en-US" dirty="0"/>
              <a:t>Example: </a:t>
            </a:r>
            <a:r>
              <a:rPr lang="en-US" altLang="en-US" dirty="0">
                <a:solidFill>
                  <a:schemeClr val="tx1"/>
                </a:solidFill>
              </a:rPr>
              <a:t>Consider the alphabet </a:t>
            </a:r>
            <a:r>
              <a:rPr lang="el-GR" altLang="en-US" dirty="0">
                <a:solidFill>
                  <a:schemeClr val="tx1"/>
                </a:solidFill>
              </a:rPr>
              <a:t>Σ</a:t>
            </a:r>
            <a:r>
              <a:rPr lang="en-US" altLang="en-US" dirty="0">
                <a:solidFill>
                  <a:schemeClr val="tx1"/>
                </a:solidFill>
              </a:rPr>
              <a:t>={a,b,c}. The language of all words that begins with either a or c, followed be any no. of b’s can be defined by following RE. 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/>
            <a:r>
              <a:rPr lang="en-US" altLang="en-US" dirty="0">
                <a:solidFill>
                  <a:schemeClr val="tx1"/>
                </a:solidFill>
              </a:rPr>
              <a:t>(a+c)b* = ab* + cb*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/>
            <a:r>
              <a:rPr lang="en-US" altLang="en-US" dirty="0"/>
              <a:t>Example: </a:t>
            </a:r>
            <a:r>
              <a:rPr lang="en-US" altLang="en-US" dirty="0">
                <a:solidFill>
                  <a:schemeClr val="tx1"/>
                </a:solidFill>
              </a:rPr>
              <a:t>The language of all words that ends with letter b can be defined by the following RE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/>
            <a:r>
              <a:rPr lang="en-US" altLang="en-US" dirty="0">
                <a:solidFill>
                  <a:schemeClr val="tx1"/>
                </a:solidFill>
              </a:rPr>
              <a:t>	(a+b)*b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/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24580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160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charRg st="160" end="1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274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charRg st="274" end="2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en-US" altLang="en-US" dirty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Example: </a:t>
            </a:r>
            <a:r>
              <a:rPr lang="en-US" altLang="en-US" dirty="0">
                <a:solidFill>
                  <a:schemeClr val="tx1"/>
                </a:solidFill>
              </a:rPr>
              <a:t>The language of all words that have at least 1 a in them somewhere can be defined be by RE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(a+b)*a(a+b)*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/>
              <a:t>Example:</a:t>
            </a:r>
            <a:r>
              <a:rPr lang="en-US" altLang="en-US" dirty="0">
                <a:solidFill>
                  <a:schemeClr val="tx1"/>
                </a:solidFill>
              </a:rPr>
              <a:t>The language of all words that have at least 2 a’s in them somewhere.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(a+b)*a(a+b)*a(a+b)*	OR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b*ab*a(a+b)*			OR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b*a(a+b)*ab*			OR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(a+b)*ab*ab*</a:t>
            </a:r>
            <a:endParaRPr lang="en-US" altLang="en-US" b="1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25604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100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charRg st="100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192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charRg st="192" end="2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16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charRg st="216" end="2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34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435">
                                            <p:txEl>
                                              <p:charRg st="234" end="2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52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435">
                                            <p:txEl>
                                              <p:charRg st="252" end="2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en-US" alt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Example: </a:t>
            </a:r>
            <a:r>
              <a:rPr lang="en-US" altLang="en-US" dirty="0">
                <a:solidFill>
                  <a:schemeClr val="tx1"/>
                </a:solidFill>
              </a:rPr>
              <a:t>The language of all words that have exactly 2 a’s in them somewhere can be defined by RE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	b*ab*ab*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/>
              <a:t>Example: </a:t>
            </a:r>
            <a:r>
              <a:rPr lang="en-US" altLang="en-US" dirty="0">
                <a:solidFill>
                  <a:schemeClr val="tx1"/>
                </a:solidFill>
              </a:rPr>
              <a:t>The language of all words that have at most one a in them somewhere can be defined by RE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	b*(a+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)</a:t>
            </a:r>
            <a:r>
              <a:rPr lang="en-US" altLang="en-US" dirty="0">
                <a:solidFill>
                  <a:schemeClr val="tx1"/>
                </a:solidFill>
              </a:rPr>
              <a:t>b*	OR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	 b*ab* + b*</a:t>
            </a:r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26628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9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charRg st="98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206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charRg st="206" end="2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220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459">
                                            <p:txEl>
                                              <p:charRg st="220" end="2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en-US" alt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Example:</a:t>
            </a:r>
            <a:r>
              <a:rPr lang="en-US" altLang="en-US" dirty="0">
                <a:solidFill>
                  <a:schemeClr val="tx1"/>
                </a:solidFill>
              </a:rPr>
              <a:t> The language of all words having at least one a and one  b, may be expressed  by the following RE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(a+b)*a(a+b)*b(a+b)* + (a+b)*b(a+b)*a(a+b)*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/>
              <a:t>Example: </a:t>
            </a:r>
            <a:r>
              <a:rPr lang="en-US" altLang="en-US" dirty="0">
                <a:solidFill>
                  <a:schemeClr val="tx1"/>
                </a:solidFill>
              </a:rPr>
              <a:t>The language of all words starting with a and ending in b or starting with b and ending in a, may be expressed  by the following RE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a(a+b)*b + b(a+b)*a</a:t>
            </a:r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/>
          </a:p>
        </p:txBody>
      </p:sp>
      <p:sp>
        <p:nvSpPr>
          <p:cNvPr id="27652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07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charRg st="107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292" end="3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charRg st="292" end="3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en-US" altLang="en-US" dirty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Example:</a:t>
            </a:r>
            <a:r>
              <a:rPr lang="en-US" altLang="en-US" dirty="0">
                <a:solidFill>
                  <a:schemeClr val="tx1"/>
                </a:solidFill>
              </a:rPr>
              <a:t> The language of all strings that at some point contain a double letter, may be expressed  by the following RE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  (a + b)*(aa + bb)(a + b)* 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/>
              <a:t>Example: </a:t>
            </a:r>
            <a:r>
              <a:rPr lang="en-US" altLang="en-US" dirty="0">
                <a:solidFill>
                  <a:schemeClr val="tx1"/>
                </a:solidFill>
              </a:rPr>
              <a:t>The language of all strings that do not contain a double letter, may be expressed  by the following RE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 (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 + b</a:t>
            </a:r>
            <a:r>
              <a:rPr lang="en-US" altLang="en-US" dirty="0">
                <a:solidFill>
                  <a:schemeClr val="tx1"/>
                </a:solidFill>
              </a:rPr>
              <a:t>) (ab)*(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 + </a:t>
            </a:r>
            <a:r>
              <a:rPr lang="en-US" altLang="en-US" dirty="0">
                <a:solidFill>
                  <a:schemeClr val="tx1"/>
                </a:solidFill>
              </a:rPr>
              <a:t>a)</a:t>
            </a:r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/>
          </a:p>
        </p:txBody>
      </p:sp>
      <p:sp>
        <p:nvSpPr>
          <p:cNvPr id="28676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119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charRg st="119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260" end="2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charRg st="260" end="2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Definition</a:t>
            </a:r>
            <a:endParaRPr lang="en-US" altLang="en-US" dirty="0"/>
          </a:p>
        </p:txBody>
      </p:sp>
      <p:sp>
        <p:nvSpPr>
          <p:cNvPr id="29700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486400"/>
          </a:xfrm>
        </p:spPr>
        <p:txBody>
          <a:bodyPr vert="horz" wrap="square" lIns="91440" tIns="45720" rIns="91440" bIns="45720" anchor="t" anchorCtr="0"/>
          <a:p>
            <a:r>
              <a:rPr lang="en-US" altLang="en-US" dirty="0"/>
              <a:t>For regular expressions       and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  </a:t>
            </a:r>
            <a:endParaRPr lang="en-US" altLang="en-US" dirty="0"/>
          </a:p>
        </p:txBody>
      </p:sp>
      <p:graphicFrame>
        <p:nvGraphicFramePr>
          <p:cNvPr id="29701" name="Object 2"/>
          <p:cNvGraphicFramePr>
            <a:graphicFrameLocks noChangeAspect="1"/>
          </p:cNvGraphicFramePr>
          <p:nvPr/>
        </p:nvGraphicFramePr>
        <p:xfrm>
          <a:off x="4953000" y="990600"/>
          <a:ext cx="304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304800" imgH="571500" progId="Equation.3">
                  <p:embed/>
                </p:oleObj>
              </mc:Choice>
              <mc:Fallback>
                <p:oleObj name="" r:id="rId1" imgW="304800" imgH="571500" progId="Equation.3">
                  <p:embed/>
                  <p:pic>
                    <p:nvPicPr>
                      <p:cNvPr id="0" name="Picture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53000" y="990600"/>
                        <a:ext cx="3048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3"/>
          <p:cNvGraphicFramePr>
            <a:graphicFrameLocks noChangeAspect="1"/>
          </p:cNvGraphicFramePr>
          <p:nvPr/>
        </p:nvGraphicFramePr>
        <p:xfrm>
          <a:off x="6477000" y="990600"/>
          <a:ext cx="3794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381000" imgH="571500" progId="Equation.3">
                  <p:embed/>
                </p:oleObj>
              </mc:Choice>
              <mc:Fallback>
                <p:oleObj name="" r:id="rId3" imgW="381000" imgH="571500" progId="Equation.3">
                  <p:embed/>
                  <p:pic>
                    <p:nvPicPr>
                      <p:cNvPr id="0" name="Picture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77000" y="990600"/>
                        <a:ext cx="379413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4"/>
          <p:cNvGraphicFramePr>
            <a:graphicFrameLocks noChangeAspect="1"/>
          </p:cNvGraphicFramePr>
          <p:nvPr/>
        </p:nvGraphicFramePr>
        <p:xfrm>
          <a:off x="1981200" y="1905000"/>
          <a:ext cx="4902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5" imgW="4902200" imgH="571500" progId="Equation.3">
                  <p:embed/>
                </p:oleObj>
              </mc:Choice>
              <mc:Fallback>
                <p:oleObj name="" r:id="rId5" imgW="4902200" imgH="571500" progId="Equation.3">
                  <p:embed/>
                  <p:pic>
                    <p:nvPicPr>
                      <p:cNvPr id="0" name="Picture 30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81200" y="1905000"/>
                        <a:ext cx="49022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5"/>
          <p:cNvGraphicFramePr>
            <a:graphicFrameLocks noChangeAspect="1"/>
          </p:cNvGraphicFramePr>
          <p:nvPr/>
        </p:nvGraphicFramePr>
        <p:xfrm>
          <a:off x="2133600" y="2667000"/>
          <a:ext cx="425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7" imgW="4254500" imgH="571500" progId="Equation.3">
                  <p:embed/>
                </p:oleObj>
              </mc:Choice>
              <mc:Fallback>
                <p:oleObj name="" r:id="rId7" imgW="4254500" imgH="571500" progId="Equation.3">
                  <p:embed/>
                  <p:pic>
                    <p:nvPicPr>
                      <p:cNvPr id="0" name="Picture 31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33600" y="2667000"/>
                        <a:ext cx="42545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6"/>
          <p:cNvGraphicFramePr>
            <a:graphicFrameLocks noChangeAspect="1"/>
          </p:cNvGraphicFramePr>
          <p:nvPr/>
        </p:nvGraphicFramePr>
        <p:xfrm>
          <a:off x="2438400" y="3429000"/>
          <a:ext cx="3340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9" imgW="3340100" imgH="571500" progId="Equation.3">
                  <p:embed/>
                </p:oleObj>
              </mc:Choice>
              <mc:Fallback>
                <p:oleObj name="" r:id="rId9" imgW="3340100" imgH="571500" progId="Equation.3">
                  <p:embed/>
                  <p:pic>
                    <p:nvPicPr>
                      <p:cNvPr id="0" name="Picture 310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38400" y="3429000"/>
                        <a:ext cx="33401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7"/>
          <p:cNvGraphicFramePr>
            <a:graphicFrameLocks noChangeAspect="1"/>
          </p:cNvGraphicFramePr>
          <p:nvPr/>
        </p:nvGraphicFramePr>
        <p:xfrm>
          <a:off x="2438400" y="4191000"/>
          <a:ext cx="2768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1" imgW="2768600" imgH="571500" progId="Equation.3">
                  <p:embed/>
                </p:oleObj>
              </mc:Choice>
              <mc:Fallback>
                <p:oleObj name="" r:id="rId11" imgW="2768600" imgH="571500" progId="Equation.3">
                  <p:embed/>
                  <p:pic>
                    <p:nvPicPr>
                      <p:cNvPr id="0" name="Picture 310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38400" y="4191000"/>
                        <a:ext cx="27686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Example</a:t>
            </a:r>
            <a:endParaRPr lang="en-US" altLang="en-US" dirty="0"/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Regular expression:  </a:t>
            </a:r>
            <a:endParaRPr lang="en-US" altLang="en-US" dirty="0"/>
          </a:p>
        </p:txBody>
      </p:sp>
      <p:graphicFrame>
        <p:nvGraphicFramePr>
          <p:cNvPr id="30725" name="Object 2"/>
          <p:cNvGraphicFramePr>
            <a:graphicFrameLocks noChangeAspect="1"/>
          </p:cNvGraphicFramePr>
          <p:nvPr/>
        </p:nvGraphicFramePr>
        <p:xfrm>
          <a:off x="4057650" y="889000"/>
          <a:ext cx="2120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2120900" imgH="558800" progId="Equation.3">
                  <p:embed/>
                </p:oleObj>
              </mc:Choice>
              <mc:Fallback>
                <p:oleObj name="" r:id="rId1" imgW="2120900" imgH="558800" progId="Equation.3">
                  <p:embed/>
                  <p:pic>
                    <p:nvPicPr>
                      <p:cNvPr id="0" name="Picture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57650" y="889000"/>
                        <a:ext cx="21209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3"/>
          <p:cNvGraphicFramePr>
            <a:graphicFrameLocks noChangeAspect="1"/>
          </p:cNvGraphicFramePr>
          <p:nvPr/>
        </p:nvGraphicFramePr>
        <p:xfrm>
          <a:off x="381000" y="1981200"/>
          <a:ext cx="2768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2768600" imgH="558800" progId="Equation.3">
                  <p:embed/>
                </p:oleObj>
              </mc:Choice>
              <mc:Fallback>
                <p:oleObj name="" r:id="rId3" imgW="2768600" imgH="558800" progId="Equation.3">
                  <p:embed/>
                  <p:pic>
                    <p:nvPicPr>
                      <p:cNvPr id="0" name="Picture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981200"/>
                        <a:ext cx="27686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4"/>
          <p:cNvGraphicFramePr>
            <a:graphicFrameLocks noChangeAspect="1"/>
          </p:cNvGraphicFramePr>
          <p:nvPr/>
        </p:nvGraphicFramePr>
        <p:xfrm>
          <a:off x="3352800" y="1981200"/>
          <a:ext cx="3644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5" imgW="3644900" imgH="571500" progId="Equation.3">
                  <p:embed/>
                </p:oleObj>
              </mc:Choice>
              <mc:Fallback>
                <p:oleObj name="" r:id="rId5" imgW="3644900" imgH="571500" progId="Equation.3">
                  <p:embed/>
                  <p:pic>
                    <p:nvPicPr>
                      <p:cNvPr id="0" name="Picture 31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52800" y="1981200"/>
                        <a:ext cx="36449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5"/>
          <p:cNvGraphicFramePr>
            <a:graphicFrameLocks noChangeAspect="1"/>
          </p:cNvGraphicFramePr>
          <p:nvPr/>
        </p:nvGraphicFramePr>
        <p:xfrm>
          <a:off x="3352800" y="2743200"/>
          <a:ext cx="3327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7" imgW="3327400" imgH="571500" progId="Equation.3">
                  <p:embed/>
                </p:oleObj>
              </mc:Choice>
              <mc:Fallback>
                <p:oleObj name="" r:id="rId7" imgW="3327400" imgH="571500" progId="Equation.3">
                  <p:embed/>
                  <p:pic>
                    <p:nvPicPr>
                      <p:cNvPr id="0" name="Picture 3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2800" y="2743200"/>
                        <a:ext cx="33274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6"/>
          <p:cNvGraphicFramePr>
            <a:graphicFrameLocks noChangeAspect="1"/>
          </p:cNvGraphicFramePr>
          <p:nvPr/>
        </p:nvGraphicFramePr>
        <p:xfrm>
          <a:off x="3352800" y="3505200"/>
          <a:ext cx="4699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9" imgW="4699000" imgH="571500" progId="Equation.3">
                  <p:embed/>
                </p:oleObj>
              </mc:Choice>
              <mc:Fallback>
                <p:oleObj name="" r:id="rId9" imgW="4699000" imgH="571500" progId="Equation.3">
                  <p:embed/>
                  <p:pic>
                    <p:nvPicPr>
                      <p:cNvPr id="0" name="Picture 30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52800" y="3505200"/>
                        <a:ext cx="46990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7"/>
          <p:cNvGraphicFramePr>
            <a:graphicFrameLocks noChangeAspect="1"/>
          </p:cNvGraphicFramePr>
          <p:nvPr/>
        </p:nvGraphicFramePr>
        <p:xfrm>
          <a:off x="3352800" y="4267200"/>
          <a:ext cx="3784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1" imgW="3784600" imgH="571500" progId="Equation.3">
                  <p:embed/>
                </p:oleObj>
              </mc:Choice>
              <mc:Fallback>
                <p:oleObj name="" r:id="rId11" imgW="3784600" imgH="571500" progId="Equation.3">
                  <p:embed/>
                  <p:pic>
                    <p:nvPicPr>
                      <p:cNvPr id="0" name="Picture 308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52800" y="4267200"/>
                        <a:ext cx="37846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8"/>
          <p:cNvGraphicFramePr>
            <a:graphicFrameLocks noChangeAspect="1"/>
          </p:cNvGraphicFramePr>
          <p:nvPr/>
        </p:nvGraphicFramePr>
        <p:xfrm>
          <a:off x="3352800" y="5029200"/>
          <a:ext cx="4749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3" imgW="4749800" imgH="571500" progId="Equation.3">
                  <p:embed/>
                </p:oleObj>
              </mc:Choice>
              <mc:Fallback>
                <p:oleObj name="" r:id="rId13" imgW="4749800" imgH="571500" progId="Equation.3">
                  <p:embed/>
                  <p:pic>
                    <p:nvPicPr>
                      <p:cNvPr id="0" name="Picture 310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52800" y="5029200"/>
                        <a:ext cx="47498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9"/>
          <p:cNvGraphicFramePr>
            <a:graphicFrameLocks noChangeAspect="1"/>
          </p:cNvGraphicFramePr>
          <p:nvPr/>
        </p:nvGraphicFramePr>
        <p:xfrm>
          <a:off x="3352800" y="5867400"/>
          <a:ext cx="5664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5" imgW="5664200" imgH="558800" progId="Equation.3">
                  <p:embed/>
                </p:oleObj>
              </mc:Choice>
              <mc:Fallback>
                <p:oleObj name="" r:id="rId15" imgW="5664200" imgH="558800" progId="Equation.3">
                  <p:embed/>
                  <p:pic>
                    <p:nvPicPr>
                      <p:cNvPr id="0" name="Picture 309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52800" y="5867400"/>
                        <a:ext cx="56642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Example</a:t>
            </a:r>
            <a:endParaRPr lang="en-US" altLang="en-US" dirty="0"/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endParaRPr lang="en-US" altLang="en-US" dirty="0"/>
          </a:p>
          <a:p>
            <a:r>
              <a:rPr lang="en-US" altLang="en-US" dirty="0"/>
              <a:t>Regular expression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Regular expression</a:t>
            </a:r>
            <a:endParaRPr lang="en-US" altLang="en-US" dirty="0"/>
          </a:p>
          <a:p>
            <a:r>
              <a:rPr lang="en-US" altLang="en-US" dirty="0"/>
              <a:t> </a:t>
            </a:r>
            <a:endParaRPr lang="en-US" altLang="en-US" dirty="0"/>
          </a:p>
          <a:p>
            <a:endParaRPr lang="en-US" altLang="en-US" dirty="0"/>
          </a:p>
        </p:txBody>
      </p:sp>
      <p:graphicFrame>
        <p:nvGraphicFramePr>
          <p:cNvPr id="31749" name="Object 2"/>
          <p:cNvGraphicFramePr>
            <a:graphicFrameLocks noChangeAspect="1"/>
          </p:cNvGraphicFramePr>
          <p:nvPr/>
        </p:nvGraphicFramePr>
        <p:xfrm>
          <a:off x="4229100" y="1498600"/>
          <a:ext cx="3962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3962400" imgH="558800" progId="Equation.3">
                  <p:embed/>
                </p:oleObj>
              </mc:Choice>
              <mc:Fallback>
                <p:oleObj name="" r:id="rId1" imgW="3962400" imgH="558800" progId="Equation.3">
                  <p:embed/>
                  <p:pic>
                    <p:nvPicPr>
                      <p:cNvPr id="0" name="Picture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29100" y="1498600"/>
                        <a:ext cx="39624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3" name="Object 3"/>
          <p:cNvGraphicFramePr>
            <a:graphicFrameLocks noChangeAspect="1"/>
          </p:cNvGraphicFramePr>
          <p:nvPr/>
        </p:nvGraphicFramePr>
        <p:xfrm>
          <a:off x="1371600" y="2209800"/>
          <a:ext cx="637698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6375400" imgH="558800" progId="Equation.3">
                  <p:embed/>
                </p:oleObj>
              </mc:Choice>
              <mc:Fallback>
                <p:oleObj name="" r:id="rId3" imgW="6375400" imgH="558800" progId="Equation.3">
                  <p:embed/>
                  <p:pic>
                    <p:nvPicPr>
                      <p:cNvPr id="0" name="Picture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1600" y="2209800"/>
                        <a:ext cx="6376988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4"/>
          <p:cNvGraphicFramePr>
            <a:graphicFrameLocks noChangeAspect="1"/>
          </p:cNvGraphicFramePr>
          <p:nvPr/>
        </p:nvGraphicFramePr>
        <p:xfrm>
          <a:off x="4114800" y="3276600"/>
          <a:ext cx="3390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5" imgW="3390900" imgH="558800" progId="Equation.3">
                  <p:embed/>
                </p:oleObj>
              </mc:Choice>
              <mc:Fallback>
                <p:oleObj name="" r:id="rId5" imgW="3390900" imgH="558800" progId="Equation.3">
                  <p:embed/>
                  <p:pic>
                    <p:nvPicPr>
                      <p:cNvPr id="0" name="Picture 31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00" y="3276600"/>
                        <a:ext cx="33909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1143000" y="4267200"/>
          <a:ext cx="5765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7" imgW="5765800" imgH="723900" progId="Equation.3">
                  <p:embed/>
                </p:oleObj>
              </mc:Choice>
              <mc:Fallback>
                <p:oleObj name="" r:id="rId7" imgW="5765800" imgH="723900" progId="Equation.3">
                  <p:embed/>
                  <p:pic>
                    <p:nvPicPr>
                      <p:cNvPr id="0" name="Picture 30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43000" y="4267200"/>
                        <a:ext cx="576580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Example</a:t>
            </a:r>
            <a:endParaRPr lang="en-US" altLang="en-US" dirty="0"/>
          </a:p>
        </p:txBody>
      </p:sp>
      <p:graphicFrame>
        <p:nvGraphicFramePr>
          <p:cNvPr id="32772" name="Object 2"/>
          <p:cNvGraphicFramePr>
            <a:graphicFrameLocks noChangeAspect="1"/>
          </p:cNvGraphicFramePr>
          <p:nvPr/>
        </p:nvGraphicFramePr>
        <p:xfrm>
          <a:off x="1981200" y="1133475"/>
          <a:ext cx="44323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4432300" imgH="546100" progId="Equation.3">
                  <p:embed/>
                </p:oleObj>
              </mc:Choice>
              <mc:Fallback>
                <p:oleObj name="" r:id="rId1" imgW="4432300" imgH="546100" progId="Equation.3">
                  <p:embed/>
                  <p:pic>
                    <p:nvPicPr>
                      <p:cNvPr id="0" name="Picture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1200" y="1133475"/>
                        <a:ext cx="44323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/>
          <p:nvPr/>
        </p:nvGrpSpPr>
        <p:grpSpPr>
          <a:xfrm>
            <a:off x="1327150" y="1905000"/>
            <a:ext cx="6202363" cy="1163638"/>
            <a:chOff x="836" y="2128"/>
            <a:chExt cx="3907" cy="733"/>
          </a:xfrm>
        </p:grpSpPr>
        <p:graphicFrame>
          <p:nvGraphicFramePr>
            <p:cNvPr id="32778" name="Object 3"/>
            <p:cNvGraphicFramePr>
              <a:graphicFrameLocks noChangeAspect="1"/>
            </p:cNvGraphicFramePr>
            <p:nvPr/>
          </p:nvGraphicFramePr>
          <p:xfrm>
            <a:off x="836" y="2144"/>
            <a:ext cx="58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3" imgW="926465" imgH="533400" progId="Equation.3">
                    <p:embed/>
                  </p:oleObj>
                </mc:Choice>
                <mc:Fallback>
                  <p:oleObj name="" r:id="rId3" imgW="926465" imgH="533400" progId="Equation.3">
                    <p:embed/>
                    <p:pic>
                      <p:nvPicPr>
                        <p:cNvPr id="0" name="Picture 311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36" y="2144"/>
                          <a:ext cx="584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9" name="Text Box 6"/>
            <p:cNvSpPr txBox="1"/>
            <p:nvPr/>
          </p:nvSpPr>
          <p:spPr>
            <a:xfrm>
              <a:off x="1478" y="2128"/>
              <a:ext cx="3265" cy="7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accent2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accent2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+mn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en-US" dirty="0">
                  <a:cs typeface="Arial" panose="020B0604020202020204" pitchFamily="34" charset="0"/>
                </a:rPr>
                <a:t>= { all strings with at least</a:t>
              </a:r>
              <a:endParaRPr lang="en-US" altLang="en-US" dirty="0"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en-US" dirty="0">
                  <a:cs typeface="Arial" panose="020B0604020202020204" pitchFamily="34" charset="0"/>
                </a:rPr>
                <a:t>      two consecutive 0 } </a:t>
              </a:r>
              <a:endParaRPr lang="en-US" altLang="en-US" dirty="0">
                <a:ea typeface="Arial" panose="020B0604020202020204" pitchFamily="34" charset="0"/>
              </a:endParaRPr>
            </a:p>
          </p:txBody>
        </p:sp>
      </p:grpSp>
      <p:graphicFrame>
        <p:nvGraphicFramePr>
          <p:cNvPr id="32774" name="Object 4"/>
          <p:cNvGraphicFramePr>
            <a:graphicFrameLocks noChangeAspect="1"/>
          </p:cNvGraphicFramePr>
          <p:nvPr/>
        </p:nvGraphicFramePr>
        <p:xfrm>
          <a:off x="762000" y="3429000"/>
          <a:ext cx="82073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5" imgW="2413000" imgH="203200" progId="Equation.DSMT4">
                  <p:embed/>
                </p:oleObj>
              </mc:Choice>
              <mc:Fallback>
                <p:oleObj name="" r:id="rId5" imgW="2413000" imgH="203200" progId="Equation.DSMT4">
                  <p:embed/>
                  <p:pic>
                    <p:nvPicPr>
                      <p:cNvPr id="0" name="Picture 31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0" y="3429000"/>
                        <a:ext cx="8207375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8"/>
          <p:cNvGrpSpPr/>
          <p:nvPr/>
        </p:nvGrpSpPr>
        <p:grpSpPr>
          <a:xfrm>
            <a:off x="1219200" y="4267200"/>
            <a:ext cx="5711825" cy="1163638"/>
            <a:chOff x="836" y="2128"/>
            <a:chExt cx="3598" cy="733"/>
          </a:xfrm>
        </p:grpSpPr>
        <p:graphicFrame>
          <p:nvGraphicFramePr>
            <p:cNvPr id="32776" name="Object 5"/>
            <p:cNvGraphicFramePr>
              <a:graphicFrameLocks noChangeAspect="1"/>
            </p:cNvGraphicFramePr>
            <p:nvPr/>
          </p:nvGraphicFramePr>
          <p:xfrm>
            <a:off x="836" y="2144"/>
            <a:ext cx="58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7" imgW="926465" imgH="533400" progId="Equation.3">
                    <p:embed/>
                  </p:oleObj>
                </mc:Choice>
                <mc:Fallback>
                  <p:oleObj name="" r:id="rId7" imgW="926465" imgH="533400" progId="Equation.3">
                    <p:embed/>
                    <p:pic>
                      <p:nvPicPr>
                        <p:cNvPr id="0" name="Picture 310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36" y="2144"/>
                          <a:ext cx="584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7" name="Text Box 6"/>
            <p:cNvSpPr txBox="1"/>
            <p:nvPr/>
          </p:nvSpPr>
          <p:spPr>
            <a:xfrm>
              <a:off x="1478" y="2128"/>
              <a:ext cx="2956" cy="7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accent2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accent2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+mn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en-US" dirty="0">
                  <a:cs typeface="Arial" panose="020B0604020202020204" pitchFamily="34" charset="0"/>
                </a:rPr>
                <a:t>= { all strings without</a:t>
              </a:r>
              <a:endParaRPr lang="en-US" altLang="en-US" dirty="0"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en-US" dirty="0">
                  <a:cs typeface="Arial" panose="020B0604020202020204" pitchFamily="34" charset="0"/>
                </a:rPr>
                <a:t>      two consecutive 0 } </a:t>
              </a:r>
              <a:endParaRPr lang="en-US" altLang="en-US" dirty="0">
                <a:ea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609600"/>
          </a:xfrm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Finite Automaton</a:t>
            </a:r>
            <a:endParaRPr lang="en-US" altLang="en-US" dirty="0"/>
          </a:p>
        </p:txBody>
      </p:sp>
      <p:sp>
        <p:nvSpPr>
          <p:cNvPr id="8196" name="Rectangle 13"/>
          <p:cNvSpPr/>
          <p:nvPr/>
        </p:nvSpPr>
        <p:spPr>
          <a:xfrm>
            <a:off x="5715000" y="4038600"/>
            <a:ext cx="32004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8197" name="Content Placeholder 7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486400"/>
          </a:xfrm>
        </p:spPr>
        <p:txBody>
          <a:bodyPr vert="horz" wrap="square" lIns="91440" tIns="45720" rIns="91440" bIns="45720" anchor="t" anchorCtr="0"/>
          <a:p>
            <a:pPr marL="0" indent="0"/>
            <a:r>
              <a:rPr lang="en-US" altLang="en-US" dirty="0">
                <a:solidFill>
                  <a:schemeClr val="tx1"/>
                </a:solidFill>
              </a:rPr>
              <a:t>Finite automata are computing devices that accept/recognize regular languages and are used to model operations of many systems we find in practice. 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/>
            <a:r>
              <a:rPr lang="en-US" altLang="en-US" dirty="0">
                <a:solidFill>
                  <a:schemeClr val="tx1"/>
                </a:solidFill>
              </a:rPr>
              <a:t>In the word ‘Finite Automata’, Finite means the no. of letters in the input alphabet &amp; the no. of states are both finite and automata means automatic.  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838200"/>
          </a:xfrm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Finite Automaton </a:t>
            </a:r>
            <a:br>
              <a:rPr lang="en-US" altLang="en-US" dirty="0"/>
            </a:br>
            <a:r>
              <a:rPr lang="en-US" altLang="en-US" sz="3200" dirty="0"/>
              <a:t>(also called acceptor/recognizer)</a:t>
            </a:r>
            <a:endParaRPr lang="en-US" altLang="en-US" sz="3200" dirty="0"/>
          </a:p>
        </p:txBody>
      </p:sp>
      <p:sp>
        <p:nvSpPr>
          <p:cNvPr id="10244" name="Rectangle 13"/>
          <p:cNvSpPr/>
          <p:nvPr/>
        </p:nvSpPr>
        <p:spPr>
          <a:xfrm>
            <a:off x="5715000" y="4038600"/>
            <a:ext cx="32004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62470" name="Content Placeholder 7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5486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Finite Automaton (FA) is a collection of three things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Finite set of input letter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 from which input strings are formed.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Finite number of states, having one initial and some </a:t>
            </a: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(maybe none)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final states.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/>
              </a:rPr>
              <a:t>Finite set of transitions i.e. for each state and for each input letter there is a transition showing how to move from one state to another.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609600"/>
          </a:xfrm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Finite Automaton</a:t>
            </a:r>
            <a:endParaRPr lang="en-US" altLang="en-US" dirty="0"/>
          </a:p>
        </p:txBody>
      </p:sp>
      <p:sp>
        <p:nvSpPr>
          <p:cNvPr id="12292" name="Rectangle 4"/>
          <p:cNvSpPr/>
          <p:nvPr/>
        </p:nvSpPr>
        <p:spPr>
          <a:xfrm>
            <a:off x="1905000" y="3124200"/>
            <a:ext cx="3271838" cy="23590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2293" name="Rectangle 6"/>
          <p:cNvSpPr/>
          <p:nvPr/>
        </p:nvSpPr>
        <p:spPr>
          <a:xfrm>
            <a:off x="1676400" y="1981200"/>
            <a:ext cx="3657600" cy="685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2294" name="Text Box 10"/>
          <p:cNvSpPr txBox="1"/>
          <p:nvPr/>
        </p:nvSpPr>
        <p:spPr>
          <a:xfrm>
            <a:off x="2971800" y="1371600"/>
            <a:ext cx="12398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Input</a:t>
            </a:r>
            <a:endParaRPr lang="en-US" altLang="en-US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12295" name="Rectangle 12"/>
          <p:cNvSpPr/>
          <p:nvPr/>
        </p:nvSpPr>
        <p:spPr>
          <a:xfrm>
            <a:off x="5791200" y="3886200"/>
            <a:ext cx="30480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2296" name="Rectangle 13"/>
          <p:cNvSpPr/>
          <p:nvPr/>
        </p:nvSpPr>
        <p:spPr>
          <a:xfrm>
            <a:off x="5715000" y="4038600"/>
            <a:ext cx="32004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2297" name="Rectangle 14"/>
          <p:cNvSpPr/>
          <p:nvPr/>
        </p:nvSpPr>
        <p:spPr>
          <a:xfrm>
            <a:off x="5638800" y="3811588"/>
            <a:ext cx="3198813" cy="758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2298" name="Text Box 15"/>
          <p:cNvSpPr txBox="1"/>
          <p:nvPr/>
        </p:nvSpPr>
        <p:spPr>
          <a:xfrm>
            <a:off x="6477000" y="3886200"/>
            <a:ext cx="13970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r>
              <a:rPr lang="en-US" altLang="en-US" dirty="0">
                <a:cs typeface="Arial" panose="020B0604020202020204" pitchFamily="34" charset="0"/>
              </a:rPr>
              <a:t>String</a:t>
            </a:r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2299" name="Text Box 17"/>
          <p:cNvSpPr>
            <a:spLocks noGrp="1"/>
          </p:cNvSpPr>
          <p:nvPr>
            <p:ph idx="1"/>
          </p:nvPr>
        </p:nvSpPr>
        <p:spPr>
          <a:xfrm>
            <a:off x="153988" y="839788"/>
            <a:ext cx="8839200" cy="5484812"/>
          </a:xfrm>
        </p:spPr>
        <p:txBody>
          <a:bodyPr vert="horz" wrap="square" lIns="91440" tIns="45720" rIns="91440" bIns="45720" anchor="t" anchorCtr="0"/>
          <a:p>
            <a:r>
              <a:rPr lang="en-US" altLang="en-US" dirty="0"/>
              <a:t>  </a:t>
            </a:r>
            <a:endParaRPr lang="en-US" altLang="en-US" dirty="0"/>
          </a:p>
        </p:txBody>
      </p:sp>
      <p:sp>
        <p:nvSpPr>
          <p:cNvPr id="12300" name="Text Box 18"/>
          <p:cNvSpPr txBox="1"/>
          <p:nvPr/>
        </p:nvSpPr>
        <p:spPr>
          <a:xfrm>
            <a:off x="6400800" y="3200400"/>
            <a:ext cx="15319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Output</a:t>
            </a:r>
            <a:endParaRPr lang="en-US" altLang="en-US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12301" name="Text Box 19"/>
          <p:cNvSpPr txBox="1"/>
          <p:nvPr/>
        </p:nvSpPr>
        <p:spPr>
          <a:xfrm>
            <a:off x="2895600" y="2057400"/>
            <a:ext cx="13970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r>
              <a:rPr lang="en-US" altLang="en-US" dirty="0">
                <a:cs typeface="Arial" panose="020B0604020202020204" pitchFamily="34" charset="0"/>
              </a:rPr>
              <a:t>String</a:t>
            </a:r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2302" name="Text Box 20"/>
          <p:cNvSpPr txBox="1"/>
          <p:nvPr/>
        </p:nvSpPr>
        <p:spPr>
          <a:xfrm>
            <a:off x="2286000" y="3810000"/>
            <a:ext cx="2241550" cy="11636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r>
              <a:rPr lang="en-US" altLang="en-US" dirty="0">
                <a:cs typeface="Arial" panose="020B0604020202020204" pitchFamily="34" charset="0"/>
              </a:rPr>
              <a:t>Finite</a:t>
            </a:r>
            <a:endParaRPr lang="en-US" altLang="en-US" dirty="0">
              <a:cs typeface="Arial" panose="020B0604020202020204" pitchFamily="34" charset="0"/>
            </a:endParaRPr>
          </a:p>
          <a:p>
            <a:pPr marL="0" lvl="0" indent="0"/>
            <a:r>
              <a:rPr lang="en-US" altLang="en-US" dirty="0">
                <a:cs typeface="Arial" panose="020B0604020202020204" pitchFamily="34" charset="0"/>
              </a:rPr>
              <a:t>Automaton</a:t>
            </a:r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2303" name="Line 21"/>
          <p:cNvSpPr/>
          <p:nvPr/>
        </p:nvSpPr>
        <p:spPr>
          <a:xfrm>
            <a:off x="3500438" y="2668588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04" name="Line 22"/>
          <p:cNvSpPr/>
          <p:nvPr/>
        </p:nvSpPr>
        <p:spPr>
          <a:xfrm>
            <a:off x="5181600" y="41910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xfrm>
            <a:off x="152400" y="304800"/>
            <a:ext cx="8839200" cy="609600"/>
          </a:xfrm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Finite Accepter</a:t>
            </a:r>
            <a:endParaRPr lang="en-US" altLang="en-US" dirty="0"/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 </a:t>
            </a:r>
            <a:endParaRPr lang="en-US" altLang="en-US" dirty="0"/>
          </a:p>
        </p:txBody>
      </p:sp>
      <p:sp>
        <p:nvSpPr>
          <p:cNvPr id="14341" name="Rectangle 4"/>
          <p:cNvSpPr/>
          <p:nvPr/>
        </p:nvSpPr>
        <p:spPr>
          <a:xfrm>
            <a:off x="1905000" y="3124200"/>
            <a:ext cx="3271838" cy="23590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4342" name="Rectangle 5"/>
          <p:cNvSpPr/>
          <p:nvPr/>
        </p:nvSpPr>
        <p:spPr>
          <a:xfrm>
            <a:off x="1676400" y="1981200"/>
            <a:ext cx="3657600" cy="685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4343" name="Text Box 6"/>
          <p:cNvSpPr txBox="1"/>
          <p:nvPr/>
        </p:nvSpPr>
        <p:spPr>
          <a:xfrm>
            <a:off x="2895600" y="1371600"/>
            <a:ext cx="12398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Input</a:t>
            </a:r>
            <a:endParaRPr lang="en-US" altLang="en-US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14344" name="Rectangle 7"/>
          <p:cNvSpPr/>
          <p:nvPr/>
        </p:nvSpPr>
        <p:spPr>
          <a:xfrm>
            <a:off x="5791200" y="3886200"/>
            <a:ext cx="30480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4345" name="Rectangle 8"/>
          <p:cNvSpPr/>
          <p:nvPr/>
        </p:nvSpPr>
        <p:spPr>
          <a:xfrm>
            <a:off x="5715000" y="4038600"/>
            <a:ext cx="32004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4346" name="Rectangle 9"/>
          <p:cNvSpPr/>
          <p:nvPr/>
        </p:nvSpPr>
        <p:spPr>
          <a:xfrm>
            <a:off x="5638800" y="3352800"/>
            <a:ext cx="2286000" cy="19050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4347" name="Text Box 10"/>
          <p:cNvSpPr txBox="1"/>
          <p:nvPr/>
        </p:nvSpPr>
        <p:spPr>
          <a:xfrm>
            <a:off x="5791200" y="3429000"/>
            <a:ext cx="1852613" cy="174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r>
              <a:rPr lang="en-US" altLang="en-US" dirty="0">
                <a:cs typeface="Arial" panose="020B0604020202020204" pitchFamily="34" charset="0"/>
              </a:rPr>
              <a:t>“Accept”</a:t>
            </a:r>
            <a:endParaRPr lang="en-US" altLang="en-US" dirty="0">
              <a:cs typeface="Arial" panose="020B0604020202020204" pitchFamily="34" charset="0"/>
            </a:endParaRPr>
          </a:p>
          <a:p>
            <a:pPr marL="0" lvl="0" indent="0"/>
            <a:r>
              <a:rPr lang="en-US" altLang="en-US" dirty="0">
                <a:cs typeface="Arial" panose="020B0604020202020204" pitchFamily="34" charset="0"/>
              </a:rPr>
              <a:t>     or</a:t>
            </a:r>
            <a:endParaRPr lang="en-US" altLang="en-US" dirty="0">
              <a:cs typeface="Arial" panose="020B0604020202020204" pitchFamily="34" charset="0"/>
            </a:endParaRPr>
          </a:p>
          <a:p>
            <a:pPr marL="0" lvl="0" indent="0"/>
            <a:r>
              <a:rPr lang="en-US" altLang="en-US" dirty="0">
                <a:cs typeface="Arial" panose="020B0604020202020204" pitchFamily="34" charset="0"/>
              </a:rPr>
              <a:t>“Reject”</a:t>
            </a:r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4348" name="Text Box 12"/>
          <p:cNvSpPr txBox="1"/>
          <p:nvPr/>
        </p:nvSpPr>
        <p:spPr>
          <a:xfrm>
            <a:off x="2819400" y="2057400"/>
            <a:ext cx="13970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r>
              <a:rPr lang="en-US" altLang="en-US" dirty="0">
                <a:cs typeface="Arial" panose="020B0604020202020204" pitchFamily="34" charset="0"/>
              </a:rPr>
              <a:t>String</a:t>
            </a:r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4349" name="Text Box 13"/>
          <p:cNvSpPr txBox="1"/>
          <p:nvPr/>
        </p:nvSpPr>
        <p:spPr>
          <a:xfrm>
            <a:off x="2286000" y="3810000"/>
            <a:ext cx="2241550" cy="11636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r>
              <a:rPr lang="en-US" altLang="en-US" dirty="0">
                <a:cs typeface="Arial" panose="020B0604020202020204" pitchFamily="34" charset="0"/>
              </a:rPr>
              <a:t>Finite</a:t>
            </a:r>
            <a:endParaRPr lang="en-US" altLang="en-US" dirty="0">
              <a:cs typeface="Arial" panose="020B0604020202020204" pitchFamily="34" charset="0"/>
            </a:endParaRPr>
          </a:p>
          <a:p>
            <a:pPr marL="0" lvl="0" indent="0"/>
            <a:r>
              <a:rPr lang="en-US" altLang="en-US" dirty="0">
                <a:cs typeface="Arial" panose="020B0604020202020204" pitchFamily="34" charset="0"/>
              </a:rPr>
              <a:t>Automaton</a:t>
            </a:r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14350" name="Line 14"/>
          <p:cNvSpPr/>
          <p:nvPr/>
        </p:nvSpPr>
        <p:spPr>
          <a:xfrm>
            <a:off x="3500438" y="2668588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51" name="Line 15"/>
          <p:cNvSpPr/>
          <p:nvPr/>
        </p:nvSpPr>
        <p:spPr>
          <a:xfrm>
            <a:off x="5181600" y="42672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52" name="Text Box 16"/>
          <p:cNvSpPr txBox="1"/>
          <p:nvPr/>
        </p:nvSpPr>
        <p:spPr>
          <a:xfrm>
            <a:off x="6019800" y="2819400"/>
            <a:ext cx="15319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Output</a:t>
            </a:r>
            <a:endParaRPr lang="en-US" altLang="en-US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Rectang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609600"/>
          </a:xfrm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FA - Examples</a:t>
            </a:r>
            <a:endParaRPr lang="en-US" altLang="en-US" dirty="0"/>
          </a:p>
        </p:txBody>
      </p:sp>
      <p:sp>
        <p:nvSpPr>
          <p:cNvPr id="16388" name="Rectangle 13"/>
          <p:cNvSpPr/>
          <p:nvPr/>
        </p:nvSpPr>
        <p:spPr>
          <a:xfrm>
            <a:off x="5715000" y="4038600"/>
            <a:ext cx="32004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0" lvl="0" indent="0"/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62470" name="Content Placeholder 7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486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l-GR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 = {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a,b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States: x, y, z where x is an initial state and z is final state.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Transitions: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 state x reading a, go to state z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 state x reading b, go to state y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 state y reading a, b go to state y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 state z reading a, b go to state z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45" name="Content Placeholder 7"/>
          <p:cNvSpPr txBox="1"/>
          <p:nvPr/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marL="342900" lvl="0" indent="-342900"/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</a:rPr>
              <a:t>                                      The FA is </a:t>
            </a:r>
            <a:endParaRPr lang="en-US" alt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lvl="0" indent="-342900"/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</a:rPr>
              <a:t>                                    (Transition Diagram)</a:t>
            </a:r>
            <a:endParaRPr lang="en-US" alt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lvl="0" indent="-342900"/>
            <a:endParaRPr lang="en-US" alt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lvl="0" indent="-342900"/>
            <a:endParaRPr lang="en-US" alt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lvl="0" indent="-342900"/>
            <a:endParaRPr lang="en-US" alt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lvl="0" indent="-342900"/>
            <a:endParaRPr lang="en-US" alt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lvl="0" indent="-342900"/>
            <a:endParaRPr lang="en-US" alt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lvl="0" indent="-342900"/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</a:rPr>
              <a:t>RE : ?</a:t>
            </a:r>
            <a:endParaRPr lang="en-US" alt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lvl="0" indent="-342900"/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</a:rPr>
              <a:t>    </a:t>
            </a:r>
            <a:endParaRPr lang="en-US" altLang="en-US" dirty="0">
              <a:solidFill>
                <a:schemeClr val="tx1"/>
              </a:solidFill>
              <a:ea typeface="Arial" panose="020B0604020202020204" pitchFamily="34" charset="0"/>
            </a:endParaRPr>
          </a:p>
        </p:txBody>
      </p:sp>
      <p:sp>
        <p:nvSpPr>
          <p:cNvPr id="18435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534400" cy="1143000"/>
          </a:xfrm>
        </p:spPr>
        <p:txBody>
          <a:bodyPr vert="horz" wrap="square" lIns="91440" tIns="45720" rIns="91440" bIns="45720" anchor="ctr" anchorCtr="0"/>
          <a:p>
            <a:pPr algn="l"/>
            <a:r>
              <a:rPr lang="en-US" altLang="en-US" sz="3200" dirty="0"/>
              <a:t>Example:</a:t>
            </a:r>
            <a:br>
              <a:rPr lang="en-US" altLang="en-US" sz="2800" dirty="0"/>
            </a:br>
            <a:r>
              <a:rPr lang="en-US" altLang="en-US" sz="2800" dirty="0"/>
              <a:t>   </a:t>
            </a:r>
            <a:r>
              <a:rPr lang="en-US" altLang="en-US" sz="2400" dirty="0"/>
              <a:t>State Transition Table</a:t>
            </a:r>
            <a:endParaRPr lang="en-US" altLang="en-US"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1524000"/>
          <a:ext cx="3886200" cy="3114675"/>
        </p:xfrm>
        <a:graphic>
          <a:graphicData uri="http://schemas.openxmlformats.org/drawingml/2006/table">
            <a:tbl>
              <a:tblPr/>
              <a:tblGrid>
                <a:gridCol w="954088"/>
                <a:gridCol w="1408112"/>
                <a:gridCol w="1524000"/>
              </a:tblGrid>
              <a:tr h="8412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Old States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States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683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Reading a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Reading b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8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 -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8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8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 +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461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14400" y="5867400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lvl="0" indent="-342900"/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a(a+b)*</a:t>
            </a:r>
            <a:endParaRPr lang="en-US" altLang="en-US" dirty="0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>
                                            <p:txEl>
                                              <p:charRg st="117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45">
                                            <p:txEl>
                                              <p:charRg st="117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FA </a:t>
            </a:r>
            <a:endParaRPr lang="en-US"/>
          </a:p>
        </p:txBody>
      </p:sp>
      <p:pic>
        <p:nvPicPr>
          <p:cNvPr id="20506" name="Picture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19400" y="1066800"/>
            <a:ext cx="3683000" cy="1746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152400" y="3124200"/>
            <a:ext cx="8101965" cy="903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400" dirty="0">
                <a:sym typeface="+mn-ea"/>
              </a:rPr>
              <a:t>State Transition Table ? Over same </a:t>
            </a:r>
            <a:r>
              <a:rPr lang="el-GR" sz="2400" kern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+mn-ea"/>
              </a:rPr>
              <a:t>Σ </a:t>
            </a:r>
            <a:endParaRPr lang="en-US" altLang="en-US" sz="2400" dirty="0">
              <a:sym typeface="+mn-ea"/>
            </a:endParaRPr>
          </a:p>
          <a:p>
            <a:pPr algn="l"/>
            <a:r>
              <a:rPr lang="en-US" altLang="en-US" sz="2400" dirty="0">
                <a:sym typeface="+mn-ea"/>
              </a:rPr>
              <a:t>Regular Expression?</a:t>
            </a:r>
            <a:endParaRPr lang="en-US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8" name="Slide Number Placeholder 6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dirty="0"/>
              <a:t>Formalities</a:t>
            </a:r>
            <a:endParaRPr dirty="0"/>
          </a:p>
        </p:txBody>
      </p:sp>
      <p:sp>
        <p:nvSpPr>
          <p:cNvPr id="2060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762000"/>
            <a:ext cx="7239000" cy="5486400"/>
          </a:xfrm>
        </p:spPr>
        <p:txBody>
          <a:bodyPr vert="horz" wrap="square" lIns="91440" tIns="45720" rIns="91440" bIns="45720" anchor="t" anchorCtr="0"/>
          <a:p>
            <a:pPr marL="0" indent="0">
              <a:buClrTx/>
              <a:buSzTx/>
              <a:buFontTx/>
            </a:pPr>
            <a:r>
              <a:rPr sz="2800" dirty="0"/>
              <a:t>Deterministic Finite Accepter (DFA) OR Deterministic Finite Automaton</a:t>
            </a:r>
            <a:endParaRPr sz="2800" dirty="0"/>
          </a:p>
        </p:txBody>
      </p:sp>
      <p:graphicFrame>
        <p:nvGraphicFramePr>
          <p:cNvPr id="2050" name="Object 2"/>
          <p:cNvGraphicFramePr/>
          <p:nvPr>
            <p:ph sz="quarter" idx="2"/>
          </p:nvPr>
        </p:nvGraphicFramePr>
        <p:xfrm>
          <a:off x="5334000" y="5715000"/>
          <a:ext cx="13716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1" imgW="443865" imgH="203200" progId="Equation.3">
                  <p:embed/>
                </p:oleObj>
              </mc:Choice>
              <mc:Fallback>
                <p:oleObj name="" r:id="rId1" imgW="443865" imgH="203200" progId="Equation.3">
                  <p:embed/>
                  <p:pic>
                    <p:nvPicPr>
                      <p:cNvPr id="0" name="Picture 326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0" y="5715000"/>
                        <a:ext cx="1371600" cy="6270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/>
          <p:nvPr/>
        </p:nvGraphicFramePr>
        <p:xfrm>
          <a:off x="2286000" y="1855788"/>
          <a:ext cx="38862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3" imgW="3884295" imgH="584200" progId="Equation.3">
                  <p:embed/>
                </p:oleObj>
              </mc:Choice>
              <mc:Fallback>
                <p:oleObj name="" r:id="rId3" imgW="3884295" imgH="584200" progId="Equation.3">
                  <p:embed/>
                  <p:pic>
                    <p:nvPicPr>
                      <p:cNvPr id="0" name="Picture 325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0" y="1855788"/>
                        <a:ext cx="3886200" cy="582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/>
          <p:nvPr/>
        </p:nvGraphicFramePr>
        <p:xfrm>
          <a:off x="685800" y="2667000"/>
          <a:ext cx="3921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5" imgW="393700" imgH="520700" progId="Equation.3">
                  <p:embed/>
                </p:oleObj>
              </mc:Choice>
              <mc:Fallback>
                <p:oleObj name="" r:id="rId5" imgW="393700" imgH="520700" progId="Equation.3">
                  <p:embed/>
                  <p:pic>
                    <p:nvPicPr>
                      <p:cNvPr id="0" name="Picture 325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800" y="2667000"/>
                        <a:ext cx="392113" cy="519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/>
          <p:cNvGraphicFramePr/>
          <p:nvPr/>
        </p:nvGraphicFramePr>
        <p:xfrm>
          <a:off x="762000" y="3429000"/>
          <a:ext cx="3286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" r:id="rId7" imgW="330200" imgH="393700" progId="Equation.3">
                  <p:embed/>
                </p:oleObj>
              </mc:Choice>
              <mc:Fallback>
                <p:oleObj name="" r:id="rId7" imgW="330200" imgH="393700" progId="Equation.3">
                  <p:embed/>
                  <p:pic>
                    <p:nvPicPr>
                      <p:cNvPr id="0" name="Picture 326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2000" y="3429000"/>
                        <a:ext cx="328613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6"/>
          <p:cNvGraphicFramePr/>
          <p:nvPr/>
        </p:nvGraphicFramePr>
        <p:xfrm>
          <a:off x="762000" y="4267200"/>
          <a:ext cx="330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9" imgW="330200" imgH="419100" progId="Equation.3">
                  <p:embed/>
                </p:oleObj>
              </mc:Choice>
              <mc:Fallback>
                <p:oleObj name="" r:id="rId9" imgW="330200" imgH="419100" progId="Equation.3">
                  <p:embed/>
                  <p:pic>
                    <p:nvPicPr>
                      <p:cNvPr id="0" name="Picture 325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2000" y="4267200"/>
                        <a:ext cx="330200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5" name="Object 7"/>
          <p:cNvGraphicFramePr/>
          <p:nvPr/>
        </p:nvGraphicFramePr>
        <p:xfrm>
          <a:off x="685800" y="48768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" r:id="rId11" imgW="482600" imgH="584200" progId="Equation.3">
                  <p:embed/>
                </p:oleObj>
              </mc:Choice>
              <mc:Fallback>
                <p:oleObj name="" r:id="rId11" imgW="482600" imgH="584200" progId="Equation.3">
                  <p:embed/>
                  <p:pic>
                    <p:nvPicPr>
                      <p:cNvPr id="0" name="Picture 326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5800" y="4876800"/>
                        <a:ext cx="4826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6" name="Object 8"/>
          <p:cNvGraphicFramePr/>
          <p:nvPr/>
        </p:nvGraphicFramePr>
        <p:xfrm>
          <a:off x="654050" y="5861050"/>
          <a:ext cx="4048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" r:id="rId13" imgW="405765" imgH="393065" progId="Equation.3">
                  <p:embed/>
                </p:oleObj>
              </mc:Choice>
              <mc:Fallback>
                <p:oleObj name="" r:id="rId13" imgW="405765" imgH="393065" progId="Equation.3">
                  <p:embed/>
                  <p:pic>
                    <p:nvPicPr>
                      <p:cNvPr id="0" name="Picture 325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4050" y="5861050"/>
                        <a:ext cx="404813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1" name="Text Box 11"/>
          <p:cNvSpPr txBox="1"/>
          <p:nvPr/>
        </p:nvSpPr>
        <p:spPr>
          <a:xfrm>
            <a:off x="1431925" y="2616200"/>
            <a:ext cx="29178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dirty="0">
                <a:latin typeface="Comic Sans MS" panose="030F0702030302020204" pitchFamily="66" charset="0"/>
              </a:rPr>
              <a:t>: set of states</a:t>
            </a:r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2062" name="Text Box 12"/>
          <p:cNvSpPr txBox="1"/>
          <p:nvPr/>
        </p:nvSpPr>
        <p:spPr>
          <a:xfrm>
            <a:off x="1355725" y="3378200"/>
            <a:ext cx="31337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dirty="0">
                <a:latin typeface="Comic Sans MS" panose="030F0702030302020204" pitchFamily="66" charset="0"/>
              </a:rPr>
              <a:t>: input alphabet</a:t>
            </a:r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2063" name="Text Box 13"/>
          <p:cNvSpPr txBox="1"/>
          <p:nvPr/>
        </p:nvSpPr>
        <p:spPr>
          <a:xfrm>
            <a:off x="1279525" y="4216400"/>
            <a:ext cx="39782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dirty="0">
                <a:latin typeface="Comic Sans MS" panose="030F0702030302020204" pitchFamily="66" charset="0"/>
              </a:rPr>
              <a:t>: transition function</a:t>
            </a:r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2064" name="Text Box 15"/>
          <p:cNvSpPr txBox="1"/>
          <p:nvPr/>
        </p:nvSpPr>
        <p:spPr>
          <a:xfrm>
            <a:off x="1355725" y="4978400"/>
            <a:ext cx="263048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dirty="0">
                <a:latin typeface="Comic Sans MS" panose="030F0702030302020204" pitchFamily="66" charset="0"/>
              </a:rPr>
              <a:t>: initial state</a:t>
            </a:r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2065" name="Text Box 16"/>
          <p:cNvSpPr txBox="1"/>
          <p:nvPr/>
        </p:nvSpPr>
        <p:spPr>
          <a:xfrm>
            <a:off x="1355725" y="5740400"/>
            <a:ext cx="38925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dirty="0">
                <a:latin typeface="Comic Sans MS" panose="030F0702030302020204" pitchFamily="66" charset="0"/>
              </a:rPr>
              <a:t>: set of final states</a:t>
            </a:r>
            <a:endParaRPr dirty="0">
              <a:latin typeface="Comic Sans MS" panose="030F0702030302020204" pitchFamily="66" charset="0"/>
            </a:endParaRPr>
          </a:p>
        </p:txBody>
      </p:sp>
      <p:graphicFrame>
        <p:nvGraphicFramePr>
          <p:cNvPr id="2057" name="Object 9"/>
          <p:cNvGraphicFramePr/>
          <p:nvPr>
            <p:ph sz="quarter" idx="3"/>
          </p:nvPr>
        </p:nvGraphicFramePr>
        <p:xfrm>
          <a:off x="4038600" y="4876800"/>
          <a:ext cx="13716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15" imgW="444500" imgH="228600" progId="Equation.3">
                  <p:embed/>
                </p:oleObj>
              </mc:Choice>
              <mc:Fallback>
                <p:oleObj name="" r:id="rId15" imgW="444500" imgH="228600" progId="Equation.3">
                  <p:embed/>
                  <p:pic>
                    <p:nvPicPr>
                      <p:cNvPr id="0" name="Picture 326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38600" y="4876800"/>
                        <a:ext cx="1371600" cy="7032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" y="685800"/>
            <a:ext cx="8839200" cy="609600"/>
          </a:xfrm>
        </p:spPr>
        <p:txBody>
          <a:bodyPr/>
          <a:p>
            <a:pPr algn="ctr"/>
            <a:r>
              <a:rPr lang="en-US"/>
              <a:t>Write R.E: </a:t>
            </a:r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It accepts at least one b somewhere in the strings 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358265" y="1752600"/>
            <a:ext cx="6274435" cy="117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lvl="0" indent="-342900"/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RE :</a:t>
            </a:r>
            <a:endParaRPr lang="en-US" alt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lvl="0" indent="-342900"/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  (a+b)*b(a+b)*   or   a*b(a+b)*</a:t>
            </a:r>
            <a:endParaRPr lang="en-US" altLang="en-US" dirty="0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1"/>
          <p:cNvSpPr>
            <a:spLocks noGrp="1"/>
          </p:cNvSpPr>
          <p:nvPr/>
        </p:nvSpPr>
        <p:spPr>
          <a:xfrm>
            <a:off x="-76200" y="152400"/>
            <a:ext cx="85344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br>
              <a:rPr lang="en-US" altLang="en-US" sz="2800" dirty="0"/>
            </a:br>
            <a:r>
              <a:rPr lang="en-US" altLang="en-US" sz="2800" dirty="0"/>
              <a:t>   </a:t>
            </a:r>
            <a:r>
              <a:rPr lang="en-US" altLang="en-US" sz="2400" dirty="0"/>
              <a:t>State Transition Table</a:t>
            </a:r>
            <a:endParaRPr lang="en-US" altLang="en-US"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52400" y="1227138"/>
          <a:ext cx="3886200" cy="3114675"/>
        </p:xfrm>
        <a:graphic>
          <a:graphicData uri="http://schemas.openxmlformats.org/drawingml/2006/table">
            <a:tbl>
              <a:tblPr/>
              <a:tblGrid>
                <a:gridCol w="954088"/>
                <a:gridCol w="1408112"/>
                <a:gridCol w="1524000"/>
              </a:tblGrid>
              <a:tr h="8412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Old States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States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683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Reading a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Reading b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8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 -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8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8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 +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2558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400" y="3200400"/>
            <a:ext cx="5222240" cy="3267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Ex: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FA that accepts the language with RE = (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a+b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)*(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aa+bb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)(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a+b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)*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Ex: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FA that accepts the language with all the strings having at least one triple letter.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Ex: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FA that accepts the language of all the words that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romanLcParenBoth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Have b as the 2</a:t>
            </a:r>
            <a:r>
              <a:rPr kumimoji="0" lang="en-US" sz="32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nd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letter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romanLcParenBoth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Have b as the 3</a:t>
            </a:r>
            <a:r>
              <a:rPr kumimoji="0" lang="en-US" sz="32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rd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letter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340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Note: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there are FAs that accept no language. These are of two types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romanLcParenBoth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FA’s that have no final state, such as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romanLcParenBoth"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(ii) FA’s in which final states cannot be reached from the start state i.e. a disconnected graph or graph like this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4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dirty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indent="12700"/>
            <a:r>
              <a:rPr dirty="0"/>
              <a:t>Ex. </a:t>
            </a:r>
            <a:r>
              <a:rPr dirty="0">
                <a:solidFill>
                  <a:schemeClr val="tx1"/>
                </a:solidFill>
              </a:rPr>
              <a:t>The FA that accepts the language with all the strings that do not end with a.</a:t>
            </a:r>
            <a:endParaRPr dirty="0">
              <a:solidFill>
                <a:schemeClr val="tx1"/>
              </a:solidFill>
            </a:endParaRPr>
          </a:p>
          <a:p>
            <a:pPr indent="12700"/>
            <a:r>
              <a:rPr dirty="0"/>
              <a:t>Sol. </a:t>
            </a:r>
            <a:r>
              <a:rPr dirty="0">
                <a:solidFill>
                  <a:schemeClr val="tx1"/>
                </a:solidFill>
              </a:rPr>
              <a:t>Do not ends with a = Ends with what?</a:t>
            </a:r>
            <a:endParaRPr dirty="0">
              <a:solidFill>
                <a:schemeClr val="tx1"/>
              </a:solidFill>
            </a:endParaRPr>
          </a:p>
          <a:p>
            <a:pPr indent="12700"/>
            <a:r>
              <a:rPr dirty="0">
                <a:solidFill>
                  <a:schemeClr val="tx1"/>
                </a:solidFill>
              </a:rPr>
              <a:t>OR </a:t>
            </a:r>
            <a:endParaRPr dirty="0">
              <a:solidFill>
                <a:schemeClr val="tx1"/>
              </a:solidFill>
            </a:endParaRPr>
          </a:p>
          <a:p>
            <a:pPr indent="12700"/>
            <a:r>
              <a:rPr dirty="0">
                <a:solidFill>
                  <a:schemeClr val="tx1"/>
                </a:solidFill>
              </a:rPr>
              <a:t>take the complement of “ends with a”.</a:t>
            </a:r>
            <a:endParaRPr dirty="0">
              <a:solidFill>
                <a:schemeClr val="tx1"/>
              </a:solidFill>
            </a:endParaRPr>
          </a:p>
          <a:p>
            <a:pPr indent="12700"/>
            <a:r>
              <a:rPr dirty="0"/>
              <a:t>Ex-p-68. </a:t>
            </a:r>
            <a:r>
              <a:rPr dirty="0">
                <a:solidFill>
                  <a:schemeClr val="tx1"/>
                </a:solidFill>
              </a:rPr>
              <a:t>The language of all the words that have different first and last letter.</a:t>
            </a:r>
            <a:endParaRPr dirty="0">
              <a:solidFill>
                <a:schemeClr val="tx1"/>
              </a:solidFill>
            </a:endParaRPr>
          </a:p>
          <a:p>
            <a:pPr indent="12700"/>
            <a:r>
              <a:rPr dirty="0"/>
              <a:t>Ex-p-65. </a:t>
            </a:r>
            <a:r>
              <a:rPr dirty="0">
                <a:solidFill>
                  <a:schemeClr val="tx1"/>
                </a:solidFill>
              </a:rPr>
              <a:t>The FA that accepts only the words </a:t>
            </a:r>
            <a:r>
              <a:rPr i="1" dirty="0">
                <a:solidFill>
                  <a:schemeClr val="tx1"/>
                </a:solidFill>
              </a:rPr>
              <a:t>baa</a:t>
            </a:r>
            <a:r>
              <a:rPr dirty="0">
                <a:solidFill>
                  <a:schemeClr val="tx1"/>
                </a:solidFill>
              </a:rPr>
              <a:t> and </a:t>
            </a:r>
            <a:r>
              <a:rPr i="1" dirty="0">
                <a:solidFill>
                  <a:schemeClr val="tx1"/>
                </a:solidFill>
              </a:rPr>
              <a:t>ab.</a:t>
            </a:r>
            <a:endParaRPr i="1" dirty="0">
              <a:solidFill>
                <a:schemeClr val="tx1"/>
              </a:solidFill>
            </a:endParaRPr>
          </a:p>
          <a:p>
            <a:pPr indent="12700"/>
            <a:r>
              <a:rPr dirty="0"/>
              <a:t>Ex. </a:t>
            </a:r>
            <a:r>
              <a:rPr dirty="0">
                <a:solidFill>
                  <a:schemeClr val="tx1"/>
                </a:solidFill>
              </a:rPr>
              <a:t>The FA that accepts only the words </a:t>
            </a:r>
            <a:r>
              <a:rPr i="1" dirty="0">
                <a:solidFill>
                  <a:schemeClr val="tx1"/>
                </a:solidFill>
              </a:rPr>
              <a:t>baa</a:t>
            </a:r>
            <a:r>
              <a:rPr dirty="0">
                <a:solidFill>
                  <a:schemeClr val="tx1"/>
                </a:solidFill>
              </a:rPr>
              <a:t>,</a:t>
            </a:r>
            <a:r>
              <a:rPr i="1" dirty="0">
                <a:solidFill>
                  <a:schemeClr val="tx1"/>
                </a:solidFill>
              </a:rPr>
              <a:t> ba</a:t>
            </a:r>
            <a:r>
              <a:rPr dirty="0">
                <a:solidFill>
                  <a:schemeClr val="tx1"/>
                </a:solidFill>
              </a:rPr>
              <a:t> and </a:t>
            </a:r>
            <a:r>
              <a:rPr i="1" dirty="0">
                <a:solidFill>
                  <a:schemeClr val="tx1"/>
                </a:solidFill>
              </a:rPr>
              <a:t>ab</a:t>
            </a:r>
            <a:r>
              <a:rPr dirty="0">
                <a:solidFill>
                  <a:schemeClr val="tx1"/>
                </a:solidFill>
              </a:rPr>
              <a:t>.</a:t>
            </a:r>
            <a:endParaRPr dirty="0">
              <a:solidFill>
                <a:schemeClr val="tx1"/>
              </a:solidFill>
            </a:endParaRPr>
          </a:p>
          <a:p>
            <a:pPr indent="12700"/>
            <a:endParaRPr i="1" dirty="0">
              <a:solidFill>
                <a:schemeClr val="tx1"/>
              </a:solidFill>
            </a:endParaRPr>
          </a:p>
          <a:p>
            <a:pPr indent="12700"/>
            <a:endParaRPr i="1" dirty="0">
              <a:solidFill>
                <a:schemeClr val="tx1"/>
              </a:solidFill>
            </a:endParaRPr>
          </a:p>
        </p:txBody>
      </p:sp>
      <p:sp>
        <p:nvSpPr>
          <p:cNvPr id="5124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endParaRPr dirty="0"/>
          </a:p>
        </p:txBody>
      </p:sp>
      <p:sp>
        <p:nvSpPr>
          <p:cNvPr id="1028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839200" cy="54864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dirty="0"/>
              <a:t>Ex-p-65: </a:t>
            </a:r>
            <a:r>
              <a:rPr dirty="0">
                <a:solidFill>
                  <a:schemeClr val="tx1"/>
                </a:solidFill>
              </a:rPr>
              <a:t>What language the following FA accepts i.e. find RE.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9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endParaRPr dirty="0">
              <a:latin typeface="Comic Sans MS" panose="030F0702030302020204" pitchFamily="66" charset="0"/>
            </a:endParaRPr>
          </a:p>
        </p:txBody>
      </p:sp>
      <p:graphicFrame>
        <p:nvGraphicFramePr>
          <p:cNvPr id="1026" name="Object 1"/>
          <p:cNvGraphicFramePr/>
          <p:nvPr/>
        </p:nvGraphicFramePr>
        <p:xfrm>
          <a:off x="1519238" y="2057400"/>
          <a:ext cx="3357562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646170" imgH="3905885" progId="Visio.Drawing.11">
                  <p:embed/>
                </p:oleObj>
              </mc:Choice>
              <mc:Fallback>
                <p:oleObj name="" r:id="rId1" imgW="3646170" imgH="3905885" progId="Visio.Drawing.11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19238" y="2057400"/>
                        <a:ext cx="3357562" cy="356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endParaRPr dirty="0"/>
          </a:p>
        </p:txBody>
      </p:sp>
      <p:sp>
        <p:nvSpPr>
          <p:cNvPr id="2052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305800" cy="54864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dirty="0"/>
              <a:t>Ex-p-65: </a:t>
            </a:r>
            <a:r>
              <a:rPr dirty="0">
                <a:solidFill>
                  <a:schemeClr val="tx1"/>
                </a:solidFill>
              </a:rPr>
              <a:t>What language the following FA accepts i.e. find RE.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53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endParaRPr dirty="0">
              <a:latin typeface="Comic Sans MS" panose="030F0702030302020204" pitchFamily="66" charset="0"/>
            </a:endParaRPr>
          </a:p>
        </p:txBody>
      </p:sp>
      <p:graphicFrame>
        <p:nvGraphicFramePr>
          <p:cNvPr id="2050" name="Object 2"/>
          <p:cNvGraphicFramePr/>
          <p:nvPr/>
        </p:nvGraphicFramePr>
        <p:xfrm>
          <a:off x="1519238" y="2057400"/>
          <a:ext cx="3357562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646170" imgH="3905885" progId="Visio.Drawing.11">
                  <p:embed/>
                </p:oleObj>
              </mc:Choice>
              <mc:Fallback>
                <p:oleObj name="" r:id="rId1" imgW="3646170" imgH="3905885" progId="Visio.Drawing.11">
                  <p:embed/>
                  <p:pic>
                    <p:nvPicPr>
                      <p:cNvPr id="0" name="Picture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19238" y="2057400"/>
                        <a:ext cx="3357562" cy="356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endParaRPr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buNone/>
            </a:pPr>
            <a:r>
              <a:rPr dirty="0"/>
              <a:t>Ex: </a:t>
            </a:r>
            <a:r>
              <a:rPr dirty="0">
                <a:solidFill>
                  <a:schemeClr val="tx1"/>
                </a:solidFill>
              </a:rPr>
              <a:t>FA for all strings having less than 3 b’s.</a:t>
            </a:r>
            <a:endParaRPr dirty="0">
              <a:solidFill>
                <a:schemeClr val="tx1"/>
              </a:solidFill>
            </a:endParaRPr>
          </a:p>
          <a:p>
            <a:pPr>
              <a:buNone/>
            </a:pPr>
            <a:r>
              <a:rPr dirty="0"/>
              <a:t>Ex: </a:t>
            </a:r>
            <a:r>
              <a:rPr dirty="0">
                <a:solidFill>
                  <a:schemeClr val="tx1"/>
                </a:solidFill>
              </a:rPr>
              <a:t>FA for EVEN-EVEN language</a:t>
            </a:r>
            <a:endParaRPr dirty="0">
              <a:solidFill>
                <a:schemeClr val="tx1"/>
              </a:solidFill>
            </a:endParaRPr>
          </a:p>
          <a:p>
            <a:pPr>
              <a:buNone/>
            </a:pPr>
            <a:r>
              <a:rPr dirty="0">
                <a:solidFill>
                  <a:schemeClr val="tx1"/>
                </a:solidFill>
              </a:rPr>
              <a:t>RE = (aa+bb+(ab+ba)(aa+bb)*(ab+ba))*</a:t>
            </a:r>
            <a:endParaRPr dirty="0">
              <a:solidFill>
                <a:schemeClr val="tx1"/>
              </a:solidFill>
            </a:endParaRPr>
          </a:p>
          <a:p>
            <a:pPr>
              <a:buNone/>
            </a:pPr>
            <a:r>
              <a:rPr dirty="0"/>
              <a:t>Q.4. (i) </a:t>
            </a:r>
            <a:r>
              <a:rPr dirty="0">
                <a:solidFill>
                  <a:schemeClr val="tx1"/>
                </a:solidFill>
              </a:rPr>
              <a:t>Build an FA with three states that accepts all strings.</a:t>
            </a:r>
            <a:endParaRPr dirty="0">
              <a:solidFill>
                <a:schemeClr val="tx1"/>
              </a:solidFill>
            </a:endParaRPr>
          </a:p>
          <a:p>
            <a:pPr>
              <a:buNone/>
            </a:pPr>
            <a:r>
              <a:rPr dirty="0"/>
              <a:t>Q.6. </a:t>
            </a:r>
            <a:r>
              <a:rPr dirty="0">
                <a:solidFill>
                  <a:schemeClr val="tx1"/>
                </a:solidFill>
              </a:rPr>
              <a:t>FA that accepts only those word that do no end with ba.</a:t>
            </a:r>
            <a:endParaRPr dirty="0">
              <a:solidFill>
                <a:schemeClr val="tx1"/>
              </a:solidFill>
            </a:endParaRPr>
          </a:p>
          <a:p>
            <a:pPr>
              <a:buNone/>
            </a:pPr>
            <a:r>
              <a:rPr dirty="0"/>
              <a:t>Sol: </a:t>
            </a:r>
            <a:r>
              <a:rPr dirty="0">
                <a:solidFill>
                  <a:schemeClr val="tx1"/>
                </a:solidFill>
              </a:rPr>
              <a:t>Do no end with ba = Ends with what?</a:t>
            </a:r>
            <a:endParaRPr dirty="0">
              <a:solidFill>
                <a:schemeClr val="tx1"/>
              </a:solidFill>
            </a:endParaRPr>
          </a:p>
          <a:p>
            <a:pPr>
              <a:buNone/>
            </a:pPr>
            <a:r>
              <a:rPr dirty="0">
                <a:solidFill>
                  <a:schemeClr val="tx1"/>
                </a:solidFill>
              </a:rPr>
              <a:t>OR  Find FA that ends with ba then take complement.  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148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endParaRPr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buNone/>
            </a:pPr>
            <a:r>
              <a:rPr sz="2800" dirty="0"/>
              <a:t>Q.7: </a:t>
            </a:r>
            <a:r>
              <a:rPr sz="2800" dirty="0">
                <a:solidFill>
                  <a:schemeClr val="tx1"/>
                </a:solidFill>
              </a:rPr>
              <a:t>(i) Begin or end with double letter.</a:t>
            </a:r>
            <a:endParaRPr sz="2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sz="2800" dirty="0">
                <a:solidFill>
                  <a:schemeClr val="tx1"/>
                </a:solidFill>
              </a:rPr>
              <a:t>(ii) Begin and end with double letter.</a:t>
            </a:r>
            <a:endParaRPr sz="2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sz="2800" dirty="0"/>
              <a:t>Sol: </a:t>
            </a:r>
            <a:r>
              <a:rPr sz="2800" dirty="0">
                <a:solidFill>
                  <a:schemeClr val="tx1"/>
                </a:solidFill>
              </a:rPr>
              <a:t>Find FA that begin with double letter</a:t>
            </a:r>
            <a:endParaRPr sz="2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sz="2800" dirty="0">
                <a:solidFill>
                  <a:schemeClr val="tx1"/>
                </a:solidFill>
              </a:rPr>
              <a:t>Find FA that end with double letter</a:t>
            </a:r>
            <a:endParaRPr sz="2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sz="2800" dirty="0">
                <a:solidFill>
                  <a:schemeClr val="tx1"/>
                </a:solidFill>
              </a:rPr>
              <a:t>Now combine the above two FAs. To find the solution of both the parts. </a:t>
            </a:r>
            <a:endParaRPr sz="2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sz="2800" dirty="0"/>
              <a:t>Q.8: </a:t>
            </a:r>
            <a:r>
              <a:rPr sz="2800" dirty="0">
                <a:solidFill>
                  <a:schemeClr val="tx1"/>
                </a:solidFill>
              </a:rPr>
              <a:t>Even number of substring ab</a:t>
            </a:r>
            <a:endParaRPr sz="2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sz="2800" dirty="0"/>
              <a:t>Q.9: (i) </a:t>
            </a:r>
            <a:r>
              <a:rPr sz="2800" dirty="0">
                <a:solidFill>
                  <a:schemeClr val="tx1"/>
                </a:solidFill>
              </a:rPr>
              <a:t>FA that accepts the language of all the strings that have both the letter a and the letter b in them, but not necessarily in that order.</a:t>
            </a:r>
            <a:endParaRPr sz="2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sz="2800" dirty="0"/>
              <a:t>(ii) </a:t>
            </a:r>
            <a:r>
              <a:rPr sz="2800" dirty="0">
                <a:solidFill>
                  <a:schemeClr val="tx1"/>
                </a:solidFill>
              </a:rPr>
              <a:t>All the strings that have onl a’s or only b’s in them 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7172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>
                <a:solidFill>
                  <a:schemeClr val="accent2"/>
                </a:solidFill>
              </a:rPr>
              <a:t>Important Notes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867400"/>
          </a:xfrm>
        </p:spPr>
        <p:txBody>
          <a:bodyPr vert="horz" wrap="square" lIns="91440" tIns="45720" rIns="91440" bIns="45720" anchor="t" anchorCtr="0"/>
          <a:p>
            <a:pPr marL="514350" indent="-514350">
              <a:buFontTx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If </a:t>
            </a:r>
            <a:r>
              <a:rPr lang="en-US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 is present in the language we can make the FA accept  by making the start state as the final state. </a:t>
            </a:r>
            <a:endParaRPr lang="en-US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514350" indent="-514350">
              <a:buFontTx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From every state there will be as many outgoing arrows  as there are letters in the alphabet. </a:t>
            </a:r>
            <a:endParaRPr lang="en-US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514350" indent="-514350">
              <a:buFontTx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If any RE contains (a+b)* in the beginning we shall first construct the FA by discarding that (a+b)*, the initially discarded (a+b)* will be taken into account by missing arrows &amp; there will be no dead end state. </a:t>
            </a:r>
            <a:endParaRPr lang="en-US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514350" indent="-514350">
              <a:buFontTx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When all the words of the language (finite) are accepted by the FA then all the missing edges will go to dead end state. 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4580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p>
            <a:pPr marL="0" indent="0" algn="r">
              <a:spcBef>
                <a:spcPct val="0"/>
              </a:spcBef>
            </a:pPr>
            <a:fld id="{9A0DB2DC-4C9A-4742-B13C-FB6460FD3503}" type="slidenum"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anose="030F0702030302020204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anose="030F0702030302020204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0</TotalTime>
  <Words>11603</Words>
  <Application>WPS Presentation</Application>
  <PresentationFormat>On-screen Show (4:3)</PresentationFormat>
  <Paragraphs>510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47</vt:i4>
      </vt:variant>
      <vt:variant>
        <vt:lpstr>幻灯片标题</vt:lpstr>
      </vt:variant>
      <vt:variant>
        <vt:i4>46</vt:i4>
      </vt:variant>
    </vt:vector>
  </HeadingPairs>
  <TitlesOfParts>
    <vt:vector size="104" baseType="lpstr">
      <vt:lpstr>Arial</vt:lpstr>
      <vt:lpstr>SimSun</vt:lpstr>
      <vt:lpstr>Wingdings</vt:lpstr>
      <vt:lpstr>Comic Sans MS</vt:lpstr>
      <vt:lpstr>Times New Roman</vt:lpstr>
      <vt:lpstr>Microsoft YaHei</vt:lpstr>
      <vt:lpstr>Arial Unicode MS</vt:lpstr>
      <vt:lpstr>Symbol</vt:lpstr>
      <vt:lpstr>Symbol</vt:lpstr>
      <vt:lpstr>Calibri</vt:lpstr>
      <vt:lpstr>class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Visio.Drawing.11</vt:lpstr>
      <vt:lpstr>Equation.DSMT4</vt:lpstr>
      <vt:lpstr>Equation.DSMT4</vt:lpstr>
      <vt:lpstr>Equation.DSMT4</vt:lpstr>
      <vt:lpstr>Equation.DSMT4</vt:lpstr>
      <vt:lpstr>Equation.3</vt:lpstr>
      <vt:lpstr>PowerPoint 演示文稿</vt:lpstr>
      <vt:lpstr>Formal Language</vt:lpstr>
      <vt:lpstr>Descriptive definition of Languages</vt:lpstr>
      <vt:lpstr>Descriptive definition of Languages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Regular Expressions (REs)</vt:lpstr>
      <vt:lpstr>Regular Expressions</vt:lpstr>
      <vt:lpstr>REs</vt:lpstr>
      <vt:lpstr>Operators allowed in REs  </vt:lpstr>
      <vt:lpstr>Primitive REs </vt:lpstr>
      <vt:lpstr>Languages of Regular Expressions</vt:lpstr>
      <vt:lpstr>PowerPoint 演示文稿</vt:lpstr>
      <vt:lpstr>Languages of Regular Expressions</vt:lpstr>
      <vt:lpstr>Languages of Regular Expressions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Definition</vt:lpstr>
      <vt:lpstr>Example</vt:lpstr>
      <vt:lpstr>Example</vt:lpstr>
      <vt:lpstr>Example</vt:lpstr>
      <vt:lpstr>Finite Automaton</vt:lpstr>
      <vt:lpstr>Finite Automaton  (also called acceptor/recognizer)</vt:lpstr>
      <vt:lpstr>Finite Automaton</vt:lpstr>
      <vt:lpstr>Finite Accepter</vt:lpstr>
      <vt:lpstr>FA - Examples</vt:lpstr>
      <vt:lpstr>Example:    State Transition Table</vt:lpstr>
      <vt:lpstr> FA </vt:lpstr>
      <vt:lpstr>Formalities</vt:lpstr>
      <vt:lpstr>Write R.E: It accepts at least one b somewhere in the strings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Important Notes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Rubab Anam Janjua Ilyas janjua</cp:lastModifiedBy>
  <cp:revision>360</cp:revision>
  <dcterms:created xsi:type="dcterms:W3CDTF">2000-08-31T01:12:00Z</dcterms:created>
  <dcterms:modified xsi:type="dcterms:W3CDTF">2025-08-29T17:20:56Z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C759E24981BF40CE82B3E839D3A7A9A2_12</vt:lpwstr>
  </property>
  <property fmtid="{D5CDD505-2E9C-101B-9397-08002B2CF9AE}" pid="3" name="KSOProductBuildVer">
    <vt:lpwstr>1033-12.2.0.22222</vt:lpwstr>
  </property>
</Properties>
</file>