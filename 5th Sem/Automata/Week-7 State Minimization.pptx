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27"/>
  </p:handoutMasterIdLst>
  <p:sldIdLst>
    <p:sldId id="256" r:id="rId3"/>
    <p:sldId id="274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5" r:id="rId20"/>
    <p:sldId id="278" r:id="rId21"/>
    <p:sldId id="276" r:id="rId22"/>
    <p:sldId id="277" r:id="rId23"/>
    <p:sldId id="272" r:id="rId24"/>
    <p:sldId id="273" r:id="rId25"/>
    <p:sldId id="279" r:id="rId26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6" d="100"/>
          <a:sy n="66" d="100"/>
        </p:scale>
        <p:origin x="-120" y="-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818" name="Header Placeholder 3481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en-US" sz="1200"/>
          </a:p>
        </p:txBody>
      </p:sp>
      <p:sp>
        <p:nvSpPr>
          <p:cNvPr id="34819" name="Date Placeholder 34818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/>
            <a:endParaRPr lang="en-US" sz="1200"/>
          </a:p>
        </p:txBody>
      </p:sp>
      <p:sp>
        <p:nvSpPr>
          <p:cNvPr id="34820" name="Footer Placeholder 34819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endParaRPr lang="en-US" sz="1200"/>
          </a:p>
        </p:txBody>
      </p:sp>
      <p:sp>
        <p:nvSpPr>
          <p:cNvPr id="34821" name="Slide Number Placeholder 34820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sz="1200"/>
            </a:fld>
            <a:endParaRPr 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Title 512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21272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lvl="0" algn="ctr">
              <a:buClrTx/>
              <a:buSzTx/>
              <a:buFontTx/>
              <a:defRPr sz="5800"/>
            </a:lvl1pPr>
          </a:lstStyle>
          <a:p>
            <a:pPr lvl="0"/>
            <a:r>
              <a:rPr dirty="0"/>
              <a:t>Click to edit Master title style</a:t>
            </a:r>
            <a:endParaRPr dirty="0"/>
          </a:p>
        </p:txBody>
      </p:sp>
      <p:sp>
        <p:nvSpPr>
          <p:cNvPr id="5123" name="Subtitle 5122"/>
          <p:cNvSpPr>
            <a:spLocks noGrp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ctr"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 sz="3000"/>
            </a:lvl1pPr>
            <a:lvl2pPr marL="457200" lvl="1" indent="0" algn="ctr"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 sz="3000"/>
            </a:lvl2pPr>
            <a:lvl3pPr marL="914400" lvl="2" indent="0" algn="ctr"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 sz="3000"/>
            </a:lvl3pPr>
            <a:lvl4pPr marL="1371600" lvl="3" indent="0" algn="ctr">
              <a:buClr>
                <a:schemeClr val="bg2"/>
              </a:buClr>
              <a:buSzTx/>
              <a:buFont typeface="Wingdings" panose="05000000000000000000" pitchFamily="2" charset="2"/>
              <a:buNone/>
              <a:defRPr sz="3000"/>
            </a:lvl4pPr>
            <a:lvl5pPr marL="1828800" lvl="4" indent="0" algn="ctr"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3000"/>
            </a:lvl5pPr>
          </a:lstStyle>
          <a:p>
            <a:pPr lvl="0"/>
            <a:r>
              <a:rPr dirty="0"/>
              <a:t>Click to edit Master subtitle style</a:t>
            </a:r>
            <a:endParaRPr dirty="0"/>
          </a:p>
        </p:txBody>
      </p:sp>
      <p:sp>
        <p:nvSpPr>
          <p:cNvPr id="5124" name="Date Placeholder 5123"/>
          <p:cNvSpPr>
            <a:spLocks noGrp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>
              <a:defRPr sz="1000">
                <a:latin typeface="Verdana" panose="020B0604030504040204" pitchFamily="34" charset="0"/>
              </a:defRPr>
            </a:lvl1pPr>
          </a:lstStyle>
          <a:p>
            <a:pPr eaLnBrk="1" hangingPunct="1"/>
            <a:fld id="{BB962C8B-B14F-4D97-AF65-F5344CB8AC3E}" type="datetime1">
              <a:rPr lang="en-US"/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5125" name="Footer Placeholder 512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>
              <a:defRPr sz="1000">
                <a:latin typeface="Verdana" panose="020B0604030504040204" pitchFamily="34" charset="0"/>
              </a:defRPr>
            </a:lvl1pPr>
          </a:lstStyle>
          <a:p>
            <a:pPr eaLnBrk="1" hangingPunct="1"/>
            <a:endParaRPr lang="en-US"/>
          </a:p>
        </p:txBody>
      </p:sp>
      <p:sp>
        <p:nvSpPr>
          <p:cNvPr id="5126" name="Slide Number Placeholder 512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r">
              <a:defRPr sz="1000">
                <a:latin typeface="Verdana" panose="020B0604030504040204" pitchFamily="34" charset="0"/>
              </a:defRPr>
            </a:lvl1pPr>
          </a:lstStyle>
          <a:p>
            <a:pPr eaLnBrk="1" hangingPunct="1"/>
            <a:fld id="{9A0DB2DC-4C9A-4742-B13C-FB6460FD3503}" type="slidenum">
              <a:rPr lang="en-US"/>
            </a:fld>
            <a:endParaRPr lang="en-US">
              <a:latin typeface="Arial" panose="020B0604020202020204" pitchFamily="34" charset="0"/>
            </a:endParaRPr>
          </a:p>
        </p:txBody>
      </p:sp>
      <p:grpSp>
        <p:nvGrpSpPr>
          <p:cNvPr id="5127" name="Group 5126"/>
          <p:cNvGrpSpPr/>
          <p:nvPr/>
        </p:nvGrpSpPr>
        <p:grpSpPr>
          <a:xfrm>
            <a:off x="228600" y="2889250"/>
            <a:ext cx="8610600" cy="201613"/>
            <a:chOff x="144" y="1680"/>
            <a:chExt cx="5424" cy="144"/>
          </a:xfrm>
        </p:grpSpPr>
        <p:sp>
          <p:nvSpPr>
            <p:cNvPr id="5128" name="Rectangles 5127"/>
            <p:cNvSpPr/>
            <p:nvPr userDrawn="1"/>
          </p:nvSpPr>
          <p:spPr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5129" name="Rectangles 5128"/>
            <p:cNvSpPr/>
            <p:nvPr userDrawn="1"/>
          </p:nvSpPr>
          <p:spPr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5130" name="Rectangles 5129"/>
            <p:cNvSpPr/>
            <p:nvPr userDrawn="1"/>
          </p:nvSpPr>
          <p:spPr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/>
            </a:fld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/>
            </a:fld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/>
            </a:fld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>
              <a:latin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/>
            </a:fld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/>
            </a:fld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/>
            </a:fld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/>
            </a:fld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/>
            </a:fld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/>
            </a:fld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5293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/>
            </a:fld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/>
            </a:fld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Title 4097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dirty="0"/>
              <a:t>Click to edit Master title style</a:t>
            </a:r>
            <a:endParaRPr dirty="0"/>
          </a:p>
        </p:txBody>
      </p:sp>
      <p:sp>
        <p:nvSpPr>
          <p:cNvPr id="4099" name="Text Placeholder 4098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  <p:sp>
        <p:nvSpPr>
          <p:cNvPr id="4100" name="Date Placeholder 4099"/>
          <p:cNvSpPr>
            <a:spLocks noGrp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000">
                <a:latin typeface="Verdana" panose="020B0604030504040204" pitchFamily="34" charset="0"/>
              </a:defRPr>
            </a:lvl1pPr>
          </a:lstStyle>
          <a:p>
            <a:pPr lvl="0" eaLnBrk="1" hangingPunct="1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101" name="Footer Placeholder 4100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000">
                <a:latin typeface="Verdana" panose="020B0604030504040204" pitchFamily="34" charset="0"/>
              </a:defRPr>
            </a:lvl1pPr>
          </a:lstStyle>
          <a:p>
            <a:pPr lvl="0" eaLnBrk="1" hangingPunct="1"/>
            <a:endParaRPr lang="en-US"/>
          </a:p>
        </p:txBody>
      </p:sp>
      <p:sp>
        <p:nvSpPr>
          <p:cNvPr id="4102" name="Slide Number Placeholder 4101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000">
                <a:latin typeface="Verdana" panose="020B0604030504040204" pitchFamily="34" charset="0"/>
              </a:defRPr>
            </a:lvl1pPr>
          </a:lstStyle>
          <a:p>
            <a:pPr lvl="0" eaLnBrk="1" hangingPunct="1"/>
            <a:fld id="{9A0DB2DC-4C9A-4742-B13C-FB6460FD3503}" type="slidenum">
              <a:rPr lang="en-US"/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103" name="Rectangles 4102"/>
          <p:cNvSpPr/>
          <p:nvPr/>
        </p:nvSpPr>
        <p:spPr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sz="2400">
              <a:latin typeface="Times New Roman" panose="02020603050405020304" pitchFamily="18" charset="0"/>
            </a:endParaRPr>
          </a:p>
        </p:txBody>
      </p:sp>
      <p:sp>
        <p:nvSpPr>
          <p:cNvPr id="4104" name="Straight Connector 4103"/>
          <p:cNvSpPr/>
          <p:nvPr/>
        </p:nvSpPr>
        <p:spPr>
          <a:xfrm>
            <a:off x="457200" y="1447800"/>
            <a:ext cx="8077200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05" name="Rectangles 4104"/>
          <p:cNvSpPr/>
          <p:nvPr/>
        </p:nvSpPr>
        <p:spPr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sz="2400">
              <a:latin typeface="Times New Roman" panose="02020603050405020304" pitchFamily="18" charset="0"/>
            </a:endParaRPr>
          </a:p>
        </p:txBody>
      </p:sp>
      <p:sp>
        <p:nvSpPr>
          <p:cNvPr id="4106" name="Rectangles 4105"/>
          <p:cNvSpPr/>
          <p:nvPr/>
        </p:nvSpPr>
        <p:spPr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sz="24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SzTx/>
        <a:buFont typeface="Wingdings" panose="05000000000000000000" pitchFamily="2" charset="2"/>
        <a:buChar char="§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2pPr>
      <a:lvl3pPr marL="914400" lvl="2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3pPr>
      <a:lvl4pPr marL="1371600" lvl="3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4pPr>
      <a:lvl5pPr marL="1828800" lvl="4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5pPr>
      <a:lvl6pPr marL="2286000" lvl="5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6pPr>
      <a:lvl7pPr marL="2743200" lvl="6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7pPr>
      <a:lvl8pPr marL="3200400" lvl="7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8pPr>
      <a:lvl9pPr marL="3657600" lvl="8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Title 2049"/>
          <p:cNvSpPr>
            <a:spLocks noGrp="1"/>
          </p:cNvSpPr>
          <p:nvPr>
            <p:ph type="ctrTitle"/>
          </p:nvPr>
        </p:nvSpPr>
        <p:spPr>
          <a:ln/>
        </p:spPr>
        <p:txBody>
          <a:bodyPr anchor="b" anchorCtr="0"/>
          <a:p>
            <a:pPr defTabSz="914400">
              <a:buSzTx/>
              <a:buFontTx/>
              <a:buNone/>
            </a:pPr>
            <a:r>
              <a:rPr kern="1200" baseline="0">
                <a:latin typeface="Garamond" panose="02020404030301010803" pitchFamily="18" charset="0"/>
              </a:rPr>
              <a:t>State Minimization</a:t>
            </a:r>
            <a:endParaRPr kern="1200" baseline="0">
              <a:latin typeface="Garamond" panose="02020404030301010803" pitchFamily="18" charset="0"/>
            </a:endParaRPr>
          </a:p>
        </p:txBody>
      </p:sp>
      <p:sp>
        <p:nvSpPr>
          <p:cNvPr id="2051" name="Subtitle 2050"/>
          <p:cNvSpPr>
            <a:spLocks noGrp="1"/>
          </p:cNvSpPr>
          <p:nvPr>
            <p:ph type="subTitle" idx="1"/>
          </p:nvPr>
        </p:nvSpPr>
        <p:spPr>
          <a:ln/>
        </p:spPr>
        <p:txBody>
          <a:bodyPr anchor="t" anchorCtr="0"/>
          <a:p>
            <a:pPr defTabSz="914400">
              <a:buSzPct val="75000"/>
            </a:pPr>
            <a:r>
              <a:rPr lang="en-US" altLang="en-US" kern="1200" baseline="0">
                <a:latin typeface="Times New Roman" panose="02020603050405020304" pitchFamily="18" charset="0"/>
              </a:rPr>
              <a:t>Equivalence Partitioning Theorem</a:t>
            </a:r>
            <a:endParaRPr lang="en-US" altLang="en-US" kern="1200" baseline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Title 29697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t>Minimizing a DFA</a:t>
            </a:r>
          </a:p>
        </p:txBody>
      </p:sp>
      <p:sp>
        <p:nvSpPr>
          <p:cNvPr id="29699" name="Text Placeholder 29698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p>
            <a:r>
              <a:t>To </a:t>
            </a:r>
            <a:r>
              <a:rPr i="1"/>
              <a:t>minimize</a:t>
            </a:r>
            <a:r>
              <a:t> a DFA is to find an equivalent DFA that has the least possible number of states.</a:t>
            </a:r>
          </a:p>
          <a:p>
            <a:r>
              <a:t>If the DFA is going to be used to write a program (e.g., a compiler) or to design hardware, then there may be a significant benefit in minimizing it before implementing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7169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t>Indistinguishable States</a:t>
            </a:r>
          </a:p>
        </p:txBody>
      </p:sp>
      <p:sp>
        <p:nvSpPr>
          <p:cNvPr id="7171" name="Text Placeholder 7170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p>
            <a:r>
              <a:rPr>
                <a:cs typeface="Times New Roman" panose="02020603050405020304" pitchFamily="18" charset="0"/>
              </a:rPr>
              <a:t>Let </a:t>
            </a:r>
            <a:r>
              <a:rPr i="1">
                <a:cs typeface="Times New Roman" panose="02020603050405020304" pitchFamily="18" charset="0"/>
              </a:rPr>
              <a:t>M</a:t>
            </a:r>
            <a:r>
              <a:rPr>
                <a:cs typeface="Times New Roman" panose="02020603050405020304" pitchFamily="18" charset="0"/>
              </a:rPr>
              <a:t> be a DFA.  Two states </a:t>
            </a:r>
            <a:r>
              <a:rPr i="1">
                <a:cs typeface="Times New Roman" panose="02020603050405020304" pitchFamily="18" charset="0"/>
              </a:rPr>
              <a:t>p</a:t>
            </a:r>
            <a:r>
              <a:rPr>
                <a:cs typeface="Times New Roman" panose="02020603050405020304" pitchFamily="18" charset="0"/>
              </a:rPr>
              <a:t> and </a:t>
            </a:r>
            <a:r>
              <a:rPr i="1">
                <a:cs typeface="Times New Roman" panose="02020603050405020304" pitchFamily="18" charset="0"/>
              </a:rPr>
              <a:t>q</a:t>
            </a:r>
            <a:r>
              <a:rPr>
                <a:cs typeface="Times New Roman" panose="02020603050405020304" pitchFamily="18" charset="0"/>
              </a:rPr>
              <a:t> are called </a:t>
            </a:r>
            <a:r>
              <a:rPr i="1">
                <a:cs typeface="Times New Roman" panose="02020603050405020304" pitchFamily="18" charset="0"/>
              </a:rPr>
              <a:t>indistinguishable</a:t>
            </a:r>
            <a:r>
              <a:rPr>
                <a:cs typeface="Times New Roman" panose="02020603050405020304" pitchFamily="18" charset="0"/>
              </a:rPr>
              <a:t> if the DFA obtained by making </a:t>
            </a:r>
            <a:r>
              <a:rPr i="1">
                <a:cs typeface="Times New Roman" panose="02020603050405020304" pitchFamily="18" charset="0"/>
              </a:rPr>
              <a:t>p</a:t>
            </a:r>
            <a:r>
              <a:rPr>
                <a:cs typeface="Times New Roman" panose="02020603050405020304" pitchFamily="18" charset="0"/>
              </a:rPr>
              <a:t> the initial state is </a:t>
            </a:r>
            <a:r>
              <a:rPr i="1">
                <a:cs typeface="Times New Roman" panose="02020603050405020304" pitchFamily="18" charset="0"/>
              </a:rPr>
              <a:t>equivalent</a:t>
            </a:r>
            <a:r>
              <a:rPr>
                <a:cs typeface="Times New Roman" panose="02020603050405020304" pitchFamily="18" charset="0"/>
              </a:rPr>
              <a:t> to the DFA obtained by making </a:t>
            </a:r>
            <a:r>
              <a:rPr i="1">
                <a:cs typeface="Times New Roman" panose="02020603050405020304" pitchFamily="18" charset="0"/>
              </a:rPr>
              <a:t>q</a:t>
            </a:r>
            <a:r>
              <a:rPr>
                <a:cs typeface="Times New Roman" panose="02020603050405020304" pitchFamily="18" charset="0"/>
              </a:rPr>
              <a:t> the initial state.</a:t>
            </a:r>
            <a:endParaRPr>
              <a:cs typeface="Times New Roman" panose="02020603050405020304" pitchFamily="18" charset="0"/>
            </a:endParaRPr>
          </a:p>
          <a:p>
            <a:r>
              <a:rPr>
                <a:cs typeface="Times New Roman" panose="02020603050405020304" pitchFamily="18" charset="0"/>
              </a:rPr>
              <a:t>Write </a:t>
            </a:r>
            <a:r>
              <a:rPr i="1">
                <a:cs typeface="Times New Roman" panose="02020603050405020304" pitchFamily="18" charset="0"/>
              </a:rPr>
              <a:t>p</a:t>
            </a:r>
            <a:r>
              <a:rPr>
                <a:cs typeface="Times New Roman" panose="02020603050405020304" pitchFamily="18" charset="0"/>
              </a:rPr>
              <a:t> ≡ </a:t>
            </a:r>
            <a:r>
              <a:rPr i="1">
                <a:cs typeface="Times New Roman" panose="02020603050405020304" pitchFamily="18" charset="0"/>
              </a:rPr>
              <a:t>q</a:t>
            </a:r>
            <a:r>
              <a:rPr>
                <a:cs typeface="Times New Roman" panose="02020603050405020304" pitchFamily="18" charset="0"/>
              </a:rPr>
              <a:t>.</a:t>
            </a:r>
            <a:endParaRPr>
              <a:cs typeface="Times New Roman" panose="02020603050405020304" pitchFamily="18" charset="0"/>
            </a:endParaRPr>
          </a:p>
          <a:p>
            <a:r>
              <a:rPr>
                <a:cs typeface="Times New Roman" panose="02020603050405020304" pitchFamily="18" charset="0"/>
              </a:rPr>
              <a:t>This is an equivalence relation on </a:t>
            </a:r>
            <a:r>
              <a:rPr i="1">
                <a:cs typeface="Times New Roman" panose="02020603050405020304" pitchFamily="18" charset="0"/>
              </a:rPr>
              <a:t>K</a:t>
            </a:r>
            <a:r>
              <a:rPr>
                <a:cs typeface="Times New Roman" panose="02020603050405020304" pitchFamily="18" charset="0"/>
              </a:rPr>
              <a:t>.</a:t>
            </a:r>
            <a:endParaRPr>
              <a:cs typeface="Times New Roman" panose="02020603050405020304" pitchFamily="18" charset="0"/>
            </a:endParaRPr>
          </a:p>
          <a:p>
            <a:r>
              <a:rPr>
                <a:cs typeface="Times New Roman" panose="02020603050405020304" pitchFamily="18" charset="0"/>
              </a:rPr>
              <a:t>Why?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itle 8193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t>Distinguishing States</a:t>
            </a:r>
          </a:p>
        </p:txBody>
      </p:sp>
      <p:sp>
        <p:nvSpPr>
          <p:cNvPr id="8195" name="Text Placeholder 8194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p>
            <a:r>
              <a:t>We say that a string </a:t>
            </a:r>
            <a:r>
              <a:rPr i="1"/>
              <a:t>w</a:t>
            </a:r>
            <a:r>
              <a:t> </a:t>
            </a:r>
            <a:r>
              <a:rPr i="1"/>
              <a:t>distinguishes</a:t>
            </a:r>
            <a:r>
              <a:t> states </a:t>
            </a:r>
            <a:r>
              <a:rPr i="1"/>
              <a:t>p</a:t>
            </a:r>
            <a:r>
              <a:t> and </a:t>
            </a:r>
            <a:r>
              <a:rPr i="1"/>
              <a:t>q</a:t>
            </a:r>
            <a:r>
              <a:t> if </a:t>
            </a:r>
          </a:p>
          <a:p>
            <a:pPr lvl="1"/>
            <a:r>
              <a:t>(</a:t>
            </a:r>
            <a:r>
              <a:rPr i="1"/>
              <a:t>p</a:t>
            </a:r>
            <a:r>
              <a:t>, </a:t>
            </a:r>
            <a:r>
              <a:rPr i="1"/>
              <a:t>w</a:t>
            </a:r>
            <a:r>
              <a:t>) </a:t>
            </a:r>
            <a:r>
              <a:rPr>
                <a:sym typeface="Math3" pitchFamily="2" charset="2"/>
              </a:rPr>
              <a:t></a:t>
            </a:r>
            <a:r>
              <a:rPr i="1" baseline="-25000">
                <a:sym typeface="Math3" pitchFamily="2" charset="2"/>
              </a:rPr>
              <a:t>M</a:t>
            </a:r>
            <a:r>
              <a:rPr baseline="30000">
                <a:sym typeface="Symbol" panose="05050102010706020507" pitchFamily="18" charset="2"/>
              </a:rPr>
              <a:t>*</a:t>
            </a:r>
            <a:r>
              <a:t> (</a:t>
            </a:r>
            <a:r>
              <a:rPr i="1"/>
              <a:t>f</a:t>
            </a:r>
            <a:r>
              <a:t>, </a:t>
            </a:r>
            <a:r>
              <a:rPr i="1"/>
              <a:t>e</a:t>
            </a:r>
            <a:r>
              <a:t>), for some final state </a:t>
            </a:r>
            <a:r>
              <a:rPr i="1"/>
              <a:t>f</a:t>
            </a:r>
            <a:r>
              <a:t>, and</a:t>
            </a:r>
          </a:p>
          <a:p>
            <a:pPr lvl="1"/>
            <a:r>
              <a:t>(</a:t>
            </a:r>
            <a:r>
              <a:rPr i="1"/>
              <a:t>q</a:t>
            </a:r>
            <a:r>
              <a:t>, </a:t>
            </a:r>
            <a:r>
              <a:rPr i="1"/>
              <a:t>w</a:t>
            </a:r>
            <a:r>
              <a:t>) </a:t>
            </a:r>
            <a:r>
              <a:rPr>
                <a:sym typeface="Math3" pitchFamily="2" charset="2"/>
              </a:rPr>
              <a:t></a:t>
            </a:r>
            <a:r>
              <a:rPr i="1" baseline="-25000">
                <a:sym typeface="Math3" pitchFamily="2" charset="2"/>
              </a:rPr>
              <a:t>M</a:t>
            </a:r>
            <a:r>
              <a:rPr baseline="30000">
                <a:sym typeface="Symbol" panose="05050102010706020507" pitchFamily="18" charset="2"/>
              </a:rPr>
              <a:t>*</a:t>
            </a:r>
            <a:r>
              <a:t> (</a:t>
            </a:r>
            <a:r>
              <a:rPr i="1"/>
              <a:t>u</a:t>
            </a:r>
            <a:r>
              <a:t>, </a:t>
            </a:r>
            <a:r>
              <a:rPr i="1"/>
              <a:t>e</a:t>
            </a:r>
            <a:r>
              <a:t>) for some </a:t>
            </a:r>
            <a:r>
              <a:rPr err="1"/>
              <a:t>nonfinal</a:t>
            </a:r>
            <a:r>
              <a:t> state </a:t>
            </a:r>
            <a:r>
              <a:rPr i="1"/>
              <a:t>u</a:t>
            </a:r>
            <a:r>
              <a:t>,</a:t>
            </a:r>
          </a:p>
          <a:p>
            <a:pPr lvl="1"/>
            <a:r>
              <a:t>or vice versa.</a:t>
            </a:r>
          </a:p>
          <a:p>
            <a:r>
              <a:t>Therefore, two states are indistinguishable if there is no string that distinguishes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itle 9217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t>Minimizing a DFA</a:t>
            </a:r>
          </a:p>
        </p:txBody>
      </p:sp>
      <p:sp>
        <p:nvSpPr>
          <p:cNvPr id="9219" name="Text Placeholder 9218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p>
            <a:r>
              <a:rPr>
                <a:cs typeface="Times New Roman" panose="02020603050405020304" pitchFamily="18" charset="0"/>
              </a:rPr>
              <a:t>The problem is to determine which states are distinguishable and which are indistinguishable.</a:t>
            </a:r>
            <a:endParaRPr>
              <a:cs typeface="Times New Roman" panose="02020603050405020304" pitchFamily="18" charset="0"/>
            </a:endParaRPr>
          </a:p>
          <a:p>
            <a:r>
              <a:rPr>
                <a:cs typeface="Times New Roman" panose="02020603050405020304" pitchFamily="18" charset="0"/>
              </a:rPr>
              <a:t>To minimize a DFA, we want to identify its equivalence classes of indistinguishable states and replace them with single states.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itle 10241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t>The Relation </a:t>
            </a:r>
            <a:r>
              <a:rPr>
                <a:cs typeface="Times New Roman" panose="02020603050405020304" pitchFamily="18" charset="0"/>
              </a:rPr>
              <a:t>≡</a:t>
            </a:r>
            <a:r>
              <a:rPr i="1" baseline="-30000">
                <a:cs typeface="Times New Roman" panose="02020603050405020304" pitchFamily="18" charset="0"/>
              </a:rPr>
              <a:t>n</a:t>
            </a:r>
            <a:endParaRPr i="1" baseline="-30000">
              <a:ea typeface="Times New Roman" panose="02020603050405020304" pitchFamily="18" charset="0"/>
            </a:endParaRPr>
          </a:p>
        </p:txBody>
      </p:sp>
      <p:sp>
        <p:nvSpPr>
          <p:cNvPr id="10243" name="Text Placeholder 10242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p>
            <a:r>
              <a:rPr>
                <a:cs typeface="Times New Roman" panose="02020603050405020304" pitchFamily="18" charset="0"/>
              </a:rPr>
              <a:t>Let </a:t>
            </a:r>
            <a:r>
              <a:rPr i="1">
                <a:cs typeface="Times New Roman" panose="02020603050405020304" pitchFamily="18" charset="0"/>
              </a:rPr>
              <a:t>p</a:t>
            </a:r>
            <a:r>
              <a:rPr>
                <a:cs typeface="Times New Roman" panose="02020603050405020304" pitchFamily="18" charset="0"/>
              </a:rPr>
              <a:t> and </a:t>
            </a:r>
            <a:r>
              <a:rPr i="1">
                <a:cs typeface="Times New Roman" panose="02020603050405020304" pitchFamily="18" charset="0"/>
              </a:rPr>
              <a:t>q</a:t>
            </a:r>
            <a:r>
              <a:rPr>
                <a:cs typeface="Times New Roman" panose="02020603050405020304" pitchFamily="18" charset="0"/>
              </a:rPr>
              <a:t> be states.  Define the relation</a:t>
            </a:r>
            <a:endParaRPr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i="1">
                <a:cs typeface="Times New Roman" panose="02020603050405020304" pitchFamily="18" charset="0"/>
              </a:rPr>
              <a:t>p</a:t>
            </a:r>
            <a:r>
              <a:rPr>
                <a:cs typeface="Times New Roman" panose="02020603050405020304" pitchFamily="18" charset="0"/>
              </a:rPr>
              <a:t> ≡</a:t>
            </a:r>
            <a:r>
              <a:rPr i="1" baseline="-30000">
                <a:cs typeface="Times New Roman" panose="02020603050405020304" pitchFamily="18" charset="0"/>
              </a:rPr>
              <a:t>n</a:t>
            </a:r>
            <a:r>
              <a:rPr>
                <a:cs typeface="Times New Roman" panose="02020603050405020304" pitchFamily="18" charset="0"/>
              </a:rPr>
              <a:t> </a:t>
            </a:r>
            <a:r>
              <a:rPr i="1">
                <a:cs typeface="Times New Roman" panose="02020603050405020304" pitchFamily="18" charset="0"/>
              </a:rPr>
              <a:t>q</a:t>
            </a:r>
            <a:endParaRPr>
              <a:cs typeface="Times New Roman" panose="02020603050405020304" pitchFamily="18" charset="0"/>
            </a:endParaRPr>
          </a:p>
          <a:p>
            <a:pPr>
              <a:buNone/>
            </a:pPr>
            <a:r>
              <a:rPr>
                <a:cs typeface="Times New Roman" panose="02020603050405020304" pitchFamily="18" charset="0"/>
              </a:rPr>
              <a:t>	to mean that </a:t>
            </a:r>
            <a:r>
              <a:rPr i="1">
                <a:cs typeface="Times New Roman" panose="02020603050405020304" pitchFamily="18" charset="0"/>
              </a:rPr>
              <a:t>p</a:t>
            </a:r>
            <a:r>
              <a:rPr>
                <a:cs typeface="Times New Roman" panose="02020603050405020304" pitchFamily="18" charset="0"/>
              </a:rPr>
              <a:t> and </a:t>
            </a:r>
            <a:r>
              <a:rPr i="1">
                <a:cs typeface="Times New Roman" panose="02020603050405020304" pitchFamily="18" charset="0"/>
              </a:rPr>
              <a:t>q</a:t>
            </a:r>
            <a:r>
              <a:rPr>
                <a:cs typeface="Times New Roman" panose="02020603050405020304" pitchFamily="18" charset="0"/>
              </a:rPr>
              <a:t> are not distinguishable by any string </a:t>
            </a:r>
            <a:r>
              <a:rPr i="1">
                <a:cs typeface="Times New Roman" panose="02020603050405020304" pitchFamily="18" charset="0"/>
              </a:rPr>
              <a:t>w</a:t>
            </a:r>
            <a:r>
              <a:rPr>
                <a:cs typeface="Times New Roman" panose="02020603050405020304" pitchFamily="18" charset="0"/>
              </a:rPr>
              <a:t> with |</a:t>
            </a:r>
            <a:r>
              <a:rPr i="1">
                <a:cs typeface="Times New Roman" panose="02020603050405020304" pitchFamily="18" charset="0"/>
              </a:rPr>
              <a:t>w</a:t>
            </a:r>
            <a:r>
              <a:rPr>
                <a:cs typeface="Times New Roman" panose="02020603050405020304" pitchFamily="18" charset="0"/>
              </a:rPr>
              <a:t>| </a:t>
            </a:r>
            <a:r>
              <a:rPr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>
                <a:cs typeface="Times New Roman" panose="02020603050405020304" pitchFamily="18" charset="0"/>
              </a:rPr>
              <a:t> </a:t>
            </a:r>
            <a:r>
              <a:rPr i="1">
                <a:cs typeface="Times New Roman" panose="02020603050405020304" pitchFamily="18" charset="0"/>
              </a:rPr>
              <a:t>n</a:t>
            </a:r>
            <a:r>
              <a:rPr>
                <a:cs typeface="Times New Roman" panose="02020603050405020304" pitchFamily="18" charset="0"/>
              </a:rPr>
              <a:t>.</a:t>
            </a:r>
            <a:endParaRPr>
              <a:cs typeface="Times New Roman" panose="02020603050405020304" pitchFamily="18" charset="0"/>
            </a:endParaRPr>
          </a:p>
          <a:p>
            <a:r>
              <a:rPr>
                <a:cs typeface="Times New Roman" panose="02020603050405020304" pitchFamily="18" charset="0"/>
              </a:rPr>
              <a:t>That is, no sequence of up to </a:t>
            </a:r>
            <a:r>
              <a:rPr i="1">
                <a:cs typeface="Times New Roman" panose="02020603050405020304" pitchFamily="18" charset="0"/>
              </a:rPr>
              <a:t>n</a:t>
            </a:r>
            <a:r>
              <a:rPr>
                <a:cs typeface="Times New Roman" panose="02020603050405020304" pitchFamily="18" charset="0"/>
              </a:rPr>
              <a:t> moves will distinguish </a:t>
            </a:r>
            <a:r>
              <a:rPr i="1">
                <a:cs typeface="Times New Roman" panose="02020603050405020304" pitchFamily="18" charset="0"/>
              </a:rPr>
              <a:t>p</a:t>
            </a:r>
            <a:r>
              <a:rPr>
                <a:cs typeface="Times New Roman" panose="02020603050405020304" pitchFamily="18" charset="0"/>
              </a:rPr>
              <a:t> and </a:t>
            </a:r>
            <a:r>
              <a:rPr i="1">
                <a:cs typeface="Times New Roman" panose="02020603050405020304" pitchFamily="18" charset="0"/>
              </a:rPr>
              <a:t>q</a:t>
            </a:r>
            <a:r>
              <a:rPr>
                <a:cs typeface="Times New Roman" panose="02020603050405020304" pitchFamily="18" charset="0"/>
              </a:rPr>
              <a:t>.</a:t>
            </a:r>
            <a:endParaRPr>
              <a:cs typeface="Times New Roman" panose="02020603050405020304" pitchFamily="18" charset="0"/>
            </a:endParaRPr>
          </a:p>
          <a:p>
            <a:r>
              <a:rPr>
                <a:cs typeface="Times New Roman" panose="02020603050405020304" pitchFamily="18" charset="0"/>
              </a:rPr>
              <a:t>This, too, is an equivalence relation.</a:t>
            </a:r>
            <a:endParaRPr>
              <a:cs typeface="Times New Roman" panose="02020603050405020304" pitchFamily="18" charset="0"/>
            </a:endParaRPr>
          </a:p>
          <a:p>
            <a:r>
              <a:rPr>
                <a:cs typeface="Times New Roman" panose="02020603050405020304" pitchFamily="18" charset="0"/>
              </a:rPr>
              <a:t>Clearly, </a:t>
            </a:r>
            <a:r>
              <a:rPr i="1">
                <a:cs typeface="Times New Roman" panose="02020603050405020304" pitchFamily="18" charset="0"/>
              </a:rPr>
              <a:t>p</a:t>
            </a:r>
            <a:r>
              <a:rPr>
                <a:cs typeface="Times New Roman" panose="02020603050405020304" pitchFamily="18" charset="0"/>
              </a:rPr>
              <a:t> ≡</a:t>
            </a:r>
            <a:r>
              <a:rPr i="1" baseline="-30000">
                <a:cs typeface="Times New Roman" panose="02020603050405020304" pitchFamily="18" charset="0"/>
              </a:rPr>
              <a:t> </a:t>
            </a:r>
            <a:r>
              <a:rPr baseline="-30000">
                <a:cs typeface="Times New Roman" panose="02020603050405020304" pitchFamily="18" charset="0"/>
              </a:rPr>
              <a:t>0</a:t>
            </a:r>
            <a:r>
              <a:rPr>
                <a:cs typeface="Times New Roman" panose="02020603050405020304" pitchFamily="18" charset="0"/>
              </a:rPr>
              <a:t> </a:t>
            </a:r>
            <a:r>
              <a:rPr i="1">
                <a:cs typeface="Times New Roman" panose="02020603050405020304" pitchFamily="18" charset="0"/>
              </a:rPr>
              <a:t>q</a:t>
            </a:r>
            <a:r>
              <a:rPr>
                <a:cs typeface="Times New Roman" panose="02020603050405020304" pitchFamily="18" charset="0"/>
              </a:rPr>
              <a:t> if and only if </a:t>
            </a:r>
            <a:r>
              <a:rPr i="1">
                <a:cs typeface="Times New Roman" panose="02020603050405020304" pitchFamily="18" charset="0"/>
              </a:rPr>
              <a:t>p</a:t>
            </a:r>
            <a:r>
              <a:rPr>
                <a:cs typeface="Times New Roman" panose="02020603050405020304" pitchFamily="18" charset="0"/>
              </a:rPr>
              <a:t>, </a:t>
            </a:r>
            <a:r>
              <a:rPr i="1">
                <a:cs typeface="Times New Roman" panose="02020603050405020304" pitchFamily="18" charset="0"/>
              </a:rPr>
              <a:t>q</a:t>
            </a:r>
            <a:r>
              <a:rPr>
                <a:cs typeface="Times New Roman" panose="02020603050405020304" pitchFamily="18" charset="0"/>
              </a:rPr>
              <a:t> </a:t>
            </a:r>
            <a:r>
              <a:rPr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>
                <a:cs typeface="Times New Roman" panose="02020603050405020304" pitchFamily="18" charset="0"/>
              </a:rPr>
              <a:t> </a:t>
            </a:r>
            <a:r>
              <a:rPr i="1">
                <a:cs typeface="Times New Roman" panose="02020603050405020304" pitchFamily="18" charset="0"/>
              </a:rPr>
              <a:t>F</a:t>
            </a:r>
            <a:r>
              <a:rPr>
                <a:cs typeface="Times New Roman" panose="02020603050405020304" pitchFamily="18" charset="0"/>
              </a:rPr>
              <a:t> or </a:t>
            </a:r>
            <a:r>
              <a:rPr i="1">
                <a:cs typeface="Times New Roman" panose="02020603050405020304" pitchFamily="18" charset="0"/>
              </a:rPr>
              <a:t>p</a:t>
            </a:r>
            <a:r>
              <a:rPr>
                <a:cs typeface="Times New Roman" panose="02020603050405020304" pitchFamily="18" charset="0"/>
              </a:rPr>
              <a:t>, </a:t>
            </a:r>
            <a:r>
              <a:rPr i="1">
                <a:cs typeface="Times New Roman" panose="02020603050405020304" pitchFamily="18" charset="0"/>
              </a:rPr>
              <a:t>q</a:t>
            </a:r>
            <a:r>
              <a:rPr>
                <a:cs typeface="Times New Roman" panose="02020603050405020304" pitchFamily="18" charset="0"/>
              </a:rPr>
              <a:t> </a:t>
            </a:r>
            <a:r>
              <a:rPr>
                <a:cs typeface="Times New Roman" panose="02020603050405020304" pitchFamily="18" charset="0"/>
                <a:sym typeface="Symbol" panose="05050102010706020507" pitchFamily="18" charset="2"/>
              </a:rPr>
              <a:t> </a:t>
            </a:r>
            <a:r>
              <a:rPr i="1">
                <a:cs typeface="Times New Roman" panose="02020603050405020304" pitchFamily="18" charset="0"/>
              </a:rPr>
              <a:t>F</a:t>
            </a:r>
            <a:r>
              <a:rPr>
                <a:cs typeface="Times New Roman" panose="02020603050405020304" pitchFamily="18" charset="0"/>
              </a:rPr>
              <a:t>.</a:t>
            </a:r>
            <a:endParaRPr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itle 11265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t>Properties of </a:t>
            </a:r>
            <a:r>
              <a:rPr>
                <a:cs typeface="Times New Roman" panose="02020603050405020304" pitchFamily="18" charset="0"/>
              </a:rPr>
              <a:t>≡</a:t>
            </a:r>
            <a:r>
              <a:rPr i="1" baseline="-30000">
                <a:cs typeface="Times New Roman" panose="02020603050405020304" pitchFamily="18" charset="0"/>
              </a:rPr>
              <a:t>n</a:t>
            </a:r>
            <a:endParaRPr i="1" baseline="-30000">
              <a:ea typeface="Times New Roman" panose="02020603050405020304" pitchFamily="18" charset="0"/>
            </a:endParaRPr>
          </a:p>
        </p:txBody>
      </p:sp>
      <p:sp>
        <p:nvSpPr>
          <p:cNvPr id="11267" name="Text Placeholder 11266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p>
            <a:r>
              <a:rPr>
                <a:cs typeface="Times New Roman" panose="02020603050405020304" pitchFamily="18" charset="0"/>
              </a:rPr>
              <a:t>The following are obvious:</a:t>
            </a:r>
            <a:endParaRPr>
              <a:cs typeface="Times New Roman" panose="02020603050405020304" pitchFamily="18" charset="0"/>
            </a:endParaRPr>
          </a:p>
          <a:p>
            <a:pPr lvl="1"/>
            <a:r>
              <a:rPr>
                <a:cs typeface="Times New Roman" panose="02020603050405020304" pitchFamily="18" charset="0"/>
              </a:rPr>
              <a:t>For all </a:t>
            </a:r>
            <a:r>
              <a:rPr i="1">
                <a:cs typeface="Times New Roman" panose="02020603050405020304" pitchFamily="18" charset="0"/>
              </a:rPr>
              <a:t>n</a:t>
            </a:r>
            <a:r>
              <a:rPr>
                <a:cs typeface="Times New Roman" panose="02020603050405020304" pitchFamily="18" charset="0"/>
              </a:rPr>
              <a:t> </a:t>
            </a:r>
            <a:r>
              <a:rPr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>
                <a:cs typeface="Times New Roman" panose="02020603050405020304" pitchFamily="18" charset="0"/>
              </a:rPr>
              <a:t> 0, if </a:t>
            </a:r>
            <a:r>
              <a:rPr i="1">
                <a:cs typeface="Times New Roman" panose="02020603050405020304" pitchFamily="18" charset="0"/>
              </a:rPr>
              <a:t>p</a:t>
            </a:r>
            <a:r>
              <a:rPr>
                <a:cs typeface="Times New Roman" panose="02020603050405020304" pitchFamily="18" charset="0"/>
              </a:rPr>
              <a:t> ≡ </a:t>
            </a:r>
            <a:r>
              <a:rPr i="1">
                <a:cs typeface="Times New Roman" panose="02020603050405020304" pitchFamily="18" charset="0"/>
              </a:rPr>
              <a:t>q</a:t>
            </a:r>
            <a:r>
              <a:rPr>
                <a:cs typeface="Times New Roman" panose="02020603050405020304" pitchFamily="18" charset="0"/>
              </a:rPr>
              <a:t>, then </a:t>
            </a:r>
            <a:r>
              <a:rPr i="1">
                <a:cs typeface="Times New Roman" panose="02020603050405020304" pitchFamily="18" charset="0"/>
              </a:rPr>
              <a:t>p</a:t>
            </a:r>
            <a:r>
              <a:rPr>
                <a:cs typeface="Times New Roman" panose="02020603050405020304" pitchFamily="18" charset="0"/>
              </a:rPr>
              <a:t> ≡</a:t>
            </a:r>
            <a:r>
              <a:rPr i="1" baseline="-30000">
                <a:cs typeface="Times New Roman" panose="02020603050405020304" pitchFamily="18" charset="0"/>
              </a:rPr>
              <a:t>n</a:t>
            </a:r>
            <a:r>
              <a:rPr>
                <a:cs typeface="Times New Roman" panose="02020603050405020304" pitchFamily="18" charset="0"/>
              </a:rPr>
              <a:t> </a:t>
            </a:r>
            <a:r>
              <a:rPr i="1">
                <a:cs typeface="Times New Roman" panose="02020603050405020304" pitchFamily="18" charset="0"/>
              </a:rPr>
              <a:t>q</a:t>
            </a:r>
            <a:r>
              <a:rPr>
                <a:cs typeface="Times New Roman" panose="02020603050405020304" pitchFamily="18" charset="0"/>
              </a:rPr>
              <a:t>. </a:t>
            </a:r>
            <a:endParaRPr>
              <a:cs typeface="Times New Roman" panose="02020603050405020304" pitchFamily="18" charset="0"/>
            </a:endParaRPr>
          </a:p>
          <a:p>
            <a:pPr lvl="1"/>
            <a:r>
              <a:rPr>
                <a:cs typeface="Times New Roman" panose="02020603050405020304" pitchFamily="18" charset="0"/>
              </a:rPr>
              <a:t>For all </a:t>
            </a:r>
            <a:r>
              <a:rPr i="1">
                <a:cs typeface="Times New Roman" panose="02020603050405020304" pitchFamily="18" charset="0"/>
              </a:rPr>
              <a:t>n</a:t>
            </a:r>
            <a:r>
              <a:rPr>
                <a:cs typeface="Times New Roman" panose="02020603050405020304" pitchFamily="18" charset="0"/>
              </a:rPr>
              <a:t> </a:t>
            </a:r>
            <a:r>
              <a:rPr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>
                <a:cs typeface="Times New Roman" panose="02020603050405020304" pitchFamily="18" charset="0"/>
              </a:rPr>
              <a:t> 0, if </a:t>
            </a:r>
            <a:r>
              <a:rPr i="1">
                <a:cs typeface="Times New Roman" panose="02020603050405020304" pitchFamily="18" charset="0"/>
              </a:rPr>
              <a:t>p</a:t>
            </a:r>
            <a:r>
              <a:rPr>
                <a:cs typeface="Times New Roman" panose="02020603050405020304" pitchFamily="18" charset="0"/>
              </a:rPr>
              <a:t> ≡</a:t>
            </a:r>
            <a:r>
              <a:rPr i="1" baseline="-30000">
                <a:cs typeface="Times New Roman" panose="02020603050405020304" pitchFamily="18" charset="0"/>
              </a:rPr>
              <a:t>n</a:t>
            </a:r>
            <a:r>
              <a:rPr>
                <a:cs typeface="Times New Roman" panose="02020603050405020304" pitchFamily="18" charset="0"/>
              </a:rPr>
              <a:t> </a:t>
            </a:r>
            <a:r>
              <a:rPr i="1">
                <a:cs typeface="Times New Roman" panose="02020603050405020304" pitchFamily="18" charset="0"/>
              </a:rPr>
              <a:t>q</a:t>
            </a:r>
            <a:r>
              <a:rPr>
                <a:cs typeface="Times New Roman" panose="02020603050405020304" pitchFamily="18" charset="0"/>
              </a:rPr>
              <a:t> then </a:t>
            </a:r>
            <a:r>
              <a:rPr i="1">
                <a:cs typeface="Times New Roman" panose="02020603050405020304" pitchFamily="18" charset="0"/>
              </a:rPr>
              <a:t>p</a:t>
            </a:r>
            <a:r>
              <a:rPr>
                <a:cs typeface="Times New Roman" panose="02020603050405020304" pitchFamily="18" charset="0"/>
              </a:rPr>
              <a:t> ≡ </a:t>
            </a:r>
            <a:r>
              <a:rPr i="1">
                <a:cs typeface="Times New Roman" panose="02020603050405020304" pitchFamily="18" charset="0"/>
              </a:rPr>
              <a:t>q</a:t>
            </a:r>
            <a:r>
              <a:rPr>
                <a:cs typeface="Times New Roman" panose="02020603050405020304" pitchFamily="18" charset="0"/>
              </a:rPr>
              <a:t>.</a:t>
            </a:r>
            <a:endParaRPr>
              <a:cs typeface="Times New Roman" panose="02020603050405020304" pitchFamily="18" charset="0"/>
            </a:endParaRPr>
          </a:p>
          <a:p>
            <a:pPr lvl="1"/>
            <a:r>
              <a:rPr>
                <a:cs typeface="Times New Roman" panose="02020603050405020304" pitchFamily="18" charset="0"/>
              </a:rPr>
              <a:t>For all </a:t>
            </a:r>
            <a:r>
              <a:rPr i="1">
                <a:cs typeface="Times New Roman" panose="02020603050405020304" pitchFamily="18" charset="0"/>
              </a:rPr>
              <a:t>n</a:t>
            </a:r>
            <a:r>
              <a:rPr>
                <a:cs typeface="Times New Roman" panose="02020603050405020304" pitchFamily="18" charset="0"/>
              </a:rPr>
              <a:t> </a:t>
            </a:r>
            <a:r>
              <a:rPr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>
                <a:cs typeface="Times New Roman" panose="02020603050405020304" pitchFamily="18" charset="0"/>
              </a:rPr>
              <a:t> 1, if </a:t>
            </a:r>
            <a:r>
              <a:rPr i="1">
                <a:cs typeface="Times New Roman" panose="02020603050405020304" pitchFamily="18" charset="0"/>
              </a:rPr>
              <a:t>p</a:t>
            </a:r>
            <a:r>
              <a:rPr>
                <a:cs typeface="Times New Roman" panose="02020603050405020304" pitchFamily="18" charset="0"/>
              </a:rPr>
              <a:t> ≡</a:t>
            </a:r>
            <a:r>
              <a:rPr i="1" baseline="-30000">
                <a:cs typeface="Times New Roman" panose="02020603050405020304" pitchFamily="18" charset="0"/>
              </a:rPr>
              <a:t>n</a:t>
            </a:r>
            <a:r>
              <a:rPr>
                <a:cs typeface="Times New Roman" panose="02020603050405020304" pitchFamily="18" charset="0"/>
              </a:rPr>
              <a:t> </a:t>
            </a:r>
            <a:r>
              <a:rPr i="1">
                <a:cs typeface="Times New Roman" panose="02020603050405020304" pitchFamily="18" charset="0"/>
              </a:rPr>
              <a:t>q</a:t>
            </a:r>
            <a:r>
              <a:rPr>
                <a:cs typeface="Times New Roman" panose="02020603050405020304" pitchFamily="18" charset="0"/>
              </a:rPr>
              <a:t>, then </a:t>
            </a:r>
            <a:r>
              <a:rPr i="1">
                <a:cs typeface="Times New Roman" panose="02020603050405020304" pitchFamily="18" charset="0"/>
              </a:rPr>
              <a:t>p</a:t>
            </a:r>
            <a:r>
              <a:rPr>
                <a:cs typeface="Times New Roman" panose="02020603050405020304" pitchFamily="18" charset="0"/>
              </a:rPr>
              <a:t> ≡</a:t>
            </a:r>
            <a:r>
              <a:rPr i="1" baseline="-30000">
                <a:cs typeface="Times New Roman" panose="02020603050405020304" pitchFamily="18" charset="0"/>
              </a:rPr>
              <a:t>n</a:t>
            </a:r>
            <a:r>
              <a:rPr baseline="-30000">
                <a:cs typeface="Times New Roman" panose="02020603050405020304" pitchFamily="18" charset="0"/>
              </a:rPr>
              <a:t> – 1</a:t>
            </a:r>
            <a:r>
              <a:rPr>
                <a:cs typeface="Times New Roman" panose="02020603050405020304" pitchFamily="18" charset="0"/>
              </a:rPr>
              <a:t> </a:t>
            </a:r>
            <a:r>
              <a:rPr i="1">
                <a:cs typeface="Times New Roman" panose="02020603050405020304" pitchFamily="18" charset="0"/>
              </a:rPr>
              <a:t>q</a:t>
            </a:r>
            <a:r>
              <a:rPr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>
                <a:cs typeface="Times New Roman" panose="02020603050405020304" pitchFamily="18" charset="0"/>
              </a:rPr>
              <a:t>But it is not the case that if </a:t>
            </a:r>
            <a:r>
              <a:rPr i="1">
                <a:cs typeface="Times New Roman" panose="02020603050405020304" pitchFamily="18" charset="0"/>
              </a:rPr>
              <a:t>p</a:t>
            </a:r>
            <a:r>
              <a:rPr>
                <a:cs typeface="Times New Roman" panose="02020603050405020304" pitchFamily="18" charset="0"/>
              </a:rPr>
              <a:t> ≡</a:t>
            </a:r>
            <a:r>
              <a:rPr i="1" baseline="-30000">
                <a:cs typeface="Times New Roman" panose="02020603050405020304" pitchFamily="18" charset="0"/>
              </a:rPr>
              <a:t>n</a:t>
            </a:r>
            <a:r>
              <a:rPr baseline="-30000">
                <a:cs typeface="Times New Roman" panose="02020603050405020304" pitchFamily="18" charset="0"/>
              </a:rPr>
              <a:t> – 1</a:t>
            </a:r>
            <a:r>
              <a:rPr>
                <a:cs typeface="Times New Roman" panose="02020603050405020304" pitchFamily="18" charset="0"/>
              </a:rPr>
              <a:t> </a:t>
            </a:r>
            <a:r>
              <a:rPr i="1">
                <a:cs typeface="Times New Roman" panose="02020603050405020304" pitchFamily="18" charset="0"/>
              </a:rPr>
              <a:t>q</a:t>
            </a:r>
            <a:r>
              <a:rPr>
                <a:cs typeface="Times New Roman" panose="02020603050405020304" pitchFamily="18" charset="0"/>
              </a:rPr>
              <a:t>, then </a:t>
            </a:r>
            <a:r>
              <a:rPr i="1">
                <a:cs typeface="Times New Roman" panose="02020603050405020304" pitchFamily="18" charset="0"/>
              </a:rPr>
              <a:t>p</a:t>
            </a:r>
            <a:r>
              <a:rPr>
                <a:cs typeface="Times New Roman" panose="02020603050405020304" pitchFamily="18" charset="0"/>
              </a:rPr>
              <a:t> ≡</a:t>
            </a:r>
            <a:r>
              <a:rPr i="1" baseline="-30000">
                <a:cs typeface="Times New Roman" panose="02020603050405020304" pitchFamily="18" charset="0"/>
              </a:rPr>
              <a:t>n</a:t>
            </a:r>
            <a:r>
              <a:rPr>
                <a:cs typeface="Times New Roman" panose="02020603050405020304" pitchFamily="18" charset="0"/>
              </a:rPr>
              <a:t> </a:t>
            </a:r>
            <a:r>
              <a:rPr i="1">
                <a:cs typeface="Times New Roman" panose="02020603050405020304" pitchFamily="18" charset="0"/>
              </a:rPr>
              <a:t>q</a:t>
            </a:r>
            <a:r>
              <a:rPr>
                <a:cs typeface="Times New Roman" panose="02020603050405020304" pitchFamily="18" charset="0"/>
              </a:rPr>
              <a:t>.</a:t>
            </a:r>
            <a:endParaRPr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itle 12289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t>Another Property of </a:t>
            </a:r>
            <a:r>
              <a:rPr>
                <a:cs typeface="Times New Roman" panose="02020603050405020304" pitchFamily="18" charset="0"/>
              </a:rPr>
              <a:t>≡</a:t>
            </a:r>
            <a:r>
              <a:rPr i="1" baseline="-30000">
                <a:cs typeface="Times New Roman" panose="02020603050405020304" pitchFamily="18" charset="0"/>
              </a:rPr>
              <a:t>n</a:t>
            </a:r>
            <a:endParaRPr i="1" baseline="-30000">
              <a:ea typeface="Times New Roman" panose="02020603050405020304" pitchFamily="18" charset="0"/>
            </a:endParaRPr>
          </a:p>
        </p:txBody>
      </p:sp>
      <p:sp>
        <p:nvSpPr>
          <p:cNvPr id="12291" name="Text Placeholder 12290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p>
            <a:r>
              <a:rPr>
                <a:cs typeface="Times New Roman" panose="02020603050405020304" pitchFamily="18" charset="0"/>
              </a:rPr>
              <a:t>Theorem:  For any two states </a:t>
            </a:r>
            <a:r>
              <a:rPr i="1">
                <a:cs typeface="Times New Roman" panose="02020603050405020304" pitchFamily="18" charset="0"/>
              </a:rPr>
              <a:t>p</a:t>
            </a:r>
            <a:r>
              <a:rPr>
                <a:cs typeface="Times New Roman" panose="02020603050405020304" pitchFamily="18" charset="0"/>
              </a:rPr>
              <a:t> and </a:t>
            </a:r>
            <a:r>
              <a:rPr i="1">
                <a:cs typeface="Times New Roman" panose="02020603050405020304" pitchFamily="18" charset="0"/>
              </a:rPr>
              <a:t>q</a:t>
            </a:r>
            <a:r>
              <a:rPr>
                <a:cs typeface="Times New Roman" panose="02020603050405020304" pitchFamily="18" charset="0"/>
              </a:rPr>
              <a:t> and any </a:t>
            </a:r>
            <a:r>
              <a:rPr i="1">
                <a:cs typeface="Times New Roman" panose="02020603050405020304" pitchFamily="18" charset="0"/>
              </a:rPr>
              <a:t>n</a:t>
            </a:r>
            <a:r>
              <a:rPr>
                <a:cs typeface="Times New Roman" panose="02020603050405020304" pitchFamily="18" charset="0"/>
              </a:rPr>
              <a:t> </a:t>
            </a:r>
            <a:r>
              <a:rPr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>
                <a:cs typeface="Times New Roman" panose="02020603050405020304" pitchFamily="18" charset="0"/>
              </a:rPr>
              <a:t> 1,  </a:t>
            </a:r>
            <a:r>
              <a:rPr i="1">
                <a:cs typeface="Times New Roman" panose="02020603050405020304" pitchFamily="18" charset="0"/>
              </a:rPr>
              <a:t>p</a:t>
            </a:r>
            <a:r>
              <a:rPr>
                <a:cs typeface="Times New Roman" panose="02020603050405020304" pitchFamily="18" charset="0"/>
              </a:rPr>
              <a:t> ≡</a:t>
            </a:r>
            <a:r>
              <a:rPr i="1" baseline="-30000">
                <a:cs typeface="Times New Roman" panose="02020603050405020304" pitchFamily="18" charset="0"/>
              </a:rPr>
              <a:t>n</a:t>
            </a:r>
            <a:r>
              <a:rPr>
                <a:cs typeface="Times New Roman" panose="02020603050405020304" pitchFamily="18" charset="0"/>
              </a:rPr>
              <a:t> </a:t>
            </a:r>
            <a:r>
              <a:rPr i="1">
                <a:cs typeface="Times New Roman" panose="02020603050405020304" pitchFamily="18" charset="0"/>
              </a:rPr>
              <a:t>q</a:t>
            </a:r>
            <a:r>
              <a:rPr>
                <a:cs typeface="Times New Roman" panose="02020603050405020304" pitchFamily="18" charset="0"/>
              </a:rPr>
              <a:t> if and only if</a:t>
            </a:r>
            <a:endParaRPr>
              <a:cs typeface="Times New Roman" panose="02020603050405020304" pitchFamily="18" charset="0"/>
            </a:endParaRPr>
          </a:p>
          <a:p>
            <a:pPr lvl="1"/>
            <a:r>
              <a:rPr i="1">
                <a:cs typeface="Times New Roman" panose="02020603050405020304" pitchFamily="18" charset="0"/>
              </a:rPr>
              <a:t>p</a:t>
            </a:r>
            <a:r>
              <a:rPr>
                <a:cs typeface="Times New Roman" panose="02020603050405020304" pitchFamily="18" charset="0"/>
              </a:rPr>
              <a:t> ≡</a:t>
            </a:r>
            <a:r>
              <a:rPr i="1" baseline="-30000">
                <a:cs typeface="Times New Roman" panose="02020603050405020304" pitchFamily="18" charset="0"/>
              </a:rPr>
              <a:t>n</a:t>
            </a:r>
            <a:r>
              <a:rPr baseline="-30000">
                <a:cs typeface="Times New Roman" panose="02020603050405020304" pitchFamily="18" charset="0"/>
              </a:rPr>
              <a:t> – 1</a:t>
            </a:r>
            <a:r>
              <a:rPr>
                <a:cs typeface="Times New Roman" panose="02020603050405020304" pitchFamily="18" charset="0"/>
              </a:rPr>
              <a:t> </a:t>
            </a:r>
            <a:r>
              <a:rPr i="1">
                <a:cs typeface="Times New Roman" panose="02020603050405020304" pitchFamily="18" charset="0"/>
              </a:rPr>
              <a:t>q</a:t>
            </a:r>
            <a:r>
              <a:rPr>
                <a:cs typeface="Times New Roman" panose="02020603050405020304" pitchFamily="18" charset="0"/>
              </a:rPr>
              <a:t>, and</a:t>
            </a:r>
            <a:endParaRPr>
              <a:cs typeface="Times New Roman" panose="02020603050405020304" pitchFamily="18" charset="0"/>
            </a:endParaRPr>
          </a:p>
          <a:p>
            <a:pPr lvl="1"/>
            <a:r>
              <a:rPr>
                <a:cs typeface="Times New Roman" panose="02020603050405020304" pitchFamily="18" charset="0"/>
              </a:rPr>
              <a:t>for all </a:t>
            </a:r>
            <a:r>
              <a:rPr i="1">
                <a:cs typeface="Times New Roman" panose="02020603050405020304" pitchFamily="18" charset="0"/>
              </a:rPr>
              <a:t>a</a:t>
            </a:r>
            <a:r>
              <a:rPr>
                <a:cs typeface="Times New Roman" panose="02020603050405020304" pitchFamily="18" charset="0"/>
              </a:rPr>
              <a:t> </a:t>
            </a:r>
            <a:r>
              <a:rPr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>
                <a:cs typeface="Times New Roman" panose="02020603050405020304" pitchFamily="18" charset="0"/>
              </a:rPr>
              <a:t> Σ, </a:t>
            </a:r>
            <a:r>
              <a:rPr err="1">
                <a:cs typeface="Times New Roman" panose="02020603050405020304" pitchFamily="18" charset="0"/>
              </a:rPr>
              <a:t>δ(</a:t>
            </a:r>
            <a:r>
              <a:rPr i="1" err="1">
                <a:cs typeface="Times New Roman" panose="02020603050405020304" pitchFamily="18" charset="0"/>
              </a:rPr>
              <a:t>p</a:t>
            </a:r>
            <a:r>
              <a:rPr>
                <a:cs typeface="Times New Roman" panose="02020603050405020304" pitchFamily="18" charset="0"/>
              </a:rPr>
              <a:t>, </a:t>
            </a:r>
            <a:r>
              <a:rPr i="1">
                <a:cs typeface="Times New Roman" panose="02020603050405020304" pitchFamily="18" charset="0"/>
              </a:rPr>
              <a:t>a</a:t>
            </a:r>
            <a:r>
              <a:rPr>
                <a:cs typeface="Times New Roman" panose="02020603050405020304" pitchFamily="18" charset="0"/>
              </a:rPr>
              <a:t>) ≡</a:t>
            </a:r>
            <a:r>
              <a:rPr i="1" baseline="-30000">
                <a:cs typeface="Times New Roman" panose="02020603050405020304" pitchFamily="18" charset="0"/>
              </a:rPr>
              <a:t>n</a:t>
            </a:r>
            <a:r>
              <a:rPr baseline="-30000">
                <a:cs typeface="Times New Roman" panose="02020603050405020304" pitchFamily="18" charset="0"/>
              </a:rPr>
              <a:t> – 1</a:t>
            </a:r>
            <a:r>
              <a:rPr>
                <a:cs typeface="Times New Roman" panose="02020603050405020304" pitchFamily="18" charset="0"/>
              </a:rPr>
              <a:t> </a:t>
            </a:r>
            <a:r>
              <a:rPr err="1">
                <a:cs typeface="Times New Roman" panose="02020603050405020304" pitchFamily="18" charset="0"/>
              </a:rPr>
              <a:t>δ(</a:t>
            </a:r>
            <a:r>
              <a:rPr i="1" err="1">
                <a:cs typeface="Times New Roman" panose="02020603050405020304" pitchFamily="18" charset="0"/>
              </a:rPr>
              <a:t>q</a:t>
            </a:r>
            <a:r>
              <a:rPr>
                <a:cs typeface="Times New Roman" panose="02020603050405020304" pitchFamily="18" charset="0"/>
              </a:rPr>
              <a:t>, </a:t>
            </a:r>
            <a:r>
              <a:rPr i="1">
                <a:cs typeface="Times New Roman" panose="02020603050405020304" pitchFamily="18" charset="0"/>
              </a:rPr>
              <a:t>a</a:t>
            </a:r>
            <a:r>
              <a:rPr>
                <a:cs typeface="Times New Roman" panose="02020603050405020304" pitchFamily="18" charset="0"/>
              </a:rPr>
              <a:t>).</a:t>
            </a:r>
            <a:endParaRPr>
              <a:cs typeface="Times New Roman" panose="02020603050405020304" pitchFamily="18" charset="0"/>
            </a:endParaRPr>
          </a:p>
          <a:p>
            <a:r>
              <a:rPr>
                <a:cs typeface="Times New Roman" panose="02020603050405020304" pitchFamily="18" charset="0"/>
              </a:rPr>
              <a:t>This theorem characterizes the relation ≡</a:t>
            </a:r>
            <a:r>
              <a:rPr i="1" baseline="-30000">
                <a:cs typeface="Times New Roman" panose="02020603050405020304" pitchFamily="18" charset="0"/>
              </a:rPr>
              <a:t>n</a:t>
            </a:r>
            <a:r>
              <a:rPr>
                <a:cs typeface="Times New Roman" panose="02020603050405020304" pitchFamily="18" charset="0"/>
              </a:rPr>
              <a:t> entirely in terms of the relation ≡</a:t>
            </a:r>
            <a:r>
              <a:rPr i="1" baseline="-30000">
                <a:cs typeface="Times New Roman" panose="02020603050405020304" pitchFamily="18" charset="0"/>
              </a:rPr>
              <a:t>n</a:t>
            </a:r>
            <a:r>
              <a:rPr baseline="-30000">
                <a:cs typeface="Times New Roman" panose="02020603050405020304" pitchFamily="18" charset="0"/>
              </a:rPr>
              <a:t> – 1</a:t>
            </a:r>
            <a:r>
              <a:rPr>
                <a:cs typeface="Times New Roman" panose="02020603050405020304" pitchFamily="18" charset="0"/>
              </a:rPr>
              <a:t> and the function </a:t>
            </a:r>
            <a:r>
              <a:rPr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>
                <a:cs typeface="Times New Roman" panose="02020603050405020304" pitchFamily="18" charset="0"/>
              </a:rPr>
              <a:t>.</a:t>
            </a:r>
            <a:endParaRPr>
              <a:cs typeface="Times New Roman" panose="02020603050405020304" pitchFamily="18" charset="0"/>
            </a:endParaRPr>
          </a:p>
          <a:p>
            <a:r>
              <a:rPr>
                <a:cs typeface="Times New Roman" panose="02020603050405020304" pitchFamily="18" charset="0"/>
              </a:rPr>
              <a:t>It leads to an algorithm to determine which states are indistinguishable.</a:t>
            </a:r>
            <a:endParaRPr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itle 13313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t>The Minimization Algorithm</a:t>
            </a:r>
          </a:p>
        </p:txBody>
      </p:sp>
      <p:sp>
        <p:nvSpPr>
          <p:cNvPr id="13315" name="Text Placeholder 13314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p>
            <a:r>
              <a:rPr>
                <a:cs typeface="Times New Roman" panose="02020603050405020304" pitchFamily="18" charset="0"/>
              </a:rPr>
              <a:t>Initialize the equivalence classes for ≡</a:t>
            </a:r>
            <a:r>
              <a:rPr baseline="-30000">
                <a:cs typeface="Times New Roman" panose="02020603050405020304" pitchFamily="18" charset="0"/>
              </a:rPr>
              <a:t>0</a:t>
            </a:r>
            <a:r>
              <a:rPr>
                <a:cs typeface="Times New Roman" panose="02020603050405020304" pitchFamily="18" charset="0"/>
              </a:rPr>
              <a:t> as </a:t>
            </a:r>
            <a:r>
              <a:rPr i="1">
                <a:cs typeface="Times New Roman" panose="02020603050405020304" pitchFamily="18" charset="0"/>
              </a:rPr>
              <a:t>F</a:t>
            </a:r>
            <a:r>
              <a:rPr>
                <a:cs typeface="Times New Roman" panose="02020603050405020304" pitchFamily="18" charset="0"/>
              </a:rPr>
              <a:t> and </a:t>
            </a:r>
            <a:r>
              <a:rPr i="1">
                <a:cs typeface="Times New Roman" panose="02020603050405020304" pitchFamily="18" charset="0"/>
              </a:rPr>
              <a:t>K</a:t>
            </a:r>
            <a:r>
              <a:rPr>
                <a:cs typeface="Times New Roman" panose="02020603050405020304" pitchFamily="18" charset="0"/>
              </a:rPr>
              <a:t> – </a:t>
            </a:r>
            <a:r>
              <a:rPr i="1">
                <a:cs typeface="Times New Roman" panose="02020603050405020304" pitchFamily="18" charset="0"/>
              </a:rPr>
              <a:t>F</a:t>
            </a:r>
            <a:r>
              <a:rPr>
                <a:cs typeface="Times New Roman" panose="02020603050405020304" pitchFamily="18" charset="0"/>
              </a:rPr>
              <a:t>.</a:t>
            </a:r>
            <a:endParaRPr>
              <a:cs typeface="Times New Roman" panose="02020603050405020304" pitchFamily="18" charset="0"/>
            </a:endParaRPr>
          </a:p>
          <a:p>
            <a:r>
              <a:rPr>
                <a:cs typeface="Times New Roman" panose="02020603050405020304" pitchFamily="18" charset="0"/>
              </a:rPr>
              <a:t>For </a:t>
            </a:r>
            <a:r>
              <a:rPr i="1">
                <a:cs typeface="Times New Roman" panose="02020603050405020304" pitchFamily="18" charset="0"/>
              </a:rPr>
              <a:t>n</a:t>
            </a:r>
            <a:r>
              <a:rPr>
                <a:cs typeface="Times New Roman" panose="02020603050405020304" pitchFamily="18" charset="0"/>
              </a:rPr>
              <a:t> = 0, 1, 2, …, compute the equivalence classes of ≡</a:t>
            </a:r>
            <a:r>
              <a:rPr i="1" baseline="-30000">
                <a:cs typeface="Times New Roman" panose="02020603050405020304" pitchFamily="18" charset="0"/>
              </a:rPr>
              <a:t>n</a:t>
            </a:r>
            <a:r>
              <a:rPr>
                <a:cs typeface="Times New Roman" panose="02020603050405020304" pitchFamily="18" charset="0"/>
              </a:rPr>
              <a:t> from ≡</a:t>
            </a:r>
            <a:r>
              <a:rPr i="1" baseline="-30000">
                <a:cs typeface="Times New Roman" panose="02020603050405020304" pitchFamily="18" charset="0"/>
              </a:rPr>
              <a:t>n</a:t>
            </a:r>
            <a:r>
              <a:rPr baseline="-30000">
                <a:cs typeface="Times New Roman" panose="02020603050405020304" pitchFamily="18" charset="0"/>
              </a:rPr>
              <a:t> – 1 </a:t>
            </a:r>
            <a:r>
              <a:rPr>
                <a:cs typeface="Times New Roman" panose="02020603050405020304" pitchFamily="18" charset="0"/>
              </a:rPr>
              <a:t>and </a:t>
            </a:r>
            <a:r>
              <a:rPr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>
                <a:cs typeface="Times New Roman" panose="02020603050405020304" pitchFamily="18" charset="0"/>
              </a:rPr>
              <a:t>, as described in the previous theorem.</a:t>
            </a:r>
            <a:endParaRPr>
              <a:cs typeface="Times New Roman" panose="02020603050405020304" pitchFamily="18" charset="0"/>
            </a:endParaRPr>
          </a:p>
          <a:p>
            <a:r>
              <a:rPr>
                <a:cs typeface="Times New Roman" panose="02020603050405020304" pitchFamily="18" charset="0"/>
              </a:rPr>
              <a:t>Repeat this until, for some </a:t>
            </a:r>
            <a:r>
              <a:rPr i="1">
                <a:cs typeface="Times New Roman" panose="02020603050405020304" pitchFamily="18" charset="0"/>
              </a:rPr>
              <a:t>n</a:t>
            </a:r>
            <a:r>
              <a:rPr>
                <a:cs typeface="Times New Roman" panose="02020603050405020304" pitchFamily="18" charset="0"/>
              </a:rPr>
              <a:t>, the classes of ≡</a:t>
            </a:r>
            <a:r>
              <a:rPr i="1" baseline="-30000">
                <a:cs typeface="Times New Roman" panose="02020603050405020304" pitchFamily="18" charset="0"/>
              </a:rPr>
              <a:t>n</a:t>
            </a:r>
            <a:r>
              <a:rPr>
                <a:cs typeface="Times New Roman" panose="02020603050405020304" pitchFamily="18" charset="0"/>
              </a:rPr>
              <a:t> are the same as the classes of ≡</a:t>
            </a:r>
            <a:r>
              <a:rPr i="1" baseline="-30000">
                <a:cs typeface="Times New Roman" panose="02020603050405020304" pitchFamily="18" charset="0"/>
              </a:rPr>
              <a:t>n</a:t>
            </a:r>
            <a:r>
              <a:rPr baseline="-30000">
                <a:cs typeface="Times New Roman" panose="02020603050405020304" pitchFamily="18" charset="0"/>
              </a:rPr>
              <a:t> – 1</a:t>
            </a:r>
            <a:r>
              <a:rPr>
                <a:cs typeface="Times New Roman" panose="02020603050405020304" pitchFamily="18" charset="0"/>
              </a:rPr>
              <a:t>.</a:t>
            </a:r>
            <a:endParaRPr>
              <a:cs typeface="Times New Roman" panose="02020603050405020304" pitchFamily="18" charset="0"/>
            </a:endParaRPr>
          </a:p>
          <a:p>
            <a:r>
              <a:rPr>
                <a:cs typeface="Times New Roman" panose="02020603050405020304" pitchFamily="18" charset="0"/>
              </a:rPr>
              <a:t>This must eventually happen.</a:t>
            </a:r>
            <a:endParaRPr>
              <a:cs typeface="Times New Roman" panose="02020603050405020304" pitchFamily="18" charset="0"/>
            </a:endParaRPr>
          </a:p>
          <a:p>
            <a:r>
              <a:rPr>
                <a:cs typeface="Times New Roman" panose="02020603050405020304" pitchFamily="18" charset="0"/>
              </a:rPr>
              <a:t>Why?</a:t>
            </a:r>
            <a:endParaRPr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Title 14337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t>The Minimization Algorithm</a:t>
            </a:r>
          </a:p>
        </p:txBody>
      </p:sp>
      <p:sp>
        <p:nvSpPr>
          <p:cNvPr id="14339" name="Text Placeholder 14338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p>
            <a:r>
              <a:t>At that point, the equivalence classes of </a:t>
            </a:r>
            <a:r>
              <a:rPr>
                <a:cs typeface="Times New Roman" panose="02020603050405020304" pitchFamily="18" charset="0"/>
              </a:rPr>
              <a:t>≡</a:t>
            </a:r>
            <a:r>
              <a:rPr i="1" baseline="-30000">
                <a:cs typeface="Times New Roman" panose="02020603050405020304" pitchFamily="18" charset="0"/>
              </a:rPr>
              <a:t>n</a:t>
            </a:r>
            <a:r>
              <a:rPr>
                <a:cs typeface="Times New Roman" panose="02020603050405020304" pitchFamily="18" charset="0"/>
              </a:rPr>
              <a:t> </a:t>
            </a:r>
            <a:r>
              <a:t>are the equivalence classes of </a:t>
            </a:r>
            <a:r>
              <a:rPr>
                <a:cs typeface="Times New Roman" panose="02020603050405020304" pitchFamily="18" charset="0"/>
              </a:rPr>
              <a:t>≡</a:t>
            </a:r>
            <a:r>
              <a:t>.</a:t>
            </a:r>
          </a:p>
          <a:p>
            <a:r>
              <a:t>Why?</a:t>
            </a:r>
          </a:p>
          <a:p>
            <a:r>
              <a:t>Replace each equivalence class of states under </a:t>
            </a:r>
            <a:r>
              <a:rPr>
                <a:cs typeface="Times New Roman" panose="02020603050405020304" pitchFamily="18" charset="0"/>
              </a:rPr>
              <a:t>≡</a:t>
            </a:r>
            <a:r>
              <a:t> by a single state.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itle 15361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t>Example of Minimization</a:t>
            </a:r>
          </a:p>
        </p:txBody>
      </p:sp>
      <p:sp>
        <p:nvSpPr>
          <p:cNvPr id="15363" name="Text Placeholder 1536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762000"/>
          </a:xfrm>
          <a:ln/>
        </p:spPr>
        <p:txBody>
          <a:bodyPr/>
          <a:p>
            <a:r>
              <a:t>Minimize the following DFA.</a:t>
            </a:r>
          </a:p>
        </p:txBody>
      </p:sp>
      <p:grpSp>
        <p:nvGrpSpPr>
          <p:cNvPr id="15364" name="Group 15363"/>
          <p:cNvGrpSpPr/>
          <p:nvPr/>
        </p:nvGrpSpPr>
        <p:grpSpPr>
          <a:xfrm>
            <a:off x="914400" y="2438400"/>
            <a:ext cx="7239000" cy="3262313"/>
            <a:chOff x="624" y="1737"/>
            <a:chExt cx="4560" cy="2055"/>
          </a:xfrm>
        </p:grpSpPr>
        <p:sp>
          <p:nvSpPr>
            <p:cNvPr id="15365" name="Oval 15364"/>
            <p:cNvSpPr/>
            <p:nvPr/>
          </p:nvSpPr>
          <p:spPr>
            <a:xfrm>
              <a:off x="816" y="2592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1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15366" name="Oval 15365"/>
            <p:cNvSpPr/>
            <p:nvPr/>
          </p:nvSpPr>
          <p:spPr>
            <a:xfrm>
              <a:off x="4512" y="312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en-US"/>
            </a:p>
          </p:txBody>
        </p:sp>
        <p:sp>
          <p:nvSpPr>
            <p:cNvPr id="15367" name="Oval 15366"/>
            <p:cNvSpPr/>
            <p:nvPr/>
          </p:nvSpPr>
          <p:spPr>
            <a:xfrm>
              <a:off x="3264" y="312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9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15368" name="Oval 15367"/>
            <p:cNvSpPr/>
            <p:nvPr/>
          </p:nvSpPr>
          <p:spPr>
            <a:xfrm>
              <a:off x="2448" y="312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8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15369" name="Oval 15368"/>
            <p:cNvSpPr/>
            <p:nvPr/>
          </p:nvSpPr>
          <p:spPr>
            <a:xfrm>
              <a:off x="1632" y="312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7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15370" name="Oval 15369"/>
            <p:cNvSpPr/>
            <p:nvPr/>
          </p:nvSpPr>
          <p:spPr>
            <a:xfrm>
              <a:off x="4896" y="206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6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15371" name="Oval 15370"/>
            <p:cNvSpPr/>
            <p:nvPr/>
          </p:nvSpPr>
          <p:spPr>
            <a:xfrm>
              <a:off x="4080" y="206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5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15372" name="Oval 15371"/>
            <p:cNvSpPr/>
            <p:nvPr/>
          </p:nvSpPr>
          <p:spPr>
            <a:xfrm>
              <a:off x="3264" y="206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4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15373" name="Oval 15372"/>
            <p:cNvSpPr/>
            <p:nvPr/>
          </p:nvSpPr>
          <p:spPr>
            <a:xfrm>
              <a:off x="2448" y="206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3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15374" name="Oval 15373"/>
            <p:cNvSpPr/>
            <p:nvPr/>
          </p:nvSpPr>
          <p:spPr>
            <a:xfrm>
              <a:off x="1632" y="206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2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15375" name="Straight Connector 15374"/>
            <p:cNvSpPr/>
            <p:nvPr/>
          </p:nvSpPr>
          <p:spPr>
            <a:xfrm>
              <a:off x="624" y="2736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5376" name="Straight Connector 15375"/>
            <p:cNvSpPr/>
            <p:nvPr/>
          </p:nvSpPr>
          <p:spPr>
            <a:xfrm flipV="1">
              <a:off x="1056" y="2304"/>
              <a:ext cx="576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5377" name="Straight Connector 15376"/>
            <p:cNvSpPr/>
            <p:nvPr/>
          </p:nvSpPr>
          <p:spPr>
            <a:xfrm>
              <a:off x="1104" y="2832"/>
              <a:ext cx="528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5378" name="Straight Connector 15377"/>
            <p:cNvSpPr/>
            <p:nvPr/>
          </p:nvSpPr>
          <p:spPr>
            <a:xfrm>
              <a:off x="1920" y="2208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5379" name="Straight Connector 15378"/>
            <p:cNvSpPr/>
            <p:nvPr/>
          </p:nvSpPr>
          <p:spPr>
            <a:xfrm flipH="1">
              <a:off x="2736" y="2208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5380" name="Straight Connector 15379"/>
            <p:cNvSpPr/>
            <p:nvPr/>
          </p:nvSpPr>
          <p:spPr>
            <a:xfrm>
              <a:off x="3552" y="2208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5381" name="Straight Connector 15380"/>
            <p:cNvSpPr/>
            <p:nvPr/>
          </p:nvSpPr>
          <p:spPr>
            <a:xfrm flipV="1">
              <a:off x="1776" y="2352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5382" name="Straight Connector 15381"/>
            <p:cNvSpPr/>
            <p:nvPr/>
          </p:nvSpPr>
          <p:spPr>
            <a:xfrm>
              <a:off x="2592" y="2352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5383" name="Straight Connector 15382"/>
            <p:cNvSpPr/>
            <p:nvPr/>
          </p:nvSpPr>
          <p:spPr>
            <a:xfrm flipH="1">
              <a:off x="1920" y="3264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5384" name="Straight Connector 15383"/>
            <p:cNvSpPr/>
            <p:nvPr/>
          </p:nvSpPr>
          <p:spPr>
            <a:xfrm flipV="1">
              <a:off x="2688" y="2304"/>
              <a:ext cx="1440" cy="8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5385" name="Straight Connector 15384"/>
            <p:cNvSpPr/>
            <p:nvPr/>
          </p:nvSpPr>
          <p:spPr>
            <a:xfrm>
              <a:off x="2688" y="2304"/>
              <a:ext cx="624" cy="8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5386" name="Straight Connector 15385"/>
            <p:cNvSpPr/>
            <p:nvPr/>
          </p:nvSpPr>
          <p:spPr>
            <a:xfrm>
              <a:off x="4272" y="2352"/>
              <a:ext cx="288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5387" name="Straight Connector 15386"/>
            <p:cNvSpPr/>
            <p:nvPr/>
          </p:nvSpPr>
          <p:spPr>
            <a:xfrm flipH="1">
              <a:off x="4704" y="2352"/>
              <a:ext cx="24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5388" name="Straight Connector 15387"/>
            <p:cNvSpPr/>
            <p:nvPr/>
          </p:nvSpPr>
          <p:spPr>
            <a:xfrm flipV="1">
              <a:off x="4944" y="1968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5389" name="Straight Connector 15388"/>
            <p:cNvSpPr/>
            <p:nvPr/>
          </p:nvSpPr>
          <p:spPr>
            <a:xfrm flipH="1">
              <a:off x="2592" y="1968"/>
              <a:ext cx="23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5390" name="Straight Connector 15389"/>
            <p:cNvSpPr/>
            <p:nvPr/>
          </p:nvSpPr>
          <p:spPr>
            <a:xfrm flipV="1">
              <a:off x="1776" y="182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5391" name="Straight Connector 15390"/>
            <p:cNvSpPr/>
            <p:nvPr/>
          </p:nvSpPr>
          <p:spPr>
            <a:xfrm>
              <a:off x="1776" y="1824"/>
              <a:ext cx="33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5392" name="Straight Connector 15391"/>
            <p:cNvSpPr/>
            <p:nvPr/>
          </p:nvSpPr>
          <p:spPr>
            <a:xfrm>
              <a:off x="2592" y="1968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5393" name="Straight Connector 15392"/>
            <p:cNvSpPr/>
            <p:nvPr/>
          </p:nvSpPr>
          <p:spPr>
            <a:xfrm>
              <a:off x="5136" y="182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5394" name="Straight Connector 15393"/>
            <p:cNvSpPr/>
            <p:nvPr/>
          </p:nvSpPr>
          <p:spPr>
            <a:xfrm flipV="1">
              <a:off x="1824" y="3408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5395" name="Straight Connector 15394"/>
            <p:cNvSpPr/>
            <p:nvPr/>
          </p:nvSpPr>
          <p:spPr>
            <a:xfrm>
              <a:off x="1824" y="3504"/>
              <a:ext cx="15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5396" name="Straight Connector 15395"/>
            <p:cNvSpPr/>
            <p:nvPr/>
          </p:nvSpPr>
          <p:spPr>
            <a:xfrm flipV="1">
              <a:off x="3408" y="3408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5397" name="Straight Connector 15396"/>
            <p:cNvSpPr/>
            <p:nvPr/>
          </p:nvSpPr>
          <p:spPr>
            <a:xfrm>
              <a:off x="4224" y="2352"/>
              <a:ext cx="0" cy="12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5398" name="Straight Connector 15397"/>
            <p:cNvSpPr/>
            <p:nvPr/>
          </p:nvSpPr>
          <p:spPr>
            <a:xfrm flipH="1">
              <a:off x="1680" y="3648"/>
              <a:ext cx="25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5399" name="Straight Connector 15398"/>
            <p:cNvSpPr/>
            <p:nvPr/>
          </p:nvSpPr>
          <p:spPr>
            <a:xfrm flipV="1">
              <a:off x="1680" y="340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5400" name="Oval 15399"/>
            <p:cNvSpPr/>
            <p:nvPr/>
          </p:nvSpPr>
          <p:spPr>
            <a:xfrm>
              <a:off x="4560" y="3168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10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15401" name="Text Box 15400"/>
            <p:cNvSpPr txBox="1"/>
            <p:nvPr/>
          </p:nvSpPr>
          <p:spPr>
            <a:xfrm>
              <a:off x="1103" y="229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15402" name="Text Box 15401"/>
            <p:cNvSpPr txBox="1"/>
            <p:nvPr/>
          </p:nvSpPr>
          <p:spPr>
            <a:xfrm>
              <a:off x="1100" y="292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15403" name="Text Box 15402"/>
            <p:cNvSpPr txBox="1"/>
            <p:nvPr/>
          </p:nvSpPr>
          <p:spPr>
            <a:xfrm>
              <a:off x="1580" y="1737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15404" name="Text Box 15403"/>
            <p:cNvSpPr txBox="1"/>
            <p:nvPr/>
          </p:nvSpPr>
          <p:spPr>
            <a:xfrm>
              <a:off x="2014" y="195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15405" name="Text Box 15404"/>
            <p:cNvSpPr txBox="1"/>
            <p:nvPr/>
          </p:nvSpPr>
          <p:spPr>
            <a:xfrm>
              <a:off x="2396" y="2361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15406" name="Text Box 15405"/>
            <p:cNvSpPr txBox="1"/>
            <p:nvPr/>
          </p:nvSpPr>
          <p:spPr>
            <a:xfrm>
              <a:off x="2936" y="2335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15407" name="Text Box 15406"/>
            <p:cNvSpPr txBox="1"/>
            <p:nvPr/>
          </p:nvSpPr>
          <p:spPr>
            <a:xfrm>
              <a:off x="2974" y="1977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15408" name="Text Box 15407"/>
            <p:cNvSpPr txBox="1"/>
            <p:nvPr/>
          </p:nvSpPr>
          <p:spPr>
            <a:xfrm>
              <a:off x="3600" y="196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15409" name="Text Box 15408"/>
            <p:cNvSpPr txBox="1"/>
            <p:nvPr/>
          </p:nvSpPr>
          <p:spPr>
            <a:xfrm>
              <a:off x="4320" y="230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15410" name="Text Box 15409"/>
            <p:cNvSpPr txBox="1"/>
            <p:nvPr/>
          </p:nvSpPr>
          <p:spPr>
            <a:xfrm>
              <a:off x="4028" y="243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15411" name="Text Box 15410"/>
            <p:cNvSpPr txBox="1"/>
            <p:nvPr/>
          </p:nvSpPr>
          <p:spPr>
            <a:xfrm>
              <a:off x="4700" y="195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15412" name="Text Box 15411"/>
            <p:cNvSpPr txBox="1"/>
            <p:nvPr/>
          </p:nvSpPr>
          <p:spPr>
            <a:xfrm>
              <a:off x="4892" y="2361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15413" name="Text Box 15412"/>
            <p:cNvSpPr txBox="1"/>
            <p:nvPr/>
          </p:nvSpPr>
          <p:spPr>
            <a:xfrm>
              <a:off x="1583" y="2745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15414" name="Text Box 15413"/>
            <p:cNvSpPr txBox="1"/>
            <p:nvPr/>
          </p:nvSpPr>
          <p:spPr>
            <a:xfrm>
              <a:off x="1916" y="326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15415" name="Text Box 15414"/>
            <p:cNvSpPr txBox="1"/>
            <p:nvPr/>
          </p:nvSpPr>
          <p:spPr>
            <a:xfrm>
              <a:off x="2160" y="301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15416" name="Text Box 15415"/>
            <p:cNvSpPr txBox="1"/>
            <p:nvPr/>
          </p:nvSpPr>
          <p:spPr>
            <a:xfrm>
              <a:off x="2688" y="2870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15417" name="Straight Connector 15416"/>
            <p:cNvSpPr/>
            <p:nvPr/>
          </p:nvSpPr>
          <p:spPr>
            <a:xfrm>
              <a:off x="3552" y="3264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5418" name="Text Box 15417"/>
            <p:cNvSpPr txBox="1"/>
            <p:nvPr/>
          </p:nvSpPr>
          <p:spPr>
            <a:xfrm>
              <a:off x="3600" y="302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15419" name="Straight Connector 15418"/>
            <p:cNvSpPr/>
            <p:nvPr/>
          </p:nvSpPr>
          <p:spPr>
            <a:xfrm flipH="1" flipV="1">
              <a:off x="3408" y="2352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5420" name="Text Box 15419"/>
            <p:cNvSpPr txBox="1"/>
            <p:nvPr/>
          </p:nvSpPr>
          <p:spPr>
            <a:xfrm>
              <a:off x="3408" y="283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15421" name="Straight Connector 15420"/>
            <p:cNvSpPr/>
            <p:nvPr/>
          </p:nvSpPr>
          <p:spPr>
            <a:xfrm>
              <a:off x="4656" y="3408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5422" name="Straight Connector 15421"/>
            <p:cNvSpPr/>
            <p:nvPr/>
          </p:nvSpPr>
          <p:spPr>
            <a:xfrm>
              <a:off x="4656" y="3552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5423" name="Straight Connector 15422"/>
            <p:cNvSpPr/>
            <p:nvPr/>
          </p:nvSpPr>
          <p:spPr>
            <a:xfrm flipV="1">
              <a:off x="4992" y="326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5424" name="Straight Connector 15423"/>
            <p:cNvSpPr/>
            <p:nvPr/>
          </p:nvSpPr>
          <p:spPr>
            <a:xfrm flipH="1">
              <a:off x="4800" y="326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5425" name="Text Box 15424"/>
            <p:cNvSpPr txBox="1"/>
            <p:nvPr/>
          </p:nvSpPr>
          <p:spPr>
            <a:xfrm>
              <a:off x="4656" y="3542"/>
              <a:ext cx="3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a, 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Title 16385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t>Example: The </a:t>
            </a:r>
            <a:r>
              <a:rPr>
                <a:cs typeface="Times New Roman" panose="02020603050405020304" pitchFamily="18" charset="0"/>
              </a:rPr>
              <a:t>≡</a:t>
            </a:r>
            <a:r>
              <a:rPr baseline="-30000">
                <a:cs typeface="Times New Roman" panose="02020603050405020304" pitchFamily="18" charset="0"/>
              </a:rPr>
              <a:t>0</a:t>
            </a:r>
            <a:r>
              <a:rPr>
                <a:cs typeface="Times New Roman" panose="02020603050405020304" pitchFamily="18" charset="0"/>
              </a:rPr>
              <a:t> Partition</a:t>
            </a:r>
            <a:endParaRPr>
              <a:ea typeface="Times New Roman" panose="02020603050405020304" pitchFamily="18" charset="0"/>
            </a:endParaRPr>
          </a:p>
        </p:txBody>
      </p:sp>
      <p:sp>
        <p:nvSpPr>
          <p:cNvPr id="16387" name="Text Placeholder 16386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p>
            <a:r>
              <a:t>The relation </a:t>
            </a:r>
            <a:r>
              <a:rPr>
                <a:cs typeface="Times New Roman" panose="02020603050405020304" pitchFamily="18" charset="0"/>
              </a:rPr>
              <a:t>≡</a:t>
            </a:r>
            <a:r>
              <a:rPr baseline="-30000">
                <a:cs typeface="Times New Roman" panose="02020603050405020304" pitchFamily="18" charset="0"/>
              </a:rPr>
              <a:t>0</a:t>
            </a:r>
            <a:r>
              <a:rPr>
                <a:cs typeface="Times New Roman" panose="02020603050405020304" pitchFamily="18" charset="0"/>
              </a:rPr>
              <a:t> partitions </a:t>
            </a:r>
            <a:r>
              <a:rPr i="1">
                <a:cs typeface="Times New Roman" panose="02020603050405020304" pitchFamily="18" charset="0"/>
              </a:rPr>
              <a:t>K</a:t>
            </a:r>
            <a:r>
              <a:rPr>
                <a:cs typeface="Times New Roman" panose="02020603050405020304" pitchFamily="18" charset="0"/>
              </a:rPr>
              <a:t> into two classes.</a:t>
            </a:r>
            <a:endParaRPr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>
                <a:cs typeface="Times New Roman" panose="02020603050405020304" pitchFamily="18" charset="0"/>
              </a:rPr>
              <a:t>{1, 2, 3, 4, 5, 6, 7, 8, 9}, {10}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itle 17409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t>Example: The </a:t>
            </a:r>
            <a:r>
              <a:rPr>
                <a:cs typeface="Times New Roman" panose="02020603050405020304" pitchFamily="18" charset="0"/>
              </a:rPr>
              <a:t>≡</a:t>
            </a:r>
            <a:r>
              <a:rPr baseline="-30000">
                <a:cs typeface="Times New Roman" panose="02020603050405020304" pitchFamily="18" charset="0"/>
              </a:rPr>
              <a:t>1</a:t>
            </a:r>
            <a:r>
              <a:rPr>
                <a:cs typeface="Times New Roman" panose="02020603050405020304" pitchFamily="18" charset="0"/>
              </a:rPr>
              <a:t> Partition</a:t>
            </a:r>
            <a:endParaRPr>
              <a:ea typeface="Times New Roman" panose="02020603050405020304" pitchFamily="18" charset="0"/>
            </a:endParaRPr>
          </a:p>
        </p:txBody>
      </p:sp>
      <p:sp>
        <p:nvSpPr>
          <p:cNvPr id="17411" name="Text Placeholder 17410"/>
          <p:cNvSpPr>
            <a:spLocks noGrp="1"/>
          </p:cNvSpPr>
          <p:nvPr>
            <p:ph type="body" sz="half" idx="1"/>
          </p:nvPr>
        </p:nvSpPr>
        <p:spPr>
          <a:xfrm>
            <a:off x="457200" y="3733800"/>
            <a:ext cx="8382000" cy="2133600"/>
          </a:xfrm>
          <a:ln/>
        </p:spPr>
        <p:txBody>
          <a:bodyPr/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>
                <a:cs typeface="Times New Roman" panose="02020603050405020304" pitchFamily="18" charset="0"/>
              </a:rPr>
              <a:t>Apply the “</a:t>
            </a:r>
            <a:r>
              <a:rPr i="1">
                <a:cs typeface="Times New Roman" panose="02020603050405020304" pitchFamily="18" charset="0"/>
              </a:rPr>
              <a:t>a</a:t>
            </a:r>
            <a:r>
              <a:rPr>
                <a:cs typeface="Times New Roman" panose="02020603050405020304" pitchFamily="18" charset="0"/>
              </a:rPr>
              <a:t>-transitions” to each class:</a:t>
            </a:r>
            <a:endParaRPr>
              <a:cs typeface="Times New Roman" panose="02020603050405020304" pitchFamily="18" charset="0"/>
            </a:endParaRPr>
          </a:p>
          <a:p>
            <a:pPr algn="ctr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>
                <a:cs typeface="Times New Roman" panose="02020603050405020304" pitchFamily="18" charset="0"/>
              </a:rPr>
              <a:t>{2, 6, 8, 5, 10, 10, 2, 5, 4}, {10}</a:t>
            </a:r>
            <a:endParaRPr>
              <a:cs typeface="Times New Roman" panose="02020603050405020304" pitchFamily="18" charset="0"/>
            </a:endParaRPr>
          </a:p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>
                <a:cs typeface="Times New Roman" panose="02020603050405020304" pitchFamily="18" charset="0"/>
              </a:rPr>
              <a:t>Apply the “</a:t>
            </a:r>
            <a:r>
              <a:rPr i="1">
                <a:cs typeface="Times New Roman" panose="02020603050405020304" pitchFamily="18" charset="0"/>
              </a:rPr>
              <a:t>b</a:t>
            </a:r>
            <a:r>
              <a:rPr>
                <a:cs typeface="Times New Roman" panose="02020603050405020304" pitchFamily="18" charset="0"/>
              </a:rPr>
              <a:t>-transitions” to each class:</a:t>
            </a:r>
            <a:endParaRPr>
              <a:cs typeface="Times New Roman" panose="02020603050405020304" pitchFamily="18" charset="0"/>
            </a:endParaRPr>
          </a:p>
          <a:p>
            <a:pPr algn="ctr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>
                <a:cs typeface="Times New Roman" panose="02020603050405020304" pitchFamily="18" charset="0"/>
              </a:rPr>
              <a:t>{7, 3, 9, 3, 7, 3, 9, 7, 10}, {10}</a:t>
            </a:r>
            <a:endParaRPr/>
          </a:p>
        </p:txBody>
      </p:sp>
      <p:graphicFrame>
        <p:nvGraphicFramePr>
          <p:cNvPr id="17616" name="Content Placeholder 17615"/>
          <p:cNvGraphicFramePr/>
          <p:nvPr>
            <p:ph sz="half" idx="2"/>
          </p:nvPr>
        </p:nvGraphicFramePr>
        <p:xfrm>
          <a:off x="838200" y="1828800"/>
          <a:ext cx="7696200" cy="1711325"/>
        </p:xfrm>
        <a:graphic>
          <a:graphicData uri="http://schemas.openxmlformats.org/drawingml/2006/table">
            <a:tbl>
              <a:tblPr/>
              <a:tblGrid>
                <a:gridCol w="700088"/>
                <a:gridCol w="698500"/>
                <a:gridCol w="700087"/>
                <a:gridCol w="698500"/>
                <a:gridCol w="700088"/>
                <a:gridCol w="701675"/>
                <a:gridCol w="700087"/>
                <a:gridCol w="698500"/>
                <a:gridCol w="700088"/>
                <a:gridCol w="698500"/>
                <a:gridCol w="700087"/>
              </a:tblGrid>
              <a:tr h="56991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>
                          <a:sym typeface="Symbol" panose="05050102010706020507" pitchFamily="18" charset="2"/>
                        </a:rPr>
                        <a:t></a:t>
                      </a:r>
                      <a:endParaRPr lang="en-US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1</a:t>
                      </a:r>
                      <a:endParaRPr lang="en-US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2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3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4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5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6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7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8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9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10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15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i="1"/>
                        <a:t>a</a:t>
                      </a:r>
                      <a:endParaRPr lang="en-US" i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2</a:t>
                      </a:r>
                      <a:endParaRPr lang="en-US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6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8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5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10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10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2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5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4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10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991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i="1"/>
                        <a:t>b</a:t>
                      </a:r>
                      <a:endParaRPr lang="en-US" i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7</a:t>
                      </a:r>
                      <a:endParaRPr lang="en-US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3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9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3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7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3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9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7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10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p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Char char="p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defRPr sz="1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t>10</a:t>
                      </a:r>
                      <a:endParaRPr 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Title 23553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t>Example: The </a:t>
            </a:r>
            <a:r>
              <a:rPr>
                <a:cs typeface="Times New Roman" panose="02020603050405020304" pitchFamily="18" charset="0"/>
              </a:rPr>
              <a:t>≡</a:t>
            </a:r>
            <a:r>
              <a:rPr baseline="-30000">
                <a:cs typeface="Times New Roman" panose="02020603050405020304" pitchFamily="18" charset="0"/>
              </a:rPr>
              <a:t>1</a:t>
            </a:r>
            <a:r>
              <a:rPr>
                <a:cs typeface="Times New Roman" panose="02020603050405020304" pitchFamily="18" charset="0"/>
              </a:rPr>
              <a:t> Partition</a:t>
            </a:r>
            <a:endParaRPr>
              <a:ea typeface="Times New Roman" panose="02020603050405020304" pitchFamily="18" charset="0"/>
            </a:endParaRPr>
          </a:p>
        </p:txBody>
      </p:sp>
      <p:sp>
        <p:nvSpPr>
          <p:cNvPr id="23555" name="Text Placeholder 23554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p>
            <a:r>
              <a:t>The </a:t>
            </a:r>
            <a:r>
              <a:rPr i="1"/>
              <a:t>a</a:t>
            </a:r>
            <a:r>
              <a:t>-transitions indicate that 5 and 6 are in a different class than 1, 2, 3, 4, 7, 8, and 9.</a:t>
            </a:r>
          </a:p>
          <a:p>
            <a:r>
              <a:t>The </a:t>
            </a:r>
            <a:r>
              <a:rPr i="1"/>
              <a:t>b</a:t>
            </a:r>
            <a:r>
              <a:t>-transitions indicate that 9 is in a different class than 1, 2, 3, 4, 5, 6, 7, and 8.</a:t>
            </a:r>
          </a:p>
          <a:p>
            <a:r>
              <a:t>The partition of </a:t>
            </a:r>
            <a:r>
              <a:rPr>
                <a:cs typeface="Times New Roman" panose="02020603050405020304" pitchFamily="18" charset="0"/>
              </a:rPr>
              <a:t>≡</a:t>
            </a:r>
            <a:r>
              <a:rPr baseline="-30000">
                <a:cs typeface="Times New Roman" panose="02020603050405020304" pitchFamily="18" charset="0"/>
              </a:rPr>
              <a:t>1</a:t>
            </a:r>
            <a:r>
              <a:rPr>
                <a:cs typeface="Times New Roman" panose="02020603050405020304" pitchFamily="18" charset="0"/>
              </a:rPr>
              <a:t> is</a:t>
            </a:r>
            <a:endParaRPr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>
                <a:cs typeface="Times New Roman" panose="02020603050405020304" pitchFamily="18" charset="0"/>
              </a:rPr>
              <a:t>{1, 2, 3, 4, 7, 8}, {5, 6}, {9}, {10}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Title 24577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t>Example: The </a:t>
            </a:r>
            <a:r>
              <a:rPr>
                <a:cs typeface="Times New Roman" panose="02020603050405020304" pitchFamily="18" charset="0"/>
              </a:rPr>
              <a:t>≡</a:t>
            </a:r>
            <a:r>
              <a:rPr baseline="-30000">
                <a:cs typeface="Times New Roman" panose="02020603050405020304" pitchFamily="18" charset="0"/>
              </a:rPr>
              <a:t>2</a:t>
            </a:r>
            <a:r>
              <a:rPr>
                <a:cs typeface="Times New Roman" panose="02020603050405020304" pitchFamily="18" charset="0"/>
              </a:rPr>
              <a:t> Partition</a:t>
            </a:r>
            <a:endParaRPr>
              <a:ea typeface="Times New Roman" panose="02020603050405020304" pitchFamily="18" charset="0"/>
            </a:endParaRPr>
          </a:p>
        </p:txBody>
      </p:sp>
      <p:sp>
        <p:nvSpPr>
          <p:cNvPr id="24579" name="Text Placeholder 24578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p>
            <a:r>
              <a:rPr>
                <a:cs typeface="Times New Roman" panose="02020603050405020304" pitchFamily="18" charset="0"/>
              </a:rPr>
              <a:t>Apply the </a:t>
            </a:r>
            <a:r>
              <a:rPr i="1">
                <a:cs typeface="Times New Roman" panose="02020603050405020304" pitchFamily="18" charset="0"/>
              </a:rPr>
              <a:t>a</a:t>
            </a:r>
            <a:r>
              <a:rPr>
                <a:cs typeface="Times New Roman" panose="02020603050405020304" pitchFamily="18" charset="0"/>
              </a:rPr>
              <a:t>-transitions to these classes:</a:t>
            </a:r>
            <a:endParaRPr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>
                <a:cs typeface="Times New Roman" panose="02020603050405020304" pitchFamily="18" charset="0"/>
              </a:rPr>
              <a:t>{2, 6, 8, 5, 2, 5}, {10, 10}, {4}, {10}</a:t>
            </a:r>
            <a:endParaRPr>
              <a:cs typeface="Times New Roman" panose="02020603050405020304" pitchFamily="18" charset="0"/>
            </a:endParaRPr>
          </a:p>
          <a:p>
            <a:r>
              <a:rPr>
                <a:cs typeface="Times New Roman" panose="02020603050405020304" pitchFamily="18" charset="0"/>
              </a:rPr>
              <a:t>Apply the </a:t>
            </a:r>
            <a:r>
              <a:rPr i="1">
                <a:cs typeface="Times New Roman" panose="02020603050405020304" pitchFamily="18" charset="0"/>
              </a:rPr>
              <a:t>b</a:t>
            </a:r>
            <a:r>
              <a:rPr>
                <a:cs typeface="Times New Roman" panose="02020603050405020304" pitchFamily="18" charset="0"/>
              </a:rPr>
              <a:t>-transitions to these classes:</a:t>
            </a:r>
            <a:endParaRPr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>
                <a:cs typeface="Times New Roman" panose="02020603050405020304" pitchFamily="18" charset="0"/>
              </a:rPr>
              <a:t>{7, 3, 9, 3, 9, 7}, {7, 3}, {10}, {10}</a:t>
            </a:r>
            <a:endParaRPr>
              <a:cs typeface="Times New Roman" panose="02020603050405020304" pitchFamily="18" charset="0"/>
            </a:endParaRPr>
          </a:p>
          <a:p>
            <a:r>
              <a:rPr>
                <a:cs typeface="Times New Roman" panose="02020603050405020304" pitchFamily="18" charset="0"/>
              </a:rPr>
              <a:t>The </a:t>
            </a:r>
            <a:r>
              <a:rPr i="1">
                <a:cs typeface="Times New Roman" panose="02020603050405020304" pitchFamily="18" charset="0"/>
              </a:rPr>
              <a:t>a</a:t>
            </a:r>
            <a:r>
              <a:rPr>
                <a:cs typeface="Times New Roman" panose="02020603050405020304" pitchFamily="18" charset="0"/>
              </a:rPr>
              <a:t>-transitions split {1, 2, 3, 4, 7, 8} into {1, 3, 7} and {2, 4, 8}.</a:t>
            </a:r>
            <a:endParaRPr>
              <a:cs typeface="Times New Roman" panose="02020603050405020304" pitchFamily="18" charset="0"/>
            </a:endParaRPr>
          </a:p>
          <a:p>
            <a:r>
              <a:rPr>
                <a:cs typeface="Times New Roman" panose="02020603050405020304" pitchFamily="18" charset="0"/>
              </a:rPr>
              <a:t>The </a:t>
            </a:r>
            <a:r>
              <a:rPr i="1">
                <a:cs typeface="Times New Roman" panose="02020603050405020304" pitchFamily="18" charset="0"/>
              </a:rPr>
              <a:t>b</a:t>
            </a:r>
            <a:r>
              <a:rPr>
                <a:cs typeface="Times New Roman" panose="02020603050405020304" pitchFamily="18" charset="0"/>
              </a:rPr>
              <a:t>-transitions split {1, 2, 3, 4, 7, 8} into {1, 2, 4, 8} and {3, 7}.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Title 25601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t>Example: The </a:t>
            </a:r>
            <a:r>
              <a:rPr>
                <a:cs typeface="Times New Roman" panose="02020603050405020304" pitchFamily="18" charset="0"/>
              </a:rPr>
              <a:t>≡</a:t>
            </a:r>
            <a:r>
              <a:rPr baseline="-30000">
                <a:cs typeface="Times New Roman" panose="02020603050405020304" pitchFamily="18" charset="0"/>
              </a:rPr>
              <a:t>2</a:t>
            </a:r>
            <a:r>
              <a:rPr>
                <a:cs typeface="Times New Roman" panose="02020603050405020304" pitchFamily="18" charset="0"/>
              </a:rPr>
              <a:t> Partition</a:t>
            </a:r>
            <a:endParaRPr>
              <a:ea typeface="Times New Roman" panose="02020603050405020304" pitchFamily="18" charset="0"/>
            </a:endParaRPr>
          </a:p>
        </p:txBody>
      </p:sp>
      <p:sp>
        <p:nvSpPr>
          <p:cNvPr id="25603" name="Text Placeholder 25602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p>
            <a:r>
              <a:t>Combining these, we get the </a:t>
            </a:r>
            <a:r>
              <a:rPr>
                <a:cs typeface="Times New Roman" panose="02020603050405020304" pitchFamily="18" charset="0"/>
              </a:rPr>
              <a:t>≡</a:t>
            </a:r>
            <a:r>
              <a:rPr baseline="-30000">
                <a:cs typeface="Times New Roman" panose="02020603050405020304" pitchFamily="18" charset="0"/>
              </a:rPr>
              <a:t>2</a:t>
            </a:r>
            <a:r>
              <a:rPr>
                <a:cs typeface="Times New Roman" panose="02020603050405020304" pitchFamily="18" charset="0"/>
              </a:rPr>
              <a:t> </a:t>
            </a:r>
            <a:r>
              <a:t>partition</a:t>
            </a:r>
          </a:p>
          <a:p>
            <a:pPr algn="ctr">
              <a:buNone/>
            </a:pPr>
            <a:r>
              <a:t>{1}, {3, 7}, {2, 4, 8}, {5, 6}, {9}, {10}.</a:t>
            </a:r>
          </a:p>
          <a:p>
            <a:r>
              <a:t>Apply the </a:t>
            </a:r>
            <a:r>
              <a:rPr i="1"/>
              <a:t>a</a:t>
            </a:r>
            <a:r>
              <a:t>-transitions to these classes:</a:t>
            </a:r>
          </a:p>
          <a:p>
            <a:pPr algn="ctr">
              <a:buNone/>
            </a:pPr>
            <a:r>
              <a:t>{2}, {8, 2}, {6, 5, 5}, {10, 10}, {4}, {10}.</a:t>
            </a:r>
          </a:p>
          <a:p>
            <a:r>
              <a:t>Apply the </a:t>
            </a:r>
            <a:r>
              <a:rPr i="1"/>
              <a:t>b</a:t>
            </a:r>
            <a:r>
              <a:t>-transitions to these classes:</a:t>
            </a:r>
          </a:p>
          <a:p>
            <a:pPr algn="ctr">
              <a:buNone/>
            </a:pPr>
            <a:r>
              <a:t>{7}, {9, 9}, {3, 3, 7}, {7, 3}, {10}, {10}.</a:t>
            </a:r>
          </a:p>
          <a:p>
            <a:r>
              <a:t>This produces no new classes.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Title 26625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t>Example: The </a:t>
            </a:r>
            <a:r>
              <a:rPr>
                <a:cs typeface="Times New Roman" panose="02020603050405020304" pitchFamily="18" charset="0"/>
              </a:rPr>
              <a:t>≡</a:t>
            </a:r>
            <a:r>
              <a:rPr baseline="-30000">
                <a:cs typeface="Times New Roman" panose="02020603050405020304" pitchFamily="18" charset="0"/>
              </a:rPr>
              <a:t>3</a:t>
            </a:r>
            <a:r>
              <a:rPr>
                <a:cs typeface="Times New Roman" panose="02020603050405020304" pitchFamily="18" charset="0"/>
              </a:rPr>
              <a:t> Partition</a:t>
            </a:r>
            <a:endParaRPr>
              <a:ea typeface="Times New Roman" panose="02020603050405020304" pitchFamily="18" charset="0"/>
            </a:endParaRPr>
          </a:p>
        </p:txBody>
      </p:sp>
      <p:sp>
        <p:nvSpPr>
          <p:cNvPr id="26627" name="Text Placeholder 26626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p>
            <a:r>
              <a:t>Therefore, these are the classes of </a:t>
            </a:r>
            <a:r>
              <a:rPr>
                <a:cs typeface="Times New Roman" panose="02020603050405020304" pitchFamily="18" charset="0"/>
              </a:rPr>
              <a:t>≡, namely</a:t>
            </a:r>
            <a:endParaRPr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>
                <a:cs typeface="Times New Roman" panose="02020603050405020304" pitchFamily="18" charset="0"/>
              </a:rPr>
              <a:t>{1}, {2, 4, 8}, {3, 7}, {5, 6}, {9}, {10}.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Title 30721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t>Example of Minimization</a:t>
            </a:r>
          </a:p>
        </p:txBody>
      </p:sp>
      <p:sp>
        <p:nvSpPr>
          <p:cNvPr id="30723" name="Text Placeholder 3072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762000"/>
          </a:xfrm>
          <a:ln/>
        </p:spPr>
        <p:txBody>
          <a:bodyPr/>
          <a:p>
            <a:r>
              <a:t>Combine states 2, 4, and 8 into one state.</a:t>
            </a:r>
          </a:p>
        </p:txBody>
      </p:sp>
      <p:grpSp>
        <p:nvGrpSpPr>
          <p:cNvPr id="30724" name="Group 30723"/>
          <p:cNvGrpSpPr/>
          <p:nvPr/>
        </p:nvGrpSpPr>
        <p:grpSpPr>
          <a:xfrm>
            <a:off x="914400" y="2438400"/>
            <a:ext cx="7239000" cy="3262313"/>
            <a:chOff x="624" y="1737"/>
            <a:chExt cx="4560" cy="2055"/>
          </a:xfrm>
        </p:grpSpPr>
        <p:sp>
          <p:nvSpPr>
            <p:cNvPr id="30725" name="Oval 30724"/>
            <p:cNvSpPr/>
            <p:nvPr/>
          </p:nvSpPr>
          <p:spPr>
            <a:xfrm>
              <a:off x="816" y="2592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1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0726" name="Oval 30725"/>
            <p:cNvSpPr/>
            <p:nvPr/>
          </p:nvSpPr>
          <p:spPr>
            <a:xfrm>
              <a:off x="4512" y="312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en-US"/>
            </a:p>
          </p:txBody>
        </p:sp>
        <p:sp>
          <p:nvSpPr>
            <p:cNvPr id="30727" name="Oval 30726"/>
            <p:cNvSpPr/>
            <p:nvPr/>
          </p:nvSpPr>
          <p:spPr>
            <a:xfrm>
              <a:off x="3264" y="312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9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0728" name="Oval 30727"/>
            <p:cNvSpPr/>
            <p:nvPr/>
          </p:nvSpPr>
          <p:spPr>
            <a:xfrm>
              <a:off x="2448" y="312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8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0729" name="Oval 30728"/>
            <p:cNvSpPr/>
            <p:nvPr/>
          </p:nvSpPr>
          <p:spPr>
            <a:xfrm>
              <a:off x="1632" y="312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7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0730" name="Oval 30729"/>
            <p:cNvSpPr/>
            <p:nvPr/>
          </p:nvSpPr>
          <p:spPr>
            <a:xfrm>
              <a:off x="4896" y="206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6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0731" name="Oval 30730"/>
            <p:cNvSpPr/>
            <p:nvPr/>
          </p:nvSpPr>
          <p:spPr>
            <a:xfrm>
              <a:off x="4080" y="206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5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0732" name="Oval 30731"/>
            <p:cNvSpPr/>
            <p:nvPr/>
          </p:nvSpPr>
          <p:spPr>
            <a:xfrm>
              <a:off x="3264" y="206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4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0733" name="Oval 30732"/>
            <p:cNvSpPr/>
            <p:nvPr/>
          </p:nvSpPr>
          <p:spPr>
            <a:xfrm>
              <a:off x="2448" y="206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3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0734" name="Oval 30733"/>
            <p:cNvSpPr/>
            <p:nvPr/>
          </p:nvSpPr>
          <p:spPr>
            <a:xfrm>
              <a:off x="1632" y="206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2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0735" name="Straight Connector 30734"/>
            <p:cNvSpPr/>
            <p:nvPr/>
          </p:nvSpPr>
          <p:spPr>
            <a:xfrm>
              <a:off x="624" y="2736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0736" name="Straight Connector 30735"/>
            <p:cNvSpPr/>
            <p:nvPr/>
          </p:nvSpPr>
          <p:spPr>
            <a:xfrm flipV="1">
              <a:off x="1056" y="2304"/>
              <a:ext cx="576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0737" name="Straight Connector 30736"/>
            <p:cNvSpPr/>
            <p:nvPr/>
          </p:nvSpPr>
          <p:spPr>
            <a:xfrm>
              <a:off x="1104" y="2832"/>
              <a:ext cx="528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0738" name="Straight Connector 30737"/>
            <p:cNvSpPr/>
            <p:nvPr/>
          </p:nvSpPr>
          <p:spPr>
            <a:xfrm>
              <a:off x="1920" y="2208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0739" name="Straight Connector 30738"/>
            <p:cNvSpPr/>
            <p:nvPr/>
          </p:nvSpPr>
          <p:spPr>
            <a:xfrm flipH="1">
              <a:off x="2736" y="2208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0740" name="Straight Connector 30739"/>
            <p:cNvSpPr/>
            <p:nvPr/>
          </p:nvSpPr>
          <p:spPr>
            <a:xfrm>
              <a:off x="3552" y="2208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0741" name="Straight Connector 30740"/>
            <p:cNvSpPr/>
            <p:nvPr/>
          </p:nvSpPr>
          <p:spPr>
            <a:xfrm flipV="1">
              <a:off x="1776" y="2352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0742" name="Straight Connector 30741"/>
            <p:cNvSpPr/>
            <p:nvPr/>
          </p:nvSpPr>
          <p:spPr>
            <a:xfrm>
              <a:off x="2592" y="2352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0743" name="Straight Connector 30742"/>
            <p:cNvSpPr/>
            <p:nvPr/>
          </p:nvSpPr>
          <p:spPr>
            <a:xfrm flipH="1">
              <a:off x="1920" y="3264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0744" name="Straight Connector 30743"/>
            <p:cNvSpPr/>
            <p:nvPr/>
          </p:nvSpPr>
          <p:spPr>
            <a:xfrm flipV="1">
              <a:off x="2688" y="2304"/>
              <a:ext cx="1440" cy="8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0745" name="Straight Connector 30744"/>
            <p:cNvSpPr/>
            <p:nvPr/>
          </p:nvSpPr>
          <p:spPr>
            <a:xfrm>
              <a:off x="2688" y="2304"/>
              <a:ext cx="624" cy="8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0746" name="Straight Connector 30745"/>
            <p:cNvSpPr/>
            <p:nvPr/>
          </p:nvSpPr>
          <p:spPr>
            <a:xfrm>
              <a:off x="4272" y="2352"/>
              <a:ext cx="288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0747" name="Straight Connector 30746"/>
            <p:cNvSpPr/>
            <p:nvPr/>
          </p:nvSpPr>
          <p:spPr>
            <a:xfrm flipH="1">
              <a:off x="4704" y="2352"/>
              <a:ext cx="24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0748" name="Straight Connector 30747"/>
            <p:cNvSpPr/>
            <p:nvPr/>
          </p:nvSpPr>
          <p:spPr>
            <a:xfrm flipV="1">
              <a:off x="4944" y="1968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0749" name="Straight Connector 30748"/>
            <p:cNvSpPr/>
            <p:nvPr/>
          </p:nvSpPr>
          <p:spPr>
            <a:xfrm flipH="1">
              <a:off x="2592" y="1968"/>
              <a:ext cx="23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0750" name="Straight Connector 30749"/>
            <p:cNvSpPr/>
            <p:nvPr/>
          </p:nvSpPr>
          <p:spPr>
            <a:xfrm flipV="1">
              <a:off x="1776" y="182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0751" name="Straight Connector 30750"/>
            <p:cNvSpPr/>
            <p:nvPr/>
          </p:nvSpPr>
          <p:spPr>
            <a:xfrm>
              <a:off x="1776" y="1824"/>
              <a:ext cx="33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0752" name="Straight Connector 30751"/>
            <p:cNvSpPr/>
            <p:nvPr/>
          </p:nvSpPr>
          <p:spPr>
            <a:xfrm>
              <a:off x="2592" y="1968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0753" name="Straight Connector 30752"/>
            <p:cNvSpPr/>
            <p:nvPr/>
          </p:nvSpPr>
          <p:spPr>
            <a:xfrm>
              <a:off x="5136" y="182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0754" name="Straight Connector 30753"/>
            <p:cNvSpPr/>
            <p:nvPr/>
          </p:nvSpPr>
          <p:spPr>
            <a:xfrm flipV="1">
              <a:off x="1824" y="3408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0755" name="Straight Connector 30754"/>
            <p:cNvSpPr/>
            <p:nvPr/>
          </p:nvSpPr>
          <p:spPr>
            <a:xfrm>
              <a:off x="1824" y="3504"/>
              <a:ext cx="15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0756" name="Straight Connector 30755"/>
            <p:cNvSpPr/>
            <p:nvPr/>
          </p:nvSpPr>
          <p:spPr>
            <a:xfrm flipV="1">
              <a:off x="3408" y="3408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0757" name="Straight Connector 30756"/>
            <p:cNvSpPr/>
            <p:nvPr/>
          </p:nvSpPr>
          <p:spPr>
            <a:xfrm>
              <a:off x="4224" y="2352"/>
              <a:ext cx="0" cy="12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0758" name="Straight Connector 30757"/>
            <p:cNvSpPr/>
            <p:nvPr/>
          </p:nvSpPr>
          <p:spPr>
            <a:xfrm flipH="1">
              <a:off x="1680" y="3648"/>
              <a:ext cx="25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0759" name="Straight Connector 30758"/>
            <p:cNvSpPr/>
            <p:nvPr/>
          </p:nvSpPr>
          <p:spPr>
            <a:xfrm flipV="1">
              <a:off x="1680" y="340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0760" name="Oval 30759"/>
            <p:cNvSpPr/>
            <p:nvPr/>
          </p:nvSpPr>
          <p:spPr>
            <a:xfrm>
              <a:off x="4560" y="3168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10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0761" name="Text Box 30760"/>
            <p:cNvSpPr txBox="1"/>
            <p:nvPr/>
          </p:nvSpPr>
          <p:spPr>
            <a:xfrm>
              <a:off x="1103" y="229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0762" name="Text Box 30761"/>
            <p:cNvSpPr txBox="1"/>
            <p:nvPr/>
          </p:nvSpPr>
          <p:spPr>
            <a:xfrm>
              <a:off x="1100" y="292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0763" name="Text Box 30762"/>
            <p:cNvSpPr txBox="1"/>
            <p:nvPr/>
          </p:nvSpPr>
          <p:spPr>
            <a:xfrm>
              <a:off x="1580" y="1737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0764" name="Text Box 30763"/>
            <p:cNvSpPr txBox="1"/>
            <p:nvPr/>
          </p:nvSpPr>
          <p:spPr>
            <a:xfrm>
              <a:off x="2014" y="195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0765" name="Text Box 30764"/>
            <p:cNvSpPr txBox="1"/>
            <p:nvPr/>
          </p:nvSpPr>
          <p:spPr>
            <a:xfrm>
              <a:off x="2396" y="2361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0766" name="Text Box 30765"/>
            <p:cNvSpPr txBox="1"/>
            <p:nvPr/>
          </p:nvSpPr>
          <p:spPr>
            <a:xfrm>
              <a:off x="2936" y="2335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0767" name="Text Box 30766"/>
            <p:cNvSpPr txBox="1"/>
            <p:nvPr/>
          </p:nvSpPr>
          <p:spPr>
            <a:xfrm>
              <a:off x="2974" y="1977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0768" name="Text Box 30767"/>
            <p:cNvSpPr txBox="1"/>
            <p:nvPr/>
          </p:nvSpPr>
          <p:spPr>
            <a:xfrm>
              <a:off x="3600" y="196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0769" name="Text Box 30768"/>
            <p:cNvSpPr txBox="1"/>
            <p:nvPr/>
          </p:nvSpPr>
          <p:spPr>
            <a:xfrm>
              <a:off x="4320" y="230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0770" name="Text Box 30769"/>
            <p:cNvSpPr txBox="1"/>
            <p:nvPr/>
          </p:nvSpPr>
          <p:spPr>
            <a:xfrm>
              <a:off x="4028" y="243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0771" name="Text Box 30770"/>
            <p:cNvSpPr txBox="1"/>
            <p:nvPr/>
          </p:nvSpPr>
          <p:spPr>
            <a:xfrm>
              <a:off x="4700" y="195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0772" name="Text Box 30771"/>
            <p:cNvSpPr txBox="1"/>
            <p:nvPr/>
          </p:nvSpPr>
          <p:spPr>
            <a:xfrm>
              <a:off x="4892" y="2361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0773" name="Text Box 30772"/>
            <p:cNvSpPr txBox="1"/>
            <p:nvPr/>
          </p:nvSpPr>
          <p:spPr>
            <a:xfrm>
              <a:off x="1583" y="2745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0774" name="Text Box 30773"/>
            <p:cNvSpPr txBox="1"/>
            <p:nvPr/>
          </p:nvSpPr>
          <p:spPr>
            <a:xfrm>
              <a:off x="1916" y="326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0775" name="Text Box 30774"/>
            <p:cNvSpPr txBox="1"/>
            <p:nvPr/>
          </p:nvSpPr>
          <p:spPr>
            <a:xfrm>
              <a:off x="2160" y="301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0776" name="Text Box 30775"/>
            <p:cNvSpPr txBox="1"/>
            <p:nvPr/>
          </p:nvSpPr>
          <p:spPr>
            <a:xfrm>
              <a:off x="2688" y="2870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0777" name="Straight Connector 30776"/>
            <p:cNvSpPr/>
            <p:nvPr/>
          </p:nvSpPr>
          <p:spPr>
            <a:xfrm>
              <a:off x="3552" y="3264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0778" name="Text Box 30777"/>
            <p:cNvSpPr txBox="1"/>
            <p:nvPr/>
          </p:nvSpPr>
          <p:spPr>
            <a:xfrm>
              <a:off x="3600" y="302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0779" name="Straight Connector 30778"/>
            <p:cNvSpPr/>
            <p:nvPr/>
          </p:nvSpPr>
          <p:spPr>
            <a:xfrm flipH="1" flipV="1">
              <a:off x="3408" y="2352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0780" name="Text Box 30779"/>
            <p:cNvSpPr txBox="1"/>
            <p:nvPr/>
          </p:nvSpPr>
          <p:spPr>
            <a:xfrm>
              <a:off x="3408" y="283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0781" name="Straight Connector 30780"/>
            <p:cNvSpPr/>
            <p:nvPr/>
          </p:nvSpPr>
          <p:spPr>
            <a:xfrm>
              <a:off x="4656" y="3408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0782" name="Straight Connector 30781"/>
            <p:cNvSpPr/>
            <p:nvPr/>
          </p:nvSpPr>
          <p:spPr>
            <a:xfrm>
              <a:off x="4656" y="3552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0783" name="Straight Connector 30782"/>
            <p:cNvSpPr/>
            <p:nvPr/>
          </p:nvSpPr>
          <p:spPr>
            <a:xfrm flipV="1">
              <a:off x="4992" y="326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0784" name="Straight Connector 30783"/>
            <p:cNvSpPr/>
            <p:nvPr/>
          </p:nvSpPr>
          <p:spPr>
            <a:xfrm flipH="1">
              <a:off x="4800" y="326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0785" name="Text Box 30784"/>
            <p:cNvSpPr txBox="1"/>
            <p:nvPr/>
          </p:nvSpPr>
          <p:spPr>
            <a:xfrm>
              <a:off x="4656" y="3542"/>
              <a:ext cx="3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a, 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Title 33793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t>Example of Minimization</a:t>
            </a:r>
          </a:p>
        </p:txBody>
      </p:sp>
      <p:sp>
        <p:nvSpPr>
          <p:cNvPr id="33795" name="Text Placeholder 33794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762000"/>
          </a:xfrm>
          <a:ln/>
        </p:spPr>
        <p:txBody>
          <a:bodyPr/>
          <a:p>
            <a:r>
              <a:t>Combine states 2, 4, and 8 into one state.</a:t>
            </a:r>
          </a:p>
        </p:txBody>
      </p:sp>
      <p:grpSp>
        <p:nvGrpSpPr>
          <p:cNvPr id="33796" name="Group 33795"/>
          <p:cNvGrpSpPr/>
          <p:nvPr/>
        </p:nvGrpSpPr>
        <p:grpSpPr>
          <a:xfrm>
            <a:off x="914400" y="2438400"/>
            <a:ext cx="7239000" cy="3262313"/>
            <a:chOff x="624" y="1737"/>
            <a:chExt cx="4560" cy="2055"/>
          </a:xfrm>
        </p:grpSpPr>
        <p:sp>
          <p:nvSpPr>
            <p:cNvPr id="33797" name="Oval 33796"/>
            <p:cNvSpPr/>
            <p:nvPr/>
          </p:nvSpPr>
          <p:spPr>
            <a:xfrm>
              <a:off x="816" y="2592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1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3798" name="Oval 33797"/>
            <p:cNvSpPr/>
            <p:nvPr/>
          </p:nvSpPr>
          <p:spPr>
            <a:xfrm>
              <a:off x="4512" y="312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en-US"/>
            </a:p>
          </p:txBody>
        </p:sp>
        <p:sp>
          <p:nvSpPr>
            <p:cNvPr id="33799" name="Oval 33798"/>
            <p:cNvSpPr/>
            <p:nvPr/>
          </p:nvSpPr>
          <p:spPr>
            <a:xfrm>
              <a:off x="3264" y="312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9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3800" name="Oval 33799"/>
            <p:cNvSpPr/>
            <p:nvPr/>
          </p:nvSpPr>
          <p:spPr>
            <a:xfrm>
              <a:off x="2448" y="312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8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3801" name="Oval 33800"/>
            <p:cNvSpPr/>
            <p:nvPr/>
          </p:nvSpPr>
          <p:spPr>
            <a:xfrm>
              <a:off x="1632" y="312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7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3802" name="Oval 33801"/>
            <p:cNvSpPr/>
            <p:nvPr/>
          </p:nvSpPr>
          <p:spPr>
            <a:xfrm>
              <a:off x="4896" y="206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6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3803" name="Oval 33802"/>
            <p:cNvSpPr/>
            <p:nvPr/>
          </p:nvSpPr>
          <p:spPr>
            <a:xfrm>
              <a:off x="4080" y="206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5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3804" name="Oval 33803"/>
            <p:cNvSpPr/>
            <p:nvPr/>
          </p:nvSpPr>
          <p:spPr>
            <a:xfrm>
              <a:off x="3264" y="206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4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3805" name="Oval 33804"/>
            <p:cNvSpPr/>
            <p:nvPr/>
          </p:nvSpPr>
          <p:spPr>
            <a:xfrm>
              <a:off x="2448" y="206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3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3806" name="Oval 33805"/>
            <p:cNvSpPr/>
            <p:nvPr/>
          </p:nvSpPr>
          <p:spPr>
            <a:xfrm>
              <a:off x="1632" y="206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2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3807" name="Straight Connector 33806"/>
            <p:cNvSpPr/>
            <p:nvPr/>
          </p:nvSpPr>
          <p:spPr>
            <a:xfrm>
              <a:off x="624" y="2736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3808" name="Straight Connector 33807"/>
            <p:cNvSpPr/>
            <p:nvPr/>
          </p:nvSpPr>
          <p:spPr>
            <a:xfrm flipV="1">
              <a:off x="1056" y="2304"/>
              <a:ext cx="576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3809" name="Straight Connector 33808"/>
            <p:cNvSpPr/>
            <p:nvPr/>
          </p:nvSpPr>
          <p:spPr>
            <a:xfrm>
              <a:off x="1104" y="2832"/>
              <a:ext cx="528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3810" name="Straight Connector 33809"/>
            <p:cNvSpPr/>
            <p:nvPr/>
          </p:nvSpPr>
          <p:spPr>
            <a:xfrm>
              <a:off x="1920" y="2208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3811" name="Straight Connector 33810"/>
            <p:cNvSpPr/>
            <p:nvPr/>
          </p:nvSpPr>
          <p:spPr>
            <a:xfrm flipH="1">
              <a:off x="2736" y="2208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3812" name="Straight Connector 33811"/>
            <p:cNvSpPr/>
            <p:nvPr/>
          </p:nvSpPr>
          <p:spPr>
            <a:xfrm>
              <a:off x="3552" y="2208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3813" name="Straight Connector 33812"/>
            <p:cNvSpPr/>
            <p:nvPr/>
          </p:nvSpPr>
          <p:spPr>
            <a:xfrm flipV="1">
              <a:off x="1776" y="2352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3814" name="Straight Connector 33813"/>
            <p:cNvSpPr/>
            <p:nvPr/>
          </p:nvSpPr>
          <p:spPr>
            <a:xfrm>
              <a:off x="2592" y="2352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3815" name="Straight Connector 33814"/>
            <p:cNvSpPr/>
            <p:nvPr/>
          </p:nvSpPr>
          <p:spPr>
            <a:xfrm flipH="1">
              <a:off x="1920" y="3264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3816" name="Straight Connector 33815"/>
            <p:cNvSpPr/>
            <p:nvPr/>
          </p:nvSpPr>
          <p:spPr>
            <a:xfrm flipV="1">
              <a:off x="2688" y="2304"/>
              <a:ext cx="1440" cy="8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3817" name="Straight Connector 33816"/>
            <p:cNvSpPr/>
            <p:nvPr/>
          </p:nvSpPr>
          <p:spPr>
            <a:xfrm>
              <a:off x="2688" y="2304"/>
              <a:ext cx="624" cy="8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3818" name="Straight Connector 33817"/>
            <p:cNvSpPr/>
            <p:nvPr/>
          </p:nvSpPr>
          <p:spPr>
            <a:xfrm>
              <a:off x="4272" y="2352"/>
              <a:ext cx="288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3819" name="Straight Connector 33818"/>
            <p:cNvSpPr/>
            <p:nvPr/>
          </p:nvSpPr>
          <p:spPr>
            <a:xfrm flipH="1">
              <a:off x="4704" y="2352"/>
              <a:ext cx="24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3820" name="Straight Connector 33819"/>
            <p:cNvSpPr/>
            <p:nvPr/>
          </p:nvSpPr>
          <p:spPr>
            <a:xfrm flipV="1">
              <a:off x="4944" y="1968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3821" name="Straight Connector 33820"/>
            <p:cNvSpPr/>
            <p:nvPr/>
          </p:nvSpPr>
          <p:spPr>
            <a:xfrm flipH="1">
              <a:off x="2592" y="1968"/>
              <a:ext cx="23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3822" name="Straight Connector 33821"/>
            <p:cNvSpPr/>
            <p:nvPr/>
          </p:nvSpPr>
          <p:spPr>
            <a:xfrm flipV="1">
              <a:off x="1776" y="182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3823" name="Straight Connector 33822"/>
            <p:cNvSpPr/>
            <p:nvPr/>
          </p:nvSpPr>
          <p:spPr>
            <a:xfrm>
              <a:off x="1776" y="1824"/>
              <a:ext cx="33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3824" name="Straight Connector 33823"/>
            <p:cNvSpPr/>
            <p:nvPr/>
          </p:nvSpPr>
          <p:spPr>
            <a:xfrm>
              <a:off x="2592" y="1968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3825" name="Straight Connector 33824"/>
            <p:cNvSpPr/>
            <p:nvPr/>
          </p:nvSpPr>
          <p:spPr>
            <a:xfrm>
              <a:off x="5136" y="182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3826" name="Straight Connector 33825"/>
            <p:cNvSpPr/>
            <p:nvPr/>
          </p:nvSpPr>
          <p:spPr>
            <a:xfrm flipV="1">
              <a:off x="1824" y="3408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3827" name="Straight Connector 33826"/>
            <p:cNvSpPr/>
            <p:nvPr/>
          </p:nvSpPr>
          <p:spPr>
            <a:xfrm>
              <a:off x="1824" y="3504"/>
              <a:ext cx="15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3828" name="Straight Connector 33827"/>
            <p:cNvSpPr/>
            <p:nvPr/>
          </p:nvSpPr>
          <p:spPr>
            <a:xfrm flipV="1">
              <a:off x="3408" y="3408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3829" name="Straight Connector 33828"/>
            <p:cNvSpPr/>
            <p:nvPr/>
          </p:nvSpPr>
          <p:spPr>
            <a:xfrm>
              <a:off x="4224" y="2352"/>
              <a:ext cx="0" cy="12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3830" name="Straight Connector 33829"/>
            <p:cNvSpPr/>
            <p:nvPr/>
          </p:nvSpPr>
          <p:spPr>
            <a:xfrm flipH="1">
              <a:off x="1680" y="3648"/>
              <a:ext cx="25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3831" name="Straight Connector 33830"/>
            <p:cNvSpPr/>
            <p:nvPr/>
          </p:nvSpPr>
          <p:spPr>
            <a:xfrm flipV="1">
              <a:off x="1680" y="340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3832" name="Oval 33831"/>
            <p:cNvSpPr/>
            <p:nvPr/>
          </p:nvSpPr>
          <p:spPr>
            <a:xfrm>
              <a:off x="4560" y="3168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10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3833" name="Text Box 33832"/>
            <p:cNvSpPr txBox="1"/>
            <p:nvPr/>
          </p:nvSpPr>
          <p:spPr>
            <a:xfrm>
              <a:off x="1103" y="229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3834" name="Text Box 33833"/>
            <p:cNvSpPr txBox="1"/>
            <p:nvPr/>
          </p:nvSpPr>
          <p:spPr>
            <a:xfrm>
              <a:off x="1100" y="292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3835" name="Text Box 33834"/>
            <p:cNvSpPr txBox="1"/>
            <p:nvPr/>
          </p:nvSpPr>
          <p:spPr>
            <a:xfrm>
              <a:off x="1580" y="1737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3836" name="Text Box 33835"/>
            <p:cNvSpPr txBox="1"/>
            <p:nvPr/>
          </p:nvSpPr>
          <p:spPr>
            <a:xfrm>
              <a:off x="2014" y="195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3837" name="Text Box 33836"/>
            <p:cNvSpPr txBox="1"/>
            <p:nvPr/>
          </p:nvSpPr>
          <p:spPr>
            <a:xfrm>
              <a:off x="2396" y="2361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3838" name="Text Box 33837"/>
            <p:cNvSpPr txBox="1"/>
            <p:nvPr/>
          </p:nvSpPr>
          <p:spPr>
            <a:xfrm>
              <a:off x="2936" y="2335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3839" name="Text Box 33838"/>
            <p:cNvSpPr txBox="1"/>
            <p:nvPr/>
          </p:nvSpPr>
          <p:spPr>
            <a:xfrm>
              <a:off x="2974" y="1977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3840" name="Text Box 33839"/>
            <p:cNvSpPr txBox="1"/>
            <p:nvPr/>
          </p:nvSpPr>
          <p:spPr>
            <a:xfrm>
              <a:off x="3600" y="196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3841" name="Text Box 33840"/>
            <p:cNvSpPr txBox="1"/>
            <p:nvPr/>
          </p:nvSpPr>
          <p:spPr>
            <a:xfrm>
              <a:off x="4320" y="230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3842" name="Text Box 33841"/>
            <p:cNvSpPr txBox="1"/>
            <p:nvPr/>
          </p:nvSpPr>
          <p:spPr>
            <a:xfrm>
              <a:off x="4028" y="243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3843" name="Text Box 33842"/>
            <p:cNvSpPr txBox="1"/>
            <p:nvPr/>
          </p:nvSpPr>
          <p:spPr>
            <a:xfrm>
              <a:off x="4700" y="195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3844" name="Text Box 33843"/>
            <p:cNvSpPr txBox="1"/>
            <p:nvPr/>
          </p:nvSpPr>
          <p:spPr>
            <a:xfrm>
              <a:off x="4892" y="2361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3845" name="Text Box 33844"/>
            <p:cNvSpPr txBox="1"/>
            <p:nvPr/>
          </p:nvSpPr>
          <p:spPr>
            <a:xfrm>
              <a:off x="1583" y="2745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3846" name="Text Box 33845"/>
            <p:cNvSpPr txBox="1"/>
            <p:nvPr/>
          </p:nvSpPr>
          <p:spPr>
            <a:xfrm>
              <a:off x="1916" y="326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3847" name="Text Box 33846"/>
            <p:cNvSpPr txBox="1"/>
            <p:nvPr/>
          </p:nvSpPr>
          <p:spPr>
            <a:xfrm>
              <a:off x="2160" y="301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3848" name="Text Box 33847"/>
            <p:cNvSpPr txBox="1"/>
            <p:nvPr/>
          </p:nvSpPr>
          <p:spPr>
            <a:xfrm>
              <a:off x="2688" y="2870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3849" name="Straight Connector 33848"/>
            <p:cNvSpPr/>
            <p:nvPr/>
          </p:nvSpPr>
          <p:spPr>
            <a:xfrm>
              <a:off x="3552" y="3264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3850" name="Text Box 33849"/>
            <p:cNvSpPr txBox="1"/>
            <p:nvPr/>
          </p:nvSpPr>
          <p:spPr>
            <a:xfrm>
              <a:off x="3600" y="302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3851" name="Straight Connector 33850"/>
            <p:cNvSpPr/>
            <p:nvPr/>
          </p:nvSpPr>
          <p:spPr>
            <a:xfrm flipH="1" flipV="1">
              <a:off x="3408" y="2352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3852" name="Text Box 33851"/>
            <p:cNvSpPr txBox="1"/>
            <p:nvPr/>
          </p:nvSpPr>
          <p:spPr>
            <a:xfrm>
              <a:off x="3408" y="283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3853" name="Straight Connector 33852"/>
            <p:cNvSpPr/>
            <p:nvPr/>
          </p:nvSpPr>
          <p:spPr>
            <a:xfrm>
              <a:off x="4656" y="3408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3854" name="Straight Connector 33853"/>
            <p:cNvSpPr/>
            <p:nvPr/>
          </p:nvSpPr>
          <p:spPr>
            <a:xfrm>
              <a:off x="4656" y="3552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3855" name="Straight Connector 33854"/>
            <p:cNvSpPr/>
            <p:nvPr/>
          </p:nvSpPr>
          <p:spPr>
            <a:xfrm flipV="1">
              <a:off x="4992" y="326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3856" name="Straight Connector 33855"/>
            <p:cNvSpPr/>
            <p:nvPr/>
          </p:nvSpPr>
          <p:spPr>
            <a:xfrm flipH="1">
              <a:off x="4800" y="326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3857" name="Text Box 33856"/>
            <p:cNvSpPr txBox="1"/>
            <p:nvPr/>
          </p:nvSpPr>
          <p:spPr>
            <a:xfrm>
              <a:off x="4656" y="3542"/>
              <a:ext cx="3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a, 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33858" name="Freeform 33857"/>
          <p:cNvSpPr/>
          <p:nvPr/>
        </p:nvSpPr>
        <p:spPr>
          <a:xfrm>
            <a:off x="2012950" y="2341563"/>
            <a:ext cx="3924300" cy="3208337"/>
          </a:xfrm>
          <a:custGeom>
            <a:avLst/>
            <a:gdLst/>
            <a:ahLst/>
            <a:cxnLst/>
            <a:pathLst>
              <a:path w="2472" h="2021">
                <a:moveTo>
                  <a:pt x="924" y="637"/>
                </a:moveTo>
                <a:cubicBezTo>
                  <a:pt x="906" y="583"/>
                  <a:pt x="886" y="531"/>
                  <a:pt x="868" y="477"/>
                </a:cubicBezTo>
                <a:cubicBezTo>
                  <a:pt x="864" y="466"/>
                  <a:pt x="859" y="433"/>
                  <a:pt x="852" y="421"/>
                </a:cubicBezTo>
                <a:cubicBezTo>
                  <a:pt x="828" y="376"/>
                  <a:pt x="798" y="329"/>
                  <a:pt x="772" y="285"/>
                </a:cubicBezTo>
                <a:cubicBezTo>
                  <a:pt x="754" y="212"/>
                  <a:pt x="654" y="102"/>
                  <a:pt x="580" y="77"/>
                </a:cubicBezTo>
                <a:cubicBezTo>
                  <a:pt x="548" y="29"/>
                  <a:pt x="466" y="24"/>
                  <a:pt x="412" y="13"/>
                </a:cubicBezTo>
                <a:cubicBezTo>
                  <a:pt x="271" y="20"/>
                  <a:pt x="266" y="0"/>
                  <a:pt x="180" y="69"/>
                </a:cubicBezTo>
                <a:cubicBezTo>
                  <a:pt x="163" y="103"/>
                  <a:pt x="153" y="121"/>
                  <a:pt x="116" y="133"/>
                </a:cubicBezTo>
                <a:cubicBezTo>
                  <a:pt x="111" y="144"/>
                  <a:pt x="108" y="156"/>
                  <a:pt x="100" y="165"/>
                </a:cubicBezTo>
                <a:cubicBezTo>
                  <a:pt x="94" y="172"/>
                  <a:pt x="81" y="173"/>
                  <a:pt x="76" y="181"/>
                </a:cubicBezTo>
                <a:cubicBezTo>
                  <a:pt x="65" y="197"/>
                  <a:pt x="69" y="220"/>
                  <a:pt x="60" y="237"/>
                </a:cubicBezTo>
                <a:cubicBezTo>
                  <a:pt x="53" y="251"/>
                  <a:pt x="42" y="263"/>
                  <a:pt x="36" y="277"/>
                </a:cubicBezTo>
                <a:cubicBezTo>
                  <a:pt x="29" y="292"/>
                  <a:pt x="20" y="325"/>
                  <a:pt x="20" y="325"/>
                </a:cubicBezTo>
                <a:cubicBezTo>
                  <a:pt x="25" y="438"/>
                  <a:pt x="0" y="489"/>
                  <a:pt x="68" y="557"/>
                </a:cubicBezTo>
                <a:cubicBezTo>
                  <a:pt x="83" y="601"/>
                  <a:pt x="103" y="649"/>
                  <a:pt x="132" y="685"/>
                </a:cubicBezTo>
                <a:cubicBezTo>
                  <a:pt x="163" y="724"/>
                  <a:pt x="205" y="757"/>
                  <a:pt x="236" y="797"/>
                </a:cubicBezTo>
                <a:cubicBezTo>
                  <a:pt x="303" y="883"/>
                  <a:pt x="238" y="815"/>
                  <a:pt x="292" y="869"/>
                </a:cubicBezTo>
                <a:cubicBezTo>
                  <a:pt x="310" y="923"/>
                  <a:pt x="384" y="999"/>
                  <a:pt x="428" y="1037"/>
                </a:cubicBezTo>
                <a:cubicBezTo>
                  <a:pt x="437" y="1044"/>
                  <a:pt x="443" y="1054"/>
                  <a:pt x="452" y="1061"/>
                </a:cubicBezTo>
                <a:cubicBezTo>
                  <a:pt x="467" y="1073"/>
                  <a:pt x="500" y="1093"/>
                  <a:pt x="500" y="1093"/>
                </a:cubicBezTo>
                <a:cubicBezTo>
                  <a:pt x="516" y="1142"/>
                  <a:pt x="494" y="1094"/>
                  <a:pt x="540" y="1133"/>
                </a:cubicBezTo>
                <a:cubicBezTo>
                  <a:pt x="587" y="1172"/>
                  <a:pt x="617" y="1225"/>
                  <a:pt x="676" y="1245"/>
                </a:cubicBezTo>
                <a:cubicBezTo>
                  <a:pt x="701" y="1270"/>
                  <a:pt x="706" y="1298"/>
                  <a:pt x="740" y="1309"/>
                </a:cubicBezTo>
                <a:cubicBezTo>
                  <a:pt x="748" y="1357"/>
                  <a:pt x="769" y="1391"/>
                  <a:pt x="780" y="1437"/>
                </a:cubicBezTo>
                <a:cubicBezTo>
                  <a:pt x="783" y="1450"/>
                  <a:pt x="783" y="1464"/>
                  <a:pt x="788" y="1477"/>
                </a:cubicBezTo>
                <a:cubicBezTo>
                  <a:pt x="791" y="1486"/>
                  <a:pt x="799" y="1493"/>
                  <a:pt x="804" y="1501"/>
                </a:cubicBezTo>
                <a:cubicBezTo>
                  <a:pt x="810" y="1511"/>
                  <a:pt x="816" y="1522"/>
                  <a:pt x="820" y="1533"/>
                </a:cubicBezTo>
                <a:cubicBezTo>
                  <a:pt x="836" y="1581"/>
                  <a:pt x="833" y="1605"/>
                  <a:pt x="860" y="1645"/>
                </a:cubicBezTo>
                <a:cubicBezTo>
                  <a:pt x="872" y="1694"/>
                  <a:pt x="880" y="1745"/>
                  <a:pt x="916" y="1781"/>
                </a:cubicBezTo>
                <a:cubicBezTo>
                  <a:pt x="921" y="1797"/>
                  <a:pt x="929" y="1824"/>
                  <a:pt x="940" y="1837"/>
                </a:cubicBezTo>
                <a:cubicBezTo>
                  <a:pt x="965" y="1867"/>
                  <a:pt x="1039" y="1913"/>
                  <a:pt x="1076" y="1925"/>
                </a:cubicBezTo>
                <a:cubicBezTo>
                  <a:pt x="1137" y="1986"/>
                  <a:pt x="1233" y="2001"/>
                  <a:pt x="1316" y="2013"/>
                </a:cubicBezTo>
                <a:cubicBezTo>
                  <a:pt x="1395" y="2007"/>
                  <a:pt x="1420" y="2021"/>
                  <a:pt x="1468" y="1973"/>
                </a:cubicBezTo>
                <a:cubicBezTo>
                  <a:pt x="1487" y="1915"/>
                  <a:pt x="1506" y="1856"/>
                  <a:pt x="1540" y="1805"/>
                </a:cubicBezTo>
                <a:cubicBezTo>
                  <a:pt x="1549" y="1742"/>
                  <a:pt x="1562" y="1739"/>
                  <a:pt x="1580" y="1685"/>
                </a:cubicBezTo>
                <a:cubicBezTo>
                  <a:pt x="1587" y="1606"/>
                  <a:pt x="1591" y="1521"/>
                  <a:pt x="1636" y="1453"/>
                </a:cubicBezTo>
                <a:cubicBezTo>
                  <a:pt x="1646" y="1404"/>
                  <a:pt x="1644" y="1395"/>
                  <a:pt x="1684" y="1365"/>
                </a:cubicBezTo>
                <a:cubicBezTo>
                  <a:pt x="1702" y="1321"/>
                  <a:pt x="1727" y="1269"/>
                  <a:pt x="1764" y="1237"/>
                </a:cubicBezTo>
                <a:cubicBezTo>
                  <a:pt x="1792" y="1213"/>
                  <a:pt x="1832" y="1198"/>
                  <a:pt x="1860" y="1173"/>
                </a:cubicBezTo>
                <a:cubicBezTo>
                  <a:pt x="1860" y="1173"/>
                  <a:pt x="1920" y="1113"/>
                  <a:pt x="1932" y="1101"/>
                </a:cubicBezTo>
                <a:cubicBezTo>
                  <a:pt x="1945" y="1088"/>
                  <a:pt x="2017" y="1064"/>
                  <a:pt x="2036" y="1053"/>
                </a:cubicBezTo>
                <a:cubicBezTo>
                  <a:pt x="2063" y="1038"/>
                  <a:pt x="2081" y="1011"/>
                  <a:pt x="2108" y="997"/>
                </a:cubicBezTo>
                <a:cubicBezTo>
                  <a:pt x="2149" y="975"/>
                  <a:pt x="2199" y="960"/>
                  <a:pt x="2244" y="949"/>
                </a:cubicBezTo>
                <a:cubicBezTo>
                  <a:pt x="2282" y="911"/>
                  <a:pt x="2334" y="881"/>
                  <a:pt x="2380" y="853"/>
                </a:cubicBezTo>
                <a:cubicBezTo>
                  <a:pt x="2392" y="818"/>
                  <a:pt x="2411" y="794"/>
                  <a:pt x="2420" y="757"/>
                </a:cubicBezTo>
                <a:cubicBezTo>
                  <a:pt x="2436" y="693"/>
                  <a:pt x="2447" y="627"/>
                  <a:pt x="2468" y="565"/>
                </a:cubicBezTo>
                <a:cubicBezTo>
                  <a:pt x="2455" y="430"/>
                  <a:pt x="2472" y="339"/>
                  <a:pt x="2404" y="237"/>
                </a:cubicBezTo>
                <a:cubicBezTo>
                  <a:pt x="2401" y="224"/>
                  <a:pt x="2404" y="208"/>
                  <a:pt x="2396" y="197"/>
                </a:cubicBezTo>
                <a:cubicBezTo>
                  <a:pt x="2391" y="190"/>
                  <a:pt x="2379" y="194"/>
                  <a:pt x="2372" y="189"/>
                </a:cubicBezTo>
                <a:cubicBezTo>
                  <a:pt x="2335" y="164"/>
                  <a:pt x="2311" y="123"/>
                  <a:pt x="2268" y="109"/>
                </a:cubicBezTo>
                <a:cubicBezTo>
                  <a:pt x="2230" y="71"/>
                  <a:pt x="2214" y="76"/>
                  <a:pt x="2156" y="69"/>
                </a:cubicBezTo>
                <a:cubicBezTo>
                  <a:pt x="2116" y="72"/>
                  <a:pt x="2076" y="71"/>
                  <a:pt x="2036" y="77"/>
                </a:cubicBezTo>
                <a:cubicBezTo>
                  <a:pt x="1991" y="84"/>
                  <a:pt x="1934" y="162"/>
                  <a:pt x="1892" y="197"/>
                </a:cubicBezTo>
                <a:cubicBezTo>
                  <a:pt x="1864" y="220"/>
                  <a:pt x="1858" y="236"/>
                  <a:pt x="1836" y="269"/>
                </a:cubicBezTo>
                <a:cubicBezTo>
                  <a:pt x="1831" y="277"/>
                  <a:pt x="1820" y="293"/>
                  <a:pt x="1820" y="293"/>
                </a:cubicBezTo>
                <a:cubicBezTo>
                  <a:pt x="1810" y="335"/>
                  <a:pt x="1806" y="362"/>
                  <a:pt x="1780" y="397"/>
                </a:cubicBezTo>
                <a:cubicBezTo>
                  <a:pt x="1765" y="456"/>
                  <a:pt x="1766" y="530"/>
                  <a:pt x="1732" y="581"/>
                </a:cubicBezTo>
                <a:cubicBezTo>
                  <a:pt x="1724" y="614"/>
                  <a:pt x="1715" y="639"/>
                  <a:pt x="1700" y="669"/>
                </a:cubicBezTo>
                <a:cubicBezTo>
                  <a:pt x="1690" y="731"/>
                  <a:pt x="1679" y="783"/>
                  <a:pt x="1628" y="821"/>
                </a:cubicBezTo>
                <a:cubicBezTo>
                  <a:pt x="1610" y="856"/>
                  <a:pt x="1586" y="907"/>
                  <a:pt x="1556" y="933"/>
                </a:cubicBezTo>
                <a:cubicBezTo>
                  <a:pt x="1515" y="969"/>
                  <a:pt x="1448" y="1000"/>
                  <a:pt x="1396" y="1013"/>
                </a:cubicBezTo>
                <a:cubicBezTo>
                  <a:pt x="1321" y="1007"/>
                  <a:pt x="1267" y="993"/>
                  <a:pt x="1196" y="981"/>
                </a:cubicBezTo>
                <a:cubicBezTo>
                  <a:pt x="1171" y="964"/>
                  <a:pt x="1149" y="942"/>
                  <a:pt x="1124" y="925"/>
                </a:cubicBezTo>
                <a:cubicBezTo>
                  <a:pt x="1052" y="877"/>
                  <a:pt x="1152" y="964"/>
                  <a:pt x="1076" y="901"/>
                </a:cubicBezTo>
                <a:cubicBezTo>
                  <a:pt x="1014" y="850"/>
                  <a:pt x="1088" y="901"/>
                  <a:pt x="1028" y="861"/>
                </a:cubicBezTo>
                <a:cubicBezTo>
                  <a:pt x="994" y="810"/>
                  <a:pt x="993" y="736"/>
                  <a:pt x="940" y="701"/>
                </a:cubicBezTo>
                <a:cubicBezTo>
                  <a:pt x="922" y="648"/>
                  <a:pt x="924" y="670"/>
                  <a:pt x="924" y="637"/>
                </a:cubicBezTo>
                <a:close/>
              </a:path>
            </a:pathLst>
          </a:custGeom>
          <a:noFill/>
          <a:ln w="2857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Title 31745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t>Example of Minimization</a:t>
            </a:r>
          </a:p>
        </p:txBody>
      </p:sp>
      <p:sp>
        <p:nvSpPr>
          <p:cNvPr id="31747" name="Text Placeholder 3174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762000"/>
          </a:xfrm>
          <a:ln/>
        </p:spPr>
        <p:txBody>
          <a:bodyPr/>
          <a:p>
            <a:r>
              <a:t>Combine states 3 and 7 into one state.</a:t>
            </a:r>
          </a:p>
        </p:txBody>
      </p:sp>
      <p:grpSp>
        <p:nvGrpSpPr>
          <p:cNvPr id="31748" name="Group 31747"/>
          <p:cNvGrpSpPr/>
          <p:nvPr/>
        </p:nvGrpSpPr>
        <p:grpSpPr>
          <a:xfrm>
            <a:off x="914400" y="2438400"/>
            <a:ext cx="7239000" cy="3262313"/>
            <a:chOff x="624" y="1737"/>
            <a:chExt cx="4560" cy="2055"/>
          </a:xfrm>
        </p:grpSpPr>
        <p:sp>
          <p:nvSpPr>
            <p:cNvPr id="31749" name="Oval 31748"/>
            <p:cNvSpPr/>
            <p:nvPr/>
          </p:nvSpPr>
          <p:spPr>
            <a:xfrm>
              <a:off x="816" y="2592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1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1750" name="Oval 31749"/>
            <p:cNvSpPr/>
            <p:nvPr/>
          </p:nvSpPr>
          <p:spPr>
            <a:xfrm>
              <a:off x="4512" y="312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en-US"/>
            </a:p>
          </p:txBody>
        </p:sp>
        <p:sp>
          <p:nvSpPr>
            <p:cNvPr id="31751" name="Oval 31750"/>
            <p:cNvSpPr/>
            <p:nvPr/>
          </p:nvSpPr>
          <p:spPr>
            <a:xfrm>
              <a:off x="3264" y="312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9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1752" name="Oval 31751"/>
            <p:cNvSpPr/>
            <p:nvPr/>
          </p:nvSpPr>
          <p:spPr>
            <a:xfrm>
              <a:off x="2448" y="312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8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1753" name="Oval 31752"/>
            <p:cNvSpPr/>
            <p:nvPr/>
          </p:nvSpPr>
          <p:spPr>
            <a:xfrm>
              <a:off x="1632" y="312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7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1754" name="Oval 31753"/>
            <p:cNvSpPr/>
            <p:nvPr/>
          </p:nvSpPr>
          <p:spPr>
            <a:xfrm>
              <a:off x="4896" y="206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6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1755" name="Oval 31754"/>
            <p:cNvSpPr/>
            <p:nvPr/>
          </p:nvSpPr>
          <p:spPr>
            <a:xfrm>
              <a:off x="4080" y="206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5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1756" name="Oval 31755"/>
            <p:cNvSpPr/>
            <p:nvPr/>
          </p:nvSpPr>
          <p:spPr>
            <a:xfrm>
              <a:off x="3264" y="206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4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1757" name="Oval 31756"/>
            <p:cNvSpPr/>
            <p:nvPr/>
          </p:nvSpPr>
          <p:spPr>
            <a:xfrm>
              <a:off x="2448" y="206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3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1758" name="Oval 31757"/>
            <p:cNvSpPr/>
            <p:nvPr/>
          </p:nvSpPr>
          <p:spPr>
            <a:xfrm>
              <a:off x="1632" y="206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2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1759" name="Straight Connector 31758"/>
            <p:cNvSpPr/>
            <p:nvPr/>
          </p:nvSpPr>
          <p:spPr>
            <a:xfrm>
              <a:off x="624" y="2736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1760" name="Straight Connector 31759"/>
            <p:cNvSpPr/>
            <p:nvPr/>
          </p:nvSpPr>
          <p:spPr>
            <a:xfrm flipV="1">
              <a:off x="1056" y="2304"/>
              <a:ext cx="576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1761" name="Straight Connector 31760"/>
            <p:cNvSpPr/>
            <p:nvPr/>
          </p:nvSpPr>
          <p:spPr>
            <a:xfrm>
              <a:off x="1104" y="2832"/>
              <a:ext cx="528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1762" name="Straight Connector 31761"/>
            <p:cNvSpPr/>
            <p:nvPr/>
          </p:nvSpPr>
          <p:spPr>
            <a:xfrm>
              <a:off x="1920" y="2208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1763" name="Straight Connector 31762"/>
            <p:cNvSpPr/>
            <p:nvPr/>
          </p:nvSpPr>
          <p:spPr>
            <a:xfrm flipH="1">
              <a:off x="2736" y="2208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1764" name="Straight Connector 31763"/>
            <p:cNvSpPr/>
            <p:nvPr/>
          </p:nvSpPr>
          <p:spPr>
            <a:xfrm>
              <a:off x="3552" y="2208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1765" name="Straight Connector 31764"/>
            <p:cNvSpPr/>
            <p:nvPr/>
          </p:nvSpPr>
          <p:spPr>
            <a:xfrm flipV="1">
              <a:off x="1776" y="2352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1766" name="Straight Connector 31765"/>
            <p:cNvSpPr/>
            <p:nvPr/>
          </p:nvSpPr>
          <p:spPr>
            <a:xfrm>
              <a:off x="2592" y="2352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1767" name="Straight Connector 31766"/>
            <p:cNvSpPr/>
            <p:nvPr/>
          </p:nvSpPr>
          <p:spPr>
            <a:xfrm flipH="1">
              <a:off x="1920" y="3264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1768" name="Straight Connector 31767"/>
            <p:cNvSpPr/>
            <p:nvPr/>
          </p:nvSpPr>
          <p:spPr>
            <a:xfrm flipV="1">
              <a:off x="2688" y="2304"/>
              <a:ext cx="1440" cy="8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1769" name="Straight Connector 31768"/>
            <p:cNvSpPr/>
            <p:nvPr/>
          </p:nvSpPr>
          <p:spPr>
            <a:xfrm>
              <a:off x="2688" y="2304"/>
              <a:ext cx="624" cy="8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1770" name="Straight Connector 31769"/>
            <p:cNvSpPr/>
            <p:nvPr/>
          </p:nvSpPr>
          <p:spPr>
            <a:xfrm>
              <a:off x="4272" y="2352"/>
              <a:ext cx="288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1771" name="Straight Connector 31770"/>
            <p:cNvSpPr/>
            <p:nvPr/>
          </p:nvSpPr>
          <p:spPr>
            <a:xfrm flipH="1">
              <a:off x="4704" y="2352"/>
              <a:ext cx="24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1772" name="Straight Connector 31771"/>
            <p:cNvSpPr/>
            <p:nvPr/>
          </p:nvSpPr>
          <p:spPr>
            <a:xfrm flipV="1">
              <a:off x="4944" y="1968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773" name="Straight Connector 31772"/>
            <p:cNvSpPr/>
            <p:nvPr/>
          </p:nvSpPr>
          <p:spPr>
            <a:xfrm flipH="1">
              <a:off x="2592" y="1968"/>
              <a:ext cx="23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774" name="Straight Connector 31773"/>
            <p:cNvSpPr/>
            <p:nvPr/>
          </p:nvSpPr>
          <p:spPr>
            <a:xfrm flipV="1">
              <a:off x="1776" y="182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775" name="Straight Connector 31774"/>
            <p:cNvSpPr/>
            <p:nvPr/>
          </p:nvSpPr>
          <p:spPr>
            <a:xfrm>
              <a:off x="1776" y="1824"/>
              <a:ext cx="33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776" name="Straight Connector 31775"/>
            <p:cNvSpPr/>
            <p:nvPr/>
          </p:nvSpPr>
          <p:spPr>
            <a:xfrm>
              <a:off x="2592" y="1968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1777" name="Straight Connector 31776"/>
            <p:cNvSpPr/>
            <p:nvPr/>
          </p:nvSpPr>
          <p:spPr>
            <a:xfrm>
              <a:off x="5136" y="182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1778" name="Straight Connector 31777"/>
            <p:cNvSpPr/>
            <p:nvPr/>
          </p:nvSpPr>
          <p:spPr>
            <a:xfrm flipV="1">
              <a:off x="1824" y="3408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779" name="Straight Connector 31778"/>
            <p:cNvSpPr/>
            <p:nvPr/>
          </p:nvSpPr>
          <p:spPr>
            <a:xfrm>
              <a:off x="1824" y="3504"/>
              <a:ext cx="15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780" name="Straight Connector 31779"/>
            <p:cNvSpPr/>
            <p:nvPr/>
          </p:nvSpPr>
          <p:spPr>
            <a:xfrm flipV="1">
              <a:off x="3408" y="3408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1781" name="Straight Connector 31780"/>
            <p:cNvSpPr/>
            <p:nvPr/>
          </p:nvSpPr>
          <p:spPr>
            <a:xfrm>
              <a:off x="4224" y="2352"/>
              <a:ext cx="0" cy="12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782" name="Straight Connector 31781"/>
            <p:cNvSpPr/>
            <p:nvPr/>
          </p:nvSpPr>
          <p:spPr>
            <a:xfrm flipH="1">
              <a:off x="1680" y="3648"/>
              <a:ext cx="25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783" name="Straight Connector 31782"/>
            <p:cNvSpPr/>
            <p:nvPr/>
          </p:nvSpPr>
          <p:spPr>
            <a:xfrm flipV="1">
              <a:off x="1680" y="340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1784" name="Oval 31783"/>
            <p:cNvSpPr/>
            <p:nvPr/>
          </p:nvSpPr>
          <p:spPr>
            <a:xfrm>
              <a:off x="4560" y="3168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10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1785" name="Text Box 31784"/>
            <p:cNvSpPr txBox="1"/>
            <p:nvPr/>
          </p:nvSpPr>
          <p:spPr>
            <a:xfrm>
              <a:off x="1103" y="229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1786" name="Text Box 31785"/>
            <p:cNvSpPr txBox="1"/>
            <p:nvPr/>
          </p:nvSpPr>
          <p:spPr>
            <a:xfrm>
              <a:off x="1100" y="292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1787" name="Text Box 31786"/>
            <p:cNvSpPr txBox="1"/>
            <p:nvPr/>
          </p:nvSpPr>
          <p:spPr>
            <a:xfrm>
              <a:off x="1580" y="1737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1788" name="Text Box 31787"/>
            <p:cNvSpPr txBox="1"/>
            <p:nvPr/>
          </p:nvSpPr>
          <p:spPr>
            <a:xfrm>
              <a:off x="2014" y="195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1789" name="Text Box 31788"/>
            <p:cNvSpPr txBox="1"/>
            <p:nvPr/>
          </p:nvSpPr>
          <p:spPr>
            <a:xfrm>
              <a:off x="2396" y="2361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1790" name="Text Box 31789"/>
            <p:cNvSpPr txBox="1"/>
            <p:nvPr/>
          </p:nvSpPr>
          <p:spPr>
            <a:xfrm>
              <a:off x="2936" y="2335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1791" name="Text Box 31790"/>
            <p:cNvSpPr txBox="1"/>
            <p:nvPr/>
          </p:nvSpPr>
          <p:spPr>
            <a:xfrm>
              <a:off x="2974" y="1977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1792" name="Text Box 31791"/>
            <p:cNvSpPr txBox="1"/>
            <p:nvPr/>
          </p:nvSpPr>
          <p:spPr>
            <a:xfrm>
              <a:off x="3600" y="196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1793" name="Text Box 31792"/>
            <p:cNvSpPr txBox="1"/>
            <p:nvPr/>
          </p:nvSpPr>
          <p:spPr>
            <a:xfrm>
              <a:off x="4320" y="230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1794" name="Text Box 31793"/>
            <p:cNvSpPr txBox="1"/>
            <p:nvPr/>
          </p:nvSpPr>
          <p:spPr>
            <a:xfrm>
              <a:off x="4028" y="243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1795" name="Text Box 31794"/>
            <p:cNvSpPr txBox="1"/>
            <p:nvPr/>
          </p:nvSpPr>
          <p:spPr>
            <a:xfrm>
              <a:off x="4700" y="195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1796" name="Text Box 31795"/>
            <p:cNvSpPr txBox="1"/>
            <p:nvPr/>
          </p:nvSpPr>
          <p:spPr>
            <a:xfrm>
              <a:off x="4892" y="2361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1797" name="Text Box 31796"/>
            <p:cNvSpPr txBox="1"/>
            <p:nvPr/>
          </p:nvSpPr>
          <p:spPr>
            <a:xfrm>
              <a:off x="1583" y="2745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1798" name="Text Box 31797"/>
            <p:cNvSpPr txBox="1"/>
            <p:nvPr/>
          </p:nvSpPr>
          <p:spPr>
            <a:xfrm>
              <a:off x="1916" y="326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1799" name="Text Box 31798"/>
            <p:cNvSpPr txBox="1"/>
            <p:nvPr/>
          </p:nvSpPr>
          <p:spPr>
            <a:xfrm>
              <a:off x="2160" y="301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1800" name="Text Box 31799"/>
            <p:cNvSpPr txBox="1"/>
            <p:nvPr/>
          </p:nvSpPr>
          <p:spPr>
            <a:xfrm>
              <a:off x="2688" y="2870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1801" name="Straight Connector 31800"/>
            <p:cNvSpPr/>
            <p:nvPr/>
          </p:nvSpPr>
          <p:spPr>
            <a:xfrm>
              <a:off x="3552" y="3264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1802" name="Text Box 31801"/>
            <p:cNvSpPr txBox="1"/>
            <p:nvPr/>
          </p:nvSpPr>
          <p:spPr>
            <a:xfrm>
              <a:off x="3600" y="302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1803" name="Straight Connector 31802"/>
            <p:cNvSpPr/>
            <p:nvPr/>
          </p:nvSpPr>
          <p:spPr>
            <a:xfrm flipH="1" flipV="1">
              <a:off x="3408" y="2352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1804" name="Text Box 31803"/>
            <p:cNvSpPr txBox="1"/>
            <p:nvPr/>
          </p:nvSpPr>
          <p:spPr>
            <a:xfrm>
              <a:off x="3408" y="283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1805" name="Straight Connector 31804"/>
            <p:cNvSpPr/>
            <p:nvPr/>
          </p:nvSpPr>
          <p:spPr>
            <a:xfrm>
              <a:off x="4656" y="3408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806" name="Straight Connector 31805"/>
            <p:cNvSpPr/>
            <p:nvPr/>
          </p:nvSpPr>
          <p:spPr>
            <a:xfrm>
              <a:off x="4656" y="3552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807" name="Straight Connector 31806"/>
            <p:cNvSpPr/>
            <p:nvPr/>
          </p:nvSpPr>
          <p:spPr>
            <a:xfrm flipV="1">
              <a:off x="4992" y="326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808" name="Straight Connector 31807"/>
            <p:cNvSpPr/>
            <p:nvPr/>
          </p:nvSpPr>
          <p:spPr>
            <a:xfrm flipH="1">
              <a:off x="4800" y="326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1809" name="Text Box 31808"/>
            <p:cNvSpPr txBox="1"/>
            <p:nvPr/>
          </p:nvSpPr>
          <p:spPr>
            <a:xfrm>
              <a:off x="4656" y="3542"/>
              <a:ext cx="3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a, 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31810" name="Freeform 31809"/>
          <p:cNvSpPr/>
          <p:nvPr/>
        </p:nvSpPr>
        <p:spPr>
          <a:xfrm>
            <a:off x="2012950" y="2341563"/>
            <a:ext cx="3924300" cy="3208337"/>
          </a:xfrm>
          <a:custGeom>
            <a:avLst/>
            <a:gdLst/>
            <a:ahLst/>
            <a:cxnLst/>
            <a:pathLst>
              <a:path w="2472" h="2021">
                <a:moveTo>
                  <a:pt x="924" y="637"/>
                </a:moveTo>
                <a:cubicBezTo>
                  <a:pt x="906" y="583"/>
                  <a:pt x="886" y="531"/>
                  <a:pt x="868" y="477"/>
                </a:cubicBezTo>
                <a:cubicBezTo>
                  <a:pt x="864" y="466"/>
                  <a:pt x="859" y="433"/>
                  <a:pt x="852" y="421"/>
                </a:cubicBezTo>
                <a:cubicBezTo>
                  <a:pt x="828" y="376"/>
                  <a:pt x="798" y="329"/>
                  <a:pt x="772" y="285"/>
                </a:cubicBezTo>
                <a:cubicBezTo>
                  <a:pt x="754" y="212"/>
                  <a:pt x="654" y="102"/>
                  <a:pt x="580" y="77"/>
                </a:cubicBezTo>
                <a:cubicBezTo>
                  <a:pt x="548" y="29"/>
                  <a:pt x="466" y="24"/>
                  <a:pt x="412" y="13"/>
                </a:cubicBezTo>
                <a:cubicBezTo>
                  <a:pt x="271" y="20"/>
                  <a:pt x="266" y="0"/>
                  <a:pt x="180" y="69"/>
                </a:cubicBezTo>
                <a:cubicBezTo>
                  <a:pt x="163" y="103"/>
                  <a:pt x="153" y="121"/>
                  <a:pt x="116" y="133"/>
                </a:cubicBezTo>
                <a:cubicBezTo>
                  <a:pt x="111" y="144"/>
                  <a:pt x="108" y="156"/>
                  <a:pt x="100" y="165"/>
                </a:cubicBezTo>
                <a:cubicBezTo>
                  <a:pt x="94" y="172"/>
                  <a:pt x="81" y="173"/>
                  <a:pt x="76" y="181"/>
                </a:cubicBezTo>
                <a:cubicBezTo>
                  <a:pt x="65" y="197"/>
                  <a:pt x="69" y="220"/>
                  <a:pt x="60" y="237"/>
                </a:cubicBezTo>
                <a:cubicBezTo>
                  <a:pt x="53" y="251"/>
                  <a:pt x="42" y="263"/>
                  <a:pt x="36" y="277"/>
                </a:cubicBezTo>
                <a:cubicBezTo>
                  <a:pt x="29" y="292"/>
                  <a:pt x="20" y="325"/>
                  <a:pt x="20" y="325"/>
                </a:cubicBezTo>
                <a:cubicBezTo>
                  <a:pt x="25" y="438"/>
                  <a:pt x="0" y="489"/>
                  <a:pt x="68" y="557"/>
                </a:cubicBezTo>
                <a:cubicBezTo>
                  <a:pt x="83" y="601"/>
                  <a:pt x="103" y="649"/>
                  <a:pt x="132" y="685"/>
                </a:cubicBezTo>
                <a:cubicBezTo>
                  <a:pt x="163" y="724"/>
                  <a:pt x="205" y="757"/>
                  <a:pt x="236" y="797"/>
                </a:cubicBezTo>
                <a:cubicBezTo>
                  <a:pt x="303" y="883"/>
                  <a:pt x="238" y="815"/>
                  <a:pt x="292" y="869"/>
                </a:cubicBezTo>
                <a:cubicBezTo>
                  <a:pt x="310" y="923"/>
                  <a:pt x="384" y="999"/>
                  <a:pt x="428" y="1037"/>
                </a:cubicBezTo>
                <a:cubicBezTo>
                  <a:pt x="437" y="1044"/>
                  <a:pt x="443" y="1054"/>
                  <a:pt x="452" y="1061"/>
                </a:cubicBezTo>
                <a:cubicBezTo>
                  <a:pt x="467" y="1073"/>
                  <a:pt x="500" y="1093"/>
                  <a:pt x="500" y="1093"/>
                </a:cubicBezTo>
                <a:cubicBezTo>
                  <a:pt x="516" y="1142"/>
                  <a:pt x="494" y="1094"/>
                  <a:pt x="540" y="1133"/>
                </a:cubicBezTo>
                <a:cubicBezTo>
                  <a:pt x="587" y="1172"/>
                  <a:pt x="617" y="1225"/>
                  <a:pt x="676" y="1245"/>
                </a:cubicBezTo>
                <a:cubicBezTo>
                  <a:pt x="701" y="1270"/>
                  <a:pt x="706" y="1298"/>
                  <a:pt x="740" y="1309"/>
                </a:cubicBezTo>
                <a:cubicBezTo>
                  <a:pt x="748" y="1357"/>
                  <a:pt x="769" y="1391"/>
                  <a:pt x="780" y="1437"/>
                </a:cubicBezTo>
                <a:cubicBezTo>
                  <a:pt x="783" y="1450"/>
                  <a:pt x="783" y="1464"/>
                  <a:pt x="788" y="1477"/>
                </a:cubicBezTo>
                <a:cubicBezTo>
                  <a:pt x="791" y="1486"/>
                  <a:pt x="799" y="1493"/>
                  <a:pt x="804" y="1501"/>
                </a:cubicBezTo>
                <a:cubicBezTo>
                  <a:pt x="810" y="1511"/>
                  <a:pt x="816" y="1522"/>
                  <a:pt x="820" y="1533"/>
                </a:cubicBezTo>
                <a:cubicBezTo>
                  <a:pt x="836" y="1581"/>
                  <a:pt x="833" y="1605"/>
                  <a:pt x="860" y="1645"/>
                </a:cubicBezTo>
                <a:cubicBezTo>
                  <a:pt x="872" y="1694"/>
                  <a:pt x="880" y="1745"/>
                  <a:pt x="916" y="1781"/>
                </a:cubicBezTo>
                <a:cubicBezTo>
                  <a:pt x="921" y="1797"/>
                  <a:pt x="929" y="1824"/>
                  <a:pt x="940" y="1837"/>
                </a:cubicBezTo>
                <a:cubicBezTo>
                  <a:pt x="965" y="1867"/>
                  <a:pt x="1039" y="1913"/>
                  <a:pt x="1076" y="1925"/>
                </a:cubicBezTo>
                <a:cubicBezTo>
                  <a:pt x="1137" y="1986"/>
                  <a:pt x="1233" y="2001"/>
                  <a:pt x="1316" y="2013"/>
                </a:cubicBezTo>
                <a:cubicBezTo>
                  <a:pt x="1395" y="2007"/>
                  <a:pt x="1420" y="2021"/>
                  <a:pt x="1468" y="1973"/>
                </a:cubicBezTo>
                <a:cubicBezTo>
                  <a:pt x="1487" y="1915"/>
                  <a:pt x="1506" y="1856"/>
                  <a:pt x="1540" y="1805"/>
                </a:cubicBezTo>
                <a:cubicBezTo>
                  <a:pt x="1549" y="1742"/>
                  <a:pt x="1562" y="1739"/>
                  <a:pt x="1580" y="1685"/>
                </a:cubicBezTo>
                <a:cubicBezTo>
                  <a:pt x="1587" y="1606"/>
                  <a:pt x="1591" y="1521"/>
                  <a:pt x="1636" y="1453"/>
                </a:cubicBezTo>
                <a:cubicBezTo>
                  <a:pt x="1646" y="1404"/>
                  <a:pt x="1644" y="1395"/>
                  <a:pt x="1684" y="1365"/>
                </a:cubicBezTo>
                <a:cubicBezTo>
                  <a:pt x="1702" y="1321"/>
                  <a:pt x="1727" y="1269"/>
                  <a:pt x="1764" y="1237"/>
                </a:cubicBezTo>
                <a:cubicBezTo>
                  <a:pt x="1792" y="1213"/>
                  <a:pt x="1832" y="1198"/>
                  <a:pt x="1860" y="1173"/>
                </a:cubicBezTo>
                <a:cubicBezTo>
                  <a:pt x="1860" y="1173"/>
                  <a:pt x="1920" y="1113"/>
                  <a:pt x="1932" y="1101"/>
                </a:cubicBezTo>
                <a:cubicBezTo>
                  <a:pt x="1945" y="1088"/>
                  <a:pt x="2017" y="1064"/>
                  <a:pt x="2036" y="1053"/>
                </a:cubicBezTo>
                <a:cubicBezTo>
                  <a:pt x="2063" y="1038"/>
                  <a:pt x="2081" y="1011"/>
                  <a:pt x="2108" y="997"/>
                </a:cubicBezTo>
                <a:cubicBezTo>
                  <a:pt x="2149" y="975"/>
                  <a:pt x="2199" y="960"/>
                  <a:pt x="2244" y="949"/>
                </a:cubicBezTo>
                <a:cubicBezTo>
                  <a:pt x="2282" y="911"/>
                  <a:pt x="2334" y="881"/>
                  <a:pt x="2380" y="853"/>
                </a:cubicBezTo>
                <a:cubicBezTo>
                  <a:pt x="2392" y="818"/>
                  <a:pt x="2411" y="794"/>
                  <a:pt x="2420" y="757"/>
                </a:cubicBezTo>
                <a:cubicBezTo>
                  <a:pt x="2436" y="693"/>
                  <a:pt x="2447" y="627"/>
                  <a:pt x="2468" y="565"/>
                </a:cubicBezTo>
                <a:cubicBezTo>
                  <a:pt x="2455" y="430"/>
                  <a:pt x="2472" y="339"/>
                  <a:pt x="2404" y="237"/>
                </a:cubicBezTo>
                <a:cubicBezTo>
                  <a:pt x="2401" y="224"/>
                  <a:pt x="2404" y="208"/>
                  <a:pt x="2396" y="197"/>
                </a:cubicBezTo>
                <a:cubicBezTo>
                  <a:pt x="2391" y="190"/>
                  <a:pt x="2379" y="194"/>
                  <a:pt x="2372" y="189"/>
                </a:cubicBezTo>
                <a:cubicBezTo>
                  <a:pt x="2335" y="164"/>
                  <a:pt x="2311" y="123"/>
                  <a:pt x="2268" y="109"/>
                </a:cubicBezTo>
                <a:cubicBezTo>
                  <a:pt x="2230" y="71"/>
                  <a:pt x="2214" y="76"/>
                  <a:pt x="2156" y="69"/>
                </a:cubicBezTo>
                <a:cubicBezTo>
                  <a:pt x="2116" y="72"/>
                  <a:pt x="2076" y="71"/>
                  <a:pt x="2036" y="77"/>
                </a:cubicBezTo>
                <a:cubicBezTo>
                  <a:pt x="1991" y="84"/>
                  <a:pt x="1934" y="162"/>
                  <a:pt x="1892" y="197"/>
                </a:cubicBezTo>
                <a:cubicBezTo>
                  <a:pt x="1864" y="220"/>
                  <a:pt x="1858" y="236"/>
                  <a:pt x="1836" y="269"/>
                </a:cubicBezTo>
                <a:cubicBezTo>
                  <a:pt x="1831" y="277"/>
                  <a:pt x="1820" y="293"/>
                  <a:pt x="1820" y="293"/>
                </a:cubicBezTo>
                <a:cubicBezTo>
                  <a:pt x="1810" y="335"/>
                  <a:pt x="1806" y="362"/>
                  <a:pt x="1780" y="397"/>
                </a:cubicBezTo>
                <a:cubicBezTo>
                  <a:pt x="1765" y="456"/>
                  <a:pt x="1766" y="530"/>
                  <a:pt x="1732" y="581"/>
                </a:cubicBezTo>
                <a:cubicBezTo>
                  <a:pt x="1724" y="614"/>
                  <a:pt x="1715" y="639"/>
                  <a:pt x="1700" y="669"/>
                </a:cubicBezTo>
                <a:cubicBezTo>
                  <a:pt x="1690" y="731"/>
                  <a:pt x="1679" y="783"/>
                  <a:pt x="1628" y="821"/>
                </a:cubicBezTo>
                <a:cubicBezTo>
                  <a:pt x="1610" y="856"/>
                  <a:pt x="1586" y="907"/>
                  <a:pt x="1556" y="933"/>
                </a:cubicBezTo>
                <a:cubicBezTo>
                  <a:pt x="1515" y="969"/>
                  <a:pt x="1448" y="1000"/>
                  <a:pt x="1396" y="1013"/>
                </a:cubicBezTo>
                <a:cubicBezTo>
                  <a:pt x="1321" y="1007"/>
                  <a:pt x="1267" y="993"/>
                  <a:pt x="1196" y="981"/>
                </a:cubicBezTo>
                <a:cubicBezTo>
                  <a:pt x="1171" y="964"/>
                  <a:pt x="1149" y="942"/>
                  <a:pt x="1124" y="925"/>
                </a:cubicBezTo>
                <a:cubicBezTo>
                  <a:pt x="1052" y="877"/>
                  <a:pt x="1152" y="964"/>
                  <a:pt x="1076" y="901"/>
                </a:cubicBezTo>
                <a:cubicBezTo>
                  <a:pt x="1014" y="850"/>
                  <a:pt x="1088" y="901"/>
                  <a:pt x="1028" y="861"/>
                </a:cubicBezTo>
                <a:cubicBezTo>
                  <a:pt x="994" y="810"/>
                  <a:pt x="993" y="736"/>
                  <a:pt x="940" y="701"/>
                </a:cubicBezTo>
                <a:cubicBezTo>
                  <a:pt x="922" y="648"/>
                  <a:pt x="924" y="670"/>
                  <a:pt x="924" y="637"/>
                </a:cubicBez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en-US"/>
          </a:p>
        </p:txBody>
      </p:sp>
      <p:sp>
        <p:nvSpPr>
          <p:cNvPr id="31811" name="Freeform 31810"/>
          <p:cNvSpPr/>
          <p:nvPr/>
        </p:nvSpPr>
        <p:spPr>
          <a:xfrm>
            <a:off x="2116138" y="2495550"/>
            <a:ext cx="2562225" cy="3032125"/>
          </a:xfrm>
          <a:custGeom>
            <a:avLst/>
            <a:gdLst/>
            <a:ahLst/>
            <a:cxnLst/>
            <a:pathLst>
              <a:path w="1614" h="1910">
                <a:moveTo>
                  <a:pt x="1299" y="12"/>
                </a:moveTo>
                <a:cubicBezTo>
                  <a:pt x="1243" y="15"/>
                  <a:pt x="1180" y="0"/>
                  <a:pt x="1131" y="28"/>
                </a:cubicBezTo>
                <a:cubicBezTo>
                  <a:pt x="1093" y="50"/>
                  <a:pt x="1077" y="94"/>
                  <a:pt x="1035" y="108"/>
                </a:cubicBezTo>
                <a:cubicBezTo>
                  <a:pt x="1016" y="165"/>
                  <a:pt x="1043" y="100"/>
                  <a:pt x="1003" y="148"/>
                </a:cubicBezTo>
                <a:cubicBezTo>
                  <a:pt x="995" y="157"/>
                  <a:pt x="994" y="171"/>
                  <a:pt x="987" y="180"/>
                </a:cubicBezTo>
                <a:cubicBezTo>
                  <a:pt x="973" y="198"/>
                  <a:pt x="955" y="212"/>
                  <a:pt x="939" y="228"/>
                </a:cubicBezTo>
                <a:cubicBezTo>
                  <a:pt x="931" y="236"/>
                  <a:pt x="915" y="252"/>
                  <a:pt x="915" y="252"/>
                </a:cubicBezTo>
                <a:cubicBezTo>
                  <a:pt x="898" y="320"/>
                  <a:pt x="921" y="251"/>
                  <a:pt x="883" y="308"/>
                </a:cubicBezTo>
                <a:cubicBezTo>
                  <a:pt x="861" y="341"/>
                  <a:pt x="869" y="374"/>
                  <a:pt x="827" y="388"/>
                </a:cubicBezTo>
                <a:cubicBezTo>
                  <a:pt x="807" y="448"/>
                  <a:pt x="836" y="376"/>
                  <a:pt x="795" y="428"/>
                </a:cubicBezTo>
                <a:cubicBezTo>
                  <a:pt x="790" y="435"/>
                  <a:pt x="792" y="445"/>
                  <a:pt x="787" y="452"/>
                </a:cubicBezTo>
                <a:cubicBezTo>
                  <a:pt x="773" y="470"/>
                  <a:pt x="755" y="484"/>
                  <a:pt x="739" y="500"/>
                </a:cubicBezTo>
                <a:cubicBezTo>
                  <a:pt x="731" y="508"/>
                  <a:pt x="715" y="524"/>
                  <a:pt x="715" y="524"/>
                </a:cubicBezTo>
                <a:cubicBezTo>
                  <a:pt x="673" y="628"/>
                  <a:pt x="726" y="519"/>
                  <a:pt x="675" y="580"/>
                </a:cubicBezTo>
                <a:cubicBezTo>
                  <a:pt x="667" y="589"/>
                  <a:pt x="665" y="602"/>
                  <a:pt x="659" y="612"/>
                </a:cubicBezTo>
                <a:cubicBezTo>
                  <a:pt x="641" y="643"/>
                  <a:pt x="616" y="665"/>
                  <a:pt x="587" y="684"/>
                </a:cubicBezTo>
                <a:cubicBezTo>
                  <a:pt x="582" y="695"/>
                  <a:pt x="579" y="708"/>
                  <a:pt x="571" y="716"/>
                </a:cubicBezTo>
                <a:cubicBezTo>
                  <a:pt x="557" y="730"/>
                  <a:pt x="523" y="748"/>
                  <a:pt x="523" y="748"/>
                </a:cubicBezTo>
                <a:cubicBezTo>
                  <a:pt x="489" y="817"/>
                  <a:pt x="528" y="751"/>
                  <a:pt x="483" y="796"/>
                </a:cubicBezTo>
                <a:cubicBezTo>
                  <a:pt x="454" y="825"/>
                  <a:pt x="438" y="861"/>
                  <a:pt x="403" y="884"/>
                </a:cubicBezTo>
                <a:cubicBezTo>
                  <a:pt x="348" y="967"/>
                  <a:pt x="436" y="843"/>
                  <a:pt x="355" y="924"/>
                </a:cubicBezTo>
                <a:cubicBezTo>
                  <a:pt x="312" y="967"/>
                  <a:pt x="387" y="935"/>
                  <a:pt x="323" y="956"/>
                </a:cubicBezTo>
                <a:cubicBezTo>
                  <a:pt x="246" y="1033"/>
                  <a:pt x="337" y="935"/>
                  <a:pt x="291" y="1004"/>
                </a:cubicBezTo>
                <a:cubicBezTo>
                  <a:pt x="277" y="1024"/>
                  <a:pt x="258" y="1040"/>
                  <a:pt x="243" y="1060"/>
                </a:cubicBezTo>
                <a:cubicBezTo>
                  <a:pt x="222" y="1124"/>
                  <a:pt x="254" y="1049"/>
                  <a:pt x="211" y="1092"/>
                </a:cubicBezTo>
                <a:cubicBezTo>
                  <a:pt x="205" y="1098"/>
                  <a:pt x="208" y="1109"/>
                  <a:pt x="203" y="1116"/>
                </a:cubicBezTo>
                <a:cubicBezTo>
                  <a:pt x="197" y="1124"/>
                  <a:pt x="187" y="1127"/>
                  <a:pt x="179" y="1132"/>
                </a:cubicBezTo>
                <a:cubicBezTo>
                  <a:pt x="157" y="1197"/>
                  <a:pt x="112" y="1254"/>
                  <a:pt x="83" y="1316"/>
                </a:cubicBezTo>
                <a:cubicBezTo>
                  <a:pt x="71" y="1342"/>
                  <a:pt x="62" y="1369"/>
                  <a:pt x="51" y="1396"/>
                </a:cubicBezTo>
                <a:cubicBezTo>
                  <a:pt x="46" y="1409"/>
                  <a:pt x="35" y="1436"/>
                  <a:pt x="35" y="1436"/>
                </a:cubicBezTo>
                <a:cubicBezTo>
                  <a:pt x="27" y="1528"/>
                  <a:pt x="0" y="1642"/>
                  <a:pt x="35" y="1732"/>
                </a:cubicBezTo>
                <a:cubicBezTo>
                  <a:pt x="62" y="1801"/>
                  <a:pt x="87" y="1796"/>
                  <a:pt x="139" y="1828"/>
                </a:cubicBezTo>
                <a:cubicBezTo>
                  <a:pt x="178" y="1852"/>
                  <a:pt x="197" y="1867"/>
                  <a:pt x="243" y="1876"/>
                </a:cubicBezTo>
                <a:cubicBezTo>
                  <a:pt x="311" y="1910"/>
                  <a:pt x="390" y="1883"/>
                  <a:pt x="459" y="1860"/>
                </a:cubicBezTo>
                <a:cubicBezTo>
                  <a:pt x="503" y="1816"/>
                  <a:pt x="550" y="1774"/>
                  <a:pt x="579" y="1716"/>
                </a:cubicBezTo>
                <a:cubicBezTo>
                  <a:pt x="598" y="1678"/>
                  <a:pt x="612" y="1631"/>
                  <a:pt x="635" y="1596"/>
                </a:cubicBezTo>
                <a:cubicBezTo>
                  <a:pt x="641" y="1587"/>
                  <a:pt x="652" y="1581"/>
                  <a:pt x="659" y="1572"/>
                </a:cubicBezTo>
                <a:cubicBezTo>
                  <a:pt x="694" y="1529"/>
                  <a:pt x="654" y="1567"/>
                  <a:pt x="691" y="1508"/>
                </a:cubicBezTo>
                <a:cubicBezTo>
                  <a:pt x="697" y="1498"/>
                  <a:pt x="708" y="1493"/>
                  <a:pt x="715" y="1484"/>
                </a:cubicBezTo>
                <a:cubicBezTo>
                  <a:pt x="743" y="1452"/>
                  <a:pt x="762" y="1414"/>
                  <a:pt x="787" y="1380"/>
                </a:cubicBezTo>
                <a:cubicBezTo>
                  <a:pt x="803" y="1332"/>
                  <a:pt x="882" y="1220"/>
                  <a:pt x="931" y="1204"/>
                </a:cubicBezTo>
                <a:cubicBezTo>
                  <a:pt x="942" y="1159"/>
                  <a:pt x="960" y="1162"/>
                  <a:pt x="995" y="1132"/>
                </a:cubicBezTo>
                <a:cubicBezTo>
                  <a:pt x="1044" y="1090"/>
                  <a:pt x="1099" y="1055"/>
                  <a:pt x="1147" y="1012"/>
                </a:cubicBezTo>
                <a:cubicBezTo>
                  <a:pt x="1164" y="997"/>
                  <a:pt x="1179" y="980"/>
                  <a:pt x="1195" y="964"/>
                </a:cubicBezTo>
                <a:cubicBezTo>
                  <a:pt x="1203" y="956"/>
                  <a:pt x="1202" y="940"/>
                  <a:pt x="1211" y="932"/>
                </a:cubicBezTo>
                <a:cubicBezTo>
                  <a:pt x="1219" y="925"/>
                  <a:pt x="1232" y="927"/>
                  <a:pt x="1243" y="924"/>
                </a:cubicBezTo>
                <a:cubicBezTo>
                  <a:pt x="1261" y="910"/>
                  <a:pt x="1285" y="902"/>
                  <a:pt x="1299" y="884"/>
                </a:cubicBezTo>
                <a:cubicBezTo>
                  <a:pt x="1330" y="845"/>
                  <a:pt x="1279" y="869"/>
                  <a:pt x="1331" y="852"/>
                </a:cubicBezTo>
                <a:cubicBezTo>
                  <a:pt x="1368" y="815"/>
                  <a:pt x="1395" y="758"/>
                  <a:pt x="1435" y="732"/>
                </a:cubicBezTo>
                <a:cubicBezTo>
                  <a:pt x="1446" y="698"/>
                  <a:pt x="1476" y="684"/>
                  <a:pt x="1491" y="652"/>
                </a:cubicBezTo>
                <a:cubicBezTo>
                  <a:pt x="1536" y="554"/>
                  <a:pt x="1572" y="456"/>
                  <a:pt x="1587" y="348"/>
                </a:cubicBezTo>
                <a:cubicBezTo>
                  <a:pt x="1585" y="293"/>
                  <a:pt x="1614" y="64"/>
                  <a:pt x="1523" y="4"/>
                </a:cubicBezTo>
                <a:cubicBezTo>
                  <a:pt x="1461" y="7"/>
                  <a:pt x="1366" y="25"/>
                  <a:pt x="1299" y="12"/>
                </a:cubicBezTo>
                <a:close/>
              </a:path>
            </a:pathLst>
          </a:custGeom>
          <a:noFill/>
          <a:ln w="2857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Title 32769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t>Example of Minimization</a:t>
            </a:r>
          </a:p>
        </p:txBody>
      </p:sp>
      <p:sp>
        <p:nvSpPr>
          <p:cNvPr id="32771" name="Text Placeholder 32770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762000"/>
          </a:xfrm>
          <a:ln/>
        </p:spPr>
        <p:txBody>
          <a:bodyPr/>
          <a:p>
            <a:r>
              <a:t>Combine states 5 and 6 into one state.</a:t>
            </a:r>
          </a:p>
        </p:txBody>
      </p:sp>
      <p:grpSp>
        <p:nvGrpSpPr>
          <p:cNvPr id="32772" name="Group 32771"/>
          <p:cNvGrpSpPr/>
          <p:nvPr/>
        </p:nvGrpSpPr>
        <p:grpSpPr>
          <a:xfrm>
            <a:off x="914400" y="2438400"/>
            <a:ext cx="7239000" cy="3262313"/>
            <a:chOff x="624" y="1737"/>
            <a:chExt cx="4560" cy="2055"/>
          </a:xfrm>
        </p:grpSpPr>
        <p:sp>
          <p:nvSpPr>
            <p:cNvPr id="32773" name="Oval 32772"/>
            <p:cNvSpPr/>
            <p:nvPr/>
          </p:nvSpPr>
          <p:spPr>
            <a:xfrm>
              <a:off x="816" y="2592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1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2774" name="Oval 32773"/>
            <p:cNvSpPr/>
            <p:nvPr/>
          </p:nvSpPr>
          <p:spPr>
            <a:xfrm>
              <a:off x="4512" y="312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en-US"/>
            </a:p>
          </p:txBody>
        </p:sp>
        <p:sp>
          <p:nvSpPr>
            <p:cNvPr id="32775" name="Oval 32774"/>
            <p:cNvSpPr/>
            <p:nvPr/>
          </p:nvSpPr>
          <p:spPr>
            <a:xfrm>
              <a:off x="3264" y="312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9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2776" name="Oval 32775"/>
            <p:cNvSpPr/>
            <p:nvPr/>
          </p:nvSpPr>
          <p:spPr>
            <a:xfrm>
              <a:off x="2448" y="312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8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2777" name="Oval 32776"/>
            <p:cNvSpPr/>
            <p:nvPr/>
          </p:nvSpPr>
          <p:spPr>
            <a:xfrm>
              <a:off x="1632" y="312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7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2778" name="Oval 32777"/>
            <p:cNvSpPr/>
            <p:nvPr/>
          </p:nvSpPr>
          <p:spPr>
            <a:xfrm>
              <a:off x="4896" y="206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6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2779" name="Oval 32778"/>
            <p:cNvSpPr/>
            <p:nvPr/>
          </p:nvSpPr>
          <p:spPr>
            <a:xfrm>
              <a:off x="4080" y="206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5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2780" name="Oval 32779"/>
            <p:cNvSpPr/>
            <p:nvPr/>
          </p:nvSpPr>
          <p:spPr>
            <a:xfrm>
              <a:off x="3264" y="206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4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2781" name="Oval 32780"/>
            <p:cNvSpPr/>
            <p:nvPr/>
          </p:nvSpPr>
          <p:spPr>
            <a:xfrm>
              <a:off x="2448" y="206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3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2782" name="Oval 32781"/>
            <p:cNvSpPr/>
            <p:nvPr/>
          </p:nvSpPr>
          <p:spPr>
            <a:xfrm>
              <a:off x="1632" y="206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2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2783" name="Straight Connector 32782"/>
            <p:cNvSpPr/>
            <p:nvPr/>
          </p:nvSpPr>
          <p:spPr>
            <a:xfrm>
              <a:off x="624" y="2736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2784" name="Straight Connector 32783"/>
            <p:cNvSpPr/>
            <p:nvPr/>
          </p:nvSpPr>
          <p:spPr>
            <a:xfrm flipV="1">
              <a:off x="1056" y="2304"/>
              <a:ext cx="576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2785" name="Straight Connector 32784"/>
            <p:cNvSpPr/>
            <p:nvPr/>
          </p:nvSpPr>
          <p:spPr>
            <a:xfrm>
              <a:off x="1104" y="2832"/>
              <a:ext cx="528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2786" name="Straight Connector 32785"/>
            <p:cNvSpPr/>
            <p:nvPr/>
          </p:nvSpPr>
          <p:spPr>
            <a:xfrm>
              <a:off x="1920" y="2208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2787" name="Straight Connector 32786"/>
            <p:cNvSpPr/>
            <p:nvPr/>
          </p:nvSpPr>
          <p:spPr>
            <a:xfrm flipH="1">
              <a:off x="2736" y="2208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2788" name="Straight Connector 32787"/>
            <p:cNvSpPr/>
            <p:nvPr/>
          </p:nvSpPr>
          <p:spPr>
            <a:xfrm>
              <a:off x="3552" y="2208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2789" name="Straight Connector 32788"/>
            <p:cNvSpPr/>
            <p:nvPr/>
          </p:nvSpPr>
          <p:spPr>
            <a:xfrm flipV="1">
              <a:off x="1776" y="2352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2790" name="Straight Connector 32789"/>
            <p:cNvSpPr/>
            <p:nvPr/>
          </p:nvSpPr>
          <p:spPr>
            <a:xfrm>
              <a:off x="2592" y="2352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2791" name="Straight Connector 32790"/>
            <p:cNvSpPr/>
            <p:nvPr/>
          </p:nvSpPr>
          <p:spPr>
            <a:xfrm flipH="1">
              <a:off x="1920" y="3264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2792" name="Straight Connector 32791"/>
            <p:cNvSpPr/>
            <p:nvPr/>
          </p:nvSpPr>
          <p:spPr>
            <a:xfrm flipV="1">
              <a:off x="2688" y="2304"/>
              <a:ext cx="1440" cy="8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2793" name="Straight Connector 32792"/>
            <p:cNvSpPr/>
            <p:nvPr/>
          </p:nvSpPr>
          <p:spPr>
            <a:xfrm>
              <a:off x="2688" y="2304"/>
              <a:ext cx="624" cy="8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2794" name="Straight Connector 32793"/>
            <p:cNvSpPr/>
            <p:nvPr/>
          </p:nvSpPr>
          <p:spPr>
            <a:xfrm>
              <a:off x="4272" y="2352"/>
              <a:ext cx="288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2795" name="Straight Connector 32794"/>
            <p:cNvSpPr/>
            <p:nvPr/>
          </p:nvSpPr>
          <p:spPr>
            <a:xfrm flipH="1">
              <a:off x="4704" y="2352"/>
              <a:ext cx="24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2796" name="Straight Connector 32795"/>
            <p:cNvSpPr/>
            <p:nvPr/>
          </p:nvSpPr>
          <p:spPr>
            <a:xfrm flipV="1">
              <a:off x="4944" y="1968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2797" name="Straight Connector 32796"/>
            <p:cNvSpPr/>
            <p:nvPr/>
          </p:nvSpPr>
          <p:spPr>
            <a:xfrm flipH="1">
              <a:off x="2592" y="1968"/>
              <a:ext cx="23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2798" name="Straight Connector 32797"/>
            <p:cNvSpPr/>
            <p:nvPr/>
          </p:nvSpPr>
          <p:spPr>
            <a:xfrm flipV="1">
              <a:off x="1776" y="182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2799" name="Straight Connector 32798"/>
            <p:cNvSpPr/>
            <p:nvPr/>
          </p:nvSpPr>
          <p:spPr>
            <a:xfrm>
              <a:off x="1776" y="1824"/>
              <a:ext cx="33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2800" name="Straight Connector 32799"/>
            <p:cNvSpPr/>
            <p:nvPr/>
          </p:nvSpPr>
          <p:spPr>
            <a:xfrm>
              <a:off x="2592" y="1968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2801" name="Straight Connector 32800"/>
            <p:cNvSpPr/>
            <p:nvPr/>
          </p:nvSpPr>
          <p:spPr>
            <a:xfrm>
              <a:off x="5136" y="182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2802" name="Straight Connector 32801"/>
            <p:cNvSpPr/>
            <p:nvPr/>
          </p:nvSpPr>
          <p:spPr>
            <a:xfrm flipV="1">
              <a:off x="1824" y="3408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2803" name="Straight Connector 32802"/>
            <p:cNvSpPr/>
            <p:nvPr/>
          </p:nvSpPr>
          <p:spPr>
            <a:xfrm>
              <a:off x="1824" y="3504"/>
              <a:ext cx="15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2804" name="Straight Connector 32803"/>
            <p:cNvSpPr/>
            <p:nvPr/>
          </p:nvSpPr>
          <p:spPr>
            <a:xfrm flipV="1">
              <a:off x="3408" y="3408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2805" name="Straight Connector 32804"/>
            <p:cNvSpPr/>
            <p:nvPr/>
          </p:nvSpPr>
          <p:spPr>
            <a:xfrm>
              <a:off x="4224" y="2352"/>
              <a:ext cx="0" cy="12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2806" name="Straight Connector 32805"/>
            <p:cNvSpPr/>
            <p:nvPr/>
          </p:nvSpPr>
          <p:spPr>
            <a:xfrm flipH="1">
              <a:off x="1680" y="3648"/>
              <a:ext cx="25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2807" name="Straight Connector 32806"/>
            <p:cNvSpPr/>
            <p:nvPr/>
          </p:nvSpPr>
          <p:spPr>
            <a:xfrm flipV="1">
              <a:off x="1680" y="340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2808" name="Oval 32807"/>
            <p:cNvSpPr/>
            <p:nvPr/>
          </p:nvSpPr>
          <p:spPr>
            <a:xfrm>
              <a:off x="4560" y="3168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000">
                  <a:latin typeface="Times New Roman" panose="02020603050405020304" pitchFamily="18" charset="0"/>
                </a:rPr>
                <a:t>10</a:t>
              </a:r>
              <a:endParaRPr sz="2000">
                <a:latin typeface="Times New Roman" panose="02020603050405020304" pitchFamily="18" charset="0"/>
              </a:endParaRPr>
            </a:p>
          </p:txBody>
        </p:sp>
        <p:sp>
          <p:nvSpPr>
            <p:cNvPr id="32809" name="Text Box 32808"/>
            <p:cNvSpPr txBox="1"/>
            <p:nvPr/>
          </p:nvSpPr>
          <p:spPr>
            <a:xfrm>
              <a:off x="1103" y="229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2810" name="Text Box 32809"/>
            <p:cNvSpPr txBox="1"/>
            <p:nvPr/>
          </p:nvSpPr>
          <p:spPr>
            <a:xfrm>
              <a:off x="1100" y="292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2811" name="Text Box 32810"/>
            <p:cNvSpPr txBox="1"/>
            <p:nvPr/>
          </p:nvSpPr>
          <p:spPr>
            <a:xfrm>
              <a:off x="1580" y="1737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2812" name="Text Box 32811"/>
            <p:cNvSpPr txBox="1"/>
            <p:nvPr/>
          </p:nvSpPr>
          <p:spPr>
            <a:xfrm>
              <a:off x="2014" y="195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2813" name="Text Box 32812"/>
            <p:cNvSpPr txBox="1"/>
            <p:nvPr/>
          </p:nvSpPr>
          <p:spPr>
            <a:xfrm>
              <a:off x="2396" y="2361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2814" name="Text Box 32813"/>
            <p:cNvSpPr txBox="1"/>
            <p:nvPr/>
          </p:nvSpPr>
          <p:spPr>
            <a:xfrm>
              <a:off x="2936" y="2335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2815" name="Text Box 32814"/>
            <p:cNvSpPr txBox="1"/>
            <p:nvPr/>
          </p:nvSpPr>
          <p:spPr>
            <a:xfrm>
              <a:off x="2974" y="1977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2816" name="Text Box 32815"/>
            <p:cNvSpPr txBox="1"/>
            <p:nvPr/>
          </p:nvSpPr>
          <p:spPr>
            <a:xfrm>
              <a:off x="3600" y="196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2817" name="Text Box 32816"/>
            <p:cNvSpPr txBox="1"/>
            <p:nvPr/>
          </p:nvSpPr>
          <p:spPr>
            <a:xfrm>
              <a:off x="4320" y="230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2818" name="Text Box 32817"/>
            <p:cNvSpPr txBox="1"/>
            <p:nvPr/>
          </p:nvSpPr>
          <p:spPr>
            <a:xfrm>
              <a:off x="4028" y="243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2819" name="Text Box 32818"/>
            <p:cNvSpPr txBox="1"/>
            <p:nvPr/>
          </p:nvSpPr>
          <p:spPr>
            <a:xfrm>
              <a:off x="4700" y="195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2820" name="Text Box 32819"/>
            <p:cNvSpPr txBox="1"/>
            <p:nvPr/>
          </p:nvSpPr>
          <p:spPr>
            <a:xfrm>
              <a:off x="4892" y="2361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2821" name="Text Box 32820"/>
            <p:cNvSpPr txBox="1"/>
            <p:nvPr/>
          </p:nvSpPr>
          <p:spPr>
            <a:xfrm>
              <a:off x="1583" y="2745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2822" name="Text Box 32821"/>
            <p:cNvSpPr txBox="1"/>
            <p:nvPr/>
          </p:nvSpPr>
          <p:spPr>
            <a:xfrm>
              <a:off x="1916" y="326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2823" name="Text Box 32822"/>
            <p:cNvSpPr txBox="1"/>
            <p:nvPr/>
          </p:nvSpPr>
          <p:spPr>
            <a:xfrm>
              <a:off x="2160" y="301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2824" name="Text Box 32823"/>
            <p:cNvSpPr txBox="1"/>
            <p:nvPr/>
          </p:nvSpPr>
          <p:spPr>
            <a:xfrm>
              <a:off x="2688" y="2870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2825" name="Straight Connector 32824"/>
            <p:cNvSpPr/>
            <p:nvPr/>
          </p:nvSpPr>
          <p:spPr>
            <a:xfrm>
              <a:off x="3552" y="3264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2826" name="Text Box 32825"/>
            <p:cNvSpPr txBox="1"/>
            <p:nvPr/>
          </p:nvSpPr>
          <p:spPr>
            <a:xfrm>
              <a:off x="3600" y="302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2827" name="Straight Connector 32826"/>
            <p:cNvSpPr/>
            <p:nvPr/>
          </p:nvSpPr>
          <p:spPr>
            <a:xfrm flipH="1" flipV="1">
              <a:off x="3408" y="2352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2828" name="Text Box 32827"/>
            <p:cNvSpPr txBox="1"/>
            <p:nvPr/>
          </p:nvSpPr>
          <p:spPr>
            <a:xfrm>
              <a:off x="3408" y="283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</a:t>
              </a:r>
              <a:endParaRPr sz="2000" i="1">
                <a:latin typeface="Times New Roman" panose="02020603050405020304" pitchFamily="18" charset="0"/>
              </a:endParaRPr>
            </a:p>
          </p:txBody>
        </p:sp>
        <p:sp>
          <p:nvSpPr>
            <p:cNvPr id="32829" name="Straight Connector 32828"/>
            <p:cNvSpPr/>
            <p:nvPr/>
          </p:nvSpPr>
          <p:spPr>
            <a:xfrm>
              <a:off x="4656" y="3408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2830" name="Straight Connector 32829"/>
            <p:cNvSpPr/>
            <p:nvPr/>
          </p:nvSpPr>
          <p:spPr>
            <a:xfrm>
              <a:off x="4656" y="3552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2831" name="Straight Connector 32830"/>
            <p:cNvSpPr/>
            <p:nvPr/>
          </p:nvSpPr>
          <p:spPr>
            <a:xfrm flipV="1">
              <a:off x="4992" y="326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2832" name="Straight Connector 32831"/>
            <p:cNvSpPr/>
            <p:nvPr/>
          </p:nvSpPr>
          <p:spPr>
            <a:xfrm flipH="1">
              <a:off x="4800" y="326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2833" name="Text Box 32832"/>
            <p:cNvSpPr txBox="1"/>
            <p:nvPr/>
          </p:nvSpPr>
          <p:spPr>
            <a:xfrm>
              <a:off x="4656" y="3542"/>
              <a:ext cx="3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000" i="1">
                  <a:latin typeface="Times New Roman" panose="02020603050405020304" pitchFamily="18" charset="0"/>
                </a:rPr>
                <a:t>a, b</a:t>
              </a:r>
              <a:endParaRPr sz="2000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32834" name="Freeform 32833"/>
          <p:cNvSpPr/>
          <p:nvPr/>
        </p:nvSpPr>
        <p:spPr>
          <a:xfrm>
            <a:off x="2012950" y="2341563"/>
            <a:ext cx="3924300" cy="3208337"/>
          </a:xfrm>
          <a:custGeom>
            <a:avLst/>
            <a:gdLst/>
            <a:ahLst/>
            <a:cxnLst/>
            <a:pathLst>
              <a:path w="2472" h="2021">
                <a:moveTo>
                  <a:pt x="924" y="637"/>
                </a:moveTo>
                <a:cubicBezTo>
                  <a:pt x="906" y="583"/>
                  <a:pt x="886" y="531"/>
                  <a:pt x="868" y="477"/>
                </a:cubicBezTo>
                <a:cubicBezTo>
                  <a:pt x="864" y="466"/>
                  <a:pt x="859" y="433"/>
                  <a:pt x="852" y="421"/>
                </a:cubicBezTo>
                <a:cubicBezTo>
                  <a:pt x="828" y="376"/>
                  <a:pt x="798" y="329"/>
                  <a:pt x="772" y="285"/>
                </a:cubicBezTo>
                <a:cubicBezTo>
                  <a:pt x="754" y="212"/>
                  <a:pt x="654" y="102"/>
                  <a:pt x="580" y="77"/>
                </a:cubicBezTo>
                <a:cubicBezTo>
                  <a:pt x="548" y="29"/>
                  <a:pt x="466" y="24"/>
                  <a:pt x="412" y="13"/>
                </a:cubicBezTo>
                <a:cubicBezTo>
                  <a:pt x="271" y="20"/>
                  <a:pt x="266" y="0"/>
                  <a:pt x="180" y="69"/>
                </a:cubicBezTo>
                <a:cubicBezTo>
                  <a:pt x="163" y="103"/>
                  <a:pt x="153" y="121"/>
                  <a:pt x="116" y="133"/>
                </a:cubicBezTo>
                <a:cubicBezTo>
                  <a:pt x="111" y="144"/>
                  <a:pt x="108" y="156"/>
                  <a:pt x="100" y="165"/>
                </a:cubicBezTo>
                <a:cubicBezTo>
                  <a:pt x="94" y="172"/>
                  <a:pt x="81" y="173"/>
                  <a:pt x="76" y="181"/>
                </a:cubicBezTo>
                <a:cubicBezTo>
                  <a:pt x="65" y="197"/>
                  <a:pt x="69" y="220"/>
                  <a:pt x="60" y="237"/>
                </a:cubicBezTo>
                <a:cubicBezTo>
                  <a:pt x="53" y="251"/>
                  <a:pt x="42" y="263"/>
                  <a:pt x="36" y="277"/>
                </a:cubicBezTo>
                <a:cubicBezTo>
                  <a:pt x="29" y="292"/>
                  <a:pt x="20" y="325"/>
                  <a:pt x="20" y="325"/>
                </a:cubicBezTo>
                <a:cubicBezTo>
                  <a:pt x="25" y="438"/>
                  <a:pt x="0" y="489"/>
                  <a:pt x="68" y="557"/>
                </a:cubicBezTo>
                <a:cubicBezTo>
                  <a:pt x="83" y="601"/>
                  <a:pt x="103" y="649"/>
                  <a:pt x="132" y="685"/>
                </a:cubicBezTo>
                <a:cubicBezTo>
                  <a:pt x="163" y="724"/>
                  <a:pt x="205" y="757"/>
                  <a:pt x="236" y="797"/>
                </a:cubicBezTo>
                <a:cubicBezTo>
                  <a:pt x="303" y="883"/>
                  <a:pt x="238" y="815"/>
                  <a:pt x="292" y="869"/>
                </a:cubicBezTo>
                <a:cubicBezTo>
                  <a:pt x="310" y="923"/>
                  <a:pt x="384" y="999"/>
                  <a:pt x="428" y="1037"/>
                </a:cubicBezTo>
                <a:cubicBezTo>
                  <a:pt x="437" y="1044"/>
                  <a:pt x="443" y="1054"/>
                  <a:pt x="452" y="1061"/>
                </a:cubicBezTo>
                <a:cubicBezTo>
                  <a:pt x="467" y="1073"/>
                  <a:pt x="500" y="1093"/>
                  <a:pt x="500" y="1093"/>
                </a:cubicBezTo>
                <a:cubicBezTo>
                  <a:pt x="516" y="1142"/>
                  <a:pt x="494" y="1094"/>
                  <a:pt x="540" y="1133"/>
                </a:cubicBezTo>
                <a:cubicBezTo>
                  <a:pt x="587" y="1172"/>
                  <a:pt x="617" y="1225"/>
                  <a:pt x="676" y="1245"/>
                </a:cubicBezTo>
                <a:cubicBezTo>
                  <a:pt x="701" y="1270"/>
                  <a:pt x="706" y="1298"/>
                  <a:pt x="740" y="1309"/>
                </a:cubicBezTo>
                <a:cubicBezTo>
                  <a:pt x="748" y="1357"/>
                  <a:pt x="769" y="1391"/>
                  <a:pt x="780" y="1437"/>
                </a:cubicBezTo>
                <a:cubicBezTo>
                  <a:pt x="783" y="1450"/>
                  <a:pt x="783" y="1464"/>
                  <a:pt x="788" y="1477"/>
                </a:cubicBezTo>
                <a:cubicBezTo>
                  <a:pt x="791" y="1486"/>
                  <a:pt x="799" y="1493"/>
                  <a:pt x="804" y="1501"/>
                </a:cubicBezTo>
                <a:cubicBezTo>
                  <a:pt x="810" y="1511"/>
                  <a:pt x="816" y="1522"/>
                  <a:pt x="820" y="1533"/>
                </a:cubicBezTo>
                <a:cubicBezTo>
                  <a:pt x="836" y="1581"/>
                  <a:pt x="833" y="1605"/>
                  <a:pt x="860" y="1645"/>
                </a:cubicBezTo>
                <a:cubicBezTo>
                  <a:pt x="872" y="1694"/>
                  <a:pt x="880" y="1745"/>
                  <a:pt x="916" y="1781"/>
                </a:cubicBezTo>
                <a:cubicBezTo>
                  <a:pt x="921" y="1797"/>
                  <a:pt x="929" y="1824"/>
                  <a:pt x="940" y="1837"/>
                </a:cubicBezTo>
                <a:cubicBezTo>
                  <a:pt x="965" y="1867"/>
                  <a:pt x="1039" y="1913"/>
                  <a:pt x="1076" y="1925"/>
                </a:cubicBezTo>
                <a:cubicBezTo>
                  <a:pt x="1137" y="1986"/>
                  <a:pt x="1233" y="2001"/>
                  <a:pt x="1316" y="2013"/>
                </a:cubicBezTo>
                <a:cubicBezTo>
                  <a:pt x="1395" y="2007"/>
                  <a:pt x="1420" y="2021"/>
                  <a:pt x="1468" y="1973"/>
                </a:cubicBezTo>
                <a:cubicBezTo>
                  <a:pt x="1487" y="1915"/>
                  <a:pt x="1506" y="1856"/>
                  <a:pt x="1540" y="1805"/>
                </a:cubicBezTo>
                <a:cubicBezTo>
                  <a:pt x="1549" y="1742"/>
                  <a:pt x="1562" y="1739"/>
                  <a:pt x="1580" y="1685"/>
                </a:cubicBezTo>
                <a:cubicBezTo>
                  <a:pt x="1587" y="1606"/>
                  <a:pt x="1591" y="1521"/>
                  <a:pt x="1636" y="1453"/>
                </a:cubicBezTo>
                <a:cubicBezTo>
                  <a:pt x="1646" y="1404"/>
                  <a:pt x="1644" y="1395"/>
                  <a:pt x="1684" y="1365"/>
                </a:cubicBezTo>
                <a:cubicBezTo>
                  <a:pt x="1702" y="1321"/>
                  <a:pt x="1727" y="1269"/>
                  <a:pt x="1764" y="1237"/>
                </a:cubicBezTo>
                <a:cubicBezTo>
                  <a:pt x="1792" y="1213"/>
                  <a:pt x="1832" y="1198"/>
                  <a:pt x="1860" y="1173"/>
                </a:cubicBezTo>
                <a:cubicBezTo>
                  <a:pt x="1860" y="1173"/>
                  <a:pt x="1920" y="1113"/>
                  <a:pt x="1932" y="1101"/>
                </a:cubicBezTo>
                <a:cubicBezTo>
                  <a:pt x="1945" y="1088"/>
                  <a:pt x="2017" y="1064"/>
                  <a:pt x="2036" y="1053"/>
                </a:cubicBezTo>
                <a:cubicBezTo>
                  <a:pt x="2063" y="1038"/>
                  <a:pt x="2081" y="1011"/>
                  <a:pt x="2108" y="997"/>
                </a:cubicBezTo>
                <a:cubicBezTo>
                  <a:pt x="2149" y="975"/>
                  <a:pt x="2199" y="960"/>
                  <a:pt x="2244" y="949"/>
                </a:cubicBezTo>
                <a:cubicBezTo>
                  <a:pt x="2282" y="911"/>
                  <a:pt x="2334" y="881"/>
                  <a:pt x="2380" y="853"/>
                </a:cubicBezTo>
                <a:cubicBezTo>
                  <a:pt x="2392" y="818"/>
                  <a:pt x="2411" y="794"/>
                  <a:pt x="2420" y="757"/>
                </a:cubicBezTo>
                <a:cubicBezTo>
                  <a:pt x="2436" y="693"/>
                  <a:pt x="2447" y="627"/>
                  <a:pt x="2468" y="565"/>
                </a:cubicBezTo>
                <a:cubicBezTo>
                  <a:pt x="2455" y="430"/>
                  <a:pt x="2472" y="339"/>
                  <a:pt x="2404" y="237"/>
                </a:cubicBezTo>
                <a:cubicBezTo>
                  <a:pt x="2401" y="224"/>
                  <a:pt x="2404" y="208"/>
                  <a:pt x="2396" y="197"/>
                </a:cubicBezTo>
                <a:cubicBezTo>
                  <a:pt x="2391" y="190"/>
                  <a:pt x="2379" y="194"/>
                  <a:pt x="2372" y="189"/>
                </a:cubicBezTo>
                <a:cubicBezTo>
                  <a:pt x="2335" y="164"/>
                  <a:pt x="2311" y="123"/>
                  <a:pt x="2268" y="109"/>
                </a:cubicBezTo>
                <a:cubicBezTo>
                  <a:pt x="2230" y="71"/>
                  <a:pt x="2214" y="76"/>
                  <a:pt x="2156" y="69"/>
                </a:cubicBezTo>
                <a:cubicBezTo>
                  <a:pt x="2116" y="72"/>
                  <a:pt x="2076" y="71"/>
                  <a:pt x="2036" y="77"/>
                </a:cubicBezTo>
                <a:cubicBezTo>
                  <a:pt x="1991" y="84"/>
                  <a:pt x="1934" y="162"/>
                  <a:pt x="1892" y="197"/>
                </a:cubicBezTo>
                <a:cubicBezTo>
                  <a:pt x="1864" y="220"/>
                  <a:pt x="1858" y="236"/>
                  <a:pt x="1836" y="269"/>
                </a:cubicBezTo>
                <a:cubicBezTo>
                  <a:pt x="1831" y="277"/>
                  <a:pt x="1820" y="293"/>
                  <a:pt x="1820" y="293"/>
                </a:cubicBezTo>
                <a:cubicBezTo>
                  <a:pt x="1810" y="335"/>
                  <a:pt x="1806" y="362"/>
                  <a:pt x="1780" y="397"/>
                </a:cubicBezTo>
                <a:cubicBezTo>
                  <a:pt x="1765" y="456"/>
                  <a:pt x="1766" y="530"/>
                  <a:pt x="1732" y="581"/>
                </a:cubicBezTo>
                <a:cubicBezTo>
                  <a:pt x="1724" y="614"/>
                  <a:pt x="1715" y="639"/>
                  <a:pt x="1700" y="669"/>
                </a:cubicBezTo>
                <a:cubicBezTo>
                  <a:pt x="1690" y="731"/>
                  <a:pt x="1679" y="783"/>
                  <a:pt x="1628" y="821"/>
                </a:cubicBezTo>
                <a:cubicBezTo>
                  <a:pt x="1610" y="856"/>
                  <a:pt x="1586" y="907"/>
                  <a:pt x="1556" y="933"/>
                </a:cubicBezTo>
                <a:cubicBezTo>
                  <a:pt x="1515" y="969"/>
                  <a:pt x="1448" y="1000"/>
                  <a:pt x="1396" y="1013"/>
                </a:cubicBezTo>
                <a:cubicBezTo>
                  <a:pt x="1321" y="1007"/>
                  <a:pt x="1267" y="993"/>
                  <a:pt x="1196" y="981"/>
                </a:cubicBezTo>
                <a:cubicBezTo>
                  <a:pt x="1171" y="964"/>
                  <a:pt x="1149" y="942"/>
                  <a:pt x="1124" y="925"/>
                </a:cubicBezTo>
                <a:cubicBezTo>
                  <a:pt x="1052" y="877"/>
                  <a:pt x="1152" y="964"/>
                  <a:pt x="1076" y="901"/>
                </a:cubicBezTo>
                <a:cubicBezTo>
                  <a:pt x="1014" y="850"/>
                  <a:pt x="1088" y="901"/>
                  <a:pt x="1028" y="861"/>
                </a:cubicBezTo>
                <a:cubicBezTo>
                  <a:pt x="994" y="810"/>
                  <a:pt x="993" y="736"/>
                  <a:pt x="940" y="701"/>
                </a:cubicBezTo>
                <a:cubicBezTo>
                  <a:pt x="922" y="648"/>
                  <a:pt x="924" y="670"/>
                  <a:pt x="924" y="637"/>
                </a:cubicBez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en-US"/>
          </a:p>
        </p:txBody>
      </p:sp>
      <p:sp>
        <p:nvSpPr>
          <p:cNvPr id="32835" name="Freeform 32834"/>
          <p:cNvSpPr/>
          <p:nvPr/>
        </p:nvSpPr>
        <p:spPr>
          <a:xfrm>
            <a:off x="2116138" y="2495550"/>
            <a:ext cx="2562225" cy="3032125"/>
          </a:xfrm>
          <a:custGeom>
            <a:avLst/>
            <a:gdLst/>
            <a:ahLst/>
            <a:cxnLst/>
            <a:pathLst>
              <a:path w="1614" h="1910">
                <a:moveTo>
                  <a:pt x="1299" y="12"/>
                </a:moveTo>
                <a:cubicBezTo>
                  <a:pt x="1243" y="15"/>
                  <a:pt x="1180" y="0"/>
                  <a:pt x="1131" y="28"/>
                </a:cubicBezTo>
                <a:cubicBezTo>
                  <a:pt x="1093" y="50"/>
                  <a:pt x="1077" y="94"/>
                  <a:pt x="1035" y="108"/>
                </a:cubicBezTo>
                <a:cubicBezTo>
                  <a:pt x="1016" y="165"/>
                  <a:pt x="1043" y="100"/>
                  <a:pt x="1003" y="148"/>
                </a:cubicBezTo>
                <a:cubicBezTo>
                  <a:pt x="995" y="157"/>
                  <a:pt x="994" y="171"/>
                  <a:pt x="987" y="180"/>
                </a:cubicBezTo>
                <a:cubicBezTo>
                  <a:pt x="973" y="198"/>
                  <a:pt x="955" y="212"/>
                  <a:pt x="939" y="228"/>
                </a:cubicBezTo>
                <a:cubicBezTo>
                  <a:pt x="931" y="236"/>
                  <a:pt x="915" y="252"/>
                  <a:pt x="915" y="252"/>
                </a:cubicBezTo>
                <a:cubicBezTo>
                  <a:pt x="898" y="320"/>
                  <a:pt x="921" y="251"/>
                  <a:pt x="883" y="308"/>
                </a:cubicBezTo>
                <a:cubicBezTo>
                  <a:pt x="861" y="341"/>
                  <a:pt x="869" y="374"/>
                  <a:pt x="827" y="388"/>
                </a:cubicBezTo>
                <a:cubicBezTo>
                  <a:pt x="807" y="448"/>
                  <a:pt x="836" y="376"/>
                  <a:pt x="795" y="428"/>
                </a:cubicBezTo>
                <a:cubicBezTo>
                  <a:pt x="790" y="435"/>
                  <a:pt x="792" y="445"/>
                  <a:pt x="787" y="452"/>
                </a:cubicBezTo>
                <a:cubicBezTo>
                  <a:pt x="773" y="470"/>
                  <a:pt x="755" y="484"/>
                  <a:pt x="739" y="500"/>
                </a:cubicBezTo>
                <a:cubicBezTo>
                  <a:pt x="731" y="508"/>
                  <a:pt x="715" y="524"/>
                  <a:pt x="715" y="524"/>
                </a:cubicBezTo>
                <a:cubicBezTo>
                  <a:pt x="673" y="628"/>
                  <a:pt x="726" y="519"/>
                  <a:pt x="675" y="580"/>
                </a:cubicBezTo>
                <a:cubicBezTo>
                  <a:pt x="667" y="589"/>
                  <a:pt x="665" y="602"/>
                  <a:pt x="659" y="612"/>
                </a:cubicBezTo>
                <a:cubicBezTo>
                  <a:pt x="641" y="643"/>
                  <a:pt x="616" y="665"/>
                  <a:pt x="587" y="684"/>
                </a:cubicBezTo>
                <a:cubicBezTo>
                  <a:pt x="582" y="695"/>
                  <a:pt x="579" y="708"/>
                  <a:pt x="571" y="716"/>
                </a:cubicBezTo>
                <a:cubicBezTo>
                  <a:pt x="557" y="730"/>
                  <a:pt x="523" y="748"/>
                  <a:pt x="523" y="748"/>
                </a:cubicBezTo>
                <a:cubicBezTo>
                  <a:pt x="489" y="817"/>
                  <a:pt x="528" y="751"/>
                  <a:pt x="483" y="796"/>
                </a:cubicBezTo>
                <a:cubicBezTo>
                  <a:pt x="454" y="825"/>
                  <a:pt x="438" y="861"/>
                  <a:pt x="403" y="884"/>
                </a:cubicBezTo>
                <a:cubicBezTo>
                  <a:pt x="348" y="967"/>
                  <a:pt x="436" y="843"/>
                  <a:pt x="355" y="924"/>
                </a:cubicBezTo>
                <a:cubicBezTo>
                  <a:pt x="312" y="967"/>
                  <a:pt x="387" y="935"/>
                  <a:pt x="323" y="956"/>
                </a:cubicBezTo>
                <a:cubicBezTo>
                  <a:pt x="246" y="1033"/>
                  <a:pt x="337" y="935"/>
                  <a:pt x="291" y="1004"/>
                </a:cubicBezTo>
                <a:cubicBezTo>
                  <a:pt x="277" y="1024"/>
                  <a:pt x="258" y="1040"/>
                  <a:pt x="243" y="1060"/>
                </a:cubicBezTo>
                <a:cubicBezTo>
                  <a:pt x="222" y="1124"/>
                  <a:pt x="254" y="1049"/>
                  <a:pt x="211" y="1092"/>
                </a:cubicBezTo>
                <a:cubicBezTo>
                  <a:pt x="205" y="1098"/>
                  <a:pt x="208" y="1109"/>
                  <a:pt x="203" y="1116"/>
                </a:cubicBezTo>
                <a:cubicBezTo>
                  <a:pt x="197" y="1124"/>
                  <a:pt x="187" y="1127"/>
                  <a:pt x="179" y="1132"/>
                </a:cubicBezTo>
                <a:cubicBezTo>
                  <a:pt x="157" y="1197"/>
                  <a:pt x="112" y="1254"/>
                  <a:pt x="83" y="1316"/>
                </a:cubicBezTo>
                <a:cubicBezTo>
                  <a:pt x="71" y="1342"/>
                  <a:pt x="62" y="1369"/>
                  <a:pt x="51" y="1396"/>
                </a:cubicBezTo>
                <a:cubicBezTo>
                  <a:pt x="46" y="1409"/>
                  <a:pt x="35" y="1436"/>
                  <a:pt x="35" y="1436"/>
                </a:cubicBezTo>
                <a:cubicBezTo>
                  <a:pt x="27" y="1528"/>
                  <a:pt x="0" y="1642"/>
                  <a:pt x="35" y="1732"/>
                </a:cubicBezTo>
                <a:cubicBezTo>
                  <a:pt x="62" y="1801"/>
                  <a:pt x="87" y="1796"/>
                  <a:pt x="139" y="1828"/>
                </a:cubicBezTo>
                <a:cubicBezTo>
                  <a:pt x="178" y="1852"/>
                  <a:pt x="197" y="1867"/>
                  <a:pt x="243" y="1876"/>
                </a:cubicBezTo>
                <a:cubicBezTo>
                  <a:pt x="311" y="1910"/>
                  <a:pt x="390" y="1883"/>
                  <a:pt x="459" y="1860"/>
                </a:cubicBezTo>
                <a:cubicBezTo>
                  <a:pt x="503" y="1816"/>
                  <a:pt x="550" y="1774"/>
                  <a:pt x="579" y="1716"/>
                </a:cubicBezTo>
                <a:cubicBezTo>
                  <a:pt x="598" y="1678"/>
                  <a:pt x="612" y="1631"/>
                  <a:pt x="635" y="1596"/>
                </a:cubicBezTo>
                <a:cubicBezTo>
                  <a:pt x="641" y="1587"/>
                  <a:pt x="652" y="1581"/>
                  <a:pt x="659" y="1572"/>
                </a:cubicBezTo>
                <a:cubicBezTo>
                  <a:pt x="694" y="1529"/>
                  <a:pt x="654" y="1567"/>
                  <a:pt x="691" y="1508"/>
                </a:cubicBezTo>
                <a:cubicBezTo>
                  <a:pt x="697" y="1498"/>
                  <a:pt x="708" y="1493"/>
                  <a:pt x="715" y="1484"/>
                </a:cubicBezTo>
                <a:cubicBezTo>
                  <a:pt x="743" y="1452"/>
                  <a:pt x="762" y="1414"/>
                  <a:pt x="787" y="1380"/>
                </a:cubicBezTo>
                <a:cubicBezTo>
                  <a:pt x="803" y="1332"/>
                  <a:pt x="882" y="1220"/>
                  <a:pt x="931" y="1204"/>
                </a:cubicBezTo>
                <a:cubicBezTo>
                  <a:pt x="942" y="1159"/>
                  <a:pt x="960" y="1162"/>
                  <a:pt x="995" y="1132"/>
                </a:cubicBezTo>
                <a:cubicBezTo>
                  <a:pt x="1044" y="1090"/>
                  <a:pt x="1099" y="1055"/>
                  <a:pt x="1147" y="1012"/>
                </a:cubicBezTo>
                <a:cubicBezTo>
                  <a:pt x="1164" y="997"/>
                  <a:pt x="1179" y="980"/>
                  <a:pt x="1195" y="964"/>
                </a:cubicBezTo>
                <a:cubicBezTo>
                  <a:pt x="1203" y="956"/>
                  <a:pt x="1202" y="940"/>
                  <a:pt x="1211" y="932"/>
                </a:cubicBezTo>
                <a:cubicBezTo>
                  <a:pt x="1219" y="925"/>
                  <a:pt x="1232" y="927"/>
                  <a:pt x="1243" y="924"/>
                </a:cubicBezTo>
                <a:cubicBezTo>
                  <a:pt x="1261" y="910"/>
                  <a:pt x="1285" y="902"/>
                  <a:pt x="1299" y="884"/>
                </a:cubicBezTo>
                <a:cubicBezTo>
                  <a:pt x="1330" y="845"/>
                  <a:pt x="1279" y="869"/>
                  <a:pt x="1331" y="852"/>
                </a:cubicBezTo>
                <a:cubicBezTo>
                  <a:pt x="1368" y="815"/>
                  <a:pt x="1395" y="758"/>
                  <a:pt x="1435" y="732"/>
                </a:cubicBezTo>
                <a:cubicBezTo>
                  <a:pt x="1446" y="698"/>
                  <a:pt x="1476" y="684"/>
                  <a:pt x="1491" y="652"/>
                </a:cubicBezTo>
                <a:cubicBezTo>
                  <a:pt x="1536" y="554"/>
                  <a:pt x="1572" y="456"/>
                  <a:pt x="1587" y="348"/>
                </a:cubicBezTo>
                <a:cubicBezTo>
                  <a:pt x="1585" y="293"/>
                  <a:pt x="1614" y="64"/>
                  <a:pt x="1523" y="4"/>
                </a:cubicBezTo>
                <a:cubicBezTo>
                  <a:pt x="1461" y="7"/>
                  <a:pt x="1366" y="25"/>
                  <a:pt x="1299" y="12"/>
                </a:cubicBezTo>
                <a:close/>
              </a:path>
            </a:pathLst>
          </a:custGeom>
          <a:noFill/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en-US"/>
          </a:p>
        </p:txBody>
      </p:sp>
      <p:sp>
        <p:nvSpPr>
          <p:cNvPr id="32836" name="Freeform 32835"/>
          <p:cNvSpPr/>
          <p:nvPr/>
        </p:nvSpPr>
        <p:spPr>
          <a:xfrm>
            <a:off x="6121400" y="2476500"/>
            <a:ext cx="2365375" cy="1435100"/>
          </a:xfrm>
          <a:custGeom>
            <a:avLst/>
            <a:gdLst/>
            <a:ahLst/>
            <a:cxnLst/>
            <a:pathLst>
              <a:path w="1490" h="904">
                <a:moveTo>
                  <a:pt x="728" y="0"/>
                </a:moveTo>
                <a:cubicBezTo>
                  <a:pt x="621" y="71"/>
                  <a:pt x="724" y="9"/>
                  <a:pt x="408" y="24"/>
                </a:cubicBezTo>
                <a:cubicBezTo>
                  <a:pt x="376" y="26"/>
                  <a:pt x="344" y="35"/>
                  <a:pt x="312" y="40"/>
                </a:cubicBezTo>
                <a:cubicBezTo>
                  <a:pt x="280" y="56"/>
                  <a:pt x="247" y="57"/>
                  <a:pt x="216" y="72"/>
                </a:cubicBezTo>
                <a:cubicBezTo>
                  <a:pt x="157" y="102"/>
                  <a:pt x="106" y="134"/>
                  <a:pt x="56" y="176"/>
                </a:cubicBezTo>
                <a:cubicBezTo>
                  <a:pt x="33" y="195"/>
                  <a:pt x="27" y="204"/>
                  <a:pt x="16" y="232"/>
                </a:cubicBezTo>
                <a:cubicBezTo>
                  <a:pt x="10" y="248"/>
                  <a:pt x="0" y="280"/>
                  <a:pt x="0" y="280"/>
                </a:cubicBezTo>
                <a:cubicBezTo>
                  <a:pt x="6" y="383"/>
                  <a:pt x="14" y="475"/>
                  <a:pt x="32" y="576"/>
                </a:cubicBezTo>
                <a:cubicBezTo>
                  <a:pt x="43" y="637"/>
                  <a:pt x="51" y="691"/>
                  <a:pt x="96" y="736"/>
                </a:cubicBezTo>
                <a:cubicBezTo>
                  <a:pt x="118" y="758"/>
                  <a:pt x="149" y="756"/>
                  <a:pt x="176" y="768"/>
                </a:cubicBezTo>
                <a:cubicBezTo>
                  <a:pt x="217" y="786"/>
                  <a:pt x="254" y="807"/>
                  <a:pt x="296" y="824"/>
                </a:cubicBezTo>
                <a:cubicBezTo>
                  <a:pt x="337" y="865"/>
                  <a:pt x="303" y="840"/>
                  <a:pt x="376" y="856"/>
                </a:cubicBezTo>
                <a:cubicBezTo>
                  <a:pt x="455" y="873"/>
                  <a:pt x="527" y="892"/>
                  <a:pt x="608" y="904"/>
                </a:cubicBezTo>
                <a:cubicBezTo>
                  <a:pt x="763" y="895"/>
                  <a:pt x="912" y="886"/>
                  <a:pt x="1064" y="864"/>
                </a:cubicBezTo>
                <a:cubicBezTo>
                  <a:pt x="1099" y="852"/>
                  <a:pt x="1143" y="848"/>
                  <a:pt x="1176" y="832"/>
                </a:cubicBezTo>
                <a:cubicBezTo>
                  <a:pt x="1222" y="809"/>
                  <a:pt x="1263" y="779"/>
                  <a:pt x="1312" y="760"/>
                </a:cubicBezTo>
                <a:cubicBezTo>
                  <a:pt x="1347" y="725"/>
                  <a:pt x="1367" y="678"/>
                  <a:pt x="1400" y="640"/>
                </a:cubicBezTo>
                <a:cubicBezTo>
                  <a:pt x="1458" y="572"/>
                  <a:pt x="1411" y="639"/>
                  <a:pt x="1448" y="584"/>
                </a:cubicBezTo>
                <a:cubicBezTo>
                  <a:pt x="1469" y="500"/>
                  <a:pt x="1490" y="396"/>
                  <a:pt x="1440" y="320"/>
                </a:cubicBezTo>
                <a:cubicBezTo>
                  <a:pt x="1431" y="273"/>
                  <a:pt x="1421" y="267"/>
                  <a:pt x="1392" y="232"/>
                </a:cubicBezTo>
                <a:cubicBezTo>
                  <a:pt x="1386" y="225"/>
                  <a:pt x="1382" y="215"/>
                  <a:pt x="1376" y="208"/>
                </a:cubicBezTo>
                <a:cubicBezTo>
                  <a:pt x="1361" y="191"/>
                  <a:pt x="1344" y="176"/>
                  <a:pt x="1328" y="160"/>
                </a:cubicBezTo>
                <a:cubicBezTo>
                  <a:pt x="1320" y="152"/>
                  <a:pt x="1306" y="150"/>
                  <a:pt x="1296" y="144"/>
                </a:cubicBezTo>
                <a:cubicBezTo>
                  <a:pt x="1274" y="132"/>
                  <a:pt x="1255" y="114"/>
                  <a:pt x="1232" y="104"/>
                </a:cubicBezTo>
                <a:cubicBezTo>
                  <a:pt x="1156" y="70"/>
                  <a:pt x="1079" y="62"/>
                  <a:pt x="1000" y="40"/>
                </a:cubicBezTo>
                <a:cubicBezTo>
                  <a:pt x="965" y="30"/>
                  <a:pt x="917" y="11"/>
                  <a:pt x="880" y="8"/>
                </a:cubicBezTo>
                <a:cubicBezTo>
                  <a:pt x="829" y="3"/>
                  <a:pt x="779" y="3"/>
                  <a:pt x="728" y="0"/>
                </a:cubicBezTo>
                <a:close/>
              </a:path>
            </a:pathLst>
          </a:custGeom>
          <a:noFill/>
          <a:ln w="2857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Title 27649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t>Example of Minimization</a:t>
            </a:r>
          </a:p>
        </p:txBody>
      </p:sp>
      <p:sp>
        <p:nvSpPr>
          <p:cNvPr id="27651" name="Text Placeholder 27650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066800"/>
          </a:xfrm>
          <a:ln/>
        </p:spPr>
        <p:txBody>
          <a:bodyPr/>
          <a:p>
            <a:r>
              <a:t>Replace each of these classes with a single class.</a:t>
            </a:r>
          </a:p>
        </p:txBody>
      </p:sp>
      <p:grpSp>
        <p:nvGrpSpPr>
          <p:cNvPr id="27652" name="Group 27651"/>
          <p:cNvGrpSpPr/>
          <p:nvPr/>
        </p:nvGrpSpPr>
        <p:grpSpPr>
          <a:xfrm>
            <a:off x="1219200" y="2743200"/>
            <a:ext cx="6813550" cy="2895600"/>
            <a:chOff x="768" y="1946"/>
            <a:chExt cx="4292" cy="1824"/>
          </a:xfrm>
        </p:grpSpPr>
        <p:sp>
          <p:nvSpPr>
            <p:cNvPr id="27653" name="Oval 27652"/>
            <p:cNvSpPr/>
            <p:nvPr/>
          </p:nvSpPr>
          <p:spPr>
            <a:xfrm>
              <a:off x="4656" y="2688"/>
              <a:ext cx="384" cy="38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sz="2400">
                <a:latin typeface="Times New Roman" panose="02020603050405020304" pitchFamily="18" charset="0"/>
              </a:endParaRPr>
            </a:p>
          </p:txBody>
        </p:sp>
        <p:sp>
          <p:nvSpPr>
            <p:cNvPr id="27654" name="Oval 27653"/>
            <p:cNvSpPr/>
            <p:nvPr/>
          </p:nvSpPr>
          <p:spPr>
            <a:xfrm>
              <a:off x="4704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400">
                  <a:latin typeface="Times New Roman" panose="02020603050405020304" pitchFamily="18" charset="0"/>
                </a:rPr>
                <a:t>10</a:t>
              </a:r>
              <a:endParaRPr sz="2400">
                <a:latin typeface="Times New Roman" panose="02020603050405020304" pitchFamily="18" charset="0"/>
              </a:endParaRPr>
            </a:p>
          </p:txBody>
        </p:sp>
        <p:sp>
          <p:nvSpPr>
            <p:cNvPr id="27655" name="Oval 27654"/>
            <p:cNvSpPr/>
            <p:nvPr/>
          </p:nvSpPr>
          <p:spPr>
            <a:xfrm>
              <a:off x="1056" y="2688"/>
              <a:ext cx="384" cy="38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400">
                  <a:latin typeface="Times New Roman" panose="02020603050405020304" pitchFamily="18" charset="0"/>
                </a:rPr>
                <a:t>1</a:t>
              </a:r>
              <a:endParaRPr sz="2400">
                <a:latin typeface="Times New Roman" panose="02020603050405020304" pitchFamily="18" charset="0"/>
              </a:endParaRPr>
            </a:p>
          </p:txBody>
        </p:sp>
        <p:sp>
          <p:nvSpPr>
            <p:cNvPr id="27656" name="Oval 27655"/>
            <p:cNvSpPr/>
            <p:nvPr/>
          </p:nvSpPr>
          <p:spPr>
            <a:xfrm>
              <a:off x="2256" y="2064"/>
              <a:ext cx="384" cy="38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400">
                  <a:latin typeface="Times New Roman" panose="02020603050405020304" pitchFamily="18" charset="0"/>
                </a:rPr>
                <a:t>248</a:t>
              </a:r>
              <a:endParaRPr sz="2400">
                <a:latin typeface="Times New Roman" panose="02020603050405020304" pitchFamily="18" charset="0"/>
              </a:endParaRPr>
            </a:p>
          </p:txBody>
        </p:sp>
        <p:sp>
          <p:nvSpPr>
            <p:cNvPr id="27657" name="Oval 27656"/>
            <p:cNvSpPr/>
            <p:nvPr/>
          </p:nvSpPr>
          <p:spPr>
            <a:xfrm>
              <a:off x="3456" y="3312"/>
              <a:ext cx="384" cy="38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400">
                  <a:latin typeface="Times New Roman" panose="02020603050405020304" pitchFamily="18" charset="0"/>
                </a:rPr>
                <a:t>9</a:t>
              </a:r>
              <a:endParaRPr sz="2400">
                <a:latin typeface="Times New Roman" panose="02020603050405020304" pitchFamily="18" charset="0"/>
              </a:endParaRPr>
            </a:p>
          </p:txBody>
        </p:sp>
        <p:sp>
          <p:nvSpPr>
            <p:cNvPr id="27658" name="Oval 27657"/>
            <p:cNvSpPr/>
            <p:nvPr/>
          </p:nvSpPr>
          <p:spPr>
            <a:xfrm>
              <a:off x="3456" y="2064"/>
              <a:ext cx="384" cy="38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400">
                  <a:latin typeface="Times New Roman" panose="02020603050405020304" pitchFamily="18" charset="0"/>
                </a:rPr>
                <a:t>56</a:t>
              </a:r>
              <a:endParaRPr sz="2400">
                <a:latin typeface="Times New Roman" panose="02020603050405020304" pitchFamily="18" charset="0"/>
              </a:endParaRPr>
            </a:p>
          </p:txBody>
        </p:sp>
        <p:sp>
          <p:nvSpPr>
            <p:cNvPr id="27659" name="Oval 27658"/>
            <p:cNvSpPr/>
            <p:nvPr/>
          </p:nvSpPr>
          <p:spPr>
            <a:xfrm>
              <a:off x="2256" y="3312"/>
              <a:ext cx="384" cy="38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sz="2400">
                  <a:latin typeface="Times New Roman" panose="02020603050405020304" pitchFamily="18" charset="0"/>
                </a:rPr>
                <a:t>37</a:t>
              </a:r>
              <a:endParaRPr sz="2400">
                <a:latin typeface="Times New Roman" panose="02020603050405020304" pitchFamily="18" charset="0"/>
              </a:endParaRPr>
            </a:p>
          </p:txBody>
        </p:sp>
        <p:sp>
          <p:nvSpPr>
            <p:cNvPr id="27660" name="Straight Connector 27659"/>
            <p:cNvSpPr/>
            <p:nvPr/>
          </p:nvSpPr>
          <p:spPr>
            <a:xfrm flipV="1">
              <a:off x="1392" y="2352"/>
              <a:ext cx="864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7661" name="Straight Connector 27660"/>
            <p:cNvSpPr/>
            <p:nvPr/>
          </p:nvSpPr>
          <p:spPr>
            <a:xfrm>
              <a:off x="2640" y="2256"/>
              <a:ext cx="8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7662" name="Straight Connector 27661"/>
            <p:cNvSpPr/>
            <p:nvPr/>
          </p:nvSpPr>
          <p:spPr>
            <a:xfrm>
              <a:off x="3840" y="2352"/>
              <a:ext cx="816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7663" name="Straight Connector 27662"/>
            <p:cNvSpPr/>
            <p:nvPr/>
          </p:nvSpPr>
          <p:spPr>
            <a:xfrm flipV="1">
              <a:off x="3840" y="2976"/>
              <a:ext cx="816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7664" name="Straight Connector 27663"/>
            <p:cNvSpPr/>
            <p:nvPr/>
          </p:nvSpPr>
          <p:spPr>
            <a:xfrm>
              <a:off x="2640" y="3504"/>
              <a:ext cx="8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7665" name="Straight Connector 27664"/>
            <p:cNvSpPr/>
            <p:nvPr/>
          </p:nvSpPr>
          <p:spPr>
            <a:xfrm>
              <a:off x="1392" y="3024"/>
              <a:ext cx="864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7666" name="Straight Connector 27665"/>
            <p:cNvSpPr/>
            <p:nvPr/>
          </p:nvSpPr>
          <p:spPr>
            <a:xfrm>
              <a:off x="2352" y="2448"/>
              <a:ext cx="0" cy="8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7667" name="Straight Connector 27666"/>
            <p:cNvSpPr/>
            <p:nvPr/>
          </p:nvSpPr>
          <p:spPr>
            <a:xfrm flipH="1">
              <a:off x="2592" y="2400"/>
              <a:ext cx="912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7668" name="Straight Connector 27667"/>
            <p:cNvSpPr/>
            <p:nvPr/>
          </p:nvSpPr>
          <p:spPr>
            <a:xfrm flipH="1" flipV="1">
              <a:off x="2592" y="2400"/>
              <a:ext cx="912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7669" name="Text Box 27668"/>
            <p:cNvSpPr txBox="1"/>
            <p:nvPr/>
          </p:nvSpPr>
          <p:spPr>
            <a:xfrm>
              <a:off x="1474" y="233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400" i="1">
                  <a:latin typeface="Times New Roman" panose="02020603050405020304" pitchFamily="18" charset="0"/>
                </a:rPr>
                <a:t>a</a:t>
              </a:r>
              <a:endParaRPr sz="2400" i="1">
                <a:latin typeface="Times New Roman" panose="02020603050405020304" pitchFamily="18" charset="0"/>
              </a:endParaRPr>
            </a:p>
          </p:txBody>
        </p:sp>
        <p:sp>
          <p:nvSpPr>
            <p:cNvPr id="27670" name="Text Box 27669"/>
            <p:cNvSpPr txBox="1"/>
            <p:nvPr/>
          </p:nvSpPr>
          <p:spPr>
            <a:xfrm>
              <a:off x="2914" y="194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400" i="1">
                  <a:latin typeface="Times New Roman" panose="02020603050405020304" pitchFamily="18" charset="0"/>
                </a:rPr>
                <a:t>a</a:t>
              </a:r>
              <a:endParaRPr sz="2400" i="1">
                <a:latin typeface="Times New Roman" panose="02020603050405020304" pitchFamily="18" charset="0"/>
              </a:endParaRPr>
            </a:p>
          </p:txBody>
        </p:sp>
        <p:sp>
          <p:nvSpPr>
            <p:cNvPr id="27671" name="Text Box 27670"/>
            <p:cNvSpPr txBox="1"/>
            <p:nvPr/>
          </p:nvSpPr>
          <p:spPr>
            <a:xfrm>
              <a:off x="4119" y="223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400" i="1">
                  <a:latin typeface="Times New Roman" panose="02020603050405020304" pitchFamily="18" charset="0"/>
                </a:rPr>
                <a:t>a</a:t>
              </a:r>
              <a:endParaRPr sz="2400" i="1">
                <a:latin typeface="Times New Roman" panose="02020603050405020304" pitchFamily="18" charset="0"/>
              </a:endParaRPr>
            </a:p>
          </p:txBody>
        </p:sp>
        <p:sp>
          <p:nvSpPr>
            <p:cNvPr id="27672" name="Text Box 27671"/>
            <p:cNvSpPr txBox="1"/>
            <p:nvPr/>
          </p:nvSpPr>
          <p:spPr>
            <a:xfrm>
              <a:off x="1478" y="312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400" i="1">
                  <a:latin typeface="Times New Roman" panose="02020603050405020304" pitchFamily="18" charset="0"/>
                </a:rPr>
                <a:t>b</a:t>
              </a:r>
              <a:endParaRPr sz="2400" i="1">
                <a:latin typeface="Times New Roman" panose="02020603050405020304" pitchFamily="18" charset="0"/>
              </a:endParaRPr>
            </a:p>
          </p:txBody>
        </p:sp>
        <p:sp>
          <p:nvSpPr>
            <p:cNvPr id="27673" name="Text Box 27672"/>
            <p:cNvSpPr txBox="1"/>
            <p:nvPr/>
          </p:nvSpPr>
          <p:spPr>
            <a:xfrm>
              <a:off x="2870" y="348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400" i="1">
                  <a:latin typeface="Times New Roman" panose="02020603050405020304" pitchFamily="18" charset="0"/>
                </a:rPr>
                <a:t>b</a:t>
              </a:r>
              <a:endParaRPr sz="2400" i="1">
                <a:latin typeface="Times New Roman" panose="02020603050405020304" pitchFamily="18" charset="0"/>
              </a:endParaRPr>
            </a:p>
          </p:txBody>
        </p:sp>
        <p:sp>
          <p:nvSpPr>
            <p:cNvPr id="27674" name="Text Box 27673"/>
            <p:cNvSpPr txBox="1"/>
            <p:nvPr/>
          </p:nvSpPr>
          <p:spPr>
            <a:xfrm>
              <a:off x="4156" y="321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400" i="1">
                  <a:latin typeface="Times New Roman" panose="02020603050405020304" pitchFamily="18" charset="0"/>
                </a:rPr>
                <a:t>b</a:t>
              </a:r>
              <a:endParaRPr sz="2400" i="1">
                <a:latin typeface="Times New Roman" panose="02020603050405020304" pitchFamily="18" charset="0"/>
              </a:endParaRPr>
            </a:p>
          </p:txBody>
        </p:sp>
        <p:sp>
          <p:nvSpPr>
            <p:cNvPr id="27675" name="Text Box 27674"/>
            <p:cNvSpPr txBox="1"/>
            <p:nvPr/>
          </p:nvSpPr>
          <p:spPr>
            <a:xfrm>
              <a:off x="2539" y="273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400" i="1">
                  <a:latin typeface="Times New Roman" panose="02020603050405020304" pitchFamily="18" charset="0"/>
                </a:rPr>
                <a:t>a</a:t>
              </a:r>
              <a:endParaRPr sz="2400" i="1">
                <a:latin typeface="Times New Roman" panose="02020603050405020304" pitchFamily="18" charset="0"/>
              </a:endParaRPr>
            </a:p>
          </p:txBody>
        </p:sp>
        <p:sp>
          <p:nvSpPr>
            <p:cNvPr id="27676" name="Text Box 27675"/>
            <p:cNvSpPr txBox="1"/>
            <p:nvPr/>
          </p:nvSpPr>
          <p:spPr>
            <a:xfrm>
              <a:off x="2160" y="273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400" i="1">
                  <a:latin typeface="Times New Roman" panose="02020603050405020304" pitchFamily="18" charset="0"/>
                </a:rPr>
                <a:t>b</a:t>
              </a:r>
              <a:endParaRPr sz="2400" i="1">
                <a:latin typeface="Times New Roman" panose="02020603050405020304" pitchFamily="18" charset="0"/>
              </a:endParaRPr>
            </a:p>
          </p:txBody>
        </p:sp>
        <p:sp>
          <p:nvSpPr>
            <p:cNvPr id="27677" name="Text Box 27676"/>
            <p:cNvSpPr txBox="1"/>
            <p:nvPr/>
          </p:nvSpPr>
          <p:spPr>
            <a:xfrm>
              <a:off x="3394" y="297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400" i="1">
                  <a:latin typeface="Times New Roman" panose="02020603050405020304" pitchFamily="18" charset="0"/>
                </a:rPr>
                <a:t>a</a:t>
              </a:r>
              <a:endParaRPr sz="2400" i="1">
                <a:latin typeface="Times New Roman" panose="02020603050405020304" pitchFamily="18" charset="0"/>
              </a:endParaRPr>
            </a:p>
          </p:txBody>
        </p:sp>
        <p:sp>
          <p:nvSpPr>
            <p:cNvPr id="27678" name="Text Box 27677"/>
            <p:cNvSpPr txBox="1"/>
            <p:nvPr/>
          </p:nvSpPr>
          <p:spPr>
            <a:xfrm>
              <a:off x="3388" y="244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sz="2400" i="1">
                  <a:latin typeface="Times New Roman" panose="02020603050405020304" pitchFamily="18" charset="0"/>
                </a:rPr>
                <a:t>b</a:t>
              </a:r>
              <a:endParaRPr sz="2400" i="1">
                <a:latin typeface="Times New Roman" panose="02020603050405020304" pitchFamily="18" charset="0"/>
              </a:endParaRPr>
            </a:p>
          </p:txBody>
        </p:sp>
        <p:sp>
          <p:nvSpPr>
            <p:cNvPr id="27679" name="Straight Connector 27678"/>
            <p:cNvSpPr/>
            <p:nvPr/>
          </p:nvSpPr>
          <p:spPr>
            <a:xfrm flipV="1">
              <a:off x="2544" y="2448"/>
              <a:ext cx="0" cy="8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7680" name="Straight Connector 27679"/>
            <p:cNvSpPr/>
            <p:nvPr/>
          </p:nvSpPr>
          <p:spPr>
            <a:xfrm>
              <a:off x="768" y="2880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grpSp>
          <p:nvGrpSpPr>
            <p:cNvPr id="27681" name="Group 27680"/>
            <p:cNvGrpSpPr/>
            <p:nvPr/>
          </p:nvGrpSpPr>
          <p:grpSpPr>
            <a:xfrm>
              <a:off x="4656" y="2090"/>
              <a:ext cx="404" cy="598"/>
              <a:chOff x="4656" y="2090"/>
              <a:chExt cx="404" cy="598"/>
            </a:xfrm>
          </p:grpSpPr>
          <p:sp>
            <p:nvSpPr>
              <p:cNvPr id="27682" name="Straight Connector 27681"/>
              <p:cNvSpPr/>
              <p:nvPr/>
            </p:nvSpPr>
            <p:spPr>
              <a:xfrm flipV="1">
                <a:off x="4944" y="2400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7683" name="Straight Connector 27682"/>
              <p:cNvSpPr/>
              <p:nvPr/>
            </p:nvSpPr>
            <p:spPr>
              <a:xfrm flipH="1">
                <a:off x="4752" y="2400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7684" name="Straight Connector 27683"/>
              <p:cNvSpPr/>
              <p:nvPr/>
            </p:nvSpPr>
            <p:spPr>
              <a:xfrm>
                <a:off x="4752" y="2400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27685" name="Text Box 27684"/>
              <p:cNvSpPr txBox="1"/>
              <p:nvPr/>
            </p:nvSpPr>
            <p:spPr>
              <a:xfrm>
                <a:off x="4656" y="2090"/>
                <a:ext cx="40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ctr" eaLnBrk="1" hangingPunct="1"/>
                <a:r>
                  <a:rPr sz="2400" i="1">
                    <a:latin typeface="Times New Roman" panose="02020603050405020304" pitchFamily="18" charset="0"/>
                  </a:rPr>
                  <a:t>a</a:t>
                </a:r>
                <a:r>
                  <a:rPr sz="2400">
                    <a:latin typeface="Times New Roman" panose="02020603050405020304" pitchFamily="18" charset="0"/>
                  </a:rPr>
                  <a:t>, </a:t>
                </a:r>
                <a:r>
                  <a:rPr sz="2400" i="1">
                    <a:latin typeface="Times New Roman" panose="02020603050405020304" pitchFamily="18" charset="0"/>
                  </a:rPr>
                  <a:t>b</a:t>
                </a:r>
                <a:endParaRPr sz="2400" i="1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Title 28673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t>Example of Minimization</a:t>
            </a:r>
          </a:p>
        </p:txBody>
      </p:sp>
      <p:sp>
        <p:nvSpPr>
          <p:cNvPr id="28675" name="Text Placeholder 28674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p>
            <a:r>
              <a:t>Now we can see that the language of this DFA is</a:t>
            </a:r>
          </a:p>
          <a:p>
            <a:pPr algn="ctr">
              <a:buNone/>
            </a:pPr>
            <a:r>
              <a:t>{</a:t>
            </a:r>
            <a:r>
              <a:rPr i="1"/>
              <a:t>w</a:t>
            </a:r>
            <a:r>
              <a:t> </a:t>
            </a:r>
            <a:r>
              <a:rPr>
                <a:sym typeface="Symbol" panose="05050102010706020507" pitchFamily="18" charset="2"/>
              </a:rPr>
              <a:t> </a:t>
            </a:r>
            <a:r>
              <a:rPr baseline="30000"/>
              <a:t>*</a:t>
            </a:r>
            <a:r>
              <a:rPr>
                <a:sym typeface="Symbol" panose="05050102010706020507" pitchFamily="18" charset="2"/>
              </a:rPr>
              <a:t></a:t>
            </a:r>
            <a:r>
              <a:rPr i="1"/>
              <a:t>w</a:t>
            </a:r>
            <a:r>
              <a:t> contains </a:t>
            </a:r>
            <a:r>
              <a:rPr i="1" err="1"/>
              <a:t>aaa</a:t>
            </a:r>
            <a:r>
              <a:t> or </a:t>
            </a:r>
            <a:r>
              <a:rPr i="1" err="1"/>
              <a:t>bbb</a:t>
            </a:r>
            <a:r>
              <a:t>}.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Title 36865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t>Example</a:t>
            </a:r>
          </a:p>
        </p:txBody>
      </p:sp>
      <p:sp>
        <p:nvSpPr>
          <p:cNvPr id="36867" name="Text Placeholder 36866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p>
            <a:r>
              <a:t>Find a minimal DFA that accepts the language</a:t>
            </a:r>
          </a:p>
          <a:p>
            <a:pPr algn="ctr">
              <a:buNone/>
            </a:pPr>
            <a:r>
              <a:t>{</a:t>
            </a:r>
            <a:r>
              <a:rPr i="1"/>
              <a:t>w</a:t>
            </a:r>
            <a:r>
              <a:t> </a:t>
            </a:r>
            <a:r>
              <a:rPr>
                <a:sym typeface="Symbol" panose="05050102010706020507" pitchFamily="18" charset="2"/>
              </a:rPr>
              <a:t></a:t>
            </a:r>
            <a:r>
              <a:t> </a:t>
            </a:r>
            <a:r>
              <a:rPr>
                <a:sym typeface="Symbol" panose="05050102010706020507" pitchFamily="18" charset="2"/>
              </a:rPr>
              <a:t></a:t>
            </a:r>
            <a:r>
              <a:rPr baseline="30000"/>
              <a:t>*</a:t>
            </a:r>
            <a:r>
              <a:t> | </a:t>
            </a:r>
            <a:r>
              <a:rPr i="1"/>
              <a:t>w</a:t>
            </a:r>
            <a:r>
              <a:t> contains 010 and 101}.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vel">
  <a:themeElements>
    <a:clrScheme name="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7B75B"/>
      </a:accent6>
      <a:hlink>
        <a:srgbClr val="FFCC00"/>
      </a:hlink>
      <a:folHlink>
        <a:srgbClr val="CC9900"/>
      </a:folHlink>
    </a:clrScheme>
    <a:fontScheme name="">
      <a:majorFont>
        <a:latin typeface="Garamond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00"/>
        </a:lt1>
        <a:dk2>
          <a:srgbClr val="99FF99"/>
        </a:dk2>
        <a:lt2>
          <a:srgbClr val="0066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CDCDC"/>
        </a:accent4>
        <a:accent5>
          <a:srgbClr val="AAE2CA"/>
        </a:accent5>
        <a:accent6>
          <a:srgbClr val="008989"/>
        </a:accent6>
        <a:hlink>
          <a:srgbClr val="0066FF"/>
        </a:hlink>
        <a:folHlink>
          <a:srgbClr val="989C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C271E"/>
        </a:lt1>
        <a:dk2>
          <a:srgbClr val="FFDD89"/>
        </a:dk2>
        <a:lt2>
          <a:srgbClr val="808000"/>
        </a:lt2>
        <a:accent1>
          <a:srgbClr val="CC6600"/>
        </a:accent1>
        <a:accent2>
          <a:srgbClr val="CC9900"/>
        </a:accent2>
        <a:accent3>
          <a:srgbClr val="B6ABAA"/>
        </a:accent3>
        <a:accent4>
          <a:srgbClr val="DCDCDC"/>
        </a:accent4>
        <a:accent5>
          <a:srgbClr val="E2B9AA"/>
        </a:accent5>
        <a:accent6>
          <a:srgbClr val="B78900"/>
        </a:accent6>
        <a:hlink>
          <a:srgbClr val="669900"/>
        </a:hlink>
        <a:folHlink>
          <a:srgbClr val="A3A2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CC9900"/>
        </a:dk2>
        <a:lt2>
          <a:srgbClr val="763B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CDCDC"/>
        </a:accent4>
        <a:accent5>
          <a:srgbClr val="FFE2AA"/>
        </a:accent5>
        <a:accent6>
          <a:srgbClr val="B72D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1255D"/>
        </a:lt1>
        <a:dk2>
          <a:srgbClr val="FFFFCC"/>
        </a:dk2>
        <a:lt2>
          <a:srgbClr val="6D3696"/>
        </a:lt2>
        <a:accent1>
          <a:srgbClr val="666699"/>
        </a:accent1>
        <a:accent2>
          <a:srgbClr val="800080"/>
        </a:accent2>
        <a:accent3>
          <a:srgbClr val="B3ABB6"/>
        </a:accent3>
        <a:accent4>
          <a:srgbClr val="DCDCDC"/>
        </a:accent4>
        <a:accent5>
          <a:srgbClr val="B9B9CA"/>
        </a:accent5>
        <a:accent6>
          <a:srgbClr val="720072"/>
        </a:accent6>
        <a:hlink>
          <a:srgbClr val="CCCC00"/>
        </a:hlink>
        <a:folHlink>
          <a:srgbClr val="A3A2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A553B"/>
        </a:lt1>
        <a:dk2>
          <a:srgbClr val="FFBF1F"/>
        </a:dk2>
        <a:lt2>
          <a:srgbClr val="CC6600"/>
        </a:lt2>
        <a:accent1>
          <a:srgbClr val="FFCC00"/>
        </a:accent1>
        <a:accent2>
          <a:srgbClr val="CC9900"/>
        </a:accent2>
        <a:accent3>
          <a:srgbClr val="B2B4AF"/>
        </a:accent3>
        <a:accent4>
          <a:srgbClr val="DCDCDC"/>
        </a:accent4>
        <a:accent5>
          <a:srgbClr val="FFE2AA"/>
        </a:accent5>
        <a:accent6>
          <a:srgbClr val="B78900"/>
        </a:accent6>
        <a:hlink>
          <a:srgbClr val="669900"/>
        </a:hlink>
        <a:folHlink>
          <a:srgbClr val="A3A2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5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75B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7B75B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Level</Template>
  <TotalTime>0</TotalTime>
  <Words>4496</Words>
  <Application>WPS Presentation</Application>
  <PresentationFormat/>
  <Paragraphs>535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Arial</vt:lpstr>
      <vt:lpstr>SimSun</vt:lpstr>
      <vt:lpstr>Wingdings</vt:lpstr>
      <vt:lpstr>Garamond</vt:lpstr>
      <vt:lpstr>Times New Roman</vt:lpstr>
      <vt:lpstr>Verdana</vt:lpstr>
      <vt:lpstr>Math3</vt:lpstr>
      <vt:lpstr>Segoe Print</vt:lpstr>
      <vt:lpstr>Symbol</vt:lpstr>
      <vt:lpstr>Microsoft YaHei</vt:lpstr>
      <vt:lpstr>Arial Unicode MS</vt:lpstr>
      <vt:lpstr>Calibri</vt:lpstr>
      <vt:lpstr>Level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Minimization</dc:title>
  <dc:creator>Robb Koether</dc:creator>
  <cp:lastModifiedBy>Rubab Anam Janjua Ilyas janjua</cp:lastModifiedBy>
  <cp:revision>12</cp:revision>
  <dcterms:created xsi:type="dcterms:W3CDTF">2003-09-26T19:01:04Z</dcterms:created>
  <dcterms:modified xsi:type="dcterms:W3CDTF">2025-10-02T06:28:58Z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4A59E13A0A2C4080BE0DD56CB2463485_13</vt:lpwstr>
  </property>
  <property fmtid="{D5CDD505-2E9C-101B-9397-08002B2CF9AE}" pid="3" name="KSOProductBuildVer">
    <vt:lpwstr>1033-12.2.0.23131</vt:lpwstr>
  </property>
</Properties>
</file>